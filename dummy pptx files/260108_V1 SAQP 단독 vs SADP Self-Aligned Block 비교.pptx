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보고서의 도입부로, SAQP와 SADP+SAB 두 경로가 동일 mask set 아래 V1 BEOL에서 어떻게 비교되는지를 선언한다.
평가 목적은 1D 라인 폭, 스페이서, 메탈, 컷—네 가지 CD 포인트에서의 웨이퍼 간·웨이퍼 내 변동을 정량화하고,
그 결과를 Cu/low-k 모듈 전기 응답과 정렬하여 어느 경로가 spec margin을 더 여유 있게 만족하는지 보는 데 있다.
우측 매트릭스는 평가 조건의 빠른 참조용으로, layer scope와 분할 배정, 25pt metrology protocol, 그리고 본 보고서에서 다루지 않는 다음 단계 M2 레이어 범위를 명시한다.
페이지 하단의 더미 데이터 고지는 본 일련의 보고서 09/15 셋트가 모의 시뮬레이션 목적임을 명시한다.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SAQP 경로의 단면 사진을 좌측에, four-point CD 평균을 우측 패널에 배치했다. 76 nm mandrel을 19 nm까지 quartet화하는 두 cycle pitch doubling 구조의 결과다.
좌측 사진은 W02 wafer에서 mandrel pull 직후의 단면 형상이며 출처 한 줄을 본문 카드 안에 함께 표기했다.
우측 패널의 네 막대는 AASI, ASEI, AMI, ACI의 batch 평균을 target선과 함께 보여준다. AMI와 ACI에서 SAQP batch가 target 대비 positive 편이를 보이는 점이 후속 슬라이드에서 더 분명해진다.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SADP와 SAB를 결합한 경로의 wafer-batch 결과다. 좌측 사진은 cut block 형성 직전 단계의 line과 cut 예정 tip 영역을 보여준다.
SAB의 자기정렬 특성은 동일 mask set 조건에서 02번 슬라이드의 SAQP chip 대비 3σ를 좁히는 방향으로 기여한다.
AASI 평균은 미세하게 +0.05 nm positive 방향으로 움직였고 다른 3포인트는 음의 방향 근처로 SADP+SAB batch의 spec 준수 양상이 batch 평균 차트에서 확인된다.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AASI 단계 CD 분포다. mandrel과 spacer가 정상적으로 quartet화·doublet화되기 직전 라인 폭의 분포를 본다.
SAQP batch는 mean에서 ±0.18 nm의 비교적 넓은 swing을 보이는 반면 SADP+SAB batch는 mean ±0.14 nm로 더 좁다.
특히 W03 wafer의 3σ가 0.92 nm로 batch 내에서도 가장 넓은데, 이는 edge 위치 wafer로서 in-wafer 잔차보다 etch loading 효과가 더 강하게 작용했음을 시사한다.
후속 슬라이드에서 보는 spacer 단계 이후로 3σ가 batch별로 점점 좁혀진다.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spacer etch-back 직후의 ASEI 분포다. AASI 단계에서 보였던 batch 격차가 SACD-step에서 더 분명해진다.
SAQP batch는 +0.11에서 +0.21 nm 사이의 positive 편이를 보이고 W03이 가장 positive로 움직였는데,
이는 quartet화 누적 dwell time에 따른 spacer shoulder 미세 손실이 batch 안에서 비균질했음을 보여준다.
SADP+SAB batch는 mean 기준 ±0.07 nm 범위에 모여있어 AASI 단계 대비 더 좁아진 3σ가 확인된다.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metallization 직후의 AMI 분포다. 9 nm 직전 라인에서 ±0.3 nm의 positive 편이는 라인 두께가 spec 평균을 넘어섰음을 의미한다.
SAQP batch의 평균은 9.18-9.26 nm 범위로 모두 target 9.0 nm 위에 놓였고, W03에서 가장 큰 +0.26 nm 편이를 보인다.
반면 SADP+SAB batch는 8.91에서 8.96 사이로 target 근처 또는 살짝 아래에 모여있다.
평균 3σ 기준 0.357 nm vs 0.160 nm로 약 55% 감소한 수치는 9 nm 구간에서 분기 선택의 유효성을 가장 강하게 뒷받침한다.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ACI는 cut 후 최종 라인 폭이며, EUV 확률론적 결함과 cut rounding 영향을 가장 많이 받는 단계다.
SAQP batch의 mean이 9.04–9.12 사이에서 +0.14–+0.22 nm positive 방향으로 모두 spec 평균을 넘어섰고 3σ의 batch 평균이 0.313 nm다.
SADP+SAB batch는 8.81–8.86 사이에 모여있고 3σ 평균이 0.117 nm, batch-by-batch spec window은 0.32 nm 단일 spec 안에 들어왔다.
우측 사진은 TiN sidewall spacer 단면을 보여주며 출처는 외부 참고용 1줄 캡션으로 본문에 직접 기재했다.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25pt wafer map은 W04 wafer의 ACI 결과를 보여준다. 평균 8.85 nm, 3σ 0.13 nm, range 0.14 nm으로 중심 사이트 C3에서 peak 8.92 nm가 측정되었다.
우측 상단의 균일성 표는 wafer별 mean·3σ·range·Δ을 한 번에 비교한다. SADP+SAB batch가 batch-by-batch spec window 0.32 nm 안에 들어왔고 center wafer W06가 가장 안정적이다.
우측 하단의 전기 응답 표는 동일 lot의 Rs·ρ·Rc·Jleak·BD·chain yield를 정리한다. SADP+SAB batch가 평균 Rs 138.7 Ω/sq로 SAQP batch의 148.4 Ω/sq 대비 6.5% 낮고, Jleak은 약 47% 낮으며 chain yield는 8 percentage points 우세하다.
W06는 chain yield 97.3%, BD 7.9 V로 batch 내 최고 수치다.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 슬라이드다. 세 가지 핵심 finding과 후속 3단계 권고를 배치했다.
첫 번째 finding은 SADP+SAB batch의 3σ가 four-point 모두에서 31%에서 62%까지 작아졌다는 점이다. 평균적으로는 약 48% 감소로 요약된다.
두 번째 finding은 ACI spec window 0.32 nm 안에 SADP+SAB 3 wafer가 모두 들어왔다는 것이다. SAQP batch는 동시에 단일 spec을 초과했다.
세 번째 finding은 전기 응답 추가 확인으로, Rs는 7% 낮고 Jleak은 47% 낮으며 chain yield는 8 percentage points 우세하다.
T1, T2, T3는 후속 단계로, T1은 cut mask 재현성, T2는 M2 layer 분기 검증, T3는 chain yield 정량화로 연결된다.
이 보고서는 시뮬레이션 dummy 데이터로 작성되었음을 footer에서 다시 한번 명시한다.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e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5.png"/><Relationship Id="rId9" Type="http://schemas.openxmlformats.org/officeDocument/2006/relationships/image" Target="../media/image-2-9.png"/><Relationship Id="rId10" Type="http://schemas.openxmlformats.org/officeDocument/2006/relationships/image" Target="../media/image-2-7.png"/><Relationship Id="rId11" Type="http://schemas.openxmlformats.org/officeDocument/2006/relationships/image" Target="../media/image-2-5.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5.png"/><Relationship Id="rId15" Type="http://schemas.openxmlformats.org/officeDocument/2006/relationships/image" Target="../media/image-2-15.png"/><Relationship Id="rId16" Type="http://schemas.openxmlformats.org/officeDocument/2006/relationships/image" Target="../media/image-2-13.png"/><Relationship Id="rId17" Type="http://schemas.openxmlformats.org/officeDocument/2006/relationships/image" Target="../media/image-2-17.png"/><Relationship Id="rId18" Type="http://schemas.openxmlformats.org/officeDocument/2006/relationships/slideLayout" Target="../slideLayouts/slideLayout1.xml"/><Relationship Id="rId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e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5.png"/><Relationship Id="rId9" Type="http://schemas.openxmlformats.org/officeDocument/2006/relationships/image" Target="../media/image-3-9.png"/><Relationship Id="rId10" Type="http://schemas.openxmlformats.org/officeDocument/2006/relationships/image" Target="../media/image-3-7.png"/><Relationship Id="rId11" Type="http://schemas.openxmlformats.org/officeDocument/2006/relationships/image" Target="../media/image-3-5.png"/><Relationship Id="rId12" Type="http://schemas.openxmlformats.org/officeDocument/2006/relationships/image" Target="../media/image-3-6.png"/><Relationship Id="rId13" Type="http://schemas.openxmlformats.org/officeDocument/2006/relationships/image" Target="../media/image-3-13.png"/><Relationship Id="rId14" Type="http://schemas.openxmlformats.org/officeDocument/2006/relationships/image" Target="../media/image-3-5.png"/><Relationship Id="rId15" Type="http://schemas.openxmlformats.org/officeDocument/2006/relationships/image" Target="../media/image-3-15.png"/><Relationship Id="rId16" Type="http://schemas.openxmlformats.org/officeDocument/2006/relationships/image" Target="../media/image-3-13.png"/><Relationship Id="rId17" Type="http://schemas.openxmlformats.org/officeDocument/2006/relationships/image" Target="../media/image-3-17.png"/><Relationship Id="rId18" Type="http://schemas.openxmlformats.org/officeDocument/2006/relationships/slideLayout" Target="../slideLayouts/slideLayout1.xml"/><Relationship Id="rId1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3.png"/><Relationship Id="rId6" Type="http://schemas.openxmlformats.org/officeDocument/2006/relationships/image" Target="../media/image-4-6.png"/><Relationship Id="rId7" Type="http://schemas.openxmlformats.org/officeDocument/2006/relationships/image" Target="../media/image-4-3.png"/><Relationship Id="rId8" Type="http://schemas.openxmlformats.org/officeDocument/2006/relationships/image" Target="../media/image-4-8.png"/><Relationship Id="rId9" Type="http://schemas.openxmlformats.org/officeDocument/2006/relationships/image" Target="../media/image-4-3.png"/><Relationship Id="rId10" Type="http://schemas.openxmlformats.org/officeDocument/2006/relationships/image" Target="../media/image-4-10.png"/><Relationship Id="rId11" Type="http://schemas.openxmlformats.org/officeDocument/2006/relationships/image" Target="../media/image-4-3.png"/><Relationship Id="rId12" Type="http://schemas.openxmlformats.org/officeDocument/2006/relationships/image" Target="../media/image-4-12.png"/><Relationship Id="rId13" Type="http://schemas.openxmlformats.org/officeDocument/2006/relationships/image" Target="../media/image-4-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3.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e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DE5"/>
        </a:solidFill>
      </p:bgPr>
    </p:bg>
    <p:spTree>
      <p:nvGrpSpPr>
        <p:cNvPr id="1" name=""/>
        <p:cNvGrpSpPr/>
        <p:nvPr/>
      </p:nvGrpSpPr>
      <p:grpSpPr>
        <a:xfrm>
          <a:off x="0" y="0"/>
          <a:ext cx="0" cy="0"/>
          <a:chOff x="0" y="0"/>
          <a:chExt cx="0" cy="0"/>
        </a:xfrm>
      </p:grpSpPr>
      <p:sp>
        <p:nvSpPr>
          <p:cNvPr id="3" name="Shape 0"/>
          <p:cNvSpPr/>
          <p:nvPr/>
        </p:nvSpPr>
        <p:spPr>
          <a:xfrm>
            <a:off x="12191695" y="1123798"/>
            <a:ext cx="5162702" cy="8115300"/>
          </a:xfrm>
          <a:prstGeom prst="rect">
            <a:avLst/>
          </a:prstGeom>
          <a:solidFill>
            <a:srgbClr val="FBF7EF"/>
          </a:solidFill>
          <a:ln w="12700">
            <a:solidFill>
              <a:srgbClr val="DDD3C0"/>
            </a:solidFill>
            <a:prstDash val="solid"/>
          </a:ln>
        </p:spPr>
      </p:sp>
      <p:sp>
        <p:nvSpPr>
          <p:cNvPr id="4" name="Shape 1"/>
          <p:cNvSpPr/>
          <p:nvPr/>
        </p:nvSpPr>
        <p:spPr>
          <a:xfrm>
            <a:off x="12477902" y="7334402"/>
            <a:ext cx="4591202" cy="1923898"/>
          </a:xfrm>
          <a:prstGeom prst="rect">
            <a:avLst/>
          </a:prstGeom>
          <a:solidFill>
            <a:srgbClr val="FBF7EF"/>
          </a:solidFill>
          <a:ln w="12700">
            <a:solidFill>
              <a:srgbClr val="DDD3C0"/>
            </a:solidFill>
            <a:prstDash val="solid"/>
          </a:ln>
        </p:spPr>
      </p:sp>
      <p:pic>
        <p:nvPicPr>
          <p:cNvPr id="5" name="Image 0" descr="gen-dedup-c838ec602dcce14894c4110ff6843f0c.png">    </p:cNvPr>
          <p:cNvPicPr>
            <a:picLocks noChangeAspect="1"/>
          </p:cNvPicPr>
          <p:nvPr/>
        </p:nvPicPr>
        <p:blipFill>
          <a:blip r:embed="rId1"/>
          <a:srcRect l="0" r="0" t="-400" b="-400"/>
          <a:stretch/>
        </p:blipFill>
        <p:spPr>
          <a:xfrm>
            <a:off x="12191695" y="1123798"/>
            <a:ext cx="5143500" cy="57607"/>
          </a:xfrm>
          <a:prstGeom prst="rect">
            <a:avLst/>
          </a:prstGeom>
        </p:spPr>
      </p:pic>
      <p:pic>
        <p:nvPicPr>
          <p:cNvPr id="6" name="Image 1" descr="gen-dedup-ee80f284e079edda9624ce03c58d49ab.png">    </p:cNvPr>
          <p:cNvPicPr>
            <a:picLocks noChangeAspect="1"/>
          </p:cNvPicPr>
          <p:nvPr/>
        </p:nvPicPr>
        <p:blipFill>
          <a:blip r:embed="rId2"/>
          <a:srcRect l="0" r="0" t="-400" b="-400"/>
          <a:stretch/>
        </p:blipFill>
        <p:spPr>
          <a:xfrm>
            <a:off x="12477902" y="7334402"/>
            <a:ext cx="4572000" cy="38405"/>
          </a:xfrm>
          <a:prstGeom prst="rect">
            <a:avLst/>
          </a:prstGeom>
        </p:spPr>
      </p:pic>
      <p:pic>
        <p:nvPicPr>
          <p:cNvPr id="7" name="Image 2" descr="gen-dedup-10712ba9506011557717463f803e9fbb.png">    </p:cNvPr>
          <p:cNvPicPr>
            <a:picLocks noChangeAspect="1"/>
          </p:cNvPicPr>
          <p:nvPr/>
        </p:nvPicPr>
        <p:blipFill>
          <a:blip r:embed="rId3"/>
          <a:srcRect l="0" r="0" t="-375" b="-375"/>
          <a:stretch/>
        </p:blipFill>
        <p:spPr>
          <a:xfrm>
            <a:off x="952805" y="838505"/>
            <a:ext cx="609905" cy="57607"/>
          </a:xfrm>
          <a:prstGeom prst="rect">
            <a:avLst/>
          </a:prstGeom>
        </p:spPr>
      </p:pic>
      <p:sp>
        <p:nvSpPr>
          <p:cNvPr id="8" name="Text 2"/>
          <p:cNvSpPr txBox="1"/>
          <p:nvPr/>
        </p:nvSpPr>
        <p:spPr>
          <a:xfrm>
            <a:off x="952805" y="1123798"/>
            <a:ext cx="10478110" cy="1200607"/>
          </a:xfrm>
          <a:prstGeom prst="rect">
            <a:avLst/>
          </a:prstGeom>
          <a:noFill/>
          <a:ln/>
        </p:spPr>
        <p:txBody>
          <a:bodyPr wrap="square" lIns="0" tIns="0" rIns="0" bIns="0" rtlCol="0" anchor="t"/>
          <a:lstStyle/>
          <a:p>
            <a:pPr algn="l" indent="0" marL="0">
              <a:lnSpc>
                <a:spcPct val="105000"/>
              </a:lnSpc>
              <a:buNone/>
            </a:pPr>
            <a:r>
              <a:rPr lang="en-US" sz="4500" b="1" spc="-45" kern="0" dirty="0">
                <a:solidFill>
                  <a:srgbClr val="1A1F2C"/>
                </a:solidFill>
                <a:latin typeface="Noto Sans KR" pitchFamily="34" charset="0"/>
                <a:ea typeface="Noto Sans KR" pitchFamily="34" charset="-122"/>
                <a:cs typeface="Noto Sans KR" pitchFamily="34" charset="-120"/>
              </a:rPr>
              <a:t>실험 목적 및</a:t>
            </a:r>
            <a:pPr algn="l" indent="0" marL="0">
              <a:lnSpc>
                <a:spcPct val="105000"/>
              </a:lnSpc>
              <a:buNone/>
            </a:pPr>
            <a:endParaRPr lang="en-US" sz="4500" dirty="0"/>
          </a:p>
          <a:p>
            <a:pPr algn="l" indent="0" marL="0">
              <a:lnSpc>
                <a:spcPct val="105000"/>
              </a:lnSpc>
              <a:buNone/>
            </a:pPr>
            <a:r>
              <a:rPr lang="en-US" sz="4500" b="1" spc="-45" kern="0" dirty="0">
                <a:solidFill>
                  <a:srgbClr val="1A1F2C"/>
                </a:solidFill>
                <a:latin typeface="Noto Sans KR" pitchFamily="34" charset="0"/>
                <a:ea typeface="Noto Sans KR" pitchFamily="34" charset="-122"/>
                <a:cs typeface="Noto Sans KR" pitchFamily="34" charset="-120"/>
              </a:rPr>
              <a:t>평가 조건</a:t>
            </a:r>
            <a:endParaRPr lang="en-US" sz="4500" dirty="0"/>
          </a:p>
        </p:txBody>
      </p:sp>
      <p:sp>
        <p:nvSpPr>
          <p:cNvPr id="9" name="Text 3"/>
          <p:cNvSpPr txBox="1"/>
          <p:nvPr/>
        </p:nvSpPr>
        <p:spPr>
          <a:xfrm>
            <a:off x="952805" y="2625242"/>
            <a:ext cx="10287000" cy="671170"/>
          </a:xfrm>
          <a:prstGeom prst="rect">
            <a:avLst/>
          </a:prstGeom>
          <a:noFill/>
          <a:ln/>
        </p:spPr>
        <p:txBody>
          <a:bodyPr wrap="square" lIns="0" tIns="0" rIns="0" bIns="0" rtlCol="0" anchor="t"/>
          <a:lstStyle/>
          <a:p>
            <a:pPr algn="l" indent="0" marL="0">
              <a:lnSpc>
                <a:spcPts val="2520"/>
              </a:lnSpc>
              <a:buNone/>
            </a:pPr>
            <a:r>
              <a:rPr lang="en-US" sz="1800" dirty="0">
                <a:solidFill>
                  <a:srgbClr val="5C5448"/>
                </a:solidFill>
                <a:latin typeface="Noto Sans KR" pitchFamily="34" charset="0"/>
                <a:ea typeface="Noto Sans KR" pitchFamily="34" charset="-122"/>
                <a:cs typeface="Noto Sans KR" pitchFamily="34" charset="-120"/>
              </a:rPr>
              <a:t>BEOL V1 metallic layer에서 SAQP 단독 경로와 SADP + Self-Aligned Block 결합 경로를</a:t>
            </a:r>
            <a:pPr algn="l" indent="0" marL="0">
              <a:lnSpc>
                <a:spcPts val="2520"/>
              </a:lnSpc>
              <a:buNone/>
            </a:pPr>
            <a:endParaRPr lang="en-US" sz="1800" dirty="0"/>
          </a:p>
          <a:p>
            <a:pPr algn="l" indent="0" marL="0">
              <a:lnSpc>
                <a:spcPts val="2520"/>
              </a:lnSpc>
              <a:buNone/>
            </a:pPr>
            <a:r>
              <a:rPr lang="en-US" sz="1800" dirty="0">
                <a:solidFill>
                  <a:srgbClr val="5C5448"/>
                </a:solidFill>
                <a:latin typeface="Noto Sans KR" pitchFamily="34" charset="0"/>
                <a:ea typeface="Noto Sans KR" pitchFamily="34" charset="-122"/>
                <a:cs typeface="Noto Sans KR" pitchFamily="34" charset="-120"/>
              </a:rPr>
              <a:t>동일 mask set으로 분할 가공하여 four-point CD 변동과 전기적 응답을 비교 평가한다.</a:t>
            </a:r>
            <a:endParaRPr lang="en-US" sz="1800" dirty="0"/>
          </a:p>
        </p:txBody>
      </p:sp>
      <p:sp>
        <p:nvSpPr>
          <p:cNvPr id="10" name="Text 4"/>
          <p:cNvSpPr txBox="1"/>
          <p:nvPr/>
        </p:nvSpPr>
        <p:spPr>
          <a:xfrm>
            <a:off x="952805" y="4095598"/>
            <a:ext cx="10287000" cy="171907"/>
          </a:xfrm>
          <a:prstGeom prst="rect">
            <a:avLst/>
          </a:prstGeom>
          <a:noFill/>
          <a:ln/>
        </p:spPr>
        <p:txBody>
          <a:bodyPr wrap="none" lIns="0" tIns="0" rIns="0" bIns="0" rtlCol="0" anchor="ctr"/>
          <a:lstStyle/>
          <a:p>
            <a:pPr algn="l" indent="0" marL="0">
              <a:buNone/>
            </a:pPr>
            <a:r>
              <a:rPr lang="en-US" sz="1350" b="1" spc="243" kern="0" dirty="0">
                <a:solidFill>
                  <a:srgbClr val="B8430E"/>
                </a:solidFill>
                <a:latin typeface="Noto Sans KR" pitchFamily="34" charset="0"/>
                <a:ea typeface="Noto Sans KR" pitchFamily="34" charset="-122"/>
                <a:cs typeface="Noto Sans KR" pitchFamily="34" charset="-120"/>
              </a:rPr>
              <a:t>PURPOSE</a:t>
            </a:r>
            <a:endParaRPr lang="en-US" sz="1350" dirty="0"/>
          </a:p>
        </p:txBody>
      </p:sp>
      <p:sp>
        <p:nvSpPr>
          <p:cNvPr id="11" name="Text 5"/>
          <p:cNvSpPr txBox="1"/>
          <p:nvPr/>
        </p:nvSpPr>
        <p:spPr>
          <a:xfrm>
            <a:off x="952805" y="4429354"/>
            <a:ext cx="438912" cy="352958"/>
          </a:xfrm>
          <a:prstGeom prst="rect">
            <a:avLst/>
          </a:prstGeom>
          <a:noFill/>
          <a:ln/>
        </p:spPr>
        <p:txBody>
          <a:bodyPr wrap="none" lIns="0" tIns="0" rIns="0" bIns="0" rtlCol="0" anchor="ctr"/>
          <a:lstStyle/>
          <a:p>
            <a:pPr algn="l" indent="0" marL="0">
              <a:buNone/>
            </a:pPr>
            <a:r>
              <a:rPr lang="en-US" sz="1950" b="1" dirty="0">
                <a:solidFill>
                  <a:srgbClr val="E8762E"/>
                </a:solidFill>
                <a:latin typeface="JetBrains Mono" pitchFamily="34" charset="0"/>
                <a:ea typeface="JetBrains Mono" pitchFamily="34" charset="-122"/>
                <a:cs typeface="JetBrains Mono" pitchFamily="34" charset="-120"/>
              </a:rPr>
              <a:t>01</a:t>
            </a:r>
            <a:endParaRPr lang="en-US" sz="1950" dirty="0"/>
          </a:p>
        </p:txBody>
      </p:sp>
      <p:sp>
        <p:nvSpPr>
          <p:cNvPr id="12" name="Text 6"/>
          <p:cNvSpPr txBox="1"/>
          <p:nvPr/>
        </p:nvSpPr>
        <p:spPr>
          <a:xfrm>
            <a:off x="1600200" y="4429354"/>
            <a:ext cx="9639605" cy="1000354"/>
          </a:xfrm>
          <a:prstGeom prst="rect">
            <a:avLst/>
          </a:prstGeom>
          <a:noFill/>
          <a:ln/>
        </p:spPr>
        <p:txBody>
          <a:bodyPr wrap="square" lIns="0" tIns="0" rIns="0" bIns="0" rtlCol="0" anchor="ctr"/>
          <a:lstStyle/>
          <a:p>
            <a:pPr algn="l" indent="0" marL="0">
              <a:lnSpc>
                <a:spcPts val="2610"/>
              </a:lnSpc>
              <a:buNone/>
            </a:pPr>
            <a:r>
              <a:rPr lang="en-US" sz="1800" dirty="0">
                <a:solidFill>
                  <a:srgbClr val="1A1F2C"/>
                </a:solidFill>
                <a:latin typeface="Noto Sans KR" pitchFamily="34" charset="0"/>
                <a:ea typeface="Noto Sans KR" pitchFamily="34" charset="-122"/>
                <a:cs typeface="Noto Sans KR" pitchFamily="34" charset="-120"/>
              </a:rPr>
              <a:t>38 nm → 19 nm 수준 sub-30 nm pitch V1 metallization에서 1D 그레이팅을 형성할 때, SAQP와 SADP+SAB 두 분기(split) 가공 경로가 동일 디자인 규칙 하에서 가져오는 four-point CD(라인 폭·스페이서·메탈·컷) 분포 차이를 정량 비교한다.</a:t>
            </a:r>
            <a:endParaRPr lang="en-US" sz="1800" dirty="0"/>
          </a:p>
        </p:txBody>
      </p:sp>
      <p:sp>
        <p:nvSpPr>
          <p:cNvPr id="13" name="Text 7"/>
          <p:cNvSpPr txBox="1"/>
          <p:nvPr/>
        </p:nvSpPr>
        <p:spPr>
          <a:xfrm>
            <a:off x="952805" y="5595214"/>
            <a:ext cx="438912" cy="352958"/>
          </a:xfrm>
          <a:prstGeom prst="rect">
            <a:avLst/>
          </a:prstGeom>
          <a:noFill/>
          <a:ln/>
        </p:spPr>
        <p:txBody>
          <a:bodyPr wrap="none" lIns="0" tIns="0" rIns="0" bIns="0" rtlCol="0" anchor="ctr"/>
          <a:lstStyle/>
          <a:p>
            <a:pPr algn="l" indent="0" marL="0">
              <a:buNone/>
            </a:pPr>
            <a:r>
              <a:rPr lang="en-US" sz="1950" b="1" dirty="0">
                <a:solidFill>
                  <a:srgbClr val="E8762E"/>
                </a:solidFill>
                <a:latin typeface="JetBrains Mono" pitchFamily="34" charset="0"/>
                <a:ea typeface="JetBrains Mono" pitchFamily="34" charset="-122"/>
                <a:cs typeface="JetBrains Mono" pitchFamily="34" charset="-120"/>
              </a:rPr>
              <a:t>02</a:t>
            </a:r>
            <a:endParaRPr lang="en-US" sz="1950" dirty="0"/>
          </a:p>
        </p:txBody>
      </p:sp>
      <p:sp>
        <p:nvSpPr>
          <p:cNvPr id="14" name="Text 8"/>
          <p:cNvSpPr txBox="1"/>
          <p:nvPr/>
        </p:nvSpPr>
        <p:spPr>
          <a:xfrm>
            <a:off x="1600200" y="5595214"/>
            <a:ext cx="9639605" cy="667512"/>
          </a:xfrm>
          <a:prstGeom prst="rect">
            <a:avLst/>
          </a:prstGeom>
          <a:noFill/>
          <a:ln/>
        </p:spPr>
        <p:txBody>
          <a:bodyPr wrap="square" lIns="0" tIns="0" rIns="0" bIns="0" rtlCol="0" anchor="ctr"/>
          <a:lstStyle/>
          <a:p>
            <a:pPr algn="l" indent="0" marL="0">
              <a:lnSpc>
                <a:spcPts val="2610"/>
              </a:lnSpc>
              <a:buNone/>
            </a:pPr>
            <a:r>
              <a:rPr lang="en-US" sz="1800" dirty="0">
                <a:solidFill>
                  <a:srgbClr val="1A1F2C"/>
                </a:solidFill>
                <a:latin typeface="Noto Sans KR" pitchFamily="34" charset="0"/>
                <a:ea typeface="Noto Sans KR" pitchFamily="34" charset="-122"/>
                <a:cs typeface="Noto Sans KR" pitchFamily="34" charset="-120"/>
              </a:rPr>
              <a:t>동일 mask set, 동일 etch chemistry, 동일 metrology recipe로 가공 변인만 process 경로로 한정하여 in-wafer 균일성과 wafer 간 재현성에 미치는 분기 효과를 분리 측정한다.</a:t>
            </a:r>
            <a:endParaRPr lang="en-US" sz="1800" dirty="0"/>
          </a:p>
        </p:txBody>
      </p:sp>
      <p:sp>
        <p:nvSpPr>
          <p:cNvPr id="15" name="Text 9"/>
          <p:cNvSpPr txBox="1"/>
          <p:nvPr/>
        </p:nvSpPr>
        <p:spPr>
          <a:xfrm>
            <a:off x="952805" y="6429146"/>
            <a:ext cx="438912" cy="352958"/>
          </a:xfrm>
          <a:prstGeom prst="rect">
            <a:avLst/>
          </a:prstGeom>
          <a:noFill/>
          <a:ln/>
        </p:spPr>
        <p:txBody>
          <a:bodyPr wrap="none" lIns="0" tIns="0" rIns="0" bIns="0" rtlCol="0" anchor="ctr"/>
          <a:lstStyle/>
          <a:p>
            <a:pPr algn="l" indent="0" marL="0">
              <a:buNone/>
            </a:pPr>
            <a:r>
              <a:rPr lang="en-US" sz="1950" b="1" dirty="0">
                <a:solidFill>
                  <a:srgbClr val="E8762E"/>
                </a:solidFill>
                <a:latin typeface="JetBrains Mono" pitchFamily="34" charset="0"/>
                <a:ea typeface="JetBrains Mono" pitchFamily="34" charset="-122"/>
                <a:cs typeface="JetBrains Mono" pitchFamily="34" charset="-120"/>
              </a:rPr>
              <a:t>03</a:t>
            </a:r>
            <a:endParaRPr lang="en-US" sz="1950" dirty="0"/>
          </a:p>
        </p:txBody>
      </p:sp>
      <p:sp>
        <p:nvSpPr>
          <p:cNvPr id="16" name="Text 10"/>
          <p:cNvSpPr txBox="1"/>
          <p:nvPr/>
        </p:nvSpPr>
        <p:spPr>
          <a:xfrm>
            <a:off x="1600200" y="6429146"/>
            <a:ext cx="9639605" cy="667512"/>
          </a:xfrm>
          <a:prstGeom prst="rect">
            <a:avLst/>
          </a:prstGeom>
          <a:noFill/>
          <a:ln/>
        </p:spPr>
        <p:txBody>
          <a:bodyPr wrap="square" lIns="0" tIns="0" rIns="0" bIns="0" rtlCol="0" anchor="ctr"/>
          <a:lstStyle/>
          <a:p>
            <a:pPr algn="l" indent="0" marL="0">
              <a:lnSpc>
                <a:spcPts val="2610"/>
              </a:lnSpc>
              <a:buNone/>
            </a:pPr>
            <a:r>
              <a:rPr lang="en-US" sz="1800" dirty="0">
                <a:solidFill>
                  <a:srgbClr val="1A1F2C"/>
                </a:solidFill>
                <a:latin typeface="Noto Sans KR" pitchFamily="34" charset="0"/>
                <a:ea typeface="Noto Sans KR" pitchFamily="34" charset="-122"/>
                <a:cs typeface="Noto Sans KR" pitchFamily="34" charset="-120"/>
              </a:rPr>
              <a:t>CD 변동 결과와 최종 Cu/low-k 모듈의 전기적 응답(Rs, ρ, Rc, Jleak, BD, 체인 수율)을 함께 정렬하여 어느 경로가 spec margin 대비 안전한지를 데이터 기반으로 결정한다.</a:t>
            </a:r>
            <a:endParaRPr lang="en-US" sz="1800" dirty="0"/>
          </a:p>
        </p:txBody>
      </p:sp>
      <p:sp>
        <p:nvSpPr>
          <p:cNvPr id="17" name="Text 11"/>
          <p:cNvSpPr txBox="1"/>
          <p:nvPr/>
        </p:nvSpPr>
        <p:spPr>
          <a:xfrm>
            <a:off x="12477902" y="1466698"/>
            <a:ext cx="4572000" cy="171907"/>
          </a:xfrm>
          <a:prstGeom prst="rect">
            <a:avLst/>
          </a:prstGeom>
          <a:noFill/>
          <a:ln/>
        </p:spPr>
        <p:txBody>
          <a:bodyPr wrap="none" lIns="0" tIns="0" rIns="0" bIns="0" rtlCol="0" anchor="ctr"/>
          <a:lstStyle/>
          <a:p>
            <a:pPr algn="l" indent="0" marL="0">
              <a:buNone/>
            </a:pPr>
            <a:r>
              <a:rPr lang="en-US" sz="1350" b="1" spc="243" kern="0" dirty="0">
                <a:solidFill>
                  <a:srgbClr val="B8430E"/>
                </a:solidFill>
                <a:latin typeface="Noto Sans KR" pitchFamily="34" charset="0"/>
                <a:ea typeface="Noto Sans KR" pitchFamily="34" charset="-122"/>
                <a:cs typeface="Noto Sans KR" pitchFamily="34" charset="-120"/>
              </a:rPr>
              <a:t>EVALUATION MATRIX</a:t>
            </a:r>
            <a:endParaRPr lang="en-US" sz="1350" dirty="0"/>
          </a:p>
        </p:txBody>
      </p:sp>
      <p:sp>
        <p:nvSpPr>
          <p:cNvPr id="18" name="Shape 12"/>
          <p:cNvSpPr/>
          <p:nvPr/>
        </p:nvSpPr>
        <p:spPr>
          <a:xfrm>
            <a:off x="12477902" y="2428646"/>
            <a:ext cx="4572000" cy="9144"/>
          </a:xfrm>
          <a:prstGeom prst="rect">
            <a:avLst/>
          </a:prstGeom>
          <a:solidFill>
            <a:srgbClr val="E2D9C5"/>
          </a:solidFill>
          <a:ln w="12700">
            <a:solidFill>
              <a:srgbClr val="E2D9C5">
                <a:alpha val="0"/>
              </a:srgbClr>
            </a:solidFill>
            <a:prstDash val="solid"/>
          </a:ln>
        </p:spPr>
      </p:sp>
      <p:sp>
        <p:nvSpPr>
          <p:cNvPr id="19" name="Text 13"/>
          <p:cNvSpPr txBox="1"/>
          <p:nvPr/>
        </p:nvSpPr>
        <p:spPr>
          <a:xfrm>
            <a:off x="12477902" y="2057400"/>
            <a:ext cx="1122883" cy="238658"/>
          </a:xfrm>
          <a:prstGeom prst="rect">
            <a:avLst/>
          </a:prstGeom>
          <a:noFill/>
          <a:ln/>
        </p:spPr>
        <p:txBody>
          <a:bodyPr wrap="none" lIns="0" tIns="0" rIns="0" bIns="0" rtlCol="0" anchor="ctr"/>
          <a:lstStyle/>
          <a:p>
            <a:pPr algn="l" indent="0" marL="0">
              <a:buNone/>
            </a:pPr>
            <a:r>
              <a:rPr lang="en-US" sz="1275" b="1" dirty="0">
                <a:solidFill>
                  <a:srgbClr val="5C5448"/>
                </a:solidFill>
                <a:latin typeface="Noto Sans KR" pitchFamily="34" charset="0"/>
                <a:ea typeface="Noto Sans KR" pitchFamily="34" charset="-122"/>
                <a:cs typeface="Noto Sans KR" pitchFamily="34" charset="-120"/>
              </a:rPr>
              <a:t>Layer scope</a:t>
            </a:r>
            <a:endParaRPr lang="en-US" sz="1275" dirty="0"/>
          </a:p>
        </p:txBody>
      </p:sp>
      <p:sp>
        <p:nvSpPr>
          <p:cNvPr id="20" name="Text 14"/>
          <p:cNvSpPr txBox="1"/>
          <p:nvPr/>
        </p:nvSpPr>
        <p:spPr>
          <a:xfrm>
            <a:off x="15922447" y="2029054"/>
            <a:ext cx="1349654" cy="277063"/>
          </a:xfrm>
          <a:prstGeom prst="rect">
            <a:avLst/>
          </a:prstGeom>
          <a:noFill/>
          <a:ln/>
        </p:spPr>
        <p:txBody>
          <a:bodyPr wrap="none" lIns="0" tIns="0" rIns="0" bIns="0" rtlCol="0" anchor="ctr"/>
          <a:lstStyle/>
          <a:p>
            <a:pPr algn="l" indent="0" marL="0">
              <a:buNone/>
            </a:pPr>
            <a:r>
              <a:rPr lang="en-US" sz="1500" b="1" dirty="0">
                <a:solidFill>
                  <a:srgbClr val="1A1F2C"/>
                </a:solidFill>
                <a:latin typeface="Noto Sans KR" pitchFamily="34" charset="0"/>
                <a:ea typeface="Noto Sans KR" pitchFamily="34" charset="-122"/>
                <a:cs typeface="Noto Sans KR" pitchFamily="34" charset="-120"/>
              </a:rPr>
              <a:t>V1 / pre-cap</a:t>
            </a:r>
            <a:endParaRPr lang="en-US" sz="1500" dirty="0"/>
          </a:p>
        </p:txBody>
      </p:sp>
      <p:sp>
        <p:nvSpPr>
          <p:cNvPr id="21" name="Shape 15"/>
          <p:cNvSpPr/>
          <p:nvPr/>
        </p:nvSpPr>
        <p:spPr>
          <a:xfrm>
            <a:off x="12477902" y="2962656"/>
            <a:ext cx="4572000" cy="9144"/>
          </a:xfrm>
          <a:prstGeom prst="rect">
            <a:avLst/>
          </a:prstGeom>
          <a:solidFill>
            <a:srgbClr val="E2D9C5"/>
          </a:solidFill>
          <a:ln w="12700">
            <a:solidFill>
              <a:srgbClr val="E2D9C5">
                <a:alpha val="0"/>
              </a:srgbClr>
            </a:solidFill>
            <a:prstDash val="solid"/>
          </a:ln>
        </p:spPr>
      </p:sp>
      <p:sp>
        <p:nvSpPr>
          <p:cNvPr id="22" name="Text 16"/>
          <p:cNvSpPr txBox="1"/>
          <p:nvPr/>
        </p:nvSpPr>
        <p:spPr>
          <a:xfrm>
            <a:off x="12477902" y="2590495"/>
            <a:ext cx="1133856" cy="238658"/>
          </a:xfrm>
          <a:prstGeom prst="rect">
            <a:avLst/>
          </a:prstGeom>
          <a:noFill/>
          <a:ln/>
        </p:spPr>
        <p:txBody>
          <a:bodyPr wrap="none" lIns="0" tIns="0" rIns="0" bIns="0" rtlCol="0" anchor="ctr"/>
          <a:lstStyle/>
          <a:p>
            <a:pPr algn="l" indent="0" marL="0">
              <a:buNone/>
            </a:pPr>
            <a:r>
              <a:rPr lang="en-US" sz="1275" b="1" dirty="0">
                <a:solidFill>
                  <a:srgbClr val="5C5448"/>
                </a:solidFill>
                <a:latin typeface="Noto Sans KR" pitchFamily="34" charset="0"/>
                <a:ea typeface="Noto Sans KR" pitchFamily="34" charset="-122"/>
                <a:cs typeface="Noto Sans KR" pitchFamily="34" charset="-120"/>
              </a:rPr>
              <a:t>Wafer count</a:t>
            </a:r>
            <a:endParaRPr lang="en-US" sz="1275" dirty="0"/>
          </a:p>
        </p:txBody>
      </p:sp>
      <p:sp>
        <p:nvSpPr>
          <p:cNvPr id="23" name="Text 17"/>
          <p:cNvSpPr txBox="1"/>
          <p:nvPr/>
        </p:nvSpPr>
        <p:spPr>
          <a:xfrm>
            <a:off x="16645738" y="2562149"/>
            <a:ext cx="427939" cy="277063"/>
          </a:xfrm>
          <a:prstGeom prst="rect">
            <a:avLst/>
          </a:prstGeom>
          <a:noFill/>
          <a:ln/>
        </p:spPr>
        <p:txBody>
          <a:bodyPr wrap="none" lIns="0" tIns="0" rIns="0" bIns="0" rtlCol="0" anchor="ctr"/>
          <a:lstStyle/>
          <a:p>
            <a:pPr algn="l" indent="0" marL="0">
              <a:buNone/>
            </a:pPr>
            <a:r>
              <a:rPr lang="en-US" sz="1500" b="1" dirty="0">
                <a:solidFill>
                  <a:srgbClr val="1A1F2C"/>
                </a:solidFill>
                <a:latin typeface="JetBrains Mono" pitchFamily="34" charset="0"/>
                <a:ea typeface="JetBrains Mono" pitchFamily="34" charset="-122"/>
                <a:cs typeface="JetBrains Mono" pitchFamily="34" charset="-120"/>
              </a:rPr>
              <a:t>6 매</a:t>
            </a:r>
            <a:endParaRPr lang="en-US" sz="1500" dirty="0"/>
          </a:p>
        </p:txBody>
      </p:sp>
      <p:sp>
        <p:nvSpPr>
          <p:cNvPr id="24" name="Shape 18"/>
          <p:cNvSpPr/>
          <p:nvPr/>
        </p:nvSpPr>
        <p:spPr>
          <a:xfrm>
            <a:off x="12477902" y="3495751"/>
            <a:ext cx="4572000" cy="9144"/>
          </a:xfrm>
          <a:prstGeom prst="rect">
            <a:avLst/>
          </a:prstGeom>
          <a:solidFill>
            <a:srgbClr val="E2D9C5"/>
          </a:solidFill>
          <a:ln w="12700">
            <a:solidFill>
              <a:srgbClr val="E2D9C5">
                <a:alpha val="0"/>
              </a:srgbClr>
            </a:solidFill>
            <a:prstDash val="solid"/>
          </a:ln>
        </p:spPr>
      </p:sp>
      <p:sp>
        <p:nvSpPr>
          <p:cNvPr id="25" name="Text 19"/>
          <p:cNvSpPr txBox="1"/>
          <p:nvPr/>
        </p:nvSpPr>
        <p:spPr>
          <a:xfrm>
            <a:off x="12477902" y="3124505"/>
            <a:ext cx="1190549" cy="238658"/>
          </a:xfrm>
          <a:prstGeom prst="rect">
            <a:avLst/>
          </a:prstGeom>
          <a:noFill/>
          <a:ln/>
        </p:spPr>
        <p:txBody>
          <a:bodyPr wrap="none" lIns="0" tIns="0" rIns="0" bIns="0" rtlCol="0" anchor="ctr"/>
          <a:lstStyle/>
          <a:p>
            <a:pPr algn="l" indent="0" marL="0">
              <a:buNone/>
            </a:pPr>
            <a:r>
              <a:rPr lang="en-US" sz="1275" b="1" dirty="0">
                <a:solidFill>
                  <a:srgbClr val="5C5448"/>
                </a:solidFill>
                <a:latin typeface="Noto Sans KR" pitchFamily="34" charset="0"/>
                <a:ea typeface="Noto Sans KR" pitchFamily="34" charset="-122"/>
                <a:cs typeface="Noto Sans KR" pitchFamily="34" charset="-120"/>
              </a:rPr>
              <a:t>Process split</a:t>
            </a:r>
            <a:endParaRPr lang="en-US" sz="1275" dirty="0"/>
          </a:p>
        </p:txBody>
      </p:sp>
      <p:sp>
        <p:nvSpPr>
          <p:cNvPr id="26" name="Text 20"/>
          <p:cNvSpPr txBox="1"/>
          <p:nvPr/>
        </p:nvSpPr>
        <p:spPr>
          <a:xfrm>
            <a:off x="15254021" y="3095244"/>
            <a:ext cx="1800454" cy="277063"/>
          </a:xfrm>
          <a:prstGeom prst="rect">
            <a:avLst/>
          </a:prstGeom>
          <a:noFill/>
          <a:ln/>
        </p:spPr>
        <p:txBody>
          <a:bodyPr wrap="none" lIns="0" tIns="0" rIns="0" bIns="0" rtlCol="0" anchor="ctr"/>
          <a:lstStyle/>
          <a:p>
            <a:pPr algn="l" indent="0" marL="0">
              <a:buNone/>
            </a:pPr>
            <a:r>
              <a:rPr lang="en-US" sz="1500" b="1" dirty="0">
                <a:solidFill>
                  <a:srgbClr val="1A1F2C"/>
                </a:solidFill>
                <a:latin typeface="Noto Sans KR" pitchFamily="34" charset="0"/>
                <a:ea typeface="Noto Sans KR" pitchFamily="34" charset="-122"/>
                <a:cs typeface="Noto Sans KR" pitchFamily="34" charset="-120"/>
              </a:rPr>
              <a:t>SAQP × SADP+SAB</a:t>
            </a:r>
            <a:endParaRPr lang="en-US" sz="1500" dirty="0"/>
          </a:p>
        </p:txBody>
      </p:sp>
      <p:sp>
        <p:nvSpPr>
          <p:cNvPr id="27" name="Shape 21"/>
          <p:cNvSpPr/>
          <p:nvPr/>
        </p:nvSpPr>
        <p:spPr>
          <a:xfrm>
            <a:off x="12477902" y="3991356"/>
            <a:ext cx="4572000" cy="9144"/>
          </a:xfrm>
          <a:prstGeom prst="rect">
            <a:avLst/>
          </a:prstGeom>
          <a:solidFill>
            <a:srgbClr val="E2D9C5"/>
          </a:solidFill>
          <a:ln w="12700">
            <a:solidFill>
              <a:srgbClr val="E2D9C5">
                <a:alpha val="0"/>
              </a:srgbClr>
            </a:solidFill>
            <a:prstDash val="solid"/>
          </a:ln>
        </p:spPr>
      </p:sp>
      <p:sp>
        <p:nvSpPr>
          <p:cNvPr id="28" name="Text 22"/>
          <p:cNvSpPr txBox="1"/>
          <p:nvPr/>
        </p:nvSpPr>
        <p:spPr>
          <a:xfrm>
            <a:off x="12477902" y="3629254"/>
            <a:ext cx="1587398" cy="238658"/>
          </a:xfrm>
          <a:prstGeom prst="rect">
            <a:avLst/>
          </a:prstGeom>
          <a:noFill/>
          <a:ln/>
        </p:spPr>
        <p:txBody>
          <a:bodyPr wrap="none" lIns="0" tIns="0" rIns="0" bIns="0" rtlCol="0" anchor="ctr"/>
          <a:lstStyle/>
          <a:p>
            <a:pPr algn="l" indent="0" marL="0">
              <a:buNone/>
            </a:pPr>
            <a:r>
              <a:rPr lang="en-US" sz="1275" b="1" dirty="0">
                <a:solidFill>
                  <a:srgbClr val="5C5448"/>
                </a:solidFill>
                <a:latin typeface="Noto Sans KR" pitchFamily="34" charset="0"/>
                <a:ea typeface="Noto Sans KR" pitchFamily="34" charset="-122"/>
                <a:cs typeface="Noto Sans KR" pitchFamily="34" charset="-120"/>
              </a:rPr>
              <a:t>Split assignment</a:t>
            </a:r>
            <a:endParaRPr lang="en-US" sz="1275" dirty="0"/>
          </a:p>
        </p:txBody>
      </p:sp>
      <p:sp>
        <p:nvSpPr>
          <p:cNvPr id="29" name="Text 23"/>
          <p:cNvSpPr txBox="1"/>
          <p:nvPr/>
        </p:nvSpPr>
        <p:spPr>
          <a:xfrm>
            <a:off x="15506395" y="3648456"/>
            <a:ext cx="1543507" cy="219456"/>
          </a:xfrm>
          <a:prstGeom prst="rect">
            <a:avLst/>
          </a:prstGeom>
          <a:noFill/>
          <a:ln/>
        </p:spPr>
        <p:txBody>
          <a:bodyPr wrap="none" lIns="0" tIns="0" rIns="0" bIns="0" rtlCol="0" anchor="ctr"/>
          <a:lstStyle/>
          <a:p>
            <a:pPr algn="l" indent="0" marL="0">
              <a:buNone/>
            </a:pPr>
            <a:r>
              <a:rPr lang="en-US" sz="1350" b="1" dirty="0">
                <a:solidFill>
                  <a:srgbClr val="1A1F2C"/>
                </a:solidFill>
                <a:latin typeface="JetBrains Mono" pitchFamily="34" charset="0"/>
                <a:ea typeface="JetBrains Mono" pitchFamily="34" charset="-122"/>
                <a:cs typeface="JetBrains Mono" pitchFamily="34" charset="-120"/>
              </a:rPr>
              <a:t>W01–03 · W04–06</a:t>
            </a:r>
            <a:endParaRPr lang="en-US" sz="1350" dirty="0"/>
          </a:p>
        </p:txBody>
      </p:sp>
      <p:sp>
        <p:nvSpPr>
          <p:cNvPr id="30" name="Shape 24"/>
          <p:cNvSpPr/>
          <p:nvPr/>
        </p:nvSpPr>
        <p:spPr>
          <a:xfrm>
            <a:off x="12477902" y="4524451"/>
            <a:ext cx="4572000" cy="9144"/>
          </a:xfrm>
          <a:prstGeom prst="rect">
            <a:avLst/>
          </a:prstGeom>
          <a:solidFill>
            <a:srgbClr val="E2D9C5"/>
          </a:solidFill>
          <a:ln w="12700">
            <a:solidFill>
              <a:srgbClr val="E2D9C5">
                <a:alpha val="0"/>
              </a:srgbClr>
            </a:solidFill>
            <a:prstDash val="solid"/>
          </a:ln>
        </p:spPr>
      </p:sp>
      <p:sp>
        <p:nvSpPr>
          <p:cNvPr id="31" name="Text 25"/>
          <p:cNvSpPr txBox="1"/>
          <p:nvPr/>
        </p:nvSpPr>
        <p:spPr>
          <a:xfrm>
            <a:off x="12477902" y="4153205"/>
            <a:ext cx="1100023" cy="238658"/>
          </a:xfrm>
          <a:prstGeom prst="rect">
            <a:avLst/>
          </a:prstGeom>
          <a:noFill/>
          <a:ln/>
        </p:spPr>
        <p:txBody>
          <a:bodyPr wrap="none" lIns="0" tIns="0" rIns="0" bIns="0" rtlCol="0" anchor="ctr"/>
          <a:lstStyle/>
          <a:p>
            <a:pPr algn="l" indent="0" marL="0">
              <a:buNone/>
            </a:pPr>
            <a:r>
              <a:rPr lang="en-US" sz="1275" b="1" dirty="0">
                <a:solidFill>
                  <a:srgbClr val="5C5448"/>
                </a:solidFill>
                <a:latin typeface="Noto Sans KR" pitchFamily="34" charset="0"/>
                <a:ea typeface="Noto Sans KR" pitchFamily="34" charset="-122"/>
                <a:cs typeface="Noto Sans KR" pitchFamily="34" charset="-120"/>
              </a:rPr>
              <a:t>Pitch target</a:t>
            </a:r>
            <a:endParaRPr lang="en-US" sz="1275" dirty="0"/>
          </a:p>
        </p:txBody>
      </p:sp>
      <p:sp>
        <p:nvSpPr>
          <p:cNvPr id="32" name="Text 26"/>
          <p:cNvSpPr txBox="1"/>
          <p:nvPr/>
        </p:nvSpPr>
        <p:spPr>
          <a:xfrm>
            <a:off x="15734081" y="4123944"/>
            <a:ext cx="1470355" cy="277063"/>
          </a:xfrm>
          <a:prstGeom prst="rect">
            <a:avLst/>
          </a:prstGeom>
          <a:noFill/>
          <a:ln/>
        </p:spPr>
        <p:txBody>
          <a:bodyPr wrap="none" lIns="0" tIns="0" rIns="0" bIns="0" rtlCol="0" anchor="ctr"/>
          <a:lstStyle/>
          <a:p>
            <a:pPr algn="l" indent="0" marL="0">
              <a:buNone/>
            </a:pPr>
            <a:r>
              <a:rPr lang="en-US" sz="1500" b="1" dirty="0">
                <a:solidFill>
                  <a:srgbClr val="1A1F2C"/>
                </a:solidFill>
                <a:latin typeface="Noto Sans KR" pitchFamily="34" charset="0"/>
                <a:ea typeface="Noto Sans KR" pitchFamily="34" charset="-122"/>
                <a:cs typeface="Noto Sans KR" pitchFamily="34" charset="-120"/>
              </a:rPr>
              <a:t>sub-30 nm Mx</a:t>
            </a:r>
            <a:endParaRPr lang="en-US" sz="1500" dirty="0"/>
          </a:p>
        </p:txBody>
      </p:sp>
      <p:sp>
        <p:nvSpPr>
          <p:cNvPr id="33" name="Shape 27"/>
          <p:cNvSpPr/>
          <p:nvPr/>
        </p:nvSpPr>
        <p:spPr>
          <a:xfrm>
            <a:off x="12477902" y="5020056"/>
            <a:ext cx="4572000" cy="9144"/>
          </a:xfrm>
          <a:prstGeom prst="rect">
            <a:avLst/>
          </a:prstGeom>
          <a:solidFill>
            <a:srgbClr val="E2D9C5"/>
          </a:solidFill>
          <a:ln w="12700">
            <a:solidFill>
              <a:srgbClr val="E2D9C5">
                <a:alpha val="0"/>
              </a:srgbClr>
            </a:solidFill>
            <a:prstDash val="solid"/>
          </a:ln>
        </p:spPr>
      </p:sp>
      <p:sp>
        <p:nvSpPr>
          <p:cNvPr id="34" name="Text 28"/>
          <p:cNvSpPr txBox="1"/>
          <p:nvPr/>
        </p:nvSpPr>
        <p:spPr>
          <a:xfrm>
            <a:off x="12477902" y="4657954"/>
            <a:ext cx="1451153" cy="238658"/>
          </a:xfrm>
          <a:prstGeom prst="rect">
            <a:avLst/>
          </a:prstGeom>
          <a:noFill/>
          <a:ln/>
        </p:spPr>
        <p:txBody>
          <a:bodyPr wrap="none" lIns="0" tIns="0" rIns="0" bIns="0" rtlCol="0" anchor="ctr"/>
          <a:lstStyle/>
          <a:p>
            <a:pPr algn="l" indent="0" marL="0">
              <a:buNone/>
            </a:pPr>
            <a:r>
              <a:rPr lang="en-US" sz="1275" b="1" dirty="0">
                <a:solidFill>
                  <a:srgbClr val="5C5448"/>
                </a:solidFill>
                <a:latin typeface="Noto Sans KR" pitchFamily="34" charset="0"/>
                <a:ea typeface="Noto Sans KR" pitchFamily="34" charset="-122"/>
                <a:cs typeface="Noto Sans KR" pitchFamily="34" charset="-120"/>
              </a:rPr>
              <a:t>CD target (4-pt)</a:t>
            </a:r>
            <a:endParaRPr lang="en-US" sz="1275" dirty="0"/>
          </a:p>
        </p:txBody>
      </p:sp>
      <p:sp>
        <p:nvSpPr>
          <p:cNvPr id="35" name="Text 29"/>
          <p:cNvSpPr txBox="1"/>
          <p:nvPr/>
        </p:nvSpPr>
        <p:spPr>
          <a:xfrm>
            <a:off x="14815109" y="4686300"/>
            <a:ext cx="2238451" cy="210312"/>
          </a:xfrm>
          <a:prstGeom prst="rect">
            <a:avLst/>
          </a:prstGeom>
          <a:noFill/>
          <a:ln/>
        </p:spPr>
        <p:txBody>
          <a:bodyPr wrap="none" lIns="0" tIns="0" rIns="0" bIns="0" rtlCol="0" anchor="ctr"/>
          <a:lstStyle/>
          <a:p>
            <a:pPr algn="l" indent="0" marL="0">
              <a:buNone/>
            </a:pPr>
            <a:r>
              <a:rPr lang="en-US" sz="1275" b="1" dirty="0">
                <a:solidFill>
                  <a:srgbClr val="1A1F2C"/>
                </a:solidFill>
                <a:latin typeface="JetBrains Mono" pitchFamily="34" charset="0"/>
                <a:ea typeface="JetBrains Mono" pitchFamily="34" charset="-122"/>
                <a:cs typeface="JetBrains Mono" pitchFamily="34" charset="-120"/>
              </a:rPr>
              <a:t>25.6 / 16.5 / 9.0 / 8.9</a:t>
            </a:r>
            <a:endParaRPr lang="en-US" sz="1275" dirty="0"/>
          </a:p>
        </p:txBody>
      </p:sp>
      <p:sp>
        <p:nvSpPr>
          <p:cNvPr id="36" name="Shape 30"/>
          <p:cNvSpPr/>
          <p:nvPr/>
        </p:nvSpPr>
        <p:spPr>
          <a:xfrm>
            <a:off x="12477902" y="5553151"/>
            <a:ext cx="4572000" cy="9144"/>
          </a:xfrm>
          <a:prstGeom prst="rect">
            <a:avLst/>
          </a:prstGeom>
          <a:solidFill>
            <a:srgbClr val="E2D9C5"/>
          </a:solidFill>
          <a:ln w="12700">
            <a:solidFill>
              <a:srgbClr val="E2D9C5">
                <a:alpha val="0"/>
              </a:srgbClr>
            </a:solidFill>
            <a:prstDash val="solid"/>
          </a:ln>
        </p:spPr>
      </p:sp>
      <p:sp>
        <p:nvSpPr>
          <p:cNvPr id="37" name="Text 31"/>
          <p:cNvSpPr txBox="1"/>
          <p:nvPr/>
        </p:nvSpPr>
        <p:spPr>
          <a:xfrm>
            <a:off x="12477902" y="5181905"/>
            <a:ext cx="1440180" cy="238658"/>
          </a:xfrm>
          <a:prstGeom prst="rect">
            <a:avLst/>
          </a:prstGeom>
          <a:noFill/>
          <a:ln/>
        </p:spPr>
        <p:txBody>
          <a:bodyPr wrap="none" lIns="0" tIns="0" rIns="0" bIns="0" rtlCol="0" anchor="ctr"/>
          <a:lstStyle/>
          <a:p>
            <a:pPr algn="l" indent="0" marL="0">
              <a:buNone/>
            </a:pPr>
            <a:r>
              <a:rPr lang="en-US" sz="1275" b="1" dirty="0">
                <a:solidFill>
                  <a:srgbClr val="5C5448"/>
                </a:solidFill>
                <a:latin typeface="Noto Sans KR" pitchFamily="34" charset="0"/>
                <a:ea typeface="Noto Sans KR" pitchFamily="34" charset="-122"/>
                <a:cs typeface="Noto Sans KR" pitchFamily="34" charset="-120"/>
              </a:rPr>
              <a:t>Metrology sites</a:t>
            </a:r>
            <a:endParaRPr lang="en-US" sz="1275" dirty="0"/>
          </a:p>
        </p:txBody>
      </p:sp>
      <p:sp>
        <p:nvSpPr>
          <p:cNvPr id="38" name="Text 32"/>
          <p:cNvSpPr txBox="1"/>
          <p:nvPr/>
        </p:nvSpPr>
        <p:spPr>
          <a:xfrm>
            <a:off x="15858439" y="5152644"/>
            <a:ext cx="1428293" cy="277063"/>
          </a:xfrm>
          <a:prstGeom prst="rect">
            <a:avLst/>
          </a:prstGeom>
          <a:noFill/>
          <a:ln/>
        </p:spPr>
        <p:txBody>
          <a:bodyPr wrap="none" lIns="0" tIns="0" rIns="0" bIns="0" rtlCol="0" anchor="ctr"/>
          <a:lstStyle/>
          <a:p>
            <a:pPr algn="l" indent="0" marL="0">
              <a:buNone/>
            </a:pPr>
            <a:r>
              <a:rPr lang="en-US" sz="1500" b="1" dirty="0">
                <a:solidFill>
                  <a:srgbClr val="1A1F2C"/>
                </a:solidFill>
                <a:latin typeface="Noto Sans KR" pitchFamily="34" charset="0"/>
                <a:ea typeface="Noto Sans KR" pitchFamily="34" charset="-122"/>
                <a:cs typeface="Noto Sans KR" pitchFamily="34" charset="-120"/>
              </a:rPr>
              <a:t>25 pt / wafer</a:t>
            </a:r>
            <a:endParaRPr lang="en-US" sz="1500" dirty="0"/>
          </a:p>
        </p:txBody>
      </p:sp>
      <p:sp>
        <p:nvSpPr>
          <p:cNvPr id="39" name="Shape 33"/>
          <p:cNvSpPr/>
          <p:nvPr/>
        </p:nvSpPr>
        <p:spPr>
          <a:xfrm>
            <a:off x="12477902" y="6086246"/>
            <a:ext cx="4572000" cy="9144"/>
          </a:xfrm>
          <a:prstGeom prst="rect">
            <a:avLst/>
          </a:prstGeom>
          <a:solidFill>
            <a:srgbClr val="E2D9C5"/>
          </a:solidFill>
          <a:ln w="12700">
            <a:solidFill>
              <a:srgbClr val="E2D9C5">
                <a:alpha val="0"/>
              </a:srgbClr>
            </a:solidFill>
            <a:prstDash val="solid"/>
          </a:ln>
        </p:spPr>
      </p:sp>
      <p:sp>
        <p:nvSpPr>
          <p:cNvPr id="40" name="Text 34"/>
          <p:cNvSpPr txBox="1"/>
          <p:nvPr/>
        </p:nvSpPr>
        <p:spPr>
          <a:xfrm>
            <a:off x="12477902" y="5715000"/>
            <a:ext cx="544068" cy="238658"/>
          </a:xfrm>
          <a:prstGeom prst="rect">
            <a:avLst/>
          </a:prstGeom>
          <a:noFill/>
          <a:ln/>
        </p:spPr>
        <p:txBody>
          <a:bodyPr wrap="none" lIns="0" tIns="0" rIns="0" bIns="0" rtlCol="0" anchor="ctr"/>
          <a:lstStyle/>
          <a:p>
            <a:pPr algn="l" indent="0" marL="0">
              <a:buNone/>
            </a:pPr>
            <a:r>
              <a:rPr lang="en-US" sz="1275" b="1" dirty="0">
                <a:solidFill>
                  <a:srgbClr val="5C5448"/>
                </a:solidFill>
                <a:latin typeface="Noto Sans KR" pitchFamily="34" charset="0"/>
                <a:ea typeface="Noto Sans KR" pitchFamily="34" charset="-122"/>
                <a:cs typeface="Noto Sans KR" pitchFamily="34" charset="-120"/>
              </a:rPr>
              <a:t>E-test</a:t>
            </a:r>
            <a:endParaRPr lang="en-US" sz="1275" dirty="0"/>
          </a:p>
        </p:txBody>
      </p:sp>
      <p:sp>
        <p:nvSpPr>
          <p:cNvPr id="41" name="Text 35"/>
          <p:cNvSpPr txBox="1"/>
          <p:nvPr/>
        </p:nvSpPr>
        <p:spPr>
          <a:xfrm>
            <a:off x="15252192" y="5686654"/>
            <a:ext cx="2142439" cy="277063"/>
          </a:xfrm>
          <a:prstGeom prst="rect">
            <a:avLst/>
          </a:prstGeom>
          <a:noFill/>
          <a:ln/>
        </p:spPr>
        <p:txBody>
          <a:bodyPr wrap="none" lIns="0" tIns="0" rIns="0" bIns="0" rtlCol="0" anchor="ctr"/>
          <a:lstStyle/>
          <a:p>
            <a:pPr algn="l" indent="0" marL="0">
              <a:buNone/>
            </a:pPr>
            <a:r>
              <a:rPr lang="en-US" sz="1500" b="1" dirty="0">
                <a:solidFill>
                  <a:srgbClr val="1A1F2C"/>
                </a:solidFill>
                <a:latin typeface="Noto Sans KR" pitchFamily="34" charset="0"/>
                <a:ea typeface="Noto Sans KR" pitchFamily="34" charset="-122"/>
                <a:cs typeface="Noto Sans KR" pitchFamily="34" charset="-120"/>
              </a:rPr>
              <a:t>Rs · ρ · Rc · Jlk · BD</a:t>
            </a:r>
            <a:endParaRPr lang="en-US" sz="1500" dirty="0"/>
          </a:p>
        </p:txBody>
      </p:sp>
      <p:sp>
        <p:nvSpPr>
          <p:cNvPr id="42" name="Text 36"/>
          <p:cNvSpPr txBox="1"/>
          <p:nvPr/>
        </p:nvSpPr>
        <p:spPr>
          <a:xfrm>
            <a:off x="12477902" y="6248095"/>
            <a:ext cx="1870862" cy="238658"/>
          </a:xfrm>
          <a:prstGeom prst="rect">
            <a:avLst/>
          </a:prstGeom>
          <a:noFill/>
          <a:ln/>
        </p:spPr>
        <p:txBody>
          <a:bodyPr wrap="none" lIns="0" tIns="0" rIns="0" bIns="0" rtlCol="0" anchor="ctr"/>
          <a:lstStyle/>
          <a:p>
            <a:pPr algn="l" indent="0" marL="0">
              <a:buNone/>
            </a:pPr>
            <a:r>
              <a:rPr lang="en-US" sz="1275" b="1" dirty="0">
                <a:solidFill>
                  <a:srgbClr val="5C5448"/>
                </a:solidFill>
                <a:latin typeface="Noto Sans KR" pitchFamily="34" charset="0"/>
                <a:ea typeface="Noto Sans KR" pitchFamily="34" charset="-122"/>
                <a:cs typeface="Noto Sans KR" pitchFamily="34" charset="-120"/>
              </a:rPr>
              <a:t>Out-of-report scope</a:t>
            </a:r>
            <a:endParaRPr lang="en-US" sz="1275" dirty="0"/>
          </a:p>
        </p:txBody>
      </p:sp>
      <p:sp>
        <p:nvSpPr>
          <p:cNvPr id="43" name="Text 37"/>
          <p:cNvSpPr txBox="1"/>
          <p:nvPr/>
        </p:nvSpPr>
        <p:spPr>
          <a:xfrm>
            <a:off x="16247974" y="6219749"/>
            <a:ext cx="963778" cy="277063"/>
          </a:xfrm>
          <a:prstGeom prst="rect">
            <a:avLst/>
          </a:prstGeom>
          <a:noFill/>
          <a:ln/>
        </p:spPr>
        <p:txBody>
          <a:bodyPr wrap="none" lIns="0" tIns="0" rIns="0" bIns="0" rtlCol="0" anchor="ctr"/>
          <a:lstStyle/>
          <a:p>
            <a:pPr algn="l" indent="0" marL="0">
              <a:buNone/>
            </a:pPr>
            <a:r>
              <a:rPr lang="en-US" sz="1500" b="1" dirty="0">
                <a:solidFill>
                  <a:srgbClr val="1A1F2C"/>
                </a:solidFill>
                <a:latin typeface="Noto Sans KR" pitchFamily="34" charset="0"/>
                <a:ea typeface="Noto Sans KR" pitchFamily="34" charset="-122"/>
                <a:cs typeface="Noto Sans KR" pitchFamily="34" charset="-120"/>
              </a:rPr>
              <a:t>M2 layer</a:t>
            </a:r>
            <a:endParaRPr lang="en-US" sz="1500" dirty="0"/>
          </a:p>
        </p:txBody>
      </p:sp>
      <p:sp>
        <p:nvSpPr>
          <p:cNvPr id="44" name="Text 38"/>
          <p:cNvSpPr txBox="1"/>
          <p:nvPr/>
        </p:nvSpPr>
        <p:spPr>
          <a:xfrm>
            <a:off x="12725705" y="7524598"/>
            <a:ext cx="4096512" cy="162763"/>
          </a:xfrm>
          <a:prstGeom prst="rect">
            <a:avLst/>
          </a:prstGeom>
          <a:noFill/>
          <a:ln/>
        </p:spPr>
        <p:txBody>
          <a:bodyPr wrap="none" lIns="0" tIns="0" rIns="0" bIns="0" rtlCol="0" anchor="ctr"/>
          <a:lstStyle/>
          <a:p>
            <a:pPr algn="l" indent="0" marL="0">
              <a:buNone/>
            </a:pPr>
            <a:r>
              <a:rPr lang="en-US" sz="975" b="1" spc="195" kern="0" dirty="0">
                <a:solidFill>
                  <a:srgbClr val="B8430E"/>
                </a:solidFill>
                <a:latin typeface="JetBrains Mono" pitchFamily="34" charset="0"/>
                <a:ea typeface="JetBrains Mono" pitchFamily="34" charset="-122"/>
                <a:cs typeface="JetBrains Mono" pitchFamily="34" charset="-120"/>
              </a:rPr>
              <a:t>SPLIT DISTRIBUTION</a:t>
            </a:r>
            <a:endParaRPr lang="en-US" sz="975" dirty="0"/>
          </a:p>
        </p:txBody>
      </p:sp>
      <p:sp>
        <p:nvSpPr>
          <p:cNvPr id="45" name="Shape 39"/>
          <p:cNvSpPr/>
          <p:nvPr/>
        </p:nvSpPr>
        <p:spPr>
          <a:xfrm>
            <a:off x="12725705" y="7839151"/>
            <a:ext cx="638251" cy="400507"/>
          </a:xfrm>
          <a:prstGeom prst="rect">
            <a:avLst/>
          </a:prstGeom>
          <a:solidFill>
            <a:srgbClr val="2D3848"/>
          </a:solidFill>
          <a:ln w="12700">
            <a:solidFill>
              <a:srgbClr val="FFFFFF">
                <a:alpha val="0"/>
              </a:srgbClr>
            </a:solidFill>
            <a:prstDash val="solid"/>
          </a:ln>
        </p:spPr>
      </p:sp>
      <p:sp>
        <p:nvSpPr>
          <p:cNvPr id="46" name="Shape 40"/>
          <p:cNvSpPr/>
          <p:nvPr/>
        </p:nvSpPr>
        <p:spPr>
          <a:xfrm>
            <a:off x="13417906" y="7839151"/>
            <a:ext cx="638251" cy="400507"/>
          </a:xfrm>
          <a:prstGeom prst="rect">
            <a:avLst/>
          </a:prstGeom>
          <a:solidFill>
            <a:srgbClr val="2D3848"/>
          </a:solidFill>
          <a:ln w="12700">
            <a:solidFill>
              <a:srgbClr val="FFFFFF">
                <a:alpha val="0"/>
              </a:srgbClr>
            </a:solidFill>
            <a:prstDash val="solid"/>
          </a:ln>
        </p:spPr>
      </p:sp>
      <p:sp>
        <p:nvSpPr>
          <p:cNvPr id="47" name="Shape 41"/>
          <p:cNvSpPr/>
          <p:nvPr/>
        </p:nvSpPr>
        <p:spPr>
          <a:xfrm>
            <a:off x="14110106" y="7839151"/>
            <a:ext cx="638251" cy="400507"/>
          </a:xfrm>
          <a:prstGeom prst="rect">
            <a:avLst/>
          </a:prstGeom>
          <a:solidFill>
            <a:srgbClr val="2D3848"/>
          </a:solidFill>
          <a:ln w="12700">
            <a:solidFill>
              <a:srgbClr val="FFFFFF">
                <a:alpha val="0"/>
              </a:srgbClr>
            </a:solidFill>
            <a:prstDash val="solid"/>
          </a:ln>
        </p:spPr>
      </p:sp>
      <p:sp>
        <p:nvSpPr>
          <p:cNvPr id="48" name="Shape 42"/>
          <p:cNvSpPr/>
          <p:nvPr/>
        </p:nvSpPr>
        <p:spPr>
          <a:xfrm>
            <a:off x="14801393" y="7839151"/>
            <a:ext cx="638251" cy="400507"/>
          </a:xfrm>
          <a:prstGeom prst="rect">
            <a:avLst/>
          </a:prstGeom>
          <a:solidFill>
            <a:srgbClr val="E8762E"/>
          </a:solidFill>
          <a:ln w="12700">
            <a:solidFill>
              <a:srgbClr val="FFFFFF">
                <a:alpha val="0"/>
              </a:srgbClr>
            </a:solidFill>
            <a:prstDash val="solid"/>
          </a:ln>
        </p:spPr>
      </p:sp>
      <p:sp>
        <p:nvSpPr>
          <p:cNvPr id="49" name="Shape 43"/>
          <p:cNvSpPr/>
          <p:nvPr/>
        </p:nvSpPr>
        <p:spPr>
          <a:xfrm>
            <a:off x="15493594" y="7839151"/>
            <a:ext cx="638251" cy="400507"/>
          </a:xfrm>
          <a:prstGeom prst="rect">
            <a:avLst/>
          </a:prstGeom>
          <a:solidFill>
            <a:srgbClr val="E8762E"/>
          </a:solidFill>
          <a:ln w="12700">
            <a:solidFill>
              <a:srgbClr val="FFFFFF">
                <a:alpha val="0"/>
              </a:srgbClr>
            </a:solidFill>
            <a:prstDash val="solid"/>
          </a:ln>
        </p:spPr>
      </p:sp>
      <p:sp>
        <p:nvSpPr>
          <p:cNvPr id="50" name="Shape 44"/>
          <p:cNvSpPr/>
          <p:nvPr/>
        </p:nvSpPr>
        <p:spPr>
          <a:xfrm>
            <a:off x="16185794" y="7839151"/>
            <a:ext cx="638251" cy="400507"/>
          </a:xfrm>
          <a:prstGeom prst="rect">
            <a:avLst/>
          </a:prstGeom>
          <a:solidFill>
            <a:srgbClr val="E8762E"/>
          </a:solidFill>
          <a:ln w="12700">
            <a:solidFill>
              <a:srgbClr val="FFFFFF">
                <a:alpha val="0"/>
              </a:srgbClr>
            </a:solidFill>
            <a:prstDash val="solid"/>
          </a:ln>
        </p:spPr>
      </p:sp>
      <p:sp>
        <p:nvSpPr>
          <p:cNvPr id="51" name="Text 45"/>
          <p:cNvSpPr txBox="1"/>
          <p:nvPr/>
        </p:nvSpPr>
        <p:spPr>
          <a:xfrm>
            <a:off x="12725705" y="8391449"/>
            <a:ext cx="771754" cy="191110"/>
          </a:xfrm>
          <a:prstGeom prst="rect">
            <a:avLst/>
          </a:prstGeom>
          <a:noFill/>
          <a:ln/>
        </p:spPr>
        <p:txBody>
          <a:bodyPr wrap="none" lIns="0" tIns="0" rIns="0" bIns="0" rtlCol="0" anchor="ctr"/>
          <a:lstStyle/>
          <a:p>
            <a:pPr algn="l" indent="0" marL="0">
              <a:buNone/>
            </a:pPr>
            <a:r>
              <a:rPr lang="en-US" sz="1050" b="1" dirty="0">
                <a:solidFill>
                  <a:srgbClr val="2D3848"/>
                </a:solidFill>
                <a:latin typeface="JetBrains Mono" pitchFamily="34" charset="0"/>
                <a:ea typeface="JetBrains Mono" pitchFamily="34" charset="-122"/>
                <a:cs typeface="JetBrains Mono" pitchFamily="34" charset="-120"/>
              </a:rPr>
              <a:t>SAQP · 3매</a:t>
            </a:r>
            <a:endParaRPr lang="en-US" sz="1050" dirty="0"/>
          </a:p>
        </p:txBody>
      </p:sp>
      <p:sp>
        <p:nvSpPr>
          <p:cNvPr id="52" name="Text 46"/>
          <p:cNvSpPr txBox="1"/>
          <p:nvPr/>
        </p:nvSpPr>
        <p:spPr>
          <a:xfrm>
            <a:off x="15738653" y="8391449"/>
            <a:ext cx="1251814" cy="191110"/>
          </a:xfrm>
          <a:prstGeom prst="rect">
            <a:avLst/>
          </a:prstGeom>
          <a:noFill/>
          <a:ln/>
        </p:spPr>
        <p:txBody>
          <a:bodyPr wrap="none" lIns="0" tIns="0" rIns="0" bIns="0" rtlCol="0" anchor="ctr"/>
          <a:lstStyle/>
          <a:p>
            <a:pPr algn="l" indent="0" marL="0">
              <a:buNone/>
            </a:pPr>
            <a:r>
              <a:rPr lang="en-US" sz="1050" b="1" dirty="0">
                <a:solidFill>
                  <a:srgbClr val="B8430E"/>
                </a:solidFill>
                <a:latin typeface="JetBrains Mono" pitchFamily="34" charset="0"/>
                <a:ea typeface="JetBrains Mono" pitchFamily="34" charset="-122"/>
                <a:cs typeface="JetBrains Mono" pitchFamily="34" charset="-120"/>
              </a:rPr>
              <a:t>SADP+SAB · 3매</a:t>
            </a:r>
            <a:endParaRPr lang="en-US" sz="1050" dirty="0"/>
          </a:p>
        </p:txBody>
      </p:sp>
      <p:sp>
        <p:nvSpPr>
          <p:cNvPr id="53" name="Text 47"/>
          <p:cNvSpPr txBox="1"/>
          <p:nvPr/>
        </p:nvSpPr>
        <p:spPr>
          <a:xfrm>
            <a:off x="12725705" y="8715146"/>
            <a:ext cx="4096512" cy="181051"/>
          </a:xfrm>
          <a:prstGeom prst="rect">
            <a:avLst/>
          </a:prstGeom>
          <a:noFill/>
          <a:ln/>
        </p:spPr>
        <p:txBody>
          <a:bodyPr wrap="none" lIns="0" tIns="0" rIns="0" bIns="0" rtlCol="0" anchor="ctr"/>
          <a:lstStyle/>
          <a:p>
            <a:pPr algn="l" indent="0" marL="0">
              <a:buNone/>
            </a:pPr>
            <a:r>
              <a:rPr lang="en-US" sz="975" dirty="0">
                <a:solidFill>
                  <a:srgbClr val="5C5448"/>
                </a:solidFill>
                <a:latin typeface="Noto Sans KR" pitchFamily="34" charset="0"/>
                <a:ea typeface="Noto Sans KR" pitchFamily="34" charset="-122"/>
                <a:cs typeface="Noto Sans KR" pitchFamily="34" charset="-120"/>
              </a:rPr>
              <a:t>3 + 3 분할 · 동일 mask set · 동일 lot 분기</a:t>
            </a:r>
            <a:endParaRPr lang="en-US" sz="975" dirty="0"/>
          </a:p>
        </p:txBody>
      </p:sp>
      <p:sp>
        <p:nvSpPr>
          <p:cNvPr id="54" name="Text 48"/>
          <p:cNvSpPr txBox="1"/>
          <p:nvPr/>
        </p:nvSpPr>
        <p:spPr>
          <a:xfrm>
            <a:off x="952805" y="9696298"/>
            <a:ext cx="16383305" cy="210312"/>
          </a:xfrm>
          <a:prstGeom prst="rect">
            <a:avLst/>
          </a:prstGeom>
          <a:noFill/>
          <a:ln/>
        </p:spPr>
        <p:txBody>
          <a:bodyPr wrap="none" lIns="0" tIns="0" rIns="0" bIns="0" rtlCol="0" anchor="ctr"/>
          <a:lstStyle/>
          <a:p>
            <a:pPr algn="l" indent="0" marL="0">
              <a:buNone/>
            </a:pPr>
            <a:r>
              <a:rPr lang="en-US" sz="1125" b="1" spc="56" kern="0" dirty="0">
                <a:solidFill>
                  <a:srgbClr val="6B6358"/>
                </a:solidFill>
                <a:latin typeface="JetBrains Mono" pitchFamily="34" charset="0"/>
                <a:ea typeface="JetBrains Mono" pitchFamily="34" charset="-122"/>
                <a:cs typeface="JetBrains Mono" pitchFamily="34" charset="-120"/>
              </a:rPr>
              <a:t>※ 내부 테스트용 더미(가상) 데이터</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DE5"/>
        </a:solidFill>
      </p:bgPr>
    </p:bg>
    <p:spTree>
      <p:nvGrpSpPr>
        <p:cNvPr id="1" name=""/>
        <p:cNvGrpSpPr/>
        <p:nvPr/>
      </p:nvGrpSpPr>
      <p:grpSpPr>
        <a:xfrm>
          <a:off x="0" y="0"/>
          <a:ext cx="0" cy="0"/>
          <a:chOff x="0" y="0"/>
          <a:chExt cx="0" cy="0"/>
        </a:xfrm>
      </p:grpSpPr>
      <p:sp>
        <p:nvSpPr>
          <p:cNvPr id="3" name="Shape 0"/>
          <p:cNvSpPr/>
          <p:nvPr/>
        </p:nvSpPr>
        <p:spPr>
          <a:xfrm>
            <a:off x="952805" y="3619195"/>
            <a:ext cx="10287000" cy="2667305"/>
          </a:xfrm>
          <a:prstGeom prst="rect">
            <a:avLst/>
          </a:prstGeom>
          <a:solidFill>
            <a:srgbClr val="1A1F2C"/>
          </a:solidFill>
          <a:ln w="12700">
            <a:solidFill>
              <a:srgbClr val="FFFFFF">
                <a:alpha val="0"/>
              </a:srgbClr>
            </a:solidFill>
            <a:prstDash val="solid"/>
          </a:ln>
        </p:spPr>
      </p:sp>
      <p:sp>
        <p:nvSpPr>
          <p:cNvPr id="4" name="Shape 1"/>
          <p:cNvSpPr/>
          <p:nvPr/>
        </p:nvSpPr>
        <p:spPr>
          <a:xfrm>
            <a:off x="952805" y="6476695"/>
            <a:ext cx="10306202" cy="1047902"/>
          </a:xfrm>
          <a:prstGeom prst="rect">
            <a:avLst/>
          </a:prstGeom>
          <a:solidFill>
            <a:srgbClr val="FBF7EF"/>
          </a:solidFill>
          <a:ln w="12700">
            <a:solidFill>
              <a:srgbClr val="DDD3C0"/>
            </a:solidFill>
            <a:prstDash val="solid"/>
          </a:ln>
        </p:spPr>
      </p:sp>
      <p:sp>
        <p:nvSpPr>
          <p:cNvPr id="5" name="Shape 2"/>
          <p:cNvSpPr/>
          <p:nvPr/>
        </p:nvSpPr>
        <p:spPr>
          <a:xfrm>
            <a:off x="11811305" y="2819095"/>
            <a:ext cx="5544007" cy="6305702"/>
          </a:xfrm>
          <a:prstGeom prst="rect">
            <a:avLst/>
          </a:prstGeom>
          <a:solidFill>
            <a:srgbClr val="FBF7EF"/>
          </a:solidFill>
          <a:ln w="12700">
            <a:solidFill>
              <a:srgbClr val="DDD3C0"/>
            </a:solidFill>
            <a:prstDash val="solid"/>
          </a:ln>
        </p:spPr>
      </p:sp>
      <p:pic>
        <p:nvPicPr>
          <p:cNvPr id="6" name="Image 0" descr="gen-dedup-29ace06694ccea7f114650ed6b74be8e.png">    </p:cNvPr>
          <p:cNvPicPr>
            <a:picLocks noChangeAspect="1"/>
          </p:cNvPicPr>
          <p:nvPr/>
        </p:nvPicPr>
        <p:blipFill>
          <a:blip r:embed="rId1"/>
          <a:srcRect l="-400" r="-400" t="0" b="0"/>
          <a:stretch/>
        </p:blipFill>
        <p:spPr>
          <a:xfrm>
            <a:off x="952805" y="6476695"/>
            <a:ext cx="38405" cy="1028700"/>
          </a:xfrm>
          <a:prstGeom prst="rect">
            <a:avLst/>
          </a:prstGeom>
        </p:spPr>
      </p:pic>
      <p:pic>
        <p:nvPicPr>
          <p:cNvPr id="7" name="Image 1" descr="gen-dedup-5eece60e4b3ea4ea9a3b7f988858d5cd.png">    </p:cNvPr>
          <p:cNvPicPr>
            <a:picLocks noChangeAspect="1"/>
          </p:cNvPicPr>
          <p:nvPr/>
        </p:nvPicPr>
        <p:blipFill>
          <a:blip r:embed="rId2"/>
          <a:srcRect l="0" r="0" t="-397" b="-397"/>
          <a:stretch/>
        </p:blipFill>
        <p:spPr>
          <a:xfrm>
            <a:off x="11811305" y="2819095"/>
            <a:ext cx="5524805" cy="57607"/>
          </a:xfrm>
          <a:prstGeom prst="rect">
            <a:avLst/>
          </a:prstGeom>
        </p:spPr>
      </p:pic>
      <p:pic>
        <p:nvPicPr>
          <p:cNvPr id="8" name="Image 2" descr="gen-dedup-10712ba9506011557717463f803e9fbb.png">    </p:cNvPr>
          <p:cNvPicPr>
            <a:picLocks noChangeAspect="1"/>
          </p:cNvPicPr>
          <p:nvPr/>
        </p:nvPicPr>
        <p:blipFill>
          <a:blip r:embed="rId3"/>
          <a:srcRect l="0" r="0" t="-375" b="-375"/>
          <a:stretch/>
        </p:blipFill>
        <p:spPr>
          <a:xfrm>
            <a:off x="952805" y="838505"/>
            <a:ext cx="609905" cy="57607"/>
          </a:xfrm>
          <a:prstGeom prst="rect">
            <a:avLst/>
          </a:prstGeom>
        </p:spPr>
      </p:pic>
      <p:pic>
        <p:nvPicPr>
          <p:cNvPr id="9" name="Image 3" descr="gen-dedup-e09ab4d709f4d4fe87a3718f43cf676b.jpg">    </p:cNvPr>
          <p:cNvPicPr>
            <a:picLocks noChangeAspect="1"/>
          </p:cNvPicPr>
          <p:nvPr/>
        </p:nvPicPr>
        <p:blipFill>
          <a:blip r:embed="rId4"/>
          <a:stretch>
            <a:fillRect/>
          </a:stretch>
        </p:blipFill>
        <p:spPr>
          <a:xfrm>
            <a:off x="1333195" y="3810305"/>
            <a:ext cx="9525305" cy="2286000"/>
          </a:xfrm>
          <a:prstGeom prst="rect">
            <a:avLst/>
          </a:prstGeom>
        </p:spPr>
      </p:pic>
      <p:sp>
        <p:nvSpPr>
          <p:cNvPr id="10" name="Text 3"/>
          <p:cNvSpPr txBox="1"/>
          <p:nvPr/>
        </p:nvSpPr>
        <p:spPr>
          <a:xfrm>
            <a:off x="952805" y="1123798"/>
            <a:ext cx="12382805" cy="1162202"/>
          </a:xfrm>
          <a:prstGeom prst="rect">
            <a:avLst/>
          </a:prstGeom>
          <a:noFill/>
          <a:ln/>
        </p:spPr>
        <p:txBody>
          <a:bodyPr wrap="square" lIns="0" tIns="0" rIns="0" bIns="0" rtlCol="0" anchor="t"/>
          <a:lstStyle/>
          <a:p>
            <a:pPr algn="l" indent="0" marL="0">
              <a:lnSpc>
                <a:spcPct val="105000"/>
              </a:lnSpc>
              <a:buNone/>
            </a:pPr>
            <a:r>
              <a:rPr lang="en-US" sz="4350" b="1" spc="-43" kern="0" dirty="0">
                <a:solidFill>
                  <a:srgbClr val="1A1F2C"/>
                </a:solidFill>
                <a:latin typeface="Noto Sans KR" pitchFamily="34" charset="0"/>
                <a:ea typeface="Noto Sans KR" pitchFamily="34" charset="-122"/>
                <a:cs typeface="Noto Sans KR" pitchFamily="34" charset="-120"/>
              </a:rPr>
              <a:t>SAQP 평가 결과 —</a:t>
            </a:r>
            <a:pPr algn="l" indent="0" marL="0">
              <a:lnSpc>
                <a:spcPct val="105000"/>
              </a:lnSpc>
              <a:buNone/>
            </a:pPr>
            <a:endParaRPr lang="en-US" sz="4350" dirty="0"/>
          </a:p>
          <a:p>
            <a:pPr algn="l" indent="0" marL="0">
              <a:lnSpc>
                <a:spcPct val="105000"/>
              </a:lnSpc>
              <a:buNone/>
            </a:pPr>
            <a:r>
              <a:rPr lang="en-US" sz="4350" b="1" spc="-43" kern="0" dirty="0">
                <a:solidFill>
                  <a:srgbClr val="1A1F2C"/>
                </a:solidFill>
                <a:latin typeface="Noto Sans KR" pitchFamily="34" charset="0"/>
                <a:ea typeface="Noto Sans KR" pitchFamily="34" charset="-122"/>
                <a:cs typeface="Noto Sans KR" pitchFamily="34" charset="-120"/>
              </a:rPr>
              <a:t>W01 · W02 · W03</a:t>
            </a:r>
            <a:endParaRPr lang="en-US" sz="4350" dirty="0"/>
          </a:p>
        </p:txBody>
      </p:sp>
      <p:sp>
        <p:nvSpPr>
          <p:cNvPr id="11" name="Shape 4"/>
          <p:cNvSpPr/>
          <p:nvPr/>
        </p:nvSpPr>
        <p:spPr>
          <a:xfrm>
            <a:off x="15620695" y="1238098"/>
            <a:ext cx="1714500" cy="437998"/>
          </a:xfrm>
          <a:prstGeom prst="rect">
            <a:avLst/>
          </a:prstGeom>
          <a:solidFill>
            <a:srgbClr val="2D3848"/>
          </a:solidFill>
          <a:ln w="12700">
            <a:solidFill>
              <a:srgbClr val="FFFFFF">
                <a:alpha val="0"/>
              </a:srgbClr>
            </a:solidFill>
            <a:prstDash val="solid"/>
          </a:ln>
        </p:spPr>
      </p:sp>
      <p:sp>
        <p:nvSpPr>
          <p:cNvPr id="12" name="Text 5"/>
          <p:cNvSpPr txBox="1"/>
          <p:nvPr/>
        </p:nvSpPr>
        <p:spPr>
          <a:xfrm>
            <a:off x="952805" y="2819095"/>
            <a:ext cx="11430000" cy="590702"/>
          </a:xfrm>
          <a:prstGeom prst="rect">
            <a:avLst/>
          </a:prstGeom>
          <a:noFill/>
          <a:ln/>
        </p:spPr>
        <p:txBody>
          <a:bodyPr wrap="square" lIns="0" tIns="0" rIns="0" bIns="0" rtlCol="0" anchor="ctr"/>
          <a:lstStyle/>
          <a:p>
            <a:pPr algn="l" indent="0" marL="0">
              <a:lnSpc>
                <a:spcPts val="2310"/>
              </a:lnSpc>
              <a:buNone/>
            </a:pPr>
            <a:r>
              <a:rPr lang="en-US" sz="1650" dirty="0">
                <a:solidFill>
                  <a:srgbClr val="5C5448"/>
                </a:solidFill>
                <a:latin typeface="Noto Sans KR" pitchFamily="34" charset="0"/>
                <a:ea typeface="Noto Sans KR" pitchFamily="34" charset="-122"/>
                <a:cs typeface="Noto Sans KR" pitchFamily="34" charset="-120"/>
              </a:rPr>
              <a:t>76 nm mandrel을 두 cycle의 pitch doubling으로 19 nm half-pitch까지 quartet화한 단일 경로. 비교 그룹의 baseline이 되며, 후속 슬라이드의 SADP+SAB 데이터와 직접 정렬된다.</a:t>
            </a:r>
            <a:endParaRPr lang="en-US" sz="1650" dirty="0"/>
          </a:p>
        </p:txBody>
      </p:sp>
      <p:sp>
        <p:nvSpPr>
          <p:cNvPr id="13" name="Text 6"/>
          <p:cNvSpPr txBox="1"/>
          <p:nvPr/>
        </p:nvSpPr>
        <p:spPr>
          <a:xfrm>
            <a:off x="1238098" y="6610198"/>
            <a:ext cx="10272370" cy="277063"/>
          </a:xfrm>
          <a:prstGeom prst="rect">
            <a:avLst/>
          </a:prstGeom>
          <a:noFill/>
          <a:ln/>
        </p:spPr>
        <p:txBody>
          <a:bodyPr wrap="none" lIns="0" tIns="0" rIns="0" bIns="0" rtlCol="0" anchor="ctr"/>
          <a:lstStyle/>
          <a:p>
            <a:pPr algn="l" indent="0" marL="0">
              <a:buNone/>
            </a:pPr>
            <a:r>
              <a:rPr lang="en-US" sz="1500" b="1" dirty="0">
                <a:solidFill>
                  <a:srgbClr val="1A1F2C"/>
                </a:solidFill>
                <a:latin typeface="Noto Sans KR" pitchFamily="34" charset="0"/>
                <a:ea typeface="Noto Sans KR" pitchFamily="34" charset="-122"/>
                <a:cs typeface="Noto Sans KR" pitchFamily="34" charset="-120"/>
              </a:rPr>
              <a:t>W02 wafer · top-down SEM of dense line/space · 100 nm scale bar · reference micrograph</a:t>
            </a:r>
            <a:endParaRPr lang="en-US" sz="1500" dirty="0"/>
          </a:p>
        </p:txBody>
      </p:sp>
      <p:sp>
        <p:nvSpPr>
          <p:cNvPr id="14" name="Text 7"/>
          <p:cNvSpPr txBox="1"/>
          <p:nvPr/>
        </p:nvSpPr>
        <p:spPr>
          <a:xfrm>
            <a:off x="1238098" y="7000646"/>
            <a:ext cx="9715500" cy="200254"/>
          </a:xfrm>
          <a:prstGeom prst="rect">
            <a:avLst/>
          </a:prstGeom>
          <a:noFill/>
          <a:ln/>
        </p:spPr>
        <p:txBody>
          <a:bodyPr wrap="none" lIns="0" tIns="0" rIns="0" bIns="0" rtlCol="0" anchor="ctr"/>
          <a:lstStyle/>
          <a:p>
            <a:pPr algn="l" indent="0" marL="0">
              <a:buNone/>
            </a:pPr>
            <a:r>
              <a:rPr lang="en-US" sz="1050" dirty="0">
                <a:solidFill>
                  <a:srgbClr val="5C5448"/>
                </a:solidFill>
                <a:latin typeface="Noto Sans KR" pitchFamily="34" charset="0"/>
                <a:ea typeface="Noto Sans KR" pitchFamily="34" charset="-122"/>
                <a:cs typeface="Noto Sans KR" pitchFamily="34" charset="-120"/>
              </a:rPr>
              <a:t>출처: Semiconductor Digest — Building Patterns From The Bottom. (외부 참고용이며 본 보고서의 수치는 시뮬레이션 값)</a:t>
            </a:r>
            <a:endParaRPr lang="en-US" sz="1050" dirty="0"/>
          </a:p>
        </p:txBody>
      </p:sp>
      <p:sp>
        <p:nvSpPr>
          <p:cNvPr id="15" name="Text 8"/>
          <p:cNvSpPr txBox="1"/>
          <p:nvPr/>
        </p:nvSpPr>
        <p:spPr>
          <a:xfrm>
            <a:off x="12049049" y="3086100"/>
            <a:ext cx="5143500" cy="171907"/>
          </a:xfrm>
          <a:prstGeom prst="rect">
            <a:avLst/>
          </a:prstGeom>
          <a:noFill/>
          <a:ln/>
        </p:spPr>
        <p:txBody>
          <a:bodyPr wrap="none" lIns="0" tIns="0" rIns="0" bIns="0" rtlCol="0" anchor="ctr"/>
          <a:lstStyle/>
          <a:p>
            <a:pPr algn="l" indent="0" marL="0">
              <a:buNone/>
            </a:pPr>
            <a:r>
              <a:rPr lang="en-US" sz="1050" b="1" spc="210" kern="0" dirty="0">
                <a:solidFill>
                  <a:srgbClr val="B8430E"/>
                </a:solidFill>
                <a:latin typeface="JetBrains Mono" pitchFamily="34" charset="0"/>
                <a:ea typeface="JetBrains Mono" pitchFamily="34" charset="-122"/>
                <a:cs typeface="JetBrains Mono" pitchFamily="34" charset="-120"/>
              </a:rPr>
              <a:t>FOUR-POINT MEAN — SAQP BATCH</a:t>
            </a:r>
            <a:endParaRPr lang="en-US" sz="1050" dirty="0"/>
          </a:p>
        </p:txBody>
      </p:sp>
      <p:sp>
        <p:nvSpPr>
          <p:cNvPr id="16" name="Text 9"/>
          <p:cNvSpPr txBox="1"/>
          <p:nvPr/>
        </p:nvSpPr>
        <p:spPr>
          <a:xfrm>
            <a:off x="12049049" y="3333902"/>
            <a:ext cx="5143500"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W01 + W02 + W03 averaged · target indicators</a:t>
            </a:r>
            <a:endParaRPr lang="en-US" sz="1350" dirty="0"/>
          </a:p>
        </p:txBody>
      </p:sp>
      <p:sp>
        <p:nvSpPr>
          <p:cNvPr id="17" name="Text 10"/>
          <p:cNvSpPr txBox="1"/>
          <p:nvPr/>
        </p:nvSpPr>
        <p:spPr>
          <a:xfrm>
            <a:off x="12049049" y="3943807"/>
            <a:ext cx="1700784"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AASI · target 25.6</a:t>
            </a:r>
            <a:endParaRPr lang="en-US" sz="1350" dirty="0"/>
          </a:p>
        </p:txBody>
      </p:sp>
      <p:sp>
        <p:nvSpPr>
          <p:cNvPr id="18" name="Text 11"/>
          <p:cNvSpPr txBox="1"/>
          <p:nvPr/>
        </p:nvSpPr>
        <p:spPr>
          <a:xfrm>
            <a:off x="15984626" y="3829507"/>
            <a:ext cx="924458" cy="409651"/>
          </a:xfrm>
          <a:prstGeom prst="rect">
            <a:avLst/>
          </a:prstGeom>
          <a:noFill/>
          <a:ln/>
        </p:spPr>
        <p:txBody>
          <a:bodyPr wrap="none" lIns="0" tIns="0" rIns="0" bIns="0" rtlCol="0" anchor="ctr"/>
          <a:lstStyle/>
          <a:p>
            <a:pPr algn="l" indent="0" marL="0">
              <a:buNone/>
            </a:pPr>
            <a:r>
              <a:rPr lang="en-US" sz="2400" b="1" dirty="0">
                <a:solidFill>
                  <a:srgbClr val="1A1F2C"/>
                </a:solidFill>
                <a:latin typeface="JetBrains Mono" pitchFamily="34" charset="0"/>
                <a:ea typeface="JetBrains Mono" pitchFamily="34" charset="-122"/>
                <a:cs typeface="JetBrains Mono" pitchFamily="34" charset="-120"/>
              </a:rPr>
              <a:t>25.53</a:t>
            </a:r>
            <a:endParaRPr lang="en-US" sz="2400" dirty="0"/>
          </a:p>
        </p:txBody>
      </p:sp>
      <p:sp>
        <p:nvSpPr>
          <p:cNvPr id="19" name="Text 12"/>
          <p:cNvSpPr txBox="1"/>
          <p:nvPr/>
        </p:nvSpPr>
        <p:spPr>
          <a:xfrm>
            <a:off x="17032529" y="4009644"/>
            <a:ext cx="162763" cy="171907"/>
          </a:xfrm>
          <a:prstGeom prst="rect">
            <a:avLst/>
          </a:prstGeom>
          <a:noFill/>
          <a:ln/>
        </p:spPr>
        <p:txBody>
          <a:bodyPr wrap="none" lIns="0" tIns="0" rIns="0" bIns="0" rtlCol="0" anchor="ctr"/>
          <a:lstStyle/>
          <a:p>
            <a:pPr algn="l" indent="0" marL="0">
              <a:buNone/>
            </a:pPr>
            <a:r>
              <a:rPr lang="en-US" sz="1050" dirty="0">
                <a:solidFill>
                  <a:srgbClr val="6B6358"/>
                </a:solidFill>
                <a:latin typeface="JetBrains Mono" pitchFamily="34" charset="0"/>
                <a:ea typeface="JetBrains Mono" pitchFamily="34" charset="-122"/>
                <a:cs typeface="JetBrains Mono" pitchFamily="34" charset="-120"/>
              </a:rPr>
              <a:t>nm</a:t>
            </a:r>
            <a:endParaRPr lang="en-US" sz="1050" dirty="0"/>
          </a:p>
        </p:txBody>
      </p:sp>
      <p:pic>
        <p:nvPicPr>
          <p:cNvPr id="20" name="Image 4" descr="gen-dedup-edec12682710fca607a6d7756e1b856f.png">    </p:cNvPr>
          <p:cNvPicPr>
            <a:picLocks noChangeAspect="1"/>
          </p:cNvPicPr>
          <p:nvPr/>
        </p:nvPicPr>
        <p:blipFill>
          <a:blip r:embed="rId5"/>
          <a:srcRect l="-201" r="-201" t="0" b="0"/>
          <a:stretch/>
        </p:blipFill>
        <p:spPr>
          <a:xfrm>
            <a:off x="12049049" y="4334256"/>
            <a:ext cx="5143500" cy="75895"/>
          </a:xfrm>
          <a:prstGeom prst="rect">
            <a:avLst/>
          </a:prstGeom>
        </p:spPr>
      </p:pic>
      <p:pic>
        <p:nvPicPr>
          <p:cNvPr id="21" name="Image 5" descr="gen-dedup-63703c9c522e4b3d934ea7ed8a45d2e2.png">    </p:cNvPr>
          <p:cNvPicPr>
            <a:picLocks noChangeAspect="1"/>
          </p:cNvPicPr>
          <p:nvPr/>
        </p:nvPicPr>
        <p:blipFill>
          <a:blip r:embed="rId6"/>
          <a:srcRect l="-193" r="-193" t="0" b="0"/>
          <a:stretch/>
        </p:blipFill>
        <p:spPr>
          <a:xfrm>
            <a:off x="12049049" y="4334256"/>
            <a:ext cx="2365553" cy="75895"/>
          </a:xfrm>
          <a:prstGeom prst="rect">
            <a:avLst/>
          </a:prstGeom>
        </p:spPr>
      </p:pic>
      <p:pic>
        <p:nvPicPr>
          <p:cNvPr id="22" name="Image 6" descr="gen-dedup-262c0f025041464c04115dba735b1b45.png">    </p:cNvPr>
          <p:cNvPicPr>
            <a:picLocks noChangeAspect="1"/>
          </p:cNvPicPr>
          <p:nvPr/>
        </p:nvPicPr>
        <p:blipFill>
          <a:blip r:embed="rId7"/>
          <a:srcRect l="-343" r="-343" t="0" b="0"/>
          <a:stretch/>
        </p:blipFill>
        <p:spPr>
          <a:xfrm>
            <a:off x="14621256" y="4304995"/>
            <a:ext cx="19202" cy="133502"/>
          </a:xfrm>
          <a:prstGeom prst="rect">
            <a:avLst/>
          </a:prstGeom>
        </p:spPr>
      </p:pic>
      <p:sp>
        <p:nvSpPr>
          <p:cNvPr id="23" name="Text 13"/>
          <p:cNvSpPr txBox="1"/>
          <p:nvPr/>
        </p:nvSpPr>
        <p:spPr>
          <a:xfrm>
            <a:off x="12049049" y="4858207"/>
            <a:ext cx="1700784"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ASEI · target 16.5</a:t>
            </a:r>
            <a:endParaRPr lang="en-US" sz="1350" dirty="0"/>
          </a:p>
        </p:txBody>
      </p:sp>
      <p:sp>
        <p:nvSpPr>
          <p:cNvPr id="24" name="Text 14"/>
          <p:cNvSpPr txBox="1"/>
          <p:nvPr/>
        </p:nvSpPr>
        <p:spPr>
          <a:xfrm>
            <a:off x="15984626" y="4743907"/>
            <a:ext cx="924458" cy="409651"/>
          </a:xfrm>
          <a:prstGeom prst="rect">
            <a:avLst/>
          </a:prstGeom>
          <a:noFill/>
          <a:ln/>
        </p:spPr>
        <p:txBody>
          <a:bodyPr wrap="none" lIns="0" tIns="0" rIns="0" bIns="0" rtlCol="0" anchor="ctr"/>
          <a:lstStyle/>
          <a:p>
            <a:pPr algn="l" indent="0" marL="0">
              <a:buNone/>
            </a:pPr>
            <a:r>
              <a:rPr lang="en-US" sz="2400" b="1" dirty="0">
                <a:solidFill>
                  <a:srgbClr val="1A1F2C"/>
                </a:solidFill>
                <a:latin typeface="JetBrains Mono" pitchFamily="34" charset="0"/>
                <a:ea typeface="JetBrains Mono" pitchFamily="34" charset="-122"/>
                <a:cs typeface="JetBrains Mono" pitchFamily="34" charset="-120"/>
              </a:rPr>
              <a:t>16.62</a:t>
            </a:r>
            <a:endParaRPr lang="en-US" sz="2400" dirty="0"/>
          </a:p>
        </p:txBody>
      </p:sp>
      <p:sp>
        <p:nvSpPr>
          <p:cNvPr id="25" name="Text 15"/>
          <p:cNvSpPr txBox="1"/>
          <p:nvPr/>
        </p:nvSpPr>
        <p:spPr>
          <a:xfrm>
            <a:off x="17032529" y="4924044"/>
            <a:ext cx="162763" cy="171907"/>
          </a:xfrm>
          <a:prstGeom prst="rect">
            <a:avLst/>
          </a:prstGeom>
          <a:noFill/>
          <a:ln/>
        </p:spPr>
        <p:txBody>
          <a:bodyPr wrap="none" lIns="0" tIns="0" rIns="0" bIns="0" rtlCol="0" anchor="ctr"/>
          <a:lstStyle/>
          <a:p>
            <a:pPr algn="l" indent="0" marL="0">
              <a:buNone/>
            </a:pPr>
            <a:r>
              <a:rPr lang="en-US" sz="1050" dirty="0">
                <a:solidFill>
                  <a:srgbClr val="6B6358"/>
                </a:solidFill>
                <a:latin typeface="JetBrains Mono" pitchFamily="34" charset="0"/>
                <a:ea typeface="JetBrains Mono" pitchFamily="34" charset="-122"/>
                <a:cs typeface="JetBrains Mono" pitchFamily="34" charset="-120"/>
              </a:rPr>
              <a:t>nm</a:t>
            </a:r>
            <a:endParaRPr lang="en-US" sz="1050" dirty="0"/>
          </a:p>
        </p:txBody>
      </p:sp>
      <p:pic>
        <p:nvPicPr>
          <p:cNvPr id="26" name="Image 7" descr="gen-dedup-edec12682710fca607a6d7756e1b856f.png">    </p:cNvPr>
          <p:cNvPicPr>
            <a:picLocks noChangeAspect="1"/>
          </p:cNvPicPr>
          <p:nvPr/>
        </p:nvPicPr>
        <p:blipFill>
          <a:blip r:embed="rId8"/>
          <a:srcRect l="-201" r="-201" t="0" b="0"/>
          <a:stretch/>
        </p:blipFill>
        <p:spPr>
          <a:xfrm>
            <a:off x="12049049" y="5248656"/>
            <a:ext cx="5143500" cy="75895"/>
          </a:xfrm>
          <a:prstGeom prst="rect">
            <a:avLst/>
          </a:prstGeom>
        </p:spPr>
      </p:pic>
      <p:pic>
        <p:nvPicPr>
          <p:cNvPr id="27" name="Image 8" descr="gen-dedup-510f8edfcab461e1f5d8c7768d0cfe65.png">    </p:cNvPr>
          <p:cNvPicPr>
            <a:picLocks noChangeAspect="1"/>
          </p:cNvPicPr>
          <p:nvPr/>
        </p:nvPicPr>
        <p:blipFill>
          <a:blip r:embed="rId9"/>
          <a:srcRect l="-210" r="-210" t="0" b="0"/>
          <a:stretch/>
        </p:blipFill>
        <p:spPr>
          <a:xfrm>
            <a:off x="12049049" y="5248656"/>
            <a:ext cx="2572207" cy="75895"/>
          </a:xfrm>
          <a:prstGeom prst="rect">
            <a:avLst/>
          </a:prstGeom>
        </p:spPr>
      </p:pic>
      <p:pic>
        <p:nvPicPr>
          <p:cNvPr id="28" name="Image 9" descr="gen-dedup-262c0f025041464c04115dba735b1b45.png">    </p:cNvPr>
          <p:cNvPicPr>
            <a:picLocks noChangeAspect="1"/>
          </p:cNvPicPr>
          <p:nvPr/>
        </p:nvPicPr>
        <p:blipFill>
          <a:blip r:embed="rId10"/>
          <a:srcRect l="-343" r="-343" t="0" b="0"/>
          <a:stretch/>
        </p:blipFill>
        <p:spPr>
          <a:xfrm>
            <a:off x="14621256" y="5219395"/>
            <a:ext cx="19202" cy="133502"/>
          </a:xfrm>
          <a:prstGeom prst="rect">
            <a:avLst/>
          </a:prstGeom>
        </p:spPr>
      </p:pic>
      <p:sp>
        <p:nvSpPr>
          <p:cNvPr id="29" name="Text 16"/>
          <p:cNvSpPr txBox="1"/>
          <p:nvPr/>
        </p:nvSpPr>
        <p:spPr>
          <a:xfrm>
            <a:off x="12049049" y="5772607"/>
            <a:ext cx="1496873"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AMI · target 9.0</a:t>
            </a:r>
            <a:endParaRPr lang="en-US" sz="1350" dirty="0"/>
          </a:p>
        </p:txBody>
      </p:sp>
      <p:sp>
        <p:nvSpPr>
          <p:cNvPr id="30" name="Text 17"/>
          <p:cNvSpPr txBox="1"/>
          <p:nvPr/>
        </p:nvSpPr>
        <p:spPr>
          <a:xfrm>
            <a:off x="16167506" y="5658307"/>
            <a:ext cx="734263" cy="409651"/>
          </a:xfrm>
          <a:prstGeom prst="rect">
            <a:avLst/>
          </a:prstGeom>
          <a:noFill/>
          <a:ln/>
        </p:spPr>
        <p:txBody>
          <a:bodyPr wrap="none" lIns="0" tIns="0" rIns="0" bIns="0" rtlCol="0" anchor="ctr"/>
          <a:lstStyle/>
          <a:p>
            <a:pPr algn="l" indent="0" marL="0">
              <a:buNone/>
            </a:pPr>
            <a:r>
              <a:rPr lang="en-US" sz="2400" b="1" dirty="0">
                <a:solidFill>
                  <a:srgbClr val="B8430E"/>
                </a:solidFill>
                <a:latin typeface="JetBrains Mono" pitchFamily="34" charset="0"/>
                <a:ea typeface="JetBrains Mono" pitchFamily="34" charset="-122"/>
                <a:cs typeface="JetBrains Mono" pitchFamily="34" charset="-120"/>
              </a:rPr>
              <a:t>9.22</a:t>
            </a:r>
            <a:endParaRPr lang="en-US" sz="2400" dirty="0"/>
          </a:p>
        </p:txBody>
      </p:sp>
      <p:sp>
        <p:nvSpPr>
          <p:cNvPr id="31" name="Text 18"/>
          <p:cNvSpPr txBox="1"/>
          <p:nvPr/>
        </p:nvSpPr>
        <p:spPr>
          <a:xfrm>
            <a:off x="17032529" y="5838444"/>
            <a:ext cx="162763" cy="171907"/>
          </a:xfrm>
          <a:prstGeom prst="rect">
            <a:avLst/>
          </a:prstGeom>
          <a:noFill/>
          <a:ln/>
        </p:spPr>
        <p:txBody>
          <a:bodyPr wrap="none" lIns="0" tIns="0" rIns="0" bIns="0" rtlCol="0" anchor="ctr"/>
          <a:lstStyle/>
          <a:p>
            <a:pPr algn="l" indent="0" marL="0">
              <a:buNone/>
            </a:pPr>
            <a:r>
              <a:rPr lang="en-US" sz="1050" dirty="0">
                <a:solidFill>
                  <a:srgbClr val="6B6358"/>
                </a:solidFill>
                <a:latin typeface="JetBrains Mono" pitchFamily="34" charset="0"/>
                <a:ea typeface="JetBrains Mono" pitchFamily="34" charset="-122"/>
                <a:cs typeface="JetBrains Mono" pitchFamily="34" charset="-120"/>
              </a:rPr>
              <a:t>nm</a:t>
            </a:r>
            <a:endParaRPr lang="en-US" sz="1050" dirty="0"/>
          </a:p>
        </p:txBody>
      </p:sp>
      <p:pic>
        <p:nvPicPr>
          <p:cNvPr id="32" name="Image 10" descr="gen-dedup-edec12682710fca607a6d7756e1b856f.png">    </p:cNvPr>
          <p:cNvPicPr>
            <a:picLocks noChangeAspect="1"/>
          </p:cNvPicPr>
          <p:nvPr/>
        </p:nvPicPr>
        <p:blipFill>
          <a:blip r:embed="rId11"/>
          <a:srcRect l="-201" r="-201" t="0" b="0"/>
          <a:stretch/>
        </p:blipFill>
        <p:spPr>
          <a:xfrm>
            <a:off x="12049049" y="6163056"/>
            <a:ext cx="5143500" cy="75895"/>
          </a:xfrm>
          <a:prstGeom prst="rect">
            <a:avLst/>
          </a:prstGeom>
        </p:spPr>
      </p:pic>
      <p:pic>
        <p:nvPicPr>
          <p:cNvPr id="33" name="Image 11" descr="gen-dedup-e4edda522c14e170823e6b5683d518f9.png">    </p:cNvPr>
          <p:cNvPicPr>
            <a:picLocks noChangeAspect="1"/>
          </p:cNvPicPr>
          <p:nvPr/>
        </p:nvPicPr>
        <p:blipFill>
          <a:blip r:embed="rId12"/>
          <a:srcRect l="-207" r="-207" t="0" b="0"/>
          <a:stretch/>
        </p:blipFill>
        <p:spPr>
          <a:xfrm>
            <a:off x="12049049" y="6163056"/>
            <a:ext cx="2623414" cy="75895"/>
          </a:xfrm>
          <a:prstGeom prst="rect">
            <a:avLst/>
          </a:prstGeom>
        </p:spPr>
      </p:pic>
      <p:pic>
        <p:nvPicPr>
          <p:cNvPr id="34" name="Image 12" descr="gen-dedup-b51edb30fb6d4f695f1fa64c943458d2.png">    </p:cNvPr>
          <p:cNvPicPr>
            <a:picLocks noChangeAspect="1"/>
          </p:cNvPicPr>
          <p:nvPr/>
        </p:nvPicPr>
        <p:blipFill>
          <a:blip r:embed="rId13"/>
          <a:srcRect l="-343" r="-343" t="0" b="0"/>
          <a:stretch/>
        </p:blipFill>
        <p:spPr>
          <a:xfrm>
            <a:off x="14621256" y="6133795"/>
            <a:ext cx="19202" cy="133502"/>
          </a:xfrm>
          <a:prstGeom prst="rect">
            <a:avLst/>
          </a:prstGeom>
        </p:spPr>
      </p:pic>
      <p:sp>
        <p:nvSpPr>
          <p:cNvPr id="35" name="Text 19"/>
          <p:cNvSpPr txBox="1"/>
          <p:nvPr/>
        </p:nvSpPr>
        <p:spPr>
          <a:xfrm>
            <a:off x="12049049" y="6687007"/>
            <a:ext cx="1451153"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ACI · target 8.9</a:t>
            </a:r>
            <a:endParaRPr lang="en-US" sz="1350" dirty="0"/>
          </a:p>
        </p:txBody>
      </p:sp>
      <p:sp>
        <p:nvSpPr>
          <p:cNvPr id="36" name="Text 20"/>
          <p:cNvSpPr txBox="1"/>
          <p:nvPr/>
        </p:nvSpPr>
        <p:spPr>
          <a:xfrm>
            <a:off x="16167506" y="6572707"/>
            <a:ext cx="734263" cy="409651"/>
          </a:xfrm>
          <a:prstGeom prst="rect">
            <a:avLst/>
          </a:prstGeom>
          <a:noFill/>
          <a:ln/>
        </p:spPr>
        <p:txBody>
          <a:bodyPr wrap="none" lIns="0" tIns="0" rIns="0" bIns="0" rtlCol="0" anchor="ctr"/>
          <a:lstStyle/>
          <a:p>
            <a:pPr algn="l" indent="0" marL="0">
              <a:buNone/>
            </a:pPr>
            <a:r>
              <a:rPr lang="en-US" sz="2400" b="1" dirty="0">
                <a:solidFill>
                  <a:srgbClr val="B8430E"/>
                </a:solidFill>
                <a:latin typeface="JetBrains Mono" pitchFamily="34" charset="0"/>
                <a:ea typeface="JetBrains Mono" pitchFamily="34" charset="-122"/>
                <a:cs typeface="JetBrains Mono" pitchFamily="34" charset="-120"/>
              </a:rPr>
              <a:t>9.08</a:t>
            </a:r>
            <a:endParaRPr lang="en-US" sz="2400" dirty="0"/>
          </a:p>
        </p:txBody>
      </p:sp>
      <p:sp>
        <p:nvSpPr>
          <p:cNvPr id="37" name="Text 21"/>
          <p:cNvSpPr txBox="1"/>
          <p:nvPr/>
        </p:nvSpPr>
        <p:spPr>
          <a:xfrm>
            <a:off x="17032529" y="6752844"/>
            <a:ext cx="162763" cy="171907"/>
          </a:xfrm>
          <a:prstGeom prst="rect">
            <a:avLst/>
          </a:prstGeom>
          <a:noFill/>
          <a:ln/>
        </p:spPr>
        <p:txBody>
          <a:bodyPr wrap="none" lIns="0" tIns="0" rIns="0" bIns="0" rtlCol="0" anchor="ctr"/>
          <a:lstStyle/>
          <a:p>
            <a:pPr algn="l" indent="0" marL="0">
              <a:buNone/>
            </a:pPr>
            <a:r>
              <a:rPr lang="en-US" sz="1050" dirty="0">
                <a:solidFill>
                  <a:srgbClr val="6B6358"/>
                </a:solidFill>
                <a:latin typeface="JetBrains Mono" pitchFamily="34" charset="0"/>
                <a:ea typeface="JetBrains Mono" pitchFamily="34" charset="-122"/>
                <a:cs typeface="JetBrains Mono" pitchFamily="34" charset="-120"/>
              </a:rPr>
              <a:t>nm</a:t>
            </a:r>
            <a:endParaRPr lang="en-US" sz="1050" dirty="0"/>
          </a:p>
        </p:txBody>
      </p:sp>
      <p:pic>
        <p:nvPicPr>
          <p:cNvPr id="38" name="Image 13" descr="gen-dedup-edec12682710fca607a6d7756e1b856f.png">    </p:cNvPr>
          <p:cNvPicPr>
            <a:picLocks noChangeAspect="1"/>
          </p:cNvPicPr>
          <p:nvPr/>
        </p:nvPicPr>
        <p:blipFill>
          <a:blip r:embed="rId14"/>
          <a:srcRect l="-201" r="-201" t="0" b="0"/>
          <a:stretch/>
        </p:blipFill>
        <p:spPr>
          <a:xfrm>
            <a:off x="12049049" y="7077456"/>
            <a:ext cx="5143500" cy="75895"/>
          </a:xfrm>
          <a:prstGeom prst="rect">
            <a:avLst/>
          </a:prstGeom>
        </p:spPr>
      </p:pic>
      <p:pic>
        <p:nvPicPr>
          <p:cNvPr id="39" name="Image 14" descr="gen-dedup-7b1de3dbe36e14cd4e91fdf15012df5d.png">    </p:cNvPr>
          <p:cNvPicPr>
            <a:picLocks noChangeAspect="1"/>
          </p:cNvPicPr>
          <p:nvPr/>
        </p:nvPicPr>
        <p:blipFill>
          <a:blip r:embed="rId15"/>
          <a:srcRect l="-199" r="-199" t="0" b="0"/>
          <a:stretch/>
        </p:blipFill>
        <p:spPr>
          <a:xfrm>
            <a:off x="12049049" y="7077456"/>
            <a:ext cx="2725826" cy="75895"/>
          </a:xfrm>
          <a:prstGeom prst="rect">
            <a:avLst/>
          </a:prstGeom>
        </p:spPr>
      </p:pic>
      <p:pic>
        <p:nvPicPr>
          <p:cNvPr id="40" name="Image 15" descr="gen-dedup-b51edb30fb6d4f695f1fa64c943458d2.png">    </p:cNvPr>
          <p:cNvPicPr>
            <a:picLocks noChangeAspect="1"/>
          </p:cNvPicPr>
          <p:nvPr/>
        </p:nvPicPr>
        <p:blipFill>
          <a:blip r:embed="rId16"/>
          <a:srcRect l="-343" r="-343" t="0" b="0"/>
          <a:stretch/>
        </p:blipFill>
        <p:spPr>
          <a:xfrm>
            <a:off x="14621256" y="7048195"/>
            <a:ext cx="19202" cy="133502"/>
          </a:xfrm>
          <a:prstGeom prst="rect">
            <a:avLst/>
          </a:prstGeom>
        </p:spPr>
      </p:pic>
      <p:pic>
        <p:nvPicPr>
          <p:cNvPr id="41" name="Image 16" descr="gen-dedup-ef80e837c469e34e4b167f4e77826a1d.png">    </p:cNvPr>
          <p:cNvPicPr>
            <a:picLocks noChangeAspect="1"/>
          </p:cNvPicPr>
          <p:nvPr/>
        </p:nvPicPr>
        <p:blipFill>
          <a:blip r:embed="rId17"/>
          <a:srcRect l="-2083" r="-2083" t="0" b="0"/>
          <a:stretch/>
        </p:blipFill>
        <p:spPr>
          <a:xfrm>
            <a:off x="12049049" y="7638898"/>
            <a:ext cx="5143500" cy="9144"/>
          </a:xfrm>
          <a:prstGeom prst="rect">
            <a:avLst/>
          </a:prstGeom>
        </p:spPr>
      </p:pic>
      <p:sp>
        <p:nvSpPr>
          <p:cNvPr id="42" name="Text 22"/>
          <p:cNvSpPr txBox="1"/>
          <p:nvPr/>
        </p:nvSpPr>
        <p:spPr>
          <a:xfrm>
            <a:off x="12049049" y="7830007"/>
            <a:ext cx="5143500" cy="219456"/>
          </a:xfrm>
          <a:prstGeom prst="rect">
            <a:avLst/>
          </a:prstGeom>
          <a:noFill/>
          <a:ln/>
        </p:spPr>
        <p:txBody>
          <a:bodyPr wrap="none" lIns="0" tIns="0" rIns="0" bIns="0" rtlCol="0" anchor="ctr"/>
          <a:lstStyle/>
          <a:p>
            <a:pPr algn="l" indent="0" marL="0">
              <a:buNone/>
            </a:pPr>
            <a:r>
              <a:rPr lang="en-US" sz="1125" i="1" dirty="0">
                <a:solidFill>
                  <a:srgbClr val="5C5448"/>
                </a:solidFill>
                <a:latin typeface="Noto Sans KR" pitchFamily="34" charset="0"/>
                <a:ea typeface="Noto Sans KR" pitchFamily="34" charset="-122"/>
                <a:cs typeface="Noto Sans KR" pitchFamily="34" charset="-120"/>
              </a:rPr>
              <a:t>※ batch 평균 — wafer별 상세 분포는 04–07 슬라이드 참조</a:t>
            </a:r>
            <a:endParaRPr lang="en-US" sz="1125" dirty="0"/>
          </a:p>
        </p:txBody>
      </p:sp>
      <p:sp>
        <p:nvSpPr>
          <p:cNvPr id="43" name="Text 23"/>
          <p:cNvSpPr txBox="1"/>
          <p:nvPr/>
        </p:nvSpPr>
        <p:spPr>
          <a:xfrm>
            <a:off x="952805" y="9696298"/>
            <a:ext cx="16383305" cy="210312"/>
          </a:xfrm>
          <a:prstGeom prst="rect">
            <a:avLst/>
          </a:prstGeom>
          <a:noFill/>
          <a:ln/>
        </p:spPr>
        <p:txBody>
          <a:bodyPr wrap="none" lIns="0" tIns="0" rIns="0" bIns="0" rtlCol="0" anchor="ctr"/>
          <a:lstStyle/>
          <a:p>
            <a:pPr algn="l" indent="0" marL="0">
              <a:buNone/>
            </a:pPr>
            <a:r>
              <a:rPr lang="en-US" sz="1125" b="1" spc="56" kern="0" dirty="0">
                <a:solidFill>
                  <a:srgbClr val="6B6358"/>
                </a:solidFill>
                <a:latin typeface="JetBrains Mono" pitchFamily="34" charset="0"/>
                <a:ea typeface="JetBrains Mono" pitchFamily="34" charset="-122"/>
                <a:cs typeface="JetBrains Mono" pitchFamily="34" charset="-120"/>
              </a:rPr>
              <a:t>※ 내부 테스트용 더미(가상) 데이터</a:t>
            </a:r>
            <a:endParaRPr lang="en-US" sz="1125" dirty="0"/>
          </a:p>
        </p:txBody>
      </p:sp>
      <p:sp>
        <p:nvSpPr>
          <p:cNvPr id="44" name="Text 24"/>
          <p:cNvSpPr txBox="1"/>
          <p:nvPr/>
        </p:nvSpPr>
        <p:spPr>
          <a:xfrm>
            <a:off x="15620695" y="1238098"/>
            <a:ext cx="1714500" cy="438912"/>
          </a:xfrm>
          <a:prstGeom prst="rect">
            <a:avLst/>
          </a:prstGeom>
          <a:noFill/>
          <a:ln/>
        </p:spPr>
        <p:txBody>
          <a:bodyPr wrap="none" lIns="0" tIns="0" rIns="0" bIns="0" rtlCol="0" anchor="ctr"/>
          <a:lstStyle/>
          <a:p>
            <a:pPr algn="ctr" indent="0" marL="0">
              <a:buNone/>
            </a:pPr>
            <a:r>
              <a:rPr lang="en-US" sz="1500" b="1" spc="150" kern="0" dirty="0">
                <a:solidFill>
                  <a:srgbClr val="F2EDE5"/>
                </a:solidFill>
                <a:latin typeface="JetBrains Mono" pitchFamily="34" charset="0"/>
                <a:ea typeface="JetBrains Mono" pitchFamily="34" charset="-122"/>
                <a:cs typeface="JetBrains Mono" pitchFamily="34" charset="-120"/>
              </a:rPr>
              <a:t>SAQP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DE5"/>
        </a:solidFill>
      </p:bgPr>
    </p:bg>
    <p:spTree>
      <p:nvGrpSpPr>
        <p:cNvPr id="1" name=""/>
        <p:cNvGrpSpPr/>
        <p:nvPr/>
      </p:nvGrpSpPr>
      <p:grpSpPr>
        <a:xfrm>
          <a:off x="0" y="0"/>
          <a:ext cx="0" cy="0"/>
          <a:chOff x="0" y="0"/>
          <a:chExt cx="0" cy="0"/>
        </a:xfrm>
      </p:grpSpPr>
      <p:sp>
        <p:nvSpPr>
          <p:cNvPr id="3" name="Shape 0"/>
          <p:cNvSpPr/>
          <p:nvPr/>
        </p:nvSpPr>
        <p:spPr>
          <a:xfrm>
            <a:off x="952805" y="3619195"/>
            <a:ext cx="10287000" cy="2667305"/>
          </a:xfrm>
          <a:prstGeom prst="rect">
            <a:avLst/>
          </a:prstGeom>
          <a:solidFill>
            <a:srgbClr val="1A1F2C"/>
          </a:solidFill>
          <a:ln w="12700">
            <a:solidFill>
              <a:srgbClr val="FFFFFF">
                <a:alpha val="0"/>
              </a:srgbClr>
            </a:solidFill>
            <a:prstDash val="solid"/>
          </a:ln>
        </p:spPr>
      </p:sp>
      <p:sp>
        <p:nvSpPr>
          <p:cNvPr id="4" name="Shape 1"/>
          <p:cNvSpPr/>
          <p:nvPr/>
        </p:nvSpPr>
        <p:spPr>
          <a:xfrm>
            <a:off x="952805" y="6476695"/>
            <a:ext cx="10306202" cy="1047902"/>
          </a:xfrm>
          <a:prstGeom prst="rect">
            <a:avLst/>
          </a:prstGeom>
          <a:solidFill>
            <a:srgbClr val="FBF7EF"/>
          </a:solidFill>
          <a:ln w="12700">
            <a:solidFill>
              <a:srgbClr val="DDD3C0"/>
            </a:solidFill>
            <a:prstDash val="solid"/>
          </a:ln>
        </p:spPr>
      </p:sp>
      <p:sp>
        <p:nvSpPr>
          <p:cNvPr id="5" name="Shape 2"/>
          <p:cNvSpPr/>
          <p:nvPr/>
        </p:nvSpPr>
        <p:spPr>
          <a:xfrm>
            <a:off x="11811305" y="2819095"/>
            <a:ext cx="5544007" cy="6305702"/>
          </a:xfrm>
          <a:prstGeom prst="rect">
            <a:avLst/>
          </a:prstGeom>
          <a:solidFill>
            <a:srgbClr val="FBF7EF"/>
          </a:solidFill>
          <a:ln w="12700">
            <a:solidFill>
              <a:srgbClr val="DDD3C0"/>
            </a:solidFill>
            <a:prstDash val="solid"/>
          </a:ln>
        </p:spPr>
      </p:sp>
      <p:pic>
        <p:nvPicPr>
          <p:cNvPr id="6" name="Image 0" descr="gen-dedup-29ace06694ccea7f114650ed6b74be8e.png">    </p:cNvPr>
          <p:cNvPicPr>
            <a:picLocks noChangeAspect="1"/>
          </p:cNvPicPr>
          <p:nvPr/>
        </p:nvPicPr>
        <p:blipFill>
          <a:blip r:embed="rId1"/>
          <a:srcRect l="-400" r="-400" t="0" b="0"/>
          <a:stretch/>
        </p:blipFill>
        <p:spPr>
          <a:xfrm>
            <a:off x="952805" y="6476695"/>
            <a:ext cx="38405" cy="1028700"/>
          </a:xfrm>
          <a:prstGeom prst="rect">
            <a:avLst/>
          </a:prstGeom>
        </p:spPr>
      </p:pic>
      <p:pic>
        <p:nvPicPr>
          <p:cNvPr id="7" name="Image 1" descr="gen-dedup-5eece60e4b3ea4ea9a3b7f988858d5cd.png">    </p:cNvPr>
          <p:cNvPicPr>
            <a:picLocks noChangeAspect="1"/>
          </p:cNvPicPr>
          <p:nvPr/>
        </p:nvPicPr>
        <p:blipFill>
          <a:blip r:embed="rId2"/>
          <a:srcRect l="0" r="0" t="-397" b="-397"/>
          <a:stretch/>
        </p:blipFill>
        <p:spPr>
          <a:xfrm>
            <a:off x="11811305" y="2819095"/>
            <a:ext cx="5524805" cy="57607"/>
          </a:xfrm>
          <a:prstGeom prst="rect">
            <a:avLst/>
          </a:prstGeom>
        </p:spPr>
      </p:pic>
      <p:pic>
        <p:nvPicPr>
          <p:cNvPr id="8" name="Image 2" descr="gen-dedup-10712ba9506011557717463f803e9fbb.png">    </p:cNvPr>
          <p:cNvPicPr>
            <a:picLocks noChangeAspect="1"/>
          </p:cNvPicPr>
          <p:nvPr/>
        </p:nvPicPr>
        <p:blipFill>
          <a:blip r:embed="rId3"/>
          <a:srcRect l="0" r="0" t="-375" b="-375"/>
          <a:stretch/>
        </p:blipFill>
        <p:spPr>
          <a:xfrm>
            <a:off x="952805" y="838505"/>
            <a:ext cx="609905" cy="57607"/>
          </a:xfrm>
          <a:prstGeom prst="rect">
            <a:avLst/>
          </a:prstGeom>
        </p:spPr>
      </p:pic>
      <p:pic>
        <p:nvPicPr>
          <p:cNvPr id="9" name="Image 3" descr="gen-dedup-20cd25a223bce9f6a279c89bbc132339.jpg">    </p:cNvPr>
          <p:cNvPicPr>
            <a:picLocks noChangeAspect="1"/>
          </p:cNvPicPr>
          <p:nvPr/>
        </p:nvPicPr>
        <p:blipFill>
          <a:blip r:embed="rId4"/>
          <a:stretch>
            <a:fillRect/>
          </a:stretch>
        </p:blipFill>
        <p:spPr>
          <a:xfrm>
            <a:off x="1333195" y="3810305"/>
            <a:ext cx="9525305" cy="2286000"/>
          </a:xfrm>
          <a:prstGeom prst="rect">
            <a:avLst/>
          </a:prstGeom>
        </p:spPr>
      </p:pic>
      <p:sp>
        <p:nvSpPr>
          <p:cNvPr id="10" name="Text 3"/>
          <p:cNvSpPr txBox="1"/>
          <p:nvPr/>
        </p:nvSpPr>
        <p:spPr>
          <a:xfrm>
            <a:off x="952805" y="1123798"/>
            <a:ext cx="13335610" cy="1086307"/>
          </a:xfrm>
          <a:prstGeom prst="rect">
            <a:avLst/>
          </a:prstGeom>
          <a:noFill/>
          <a:ln/>
        </p:spPr>
        <p:txBody>
          <a:bodyPr wrap="square" lIns="0" tIns="0" rIns="0" bIns="0" rtlCol="0" anchor="t"/>
          <a:lstStyle/>
          <a:p>
            <a:pPr algn="l" indent="0" marL="0">
              <a:lnSpc>
                <a:spcPct val="105000"/>
              </a:lnSpc>
              <a:buNone/>
            </a:pPr>
            <a:r>
              <a:rPr lang="en-US" sz="4050" b="1" spc="-40" kern="0" dirty="0">
                <a:solidFill>
                  <a:srgbClr val="1A1F2C"/>
                </a:solidFill>
                <a:latin typeface="Noto Sans KR" pitchFamily="34" charset="0"/>
                <a:ea typeface="Noto Sans KR" pitchFamily="34" charset="-122"/>
                <a:cs typeface="Noto Sans KR" pitchFamily="34" charset="-120"/>
              </a:rPr>
              <a:t>SADP + Self-Aligned Block</a:t>
            </a:r>
            <a:pPr algn="l" indent="0" marL="0">
              <a:lnSpc>
                <a:spcPct val="105000"/>
              </a:lnSpc>
              <a:buNone/>
            </a:pPr>
            <a:endParaRPr lang="en-US" sz="4050" dirty="0"/>
          </a:p>
          <a:p>
            <a:pPr algn="l" indent="0" marL="0">
              <a:lnSpc>
                <a:spcPct val="105000"/>
              </a:lnSpc>
              <a:buNone/>
            </a:pPr>
            <a:r>
              <a:rPr lang="en-US" sz="4050" b="1" spc="-40" kern="0" dirty="0">
                <a:solidFill>
                  <a:srgbClr val="1A1F2C"/>
                </a:solidFill>
                <a:latin typeface="Noto Sans KR" pitchFamily="34" charset="0"/>
                <a:ea typeface="Noto Sans KR" pitchFamily="34" charset="-122"/>
                <a:cs typeface="Noto Sans KR" pitchFamily="34" charset="-120"/>
              </a:rPr>
              <a:t>평가 결과 — W04 · W05 · W06</a:t>
            </a:r>
            <a:endParaRPr lang="en-US" sz="4050" dirty="0"/>
          </a:p>
        </p:txBody>
      </p:sp>
      <p:sp>
        <p:nvSpPr>
          <p:cNvPr id="11" name="Shape 4"/>
          <p:cNvSpPr/>
          <p:nvPr/>
        </p:nvSpPr>
        <p:spPr>
          <a:xfrm>
            <a:off x="15620695" y="1238098"/>
            <a:ext cx="1714500" cy="437998"/>
          </a:xfrm>
          <a:prstGeom prst="rect">
            <a:avLst/>
          </a:prstGeom>
          <a:solidFill>
            <a:srgbClr val="3E5C50"/>
          </a:solidFill>
          <a:ln w="12700">
            <a:solidFill>
              <a:srgbClr val="FFFFFF">
                <a:alpha val="0"/>
              </a:srgbClr>
            </a:solidFill>
            <a:prstDash val="solid"/>
          </a:ln>
        </p:spPr>
      </p:sp>
      <p:sp>
        <p:nvSpPr>
          <p:cNvPr id="12" name="Text 5"/>
          <p:cNvSpPr txBox="1"/>
          <p:nvPr/>
        </p:nvSpPr>
        <p:spPr>
          <a:xfrm>
            <a:off x="952805" y="2819095"/>
            <a:ext cx="11430000" cy="590702"/>
          </a:xfrm>
          <a:prstGeom prst="rect">
            <a:avLst/>
          </a:prstGeom>
          <a:noFill/>
          <a:ln/>
        </p:spPr>
        <p:txBody>
          <a:bodyPr wrap="square" lIns="0" tIns="0" rIns="0" bIns="0" rtlCol="0" anchor="ctr"/>
          <a:lstStyle/>
          <a:p>
            <a:pPr algn="l" indent="0" marL="0">
              <a:lnSpc>
                <a:spcPts val="2310"/>
              </a:lnSpc>
              <a:buNone/>
            </a:pPr>
            <a:r>
              <a:rPr lang="en-US" sz="1650" dirty="0">
                <a:solidFill>
                  <a:srgbClr val="5C5448"/>
                </a:solidFill>
                <a:latin typeface="Noto Sans KR" pitchFamily="34" charset="0"/>
                <a:ea typeface="Noto Sans KR" pitchFamily="34" charset="-122"/>
                <a:cs typeface="Noto Sans KR" pitchFamily="34" charset="-120"/>
              </a:rPr>
              <a:t>TiN sidewall spacer로 half-pitch 19 nm을 만든 뒤, sacrificial oxide / dummy metal 기반 self-aligned block으로 line tip-to-tip을 결정한다. SAQP batch의 baseline과 직접 비교된다.</a:t>
            </a:r>
            <a:endParaRPr lang="en-US" sz="1650" dirty="0"/>
          </a:p>
        </p:txBody>
      </p:sp>
      <p:sp>
        <p:nvSpPr>
          <p:cNvPr id="13" name="Text 6"/>
          <p:cNvSpPr txBox="1"/>
          <p:nvPr/>
        </p:nvSpPr>
        <p:spPr>
          <a:xfrm>
            <a:off x="1238098" y="6610198"/>
            <a:ext cx="9715500" cy="277063"/>
          </a:xfrm>
          <a:prstGeom prst="rect">
            <a:avLst/>
          </a:prstGeom>
          <a:noFill/>
          <a:ln/>
        </p:spPr>
        <p:txBody>
          <a:bodyPr wrap="none" lIns="0" tIns="0" rIns="0" bIns="0" rtlCol="0" anchor="ctr"/>
          <a:lstStyle/>
          <a:p>
            <a:pPr algn="l" indent="0" marL="0">
              <a:buNone/>
            </a:pPr>
            <a:r>
              <a:rPr lang="en-US" sz="1500" b="1" dirty="0">
                <a:solidFill>
                  <a:srgbClr val="1A1F2C"/>
                </a:solidFill>
                <a:latin typeface="Noto Sans KR" pitchFamily="34" charset="0"/>
                <a:ea typeface="Noto Sans KR" pitchFamily="34" charset="-122"/>
                <a:cs typeface="Noto Sans KR" pitchFamily="34" charset="-120"/>
              </a:rPr>
              <a:t>W05 wafer · cross-section SEM of interconnect profile · reference micrograph</a:t>
            </a:r>
            <a:endParaRPr lang="en-US" sz="1500" dirty="0"/>
          </a:p>
        </p:txBody>
      </p:sp>
      <p:sp>
        <p:nvSpPr>
          <p:cNvPr id="14" name="Text 7"/>
          <p:cNvSpPr txBox="1"/>
          <p:nvPr/>
        </p:nvSpPr>
        <p:spPr>
          <a:xfrm>
            <a:off x="1238098" y="7000646"/>
            <a:ext cx="9715500" cy="200254"/>
          </a:xfrm>
          <a:prstGeom prst="rect">
            <a:avLst/>
          </a:prstGeom>
          <a:noFill/>
          <a:ln/>
        </p:spPr>
        <p:txBody>
          <a:bodyPr wrap="none" lIns="0" tIns="0" rIns="0" bIns="0" rtlCol="0" anchor="ctr"/>
          <a:lstStyle/>
          <a:p>
            <a:pPr algn="l" indent="0" marL="0">
              <a:buNone/>
            </a:pPr>
            <a:r>
              <a:rPr lang="en-US" sz="1050" dirty="0">
                <a:solidFill>
                  <a:srgbClr val="5C5448"/>
                </a:solidFill>
                <a:latin typeface="Noto Sans KR" pitchFamily="34" charset="0"/>
                <a:ea typeface="Noto Sans KR" pitchFamily="34" charset="-122"/>
                <a:cs typeface="Noto Sans KR" pitchFamily="34" charset="-120"/>
              </a:rPr>
              <a:t>출처: Semiconductor Digest — Intel 4 Process interconnect profile. (외부 참고용이며 본 보고서의 수치는 시뮬레이션 값)</a:t>
            </a:r>
            <a:endParaRPr lang="en-US" sz="1050" dirty="0"/>
          </a:p>
        </p:txBody>
      </p:sp>
      <p:sp>
        <p:nvSpPr>
          <p:cNvPr id="15" name="Text 8"/>
          <p:cNvSpPr txBox="1"/>
          <p:nvPr/>
        </p:nvSpPr>
        <p:spPr>
          <a:xfrm>
            <a:off x="12049049" y="3086100"/>
            <a:ext cx="5143500" cy="171907"/>
          </a:xfrm>
          <a:prstGeom prst="rect">
            <a:avLst/>
          </a:prstGeom>
          <a:noFill/>
          <a:ln/>
        </p:spPr>
        <p:txBody>
          <a:bodyPr wrap="none" lIns="0" tIns="0" rIns="0" bIns="0" rtlCol="0" anchor="ctr"/>
          <a:lstStyle/>
          <a:p>
            <a:pPr algn="l" indent="0" marL="0">
              <a:buNone/>
            </a:pPr>
            <a:r>
              <a:rPr lang="en-US" sz="1050" b="1" spc="210" kern="0" dirty="0">
                <a:solidFill>
                  <a:srgbClr val="B8430E"/>
                </a:solidFill>
                <a:latin typeface="JetBrains Mono" pitchFamily="34" charset="0"/>
                <a:ea typeface="JetBrains Mono" pitchFamily="34" charset="-122"/>
                <a:cs typeface="JetBrains Mono" pitchFamily="34" charset="-120"/>
              </a:rPr>
              <a:t>FOUR-POINT MEAN — SADP+SAB</a:t>
            </a:r>
            <a:endParaRPr lang="en-US" sz="1050" dirty="0"/>
          </a:p>
        </p:txBody>
      </p:sp>
      <p:sp>
        <p:nvSpPr>
          <p:cNvPr id="16" name="Text 9"/>
          <p:cNvSpPr txBox="1"/>
          <p:nvPr/>
        </p:nvSpPr>
        <p:spPr>
          <a:xfrm>
            <a:off x="12049049" y="3333902"/>
            <a:ext cx="5143500"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W04 + W05 + W06 averaged · target indicators</a:t>
            </a:r>
            <a:endParaRPr lang="en-US" sz="1350" dirty="0"/>
          </a:p>
        </p:txBody>
      </p:sp>
      <p:sp>
        <p:nvSpPr>
          <p:cNvPr id="17" name="Text 10"/>
          <p:cNvSpPr txBox="1"/>
          <p:nvPr/>
        </p:nvSpPr>
        <p:spPr>
          <a:xfrm>
            <a:off x="12049049" y="3943807"/>
            <a:ext cx="1700784"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AASI · target 25.6</a:t>
            </a:r>
            <a:endParaRPr lang="en-US" sz="1350" dirty="0"/>
          </a:p>
        </p:txBody>
      </p:sp>
      <p:sp>
        <p:nvSpPr>
          <p:cNvPr id="18" name="Text 11"/>
          <p:cNvSpPr txBox="1"/>
          <p:nvPr/>
        </p:nvSpPr>
        <p:spPr>
          <a:xfrm>
            <a:off x="15984626" y="3829507"/>
            <a:ext cx="924458" cy="409651"/>
          </a:xfrm>
          <a:prstGeom prst="rect">
            <a:avLst/>
          </a:prstGeom>
          <a:noFill/>
          <a:ln/>
        </p:spPr>
        <p:txBody>
          <a:bodyPr wrap="none" lIns="0" tIns="0" rIns="0" bIns="0" rtlCol="0" anchor="ctr"/>
          <a:lstStyle/>
          <a:p>
            <a:pPr algn="l" indent="0" marL="0">
              <a:buNone/>
            </a:pPr>
            <a:r>
              <a:rPr lang="en-US" sz="2400" b="1" dirty="0">
                <a:solidFill>
                  <a:srgbClr val="1A1F2C"/>
                </a:solidFill>
                <a:latin typeface="JetBrains Mono" pitchFamily="34" charset="0"/>
                <a:ea typeface="JetBrains Mono" pitchFamily="34" charset="-122"/>
                <a:cs typeface="JetBrains Mono" pitchFamily="34" charset="-120"/>
              </a:rPr>
              <a:t>25.65</a:t>
            </a:r>
            <a:endParaRPr lang="en-US" sz="2400" dirty="0"/>
          </a:p>
        </p:txBody>
      </p:sp>
      <p:sp>
        <p:nvSpPr>
          <p:cNvPr id="19" name="Text 12"/>
          <p:cNvSpPr txBox="1"/>
          <p:nvPr/>
        </p:nvSpPr>
        <p:spPr>
          <a:xfrm>
            <a:off x="17032529" y="4009644"/>
            <a:ext cx="162763" cy="171907"/>
          </a:xfrm>
          <a:prstGeom prst="rect">
            <a:avLst/>
          </a:prstGeom>
          <a:noFill/>
          <a:ln/>
        </p:spPr>
        <p:txBody>
          <a:bodyPr wrap="none" lIns="0" tIns="0" rIns="0" bIns="0" rtlCol="0" anchor="ctr"/>
          <a:lstStyle/>
          <a:p>
            <a:pPr algn="l" indent="0" marL="0">
              <a:buNone/>
            </a:pPr>
            <a:r>
              <a:rPr lang="en-US" sz="1050" dirty="0">
                <a:solidFill>
                  <a:srgbClr val="6B6358"/>
                </a:solidFill>
                <a:latin typeface="JetBrains Mono" pitchFamily="34" charset="0"/>
                <a:ea typeface="JetBrains Mono" pitchFamily="34" charset="-122"/>
                <a:cs typeface="JetBrains Mono" pitchFamily="34" charset="-120"/>
              </a:rPr>
              <a:t>nm</a:t>
            </a:r>
            <a:endParaRPr lang="en-US" sz="1050" dirty="0"/>
          </a:p>
        </p:txBody>
      </p:sp>
      <p:pic>
        <p:nvPicPr>
          <p:cNvPr id="20" name="Image 4" descr="gen-dedup-edec12682710fca607a6d7756e1b856f.png">    </p:cNvPr>
          <p:cNvPicPr>
            <a:picLocks noChangeAspect="1"/>
          </p:cNvPicPr>
          <p:nvPr/>
        </p:nvPicPr>
        <p:blipFill>
          <a:blip r:embed="rId5"/>
          <a:srcRect l="-201" r="-201" t="0" b="0"/>
          <a:stretch/>
        </p:blipFill>
        <p:spPr>
          <a:xfrm>
            <a:off x="12049049" y="4334256"/>
            <a:ext cx="5143500" cy="75895"/>
          </a:xfrm>
          <a:prstGeom prst="rect">
            <a:avLst/>
          </a:prstGeom>
        </p:spPr>
      </p:pic>
      <p:pic>
        <p:nvPicPr>
          <p:cNvPr id="21" name="Image 5" descr="gen-dedup-1251416b472a23f097c48e1b85c2f7c0.png">    </p:cNvPr>
          <p:cNvPicPr>
            <a:picLocks noChangeAspect="1"/>
          </p:cNvPicPr>
          <p:nvPr/>
        </p:nvPicPr>
        <p:blipFill>
          <a:blip r:embed="rId6"/>
          <a:srcRect l="-210" r="-210" t="0" b="0"/>
          <a:stretch/>
        </p:blipFill>
        <p:spPr>
          <a:xfrm>
            <a:off x="12049049" y="4334256"/>
            <a:ext cx="2572207" cy="75895"/>
          </a:xfrm>
          <a:prstGeom prst="rect">
            <a:avLst/>
          </a:prstGeom>
        </p:spPr>
      </p:pic>
      <p:pic>
        <p:nvPicPr>
          <p:cNvPr id="22" name="Image 6" descr="gen-dedup-262c0f025041464c04115dba735b1b45.png">    </p:cNvPr>
          <p:cNvPicPr>
            <a:picLocks noChangeAspect="1"/>
          </p:cNvPicPr>
          <p:nvPr/>
        </p:nvPicPr>
        <p:blipFill>
          <a:blip r:embed="rId7"/>
          <a:srcRect l="-343" r="-343" t="0" b="0"/>
          <a:stretch/>
        </p:blipFill>
        <p:spPr>
          <a:xfrm>
            <a:off x="14621256" y="4304995"/>
            <a:ext cx="19202" cy="133502"/>
          </a:xfrm>
          <a:prstGeom prst="rect">
            <a:avLst/>
          </a:prstGeom>
        </p:spPr>
      </p:pic>
      <p:sp>
        <p:nvSpPr>
          <p:cNvPr id="23" name="Text 13"/>
          <p:cNvSpPr txBox="1"/>
          <p:nvPr/>
        </p:nvSpPr>
        <p:spPr>
          <a:xfrm>
            <a:off x="12049049" y="4858207"/>
            <a:ext cx="1700784"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ASEI · target 16.5</a:t>
            </a:r>
            <a:endParaRPr lang="en-US" sz="1350" dirty="0"/>
          </a:p>
        </p:txBody>
      </p:sp>
      <p:sp>
        <p:nvSpPr>
          <p:cNvPr id="24" name="Text 14"/>
          <p:cNvSpPr txBox="1"/>
          <p:nvPr/>
        </p:nvSpPr>
        <p:spPr>
          <a:xfrm>
            <a:off x="15984626" y="4743907"/>
            <a:ext cx="924458" cy="409651"/>
          </a:xfrm>
          <a:prstGeom prst="rect">
            <a:avLst/>
          </a:prstGeom>
          <a:noFill/>
          <a:ln/>
        </p:spPr>
        <p:txBody>
          <a:bodyPr wrap="none" lIns="0" tIns="0" rIns="0" bIns="0" rtlCol="0" anchor="ctr"/>
          <a:lstStyle/>
          <a:p>
            <a:pPr algn="l" indent="0" marL="0">
              <a:buNone/>
            </a:pPr>
            <a:r>
              <a:rPr lang="en-US" sz="2400" b="1" dirty="0">
                <a:solidFill>
                  <a:srgbClr val="1A1F2C"/>
                </a:solidFill>
                <a:latin typeface="JetBrains Mono" pitchFamily="34" charset="0"/>
                <a:ea typeface="JetBrains Mono" pitchFamily="34" charset="-122"/>
                <a:cs typeface="JetBrains Mono" pitchFamily="34" charset="-120"/>
              </a:rPr>
              <a:t>16.46</a:t>
            </a:r>
            <a:endParaRPr lang="en-US" sz="2400" dirty="0"/>
          </a:p>
        </p:txBody>
      </p:sp>
      <p:sp>
        <p:nvSpPr>
          <p:cNvPr id="25" name="Text 15"/>
          <p:cNvSpPr txBox="1"/>
          <p:nvPr/>
        </p:nvSpPr>
        <p:spPr>
          <a:xfrm>
            <a:off x="17032529" y="4924044"/>
            <a:ext cx="162763" cy="171907"/>
          </a:xfrm>
          <a:prstGeom prst="rect">
            <a:avLst/>
          </a:prstGeom>
          <a:noFill/>
          <a:ln/>
        </p:spPr>
        <p:txBody>
          <a:bodyPr wrap="none" lIns="0" tIns="0" rIns="0" bIns="0" rtlCol="0" anchor="ctr"/>
          <a:lstStyle/>
          <a:p>
            <a:pPr algn="l" indent="0" marL="0">
              <a:buNone/>
            </a:pPr>
            <a:r>
              <a:rPr lang="en-US" sz="1050" dirty="0">
                <a:solidFill>
                  <a:srgbClr val="6B6358"/>
                </a:solidFill>
                <a:latin typeface="JetBrains Mono" pitchFamily="34" charset="0"/>
                <a:ea typeface="JetBrains Mono" pitchFamily="34" charset="-122"/>
                <a:cs typeface="JetBrains Mono" pitchFamily="34" charset="-120"/>
              </a:rPr>
              <a:t>nm</a:t>
            </a:r>
            <a:endParaRPr lang="en-US" sz="1050" dirty="0"/>
          </a:p>
        </p:txBody>
      </p:sp>
      <p:pic>
        <p:nvPicPr>
          <p:cNvPr id="26" name="Image 7" descr="gen-dedup-edec12682710fca607a6d7756e1b856f.png">    </p:cNvPr>
          <p:cNvPicPr>
            <a:picLocks noChangeAspect="1"/>
          </p:cNvPicPr>
          <p:nvPr/>
        </p:nvPicPr>
        <p:blipFill>
          <a:blip r:embed="rId8"/>
          <a:srcRect l="-201" r="-201" t="0" b="0"/>
          <a:stretch/>
        </p:blipFill>
        <p:spPr>
          <a:xfrm>
            <a:off x="12049049" y="5248656"/>
            <a:ext cx="5143500" cy="75895"/>
          </a:xfrm>
          <a:prstGeom prst="rect">
            <a:avLst/>
          </a:prstGeom>
        </p:spPr>
      </p:pic>
      <p:pic>
        <p:nvPicPr>
          <p:cNvPr id="27" name="Image 8" descr="gen-dedup-c542f69602f9af9945791f2cbbc1cf61.png">    </p:cNvPr>
          <p:cNvPicPr>
            <a:picLocks noChangeAspect="1"/>
          </p:cNvPicPr>
          <p:nvPr/>
        </p:nvPicPr>
        <p:blipFill>
          <a:blip r:embed="rId9"/>
          <a:srcRect l="-193" r="-193" t="0" b="0"/>
          <a:stretch/>
        </p:blipFill>
        <p:spPr>
          <a:xfrm>
            <a:off x="12049049" y="5248656"/>
            <a:ext cx="2365553" cy="75895"/>
          </a:xfrm>
          <a:prstGeom prst="rect">
            <a:avLst/>
          </a:prstGeom>
        </p:spPr>
      </p:pic>
      <p:pic>
        <p:nvPicPr>
          <p:cNvPr id="28" name="Image 9" descr="gen-dedup-262c0f025041464c04115dba735b1b45.png">    </p:cNvPr>
          <p:cNvPicPr>
            <a:picLocks noChangeAspect="1"/>
          </p:cNvPicPr>
          <p:nvPr/>
        </p:nvPicPr>
        <p:blipFill>
          <a:blip r:embed="rId10"/>
          <a:srcRect l="-343" r="-343" t="0" b="0"/>
          <a:stretch/>
        </p:blipFill>
        <p:spPr>
          <a:xfrm>
            <a:off x="14621256" y="5219395"/>
            <a:ext cx="19202" cy="133502"/>
          </a:xfrm>
          <a:prstGeom prst="rect">
            <a:avLst/>
          </a:prstGeom>
        </p:spPr>
      </p:pic>
      <p:sp>
        <p:nvSpPr>
          <p:cNvPr id="29" name="Text 16"/>
          <p:cNvSpPr txBox="1"/>
          <p:nvPr/>
        </p:nvSpPr>
        <p:spPr>
          <a:xfrm>
            <a:off x="12049049" y="5772607"/>
            <a:ext cx="1496873"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AMI · target 9.0</a:t>
            </a:r>
            <a:endParaRPr lang="en-US" sz="1350" dirty="0"/>
          </a:p>
        </p:txBody>
      </p:sp>
      <p:sp>
        <p:nvSpPr>
          <p:cNvPr id="30" name="Text 17"/>
          <p:cNvSpPr txBox="1"/>
          <p:nvPr/>
        </p:nvSpPr>
        <p:spPr>
          <a:xfrm>
            <a:off x="16167506" y="5658307"/>
            <a:ext cx="734263" cy="409651"/>
          </a:xfrm>
          <a:prstGeom prst="rect">
            <a:avLst/>
          </a:prstGeom>
          <a:noFill/>
          <a:ln/>
        </p:spPr>
        <p:txBody>
          <a:bodyPr wrap="none" lIns="0" tIns="0" rIns="0" bIns="0" rtlCol="0" anchor="ctr"/>
          <a:lstStyle/>
          <a:p>
            <a:pPr algn="l" indent="0" marL="0">
              <a:buNone/>
            </a:pPr>
            <a:r>
              <a:rPr lang="en-US" sz="2400" b="1" dirty="0">
                <a:solidFill>
                  <a:srgbClr val="1A1F2C"/>
                </a:solidFill>
                <a:latin typeface="JetBrains Mono" pitchFamily="34" charset="0"/>
                <a:ea typeface="JetBrains Mono" pitchFamily="34" charset="-122"/>
                <a:cs typeface="JetBrains Mono" pitchFamily="34" charset="-120"/>
              </a:rPr>
              <a:t>8.94</a:t>
            </a:r>
            <a:endParaRPr lang="en-US" sz="2400" dirty="0"/>
          </a:p>
        </p:txBody>
      </p:sp>
      <p:sp>
        <p:nvSpPr>
          <p:cNvPr id="31" name="Text 18"/>
          <p:cNvSpPr txBox="1"/>
          <p:nvPr/>
        </p:nvSpPr>
        <p:spPr>
          <a:xfrm>
            <a:off x="17032529" y="5838444"/>
            <a:ext cx="162763" cy="171907"/>
          </a:xfrm>
          <a:prstGeom prst="rect">
            <a:avLst/>
          </a:prstGeom>
          <a:noFill/>
          <a:ln/>
        </p:spPr>
        <p:txBody>
          <a:bodyPr wrap="none" lIns="0" tIns="0" rIns="0" bIns="0" rtlCol="0" anchor="ctr"/>
          <a:lstStyle/>
          <a:p>
            <a:pPr algn="l" indent="0" marL="0">
              <a:buNone/>
            </a:pPr>
            <a:r>
              <a:rPr lang="en-US" sz="1050" dirty="0">
                <a:solidFill>
                  <a:srgbClr val="6B6358"/>
                </a:solidFill>
                <a:latin typeface="JetBrains Mono" pitchFamily="34" charset="0"/>
                <a:ea typeface="JetBrains Mono" pitchFamily="34" charset="-122"/>
                <a:cs typeface="JetBrains Mono" pitchFamily="34" charset="-120"/>
              </a:rPr>
              <a:t>nm</a:t>
            </a:r>
            <a:endParaRPr lang="en-US" sz="1050" dirty="0"/>
          </a:p>
        </p:txBody>
      </p:sp>
      <p:pic>
        <p:nvPicPr>
          <p:cNvPr id="32" name="Image 10" descr="gen-dedup-edec12682710fca607a6d7756e1b856f.png">    </p:cNvPr>
          <p:cNvPicPr>
            <a:picLocks noChangeAspect="1"/>
          </p:cNvPicPr>
          <p:nvPr/>
        </p:nvPicPr>
        <p:blipFill>
          <a:blip r:embed="rId11"/>
          <a:srcRect l="-201" r="-201" t="0" b="0"/>
          <a:stretch/>
        </p:blipFill>
        <p:spPr>
          <a:xfrm>
            <a:off x="12049049" y="6163056"/>
            <a:ext cx="5143500" cy="75895"/>
          </a:xfrm>
          <a:prstGeom prst="rect">
            <a:avLst/>
          </a:prstGeom>
        </p:spPr>
      </p:pic>
      <p:pic>
        <p:nvPicPr>
          <p:cNvPr id="33" name="Image 11" descr="gen-dedup-1251416b472a23f097c48e1b85c2f7c0.png">    </p:cNvPr>
          <p:cNvPicPr>
            <a:picLocks noChangeAspect="1"/>
          </p:cNvPicPr>
          <p:nvPr/>
        </p:nvPicPr>
        <p:blipFill>
          <a:blip r:embed="rId12"/>
          <a:srcRect l="-210" r="-210" t="0" b="0"/>
          <a:stretch/>
        </p:blipFill>
        <p:spPr>
          <a:xfrm>
            <a:off x="12049049" y="6163056"/>
            <a:ext cx="2572207" cy="75895"/>
          </a:xfrm>
          <a:prstGeom prst="rect">
            <a:avLst/>
          </a:prstGeom>
        </p:spPr>
      </p:pic>
      <p:pic>
        <p:nvPicPr>
          <p:cNvPr id="34" name="Image 12" descr="gen-dedup-b51edb30fb6d4f695f1fa64c943458d2.png">    </p:cNvPr>
          <p:cNvPicPr>
            <a:picLocks noChangeAspect="1"/>
          </p:cNvPicPr>
          <p:nvPr/>
        </p:nvPicPr>
        <p:blipFill>
          <a:blip r:embed="rId13"/>
          <a:srcRect l="-343" r="-343" t="0" b="0"/>
          <a:stretch/>
        </p:blipFill>
        <p:spPr>
          <a:xfrm>
            <a:off x="14621256" y="6133795"/>
            <a:ext cx="19202" cy="133502"/>
          </a:xfrm>
          <a:prstGeom prst="rect">
            <a:avLst/>
          </a:prstGeom>
        </p:spPr>
      </p:pic>
      <p:sp>
        <p:nvSpPr>
          <p:cNvPr id="35" name="Text 19"/>
          <p:cNvSpPr txBox="1"/>
          <p:nvPr/>
        </p:nvSpPr>
        <p:spPr>
          <a:xfrm>
            <a:off x="12049049" y="6687007"/>
            <a:ext cx="1451153" cy="247802"/>
          </a:xfrm>
          <a:prstGeom prst="rect">
            <a:avLst/>
          </a:prstGeom>
          <a:noFill/>
          <a:ln/>
        </p:spPr>
        <p:txBody>
          <a:bodyPr wrap="none" lIns="0" tIns="0" rIns="0" bIns="0" rtlCol="0" anchor="ctr"/>
          <a:lstStyle/>
          <a:p>
            <a:pPr algn="l" indent="0" marL="0">
              <a:buNone/>
            </a:pPr>
            <a:r>
              <a:rPr lang="en-US" sz="1350" b="1" dirty="0">
                <a:solidFill>
                  <a:srgbClr val="5C5448"/>
                </a:solidFill>
                <a:latin typeface="Noto Sans KR" pitchFamily="34" charset="0"/>
                <a:ea typeface="Noto Sans KR" pitchFamily="34" charset="-122"/>
                <a:cs typeface="Noto Sans KR" pitchFamily="34" charset="-120"/>
              </a:rPr>
              <a:t>ACI · target 8.9</a:t>
            </a:r>
            <a:endParaRPr lang="en-US" sz="1350" dirty="0"/>
          </a:p>
        </p:txBody>
      </p:sp>
      <p:sp>
        <p:nvSpPr>
          <p:cNvPr id="36" name="Text 20"/>
          <p:cNvSpPr txBox="1"/>
          <p:nvPr/>
        </p:nvSpPr>
        <p:spPr>
          <a:xfrm>
            <a:off x="16167506" y="6572707"/>
            <a:ext cx="734263" cy="409651"/>
          </a:xfrm>
          <a:prstGeom prst="rect">
            <a:avLst/>
          </a:prstGeom>
          <a:noFill/>
          <a:ln/>
        </p:spPr>
        <p:txBody>
          <a:bodyPr wrap="none" lIns="0" tIns="0" rIns="0" bIns="0" rtlCol="0" anchor="ctr"/>
          <a:lstStyle/>
          <a:p>
            <a:pPr algn="l" indent="0" marL="0">
              <a:buNone/>
            </a:pPr>
            <a:r>
              <a:rPr lang="en-US" sz="2400" b="1" dirty="0">
                <a:solidFill>
                  <a:srgbClr val="1A1F2C"/>
                </a:solidFill>
                <a:latin typeface="JetBrains Mono" pitchFamily="34" charset="0"/>
                <a:ea typeface="JetBrains Mono" pitchFamily="34" charset="-122"/>
                <a:cs typeface="JetBrains Mono" pitchFamily="34" charset="-120"/>
              </a:rPr>
              <a:t>8.83</a:t>
            </a:r>
            <a:endParaRPr lang="en-US" sz="2400" dirty="0"/>
          </a:p>
        </p:txBody>
      </p:sp>
      <p:sp>
        <p:nvSpPr>
          <p:cNvPr id="37" name="Text 21"/>
          <p:cNvSpPr txBox="1"/>
          <p:nvPr/>
        </p:nvSpPr>
        <p:spPr>
          <a:xfrm>
            <a:off x="17032529" y="6752844"/>
            <a:ext cx="162763" cy="171907"/>
          </a:xfrm>
          <a:prstGeom prst="rect">
            <a:avLst/>
          </a:prstGeom>
          <a:noFill/>
          <a:ln/>
        </p:spPr>
        <p:txBody>
          <a:bodyPr wrap="none" lIns="0" tIns="0" rIns="0" bIns="0" rtlCol="0" anchor="ctr"/>
          <a:lstStyle/>
          <a:p>
            <a:pPr algn="l" indent="0" marL="0">
              <a:buNone/>
            </a:pPr>
            <a:r>
              <a:rPr lang="en-US" sz="1050" dirty="0">
                <a:solidFill>
                  <a:srgbClr val="6B6358"/>
                </a:solidFill>
                <a:latin typeface="JetBrains Mono" pitchFamily="34" charset="0"/>
                <a:ea typeface="JetBrains Mono" pitchFamily="34" charset="-122"/>
                <a:cs typeface="JetBrains Mono" pitchFamily="34" charset="-120"/>
              </a:rPr>
              <a:t>nm</a:t>
            </a:r>
            <a:endParaRPr lang="en-US" sz="1050" dirty="0"/>
          </a:p>
        </p:txBody>
      </p:sp>
      <p:pic>
        <p:nvPicPr>
          <p:cNvPr id="38" name="Image 13" descr="gen-dedup-edec12682710fca607a6d7756e1b856f.png">    </p:cNvPr>
          <p:cNvPicPr>
            <a:picLocks noChangeAspect="1"/>
          </p:cNvPicPr>
          <p:nvPr/>
        </p:nvPicPr>
        <p:blipFill>
          <a:blip r:embed="rId14"/>
          <a:srcRect l="-201" r="-201" t="0" b="0"/>
          <a:stretch/>
        </p:blipFill>
        <p:spPr>
          <a:xfrm>
            <a:off x="12049049" y="7077456"/>
            <a:ext cx="5143500" cy="75895"/>
          </a:xfrm>
          <a:prstGeom prst="rect">
            <a:avLst/>
          </a:prstGeom>
        </p:spPr>
      </p:pic>
      <p:pic>
        <p:nvPicPr>
          <p:cNvPr id="39" name="Image 14" descr="gen-dedup-2701bf9048617e5ef618c88dba0ffa53.png">    </p:cNvPr>
          <p:cNvPicPr>
            <a:picLocks noChangeAspect="1"/>
          </p:cNvPicPr>
          <p:nvPr/>
        </p:nvPicPr>
        <p:blipFill>
          <a:blip r:embed="rId15"/>
          <a:srcRect l="-206" r="-206" t="0" b="0"/>
          <a:stretch/>
        </p:blipFill>
        <p:spPr>
          <a:xfrm>
            <a:off x="12049049" y="7077456"/>
            <a:ext cx="2417674" cy="75895"/>
          </a:xfrm>
          <a:prstGeom prst="rect">
            <a:avLst/>
          </a:prstGeom>
        </p:spPr>
      </p:pic>
      <p:pic>
        <p:nvPicPr>
          <p:cNvPr id="40" name="Image 15" descr="gen-dedup-b51edb30fb6d4f695f1fa64c943458d2.png">    </p:cNvPr>
          <p:cNvPicPr>
            <a:picLocks noChangeAspect="1"/>
          </p:cNvPicPr>
          <p:nvPr/>
        </p:nvPicPr>
        <p:blipFill>
          <a:blip r:embed="rId16"/>
          <a:srcRect l="-343" r="-343" t="0" b="0"/>
          <a:stretch/>
        </p:blipFill>
        <p:spPr>
          <a:xfrm>
            <a:off x="14621256" y="7048195"/>
            <a:ext cx="19202" cy="133502"/>
          </a:xfrm>
          <a:prstGeom prst="rect">
            <a:avLst/>
          </a:prstGeom>
        </p:spPr>
      </p:pic>
      <p:pic>
        <p:nvPicPr>
          <p:cNvPr id="41" name="Image 16" descr="gen-dedup-ef80e837c469e34e4b167f4e77826a1d.png">    </p:cNvPr>
          <p:cNvPicPr>
            <a:picLocks noChangeAspect="1"/>
          </p:cNvPicPr>
          <p:nvPr/>
        </p:nvPicPr>
        <p:blipFill>
          <a:blip r:embed="rId17"/>
          <a:srcRect l="-2083" r="-2083" t="0" b="0"/>
          <a:stretch/>
        </p:blipFill>
        <p:spPr>
          <a:xfrm>
            <a:off x="12049049" y="7638898"/>
            <a:ext cx="5143500" cy="9144"/>
          </a:xfrm>
          <a:prstGeom prst="rect">
            <a:avLst/>
          </a:prstGeom>
        </p:spPr>
      </p:pic>
      <p:sp>
        <p:nvSpPr>
          <p:cNvPr id="42" name="Text 22"/>
          <p:cNvSpPr txBox="1"/>
          <p:nvPr/>
        </p:nvSpPr>
        <p:spPr>
          <a:xfrm>
            <a:off x="12049049" y="7830007"/>
            <a:ext cx="5143500" cy="219456"/>
          </a:xfrm>
          <a:prstGeom prst="rect">
            <a:avLst/>
          </a:prstGeom>
          <a:noFill/>
          <a:ln/>
        </p:spPr>
        <p:txBody>
          <a:bodyPr wrap="none" lIns="0" tIns="0" rIns="0" bIns="0" rtlCol="0" anchor="ctr"/>
          <a:lstStyle/>
          <a:p>
            <a:pPr algn="l" indent="0" marL="0">
              <a:buNone/>
            </a:pPr>
            <a:r>
              <a:rPr lang="en-US" sz="1125" i="1" dirty="0">
                <a:solidFill>
                  <a:srgbClr val="5C5448"/>
                </a:solidFill>
                <a:latin typeface="Noto Sans KR" pitchFamily="34" charset="0"/>
                <a:ea typeface="Noto Sans KR" pitchFamily="34" charset="-122"/>
                <a:cs typeface="Noto Sans KR" pitchFamily="34" charset="-120"/>
              </a:rPr>
              <a:t>※ batch 평균 — wafer별 상세 분포는 04–07 슬라이드 참조</a:t>
            </a:r>
            <a:endParaRPr lang="en-US" sz="1125" dirty="0"/>
          </a:p>
        </p:txBody>
      </p:sp>
      <p:sp>
        <p:nvSpPr>
          <p:cNvPr id="43" name="Text 23"/>
          <p:cNvSpPr txBox="1"/>
          <p:nvPr/>
        </p:nvSpPr>
        <p:spPr>
          <a:xfrm>
            <a:off x="952805" y="9696298"/>
            <a:ext cx="16383305" cy="210312"/>
          </a:xfrm>
          <a:prstGeom prst="rect">
            <a:avLst/>
          </a:prstGeom>
          <a:noFill/>
          <a:ln/>
        </p:spPr>
        <p:txBody>
          <a:bodyPr wrap="none" lIns="0" tIns="0" rIns="0" bIns="0" rtlCol="0" anchor="ctr"/>
          <a:lstStyle/>
          <a:p>
            <a:pPr algn="l" indent="0" marL="0">
              <a:buNone/>
            </a:pPr>
            <a:r>
              <a:rPr lang="en-US" sz="1125" b="1" spc="56" kern="0" dirty="0">
                <a:solidFill>
                  <a:srgbClr val="6B6358"/>
                </a:solidFill>
                <a:latin typeface="JetBrains Mono" pitchFamily="34" charset="0"/>
                <a:ea typeface="JetBrains Mono" pitchFamily="34" charset="-122"/>
                <a:cs typeface="JetBrains Mono" pitchFamily="34" charset="-120"/>
              </a:rPr>
              <a:t>※ 내부 테스트용 더미(가상) 데이터</a:t>
            </a:r>
            <a:endParaRPr lang="en-US" sz="1125" dirty="0"/>
          </a:p>
        </p:txBody>
      </p:sp>
      <p:sp>
        <p:nvSpPr>
          <p:cNvPr id="44" name="Text 24"/>
          <p:cNvSpPr txBox="1"/>
          <p:nvPr/>
        </p:nvSpPr>
        <p:spPr>
          <a:xfrm>
            <a:off x="15620695" y="1238098"/>
            <a:ext cx="1714500" cy="438912"/>
          </a:xfrm>
          <a:prstGeom prst="rect">
            <a:avLst/>
          </a:prstGeom>
          <a:noFill/>
          <a:ln/>
        </p:spPr>
        <p:txBody>
          <a:bodyPr wrap="none" lIns="0" tIns="0" rIns="0" bIns="0" rtlCol="0" anchor="ctr"/>
          <a:lstStyle/>
          <a:p>
            <a:pPr algn="ctr" indent="0" marL="0">
              <a:buNone/>
            </a:pPr>
            <a:r>
              <a:rPr lang="en-US" sz="1350" b="1" spc="81" kern="0" dirty="0">
                <a:solidFill>
                  <a:srgbClr val="F2EDE5"/>
                </a:solidFill>
                <a:latin typeface="JetBrains Mono" pitchFamily="34" charset="0"/>
                <a:ea typeface="JetBrains Mono" pitchFamily="34" charset="-122"/>
                <a:cs typeface="JetBrains Mono" pitchFamily="34" charset="-120"/>
              </a:rPr>
              <a:t>SADP + SAB</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DE5"/>
        </a:solidFill>
      </p:bgPr>
    </p:bg>
    <p:spTree>
      <p:nvGrpSpPr>
        <p:cNvPr id="1" name=""/>
        <p:cNvGrpSpPr/>
        <p:nvPr/>
      </p:nvGrpSpPr>
      <p:grpSpPr>
        <a:xfrm>
          <a:off x="0" y="0"/>
          <a:ext cx="0" cy="0"/>
          <a:chOff x="0" y="0"/>
          <a:chExt cx="0" cy="0"/>
        </a:xfrm>
      </p:grpSpPr>
      <p:sp>
        <p:nvSpPr>
          <p:cNvPr id="3" name="Shape 0"/>
          <p:cNvSpPr/>
          <p:nvPr/>
        </p:nvSpPr>
        <p:spPr>
          <a:xfrm>
            <a:off x="12763195" y="2933395"/>
            <a:ext cx="4572000" cy="5905195"/>
          </a:xfrm>
          <a:prstGeom prst="rect">
            <a:avLst/>
          </a:prstGeom>
          <a:solidFill>
            <a:srgbClr val="1A1F2C"/>
          </a:solidFill>
          <a:ln w="12700">
            <a:solidFill>
              <a:srgbClr val="FFFFFF">
                <a:alpha val="0"/>
              </a:srgbClr>
            </a:solidFill>
            <a:prstDash val="solid"/>
          </a:ln>
        </p:spPr>
      </p:sp>
      <p:sp>
        <p:nvSpPr>
          <p:cNvPr id="4" name="Shape 1"/>
          <p:cNvSpPr/>
          <p:nvPr/>
        </p:nvSpPr>
        <p:spPr>
          <a:xfrm>
            <a:off x="15430500" y="1123798"/>
            <a:ext cx="1904695" cy="1143000"/>
          </a:xfrm>
          <a:prstGeom prst="rect">
            <a:avLst/>
          </a:prstGeom>
          <a:solidFill>
            <a:srgbClr val="E8762E"/>
          </a:solidFill>
          <a:ln w="12700">
            <a:solidFill>
              <a:srgbClr val="FFFFFF">
                <a:alpha val="0"/>
              </a:srgbClr>
            </a:solidFill>
            <a:prstDash val="solid"/>
          </a:ln>
        </p:spPr>
      </p:sp>
      <p:pic>
        <p:nvPicPr>
          <p:cNvPr id="5" name="Image 0" descr="gen-dedup-2099a3bfbc4ccb2a003e58cbd4e0ecb7.png">    </p:cNvPr>
          <p:cNvPicPr>
            <a:picLocks noChangeAspect="1"/>
          </p:cNvPicPr>
          <p:nvPr/>
        </p:nvPicPr>
        <p:blipFill>
          <a:blip r:embed="rId1"/>
          <a:srcRect l="0" r="0" t="-400" b="-400"/>
          <a:stretch/>
        </p:blipFill>
        <p:spPr>
          <a:xfrm>
            <a:off x="12763195" y="2933395"/>
            <a:ext cx="4572000" cy="57607"/>
          </a:xfrm>
          <a:prstGeom prst="rect">
            <a:avLst/>
          </a:prstGeom>
        </p:spPr>
      </p:pic>
      <p:pic>
        <p:nvPicPr>
          <p:cNvPr id="6" name="Image 1" descr="gen-dedup-10712ba9506011557717463f803e9fbb.png">    </p:cNvPr>
          <p:cNvPicPr>
            <a:picLocks noChangeAspect="1"/>
          </p:cNvPicPr>
          <p:nvPr/>
        </p:nvPicPr>
        <p:blipFill>
          <a:blip r:embed="rId2"/>
          <a:srcRect l="0" r="0" t="-375" b="-375"/>
          <a:stretch/>
        </p:blipFill>
        <p:spPr>
          <a:xfrm>
            <a:off x="952805" y="838505"/>
            <a:ext cx="609905" cy="57607"/>
          </a:xfrm>
          <a:prstGeom prst="rect">
            <a:avLst/>
          </a:prstGeom>
        </p:spPr>
      </p:pic>
      <p:sp>
        <p:nvSpPr>
          <p:cNvPr id="7" name="Text 2"/>
          <p:cNvSpPr txBox="1"/>
          <p:nvPr/>
        </p:nvSpPr>
        <p:spPr>
          <a:xfrm>
            <a:off x="952805" y="1123798"/>
            <a:ext cx="10478110" cy="600761"/>
          </a:xfrm>
          <a:prstGeom prst="rect">
            <a:avLst/>
          </a:prstGeom>
          <a:noFill/>
          <a:ln/>
        </p:spPr>
        <p:txBody>
          <a:bodyPr wrap="none" lIns="0" tIns="0" rIns="0" bIns="0" rtlCol="0" anchor="ctr"/>
          <a:lstStyle/>
          <a:p>
            <a:pPr algn="l" indent="0" marL="0">
              <a:buNone/>
            </a:pPr>
            <a:r>
              <a:rPr lang="en-US" sz="4500" b="1" spc="-45" kern="0" dirty="0">
                <a:solidFill>
                  <a:srgbClr val="1A1F2C"/>
                </a:solidFill>
                <a:latin typeface="Noto Sans KR" pitchFamily="34" charset="0"/>
                <a:ea typeface="Noto Sans KR" pitchFamily="34" charset="-122"/>
                <a:cs typeface="Noto Sans KR" pitchFamily="34" charset="-120"/>
              </a:rPr>
              <a:t>AASI CD Variation</a:t>
            </a:r>
            <a:endParaRPr lang="en-US" sz="4500" dirty="0"/>
          </a:p>
        </p:txBody>
      </p:sp>
      <p:sp>
        <p:nvSpPr>
          <p:cNvPr id="8" name="Text 3"/>
          <p:cNvSpPr txBox="1"/>
          <p:nvPr/>
        </p:nvSpPr>
        <p:spPr>
          <a:xfrm>
            <a:off x="952805" y="1857146"/>
            <a:ext cx="10625328" cy="295351"/>
          </a:xfrm>
          <a:prstGeom prst="rect">
            <a:avLst/>
          </a:prstGeom>
          <a:noFill/>
          <a:ln/>
        </p:spPr>
        <p:txBody>
          <a:bodyPr wrap="none" lIns="0" tIns="0" rIns="0" bIns="0" rtlCol="0" anchor="ctr"/>
          <a:lstStyle/>
          <a:p>
            <a:pPr algn="l" indent="0" marL="0">
              <a:buNone/>
            </a:pPr>
            <a:r>
              <a:rPr lang="en-US" sz="1650" dirty="0">
                <a:solidFill>
                  <a:srgbClr val="5C5448"/>
                </a:solidFill>
                <a:latin typeface="Noto Sans KR" pitchFamily="34" charset="0"/>
                <a:ea typeface="Noto Sans KR" pitchFamily="34" charset="-122"/>
                <a:cs typeface="Noto Sans KR" pitchFamily="34" charset="-120"/>
              </a:rPr>
              <a:t>mandrel etch 직후, spacer 증착 전 라인 폭 분포 · wafer별 mean / 3σ / range / Δ vs target</a:t>
            </a:r>
            <a:endParaRPr lang="en-US" sz="1650" dirty="0"/>
          </a:p>
        </p:txBody>
      </p:sp>
      <p:sp>
        <p:nvSpPr>
          <p:cNvPr id="9" name="Text 4"/>
          <p:cNvSpPr txBox="1"/>
          <p:nvPr/>
        </p:nvSpPr>
        <p:spPr>
          <a:xfrm>
            <a:off x="15430500" y="1123798"/>
            <a:ext cx="1905610" cy="342900"/>
          </a:xfrm>
          <a:prstGeom prst="rect">
            <a:avLst/>
          </a:prstGeom>
          <a:noFill/>
          <a:ln/>
        </p:spPr>
        <p:txBody>
          <a:bodyPr wrap="none" lIns="0" tIns="0" rIns="0" bIns="0" rtlCol="0" anchor="ctr"/>
          <a:lstStyle/>
          <a:p>
            <a:pPr algn="ctr" indent="0" marL="0">
              <a:buNone/>
            </a:pPr>
            <a:r>
              <a:rPr lang="en-US" sz="1050" b="1" spc="210" kern="0" dirty="0">
                <a:solidFill>
                  <a:srgbClr val="FFE2C9"/>
                </a:solidFill>
                <a:latin typeface="JetBrains Mono" pitchFamily="34" charset="0"/>
                <a:ea typeface="JetBrains Mono" pitchFamily="34" charset="-122"/>
                <a:cs typeface="JetBrains Mono" pitchFamily="34" charset="-120"/>
              </a:rPr>
              <a:t>TARGET</a:t>
            </a:r>
            <a:endParaRPr lang="en-US" sz="1050" dirty="0"/>
          </a:p>
        </p:txBody>
      </p:sp>
      <p:sp>
        <p:nvSpPr>
          <p:cNvPr id="10" name="Text 5"/>
          <p:cNvSpPr txBox="1"/>
          <p:nvPr/>
        </p:nvSpPr>
        <p:spPr>
          <a:xfrm>
            <a:off x="15430500" y="1524305"/>
            <a:ext cx="1905610" cy="676656"/>
          </a:xfrm>
          <a:prstGeom prst="rect">
            <a:avLst/>
          </a:prstGeom>
          <a:noFill/>
          <a:ln/>
        </p:spPr>
        <p:txBody>
          <a:bodyPr wrap="none" lIns="0" tIns="0" rIns="0" bIns="0" rtlCol="0" anchor="ctr"/>
          <a:lstStyle/>
          <a:p>
            <a:pPr algn="ctr" indent="0" marL="0">
              <a:buNone/>
            </a:pPr>
            <a:r>
              <a:rPr lang="en-US" sz="4050" b="1" dirty="0">
                <a:solidFill>
                  <a:srgbClr val="FFFFFF"/>
                </a:solidFill>
                <a:latin typeface="JetBrains Mono" pitchFamily="34" charset="0"/>
                <a:ea typeface="JetBrains Mono" pitchFamily="34" charset="-122"/>
                <a:cs typeface="JetBrains Mono" pitchFamily="34" charset="-120"/>
              </a:rPr>
              <a:t>25.6</a:t>
            </a:r>
            <a:endParaRPr lang="en-US" sz="4050" dirty="0"/>
          </a:p>
        </p:txBody>
      </p:sp>
      <p:sp>
        <p:nvSpPr>
          <p:cNvPr id="11" name="Text 6"/>
          <p:cNvSpPr txBox="1"/>
          <p:nvPr/>
        </p:nvSpPr>
        <p:spPr>
          <a:xfrm>
            <a:off x="15430500" y="2200046"/>
            <a:ext cx="1905610" cy="191110"/>
          </a:xfrm>
          <a:prstGeom prst="rect">
            <a:avLst/>
          </a:prstGeom>
          <a:noFill/>
          <a:ln/>
        </p:spPr>
        <p:txBody>
          <a:bodyPr wrap="none" lIns="0" tIns="0" rIns="0" bIns="0" rtlCol="0" anchor="ctr"/>
          <a:lstStyle/>
          <a:p>
            <a:pPr algn="ctr" indent="0" marL="0">
              <a:buNone/>
            </a:pPr>
            <a:r>
              <a:rPr lang="en-US" sz="1050" b="1" dirty="0">
                <a:solidFill>
                  <a:srgbClr val="FFE2C9"/>
                </a:solidFill>
                <a:latin typeface="Noto Sans KR" pitchFamily="34" charset="0"/>
                <a:ea typeface="Noto Sans KR" pitchFamily="34" charset="-122"/>
                <a:cs typeface="Noto Sans KR" pitchFamily="34" charset="-120"/>
              </a:rPr>
              <a:t>nm</a:t>
            </a:r>
            <a:endParaRPr lang="en-US" sz="1050" dirty="0"/>
          </a:p>
        </p:txBody>
      </p:sp>
      <p:sp>
        <p:nvSpPr>
          <p:cNvPr id="12" name="Shape 7"/>
          <p:cNvSpPr/>
          <p:nvPr/>
        </p:nvSpPr>
        <p:spPr>
          <a:xfrm>
            <a:off x="952805" y="2933395"/>
            <a:ext cx="11430000" cy="609905"/>
          </a:xfrm>
          <a:prstGeom prst="rect">
            <a:avLst/>
          </a:prstGeom>
          <a:solidFill>
            <a:srgbClr val="1A1F2C"/>
          </a:solidFill>
          <a:ln w="12700">
            <a:solidFill>
              <a:srgbClr val="FFFFFF">
                <a:alpha val="0"/>
              </a:srgbClr>
            </a:solidFill>
            <a:prstDash val="solid"/>
          </a:ln>
        </p:spPr>
      </p:sp>
      <p:sp>
        <p:nvSpPr>
          <p:cNvPr id="13" name="Text 8"/>
          <p:cNvSpPr txBox="1"/>
          <p:nvPr/>
        </p:nvSpPr>
        <p:spPr>
          <a:xfrm>
            <a:off x="952805" y="2933395"/>
            <a:ext cx="1619402" cy="609905"/>
          </a:xfrm>
          <a:prstGeom prst="rect">
            <a:avLst/>
          </a:prstGeom>
          <a:noFill/>
          <a:ln/>
        </p:spPr>
        <p:txBody>
          <a:bodyPr wrap="square" lIns="0" tIns="0" rIns="0" bIns="0" rtlCol="0" anchor="ctr"/>
          <a:lstStyle/>
          <a:p>
            <a:pPr algn="l" indent="0" marL="0">
              <a:buNone/>
            </a:pPr>
            <a:r>
              <a:rPr lang="en-US" sz="1500" b="1" spc="180" kern="0" dirty="0">
                <a:solidFill>
                  <a:srgbClr val="E8762E"/>
                </a:solidFill>
                <a:latin typeface="Noto Sans KR" pitchFamily="34" charset="0"/>
                <a:ea typeface="Noto Sans KR" pitchFamily="34" charset="-122"/>
                <a:cs typeface="Noto Sans KR" pitchFamily="34" charset="-120"/>
              </a:rPr>
              <a:t>WAFER</a:t>
            </a:r>
            <a:endParaRPr lang="en-US" sz="1500" dirty="0"/>
          </a:p>
        </p:txBody>
      </p:sp>
      <p:sp>
        <p:nvSpPr>
          <p:cNvPr id="14" name="Text 9"/>
          <p:cNvSpPr txBox="1"/>
          <p:nvPr/>
        </p:nvSpPr>
        <p:spPr>
          <a:xfrm>
            <a:off x="2572207" y="2933395"/>
            <a:ext cx="2190902" cy="609905"/>
          </a:xfrm>
          <a:prstGeom prst="rect">
            <a:avLst/>
          </a:prstGeom>
          <a:noFill/>
          <a:ln/>
        </p:spPr>
        <p:txBody>
          <a:bodyPr wrap="square" lIns="0" tIns="0" rIns="0" bIns="0" rtlCol="0" anchor="ctr"/>
          <a:lstStyle/>
          <a:p>
            <a:pPr algn="l" indent="0" marL="0">
              <a:buNone/>
            </a:pPr>
            <a:r>
              <a:rPr lang="en-US" sz="1500" b="1" spc="180" kern="0" dirty="0">
                <a:solidFill>
                  <a:srgbClr val="E8762E"/>
                </a:solidFill>
                <a:latin typeface="Noto Sans KR" pitchFamily="34" charset="0"/>
                <a:ea typeface="Noto Sans KR" pitchFamily="34" charset="-122"/>
                <a:cs typeface="Noto Sans KR" pitchFamily="34" charset="-120"/>
              </a:rPr>
              <a:t>PROCESS</a:t>
            </a:r>
            <a:endParaRPr lang="en-US" sz="1500" dirty="0"/>
          </a:p>
        </p:txBody>
      </p:sp>
      <p:sp>
        <p:nvSpPr>
          <p:cNvPr id="15" name="Text 10"/>
          <p:cNvSpPr txBox="1"/>
          <p:nvPr/>
        </p:nvSpPr>
        <p:spPr>
          <a:xfrm>
            <a:off x="4762195"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MEAN</a:t>
            </a:r>
            <a:endParaRPr lang="en-US" sz="1500" dirty="0"/>
          </a:p>
        </p:txBody>
      </p:sp>
      <p:sp>
        <p:nvSpPr>
          <p:cNvPr id="16" name="Text 11"/>
          <p:cNvSpPr txBox="1"/>
          <p:nvPr/>
        </p:nvSpPr>
        <p:spPr>
          <a:xfrm>
            <a:off x="6667805"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3σ</a:t>
            </a:r>
            <a:endParaRPr lang="en-US" sz="1500" dirty="0"/>
          </a:p>
        </p:txBody>
      </p:sp>
      <p:sp>
        <p:nvSpPr>
          <p:cNvPr id="17" name="Text 12"/>
          <p:cNvSpPr txBox="1"/>
          <p:nvPr/>
        </p:nvSpPr>
        <p:spPr>
          <a:xfrm>
            <a:off x="8572500"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RANGE</a:t>
            </a:r>
            <a:endParaRPr lang="en-US" sz="1500" dirty="0"/>
          </a:p>
        </p:txBody>
      </p:sp>
      <p:sp>
        <p:nvSpPr>
          <p:cNvPr id="18" name="Text 13"/>
          <p:cNvSpPr txBox="1"/>
          <p:nvPr/>
        </p:nvSpPr>
        <p:spPr>
          <a:xfrm>
            <a:off x="10477195"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Δ vs TGT</a:t>
            </a:r>
            <a:endParaRPr lang="en-US" sz="1500" dirty="0"/>
          </a:p>
        </p:txBody>
      </p:sp>
      <p:sp>
        <p:nvSpPr>
          <p:cNvPr id="19" name="Shape 14"/>
          <p:cNvSpPr/>
          <p:nvPr/>
        </p:nvSpPr>
        <p:spPr>
          <a:xfrm>
            <a:off x="952805" y="3543300"/>
            <a:ext cx="11430000" cy="800100"/>
          </a:xfrm>
          <a:prstGeom prst="rect">
            <a:avLst/>
          </a:prstGeom>
          <a:solidFill>
            <a:srgbClr val="FBF7EF"/>
          </a:solidFill>
          <a:ln w="12700">
            <a:solidFill>
              <a:srgbClr val="FFFFFF">
                <a:alpha val="0"/>
              </a:srgbClr>
            </a:solidFill>
            <a:prstDash val="solid"/>
          </a:ln>
        </p:spPr>
      </p:sp>
      <p:sp>
        <p:nvSpPr>
          <p:cNvPr id="20" name="Text 15"/>
          <p:cNvSpPr txBox="1"/>
          <p:nvPr/>
        </p:nvSpPr>
        <p:spPr>
          <a:xfrm>
            <a:off x="952805" y="35433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W01</a:t>
            </a:r>
            <a:endParaRPr lang="en-US" sz="1950" dirty="0"/>
          </a:p>
        </p:txBody>
      </p:sp>
      <p:sp>
        <p:nvSpPr>
          <p:cNvPr id="21" name="Text 16"/>
          <p:cNvSpPr txBox="1"/>
          <p:nvPr/>
        </p:nvSpPr>
        <p:spPr>
          <a:xfrm>
            <a:off x="4762195"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25.42</a:t>
            </a:r>
            <a:endParaRPr lang="en-US" sz="1950" dirty="0"/>
          </a:p>
        </p:txBody>
      </p:sp>
      <p:sp>
        <p:nvSpPr>
          <p:cNvPr id="22" name="Text 17"/>
          <p:cNvSpPr txBox="1"/>
          <p:nvPr/>
        </p:nvSpPr>
        <p:spPr>
          <a:xfrm>
            <a:off x="6667805"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0.78</a:t>
            </a:r>
            <a:endParaRPr lang="en-US" sz="1950" dirty="0"/>
          </a:p>
        </p:txBody>
      </p:sp>
      <p:sp>
        <p:nvSpPr>
          <p:cNvPr id="23" name="Text 18"/>
          <p:cNvSpPr txBox="1"/>
          <p:nvPr/>
        </p:nvSpPr>
        <p:spPr>
          <a:xfrm>
            <a:off x="8572500"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2.31</a:t>
            </a:r>
            <a:endParaRPr lang="en-US" sz="1950" dirty="0"/>
          </a:p>
        </p:txBody>
      </p:sp>
      <p:sp>
        <p:nvSpPr>
          <p:cNvPr id="24" name="Text 19"/>
          <p:cNvSpPr txBox="1"/>
          <p:nvPr/>
        </p:nvSpPr>
        <p:spPr>
          <a:xfrm>
            <a:off x="10477195"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−0.18</a:t>
            </a:r>
            <a:endParaRPr lang="en-US" sz="1950" dirty="0"/>
          </a:p>
        </p:txBody>
      </p:sp>
      <p:sp>
        <p:nvSpPr>
          <p:cNvPr id="25" name="Shape 20"/>
          <p:cNvSpPr/>
          <p:nvPr/>
        </p:nvSpPr>
        <p:spPr>
          <a:xfrm>
            <a:off x="952805" y="4343400"/>
            <a:ext cx="11430000" cy="800100"/>
          </a:xfrm>
          <a:prstGeom prst="rect">
            <a:avLst/>
          </a:prstGeom>
          <a:solidFill>
            <a:srgbClr val="F4ECDC"/>
          </a:solidFill>
          <a:ln w="12700">
            <a:solidFill>
              <a:srgbClr val="FFFFFF">
                <a:alpha val="0"/>
              </a:srgbClr>
            </a:solidFill>
            <a:prstDash val="solid"/>
          </a:ln>
        </p:spPr>
      </p:sp>
      <p:sp>
        <p:nvSpPr>
          <p:cNvPr id="26" name="Text 21"/>
          <p:cNvSpPr txBox="1"/>
          <p:nvPr/>
        </p:nvSpPr>
        <p:spPr>
          <a:xfrm>
            <a:off x="952805" y="43434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W02</a:t>
            </a:r>
            <a:endParaRPr lang="en-US" sz="1950" dirty="0"/>
          </a:p>
        </p:txBody>
      </p:sp>
      <p:sp>
        <p:nvSpPr>
          <p:cNvPr id="27" name="Text 22"/>
          <p:cNvSpPr txBox="1"/>
          <p:nvPr/>
        </p:nvSpPr>
        <p:spPr>
          <a:xfrm>
            <a:off x="4762195"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25.51</a:t>
            </a:r>
            <a:endParaRPr lang="en-US" sz="1950" dirty="0"/>
          </a:p>
        </p:txBody>
      </p:sp>
      <p:sp>
        <p:nvSpPr>
          <p:cNvPr id="28" name="Text 23"/>
          <p:cNvSpPr txBox="1"/>
          <p:nvPr/>
        </p:nvSpPr>
        <p:spPr>
          <a:xfrm>
            <a:off x="6667805"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0.71</a:t>
            </a:r>
            <a:endParaRPr lang="en-US" sz="1950" dirty="0"/>
          </a:p>
        </p:txBody>
      </p:sp>
      <p:sp>
        <p:nvSpPr>
          <p:cNvPr id="29" name="Text 24"/>
          <p:cNvSpPr txBox="1"/>
          <p:nvPr/>
        </p:nvSpPr>
        <p:spPr>
          <a:xfrm>
            <a:off x="8572500"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2.18</a:t>
            </a:r>
            <a:endParaRPr lang="en-US" sz="1950" dirty="0"/>
          </a:p>
        </p:txBody>
      </p:sp>
      <p:sp>
        <p:nvSpPr>
          <p:cNvPr id="30" name="Text 25"/>
          <p:cNvSpPr txBox="1"/>
          <p:nvPr/>
        </p:nvSpPr>
        <p:spPr>
          <a:xfrm>
            <a:off x="10477195"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−0.09</a:t>
            </a:r>
            <a:endParaRPr lang="en-US" sz="1950" dirty="0"/>
          </a:p>
        </p:txBody>
      </p:sp>
      <p:sp>
        <p:nvSpPr>
          <p:cNvPr id="31" name="Shape 26"/>
          <p:cNvSpPr/>
          <p:nvPr/>
        </p:nvSpPr>
        <p:spPr>
          <a:xfrm>
            <a:off x="952805" y="5143500"/>
            <a:ext cx="11430000" cy="800100"/>
          </a:xfrm>
          <a:prstGeom prst="rect">
            <a:avLst/>
          </a:prstGeom>
          <a:solidFill>
            <a:srgbClr val="FBF7EF"/>
          </a:solidFill>
          <a:ln w="12700">
            <a:solidFill>
              <a:srgbClr val="FFFFFF">
                <a:alpha val="0"/>
              </a:srgbClr>
            </a:solidFill>
            <a:prstDash val="solid"/>
          </a:ln>
        </p:spPr>
      </p:sp>
      <p:sp>
        <p:nvSpPr>
          <p:cNvPr id="32" name="Text 27"/>
          <p:cNvSpPr txBox="1"/>
          <p:nvPr/>
        </p:nvSpPr>
        <p:spPr>
          <a:xfrm>
            <a:off x="952805" y="51435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W03</a:t>
            </a:r>
            <a:endParaRPr lang="en-US" sz="1950" dirty="0"/>
          </a:p>
        </p:txBody>
      </p:sp>
      <p:sp>
        <p:nvSpPr>
          <p:cNvPr id="33" name="Text 28"/>
          <p:cNvSpPr txBox="1"/>
          <p:nvPr/>
        </p:nvSpPr>
        <p:spPr>
          <a:xfrm>
            <a:off x="4762195" y="51435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25.66</a:t>
            </a:r>
            <a:endParaRPr lang="en-US" sz="1950" dirty="0"/>
          </a:p>
        </p:txBody>
      </p:sp>
      <p:sp>
        <p:nvSpPr>
          <p:cNvPr id="34" name="Text 29"/>
          <p:cNvSpPr txBox="1"/>
          <p:nvPr/>
        </p:nvSpPr>
        <p:spPr>
          <a:xfrm>
            <a:off x="6667805" y="51435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0.92</a:t>
            </a:r>
            <a:endParaRPr lang="en-US" sz="1950" dirty="0"/>
          </a:p>
        </p:txBody>
      </p:sp>
      <p:sp>
        <p:nvSpPr>
          <p:cNvPr id="35" name="Text 30"/>
          <p:cNvSpPr txBox="1"/>
          <p:nvPr/>
        </p:nvSpPr>
        <p:spPr>
          <a:xfrm>
            <a:off x="8572500" y="51435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2.74</a:t>
            </a:r>
            <a:endParaRPr lang="en-US" sz="1950" dirty="0"/>
          </a:p>
        </p:txBody>
      </p:sp>
      <p:sp>
        <p:nvSpPr>
          <p:cNvPr id="36" name="Text 31"/>
          <p:cNvSpPr txBox="1"/>
          <p:nvPr/>
        </p:nvSpPr>
        <p:spPr>
          <a:xfrm>
            <a:off x="10477195" y="5143500"/>
            <a:ext cx="1905610" cy="80010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+0.06</a:t>
            </a:r>
            <a:endParaRPr lang="en-US" sz="1950" dirty="0"/>
          </a:p>
        </p:txBody>
      </p:sp>
      <p:sp>
        <p:nvSpPr>
          <p:cNvPr id="37" name="Shape 32"/>
          <p:cNvSpPr/>
          <p:nvPr/>
        </p:nvSpPr>
        <p:spPr>
          <a:xfrm>
            <a:off x="952805" y="5943600"/>
            <a:ext cx="11430000" cy="800100"/>
          </a:xfrm>
          <a:prstGeom prst="rect">
            <a:avLst/>
          </a:prstGeom>
          <a:solidFill>
            <a:srgbClr val="F4ECDC"/>
          </a:solidFill>
          <a:ln w="12700">
            <a:solidFill>
              <a:srgbClr val="FFFFFF">
                <a:alpha val="0"/>
              </a:srgbClr>
            </a:solidFill>
            <a:prstDash val="solid"/>
          </a:ln>
        </p:spPr>
      </p:sp>
      <p:sp>
        <p:nvSpPr>
          <p:cNvPr id="38" name="Text 33"/>
          <p:cNvSpPr txBox="1"/>
          <p:nvPr/>
        </p:nvSpPr>
        <p:spPr>
          <a:xfrm>
            <a:off x="952805" y="59436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W04</a:t>
            </a:r>
            <a:endParaRPr lang="en-US" sz="1950" dirty="0"/>
          </a:p>
        </p:txBody>
      </p:sp>
      <p:sp>
        <p:nvSpPr>
          <p:cNvPr id="39" name="Text 34"/>
          <p:cNvSpPr txBox="1"/>
          <p:nvPr/>
        </p:nvSpPr>
        <p:spPr>
          <a:xfrm>
            <a:off x="4762195"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25.74</a:t>
            </a:r>
            <a:endParaRPr lang="en-US" sz="1950" dirty="0"/>
          </a:p>
        </p:txBody>
      </p:sp>
      <p:sp>
        <p:nvSpPr>
          <p:cNvPr id="40" name="Text 35"/>
          <p:cNvSpPr txBox="1"/>
          <p:nvPr/>
        </p:nvSpPr>
        <p:spPr>
          <a:xfrm>
            <a:off x="6667805"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0.62</a:t>
            </a:r>
            <a:endParaRPr lang="en-US" sz="1950" dirty="0"/>
          </a:p>
        </p:txBody>
      </p:sp>
      <p:sp>
        <p:nvSpPr>
          <p:cNvPr id="41" name="Text 36"/>
          <p:cNvSpPr txBox="1"/>
          <p:nvPr/>
        </p:nvSpPr>
        <p:spPr>
          <a:xfrm>
            <a:off x="8572500"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1.83</a:t>
            </a:r>
            <a:endParaRPr lang="en-US" sz="1950" dirty="0"/>
          </a:p>
        </p:txBody>
      </p:sp>
      <p:sp>
        <p:nvSpPr>
          <p:cNvPr id="42" name="Text 37"/>
          <p:cNvSpPr txBox="1"/>
          <p:nvPr/>
        </p:nvSpPr>
        <p:spPr>
          <a:xfrm>
            <a:off x="10477195" y="5943600"/>
            <a:ext cx="1905610" cy="80010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+0.14</a:t>
            </a:r>
            <a:endParaRPr lang="en-US" sz="1950" dirty="0"/>
          </a:p>
        </p:txBody>
      </p:sp>
      <p:sp>
        <p:nvSpPr>
          <p:cNvPr id="43" name="Shape 38"/>
          <p:cNvSpPr/>
          <p:nvPr/>
        </p:nvSpPr>
        <p:spPr>
          <a:xfrm>
            <a:off x="952805" y="6743700"/>
            <a:ext cx="11430000" cy="800100"/>
          </a:xfrm>
          <a:prstGeom prst="rect">
            <a:avLst/>
          </a:prstGeom>
          <a:solidFill>
            <a:srgbClr val="FBF7EF"/>
          </a:solidFill>
          <a:ln w="12700">
            <a:solidFill>
              <a:srgbClr val="FFFFFF">
                <a:alpha val="0"/>
              </a:srgbClr>
            </a:solidFill>
            <a:prstDash val="solid"/>
          </a:ln>
        </p:spPr>
      </p:sp>
      <p:sp>
        <p:nvSpPr>
          <p:cNvPr id="44" name="Text 39"/>
          <p:cNvSpPr txBox="1"/>
          <p:nvPr/>
        </p:nvSpPr>
        <p:spPr>
          <a:xfrm>
            <a:off x="952805" y="67437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W05</a:t>
            </a:r>
            <a:endParaRPr lang="en-US" sz="1950" dirty="0"/>
          </a:p>
        </p:txBody>
      </p:sp>
      <p:sp>
        <p:nvSpPr>
          <p:cNvPr id="45" name="Text 40"/>
          <p:cNvSpPr txBox="1"/>
          <p:nvPr/>
        </p:nvSpPr>
        <p:spPr>
          <a:xfrm>
            <a:off x="4762195"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25.59</a:t>
            </a:r>
            <a:endParaRPr lang="en-US" sz="1950" dirty="0"/>
          </a:p>
        </p:txBody>
      </p:sp>
      <p:sp>
        <p:nvSpPr>
          <p:cNvPr id="46" name="Text 41"/>
          <p:cNvSpPr txBox="1"/>
          <p:nvPr/>
        </p:nvSpPr>
        <p:spPr>
          <a:xfrm>
            <a:off x="6667805"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0.55</a:t>
            </a:r>
            <a:endParaRPr lang="en-US" sz="1950" dirty="0"/>
          </a:p>
        </p:txBody>
      </p:sp>
      <p:sp>
        <p:nvSpPr>
          <p:cNvPr id="47" name="Text 42"/>
          <p:cNvSpPr txBox="1"/>
          <p:nvPr/>
        </p:nvSpPr>
        <p:spPr>
          <a:xfrm>
            <a:off x="8572500"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1.62</a:t>
            </a:r>
            <a:endParaRPr lang="en-US" sz="1950" dirty="0"/>
          </a:p>
        </p:txBody>
      </p:sp>
      <p:sp>
        <p:nvSpPr>
          <p:cNvPr id="48" name="Text 43"/>
          <p:cNvSpPr txBox="1"/>
          <p:nvPr/>
        </p:nvSpPr>
        <p:spPr>
          <a:xfrm>
            <a:off x="10477195"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−0.01</a:t>
            </a:r>
            <a:endParaRPr lang="en-US" sz="1950" dirty="0"/>
          </a:p>
        </p:txBody>
      </p:sp>
      <p:sp>
        <p:nvSpPr>
          <p:cNvPr id="49" name="Shape 44"/>
          <p:cNvSpPr/>
          <p:nvPr/>
        </p:nvSpPr>
        <p:spPr>
          <a:xfrm>
            <a:off x="952805" y="7543800"/>
            <a:ext cx="11430000" cy="800100"/>
          </a:xfrm>
          <a:prstGeom prst="rect">
            <a:avLst/>
          </a:prstGeom>
          <a:solidFill>
            <a:srgbClr val="F4ECDC"/>
          </a:solidFill>
          <a:ln w="12700">
            <a:solidFill>
              <a:srgbClr val="FFFFFF">
                <a:alpha val="0"/>
              </a:srgbClr>
            </a:solidFill>
            <a:prstDash val="solid"/>
          </a:ln>
        </p:spPr>
      </p:sp>
      <p:sp>
        <p:nvSpPr>
          <p:cNvPr id="50" name="Text 45"/>
          <p:cNvSpPr txBox="1"/>
          <p:nvPr/>
        </p:nvSpPr>
        <p:spPr>
          <a:xfrm>
            <a:off x="952805" y="75438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W06</a:t>
            </a:r>
            <a:endParaRPr lang="en-US" sz="1950" dirty="0"/>
          </a:p>
        </p:txBody>
      </p:sp>
      <p:sp>
        <p:nvSpPr>
          <p:cNvPr id="51" name="Text 46"/>
          <p:cNvSpPr txBox="1"/>
          <p:nvPr/>
        </p:nvSpPr>
        <p:spPr>
          <a:xfrm>
            <a:off x="4762195"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25.63</a:t>
            </a:r>
            <a:endParaRPr lang="en-US" sz="1950" dirty="0"/>
          </a:p>
        </p:txBody>
      </p:sp>
      <p:sp>
        <p:nvSpPr>
          <p:cNvPr id="52" name="Text 47"/>
          <p:cNvSpPr txBox="1"/>
          <p:nvPr/>
        </p:nvSpPr>
        <p:spPr>
          <a:xfrm>
            <a:off x="6667805"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0.49</a:t>
            </a:r>
            <a:endParaRPr lang="en-US" sz="1950" dirty="0"/>
          </a:p>
        </p:txBody>
      </p:sp>
      <p:sp>
        <p:nvSpPr>
          <p:cNvPr id="53" name="Text 48"/>
          <p:cNvSpPr txBox="1"/>
          <p:nvPr/>
        </p:nvSpPr>
        <p:spPr>
          <a:xfrm>
            <a:off x="8572500"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1.49</a:t>
            </a:r>
            <a:endParaRPr lang="en-US" sz="1950" dirty="0"/>
          </a:p>
        </p:txBody>
      </p:sp>
      <p:sp>
        <p:nvSpPr>
          <p:cNvPr id="54" name="Text 49"/>
          <p:cNvSpPr txBox="1"/>
          <p:nvPr/>
        </p:nvSpPr>
        <p:spPr>
          <a:xfrm>
            <a:off x="10477195" y="7543800"/>
            <a:ext cx="1905610" cy="80010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+0.03</a:t>
            </a:r>
            <a:endParaRPr lang="en-US" sz="1950" dirty="0"/>
          </a:p>
        </p:txBody>
      </p:sp>
      <p:sp>
        <p:nvSpPr>
          <p:cNvPr id="55" name="Text 50"/>
          <p:cNvSpPr txBox="1"/>
          <p:nvPr/>
        </p:nvSpPr>
        <p:spPr>
          <a:xfrm>
            <a:off x="2628900" y="3781044"/>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6" name="Text 51"/>
          <p:cNvSpPr txBox="1"/>
          <p:nvPr/>
        </p:nvSpPr>
        <p:spPr>
          <a:xfrm>
            <a:off x="2628900" y="4581144"/>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7" name="Text 52"/>
          <p:cNvSpPr txBox="1"/>
          <p:nvPr/>
        </p:nvSpPr>
        <p:spPr>
          <a:xfrm>
            <a:off x="2628900" y="5381244"/>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8" name="Text 53"/>
          <p:cNvSpPr txBox="1"/>
          <p:nvPr/>
        </p:nvSpPr>
        <p:spPr>
          <a:xfrm>
            <a:off x="2628900" y="6181344"/>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59" name="Text 54"/>
          <p:cNvSpPr txBox="1"/>
          <p:nvPr/>
        </p:nvSpPr>
        <p:spPr>
          <a:xfrm>
            <a:off x="2628900" y="6981444"/>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60" name="Text 55"/>
          <p:cNvSpPr txBox="1"/>
          <p:nvPr/>
        </p:nvSpPr>
        <p:spPr>
          <a:xfrm>
            <a:off x="2628900" y="7781544"/>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61" name="Text 56"/>
          <p:cNvSpPr txBox="1"/>
          <p:nvPr/>
        </p:nvSpPr>
        <p:spPr>
          <a:xfrm>
            <a:off x="13049402" y="3238805"/>
            <a:ext cx="4096512" cy="171907"/>
          </a:xfrm>
          <a:prstGeom prst="rect">
            <a:avLst/>
          </a:prstGeom>
          <a:noFill/>
          <a:ln/>
        </p:spPr>
        <p:txBody>
          <a:bodyPr wrap="none" lIns="0" tIns="0" rIns="0" bIns="0" rtlCol="0" anchor="ctr"/>
          <a:lstStyle/>
          <a:p>
            <a:pPr algn="l" indent="0" marL="0">
              <a:buNone/>
            </a:pPr>
            <a:r>
              <a:rPr lang="en-US" sz="1050" b="1" spc="210" kern="0" dirty="0">
                <a:solidFill>
                  <a:srgbClr val="E8762E"/>
                </a:solidFill>
                <a:latin typeface="JetBrains Mono" pitchFamily="34" charset="0"/>
                <a:ea typeface="JetBrains Mono" pitchFamily="34" charset="-122"/>
                <a:cs typeface="JetBrains Mono" pitchFamily="34" charset="-120"/>
              </a:rPr>
              <a:t>RANGE BY WAFER</a:t>
            </a:r>
            <a:endParaRPr lang="en-US" sz="1050" dirty="0"/>
          </a:p>
        </p:txBody>
      </p:sp>
      <p:sp>
        <p:nvSpPr>
          <p:cNvPr id="62" name="Text 57"/>
          <p:cNvSpPr txBox="1"/>
          <p:nvPr/>
        </p:nvSpPr>
        <p:spPr>
          <a:xfrm>
            <a:off x="13049402" y="3486607"/>
            <a:ext cx="4096512" cy="247802"/>
          </a:xfrm>
          <a:prstGeom prst="rect">
            <a:avLst/>
          </a:prstGeom>
          <a:noFill/>
          <a:ln/>
        </p:spPr>
        <p:txBody>
          <a:bodyPr wrap="none" lIns="0" tIns="0" rIns="0" bIns="0" rtlCol="0" anchor="ctr"/>
          <a:lstStyle/>
          <a:p>
            <a:pPr algn="l" indent="0" marL="0">
              <a:buNone/>
            </a:pPr>
            <a:r>
              <a:rPr lang="en-US" sz="1350" b="1" dirty="0">
                <a:solidFill>
                  <a:srgbClr val="FAF7F0"/>
                </a:solidFill>
                <a:latin typeface="Noto Sans KR" pitchFamily="34" charset="0"/>
                <a:ea typeface="Noto Sans KR" pitchFamily="34" charset="-122"/>
                <a:cs typeface="Noto Sans KR" pitchFamily="34" charset="-120"/>
              </a:rPr>
              <a:t>max − min among 25 sites</a:t>
            </a:r>
            <a:endParaRPr lang="en-US" sz="1350" dirty="0"/>
          </a:p>
        </p:txBody>
      </p:sp>
      <p:sp>
        <p:nvSpPr>
          <p:cNvPr id="63" name="Text 58"/>
          <p:cNvSpPr txBox="1"/>
          <p:nvPr/>
        </p:nvSpPr>
        <p:spPr>
          <a:xfrm>
            <a:off x="13049402" y="3924605"/>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W01</a:t>
            </a:r>
            <a:endParaRPr lang="en-US" sz="1200" dirty="0"/>
          </a:p>
        </p:txBody>
      </p:sp>
      <p:sp>
        <p:nvSpPr>
          <p:cNvPr id="64" name="Text 59"/>
          <p:cNvSpPr txBox="1"/>
          <p:nvPr/>
        </p:nvSpPr>
        <p:spPr>
          <a:xfrm>
            <a:off x="16535095" y="3924605"/>
            <a:ext cx="609905" cy="200254"/>
          </a:xfrm>
          <a:prstGeom prst="rect">
            <a:avLst/>
          </a:prstGeom>
          <a:noFill/>
          <a:ln/>
        </p:spPr>
        <p:txBody>
          <a:bodyPr wrap="none" lIns="0" tIns="0" rIns="0" bIns="0" rtlCol="0" anchor="ctr"/>
          <a:lstStyle/>
          <a:p>
            <a:pPr algn="r" indent="0" marL="0">
              <a:buNone/>
            </a:pPr>
            <a:r>
              <a:rPr lang="en-US" sz="1200" b="1" dirty="0">
                <a:solidFill>
                  <a:srgbClr val="FAF7F0"/>
                </a:solidFill>
                <a:latin typeface="JetBrains Mono" pitchFamily="34" charset="0"/>
                <a:ea typeface="JetBrains Mono" pitchFamily="34" charset="-122"/>
                <a:cs typeface="JetBrains Mono" pitchFamily="34" charset="-120"/>
              </a:rPr>
              <a:t>2.31</a:t>
            </a:r>
            <a:endParaRPr lang="en-US" sz="1200" dirty="0"/>
          </a:p>
        </p:txBody>
      </p:sp>
      <p:sp>
        <p:nvSpPr>
          <p:cNvPr id="65" name="Text 60"/>
          <p:cNvSpPr txBox="1"/>
          <p:nvPr/>
        </p:nvSpPr>
        <p:spPr>
          <a:xfrm>
            <a:off x="13049402" y="4200754"/>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W02</a:t>
            </a:r>
            <a:endParaRPr lang="en-US" sz="1200" dirty="0"/>
          </a:p>
        </p:txBody>
      </p:sp>
      <p:sp>
        <p:nvSpPr>
          <p:cNvPr id="66" name="Text 61"/>
          <p:cNvSpPr txBox="1"/>
          <p:nvPr/>
        </p:nvSpPr>
        <p:spPr>
          <a:xfrm>
            <a:off x="16535095" y="4200754"/>
            <a:ext cx="609905" cy="200254"/>
          </a:xfrm>
          <a:prstGeom prst="rect">
            <a:avLst/>
          </a:prstGeom>
          <a:noFill/>
          <a:ln/>
        </p:spPr>
        <p:txBody>
          <a:bodyPr wrap="none" lIns="0" tIns="0" rIns="0" bIns="0" rtlCol="0" anchor="ctr"/>
          <a:lstStyle/>
          <a:p>
            <a:pPr algn="r" indent="0" marL="0">
              <a:buNone/>
            </a:pPr>
            <a:r>
              <a:rPr lang="en-US" sz="1200" b="1" dirty="0">
                <a:solidFill>
                  <a:srgbClr val="FAF7F0"/>
                </a:solidFill>
                <a:latin typeface="JetBrains Mono" pitchFamily="34" charset="0"/>
                <a:ea typeface="JetBrains Mono" pitchFamily="34" charset="-122"/>
                <a:cs typeface="JetBrains Mono" pitchFamily="34" charset="-120"/>
              </a:rPr>
              <a:t>2.18</a:t>
            </a:r>
            <a:endParaRPr lang="en-US" sz="1200" dirty="0"/>
          </a:p>
        </p:txBody>
      </p:sp>
      <p:sp>
        <p:nvSpPr>
          <p:cNvPr id="67" name="Text 62"/>
          <p:cNvSpPr txBox="1"/>
          <p:nvPr/>
        </p:nvSpPr>
        <p:spPr>
          <a:xfrm>
            <a:off x="13049402" y="4476902"/>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W03</a:t>
            </a:r>
            <a:endParaRPr lang="en-US" sz="1200" dirty="0"/>
          </a:p>
        </p:txBody>
      </p:sp>
      <p:sp>
        <p:nvSpPr>
          <p:cNvPr id="68" name="Text 63"/>
          <p:cNvSpPr txBox="1"/>
          <p:nvPr/>
        </p:nvSpPr>
        <p:spPr>
          <a:xfrm>
            <a:off x="16535095" y="4476902"/>
            <a:ext cx="609905" cy="200254"/>
          </a:xfrm>
          <a:prstGeom prst="rect">
            <a:avLst/>
          </a:prstGeom>
          <a:noFill/>
          <a:ln/>
        </p:spPr>
        <p:txBody>
          <a:bodyPr wrap="none" lIns="0" tIns="0" rIns="0" bIns="0" rtlCol="0" anchor="ctr"/>
          <a:lstStyle/>
          <a:p>
            <a:pPr algn="r" indent="0" marL="0">
              <a:buNone/>
            </a:pPr>
            <a:r>
              <a:rPr lang="en-US" sz="1200" b="1" dirty="0">
                <a:solidFill>
                  <a:srgbClr val="FAF7F0"/>
                </a:solidFill>
                <a:latin typeface="JetBrains Mono" pitchFamily="34" charset="0"/>
                <a:ea typeface="JetBrains Mono" pitchFamily="34" charset="-122"/>
                <a:cs typeface="JetBrains Mono" pitchFamily="34" charset="-120"/>
              </a:rPr>
              <a:t>2.74</a:t>
            </a:r>
            <a:endParaRPr lang="en-US" sz="1200" dirty="0"/>
          </a:p>
        </p:txBody>
      </p:sp>
      <p:sp>
        <p:nvSpPr>
          <p:cNvPr id="69" name="Text 64"/>
          <p:cNvSpPr txBox="1"/>
          <p:nvPr/>
        </p:nvSpPr>
        <p:spPr>
          <a:xfrm>
            <a:off x="13049402" y="4753051"/>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W04</a:t>
            </a:r>
            <a:endParaRPr lang="en-US" sz="1200" dirty="0"/>
          </a:p>
        </p:txBody>
      </p:sp>
      <p:sp>
        <p:nvSpPr>
          <p:cNvPr id="70" name="Text 65"/>
          <p:cNvSpPr txBox="1"/>
          <p:nvPr/>
        </p:nvSpPr>
        <p:spPr>
          <a:xfrm>
            <a:off x="16535095" y="4753051"/>
            <a:ext cx="609905" cy="200254"/>
          </a:xfrm>
          <a:prstGeom prst="rect">
            <a:avLst/>
          </a:prstGeom>
          <a:noFill/>
          <a:ln/>
        </p:spPr>
        <p:txBody>
          <a:bodyPr wrap="none" lIns="0" tIns="0" rIns="0" bIns="0" rtlCol="0" anchor="ctr"/>
          <a:lstStyle/>
          <a:p>
            <a:pPr algn="r" indent="0" marL="0">
              <a:buNone/>
            </a:pPr>
            <a:r>
              <a:rPr lang="en-US" sz="1200" b="1" dirty="0">
                <a:solidFill>
                  <a:srgbClr val="FAF7F0"/>
                </a:solidFill>
                <a:latin typeface="JetBrains Mono" pitchFamily="34" charset="0"/>
                <a:ea typeface="JetBrains Mono" pitchFamily="34" charset="-122"/>
                <a:cs typeface="JetBrains Mono" pitchFamily="34" charset="-120"/>
              </a:rPr>
              <a:t>1.83</a:t>
            </a:r>
            <a:endParaRPr lang="en-US" sz="1200" dirty="0"/>
          </a:p>
        </p:txBody>
      </p:sp>
      <p:sp>
        <p:nvSpPr>
          <p:cNvPr id="71" name="Text 66"/>
          <p:cNvSpPr txBox="1"/>
          <p:nvPr/>
        </p:nvSpPr>
        <p:spPr>
          <a:xfrm>
            <a:off x="13049402" y="5029200"/>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W05</a:t>
            </a:r>
            <a:endParaRPr lang="en-US" sz="1200" dirty="0"/>
          </a:p>
        </p:txBody>
      </p:sp>
      <p:sp>
        <p:nvSpPr>
          <p:cNvPr id="72" name="Text 67"/>
          <p:cNvSpPr txBox="1"/>
          <p:nvPr/>
        </p:nvSpPr>
        <p:spPr>
          <a:xfrm>
            <a:off x="16535095" y="5029200"/>
            <a:ext cx="609905" cy="200254"/>
          </a:xfrm>
          <a:prstGeom prst="rect">
            <a:avLst/>
          </a:prstGeom>
          <a:noFill/>
          <a:ln/>
        </p:spPr>
        <p:txBody>
          <a:bodyPr wrap="none" lIns="0" tIns="0" rIns="0" bIns="0" rtlCol="0" anchor="ctr"/>
          <a:lstStyle/>
          <a:p>
            <a:pPr algn="r" indent="0" marL="0">
              <a:buNone/>
            </a:pPr>
            <a:r>
              <a:rPr lang="en-US" sz="1200" b="1" dirty="0">
                <a:solidFill>
                  <a:srgbClr val="FAF7F0"/>
                </a:solidFill>
                <a:latin typeface="JetBrains Mono" pitchFamily="34" charset="0"/>
                <a:ea typeface="JetBrains Mono" pitchFamily="34" charset="-122"/>
                <a:cs typeface="JetBrains Mono" pitchFamily="34" charset="-120"/>
              </a:rPr>
              <a:t>1.62</a:t>
            </a:r>
            <a:endParaRPr lang="en-US" sz="1200" dirty="0"/>
          </a:p>
        </p:txBody>
      </p:sp>
      <p:sp>
        <p:nvSpPr>
          <p:cNvPr id="73" name="Text 68"/>
          <p:cNvSpPr txBox="1"/>
          <p:nvPr/>
        </p:nvSpPr>
        <p:spPr>
          <a:xfrm>
            <a:off x="13049402" y="5305349"/>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W06</a:t>
            </a:r>
            <a:endParaRPr lang="en-US" sz="1200" dirty="0"/>
          </a:p>
        </p:txBody>
      </p:sp>
      <p:sp>
        <p:nvSpPr>
          <p:cNvPr id="74" name="Text 69"/>
          <p:cNvSpPr txBox="1"/>
          <p:nvPr/>
        </p:nvSpPr>
        <p:spPr>
          <a:xfrm>
            <a:off x="16535095" y="5305349"/>
            <a:ext cx="609905" cy="200254"/>
          </a:xfrm>
          <a:prstGeom prst="rect">
            <a:avLst/>
          </a:prstGeom>
          <a:noFill/>
          <a:ln/>
        </p:spPr>
        <p:txBody>
          <a:bodyPr wrap="none" lIns="0" tIns="0" rIns="0" bIns="0" rtlCol="0" anchor="ctr"/>
          <a:lstStyle/>
          <a:p>
            <a:pPr algn="r" indent="0" marL="0">
              <a:buNone/>
            </a:pPr>
            <a:r>
              <a:rPr lang="en-US" sz="1200" b="1" dirty="0">
                <a:solidFill>
                  <a:srgbClr val="FAF7F0"/>
                </a:solidFill>
                <a:latin typeface="JetBrains Mono" pitchFamily="34" charset="0"/>
                <a:ea typeface="JetBrains Mono" pitchFamily="34" charset="-122"/>
                <a:cs typeface="JetBrains Mono" pitchFamily="34" charset="-120"/>
              </a:rPr>
              <a:t>1.49</a:t>
            </a:r>
            <a:endParaRPr lang="en-US" sz="1200" dirty="0"/>
          </a:p>
        </p:txBody>
      </p:sp>
      <p:sp>
        <p:nvSpPr>
          <p:cNvPr id="75" name="Text 70"/>
          <p:cNvSpPr txBox="1"/>
          <p:nvPr/>
        </p:nvSpPr>
        <p:spPr>
          <a:xfrm>
            <a:off x="13049402" y="5734202"/>
            <a:ext cx="76810"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0</a:t>
            </a:r>
            <a:endParaRPr lang="en-US" sz="975" dirty="0"/>
          </a:p>
        </p:txBody>
      </p:sp>
      <p:sp>
        <p:nvSpPr>
          <p:cNvPr id="76" name="Text 71"/>
          <p:cNvSpPr txBox="1"/>
          <p:nvPr/>
        </p:nvSpPr>
        <p:spPr>
          <a:xfrm>
            <a:off x="13776350" y="5734202"/>
            <a:ext cx="305410"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0.75</a:t>
            </a:r>
            <a:endParaRPr lang="en-US" sz="975" dirty="0"/>
          </a:p>
        </p:txBody>
      </p:sp>
      <p:sp>
        <p:nvSpPr>
          <p:cNvPr id="77" name="Text 72"/>
          <p:cNvSpPr txBox="1"/>
          <p:nvPr/>
        </p:nvSpPr>
        <p:spPr>
          <a:xfrm>
            <a:off x="14725498" y="5734202"/>
            <a:ext cx="305410"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1.50</a:t>
            </a:r>
            <a:endParaRPr lang="en-US" sz="975" dirty="0"/>
          </a:p>
        </p:txBody>
      </p:sp>
      <p:sp>
        <p:nvSpPr>
          <p:cNvPr id="78" name="Text 73"/>
          <p:cNvSpPr txBox="1"/>
          <p:nvPr/>
        </p:nvSpPr>
        <p:spPr>
          <a:xfrm>
            <a:off x="15675559" y="5734202"/>
            <a:ext cx="305410"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2.25</a:t>
            </a:r>
            <a:endParaRPr lang="en-US" sz="975" dirty="0"/>
          </a:p>
        </p:txBody>
      </p:sp>
      <p:sp>
        <p:nvSpPr>
          <p:cNvPr id="79" name="Text 74"/>
          <p:cNvSpPr txBox="1"/>
          <p:nvPr/>
        </p:nvSpPr>
        <p:spPr>
          <a:xfrm>
            <a:off x="16624706" y="5734202"/>
            <a:ext cx="523951"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3.00 nm</a:t>
            </a:r>
            <a:endParaRPr lang="en-US" sz="975" dirty="0"/>
          </a:p>
        </p:txBody>
      </p:sp>
      <p:sp>
        <p:nvSpPr>
          <p:cNvPr id="80" name="Shape 75"/>
          <p:cNvSpPr/>
          <p:nvPr/>
        </p:nvSpPr>
        <p:spPr>
          <a:xfrm>
            <a:off x="13049402" y="6152998"/>
            <a:ext cx="133502" cy="133502"/>
          </a:xfrm>
          <a:prstGeom prst="rect">
            <a:avLst/>
          </a:prstGeom>
          <a:solidFill>
            <a:srgbClr val="2D3848"/>
          </a:solidFill>
          <a:ln w="12700">
            <a:solidFill>
              <a:srgbClr val="FFFFFF">
                <a:alpha val="0"/>
              </a:srgbClr>
            </a:solidFill>
            <a:prstDash val="solid"/>
          </a:ln>
        </p:spPr>
      </p:sp>
      <p:sp>
        <p:nvSpPr>
          <p:cNvPr id="81" name="Text 76"/>
          <p:cNvSpPr txBox="1"/>
          <p:nvPr/>
        </p:nvSpPr>
        <p:spPr>
          <a:xfrm>
            <a:off x="13258800" y="6124651"/>
            <a:ext cx="910742" cy="191110"/>
          </a:xfrm>
          <a:prstGeom prst="rect">
            <a:avLst/>
          </a:prstGeom>
          <a:noFill/>
          <a:ln/>
        </p:spPr>
        <p:txBody>
          <a:bodyPr wrap="none" lIns="0" tIns="0" rIns="0" bIns="0" rtlCol="0" anchor="ctr"/>
          <a:lstStyle/>
          <a:p>
            <a:pPr algn="l" indent="0" marL="0">
              <a:buNone/>
            </a:pPr>
            <a:r>
              <a:rPr lang="en-US" sz="1050" dirty="0">
                <a:solidFill>
                  <a:srgbClr val="FAF7F0"/>
                </a:solidFill>
                <a:latin typeface="Noto Sans KR" pitchFamily="34" charset="0"/>
                <a:ea typeface="Noto Sans KR" pitchFamily="34" charset="-122"/>
                <a:cs typeface="Noto Sans KR" pitchFamily="34" charset="-120"/>
              </a:rPr>
              <a:t>SAQP batch</a:t>
            </a:r>
            <a:endParaRPr lang="en-US" sz="1050" dirty="0"/>
          </a:p>
        </p:txBody>
      </p:sp>
      <p:sp>
        <p:nvSpPr>
          <p:cNvPr id="82" name="Shape 77"/>
          <p:cNvSpPr/>
          <p:nvPr/>
        </p:nvSpPr>
        <p:spPr>
          <a:xfrm>
            <a:off x="14159484" y="6152998"/>
            <a:ext cx="133502" cy="133502"/>
          </a:xfrm>
          <a:prstGeom prst="rect">
            <a:avLst/>
          </a:prstGeom>
          <a:solidFill>
            <a:srgbClr val="E8762E"/>
          </a:solidFill>
          <a:ln w="12700">
            <a:solidFill>
              <a:srgbClr val="FFFFFF">
                <a:alpha val="0"/>
              </a:srgbClr>
            </a:solidFill>
            <a:prstDash val="solid"/>
          </a:ln>
        </p:spPr>
      </p:sp>
      <p:sp>
        <p:nvSpPr>
          <p:cNvPr id="83" name="Text 78"/>
          <p:cNvSpPr txBox="1"/>
          <p:nvPr/>
        </p:nvSpPr>
        <p:spPr>
          <a:xfrm>
            <a:off x="14368882" y="6124651"/>
            <a:ext cx="667512" cy="191110"/>
          </a:xfrm>
          <a:prstGeom prst="rect">
            <a:avLst/>
          </a:prstGeom>
          <a:noFill/>
          <a:ln/>
        </p:spPr>
        <p:txBody>
          <a:bodyPr wrap="none" lIns="0" tIns="0" rIns="0" bIns="0" rtlCol="0" anchor="ctr"/>
          <a:lstStyle/>
          <a:p>
            <a:pPr algn="l" indent="0" marL="0">
              <a:buNone/>
            </a:pPr>
            <a:r>
              <a:rPr lang="en-US" sz="1050" dirty="0">
                <a:solidFill>
                  <a:srgbClr val="FAF7F0"/>
                </a:solidFill>
                <a:latin typeface="Noto Sans KR" pitchFamily="34" charset="0"/>
                <a:ea typeface="Noto Sans KR" pitchFamily="34" charset="-122"/>
                <a:cs typeface="Noto Sans KR" pitchFamily="34" charset="-120"/>
              </a:rPr>
              <a:t>SADP+SAB</a:t>
            </a:r>
            <a:endParaRPr lang="en-US" sz="1050" dirty="0"/>
          </a:p>
        </p:txBody>
      </p:sp>
      <p:pic>
        <p:nvPicPr>
          <p:cNvPr id="84" name="Image 2" descr="gen-dedup-ad2723ed29b08dd6e5ce1a3e0b742bc8.png">    </p:cNvPr>
          <p:cNvPicPr>
            <a:picLocks noChangeAspect="1"/>
          </p:cNvPicPr>
          <p:nvPr/>
        </p:nvPicPr>
        <p:blipFill>
          <a:blip r:embed="rId3"/>
          <a:srcRect l="0" r="0" t="-49" b="-49"/>
          <a:stretch/>
        </p:blipFill>
        <p:spPr>
          <a:xfrm>
            <a:off x="13735202" y="3957523"/>
            <a:ext cx="2686507" cy="133502"/>
          </a:xfrm>
          <a:prstGeom prst="rect">
            <a:avLst/>
          </a:prstGeom>
        </p:spPr>
      </p:pic>
      <p:pic>
        <p:nvPicPr>
          <p:cNvPr id="85" name="Image 3" descr="gen-dedup-6271a43efc90307c59e0c75c37d9fde4.png">    </p:cNvPr>
          <p:cNvPicPr>
            <a:picLocks noChangeAspect="1"/>
          </p:cNvPicPr>
          <p:nvPr/>
        </p:nvPicPr>
        <p:blipFill>
          <a:blip r:embed="rId4"/>
          <a:srcRect l="0" r="0" t="-66" b="-66"/>
          <a:stretch/>
        </p:blipFill>
        <p:spPr>
          <a:xfrm>
            <a:off x="13735202" y="3957523"/>
            <a:ext cx="2255825" cy="133502"/>
          </a:xfrm>
          <a:prstGeom prst="rect">
            <a:avLst/>
          </a:prstGeom>
        </p:spPr>
      </p:pic>
      <p:pic>
        <p:nvPicPr>
          <p:cNvPr id="86" name="Image 4" descr="gen-dedup-ad2723ed29b08dd6e5ce1a3e0b742bc8.png">    </p:cNvPr>
          <p:cNvPicPr>
            <a:picLocks noChangeAspect="1"/>
          </p:cNvPicPr>
          <p:nvPr/>
        </p:nvPicPr>
        <p:blipFill>
          <a:blip r:embed="rId5"/>
          <a:srcRect l="0" r="0" t="-49" b="-49"/>
          <a:stretch/>
        </p:blipFill>
        <p:spPr>
          <a:xfrm>
            <a:off x="13735202" y="4233672"/>
            <a:ext cx="2686507" cy="133502"/>
          </a:xfrm>
          <a:prstGeom prst="rect">
            <a:avLst/>
          </a:prstGeom>
        </p:spPr>
      </p:pic>
      <p:pic>
        <p:nvPicPr>
          <p:cNvPr id="87" name="Image 5" descr="gen-dedup-3e08a42b1c34329b05498f3e5bdb4c83.png">    </p:cNvPr>
          <p:cNvPicPr>
            <a:picLocks noChangeAspect="1"/>
          </p:cNvPicPr>
          <p:nvPr/>
        </p:nvPicPr>
        <p:blipFill>
          <a:blip r:embed="rId6"/>
          <a:srcRect l="0" r="0" t="-67" b="-67"/>
          <a:stretch/>
        </p:blipFill>
        <p:spPr>
          <a:xfrm>
            <a:off x="13735202" y="4233672"/>
            <a:ext cx="2121408" cy="133502"/>
          </a:xfrm>
          <a:prstGeom prst="rect">
            <a:avLst/>
          </a:prstGeom>
        </p:spPr>
      </p:pic>
      <p:pic>
        <p:nvPicPr>
          <p:cNvPr id="88" name="Image 6" descr="gen-dedup-ad2723ed29b08dd6e5ce1a3e0b742bc8.png">    </p:cNvPr>
          <p:cNvPicPr>
            <a:picLocks noChangeAspect="1"/>
          </p:cNvPicPr>
          <p:nvPr/>
        </p:nvPicPr>
        <p:blipFill>
          <a:blip r:embed="rId7"/>
          <a:srcRect l="0" r="0" t="-49" b="-49"/>
          <a:stretch/>
        </p:blipFill>
        <p:spPr>
          <a:xfrm>
            <a:off x="13735202" y="4509821"/>
            <a:ext cx="2686507" cy="133502"/>
          </a:xfrm>
          <a:prstGeom prst="rect">
            <a:avLst/>
          </a:prstGeom>
        </p:spPr>
      </p:pic>
      <p:pic>
        <p:nvPicPr>
          <p:cNvPr id="89" name="Image 7" descr="gen-dedup-e6bc62bf075b06980168b8d642cf1cde.png">    </p:cNvPr>
          <p:cNvPicPr>
            <a:picLocks noChangeAspect="1"/>
          </p:cNvPicPr>
          <p:nvPr/>
        </p:nvPicPr>
        <p:blipFill>
          <a:blip r:embed="rId8"/>
          <a:srcRect l="0" r="0" t="-58" b="-58"/>
          <a:stretch/>
        </p:blipFill>
        <p:spPr>
          <a:xfrm>
            <a:off x="13735202" y="4509821"/>
            <a:ext cx="2659075" cy="133502"/>
          </a:xfrm>
          <a:prstGeom prst="rect">
            <a:avLst/>
          </a:prstGeom>
        </p:spPr>
      </p:pic>
      <p:pic>
        <p:nvPicPr>
          <p:cNvPr id="90" name="Image 8" descr="gen-dedup-ad2723ed29b08dd6e5ce1a3e0b742bc8.png">    </p:cNvPr>
          <p:cNvPicPr>
            <a:picLocks noChangeAspect="1"/>
          </p:cNvPicPr>
          <p:nvPr/>
        </p:nvPicPr>
        <p:blipFill>
          <a:blip r:embed="rId9"/>
          <a:srcRect l="0" r="0" t="-49" b="-49"/>
          <a:stretch/>
        </p:blipFill>
        <p:spPr>
          <a:xfrm>
            <a:off x="13735202" y="4785970"/>
            <a:ext cx="2686507" cy="133502"/>
          </a:xfrm>
          <a:prstGeom prst="rect">
            <a:avLst/>
          </a:prstGeom>
        </p:spPr>
      </p:pic>
      <p:pic>
        <p:nvPicPr>
          <p:cNvPr id="91" name="Image 9" descr="gen-dedup-02a87cc0011cc2a4dabf0e45976aef2b.png">    </p:cNvPr>
          <p:cNvPicPr>
            <a:picLocks noChangeAspect="1"/>
          </p:cNvPicPr>
          <p:nvPr/>
        </p:nvPicPr>
        <p:blipFill>
          <a:blip r:embed="rId10"/>
          <a:srcRect l="0" r="0" t="-48" b="-48"/>
          <a:stretch/>
        </p:blipFill>
        <p:spPr>
          <a:xfrm>
            <a:off x="13735202" y="4785970"/>
            <a:ext cx="1773022" cy="133502"/>
          </a:xfrm>
          <a:prstGeom prst="rect">
            <a:avLst/>
          </a:prstGeom>
        </p:spPr>
      </p:pic>
      <p:pic>
        <p:nvPicPr>
          <p:cNvPr id="92" name="Image 10" descr="gen-dedup-ad2723ed29b08dd6e5ce1a3e0b742bc8.png">    </p:cNvPr>
          <p:cNvPicPr>
            <a:picLocks noChangeAspect="1"/>
          </p:cNvPicPr>
          <p:nvPr/>
        </p:nvPicPr>
        <p:blipFill>
          <a:blip r:embed="rId11"/>
          <a:srcRect l="0" r="0" t="-49" b="-49"/>
          <a:stretch/>
        </p:blipFill>
        <p:spPr>
          <a:xfrm>
            <a:off x="13735202" y="5062118"/>
            <a:ext cx="2686507" cy="133502"/>
          </a:xfrm>
          <a:prstGeom prst="rect">
            <a:avLst/>
          </a:prstGeom>
        </p:spPr>
      </p:pic>
      <p:pic>
        <p:nvPicPr>
          <p:cNvPr id="93" name="Image 11" descr="gen-dedup-ea9656cdf90456e8e82c3f2884239b85.png">    </p:cNvPr>
          <p:cNvPicPr>
            <a:picLocks noChangeAspect="1"/>
          </p:cNvPicPr>
          <p:nvPr/>
        </p:nvPicPr>
        <p:blipFill>
          <a:blip r:embed="rId12"/>
          <a:srcRect l="0" r="0" t="-46" b="-46"/>
          <a:stretch/>
        </p:blipFill>
        <p:spPr>
          <a:xfrm>
            <a:off x="13735202" y="5062118"/>
            <a:ext cx="1558138" cy="133502"/>
          </a:xfrm>
          <a:prstGeom prst="rect">
            <a:avLst/>
          </a:prstGeom>
        </p:spPr>
      </p:pic>
      <p:pic>
        <p:nvPicPr>
          <p:cNvPr id="94" name="Image 12" descr="gen-dedup-ad2723ed29b08dd6e5ce1a3e0b742bc8.png">    </p:cNvPr>
          <p:cNvPicPr>
            <a:picLocks noChangeAspect="1"/>
          </p:cNvPicPr>
          <p:nvPr/>
        </p:nvPicPr>
        <p:blipFill>
          <a:blip r:embed="rId13"/>
          <a:srcRect l="0" r="0" t="-49" b="-49"/>
          <a:stretch/>
        </p:blipFill>
        <p:spPr>
          <a:xfrm>
            <a:off x="13735202" y="5339182"/>
            <a:ext cx="2686507" cy="133502"/>
          </a:xfrm>
          <a:prstGeom prst="rect">
            <a:avLst/>
          </a:prstGeom>
        </p:spPr>
      </p:pic>
      <p:pic>
        <p:nvPicPr>
          <p:cNvPr id="95" name="Image 13" descr="gen-dedup-0df682db76ddae1509907c225bfb685c.png">    </p:cNvPr>
          <p:cNvPicPr>
            <a:picLocks noChangeAspect="1"/>
          </p:cNvPicPr>
          <p:nvPr/>
        </p:nvPicPr>
        <p:blipFill>
          <a:blip r:embed="rId14"/>
          <a:srcRect l="0" r="0" t="-60" b="-60"/>
          <a:stretch/>
        </p:blipFill>
        <p:spPr>
          <a:xfrm>
            <a:off x="13735202" y="5339182"/>
            <a:ext cx="1450238" cy="133502"/>
          </a:xfrm>
          <a:prstGeom prst="rect">
            <a:avLst/>
          </a:prstGeom>
        </p:spPr>
      </p:pic>
      <p:sp>
        <p:nvSpPr>
          <p:cNvPr id="96" name="Text 79"/>
          <p:cNvSpPr txBox="1"/>
          <p:nvPr/>
        </p:nvSpPr>
        <p:spPr>
          <a:xfrm>
            <a:off x="952805" y="9696298"/>
            <a:ext cx="16383305" cy="210312"/>
          </a:xfrm>
          <a:prstGeom prst="rect">
            <a:avLst/>
          </a:prstGeom>
          <a:noFill/>
          <a:ln/>
        </p:spPr>
        <p:txBody>
          <a:bodyPr wrap="none" lIns="0" tIns="0" rIns="0" bIns="0" rtlCol="0" anchor="ctr"/>
          <a:lstStyle/>
          <a:p>
            <a:pPr algn="l" indent="0" marL="0">
              <a:buNone/>
            </a:pPr>
            <a:r>
              <a:rPr lang="en-US" sz="1125" b="1" spc="56" kern="0" dirty="0">
                <a:solidFill>
                  <a:srgbClr val="6B6358"/>
                </a:solidFill>
                <a:latin typeface="JetBrains Mono" pitchFamily="34" charset="0"/>
                <a:ea typeface="JetBrains Mono" pitchFamily="34" charset="-122"/>
                <a:cs typeface="JetBrains Mono" pitchFamily="34" charset="-120"/>
              </a:rPr>
              <a:t>※ 내부 테스트용 더미(가상) 데이터</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DE5"/>
        </a:solidFill>
      </p:bgPr>
    </p:bg>
    <p:spTree>
      <p:nvGrpSpPr>
        <p:cNvPr id="1" name=""/>
        <p:cNvGrpSpPr/>
        <p:nvPr/>
      </p:nvGrpSpPr>
      <p:grpSpPr>
        <a:xfrm>
          <a:off x="0" y="0"/>
          <a:ext cx="0" cy="0"/>
          <a:chOff x="0" y="0"/>
          <a:chExt cx="0" cy="0"/>
        </a:xfrm>
      </p:grpSpPr>
      <p:sp>
        <p:nvSpPr>
          <p:cNvPr id="3" name="Shape 0"/>
          <p:cNvSpPr/>
          <p:nvPr/>
        </p:nvSpPr>
        <p:spPr>
          <a:xfrm>
            <a:off x="12763195" y="2933395"/>
            <a:ext cx="4572000" cy="5905195"/>
          </a:xfrm>
          <a:prstGeom prst="rect">
            <a:avLst/>
          </a:prstGeom>
          <a:solidFill>
            <a:srgbClr val="1A1F2C"/>
          </a:solidFill>
          <a:ln w="12700">
            <a:solidFill>
              <a:srgbClr val="FFFFFF">
                <a:alpha val="0"/>
              </a:srgbClr>
            </a:solidFill>
            <a:prstDash val="solid"/>
          </a:ln>
        </p:spPr>
      </p:sp>
      <p:sp>
        <p:nvSpPr>
          <p:cNvPr id="4" name="Shape 1"/>
          <p:cNvSpPr/>
          <p:nvPr/>
        </p:nvSpPr>
        <p:spPr>
          <a:xfrm>
            <a:off x="15430500" y="1123798"/>
            <a:ext cx="1904695" cy="1143000"/>
          </a:xfrm>
          <a:prstGeom prst="rect">
            <a:avLst/>
          </a:prstGeom>
          <a:solidFill>
            <a:srgbClr val="E8762E"/>
          </a:solidFill>
          <a:ln w="12700">
            <a:solidFill>
              <a:srgbClr val="FFFFFF">
                <a:alpha val="0"/>
              </a:srgbClr>
            </a:solidFill>
            <a:prstDash val="solid"/>
          </a:ln>
        </p:spPr>
      </p:sp>
      <p:pic>
        <p:nvPicPr>
          <p:cNvPr id="5" name="Image 0" descr="gen-dedup-2099a3bfbc4ccb2a003e58cbd4e0ecb7.png">    </p:cNvPr>
          <p:cNvPicPr>
            <a:picLocks noChangeAspect="1"/>
          </p:cNvPicPr>
          <p:nvPr/>
        </p:nvPicPr>
        <p:blipFill>
          <a:blip r:embed="rId1"/>
          <a:srcRect l="0" r="0" t="-400" b="-400"/>
          <a:stretch/>
        </p:blipFill>
        <p:spPr>
          <a:xfrm>
            <a:off x="12763195" y="2933395"/>
            <a:ext cx="4572000" cy="57607"/>
          </a:xfrm>
          <a:prstGeom prst="rect">
            <a:avLst/>
          </a:prstGeom>
        </p:spPr>
      </p:pic>
      <p:pic>
        <p:nvPicPr>
          <p:cNvPr id="6" name="Image 1" descr="gen-dedup-10712ba9506011557717463f803e9fbb.png">    </p:cNvPr>
          <p:cNvPicPr>
            <a:picLocks noChangeAspect="1"/>
          </p:cNvPicPr>
          <p:nvPr/>
        </p:nvPicPr>
        <p:blipFill>
          <a:blip r:embed="rId2"/>
          <a:srcRect l="0" r="0" t="-375" b="-375"/>
          <a:stretch/>
        </p:blipFill>
        <p:spPr>
          <a:xfrm>
            <a:off x="952805" y="838505"/>
            <a:ext cx="609905" cy="57607"/>
          </a:xfrm>
          <a:prstGeom prst="rect">
            <a:avLst/>
          </a:prstGeom>
        </p:spPr>
      </p:pic>
      <p:sp>
        <p:nvSpPr>
          <p:cNvPr id="7" name="Text 2"/>
          <p:cNvSpPr txBox="1"/>
          <p:nvPr/>
        </p:nvSpPr>
        <p:spPr>
          <a:xfrm>
            <a:off x="952805" y="1123798"/>
            <a:ext cx="10478110" cy="600761"/>
          </a:xfrm>
          <a:prstGeom prst="rect">
            <a:avLst/>
          </a:prstGeom>
          <a:noFill/>
          <a:ln/>
        </p:spPr>
        <p:txBody>
          <a:bodyPr wrap="none" lIns="0" tIns="0" rIns="0" bIns="0" rtlCol="0" anchor="ctr"/>
          <a:lstStyle/>
          <a:p>
            <a:pPr algn="l" indent="0" marL="0">
              <a:buNone/>
            </a:pPr>
            <a:r>
              <a:rPr lang="en-US" sz="4500" b="1" spc="-45" kern="0" dirty="0">
                <a:solidFill>
                  <a:srgbClr val="1A1F2C"/>
                </a:solidFill>
                <a:latin typeface="Noto Sans KR" pitchFamily="34" charset="0"/>
                <a:ea typeface="Noto Sans KR" pitchFamily="34" charset="-122"/>
                <a:cs typeface="Noto Sans KR" pitchFamily="34" charset="-120"/>
              </a:rPr>
              <a:t>ASEI CD Variation</a:t>
            </a:r>
            <a:endParaRPr lang="en-US" sz="4500" dirty="0"/>
          </a:p>
        </p:txBody>
      </p:sp>
      <p:sp>
        <p:nvSpPr>
          <p:cNvPr id="8" name="Text 3"/>
          <p:cNvSpPr txBox="1"/>
          <p:nvPr/>
        </p:nvSpPr>
        <p:spPr>
          <a:xfrm>
            <a:off x="952805" y="1857146"/>
            <a:ext cx="11163910" cy="295351"/>
          </a:xfrm>
          <a:prstGeom prst="rect">
            <a:avLst/>
          </a:prstGeom>
          <a:noFill/>
          <a:ln/>
        </p:spPr>
        <p:txBody>
          <a:bodyPr wrap="none" lIns="0" tIns="0" rIns="0" bIns="0" rtlCol="0" anchor="ctr"/>
          <a:lstStyle/>
          <a:p>
            <a:pPr algn="l" indent="0" marL="0">
              <a:buNone/>
            </a:pPr>
            <a:r>
              <a:rPr lang="en-US" sz="1650" dirty="0">
                <a:solidFill>
                  <a:srgbClr val="5C5448"/>
                </a:solidFill>
                <a:latin typeface="Noto Sans KR" pitchFamily="34" charset="0"/>
                <a:ea typeface="Noto Sans KR" pitchFamily="34" charset="-122"/>
                <a:cs typeface="Noto Sans KR" pitchFamily="34" charset="-120"/>
              </a:rPr>
              <a:t>spacer etch-back 완료 후 mandrel pull 직전의 spacer CD · 두 batch의 3σ 격차가 더 분명해지는 단계</a:t>
            </a:r>
            <a:endParaRPr lang="en-US" sz="1650" dirty="0"/>
          </a:p>
        </p:txBody>
      </p:sp>
      <p:sp>
        <p:nvSpPr>
          <p:cNvPr id="9" name="Text 4"/>
          <p:cNvSpPr txBox="1"/>
          <p:nvPr/>
        </p:nvSpPr>
        <p:spPr>
          <a:xfrm>
            <a:off x="15430500" y="1123798"/>
            <a:ext cx="1905610" cy="342900"/>
          </a:xfrm>
          <a:prstGeom prst="rect">
            <a:avLst/>
          </a:prstGeom>
          <a:noFill/>
          <a:ln/>
        </p:spPr>
        <p:txBody>
          <a:bodyPr wrap="none" lIns="0" tIns="0" rIns="0" bIns="0" rtlCol="0" anchor="ctr"/>
          <a:lstStyle/>
          <a:p>
            <a:pPr algn="ctr" indent="0" marL="0">
              <a:buNone/>
            </a:pPr>
            <a:r>
              <a:rPr lang="en-US" sz="1050" b="1" spc="210" kern="0" dirty="0">
                <a:solidFill>
                  <a:srgbClr val="FFE2C9"/>
                </a:solidFill>
                <a:latin typeface="JetBrains Mono" pitchFamily="34" charset="0"/>
                <a:ea typeface="JetBrains Mono" pitchFamily="34" charset="-122"/>
                <a:cs typeface="JetBrains Mono" pitchFamily="34" charset="-120"/>
              </a:rPr>
              <a:t>TARGET</a:t>
            </a:r>
            <a:endParaRPr lang="en-US" sz="1050" dirty="0"/>
          </a:p>
        </p:txBody>
      </p:sp>
      <p:sp>
        <p:nvSpPr>
          <p:cNvPr id="10" name="Text 5"/>
          <p:cNvSpPr txBox="1"/>
          <p:nvPr/>
        </p:nvSpPr>
        <p:spPr>
          <a:xfrm>
            <a:off x="15430500" y="1524305"/>
            <a:ext cx="1905610" cy="676656"/>
          </a:xfrm>
          <a:prstGeom prst="rect">
            <a:avLst/>
          </a:prstGeom>
          <a:noFill/>
          <a:ln/>
        </p:spPr>
        <p:txBody>
          <a:bodyPr wrap="none" lIns="0" tIns="0" rIns="0" bIns="0" rtlCol="0" anchor="ctr"/>
          <a:lstStyle/>
          <a:p>
            <a:pPr algn="ctr" indent="0" marL="0">
              <a:buNone/>
            </a:pPr>
            <a:r>
              <a:rPr lang="en-US" sz="4050" b="1" dirty="0">
                <a:solidFill>
                  <a:srgbClr val="FFFFFF"/>
                </a:solidFill>
                <a:latin typeface="JetBrains Mono" pitchFamily="34" charset="0"/>
                <a:ea typeface="JetBrains Mono" pitchFamily="34" charset="-122"/>
                <a:cs typeface="JetBrains Mono" pitchFamily="34" charset="-120"/>
              </a:rPr>
              <a:t>16.5</a:t>
            </a:r>
            <a:endParaRPr lang="en-US" sz="4050" dirty="0"/>
          </a:p>
        </p:txBody>
      </p:sp>
      <p:sp>
        <p:nvSpPr>
          <p:cNvPr id="11" name="Text 6"/>
          <p:cNvSpPr txBox="1"/>
          <p:nvPr/>
        </p:nvSpPr>
        <p:spPr>
          <a:xfrm>
            <a:off x="15430500" y="2200046"/>
            <a:ext cx="1905610" cy="191110"/>
          </a:xfrm>
          <a:prstGeom prst="rect">
            <a:avLst/>
          </a:prstGeom>
          <a:noFill/>
          <a:ln/>
        </p:spPr>
        <p:txBody>
          <a:bodyPr wrap="none" lIns="0" tIns="0" rIns="0" bIns="0" rtlCol="0" anchor="ctr"/>
          <a:lstStyle/>
          <a:p>
            <a:pPr algn="ctr" indent="0" marL="0">
              <a:buNone/>
            </a:pPr>
            <a:r>
              <a:rPr lang="en-US" sz="1050" b="1" dirty="0">
                <a:solidFill>
                  <a:srgbClr val="FFE2C9"/>
                </a:solidFill>
                <a:latin typeface="Noto Sans KR" pitchFamily="34" charset="0"/>
                <a:ea typeface="Noto Sans KR" pitchFamily="34" charset="-122"/>
                <a:cs typeface="Noto Sans KR" pitchFamily="34" charset="-120"/>
              </a:rPr>
              <a:t>nm</a:t>
            </a:r>
            <a:endParaRPr lang="en-US" sz="1050" dirty="0"/>
          </a:p>
        </p:txBody>
      </p:sp>
      <p:sp>
        <p:nvSpPr>
          <p:cNvPr id="12" name="Shape 7"/>
          <p:cNvSpPr/>
          <p:nvPr/>
        </p:nvSpPr>
        <p:spPr>
          <a:xfrm>
            <a:off x="952805" y="2933395"/>
            <a:ext cx="11430000" cy="609905"/>
          </a:xfrm>
          <a:prstGeom prst="rect">
            <a:avLst/>
          </a:prstGeom>
          <a:solidFill>
            <a:srgbClr val="1A1F2C"/>
          </a:solidFill>
          <a:ln w="12700">
            <a:solidFill>
              <a:srgbClr val="FFFFFF">
                <a:alpha val="0"/>
              </a:srgbClr>
            </a:solidFill>
            <a:prstDash val="solid"/>
          </a:ln>
        </p:spPr>
      </p:sp>
      <p:sp>
        <p:nvSpPr>
          <p:cNvPr id="13" name="Text 8"/>
          <p:cNvSpPr txBox="1"/>
          <p:nvPr/>
        </p:nvSpPr>
        <p:spPr>
          <a:xfrm>
            <a:off x="952805" y="2933395"/>
            <a:ext cx="1619402" cy="609905"/>
          </a:xfrm>
          <a:prstGeom prst="rect">
            <a:avLst/>
          </a:prstGeom>
          <a:noFill/>
          <a:ln/>
        </p:spPr>
        <p:txBody>
          <a:bodyPr wrap="square" lIns="0" tIns="0" rIns="0" bIns="0" rtlCol="0" anchor="ctr"/>
          <a:lstStyle/>
          <a:p>
            <a:pPr algn="l" indent="0" marL="0">
              <a:buNone/>
            </a:pPr>
            <a:r>
              <a:rPr lang="en-US" sz="1500" b="1" spc="180" kern="0" dirty="0">
                <a:solidFill>
                  <a:srgbClr val="E8762E"/>
                </a:solidFill>
                <a:latin typeface="Noto Sans KR" pitchFamily="34" charset="0"/>
                <a:ea typeface="Noto Sans KR" pitchFamily="34" charset="-122"/>
                <a:cs typeface="Noto Sans KR" pitchFamily="34" charset="-120"/>
              </a:rPr>
              <a:t>WAFER</a:t>
            </a:r>
            <a:endParaRPr lang="en-US" sz="1500" dirty="0"/>
          </a:p>
        </p:txBody>
      </p:sp>
      <p:sp>
        <p:nvSpPr>
          <p:cNvPr id="14" name="Text 9"/>
          <p:cNvSpPr txBox="1"/>
          <p:nvPr/>
        </p:nvSpPr>
        <p:spPr>
          <a:xfrm>
            <a:off x="2572207" y="2933395"/>
            <a:ext cx="2190902" cy="609905"/>
          </a:xfrm>
          <a:prstGeom prst="rect">
            <a:avLst/>
          </a:prstGeom>
          <a:noFill/>
          <a:ln/>
        </p:spPr>
        <p:txBody>
          <a:bodyPr wrap="square" lIns="0" tIns="0" rIns="0" bIns="0" rtlCol="0" anchor="ctr"/>
          <a:lstStyle/>
          <a:p>
            <a:pPr algn="l" indent="0" marL="0">
              <a:buNone/>
            </a:pPr>
            <a:r>
              <a:rPr lang="en-US" sz="1500" b="1" spc="180" kern="0" dirty="0">
                <a:solidFill>
                  <a:srgbClr val="E8762E"/>
                </a:solidFill>
                <a:latin typeface="Noto Sans KR" pitchFamily="34" charset="0"/>
                <a:ea typeface="Noto Sans KR" pitchFamily="34" charset="-122"/>
                <a:cs typeface="Noto Sans KR" pitchFamily="34" charset="-120"/>
              </a:rPr>
              <a:t>PROCESS</a:t>
            </a:r>
            <a:endParaRPr lang="en-US" sz="1500" dirty="0"/>
          </a:p>
        </p:txBody>
      </p:sp>
      <p:sp>
        <p:nvSpPr>
          <p:cNvPr id="15" name="Text 10"/>
          <p:cNvSpPr txBox="1"/>
          <p:nvPr/>
        </p:nvSpPr>
        <p:spPr>
          <a:xfrm>
            <a:off x="4762195"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MEAN</a:t>
            </a:r>
            <a:endParaRPr lang="en-US" sz="1500" dirty="0"/>
          </a:p>
        </p:txBody>
      </p:sp>
      <p:sp>
        <p:nvSpPr>
          <p:cNvPr id="16" name="Text 11"/>
          <p:cNvSpPr txBox="1"/>
          <p:nvPr/>
        </p:nvSpPr>
        <p:spPr>
          <a:xfrm>
            <a:off x="6667805"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3σ</a:t>
            </a:r>
            <a:endParaRPr lang="en-US" sz="1500" dirty="0"/>
          </a:p>
        </p:txBody>
      </p:sp>
      <p:sp>
        <p:nvSpPr>
          <p:cNvPr id="17" name="Text 12"/>
          <p:cNvSpPr txBox="1"/>
          <p:nvPr/>
        </p:nvSpPr>
        <p:spPr>
          <a:xfrm>
            <a:off x="8572500"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RANGE</a:t>
            </a:r>
            <a:endParaRPr lang="en-US" sz="1500" dirty="0"/>
          </a:p>
        </p:txBody>
      </p:sp>
      <p:sp>
        <p:nvSpPr>
          <p:cNvPr id="18" name="Text 13"/>
          <p:cNvSpPr txBox="1"/>
          <p:nvPr/>
        </p:nvSpPr>
        <p:spPr>
          <a:xfrm>
            <a:off x="10477195"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Δ vs TGT</a:t>
            </a:r>
            <a:endParaRPr lang="en-US" sz="1500" dirty="0"/>
          </a:p>
        </p:txBody>
      </p:sp>
      <p:sp>
        <p:nvSpPr>
          <p:cNvPr id="19" name="Shape 14"/>
          <p:cNvSpPr/>
          <p:nvPr/>
        </p:nvSpPr>
        <p:spPr>
          <a:xfrm>
            <a:off x="952805" y="3543300"/>
            <a:ext cx="11430000" cy="800100"/>
          </a:xfrm>
          <a:prstGeom prst="rect">
            <a:avLst/>
          </a:prstGeom>
          <a:solidFill>
            <a:srgbClr val="FBF7EF"/>
          </a:solidFill>
          <a:ln w="12700">
            <a:solidFill>
              <a:srgbClr val="FFFFFF">
                <a:alpha val="0"/>
              </a:srgbClr>
            </a:solidFill>
            <a:prstDash val="solid"/>
          </a:ln>
        </p:spPr>
      </p:sp>
      <p:sp>
        <p:nvSpPr>
          <p:cNvPr id="20" name="Text 15"/>
          <p:cNvSpPr txBox="1"/>
          <p:nvPr/>
        </p:nvSpPr>
        <p:spPr>
          <a:xfrm>
            <a:off x="952805" y="35433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W01</a:t>
            </a:r>
            <a:endParaRPr lang="en-US" sz="1950" dirty="0"/>
          </a:p>
        </p:txBody>
      </p:sp>
      <p:sp>
        <p:nvSpPr>
          <p:cNvPr id="21" name="Text 16"/>
          <p:cNvSpPr txBox="1"/>
          <p:nvPr/>
        </p:nvSpPr>
        <p:spPr>
          <a:xfrm>
            <a:off x="4762195"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16.61</a:t>
            </a:r>
            <a:endParaRPr lang="en-US" sz="1950" dirty="0"/>
          </a:p>
        </p:txBody>
      </p:sp>
      <p:sp>
        <p:nvSpPr>
          <p:cNvPr id="22" name="Text 17"/>
          <p:cNvSpPr txBox="1"/>
          <p:nvPr/>
        </p:nvSpPr>
        <p:spPr>
          <a:xfrm>
            <a:off x="6667805"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0.42</a:t>
            </a:r>
            <a:endParaRPr lang="en-US" sz="1950" dirty="0"/>
          </a:p>
        </p:txBody>
      </p:sp>
      <p:sp>
        <p:nvSpPr>
          <p:cNvPr id="23" name="Text 18"/>
          <p:cNvSpPr txBox="1"/>
          <p:nvPr/>
        </p:nvSpPr>
        <p:spPr>
          <a:xfrm>
            <a:off x="8572500"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1.28</a:t>
            </a:r>
            <a:endParaRPr lang="en-US" sz="1950" dirty="0"/>
          </a:p>
        </p:txBody>
      </p:sp>
      <p:sp>
        <p:nvSpPr>
          <p:cNvPr id="24" name="Text 19"/>
          <p:cNvSpPr txBox="1"/>
          <p:nvPr/>
        </p:nvSpPr>
        <p:spPr>
          <a:xfrm>
            <a:off x="10477195" y="3543300"/>
            <a:ext cx="1905610" cy="80010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+0.11</a:t>
            </a:r>
            <a:endParaRPr lang="en-US" sz="1950" dirty="0"/>
          </a:p>
        </p:txBody>
      </p:sp>
      <p:sp>
        <p:nvSpPr>
          <p:cNvPr id="25" name="Shape 20"/>
          <p:cNvSpPr/>
          <p:nvPr/>
        </p:nvSpPr>
        <p:spPr>
          <a:xfrm>
            <a:off x="952805" y="4343400"/>
            <a:ext cx="11430000" cy="800100"/>
          </a:xfrm>
          <a:prstGeom prst="rect">
            <a:avLst/>
          </a:prstGeom>
          <a:solidFill>
            <a:srgbClr val="F4ECDC"/>
          </a:solidFill>
          <a:ln w="12700">
            <a:solidFill>
              <a:srgbClr val="FFFFFF">
                <a:alpha val="0"/>
              </a:srgbClr>
            </a:solidFill>
            <a:prstDash val="solid"/>
          </a:ln>
        </p:spPr>
      </p:sp>
      <p:sp>
        <p:nvSpPr>
          <p:cNvPr id="26" name="Text 21"/>
          <p:cNvSpPr txBox="1"/>
          <p:nvPr/>
        </p:nvSpPr>
        <p:spPr>
          <a:xfrm>
            <a:off x="952805" y="43434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W02</a:t>
            </a:r>
            <a:endParaRPr lang="en-US" sz="1950" dirty="0"/>
          </a:p>
        </p:txBody>
      </p:sp>
      <p:sp>
        <p:nvSpPr>
          <p:cNvPr id="27" name="Text 22"/>
          <p:cNvSpPr txBox="1"/>
          <p:nvPr/>
        </p:nvSpPr>
        <p:spPr>
          <a:xfrm>
            <a:off x="4762195"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16.55</a:t>
            </a:r>
            <a:endParaRPr lang="en-US" sz="1950" dirty="0"/>
          </a:p>
        </p:txBody>
      </p:sp>
      <p:sp>
        <p:nvSpPr>
          <p:cNvPr id="28" name="Text 23"/>
          <p:cNvSpPr txBox="1"/>
          <p:nvPr/>
        </p:nvSpPr>
        <p:spPr>
          <a:xfrm>
            <a:off x="6667805"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0.39</a:t>
            </a:r>
            <a:endParaRPr lang="en-US" sz="1950" dirty="0"/>
          </a:p>
        </p:txBody>
      </p:sp>
      <p:sp>
        <p:nvSpPr>
          <p:cNvPr id="29" name="Text 24"/>
          <p:cNvSpPr txBox="1"/>
          <p:nvPr/>
        </p:nvSpPr>
        <p:spPr>
          <a:xfrm>
            <a:off x="8572500"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1.21</a:t>
            </a:r>
            <a:endParaRPr lang="en-US" sz="1950" dirty="0"/>
          </a:p>
        </p:txBody>
      </p:sp>
      <p:sp>
        <p:nvSpPr>
          <p:cNvPr id="30" name="Text 25"/>
          <p:cNvSpPr txBox="1"/>
          <p:nvPr/>
        </p:nvSpPr>
        <p:spPr>
          <a:xfrm>
            <a:off x="10477195" y="4343400"/>
            <a:ext cx="1905610" cy="80010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+0.05</a:t>
            </a:r>
            <a:endParaRPr lang="en-US" sz="1950" dirty="0"/>
          </a:p>
        </p:txBody>
      </p:sp>
      <p:sp>
        <p:nvSpPr>
          <p:cNvPr id="31" name="Shape 26"/>
          <p:cNvSpPr/>
          <p:nvPr/>
        </p:nvSpPr>
        <p:spPr>
          <a:xfrm>
            <a:off x="952805" y="5143500"/>
            <a:ext cx="11430000" cy="800100"/>
          </a:xfrm>
          <a:prstGeom prst="rect">
            <a:avLst/>
          </a:prstGeom>
          <a:solidFill>
            <a:srgbClr val="FBF7EF"/>
          </a:solidFill>
          <a:ln w="12700">
            <a:solidFill>
              <a:srgbClr val="FFFFFF">
                <a:alpha val="0"/>
              </a:srgbClr>
            </a:solidFill>
            <a:prstDash val="solid"/>
          </a:ln>
        </p:spPr>
      </p:sp>
      <p:sp>
        <p:nvSpPr>
          <p:cNvPr id="32" name="Text 27"/>
          <p:cNvSpPr txBox="1"/>
          <p:nvPr/>
        </p:nvSpPr>
        <p:spPr>
          <a:xfrm>
            <a:off x="952805" y="51435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W03</a:t>
            </a:r>
            <a:endParaRPr lang="en-US" sz="1950" dirty="0"/>
          </a:p>
        </p:txBody>
      </p:sp>
      <p:sp>
        <p:nvSpPr>
          <p:cNvPr id="33" name="Text 28"/>
          <p:cNvSpPr txBox="1"/>
          <p:nvPr/>
        </p:nvSpPr>
        <p:spPr>
          <a:xfrm>
            <a:off x="4762195" y="51435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16.71</a:t>
            </a:r>
            <a:endParaRPr lang="en-US" sz="1950" dirty="0"/>
          </a:p>
        </p:txBody>
      </p:sp>
      <p:sp>
        <p:nvSpPr>
          <p:cNvPr id="34" name="Text 29"/>
          <p:cNvSpPr txBox="1"/>
          <p:nvPr/>
        </p:nvSpPr>
        <p:spPr>
          <a:xfrm>
            <a:off x="6667805" y="51435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0.51</a:t>
            </a:r>
            <a:endParaRPr lang="en-US" sz="1950" dirty="0"/>
          </a:p>
        </p:txBody>
      </p:sp>
      <p:sp>
        <p:nvSpPr>
          <p:cNvPr id="35" name="Text 30"/>
          <p:cNvSpPr txBox="1"/>
          <p:nvPr/>
        </p:nvSpPr>
        <p:spPr>
          <a:xfrm>
            <a:off x="8572500" y="51435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1.55</a:t>
            </a:r>
            <a:endParaRPr lang="en-US" sz="1950" dirty="0"/>
          </a:p>
        </p:txBody>
      </p:sp>
      <p:sp>
        <p:nvSpPr>
          <p:cNvPr id="36" name="Text 31"/>
          <p:cNvSpPr txBox="1"/>
          <p:nvPr/>
        </p:nvSpPr>
        <p:spPr>
          <a:xfrm>
            <a:off x="10477195" y="5143500"/>
            <a:ext cx="1905610" cy="80010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+0.21</a:t>
            </a:r>
            <a:endParaRPr lang="en-US" sz="1950" dirty="0"/>
          </a:p>
        </p:txBody>
      </p:sp>
      <p:sp>
        <p:nvSpPr>
          <p:cNvPr id="37" name="Shape 32"/>
          <p:cNvSpPr/>
          <p:nvPr/>
        </p:nvSpPr>
        <p:spPr>
          <a:xfrm>
            <a:off x="952805" y="5943600"/>
            <a:ext cx="11430000" cy="800100"/>
          </a:xfrm>
          <a:prstGeom prst="rect">
            <a:avLst/>
          </a:prstGeom>
          <a:solidFill>
            <a:srgbClr val="F4ECDC"/>
          </a:solidFill>
          <a:ln w="12700">
            <a:solidFill>
              <a:srgbClr val="FFFFFF">
                <a:alpha val="0"/>
              </a:srgbClr>
            </a:solidFill>
            <a:prstDash val="solid"/>
          </a:ln>
        </p:spPr>
      </p:sp>
      <p:sp>
        <p:nvSpPr>
          <p:cNvPr id="38" name="Text 33"/>
          <p:cNvSpPr txBox="1"/>
          <p:nvPr/>
        </p:nvSpPr>
        <p:spPr>
          <a:xfrm>
            <a:off x="952805" y="59436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W04</a:t>
            </a:r>
            <a:endParaRPr lang="en-US" sz="1950" dirty="0"/>
          </a:p>
        </p:txBody>
      </p:sp>
      <p:sp>
        <p:nvSpPr>
          <p:cNvPr id="39" name="Text 34"/>
          <p:cNvSpPr txBox="1"/>
          <p:nvPr/>
        </p:nvSpPr>
        <p:spPr>
          <a:xfrm>
            <a:off x="4762195"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16.46</a:t>
            </a:r>
            <a:endParaRPr lang="en-US" sz="1950" dirty="0"/>
          </a:p>
        </p:txBody>
      </p:sp>
      <p:sp>
        <p:nvSpPr>
          <p:cNvPr id="40" name="Text 35"/>
          <p:cNvSpPr txBox="1"/>
          <p:nvPr/>
        </p:nvSpPr>
        <p:spPr>
          <a:xfrm>
            <a:off x="6667805"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0.27</a:t>
            </a:r>
            <a:endParaRPr lang="en-US" sz="1950" dirty="0"/>
          </a:p>
        </p:txBody>
      </p:sp>
      <p:sp>
        <p:nvSpPr>
          <p:cNvPr id="41" name="Text 36"/>
          <p:cNvSpPr txBox="1"/>
          <p:nvPr/>
        </p:nvSpPr>
        <p:spPr>
          <a:xfrm>
            <a:off x="8572500"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0.81</a:t>
            </a:r>
            <a:endParaRPr lang="en-US" sz="1950" dirty="0"/>
          </a:p>
        </p:txBody>
      </p:sp>
      <p:sp>
        <p:nvSpPr>
          <p:cNvPr id="42" name="Text 37"/>
          <p:cNvSpPr txBox="1"/>
          <p:nvPr/>
        </p:nvSpPr>
        <p:spPr>
          <a:xfrm>
            <a:off x="10477195"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−0.04</a:t>
            </a:r>
            <a:endParaRPr lang="en-US" sz="1950" dirty="0"/>
          </a:p>
        </p:txBody>
      </p:sp>
      <p:sp>
        <p:nvSpPr>
          <p:cNvPr id="43" name="Shape 38"/>
          <p:cNvSpPr/>
          <p:nvPr/>
        </p:nvSpPr>
        <p:spPr>
          <a:xfrm>
            <a:off x="952805" y="6743700"/>
            <a:ext cx="11430000" cy="800100"/>
          </a:xfrm>
          <a:prstGeom prst="rect">
            <a:avLst/>
          </a:prstGeom>
          <a:solidFill>
            <a:srgbClr val="FBF7EF"/>
          </a:solidFill>
          <a:ln w="12700">
            <a:solidFill>
              <a:srgbClr val="FFFFFF">
                <a:alpha val="0"/>
              </a:srgbClr>
            </a:solidFill>
            <a:prstDash val="solid"/>
          </a:ln>
        </p:spPr>
      </p:sp>
      <p:sp>
        <p:nvSpPr>
          <p:cNvPr id="44" name="Text 39"/>
          <p:cNvSpPr txBox="1"/>
          <p:nvPr/>
        </p:nvSpPr>
        <p:spPr>
          <a:xfrm>
            <a:off x="952805" y="67437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W05</a:t>
            </a:r>
            <a:endParaRPr lang="en-US" sz="1950" dirty="0"/>
          </a:p>
        </p:txBody>
      </p:sp>
      <p:sp>
        <p:nvSpPr>
          <p:cNvPr id="45" name="Text 40"/>
          <p:cNvSpPr txBox="1"/>
          <p:nvPr/>
        </p:nvSpPr>
        <p:spPr>
          <a:xfrm>
            <a:off x="4762195"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16.43</a:t>
            </a:r>
            <a:endParaRPr lang="en-US" sz="1950" dirty="0"/>
          </a:p>
        </p:txBody>
      </p:sp>
      <p:sp>
        <p:nvSpPr>
          <p:cNvPr id="46" name="Text 41"/>
          <p:cNvSpPr txBox="1"/>
          <p:nvPr/>
        </p:nvSpPr>
        <p:spPr>
          <a:xfrm>
            <a:off x="6667805"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0.24</a:t>
            </a:r>
            <a:endParaRPr lang="en-US" sz="1950" dirty="0"/>
          </a:p>
        </p:txBody>
      </p:sp>
      <p:sp>
        <p:nvSpPr>
          <p:cNvPr id="47" name="Text 42"/>
          <p:cNvSpPr txBox="1"/>
          <p:nvPr/>
        </p:nvSpPr>
        <p:spPr>
          <a:xfrm>
            <a:off x="8572500"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0.74</a:t>
            </a:r>
            <a:endParaRPr lang="en-US" sz="1950" dirty="0"/>
          </a:p>
        </p:txBody>
      </p:sp>
      <p:sp>
        <p:nvSpPr>
          <p:cNvPr id="48" name="Text 43"/>
          <p:cNvSpPr txBox="1"/>
          <p:nvPr/>
        </p:nvSpPr>
        <p:spPr>
          <a:xfrm>
            <a:off x="10477195"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−0.07</a:t>
            </a:r>
            <a:endParaRPr lang="en-US" sz="1950" dirty="0"/>
          </a:p>
        </p:txBody>
      </p:sp>
      <p:sp>
        <p:nvSpPr>
          <p:cNvPr id="49" name="Shape 44"/>
          <p:cNvSpPr/>
          <p:nvPr/>
        </p:nvSpPr>
        <p:spPr>
          <a:xfrm>
            <a:off x="952805" y="7543800"/>
            <a:ext cx="11430000" cy="800100"/>
          </a:xfrm>
          <a:prstGeom prst="rect">
            <a:avLst/>
          </a:prstGeom>
          <a:solidFill>
            <a:srgbClr val="F4ECDC"/>
          </a:solidFill>
          <a:ln w="12700">
            <a:solidFill>
              <a:srgbClr val="FFFFFF">
                <a:alpha val="0"/>
              </a:srgbClr>
            </a:solidFill>
            <a:prstDash val="solid"/>
          </a:ln>
        </p:spPr>
      </p:sp>
      <p:sp>
        <p:nvSpPr>
          <p:cNvPr id="50" name="Text 45"/>
          <p:cNvSpPr txBox="1"/>
          <p:nvPr/>
        </p:nvSpPr>
        <p:spPr>
          <a:xfrm>
            <a:off x="952805" y="75438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W06</a:t>
            </a:r>
            <a:endParaRPr lang="en-US" sz="1950" dirty="0"/>
          </a:p>
        </p:txBody>
      </p:sp>
      <p:sp>
        <p:nvSpPr>
          <p:cNvPr id="51" name="Text 46"/>
          <p:cNvSpPr txBox="1"/>
          <p:nvPr/>
        </p:nvSpPr>
        <p:spPr>
          <a:xfrm>
            <a:off x="4762195"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16.48</a:t>
            </a:r>
            <a:endParaRPr lang="en-US" sz="1950" dirty="0"/>
          </a:p>
        </p:txBody>
      </p:sp>
      <p:sp>
        <p:nvSpPr>
          <p:cNvPr id="52" name="Text 47"/>
          <p:cNvSpPr txBox="1"/>
          <p:nvPr/>
        </p:nvSpPr>
        <p:spPr>
          <a:xfrm>
            <a:off x="6667805"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0.21</a:t>
            </a:r>
            <a:endParaRPr lang="en-US" sz="1950" dirty="0"/>
          </a:p>
        </p:txBody>
      </p:sp>
      <p:sp>
        <p:nvSpPr>
          <p:cNvPr id="53" name="Text 48"/>
          <p:cNvSpPr txBox="1"/>
          <p:nvPr/>
        </p:nvSpPr>
        <p:spPr>
          <a:xfrm>
            <a:off x="8572500"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0.69</a:t>
            </a:r>
            <a:endParaRPr lang="en-US" sz="1950" dirty="0"/>
          </a:p>
        </p:txBody>
      </p:sp>
      <p:sp>
        <p:nvSpPr>
          <p:cNvPr id="54" name="Text 49"/>
          <p:cNvSpPr txBox="1"/>
          <p:nvPr/>
        </p:nvSpPr>
        <p:spPr>
          <a:xfrm>
            <a:off x="10477195"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−0.02</a:t>
            </a:r>
            <a:endParaRPr lang="en-US" sz="1950" dirty="0"/>
          </a:p>
        </p:txBody>
      </p:sp>
      <p:sp>
        <p:nvSpPr>
          <p:cNvPr id="55" name="Text 50"/>
          <p:cNvSpPr txBox="1"/>
          <p:nvPr/>
        </p:nvSpPr>
        <p:spPr>
          <a:xfrm>
            <a:off x="2628900" y="3781044"/>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6" name="Text 51"/>
          <p:cNvSpPr txBox="1"/>
          <p:nvPr/>
        </p:nvSpPr>
        <p:spPr>
          <a:xfrm>
            <a:off x="2628900" y="4581144"/>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7" name="Text 52"/>
          <p:cNvSpPr txBox="1"/>
          <p:nvPr/>
        </p:nvSpPr>
        <p:spPr>
          <a:xfrm>
            <a:off x="2628900" y="5381244"/>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8" name="Text 53"/>
          <p:cNvSpPr txBox="1"/>
          <p:nvPr/>
        </p:nvSpPr>
        <p:spPr>
          <a:xfrm>
            <a:off x="2628900" y="6181344"/>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59" name="Text 54"/>
          <p:cNvSpPr txBox="1"/>
          <p:nvPr/>
        </p:nvSpPr>
        <p:spPr>
          <a:xfrm>
            <a:off x="2628900" y="6981444"/>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60" name="Text 55"/>
          <p:cNvSpPr txBox="1"/>
          <p:nvPr/>
        </p:nvSpPr>
        <p:spPr>
          <a:xfrm>
            <a:off x="2628900" y="7781544"/>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61" name="Text 56"/>
          <p:cNvSpPr txBox="1"/>
          <p:nvPr/>
        </p:nvSpPr>
        <p:spPr>
          <a:xfrm>
            <a:off x="13049402" y="3238805"/>
            <a:ext cx="4096512" cy="171907"/>
          </a:xfrm>
          <a:prstGeom prst="rect">
            <a:avLst/>
          </a:prstGeom>
          <a:noFill/>
          <a:ln/>
        </p:spPr>
        <p:txBody>
          <a:bodyPr wrap="none" lIns="0" tIns="0" rIns="0" bIns="0" rtlCol="0" anchor="ctr"/>
          <a:lstStyle/>
          <a:p>
            <a:pPr algn="l" indent="0" marL="0">
              <a:buNone/>
            </a:pPr>
            <a:r>
              <a:rPr lang="en-US" sz="1050" b="1" spc="210" kern="0" dirty="0">
                <a:solidFill>
                  <a:srgbClr val="E8762E"/>
                </a:solidFill>
                <a:latin typeface="JetBrains Mono" pitchFamily="34" charset="0"/>
                <a:ea typeface="JetBrains Mono" pitchFamily="34" charset="-122"/>
                <a:cs typeface="JetBrains Mono" pitchFamily="34" charset="-120"/>
              </a:rPr>
              <a:t>DELTA FROM TARGET</a:t>
            </a:r>
            <a:endParaRPr lang="en-US" sz="1050" dirty="0"/>
          </a:p>
        </p:txBody>
      </p:sp>
      <p:sp>
        <p:nvSpPr>
          <p:cNvPr id="62" name="Text 57"/>
          <p:cNvSpPr txBox="1"/>
          <p:nvPr/>
        </p:nvSpPr>
        <p:spPr>
          <a:xfrm>
            <a:off x="13049402" y="3486607"/>
            <a:ext cx="4096512" cy="247802"/>
          </a:xfrm>
          <a:prstGeom prst="rect">
            <a:avLst/>
          </a:prstGeom>
          <a:noFill/>
          <a:ln/>
        </p:spPr>
        <p:txBody>
          <a:bodyPr wrap="none" lIns="0" tIns="0" rIns="0" bIns="0" rtlCol="0" anchor="ctr"/>
          <a:lstStyle/>
          <a:p>
            <a:pPr algn="l" indent="0" marL="0">
              <a:buNone/>
            </a:pPr>
            <a:r>
              <a:rPr lang="en-US" sz="1350" b="1" dirty="0">
                <a:solidFill>
                  <a:srgbClr val="FAF7F0"/>
                </a:solidFill>
                <a:latin typeface="Noto Sans KR" pitchFamily="34" charset="0"/>
                <a:ea typeface="Noto Sans KR" pitchFamily="34" charset="-122"/>
                <a:cs typeface="Noto Sans KR" pitchFamily="34" charset="-120"/>
              </a:rPr>
              <a:t>signed · mean − 16.5 nm</a:t>
            </a:r>
            <a:endParaRPr lang="en-US" sz="1350" dirty="0"/>
          </a:p>
        </p:txBody>
      </p:sp>
      <p:sp>
        <p:nvSpPr>
          <p:cNvPr id="63" name="Text 58"/>
          <p:cNvSpPr txBox="1"/>
          <p:nvPr/>
        </p:nvSpPr>
        <p:spPr>
          <a:xfrm>
            <a:off x="13049402" y="3924605"/>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W01</a:t>
            </a:r>
            <a:endParaRPr lang="en-US" sz="1200" dirty="0"/>
          </a:p>
        </p:txBody>
      </p:sp>
      <p:sp>
        <p:nvSpPr>
          <p:cNvPr id="64" name="Text 59"/>
          <p:cNvSpPr txBox="1"/>
          <p:nvPr/>
        </p:nvSpPr>
        <p:spPr>
          <a:xfrm>
            <a:off x="16535095" y="3924605"/>
            <a:ext cx="609905" cy="200254"/>
          </a:xfrm>
          <a:prstGeom prst="rect">
            <a:avLst/>
          </a:prstGeom>
          <a:noFill/>
          <a:ln/>
        </p:spPr>
        <p:txBody>
          <a:bodyPr wrap="none" lIns="0" tIns="0" rIns="0" bIns="0" rtlCol="0" anchor="ctr"/>
          <a:lstStyle/>
          <a:p>
            <a:pPr algn="r" indent="0" marL="0">
              <a:buNone/>
            </a:pPr>
            <a:r>
              <a:rPr lang="en-US" sz="1200" b="1" dirty="0">
                <a:solidFill>
                  <a:srgbClr val="E8762E"/>
                </a:solidFill>
                <a:latin typeface="JetBrains Mono" pitchFamily="34" charset="0"/>
                <a:ea typeface="JetBrains Mono" pitchFamily="34" charset="-122"/>
                <a:cs typeface="JetBrains Mono" pitchFamily="34" charset="-120"/>
              </a:rPr>
              <a:t>+0.11</a:t>
            </a:r>
            <a:endParaRPr lang="en-US" sz="1200" dirty="0"/>
          </a:p>
        </p:txBody>
      </p:sp>
      <p:sp>
        <p:nvSpPr>
          <p:cNvPr id="65" name="Text 60"/>
          <p:cNvSpPr txBox="1"/>
          <p:nvPr/>
        </p:nvSpPr>
        <p:spPr>
          <a:xfrm>
            <a:off x="13049402" y="4257446"/>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W02</a:t>
            </a:r>
            <a:endParaRPr lang="en-US" sz="1200" dirty="0"/>
          </a:p>
        </p:txBody>
      </p:sp>
      <p:sp>
        <p:nvSpPr>
          <p:cNvPr id="66" name="Text 61"/>
          <p:cNvSpPr txBox="1"/>
          <p:nvPr/>
        </p:nvSpPr>
        <p:spPr>
          <a:xfrm>
            <a:off x="16535095" y="4257446"/>
            <a:ext cx="609905" cy="200254"/>
          </a:xfrm>
          <a:prstGeom prst="rect">
            <a:avLst/>
          </a:prstGeom>
          <a:noFill/>
          <a:ln/>
        </p:spPr>
        <p:txBody>
          <a:bodyPr wrap="none" lIns="0" tIns="0" rIns="0" bIns="0" rtlCol="0" anchor="ctr"/>
          <a:lstStyle/>
          <a:p>
            <a:pPr algn="r" indent="0" marL="0">
              <a:buNone/>
            </a:pPr>
            <a:r>
              <a:rPr lang="en-US" sz="1200" b="1" dirty="0">
                <a:solidFill>
                  <a:srgbClr val="E8762E"/>
                </a:solidFill>
                <a:latin typeface="JetBrains Mono" pitchFamily="34" charset="0"/>
                <a:ea typeface="JetBrains Mono" pitchFamily="34" charset="-122"/>
                <a:cs typeface="JetBrains Mono" pitchFamily="34" charset="-120"/>
              </a:rPr>
              <a:t>+0.05</a:t>
            </a:r>
            <a:endParaRPr lang="en-US" sz="1200" dirty="0"/>
          </a:p>
        </p:txBody>
      </p:sp>
      <p:sp>
        <p:nvSpPr>
          <p:cNvPr id="67" name="Text 62"/>
          <p:cNvSpPr txBox="1"/>
          <p:nvPr/>
        </p:nvSpPr>
        <p:spPr>
          <a:xfrm>
            <a:off x="13049402" y="4591202"/>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W03</a:t>
            </a:r>
            <a:endParaRPr lang="en-US" sz="1200" dirty="0"/>
          </a:p>
        </p:txBody>
      </p:sp>
      <p:sp>
        <p:nvSpPr>
          <p:cNvPr id="68" name="Text 63"/>
          <p:cNvSpPr txBox="1"/>
          <p:nvPr/>
        </p:nvSpPr>
        <p:spPr>
          <a:xfrm>
            <a:off x="16535095" y="4591202"/>
            <a:ext cx="609905" cy="200254"/>
          </a:xfrm>
          <a:prstGeom prst="rect">
            <a:avLst/>
          </a:prstGeom>
          <a:noFill/>
          <a:ln/>
        </p:spPr>
        <p:txBody>
          <a:bodyPr wrap="none" lIns="0" tIns="0" rIns="0" bIns="0" rtlCol="0" anchor="ctr"/>
          <a:lstStyle/>
          <a:p>
            <a:pPr algn="r" indent="0" marL="0">
              <a:buNone/>
            </a:pPr>
            <a:r>
              <a:rPr lang="en-US" sz="1200" b="1" dirty="0">
                <a:solidFill>
                  <a:srgbClr val="E8762E"/>
                </a:solidFill>
                <a:latin typeface="JetBrains Mono" pitchFamily="34" charset="0"/>
                <a:ea typeface="JetBrains Mono" pitchFamily="34" charset="-122"/>
                <a:cs typeface="JetBrains Mono" pitchFamily="34" charset="-120"/>
              </a:rPr>
              <a:t>+0.21</a:t>
            </a:r>
            <a:endParaRPr lang="en-US" sz="1200" dirty="0"/>
          </a:p>
        </p:txBody>
      </p:sp>
      <p:sp>
        <p:nvSpPr>
          <p:cNvPr id="69" name="Text 64"/>
          <p:cNvSpPr txBox="1"/>
          <p:nvPr/>
        </p:nvSpPr>
        <p:spPr>
          <a:xfrm>
            <a:off x="13049402" y="4924044"/>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W04</a:t>
            </a:r>
            <a:endParaRPr lang="en-US" sz="1200" dirty="0"/>
          </a:p>
        </p:txBody>
      </p:sp>
      <p:sp>
        <p:nvSpPr>
          <p:cNvPr id="70" name="Text 65"/>
          <p:cNvSpPr txBox="1"/>
          <p:nvPr/>
        </p:nvSpPr>
        <p:spPr>
          <a:xfrm>
            <a:off x="16535095" y="4924044"/>
            <a:ext cx="609905" cy="200254"/>
          </a:xfrm>
          <a:prstGeom prst="rect">
            <a:avLst/>
          </a:prstGeom>
          <a:noFill/>
          <a:ln/>
        </p:spPr>
        <p:txBody>
          <a:bodyPr wrap="none" lIns="0" tIns="0" rIns="0" bIns="0" rtlCol="0" anchor="ctr"/>
          <a:lstStyle/>
          <a:p>
            <a:pPr algn="r" indent="0" marL="0">
              <a:buNone/>
            </a:pPr>
            <a:r>
              <a:rPr lang="en-US" sz="1200" b="1" dirty="0">
                <a:solidFill>
                  <a:srgbClr val="FAF7F0"/>
                </a:solidFill>
                <a:latin typeface="JetBrains Mono" pitchFamily="34" charset="0"/>
                <a:ea typeface="JetBrains Mono" pitchFamily="34" charset="-122"/>
                <a:cs typeface="JetBrains Mono" pitchFamily="34" charset="-120"/>
              </a:rPr>
              <a:t>−0.04</a:t>
            </a:r>
            <a:endParaRPr lang="en-US" sz="1200" dirty="0"/>
          </a:p>
        </p:txBody>
      </p:sp>
      <p:sp>
        <p:nvSpPr>
          <p:cNvPr id="71" name="Text 66"/>
          <p:cNvSpPr txBox="1"/>
          <p:nvPr/>
        </p:nvSpPr>
        <p:spPr>
          <a:xfrm>
            <a:off x="13049402" y="5257800"/>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W05</a:t>
            </a:r>
            <a:endParaRPr lang="en-US" sz="1200" dirty="0"/>
          </a:p>
        </p:txBody>
      </p:sp>
      <p:sp>
        <p:nvSpPr>
          <p:cNvPr id="72" name="Text 67"/>
          <p:cNvSpPr txBox="1"/>
          <p:nvPr/>
        </p:nvSpPr>
        <p:spPr>
          <a:xfrm>
            <a:off x="16535095" y="5257800"/>
            <a:ext cx="609905" cy="200254"/>
          </a:xfrm>
          <a:prstGeom prst="rect">
            <a:avLst/>
          </a:prstGeom>
          <a:noFill/>
          <a:ln/>
        </p:spPr>
        <p:txBody>
          <a:bodyPr wrap="none" lIns="0" tIns="0" rIns="0" bIns="0" rtlCol="0" anchor="ctr"/>
          <a:lstStyle/>
          <a:p>
            <a:pPr algn="r" indent="0" marL="0">
              <a:buNone/>
            </a:pPr>
            <a:r>
              <a:rPr lang="en-US" sz="1200" b="1" dirty="0">
                <a:solidFill>
                  <a:srgbClr val="FAF7F0"/>
                </a:solidFill>
                <a:latin typeface="JetBrains Mono" pitchFamily="34" charset="0"/>
                <a:ea typeface="JetBrains Mono" pitchFamily="34" charset="-122"/>
                <a:cs typeface="JetBrains Mono" pitchFamily="34" charset="-120"/>
              </a:rPr>
              <a:t>−0.07</a:t>
            </a:r>
            <a:endParaRPr lang="en-US" sz="1200" dirty="0"/>
          </a:p>
        </p:txBody>
      </p:sp>
      <p:sp>
        <p:nvSpPr>
          <p:cNvPr id="73" name="Text 68"/>
          <p:cNvSpPr txBox="1"/>
          <p:nvPr/>
        </p:nvSpPr>
        <p:spPr>
          <a:xfrm>
            <a:off x="13049402" y="5591556"/>
            <a:ext cx="571500" cy="200254"/>
          </a:xfrm>
          <a:prstGeom prst="rect">
            <a:avLst/>
          </a:prstGeom>
          <a:noFill/>
          <a:ln/>
        </p:spPr>
        <p:txBody>
          <a:bodyPr wrap="none" lIns="0" tIns="0" rIns="0" bIns="0" rtlCol="0" anchor="ctr"/>
          <a:lstStyle/>
          <a:p>
            <a:pPr algn="l" indent="0" marL="0">
              <a:buNone/>
            </a:pPr>
            <a:r>
              <a:rPr lang="en-US" sz="1200" b="1" dirty="0">
                <a:solidFill>
                  <a:srgbClr val="FAF7F0"/>
                </a:solidFill>
                <a:latin typeface="JetBrains Mono" pitchFamily="34" charset="0"/>
                <a:ea typeface="JetBrains Mono" pitchFamily="34" charset="-122"/>
                <a:cs typeface="JetBrains Mono" pitchFamily="34" charset="-120"/>
              </a:rPr>
              <a:t>W06</a:t>
            </a:r>
            <a:endParaRPr lang="en-US" sz="1200" dirty="0"/>
          </a:p>
        </p:txBody>
      </p:sp>
      <p:sp>
        <p:nvSpPr>
          <p:cNvPr id="74" name="Text 69"/>
          <p:cNvSpPr txBox="1"/>
          <p:nvPr/>
        </p:nvSpPr>
        <p:spPr>
          <a:xfrm>
            <a:off x="16535095" y="5591556"/>
            <a:ext cx="609905" cy="200254"/>
          </a:xfrm>
          <a:prstGeom prst="rect">
            <a:avLst/>
          </a:prstGeom>
          <a:noFill/>
          <a:ln/>
        </p:spPr>
        <p:txBody>
          <a:bodyPr wrap="none" lIns="0" tIns="0" rIns="0" bIns="0" rtlCol="0" anchor="ctr"/>
          <a:lstStyle/>
          <a:p>
            <a:pPr algn="r" indent="0" marL="0">
              <a:buNone/>
            </a:pPr>
            <a:r>
              <a:rPr lang="en-US" sz="1200" b="1" dirty="0">
                <a:solidFill>
                  <a:srgbClr val="FAF7F0"/>
                </a:solidFill>
                <a:latin typeface="JetBrains Mono" pitchFamily="34" charset="0"/>
                <a:ea typeface="JetBrains Mono" pitchFamily="34" charset="-122"/>
                <a:cs typeface="JetBrains Mono" pitchFamily="34" charset="-120"/>
              </a:rPr>
              <a:t>−0.02</a:t>
            </a:r>
            <a:endParaRPr lang="en-US" sz="1200" dirty="0"/>
          </a:p>
        </p:txBody>
      </p:sp>
      <p:sp>
        <p:nvSpPr>
          <p:cNvPr id="75" name="Text 70"/>
          <p:cNvSpPr txBox="1"/>
          <p:nvPr/>
        </p:nvSpPr>
        <p:spPr>
          <a:xfrm>
            <a:off x="13049402" y="6105449"/>
            <a:ext cx="228600"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TGT</a:t>
            </a:r>
            <a:endParaRPr lang="en-US" sz="975" dirty="0"/>
          </a:p>
        </p:txBody>
      </p:sp>
      <p:sp>
        <p:nvSpPr>
          <p:cNvPr id="76" name="Text 71"/>
          <p:cNvSpPr txBox="1"/>
          <p:nvPr/>
        </p:nvSpPr>
        <p:spPr>
          <a:xfrm>
            <a:off x="14142110" y="6105449"/>
            <a:ext cx="381305"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−0.20</a:t>
            </a:r>
            <a:endParaRPr lang="en-US" sz="975" dirty="0"/>
          </a:p>
        </p:txBody>
      </p:sp>
      <p:sp>
        <p:nvSpPr>
          <p:cNvPr id="77" name="Text 72"/>
          <p:cNvSpPr txBox="1"/>
          <p:nvPr/>
        </p:nvSpPr>
        <p:spPr>
          <a:xfrm>
            <a:off x="15383866" y="6105449"/>
            <a:ext cx="305410"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0.00</a:t>
            </a:r>
            <a:endParaRPr lang="en-US" sz="975" dirty="0"/>
          </a:p>
        </p:txBody>
      </p:sp>
      <p:sp>
        <p:nvSpPr>
          <p:cNvPr id="78" name="Text 73"/>
          <p:cNvSpPr txBox="1"/>
          <p:nvPr/>
        </p:nvSpPr>
        <p:spPr>
          <a:xfrm>
            <a:off x="16550640" y="6105449"/>
            <a:ext cx="600761"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+0.20 nm</a:t>
            </a:r>
            <a:endParaRPr lang="en-US" sz="975" dirty="0"/>
          </a:p>
        </p:txBody>
      </p:sp>
      <p:sp>
        <p:nvSpPr>
          <p:cNvPr id="79" name="Shape 74"/>
          <p:cNvSpPr/>
          <p:nvPr/>
        </p:nvSpPr>
        <p:spPr>
          <a:xfrm>
            <a:off x="13735202" y="3938321"/>
            <a:ext cx="2686507" cy="171907"/>
          </a:xfrm>
          <a:prstGeom prst="rect">
            <a:avLst/>
          </a:prstGeom>
          <a:solidFill>
            <a:srgbClr val="FFFFFF">
              <a:alpha val="8000"/>
            </a:srgbClr>
          </a:solidFill>
          <a:ln w="12700">
            <a:solidFill>
              <a:srgbClr val="FFFFFF">
                <a:alpha val="0"/>
              </a:srgbClr>
            </a:solidFill>
            <a:prstDash val="solid"/>
          </a:ln>
        </p:spPr>
      </p:sp>
      <p:sp>
        <p:nvSpPr>
          <p:cNvPr id="80" name="Shape 75"/>
          <p:cNvSpPr/>
          <p:nvPr/>
        </p:nvSpPr>
        <p:spPr>
          <a:xfrm>
            <a:off x="15078456" y="3938321"/>
            <a:ext cx="809244" cy="171907"/>
          </a:xfrm>
          <a:prstGeom prst="rect">
            <a:avLst/>
          </a:prstGeom>
          <a:solidFill>
            <a:srgbClr val="E8762E"/>
          </a:solidFill>
          <a:ln w="12700">
            <a:solidFill>
              <a:srgbClr val="FFFFFF">
                <a:alpha val="0"/>
              </a:srgbClr>
            </a:solidFill>
            <a:prstDash val="solid"/>
          </a:ln>
        </p:spPr>
      </p:sp>
      <p:sp>
        <p:nvSpPr>
          <p:cNvPr id="81" name="Shape 76"/>
          <p:cNvSpPr/>
          <p:nvPr/>
        </p:nvSpPr>
        <p:spPr>
          <a:xfrm>
            <a:off x="13735202" y="4272077"/>
            <a:ext cx="2686507" cy="171907"/>
          </a:xfrm>
          <a:prstGeom prst="rect">
            <a:avLst/>
          </a:prstGeom>
          <a:solidFill>
            <a:srgbClr val="FFFFFF">
              <a:alpha val="8000"/>
            </a:srgbClr>
          </a:solidFill>
          <a:ln w="12700">
            <a:solidFill>
              <a:srgbClr val="FFFFFF">
                <a:alpha val="0"/>
              </a:srgbClr>
            </a:solidFill>
            <a:prstDash val="solid"/>
          </a:ln>
        </p:spPr>
      </p:sp>
      <p:sp>
        <p:nvSpPr>
          <p:cNvPr id="82" name="Shape 77"/>
          <p:cNvSpPr/>
          <p:nvPr/>
        </p:nvSpPr>
        <p:spPr>
          <a:xfrm>
            <a:off x="15078456" y="4272077"/>
            <a:ext cx="381305" cy="171907"/>
          </a:xfrm>
          <a:prstGeom prst="rect">
            <a:avLst/>
          </a:prstGeom>
          <a:solidFill>
            <a:srgbClr val="E8762E"/>
          </a:solidFill>
          <a:ln w="12700">
            <a:solidFill>
              <a:srgbClr val="FFFFFF">
                <a:alpha val="0"/>
              </a:srgbClr>
            </a:solidFill>
            <a:prstDash val="solid"/>
          </a:ln>
        </p:spPr>
      </p:sp>
      <p:sp>
        <p:nvSpPr>
          <p:cNvPr id="83" name="Shape 78"/>
          <p:cNvSpPr/>
          <p:nvPr/>
        </p:nvSpPr>
        <p:spPr>
          <a:xfrm>
            <a:off x="13735202" y="4604918"/>
            <a:ext cx="2686507" cy="171907"/>
          </a:xfrm>
          <a:prstGeom prst="rect">
            <a:avLst/>
          </a:prstGeom>
          <a:solidFill>
            <a:srgbClr val="FFFFFF">
              <a:alpha val="8000"/>
            </a:srgbClr>
          </a:solidFill>
          <a:ln w="12700">
            <a:solidFill>
              <a:srgbClr val="FFFFFF">
                <a:alpha val="0"/>
              </a:srgbClr>
            </a:solidFill>
            <a:prstDash val="solid"/>
          </a:ln>
        </p:spPr>
      </p:sp>
      <p:sp>
        <p:nvSpPr>
          <p:cNvPr id="84" name="Shape 79"/>
          <p:cNvSpPr/>
          <p:nvPr/>
        </p:nvSpPr>
        <p:spPr>
          <a:xfrm>
            <a:off x="15078456" y="4604918"/>
            <a:ext cx="1561795" cy="171907"/>
          </a:xfrm>
          <a:prstGeom prst="rect">
            <a:avLst/>
          </a:prstGeom>
          <a:solidFill>
            <a:srgbClr val="E8762E"/>
          </a:solidFill>
          <a:ln w="12700">
            <a:solidFill>
              <a:srgbClr val="FFFFFF">
                <a:alpha val="0"/>
              </a:srgbClr>
            </a:solidFill>
            <a:prstDash val="solid"/>
          </a:ln>
        </p:spPr>
      </p:sp>
      <p:sp>
        <p:nvSpPr>
          <p:cNvPr id="85" name="Shape 80"/>
          <p:cNvSpPr/>
          <p:nvPr/>
        </p:nvSpPr>
        <p:spPr>
          <a:xfrm>
            <a:off x="13735202" y="4938674"/>
            <a:ext cx="2686507" cy="171907"/>
          </a:xfrm>
          <a:prstGeom prst="rect">
            <a:avLst/>
          </a:prstGeom>
          <a:solidFill>
            <a:srgbClr val="FFFFFF">
              <a:alpha val="8000"/>
            </a:srgbClr>
          </a:solidFill>
          <a:ln w="12700">
            <a:solidFill>
              <a:srgbClr val="FFFFFF">
                <a:alpha val="0"/>
              </a:srgbClr>
            </a:solidFill>
            <a:prstDash val="solid"/>
          </a:ln>
        </p:spPr>
      </p:sp>
      <p:sp>
        <p:nvSpPr>
          <p:cNvPr id="86" name="Shape 81"/>
          <p:cNvSpPr/>
          <p:nvPr/>
        </p:nvSpPr>
        <p:spPr>
          <a:xfrm>
            <a:off x="14783105" y="4938674"/>
            <a:ext cx="304495" cy="171907"/>
          </a:xfrm>
          <a:prstGeom prst="rect">
            <a:avLst/>
          </a:prstGeom>
          <a:solidFill>
            <a:srgbClr val="FFFFFF">
              <a:alpha val="55000"/>
            </a:srgbClr>
          </a:solidFill>
          <a:ln w="12700">
            <a:solidFill>
              <a:srgbClr val="FFFFFF">
                <a:alpha val="0"/>
              </a:srgbClr>
            </a:solidFill>
            <a:prstDash val="solid"/>
          </a:ln>
        </p:spPr>
      </p:sp>
      <p:sp>
        <p:nvSpPr>
          <p:cNvPr id="87" name="Shape 82"/>
          <p:cNvSpPr/>
          <p:nvPr/>
        </p:nvSpPr>
        <p:spPr>
          <a:xfrm>
            <a:off x="13735202" y="5272430"/>
            <a:ext cx="2686507" cy="171907"/>
          </a:xfrm>
          <a:prstGeom prst="rect">
            <a:avLst/>
          </a:prstGeom>
          <a:solidFill>
            <a:srgbClr val="FFFFFF">
              <a:alpha val="8000"/>
            </a:srgbClr>
          </a:solidFill>
          <a:ln w="12700">
            <a:solidFill>
              <a:srgbClr val="FFFFFF">
                <a:alpha val="0"/>
              </a:srgbClr>
            </a:solidFill>
            <a:prstDash val="solid"/>
          </a:ln>
        </p:spPr>
      </p:sp>
      <p:sp>
        <p:nvSpPr>
          <p:cNvPr id="88" name="Shape 83"/>
          <p:cNvSpPr/>
          <p:nvPr/>
        </p:nvSpPr>
        <p:spPr>
          <a:xfrm>
            <a:off x="14567306" y="5272430"/>
            <a:ext cx="514807" cy="171907"/>
          </a:xfrm>
          <a:prstGeom prst="rect">
            <a:avLst/>
          </a:prstGeom>
          <a:solidFill>
            <a:srgbClr val="FFFFFF">
              <a:alpha val="55000"/>
            </a:srgbClr>
          </a:solidFill>
          <a:ln w="12700">
            <a:solidFill>
              <a:srgbClr val="FFFFFF">
                <a:alpha val="0"/>
              </a:srgbClr>
            </a:solidFill>
            <a:prstDash val="solid"/>
          </a:ln>
        </p:spPr>
      </p:sp>
      <p:sp>
        <p:nvSpPr>
          <p:cNvPr id="89" name="Shape 84"/>
          <p:cNvSpPr/>
          <p:nvPr/>
        </p:nvSpPr>
        <p:spPr>
          <a:xfrm>
            <a:off x="13735202" y="5605272"/>
            <a:ext cx="2686507" cy="171907"/>
          </a:xfrm>
          <a:prstGeom prst="rect">
            <a:avLst/>
          </a:prstGeom>
          <a:solidFill>
            <a:srgbClr val="FFFFFF">
              <a:alpha val="8000"/>
            </a:srgbClr>
          </a:solidFill>
          <a:ln w="12700">
            <a:solidFill>
              <a:srgbClr val="FFFFFF">
                <a:alpha val="0"/>
              </a:srgbClr>
            </a:solidFill>
            <a:prstDash val="solid"/>
          </a:ln>
        </p:spPr>
      </p:sp>
      <p:sp>
        <p:nvSpPr>
          <p:cNvPr id="90" name="Shape 85"/>
          <p:cNvSpPr/>
          <p:nvPr/>
        </p:nvSpPr>
        <p:spPr>
          <a:xfrm>
            <a:off x="14916607" y="5605272"/>
            <a:ext cx="161849" cy="171907"/>
          </a:xfrm>
          <a:prstGeom prst="rect">
            <a:avLst/>
          </a:prstGeom>
          <a:solidFill>
            <a:srgbClr val="FFFFFF">
              <a:alpha val="55000"/>
            </a:srgbClr>
          </a:solidFill>
          <a:ln w="12700">
            <a:solidFill>
              <a:srgbClr val="FFFFFF">
                <a:alpha val="0"/>
              </a:srgbClr>
            </a:solidFill>
            <a:prstDash val="solid"/>
          </a:ln>
        </p:spPr>
      </p:sp>
      <p:pic>
        <p:nvPicPr>
          <p:cNvPr id="91" name="Image 2" descr="gen-dedup-a0fc364abf8780134b3dfc25197348d8.png">    </p:cNvPr>
          <p:cNvPicPr>
            <a:picLocks noChangeAspect="1"/>
          </p:cNvPicPr>
          <p:nvPr/>
        </p:nvPicPr>
        <p:blipFill>
          <a:blip r:embed="rId3"/>
          <a:srcRect l="-2083" r="-2083" t="0" b="0"/>
          <a:stretch/>
        </p:blipFill>
        <p:spPr>
          <a:xfrm>
            <a:off x="13049402" y="5962802"/>
            <a:ext cx="4095598" cy="9144"/>
          </a:xfrm>
          <a:prstGeom prst="rect">
            <a:avLst/>
          </a:prstGeom>
        </p:spPr>
      </p:pic>
      <p:pic>
        <p:nvPicPr>
          <p:cNvPr id="92" name="Image 3" descr="gen-dedup-23a13a6199183e049fae5e0d7cb4e341.png">    </p:cNvPr>
          <p:cNvPicPr>
            <a:picLocks noChangeAspect="1"/>
          </p:cNvPicPr>
          <p:nvPr/>
        </p:nvPicPr>
        <p:blipFill>
          <a:blip r:embed="rId4"/>
          <a:srcRect l="0" r="0" t="-2143" b="-2143"/>
          <a:stretch/>
        </p:blipFill>
        <p:spPr>
          <a:xfrm>
            <a:off x="15096744" y="5905195"/>
            <a:ext cx="9144" cy="133502"/>
          </a:xfrm>
          <a:prstGeom prst="rect">
            <a:avLst/>
          </a:prstGeom>
        </p:spPr>
      </p:pic>
      <p:sp>
        <p:nvSpPr>
          <p:cNvPr id="93" name="Text 86"/>
          <p:cNvSpPr txBox="1"/>
          <p:nvPr/>
        </p:nvSpPr>
        <p:spPr>
          <a:xfrm>
            <a:off x="952805" y="9696298"/>
            <a:ext cx="16383305" cy="210312"/>
          </a:xfrm>
          <a:prstGeom prst="rect">
            <a:avLst/>
          </a:prstGeom>
          <a:noFill/>
          <a:ln/>
        </p:spPr>
        <p:txBody>
          <a:bodyPr wrap="none" lIns="0" tIns="0" rIns="0" bIns="0" rtlCol="0" anchor="ctr"/>
          <a:lstStyle/>
          <a:p>
            <a:pPr algn="l" indent="0" marL="0">
              <a:buNone/>
            </a:pPr>
            <a:r>
              <a:rPr lang="en-US" sz="1125" b="1" spc="56" kern="0" dirty="0">
                <a:solidFill>
                  <a:srgbClr val="6B6358"/>
                </a:solidFill>
                <a:latin typeface="JetBrains Mono" pitchFamily="34" charset="0"/>
                <a:ea typeface="JetBrains Mono" pitchFamily="34" charset="-122"/>
                <a:cs typeface="JetBrains Mono" pitchFamily="34" charset="-120"/>
              </a:rPr>
              <a:t>※ 내부 테스트용 더미(가상) 데이터</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DE5"/>
        </a:solidFill>
      </p:bgPr>
    </p:bg>
    <p:spTree>
      <p:nvGrpSpPr>
        <p:cNvPr id="1" name=""/>
        <p:cNvGrpSpPr/>
        <p:nvPr/>
      </p:nvGrpSpPr>
      <p:grpSpPr>
        <a:xfrm>
          <a:off x="0" y="0"/>
          <a:ext cx="0" cy="0"/>
          <a:chOff x="0" y="0"/>
          <a:chExt cx="0" cy="0"/>
        </a:xfrm>
      </p:grpSpPr>
      <p:sp>
        <p:nvSpPr>
          <p:cNvPr id="3" name="Shape 0"/>
          <p:cNvSpPr/>
          <p:nvPr/>
        </p:nvSpPr>
        <p:spPr>
          <a:xfrm>
            <a:off x="12763195" y="2933395"/>
            <a:ext cx="4572000" cy="5905195"/>
          </a:xfrm>
          <a:prstGeom prst="rect">
            <a:avLst/>
          </a:prstGeom>
          <a:solidFill>
            <a:srgbClr val="1A1F2C"/>
          </a:solidFill>
          <a:ln w="12700">
            <a:solidFill>
              <a:srgbClr val="FFFFFF">
                <a:alpha val="0"/>
              </a:srgbClr>
            </a:solidFill>
            <a:prstDash val="solid"/>
          </a:ln>
        </p:spPr>
      </p:sp>
      <p:sp>
        <p:nvSpPr>
          <p:cNvPr id="4" name="Shape 1"/>
          <p:cNvSpPr/>
          <p:nvPr/>
        </p:nvSpPr>
        <p:spPr>
          <a:xfrm>
            <a:off x="15430500" y="1123798"/>
            <a:ext cx="1904695" cy="1143000"/>
          </a:xfrm>
          <a:prstGeom prst="rect">
            <a:avLst/>
          </a:prstGeom>
          <a:solidFill>
            <a:srgbClr val="E8762E"/>
          </a:solidFill>
          <a:ln w="12700">
            <a:solidFill>
              <a:srgbClr val="FFFFFF">
                <a:alpha val="0"/>
              </a:srgbClr>
            </a:solidFill>
            <a:prstDash val="solid"/>
          </a:ln>
        </p:spPr>
      </p:sp>
      <p:pic>
        <p:nvPicPr>
          <p:cNvPr id="5" name="Image 0" descr="gen-dedup-2099a3bfbc4ccb2a003e58cbd4e0ecb7.png">    </p:cNvPr>
          <p:cNvPicPr>
            <a:picLocks noChangeAspect="1"/>
          </p:cNvPicPr>
          <p:nvPr/>
        </p:nvPicPr>
        <p:blipFill>
          <a:blip r:embed="rId1"/>
          <a:srcRect l="0" r="0" t="-400" b="-400"/>
          <a:stretch/>
        </p:blipFill>
        <p:spPr>
          <a:xfrm>
            <a:off x="12763195" y="2933395"/>
            <a:ext cx="4572000" cy="57607"/>
          </a:xfrm>
          <a:prstGeom prst="rect">
            <a:avLst/>
          </a:prstGeom>
        </p:spPr>
      </p:pic>
      <p:pic>
        <p:nvPicPr>
          <p:cNvPr id="6" name="Image 1" descr="gen-dedup-10712ba9506011557717463f803e9fbb.png">    </p:cNvPr>
          <p:cNvPicPr>
            <a:picLocks noChangeAspect="1"/>
          </p:cNvPicPr>
          <p:nvPr/>
        </p:nvPicPr>
        <p:blipFill>
          <a:blip r:embed="rId2"/>
          <a:srcRect l="0" r="0" t="-375" b="-375"/>
          <a:stretch/>
        </p:blipFill>
        <p:spPr>
          <a:xfrm>
            <a:off x="952805" y="838505"/>
            <a:ext cx="609905" cy="57607"/>
          </a:xfrm>
          <a:prstGeom prst="rect">
            <a:avLst/>
          </a:prstGeom>
        </p:spPr>
      </p:pic>
      <p:sp>
        <p:nvSpPr>
          <p:cNvPr id="7" name="Text 2"/>
          <p:cNvSpPr txBox="1"/>
          <p:nvPr/>
        </p:nvSpPr>
        <p:spPr>
          <a:xfrm>
            <a:off x="952805" y="1123798"/>
            <a:ext cx="10478110" cy="600761"/>
          </a:xfrm>
          <a:prstGeom prst="rect">
            <a:avLst/>
          </a:prstGeom>
          <a:noFill/>
          <a:ln/>
        </p:spPr>
        <p:txBody>
          <a:bodyPr wrap="none" lIns="0" tIns="0" rIns="0" bIns="0" rtlCol="0" anchor="ctr"/>
          <a:lstStyle/>
          <a:p>
            <a:pPr algn="l" indent="0" marL="0">
              <a:buNone/>
            </a:pPr>
            <a:r>
              <a:rPr lang="en-US" sz="4500" b="1" spc="-45" kern="0" dirty="0">
                <a:solidFill>
                  <a:srgbClr val="1A1F2C"/>
                </a:solidFill>
                <a:latin typeface="Noto Sans KR" pitchFamily="34" charset="0"/>
                <a:ea typeface="Noto Sans KR" pitchFamily="34" charset="-122"/>
                <a:cs typeface="Noto Sans KR" pitchFamily="34" charset="-120"/>
              </a:rPr>
              <a:t>AMI CD Variation</a:t>
            </a:r>
            <a:endParaRPr lang="en-US" sz="4500" dirty="0"/>
          </a:p>
        </p:txBody>
      </p:sp>
      <p:sp>
        <p:nvSpPr>
          <p:cNvPr id="8" name="Text 3"/>
          <p:cNvSpPr txBox="1"/>
          <p:nvPr/>
        </p:nvSpPr>
        <p:spPr>
          <a:xfrm>
            <a:off x="952805" y="1857146"/>
            <a:ext cx="11163910" cy="295351"/>
          </a:xfrm>
          <a:prstGeom prst="rect">
            <a:avLst/>
          </a:prstGeom>
          <a:noFill/>
          <a:ln/>
        </p:spPr>
        <p:txBody>
          <a:bodyPr wrap="none" lIns="0" tIns="0" rIns="0" bIns="0" rtlCol="0" anchor="ctr"/>
          <a:lstStyle/>
          <a:p>
            <a:pPr algn="l" indent="0" marL="0">
              <a:buNone/>
            </a:pPr>
            <a:r>
              <a:rPr lang="en-US" sz="1650" dirty="0">
                <a:solidFill>
                  <a:srgbClr val="5C5448"/>
                </a:solidFill>
                <a:latin typeface="Noto Sans KR" pitchFamily="34" charset="0"/>
                <a:ea typeface="Noto Sans KR" pitchFamily="34" charset="-122"/>
                <a:cs typeface="Noto Sans KR" pitchFamily="34" charset="-120"/>
              </a:rPr>
              <a:t>metallization 단계 완료 후 top-down 측정값 · 9 nm급 라인에서 두 batch의 단일 spec 통과 여부가 갈리는 임계점</a:t>
            </a:r>
            <a:endParaRPr lang="en-US" sz="1650" dirty="0"/>
          </a:p>
        </p:txBody>
      </p:sp>
      <p:sp>
        <p:nvSpPr>
          <p:cNvPr id="9" name="Text 4"/>
          <p:cNvSpPr txBox="1"/>
          <p:nvPr/>
        </p:nvSpPr>
        <p:spPr>
          <a:xfrm>
            <a:off x="15430500" y="1123798"/>
            <a:ext cx="1905610" cy="342900"/>
          </a:xfrm>
          <a:prstGeom prst="rect">
            <a:avLst/>
          </a:prstGeom>
          <a:noFill/>
          <a:ln/>
        </p:spPr>
        <p:txBody>
          <a:bodyPr wrap="none" lIns="0" tIns="0" rIns="0" bIns="0" rtlCol="0" anchor="ctr"/>
          <a:lstStyle/>
          <a:p>
            <a:pPr algn="ctr" indent="0" marL="0">
              <a:buNone/>
            </a:pPr>
            <a:r>
              <a:rPr lang="en-US" sz="1050" b="1" spc="210" kern="0" dirty="0">
                <a:solidFill>
                  <a:srgbClr val="FFE2C9"/>
                </a:solidFill>
                <a:latin typeface="JetBrains Mono" pitchFamily="34" charset="0"/>
                <a:ea typeface="JetBrains Mono" pitchFamily="34" charset="-122"/>
                <a:cs typeface="JetBrains Mono" pitchFamily="34" charset="-120"/>
              </a:rPr>
              <a:t>TARGET</a:t>
            </a:r>
            <a:endParaRPr lang="en-US" sz="1050" dirty="0"/>
          </a:p>
        </p:txBody>
      </p:sp>
      <p:sp>
        <p:nvSpPr>
          <p:cNvPr id="10" name="Text 5"/>
          <p:cNvSpPr txBox="1"/>
          <p:nvPr/>
        </p:nvSpPr>
        <p:spPr>
          <a:xfrm>
            <a:off x="15430500" y="1524305"/>
            <a:ext cx="1905610" cy="676656"/>
          </a:xfrm>
          <a:prstGeom prst="rect">
            <a:avLst/>
          </a:prstGeom>
          <a:noFill/>
          <a:ln/>
        </p:spPr>
        <p:txBody>
          <a:bodyPr wrap="none" lIns="0" tIns="0" rIns="0" bIns="0" rtlCol="0" anchor="ctr"/>
          <a:lstStyle/>
          <a:p>
            <a:pPr algn="ctr" indent="0" marL="0">
              <a:buNone/>
            </a:pPr>
            <a:r>
              <a:rPr lang="en-US" sz="4050" b="1" dirty="0">
                <a:solidFill>
                  <a:srgbClr val="FFFFFF"/>
                </a:solidFill>
                <a:latin typeface="JetBrains Mono" pitchFamily="34" charset="0"/>
                <a:ea typeface="JetBrains Mono" pitchFamily="34" charset="-122"/>
                <a:cs typeface="JetBrains Mono" pitchFamily="34" charset="-120"/>
              </a:rPr>
              <a:t>9.0</a:t>
            </a:r>
            <a:endParaRPr lang="en-US" sz="4050" dirty="0"/>
          </a:p>
        </p:txBody>
      </p:sp>
      <p:sp>
        <p:nvSpPr>
          <p:cNvPr id="11" name="Text 6"/>
          <p:cNvSpPr txBox="1"/>
          <p:nvPr/>
        </p:nvSpPr>
        <p:spPr>
          <a:xfrm>
            <a:off x="15430500" y="2200046"/>
            <a:ext cx="1905610" cy="191110"/>
          </a:xfrm>
          <a:prstGeom prst="rect">
            <a:avLst/>
          </a:prstGeom>
          <a:noFill/>
          <a:ln/>
        </p:spPr>
        <p:txBody>
          <a:bodyPr wrap="none" lIns="0" tIns="0" rIns="0" bIns="0" rtlCol="0" anchor="ctr"/>
          <a:lstStyle/>
          <a:p>
            <a:pPr algn="ctr" indent="0" marL="0">
              <a:buNone/>
            </a:pPr>
            <a:r>
              <a:rPr lang="en-US" sz="1050" b="1" dirty="0">
                <a:solidFill>
                  <a:srgbClr val="FFE2C9"/>
                </a:solidFill>
                <a:latin typeface="Noto Sans KR" pitchFamily="34" charset="0"/>
                <a:ea typeface="Noto Sans KR" pitchFamily="34" charset="-122"/>
                <a:cs typeface="Noto Sans KR" pitchFamily="34" charset="-120"/>
              </a:rPr>
              <a:t>nm</a:t>
            </a:r>
            <a:endParaRPr lang="en-US" sz="1050" dirty="0"/>
          </a:p>
        </p:txBody>
      </p:sp>
      <p:sp>
        <p:nvSpPr>
          <p:cNvPr id="12" name="Shape 7"/>
          <p:cNvSpPr/>
          <p:nvPr/>
        </p:nvSpPr>
        <p:spPr>
          <a:xfrm>
            <a:off x="952805" y="2933395"/>
            <a:ext cx="11430000" cy="609905"/>
          </a:xfrm>
          <a:prstGeom prst="rect">
            <a:avLst/>
          </a:prstGeom>
          <a:solidFill>
            <a:srgbClr val="1A1F2C"/>
          </a:solidFill>
          <a:ln w="12700">
            <a:solidFill>
              <a:srgbClr val="FFFFFF">
                <a:alpha val="0"/>
              </a:srgbClr>
            </a:solidFill>
            <a:prstDash val="solid"/>
          </a:ln>
        </p:spPr>
      </p:sp>
      <p:sp>
        <p:nvSpPr>
          <p:cNvPr id="13" name="Text 8"/>
          <p:cNvSpPr txBox="1"/>
          <p:nvPr/>
        </p:nvSpPr>
        <p:spPr>
          <a:xfrm>
            <a:off x="952805" y="2933395"/>
            <a:ext cx="1619402" cy="609905"/>
          </a:xfrm>
          <a:prstGeom prst="rect">
            <a:avLst/>
          </a:prstGeom>
          <a:noFill/>
          <a:ln/>
        </p:spPr>
        <p:txBody>
          <a:bodyPr wrap="square" lIns="0" tIns="0" rIns="0" bIns="0" rtlCol="0" anchor="ctr"/>
          <a:lstStyle/>
          <a:p>
            <a:pPr algn="l" indent="0" marL="0">
              <a:buNone/>
            </a:pPr>
            <a:r>
              <a:rPr lang="en-US" sz="1500" b="1" spc="180" kern="0" dirty="0">
                <a:solidFill>
                  <a:srgbClr val="E8762E"/>
                </a:solidFill>
                <a:latin typeface="Noto Sans KR" pitchFamily="34" charset="0"/>
                <a:ea typeface="Noto Sans KR" pitchFamily="34" charset="-122"/>
                <a:cs typeface="Noto Sans KR" pitchFamily="34" charset="-120"/>
              </a:rPr>
              <a:t>WAFER</a:t>
            </a:r>
            <a:endParaRPr lang="en-US" sz="1500" dirty="0"/>
          </a:p>
        </p:txBody>
      </p:sp>
      <p:sp>
        <p:nvSpPr>
          <p:cNvPr id="14" name="Text 9"/>
          <p:cNvSpPr txBox="1"/>
          <p:nvPr/>
        </p:nvSpPr>
        <p:spPr>
          <a:xfrm>
            <a:off x="2572207" y="2933395"/>
            <a:ext cx="2190902" cy="609905"/>
          </a:xfrm>
          <a:prstGeom prst="rect">
            <a:avLst/>
          </a:prstGeom>
          <a:noFill/>
          <a:ln/>
        </p:spPr>
        <p:txBody>
          <a:bodyPr wrap="square" lIns="0" tIns="0" rIns="0" bIns="0" rtlCol="0" anchor="ctr"/>
          <a:lstStyle/>
          <a:p>
            <a:pPr algn="l" indent="0" marL="0">
              <a:buNone/>
            </a:pPr>
            <a:r>
              <a:rPr lang="en-US" sz="1500" b="1" spc="180" kern="0" dirty="0">
                <a:solidFill>
                  <a:srgbClr val="E8762E"/>
                </a:solidFill>
                <a:latin typeface="Noto Sans KR" pitchFamily="34" charset="0"/>
                <a:ea typeface="Noto Sans KR" pitchFamily="34" charset="-122"/>
                <a:cs typeface="Noto Sans KR" pitchFamily="34" charset="-120"/>
              </a:rPr>
              <a:t>PROCESS</a:t>
            </a:r>
            <a:endParaRPr lang="en-US" sz="1500" dirty="0"/>
          </a:p>
        </p:txBody>
      </p:sp>
      <p:sp>
        <p:nvSpPr>
          <p:cNvPr id="15" name="Text 10"/>
          <p:cNvSpPr txBox="1"/>
          <p:nvPr/>
        </p:nvSpPr>
        <p:spPr>
          <a:xfrm>
            <a:off x="4762195"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MEAN</a:t>
            </a:r>
            <a:endParaRPr lang="en-US" sz="1500" dirty="0"/>
          </a:p>
        </p:txBody>
      </p:sp>
      <p:sp>
        <p:nvSpPr>
          <p:cNvPr id="16" name="Text 11"/>
          <p:cNvSpPr txBox="1"/>
          <p:nvPr/>
        </p:nvSpPr>
        <p:spPr>
          <a:xfrm>
            <a:off x="6667805"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3σ</a:t>
            </a:r>
            <a:endParaRPr lang="en-US" sz="1500" dirty="0"/>
          </a:p>
        </p:txBody>
      </p:sp>
      <p:sp>
        <p:nvSpPr>
          <p:cNvPr id="17" name="Text 12"/>
          <p:cNvSpPr txBox="1"/>
          <p:nvPr/>
        </p:nvSpPr>
        <p:spPr>
          <a:xfrm>
            <a:off x="8572500"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RANGE</a:t>
            </a:r>
            <a:endParaRPr lang="en-US" sz="1500" dirty="0"/>
          </a:p>
        </p:txBody>
      </p:sp>
      <p:sp>
        <p:nvSpPr>
          <p:cNvPr id="18" name="Text 13"/>
          <p:cNvSpPr txBox="1"/>
          <p:nvPr/>
        </p:nvSpPr>
        <p:spPr>
          <a:xfrm>
            <a:off x="10477195" y="2933395"/>
            <a:ext cx="1905610" cy="609905"/>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Δ vs TGT</a:t>
            </a:r>
            <a:endParaRPr lang="en-US" sz="1500" dirty="0"/>
          </a:p>
        </p:txBody>
      </p:sp>
      <p:sp>
        <p:nvSpPr>
          <p:cNvPr id="19" name="Shape 14"/>
          <p:cNvSpPr/>
          <p:nvPr/>
        </p:nvSpPr>
        <p:spPr>
          <a:xfrm>
            <a:off x="952805" y="3543300"/>
            <a:ext cx="11430000" cy="800100"/>
          </a:xfrm>
          <a:prstGeom prst="rect">
            <a:avLst/>
          </a:prstGeom>
          <a:solidFill>
            <a:srgbClr val="FBF7EF"/>
          </a:solidFill>
          <a:ln w="12700">
            <a:solidFill>
              <a:srgbClr val="FFFFFF">
                <a:alpha val="0"/>
              </a:srgbClr>
            </a:solidFill>
            <a:prstDash val="solid"/>
          </a:ln>
        </p:spPr>
      </p:sp>
      <p:sp>
        <p:nvSpPr>
          <p:cNvPr id="20" name="Text 15"/>
          <p:cNvSpPr txBox="1"/>
          <p:nvPr/>
        </p:nvSpPr>
        <p:spPr>
          <a:xfrm>
            <a:off x="952805" y="35433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W01</a:t>
            </a:r>
            <a:endParaRPr lang="en-US" sz="1950" dirty="0"/>
          </a:p>
        </p:txBody>
      </p:sp>
      <p:sp>
        <p:nvSpPr>
          <p:cNvPr id="21" name="Text 16"/>
          <p:cNvSpPr txBox="1"/>
          <p:nvPr/>
        </p:nvSpPr>
        <p:spPr>
          <a:xfrm>
            <a:off x="4762195"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9.18</a:t>
            </a:r>
            <a:endParaRPr lang="en-US" sz="1950" dirty="0"/>
          </a:p>
        </p:txBody>
      </p:sp>
      <p:sp>
        <p:nvSpPr>
          <p:cNvPr id="22" name="Text 17"/>
          <p:cNvSpPr txBox="1"/>
          <p:nvPr/>
        </p:nvSpPr>
        <p:spPr>
          <a:xfrm>
            <a:off x="6667805"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0.31</a:t>
            </a:r>
            <a:endParaRPr lang="en-US" sz="1950" dirty="0"/>
          </a:p>
        </p:txBody>
      </p:sp>
      <p:sp>
        <p:nvSpPr>
          <p:cNvPr id="23" name="Text 18"/>
          <p:cNvSpPr txBox="1"/>
          <p:nvPr/>
        </p:nvSpPr>
        <p:spPr>
          <a:xfrm>
            <a:off x="8572500" y="35433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0.94</a:t>
            </a:r>
            <a:endParaRPr lang="en-US" sz="1950" dirty="0"/>
          </a:p>
        </p:txBody>
      </p:sp>
      <p:sp>
        <p:nvSpPr>
          <p:cNvPr id="24" name="Text 19"/>
          <p:cNvSpPr txBox="1"/>
          <p:nvPr/>
        </p:nvSpPr>
        <p:spPr>
          <a:xfrm>
            <a:off x="10477195" y="3543300"/>
            <a:ext cx="1905610" cy="80010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+0.18</a:t>
            </a:r>
            <a:endParaRPr lang="en-US" sz="1950" dirty="0"/>
          </a:p>
        </p:txBody>
      </p:sp>
      <p:sp>
        <p:nvSpPr>
          <p:cNvPr id="25" name="Shape 20"/>
          <p:cNvSpPr/>
          <p:nvPr/>
        </p:nvSpPr>
        <p:spPr>
          <a:xfrm>
            <a:off x="952805" y="4343400"/>
            <a:ext cx="11430000" cy="800100"/>
          </a:xfrm>
          <a:prstGeom prst="rect">
            <a:avLst/>
          </a:prstGeom>
          <a:solidFill>
            <a:srgbClr val="F4ECDC"/>
          </a:solidFill>
          <a:ln w="12700">
            <a:solidFill>
              <a:srgbClr val="FFFFFF">
                <a:alpha val="0"/>
              </a:srgbClr>
            </a:solidFill>
            <a:prstDash val="solid"/>
          </a:ln>
        </p:spPr>
      </p:sp>
      <p:sp>
        <p:nvSpPr>
          <p:cNvPr id="26" name="Text 21"/>
          <p:cNvSpPr txBox="1"/>
          <p:nvPr/>
        </p:nvSpPr>
        <p:spPr>
          <a:xfrm>
            <a:off x="952805" y="43434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W02</a:t>
            </a:r>
            <a:endParaRPr lang="en-US" sz="1950" dirty="0"/>
          </a:p>
        </p:txBody>
      </p:sp>
      <p:sp>
        <p:nvSpPr>
          <p:cNvPr id="27" name="Text 22"/>
          <p:cNvSpPr txBox="1"/>
          <p:nvPr/>
        </p:nvSpPr>
        <p:spPr>
          <a:xfrm>
            <a:off x="4762195"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9.21</a:t>
            </a:r>
            <a:endParaRPr lang="en-US" sz="1950" dirty="0"/>
          </a:p>
        </p:txBody>
      </p:sp>
      <p:sp>
        <p:nvSpPr>
          <p:cNvPr id="28" name="Text 23"/>
          <p:cNvSpPr txBox="1"/>
          <p:nvPr/>
        </p:nvSpPr>
        <p:spPr>
          <a:xfrm>
            <a:off x="6667805"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0.34</a:t>
            </a:r>
            <a:endParaRPr lang="en-US" sz="1950" dirty="0"/>
          </a:p>
        </p:txBody>
      </p:sp>
      <p:sp>
        <p:nvSpPr>
          <p:cNvPr id="29" name="Text 24"/>
          <p:cNvSpPr txBox="1"/>
          <p:nvPr/>
        </p:nvSpPr>
        <p:spPr>
          <a:xfrm>
            <a:off x="8572500" y="43434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1.02</a:t>
            </a:r>
            <a:endParaRPr lang="en-US" sz="1950" dirty="0"/>
          </a:p>
        </p:txBody>
      </p:sp>
      <p:sp>
        <p:nvSpPr>
          <p:cNvPr id="30" name="Text 25"/>
          <p:cNvSpPr txBox="1"/>
          <p:nvPr/>
        </p:nvSpPr>
        <p:spPr>
          <a:xfrm>
            <a:off x="10477195" y="4343400"/>
            <a:ext cx="1905610" cy="80010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+0.21</a:t>
            </a:r>
            <a:endParaRPr lang="en-US" sz="1950" dirty="0"/>
          </a:p>
        </p:txBody>
      </p:sp>
      <p:sp>
        <p:nvSpPr>
          <p:cNvPr id="31" name="Shape 26"/>
          <p:cNvSpPr/>
          <p:nvPr/>
        </p:nvSpPr>
        <p:spPr>
          <a:xfrm>
            <a:off x="952805" y="5143500"/>
            <a:ext cx="11430000" cy="800100"/>
          </a:xfrm>
          <a:prstGeom prst="rect">
            <a:avLst/>
          </a:prstGeom>
          <a:solidFill>
            <a:srgbClr val="FBF7EF"/>
          </a:solidFill>
          <a:ln w="12700">
            <a:solidFill>
              <a:srgbClr val="FFFFFF">
                <a:alpha val="0"/>
              </a:srgbClr>
            </a:solidFill>
            <a:prstDash val="solid"/>
          </a:ln>
        </p:spPr>
      </p:sp>
      <p:sp>
        <p:nvSpPr>
          <p:cNvPr id="32" name="Text 27"/>
          <p:cNvSpPr txBox="1"/>
          <p:nvPr/>
        </p:nvSpPr>
        <p:spPr>
          <a:xfrm>
            <a:off x="952805" y="51435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W03</a:t>
            </a:r>
            <a:endParaRPr lang="en-US" sz="1950" dirty="0"/>
          </a:p>
        </p:txBody>
      </p:sp>
      <p:sp>
        <p:nvSpPr>
          <p:cNvPr id="33" name="Text 28"/>
          <p:cNvSpPr txBox="1"/>
          <p:nvPr/>
        </p:nvSpPr>
        <p:spPr>
          <a:xfrm>
            <a:off x="4762195" y="51435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9.26</a:t>
            </a:r>
            <a:endParaRPr lang="en-US" sz="1950" dirty="0"/>
          </a:p>
        </p:txBody>
      </p:sp>
      <p:sp>
        <p:nvSpPr>
          <p:cNvPr id="34" name="Text 29"/>
          <p:cNvSpPr txBox="1"/>
          <p:nvPr/>
        </p:nvSpPr>
        <p:spPr>
          <a:xfrm>
            <a:off x="6667805" y="51435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0.42</a:t>
            </a:r>
            <a:endParaRPr lang="en-US" sz="1950" dirty="0"/>
          </a:p>
        </p:txBody>
      </p:sp>
      <p:sp>
        <p:nvSpPr>
          <p:cNvPr id="35" name="Text 30"/>
          <p:cNvSpPr txBox="1"/>
          <p:nvPr/>
        </p:nvSpPr>
        <p:spPr>
          <a:xfrm>
            <a:off x="8572500" y="51435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1.28</a:t>
            </a:r>
            <a:endParaRPr lang="en-US" sz="1950" dirty="0"/>
          </a:p>
        </p:txBody>
      </p:sp>
      <p:sp>
        <p:nvSpPr>
          <p:cNvPr id="36" name="Text 31"/>
          <p:cNvSpPr txBox="1"/>
          <p:nvPr/>
        </p:nvSpPr>
        <p:spPr>
          <a:xfrm>
            <a:off x="10477195" y="5143500"/>
            <a:ext cx="1905610" cy="80010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+0.26</a:t>
            </a:r>
            <a:endParaRPr lang="en-US" sz="1950" dirty="0"/>
          </a:p>
        </p:txBody>
      </p:sp>
      <p:sp>
        <p:nvSpPr>
          <p:cNvPr id="37" name="Shape 32"/>
          <p:cNvSpPr/>
          <p:nvPr/>
        </p:nvSpPr>
        <p:spPr>
          <a:xfrm>
            <a:off x="952805" y="5943600"/>
            <a:ext cx="11430000" cy="800100"/>
          </a:xfrm>
          <a:prstGeom prst="rect">
            <a:avLst/>
          </a:prstGeom>
          <a:solidFill>
            <a:srgbClr val="F4ECDC"/>
          </a:solidFill>
          <a:ln w="12700">
            <a:solidFill>
              <a:srgbClr val="FFFFFF">
                <a:alpha val="0"/>
              </a:srgbClr>
            </a:solidFill>
            <a:prstDash val="solid"/>
          </a:ln>
        </p:spPr>
      </p:sp>
      <p:sp>
        <p:nvSpPr>
          <p:cNvPr id="38" name="Text 33"/>
          <p:cNvSpPr txBox="1"/>
          <p:nvPr/>
        </p:nvSpPr>
        <p:spPr>
          <a:xfrm>
            <a:off x="952805" y="59436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W04</a:t>
            </a:r>
            <a:endParaRPr lang="en-US" sz="1950" dirty="0"/>
          </a:p>
        </p:txBody>
      </p:sp>
      <p:sp>
        <p:nvSpPr>
          <p:cNvPr id="39" name="Text 34"/>
          <p:cNvSpPr txBox="1"/>
          <p:nvPr/>
        </p:nvSpPr>
        <p:spPr>
          <a:xfrm>
            <a:off x="4762195"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8.94</a:t>
            </a:r>
            <a:endParaRPr lang="en-US" sz="1950" dirty="0"/>
          </a:p>
        </p:txBody>
      </p:sp>
      <p:sp>
        <p:nvSpPr>
          <p:cNvPr id="40" name="Text 35"/>
          <p:cNvSpPr txBox="1"/>
          <p:nvPr/>
        </p:nvSpPr>
        <p:spPr>
          <a:xfrm>
            <a:off x="6667805"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0.18</a:t>
            </a:r>
            <a:endParaRPr lang="en-US" sz="1950" dirty="0"/>
          </a:p>
        </p:txBody>
      </p:sp>
      <p:sp>
        <p:nvSpPr>
          <p:cNvPr id="41" name="Text 36"/>
          <p:cNvSpPr txBox="1"/>
          <p:nvPr/>
        </p:nvSpPr>
        <p:spPr>
          <a:xfrm>
            <a:off x="8572500"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0.54</a:t>
            </a:r>
            <a:endParaRPr lang="en-US" sz="1950" dirty="0"/>
          </a:p>
        </p:txBody>
      </p:sp>
      <p:sp>
        <p:nvSpPr>
          <p:cNvPr id="42" name="Text 37"/>
          <p:cNvSpPr txBox="1"/>
          <p:nvPr/>
        </p:nvSpPr>
        <p:spPr>
          <a:xfrm>
            <a:off x="10477195" y="59436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−0.06</a:t>
            </a:r>
            <a:endParaRPr lang="en-US" sz="1950" dirty="0"/>
          </a:p>
        </p:txBody>
      </p:sp>
      <p:sp>
        <p:nvSpPr>
          <p:cNvPr id="43" name="Shape 38"/>
          <p:cNvSpPr/>
          <p:nvPr/>
        </p:nvSpPr>
        <p:spPr>
          <a:xfrm>
            <a:off x="952805" y="6743700"/>
            <a:ext cx="11430000" cy="800100"/>
          </a:xfrm>
          <a:prstGeom prst="rect">
            <a:avLst/>
          </a:prstGeom>
          <a:solidFill>
            <a:srgbClr val="FBF7EF"/>
          </a:solidFill>
          <a:ln w="12700">
            <a:solidFill>
              <a:srgbClr val="FFFFFF">
                <a:alpha val="0"/>
              </a:srgbClr>
            </a:solidFill>
            <a:prstDash val="solid"/>
          </a:ln>
        </p:spPr>
      </p:sp>
      <p:sp>
        <p:nvSpPr>
          <p:cNvPr id="44" name="Text 39"/>
          <p:cNvSpPr txBox="1"/>
          <p:nvPr/>
        </p:nvSpPr>
        <p:spPr>
          <a:xfrm>
            <a:off x="952805" y="67437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W05</a:t>
            </a:r>
            <a:endParaRPr lang="en-US" sz="1950" dirty="0"/>
          </a:p>
        </p:txBody>
      </p:sp>
      <p:sp>
        <p:nvSpPr>
          <p:cNvPr id="45" name="Text 40"/>
          <p:cNvSpPr txBox="1"/>
          <p:nvPr/>
        </p:nvSpPr>
        <p:spPr>
          <a:xfrm>
            <a:off x="4762195"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8.91</a:t>
            </a:r>
            <a:endParaRPr lang="en-US" sz="1950" dirty="0"/>
          </a:p>
        </p:txBody>
      </p:sp>
      <p:sp>
        <p:nvSpPr>
          <p:cNvPr id="46" name="Text 41"/>
          <p:cNvSpPr txBox="1"/>
          <p:nvPr/>
        </p:nvSpPr>
        <p:spPr>
          <a:xfrm>
            <a:off x="6667805"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0.16</a:t>
            </a:r>
            <a:endParaRPr lang="en-US" sz="1950" dirty="0"/>
          </a:p>
        </p:txBody>
      </p:sp>
      <p:sp>
        <p:nvSpPr>
          <p:cNvPr id="47" name="Text 42"/>
          <p:cNvSpPr txBox="1"/>
          <p:nvPr/>
        </p:nvSpPr>
        <p:spPr>
          <a:xfrm>
            <a:off x="8572500"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0.48</a:t>
            </a:r>
            <a:endParaRPr lang="en-US" sz="1950" dirty="0"/>
          </a:p>
        </p:txBody>
      </p:sp>
      <p:sp>
        <p:nvSpPr>
          <p:cNvPr id="48" name="Text 43"/>
          <p:cNvSpPr txBox="1"/>
          <p:nvPr/>
        </p:nvSpPr>
        <p:spPr>
          <a:xfrm>
            <a:off x="10477195" y="67437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−0.09</a:t>
            </a:r>
            <a:endParaRPr lang="en-US" sz="1950" dirty="0"/>
          </a:p>
        </p:txBody>
      </p:sp>
      <p:sp>
        <p:nvSpPr>
          <p:cNvPr id="49" name="Shape 44"/>
          <p:cNvSpPr/>
          <p:nvPr/>
        </p:nvSpPr>
        <p:spPr>
          <a:xfrm>
            <a:off x="952805" y="7543800"/>
            <a:ext cx="11430000" cy="800100"/>
          </a:xfrm>
          <a:prstGeom prst="rect">
            <a:avLst/>
          </a:prstGeom>
          <a:solidFill>
            <a:srgbClr val="F4ECDC"/>
          </a:solidFill>
          <a:ln w="12700">
            <a:solidFill>
              <a:srgbClr val="FFFFFF">
                <a:alpha val="0"/>
              </a:srgbClr>
            </a:solidFill>
            <a:prstDash val="solid"/>
          </a:ln>
        </p:spPr>
      </p:sp>
      <p:sp>
        <p:nvSpPr>
          <p:cNvPr id="50" name="Text 45"/>
          <p:cNvSpPr txBox="1"/>
          <p:nvPr/>
        </p:nvSpPr>
        <p:spPr>
          <a:xfrm>
            <a:off x="952805" y="7543800"/>
            <a:ext cx="1619402" cy="80010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W06</a:t>
            </a:r>
            <a:endParaRPr lang="en-US" sz="1950" dirty="0"/>
          </a:p>
        </p:txBody>
      </p:sp>
      <p:sp>
        <p:nvSpPr>
          <p:cNvPr id="51" name="Text 46"/>
          <p:cNvSpPr txBox="1"/>
          <p:nvPr/>
        </p:nvSpPr>
        <p:spPr>
          <a:xfrm>
            <a:off x="4762195"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8.96</a:t>
            </a:r>
            <a:endParaRPr lang="en-US" sz="1950" dirty="0"/>
          </a:p>
        </p:txBody>
      </p:sp>
      <p:sp>
        <p:nvSpPr>
          <p:cNvPr id="52" name="Text 47"/>
          <p:cNvSpPr txBox="1"/>
          <p:nvPr/>
        </p:nvSpPr>
        <p:spPr>
          <a:xfrm>
            <a:off x="6667805"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0.14</a:t>
            </a:r>
            <a:endParaRPr lang="en-US" sz="1950" dirty="0"/>
          </a:p>
        </p:txBody>
      </p:sp>
      <p:sp>
        <p:nvSpPr>
          <p:cNvPr id="53" name="Text 48"/>
          <p:cNvSpPr txBox="1"/>
          <p:nvPr/>
        </p:nvSpPr>
        <p:spPr>
          <a:xfrm>
            <a:off x="8572500"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0.43</a:t>
            </a:r>
            <a:endParaRPr lang="en-US" sz="1950" dirty="0"/>
          </a:p>
        </p:txBody>
      </p:sp>
      <p:sp>
        <p:nvSpPr>
          <p:cNvPr id="54" name="Text 49"/>
          <p:cNvSpPr txBox="1"/>
          <p:nvPr/>
        </p:nvSpPr>
        <p:spPr>
          <a:xfrm>
            <a:off x="10477195" y="7543800"/>
            <a:ext cx="1905610" cy="80010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−0.04</a:t>
            </a:r>
            <a:endParaRPr lang="en-US" sz="1950" dirty="0"/>
          </a:p>
        </p:txBody>
      </p:sp>
      <p:sp>
        <p:nvSpPr>
          <p:cNvPr id="55" name="Text 50"/>
          <p:cNvSpPr txBox="1"/>
          <p:nvPr/>
        </p:nvSpPr>
        <p:spPr>
          <a:xfrm>
            <a:off x="2628900" y="3781044"/>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6" name="Text 51"/>
          <p:cNvSpPr txBox="1"/>
          <p:nvPr/>
        </p:nvSpPr>
        <p:spPr>
          <a:xfrm>
            <a:off x="2628900" y="4581144"/>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7" name="Text 52"/>
          <p:cNvSpPr txBox="1"/>
          <p:nvPr/>
        </p:nvSpPr>
        <p:spPr>
          <a:xfrm>
            <a:off x="2628900" y="5381244"/>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8" name="Text 53"/>
          <p:cNvSpPr txBox="1"/>
          <p:nvPr/>
        </p:nvSpPr>
        <p:spPr>
          <a:xfrm>
            <a:off x="2628900" y="6181344"/>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59" name="Text 54"/>
          <p:cNvSpPr txBox="1"/>
          <p:nvPr/>
        </p:nvSpPr>
        <p:spPr>
          <a:xfrm>
            <a:off x="2628900" y="6981444"/>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60" name="Text 55"/>
          <p:cNvSpPr txBox="1"/>
          <p:nvPr/>
        </p:nvSpPr>
        <p:spPr>
          <a:xfrm>
            <a:off x="2628900" y="7781544"/>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61" name="Text 56"/>
          <p:cNvSpPr txBox="1"/>
          <p:nvPr/>
        </p:nvSpPr>
        <p:spPr>
          <a:xfrm>
            <a:off x="13049402" y="3238805"/>
            <a:ext cx="4096512" cy="171907"/>
          </a:xfrm>
          <a:prstGeom prst="rect">
            <a:avLst/>
          </a:prstGeom>
          <a:noFill/>
          <a:ln/>
        </p:spPr>
        <p:txBody>
          <a:bodyPr wrap="none" lIns="0" tIns="0" rIns="0" bIns="0" rtlCol="0" anchor="ctr"/>
          <a:lstStyle/>
          <a:p>
            <a:pPr algn="l" indent="0" marL="0">
              <a:buNone/>
            </a:pPr>
            <a:r>
              <a:rPr lang="en-US" sz="1050" b="1" spc="210" kern="0" dirty="0">
                <a:solidFill>
                  <a:srgbClr val="E8762E"/>
                </a:solidFill>
                <a:latin typeface="JetBrains Mono" pitchFamily="34" charset="0"/>
                <a:ea typeface="JetBrains Mono" pitchFamily="34" charset="-122"/>
                <a:cs typeface="JetBrains Mono" pitchFamily="34" charset="-120"/>
              </a:rPr>
              <a:t>3σ · nm</a:t>
            </a:r>
            <a:endParaRPr lang="en-US" sz="1050" dirty="0"/>
          </a:p>
        </p:txBody>
      </p:sp>
      <p:sp>
        <p:nvSpPr>
          <p:cNvPr id="62" name="Text 57"/>
          <p:cNvSpPr txBox="1"/>
          <p:nvPr/>
        </p:nvSpPr>
        <p:spPr>
          <a:xfrm>
            <a:off x="13049402" y="3486607"/>
            <a:ext cx="4096512" cy="247802"/>
          </a:xfrm>
          <a:prstGeom prst="rect">
            <a:avLst/>
          </a:prstGeom>
          <a:noFill/>
          <a:ln/>
        </p:spPr>
        <p:txBody>
          <a:bodyPr wrap="none" lIns="0" tIns="0" rIns="0" bIns="0" rtlCol="0" anchor="ctr"/>
          <a:lstStyle/>
          <a:p>
            <a:pPr algn="l" indent="0" marL="0">
              <a:buNone/>
            </a:pPr>
            <a:r>
              <a:rPr lang="en-US" sz="1350" b="1" dirty="0">
                <a:solidFill>
                  <a:srgbClr val="FAF7F0"/>
                </a:solidFill>
                <a:latin typeface="Noto Sans KR" pitchFamily="34" charset="0"/>
                <a:ea typeface="Noto Sans KR" pitchFamily="34" charset="-122"/>
                <a:cs typeface="Noto Sans KR" pitchFamily="34" charset="-120"/>
              </a:rPr>
              <a:t>batch 평균 비교</a:t>
            </a:r>
            <a:endParaRPr lang="en-US" sz="1350" dirty="0"/>
          </a:p>
        </p:txBody>
      </p:sp>
      <p:sp>
        <p:nvSpPr>
          <p:cNvPr id="63" name="Shape 58"/>
          <p:cNvSpPr/>
          <p:nvPr/>
        </p:nvSpPr>
        <p:spPr>
          <a:xfrm>
            <a:off x="13049402" y="3924605"/>
            <a:ext cx="4095598" cy="1695298"/>
          </a:xfrm>
          <a:prstGeom prst="rect">
            <a:avLst/>
          </a:prstGeom>
          <a:solidFill>
            <a:srgbClr val="2D3848">
              <a:alpha val="55000"/>
            </a:srgbClr>
          </a:solidFill>
          <a:ln/>
        </p:spPr>
      </p:sp>
      <p:sp>
        <p:nvSpPr>
          <p:cNvPr id="64" name="Shape 59"/>
          <p:cNvSpPr/>
          <p:nvPr/>
        </p:nvSpPr>
        <p:spPr>
          <a:xfrm>
            <a:off x="13049402" y="3924605"/>
            <a:ext cx="38405" cy="1695298"/>
          </a:xfrm>
          <a:prstGeom prst="rect">
            <a:avLst/>
          </a:prstGeom>
          <a:solidFill>
            <a:srgbClr val="2D3848"/>
          </a:solidFill>
          <a:ln w="12700">
            <a:solidFill>
              <a:srgbClr val="2D3848">
                <a:alpha val="0"/>
              </a:srgbClr>
            </a:solidFill>
            <a:prstDash val="solid"/>
          </a:ln>
        </p:spPr>
      </p:sp>
      <p:sp>
        <p:nvSpPr>
          <p:cNvPr id="65" name="Text 60"/>
          <p:cNvSpPr txBox="1"/>
          <p:nvPr/>
        </p:nvSpPr>
        <p:spPr>
          <a:xfrm>
            <a:off x="13297205" y="4153205"/>
            <a:ext cx="1101852" cy="247802"/>
          </a:xfrm>
          <a:prstGeom prst="rect">
            <a:avLst/>
          </a:prstGeom>
          <a:noFill/>
          <a:ln/>
        </p:spPr>
        <p:txBody>
          <a:bodyPr wrap="none" lIns="0" tIns="0" rIns="0" bIns="0" rtlCol="0" anchor="ctr"/>
          <a:lstStyle/>
          <a:p>
            <a:pPr algn="l" indent="0" marL="0">
              <a:buNone/>
            </a:pPr>
            <a:r>
              <a:rPr lang="en-US" sz="1350" b="1" dirty="0">
                <a:solidFill>
                  <a:srgbClr val="FAF7F0"/>
                </a:solidFill>
                <a:latin typeface="Noto Sans KR" pitchFamily="34" charset="0"/>
                <a:ea typeface="Noto Sans KR" pitchFamily="34" charset="-122"/>
                <a:cs typeface="Noto Sans KR" pitchFamily="34" charset="-120"/>
              </a:rPr>
              <a:t>SAQP batch</a:t>
            </a:r>
            <a:endParaRPr lang="en-US" sz="1350" dirty="0"/>
          </a:p>
        </p:txBody>
      </p:sp>
      <p:sp>
        <p:nvSpPr>
          <p:cNvPr id="66" name="Text 61"/>
          <p:cNvSpPr txBox="1"/>
          <p:nvPr/>
        </p:nvSpPr>
        <p:spPr>
          <a:xfrm>
            <a:off x="16489375" y="4229100"/>
            <a:ext cx="448056" cy="162763"/>
          </a:xfrm>
          <a:prstGeom prst="rect">
            <a:avLst/>
          </a:prstGeom>
          <a:noFill/>
          <a:ln/>
        </p:spPr>
        <p:txBody>
          <a:bodyPr wrap="none" lIns="0" tIns="0" rIns="0" bIns="0" rtlCol="0" anchor="ctr"/>
          <a:lstStyle/>
          <a:p>
            <a:pPr algn="l" indent="0" marL="0">
              <a:buNone/>
            </a:pPr>
            <a:r>
              <a:rPr lang="en-US" sz="975" dirty="0">
                <a:solidFill>
                  <a:srgbClr val="9C9385"/>
                </a:solidFill>
                <a:latin typeface="JetBrains Mono" pitchFamily="34" charset="0"/>
                <a:ea typeface="JetBrains Mono" pitchFamily="34" charset="-122"/>
                <a:cs typeface="JetBrains Mono" pitchFamily="34" charset="-120"/>
              </a:rPr>
              <a:t>W01–03</a:t>
            </a:r>
            <a:endParaRPr lang="en-US" sz="975" dirty="0"/>
          </a:p>
        </p:txBody>
      </p:sp>
      <p:sp>
        <p:nvSpPr>
          <p:cNvPr id="67" name="Text 62"/>
          <p:cNvSpPr txBox="1"/>
          <p:nvPr/>
        </p:nvSpPr>
        <p:spPr>
          <a:xfrm>
            <a:off x="13297205" y="4457700"/>
            <a:ext cx="3639312" cy="514807"/>
          </a:xfrm>
          <a:prstGeom prst="rect">
            <a:avLst/>
          </a:prstGeom>
          <a:noFill/>
          <a:ln/>
        </p:spPr>
        <p:txBody>
          <a:bodyPr wrap="none" lIns="0" tIns="0" rIns="0" bIns="0" rtlCol="0" anchor="ctr"/>
          <a:lstStyle/>
          <a:p>
            <a:pPr algn="l" indent="0" marL="0">
              <a:buNone/>
            </a:pPr>
            <a:r>
              <a:rPr lang="en-US" sz="4050" b="1" dirty="0">
                <a:solidFill>
                  <a:srgbClr val="FAF7F0"/>
                </a:solidFill>
                <a:latin typeface="JetBrains Mono" pitchFamily="34" charset="0"/>
                <a:ea typeface="JetBrains Mono" pitchFamily="34" charset="-122"/>
                <a:cs typeface="JetBrains Mono" pitchFamily="34" charset="-120"/>
              </a:rPr>
              <a:t>0.357</a:t>
            </a:r>
            <a:endParaRPr lang="en-US" sz="4050" dirty="0"/>
          </a:p>
        </p:txBody>
      </p:sp>
      <p:sp>
        <p:nvSpPr>
          <p:cNvPr id="68" name="Text 63"/>
          <p:cNvSpPr txBox="1"/>
          <p:nvPr/>
        </p:nvSpPr>
        <p:spPr>
          <a:xfrm>
            <a:off x="13297205" y="4990795"/>
            <a:ext cx="3639312" cy="191110"/>
          </a:xfrm>
          <a:prstGeom prst="rect">
            <a:avLst/>
          </a:prstGeom>
          <a:noFill/>
          <a:ln/>
        </p:spPr>
        <p:txBody>
          <a:bodyPr wrap="none" lIns="0" tIns="0" rIns="0" bIns="0" rtlCol="0" anchor="ctr"/>
          <a:lstStyle/>
          <a:p>
            <a:pPr algn="l" indent="0" marL="0">
              <a:buNone/>
            </a:pPr>
            <a:r>
              <a:rPr lang="en-US" sz="1050" dirty="0">
                <a:solidFill>
                  <a:srgbClr val="9C9385"/>
                </a:solidFill>
                <a:latin typeface="Noto Sans KR" pitchFamily="34" charset="0"/>
                <a:ea typeface="Noto Sans KR" pitchFamily="34" charset="-122"/>
                <a:cs typeface="Noto Sans KR" pitchFamily="34" charset="-120"/>
              </a:rPr>
              <a:t>nm · average 3σ</a:t>
            </a:r>
            <a:endParaRPr lang="en-US" sz="1050" dirty="0"/>
          </a:p>
        </p:txBody>
      </p:sp>
      <p:sp>
        <p:nvSpPr>
          <p:cNvPr id="69" name="Shape 64"/>
          <p:cNvSpPr/>
          <p:nvPr/>
        </p:nvSpPr>
        <p:spPr>
          <a:xfrm>
            <a:off x="13049402" y="5867705"/>
            <a:ext cx="4095598" cy="1695298"/>
          </a:xfrm>
          <a:prstGeom prst="rect">
            <a:avLst/>
          </a:prstGeom>
          <a:solidFill>
            <a:srgbClr val="E8762E">
              <a:alpha val="16000"/>
            </a:srgbClr>
          </a:solidFill>
          <a:ln/>
        </p:spPr>
      </p:sp>
      <p:sp>
        <p:nvSpPr>
          <p:cNvPr id="70" name="Shape 65"/>
          <p:cNvSpPr/>
          <p:nvPr/>
        </p:nvSpPr>
        <p:spPr>
          <a:xfrm>
            <a:off x="13049402" y="5867705"/>
            <a:ext cx="38405" cy="1695298"/>
          </a:xfrm>
          <a:prstGeom prst="rect">
            <a:avLst/>
          </a:prstGeom>
          <a:solidFill>
            <a:srgbClr val="E8762E"/>
          </a:solidFill>
          <a:ln w="12700">
            <a:solidFill>
              <a:srgbClr val="E8762E">
                <a:alpha val="0"/>
              </a:srgbClr>
            </a:solidFill>
            <a:prstDash val="solid"/>
          </a:ln>
        </p:spPr>
      </p:sp>
      <p:sp>
        <p:nvSpPr>
          <p:cNvPr id="71" name="Text 66"/>
          <p:cNvSpPr txBox="1"/>
          <p:nvPr/>
        </p:nvSpPr>
        <p:spPr>
          <a:xfrm>
            <a:off x="13297205" y="6096305"/>
            <a:ext cx="886054" cy="247802"/>
          </a:xfrm>
          <a:prstGeom prst="rect">
            <a:avLst/>
          </a:prstGeom>
          <a:noFill/>
          <a:ln/>
        </p:spPr>
        <p:txBody>
          <a:bodyPr wrap="none" lIns="0" tIns="0" rIns="0" bIns="0" rtlCol="0" anchor="ctr"/>
          <a:lstStyle/>
          <a:p>
            <a:pPr algn="l" indent="0" marL="0">
              <a:buNone/>
            </a:pPr>
            <a:r>
              <a:rPr lang="en-US" sz="1350" b="1" dirty="0">
                <a:solidFill>
                  <a:srgbClr val="FFE2C9"/>
                </a:solidFill>
                <a:latin typeface="Noto Sans KR" pitchFamily="34" charset="0"/>
                <a:ea typeface="Noto Sans KR" pitchFamily="34" charset="-122"/>
                <a:cs typeface="Noto Sans KR" pitchFamily="34" charset="-120"/>
              </a:rPr>
              <a:t>SADP+SAB</a:t>
            </a:r>
            <a:endParaRPr lang="en-US" sz="1350" dirty="0"/>
          </a:p>
        </p:txBody>
      </p:sp>
      <p:sp>
        <p:nvSpPr>
          <p:cNvPr id="72" name="Text 67"/>
          <p:cNvSpPr txBox="1"/>
          <p:nvPr/>
        </p:nvSpPr>
        <p:spPr>
          <a:xfrm>
            <a:off x="16489375" y="6172200"/>
            <a:ext cx="448056" cy="162763"/>
          </a:xfrm>
          <a:prstGeom prst="rect">
            <a:avLst/>
          </a:prstGeom>
          <a:noFill/>
          <a:ln/>
        </p:spPr>
        <p:txBody>
          <a:bodyPr wrap="none" lIns="0" tIns="0" rIns="0" bIns="0" rtlCol="0" anchor="ctr"/>
          <a:lstStyle/>
          <a:p>
            <a:pPr algn="l" indent="0" marL="0">
              <a:buNone/>
            </a:pPr>
            <a:r>
              <a:rPr lang="en-US" sz="975" dirty="0">
                <a:solidFill>
                  <a:srgbClr val="E8762E"/>
                </a:solidFill>
                <a:latin typeface="JetBrains Mono" pitchFamily="34" charset="0"/>
                <a:ea typeface="JetBrains Mono" pitchFamily="34" charset="-122"/>
                <a:cs typeface="JetBrains Mono" pitchFamily="34" charset="-120"/>
              </a:rPr>
              <a:t>W04–06</a:t>
            </a:r>
            <a:endParaRPr lang="en-US" sz="975" dirty="0"/>
          </a:p>
        </p:txBody>
      </p:sp>
      <p:sp>
        <p:nvSpPr>
          <p:cNvPr id="73" name="Text 68"/>
          <p:cNvSpPr txBox="1"/>
          <p:nvPr/>
        </p:nvSpPr>
        <p:spPr>
          <a:xfrm>
            <a:off x="13297205" y="6400800"/>
            <a:ext cx="3639312" cy="514807"/>
          </a:xfrm>
          <a:prstGeom prst="rect">
            <a:avLst/>
          </a:prstGeom>
          <a:noFill/>
          <a:ln/>
        </p:spPr>
        <p:txBody>
          <a:bodyPr wrap="none" lIns="0" tIns="0" rIns="0" bIns="0" rtlCol="0" anchor="ctr"/>
          <a:lstStyle/>
          <a:p>
            <a:pPr algn="l" indent="0" marL="0">
              <a:buNone/>
            </a:pPr>
            <a:r>
              <a:rPr lang="en-US" sz="4050" b="1" dirty="0">
                <a:solidFill>
                  <a:srgbClr val="FFFFFF"/>
                </a:solidFill>
                <a:latin typeface="JetBrains Mono" pitchFamily="34" charset="0"/>
                <a:ea typeface="JetBrains Mono" pitchFamily="34" charset="-122"/>
                <a:cs typeface="JetBrains Mono" pitchFamily="34" charset="-120"/>
              </a:rPr>
              <a:t>0.160</a:t>
            </a:r>
            <a:endParaRPr lang="en-US" sz="4050" dirty="0"/>
          </a:p>
        </p:txBody>
      </p:sp>
      <p:sp>
        <p:nvSpPr>
          <p:cNvPr id="74" name="Text 69"/>
          <p:cNvSpPr txBox="1"/>
          <p:nvPr/>
        </p:nvSpPr>
        <p:spPr>
          <a:xfrm>
            <a:off x="13297205" y="6933895"/>
            <a:ext cx="3639312" cy="191110"/>
          </a:xfrm>
          <a:prstGeom prst="rect">
            <a:avLst/>
          </a:prstGeom>
          <a:noFill/>
          <a:ln/>
        </p:spPr>
        <p:txBody>
          <a:bodyPr wrap="none" lIns="0" tIns="0" rIns="0" bIns="0" rtlCol="0" anchor="ctr"/>
          <a:lstStyle/>
          <a:p>
            <a:pPr algn="l" indent="0" marL="0">
              <a:buNone/>
            </a:pPr>
            <a:r>
              <a:rPr lang="en-US" sz="1050" dirty="0">
                <a:solidFill>
                  <a:srgbClr val="FFE2C9"/>
                </a:solidFill>
                <a:latin typeface="Noto Sans KR" pitchFamily="34" charset="0"/>
                <a:ea typeface="Noto Sans KR" pitchFamily="34" charset="-122"/>
                <a:cs typeface="Noto Sans KR" pitchFamily="34" charset="-120"/>
              </a:rPr>
              <a:t>nm · average 3σ</a:t>
            </a:r>
            <a:endParaRPr lang="en-US" sz="1050" dirty="0"/>
          </a:p>
        </p:txBody>
      </p:sp>
      <p:sp>
        <p:nvSpPr>
          <p:cNvPr id="75" name="Shape 70"/>
          <p:cNvSpPr/>
          <p:nvPr/>
        </p:nvSpPr>
        <p:spPr>
          <a:xfrm>
            <a:off x="13049402" y="7867498"/>
            <a:ext cx="4095598" cy="1228954"/>
          </a:xfrm>
          <a:prstGeom prst="rect">
            <a:avLst/>
          </a:prstGeom>
          <a:solidFill>
            <a:srgbClr val="FFFFFF">
              <a:alpha val="6000"/>
            </a:srgbClr>
          </a:solidFill>
          <a:ln w="12700">
            <a:solidFill>
              <a:srgbClr val="E8762E"/>
            </a:solidFill>
            <a:prstDash val="solid"/>
          </a:ln>
        </p:spPr>
      </p:sp>
      <p:sp>
        <p:nvSpPr>
          <p:cNvPr id="76" name="Text 71"/>
          <p:cNvSpPr txBox="1"/>
          <p:nvPr/>
        </p:nvSpPr>
        <p:spPr>
          <a:xfrm>
            <a:off x="13267944" y="8048549"/>
            <a:ext cx="3657600" cy="162763"/>
          </a:xfrm>
          <a:prstGeom prst="rect">
            <a:avLst/>
          </a:prstGeom>
          <a:noFill/>
          <a:ln/>
        </p:spPr>
        <p:txBody>
          <a:bodyPr wrap="none" lIns="0" tIns="0" rIns="0" bIns="0" rtlCol="0" anchor="ctr"/>
          <a:lstStyle/>
          <a:p>
            <a:pPr algn="l" indent="0" marL="0">
              <a:buNone/>
            </a:pPr>
            <a:r>
              <a:rPr lang="en-US" sz="975" b="1" spc="195" kern="0" dirty="0">
                <a:solidFill>
                  <a:srgbClr val="E8762E"/>
                </a:solidFill>
                <a:latin typeface="JetBrains Mono" pitchFamily="34" charset="0"/>
                <a:ea typeface="JetBrains Mono" pitchFamily="34" charset="-122"/>
                <a:cs typeface="JetBrains Mono" pitchFamily="34" charset="-120"/>
              </a:rPr>
              <a:t>REDUCTION</a:t>
            </a:r>
            <a:endParaRPr lang="en-US" sz="975" dirty="0"/>
          </a:p>
        </p:txBody>
      </p:sp>
      <p:sp>
        <p:nvSpPr>
          <p:cNvPr id="77" name="Text 72"/>
          <p:cNvSpPr txBox="1"/>
          <p:nvPr/>
        </p:nvSpPr>
        <p:spPr>
          <a:xfrm>
            <a:off x="13267944" y="8248802"/>
            <a:ext cx="3657600" cy="438912"/>
          </a:xfrm>
          <a:prstGeom prst="rect">
            <a:avLst/>
          </a:prstGeom>
          <a:noFill/>
          <a:ln/>
        </p:spPr>
        <p:txBody>
          <a:bodyPr wrap="none" lIns="0" tIns="0" rIns="0" bIns="0" rtlCol="0" anchor="ctr"/>
          <a:lstStyle/>
          <a:p>
            <a:pPr algn="l" indent="0" marL="0">
              <a:buNone/>
            </a:pPr>
            <a:r>
              <a:rPr lang="en-US" sz="3450" b="1" dirty="0">
                <a:solidFill>
                  <a:srgbClr val="FFFFFF"/>
                </a:solidFill>
                <a:latin typeface="JetBrains Mono" pitchFamily="34" charset="0"/>
                <a:ea typeface="JetBrains Mono" pitchFamily="34" charset="-122"/>
                <a:cs typeface="JetBrains Mono" pitchFamily="34" charset="-120"/>
              </a:rPr>
              <a:t>−55%</a:t>
            </a:r>
            <a:endParaRPr lang="en-US" sz="3450" dirty="0"/>
          </a:p>
        </p:txBody>
      </p:sp>
      <p:sp>
        <p:nvSpPr>
          <p:cNvPr id="78" name="Text 73"/>
          <p:cNvSpPr txBox="1"/>
          <p:nvPr/>
        </p:nvSpPr>
        <p:spPr>
          <a:xfrm>
            <a:off x="13267944" y="8725205"/>
            <a:ext cx="3657600" cy="191110"/>
          </a:xfrm>
          <a:prstGeom prst="rect">
            <a:avLst/>
          </a:prstGeom>
          <a:noFill/>
          <a:ln/>
        </p:spPr>
        <p:txBody>
          <a:bodyPr wrap="none" lIns="0" tIns="0" rIns="0" bIns="0" rtlCol="0" anchor="ctr"/>
          <a:lstStyle/>
          <a:p>
            <a:pPr algn="l" indent="0" marL="0">
              <a:buNone/>
            </a:pPr>
            <a:r>
              <a:rPr lang="en-US" sz="1050" dirty="0">
                <a:solidFill>
                  <a:srgbClr val="FAF7F0"/>
                </a:solidFill>
                <a:latin typeface="Noto Sans KR" pitchFamily="34" charset="0"/>
                <a:ea typeface="Noto Sans KR" pitchFamily="34" charset="-122"/>
                <a:cs typeface="Noto Sans KR" pitchFamily="34" charset="-120"/>
              </a:rPr>
              <a:t>3σ · AMI stage</a:t>
            </a:r>
            <a:endParaRPr lang="en-US" sz="1050" dirty="0"/>
          </a:p>
        </p:txBody>
      </p:sp>
      <p:sp>
        <p:nvSpPr>
          <p:cNvPr id="79" name="Text 74"/>
          <p:cNvSpPr txBox="1"/>
          <p:nvPr/>
        </p:nvSpPr>
        <p:spPr>
          <a:xfrm>
            <a:off x="13049402" y="9267444"/>
            <a:ext cx="4096512" cy="171907"/>
          </a:xfrm>
          <a:prstGeom prst="rect">
            <a:avLst/>
          </a:prstGeom>
          <a:noFill/>
          <a:ln/>
        </p:spPr>
        <p:txBody>
          <a:bodyPr wrap="none" lIns="0" tIns="0" rIns="0" bIns="0" rtlCol="0" anchor="ctr"/>
          <a:lstStyle/>
          <a:p>
            <a:pPr algn="l" indent="0" marL="0">
              <a:buNone/>
            </a:pPr>
            <a:r>
              <a:rPr lang="en-US" sz="900" dirty="0">
                <a:solidFill>
                  <a:srgbClr val="9C9385"/>
                </a:solidFill>
                <a:latin typeface="Noto Sans KR" pitchFamily="34" charset="0"/>
                <a:ea typeface="Noto Sans KR" pitchFamily="34" charset="-122"/>
                <a:cs typeface="Noto Sans KR" pitchFamily="34" charset="-120"/>
              </a:rPr>
              <a:t>※ SAQP batch 대비 SADP+SAB batch의 AMI 3σ 감소율</a:t>
            </a:r>
            <a:endParaRPr lang="en-US" sz="900" dirty="0"/>
          </a:p>
        </p:txBody>
      </p:sp>
      <p:pic>
        <p:nvPicPr>
          <p:cNvPr id="80" name="Image 2" descr="gen-dedup-ab2ae128749d564a16e4b822cf583645.png">    </p:cNvPr>
          <p:cNvPicPr>
            <a:picLocks noChangeAspect="1"/>
          </p:cNvPicPr>
          <p:nvPr/>
        </p:nvPicPr>
        <p:blipFill>
          <a:blip r:embed="rId3"/>
          <a:srcRect l="-199" r="-199" t="0" b="0"/>
          <a:stretch/>
        </p:blipFill>
        <p:spPr>
          <a:xfrm>
            <a:off x="13297205" y="5315407"/>
            <a:ext cx="3638398" cy="75895"/>
          </a:xfrm>
          <a:prstGeom prst="rect">
            <a:avLst/>
          </a:prstGeom>
        </p:spPr>
      </p:pic>
      <p:pic>
        <p:nvPicPr>
          <p:cNvPr id="81" name="Image 3" descr="gen-dedup-ffd6051e0aa1c9783dcd0e913aacd224.png">    </p:cNvPr>
          <p:cNvPicPr>
            <a:picLocks noChangeAspect="1"/>
          </p:cNvPicPr>
          <p:nvPr/>
        </p:nvPicPr>
        <p:blipFill>
          <a:blip r:embed="rId4"/>
          <a:srcRect l="-209" r="-209" t="0" b="0"/>
          <a:stretch/>
        </p:blipFill>
        <p:spPr>
          <a:xfrm>
            <a:off x="13297205" y="5315407"/>
            <a:ext cx="2328977" cy="75895"/>
          </a:xfrm>
          <a:prstGeom prst="rect">
            <a:avLst/>
          </a:prstGeom>
        </p:spPr>
      </p:pic>
      <p:pic>
        <p:nvPicPr>
          <p:cNvPr id="82" name="Image 4" descr="gen-dedup-ab2ae128749d564a16e4b822cf583645.png">    </p:cNvPr>
          <p:cNvPicPr>
            <a:picLocks noChangeAspect="1"/>
          </p:cNvPicPr>
          <p:nvPr/>
        </p:nvPicPr>
        <p:blipFill>
          <a:blip r:embed="rId5"/>
          <a:srcRect l="-199" r="-199" t="0" b="0"/>
          <a:stretch/>
        </p:blipFill>
        <p:spPr>
          <a:xfrm>
            <a:off x="13297205" y="7258507"/>
            <a:ext cx="3638398" cy="75895"/>
          </a:xfrm>
          <a:prstGeom prst="rect">
            <a:avLst/>
          </a:prstGeom>
        </p:spPr>
      </p:pic>
      <p:pic>
        <p:nvPicPr>
          <p:cNvPr id="83" name="Image 5" descr="gen-dedup-316efb24ecb9bde17b5129a715c80e6d.png">    </p:cNvPr>
          <p:cNvPicPr>
            <a:picLocks noChangeAspect="1"/>
          </p:cNvPicPr>
          <p:nvPr/>
        </p:nvPicPr>
        <p:blipFill>
          <a:blip r:embed="rId6"/>
          <a:srcRect l="-209" r="-209" t="0" b="0"/>
          <a:stretch/>
        </p:blipFill>
        <p:spPr>
          <a:xfrm>
            <a:off x="13297205" y="7258507"/>
            <a:ext cx="1055218" cy="75895"/>
          </a:xfrm>
          <a:prstGeom prst="rect">
            <a:avLst/>
          </a:prstGeom>
        </p:spPr>
      </p:pic>
      <p:sp>
        <p:nvSpPr>
          <p:cNvPr id="84" name="Text 75"/>
          <p:cNvSpPr txBox="1"/>
          <p:nvPr/>
        </p:nvSpPr>
        <p:spPr>
          <a:xfrm>
            <a:off x="952805" y="9696298"/>
            <a:ext cx="16383305" cy="210312"/>
          </a:xfrm>
          <a:prstGeom prst="rect">
            <a:avLst/>
          </a:prstGeom>
          <a:noFill/>
          <a:ln/>
        </p:spPr>
        <p:txBody>
          <a:bodyPr wrap="none" lIns="0" tIns="0" rIns="0" bIns="0" rtlCol="0" anchor="ctr"/>
          <a:lstStyle/>
          <a:p>
            <a:pPr algn="l" indent="0" marL="0">
              <a:buNone/>
            </a:pPr>
            <a:r>
              <a:rPr lang="en-US" sz="1125" b="1" spc="56" kern="0" dirty="0">
                <a:solidFill>
                  <a:srgbClr val="6B6358"/>
                </a:solidFill>
                <a:latin typeface="JetBrains Mono" pitchFamily="34" charset="0"/>
                <a:ea typeface="JetBrains Mono" pitchFamily="34" charset="-122"/>
                <a:cs typeface="JetBrains Mono" pitchFamily="34" charset="-120"/>
              </a:rPr>
              <a:t>※ 내부 테스트용 더미(가상) 데이터</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DE5"/>
        </a:solidFill>
      </p:bgPr>
    </p:bg>
    <p:spTree>
      <p:nvGrpSpPr>
        <p:cNvPr id="1" name=""/>
        <p:cNvGrpSpPr/>
        <p:nvPr/>
      </p:nvGrpSpPr>
      <p:grpSpPr>
        <a:xfrm>
          <a:off x="0" y="0"/>
          <a:ext cx="0" cy="0"/>
          <a:chOff x="0" y="0"/>
          <a:chExt cx="0" cy="0"/>
        </a:xfrm>
      </p:grpSpPr>
      <p:sp>
        <p:nvSpPr>
          <p:cNvPr id="3" name="Shape 0"/>
          <p:cNvSpPr/>
          <p:nvPr/>
        </p:nvSpPr>
        <p:spPr>
          <a:xfrm>
            <a:off x="12763195" y="3124505"/>
            <a:ext cx="4572000" cy="5715000"/>
          </a:xfrm>
          <a:prstGeom prst="rect">
            <a:avLst/>
          </a:prstGeom>
          <a:solidFill>
            <a:srgbClr val="1A1F2C"/>
          </a:solidFill>
          <a:ln w="12700">
            <a:solidFill>
              <a:srgbClr val="FFFFFF">
                <a:alpha val="0"/>
              </a:srgbClr>
            </a:solidFill>
            <a:prstDash val="solid"/>
          </a:ln>
        </p:spPr>
      </p:sp>
      <p:sp>
        <p:nvSpPr>
          <p:cNvPr id="4" name="Shape 1"/>
          <p:cNvSpPr/>
          <p:nvPr/>
        </p:nvSpPr>
        <p:spPr>
          <a:xfrm>
            <a:off x="15430500" y="1123798"/>
            <a:ext cx="1904695" cy="1143000"/>
          </a:xfrm>
          <a:prstGeom prst="rect">
            <a:avLst/>
          </a:prstGeom>
          <a:solidFill>
            <a:srgbClr val="E8762E"/>
          </a:solidFill>
          <a:ln w="12700">
            <a:solidFill>
              <a:srgbClr val="FFFFFF">
                <a:alpha val="0"/>
              </a:srgbClr>
            </a:solidFill>
            <a:prstDash val="solid"/>
          </a:ln>
        </p:spPr>
      </p:sp>
      <p:pic>
        <p:nvPicPr>
          <p:cNvPr id="5" name="Image 0" descr="gen-dedup-2099a3bfbc4ccb2a003e58cbd4e0ecb7.png">    </p:cNvPr>
          <p:cNvPicPr>
            <a:picLocks noChangeAspect="1"/>
          </p:cNvPicPr>
          <p:nvPr/>
        </p:nvPicPr>
        <p:blipFill>
          <a:blip r:embed="rId1"/>
          <a:srcRect l="0" r="0" t="-400" b="-400"/>
          <a:stretch/>
        </p:blipFill>
        <p:spPr>
          <a:xfrm>
            <a:off x="12763195" y="3124505"/>
            <a:ext cx="4572000" cy="57607"/>
          </a:xfrm>
          <a:prstGeom prst="rect">
            <a:avLst/>
          </a:prstGeom>
        </p:spPr>
      </p:pic>
      <p:pic>
        <p:nvPicPr>
          <p:cNvPr id="6" name="Image 1" descr="gen-dedup-10712ba9506011557717463f803e9fbb.png">    </p:cNvPr>
          <p:cNvPicPr>
            <a:picLocks noChangeAspect="1"/>
          </p:cNvPicPr>
          <p:nvPr/>
        </p:nvPicPr>
        <p:blipFill>
          <a:blip r:embed="rId2"/>
          <a:srcRect l="0" r="0" t="-375" b="-375"/>
          <a:stretch/>
        </p:blipFill>
        <p:spPr>
          <a:xfrm>
            <a:off x="952805" y="838505"/>
            <a:ext cx="609905" cy="57607"/>
          </a:xfrm>
          <a:prstGeom prst="rect">
            <a:avLst/>
          </a:prstGeom>
        </p:spPr>
      </p:pic>
      <p:pic>
        <p:nvPicPr>
          <p:cNvPr id="7" name="Image 2" descr="gen-dedup-47729a6a0df1271a13b025304ace631a.jpg">    </p:cNvPr>
          <p:cNvPicPr>
            <a:picLocks noChangeAspect="1"/>
          </p:cNvPicPr>
          <p:nvPr/>
        </p:nvPicPr>
        <p:blipFill>
          <a:blip r:embed="rId3"/>
          <a:stretch>
            <a:fillRect/>
          </a:stretch>
        </p:blipFill>
        <p:spPr>
          <a:xfrm>
            <a:off x="13049402" y="3448202"/>
            <a:ext cx="4000500" cy="1904695"/>
          </a:xfrm>
          <a:prstGeom prst="rect">
            <a:avLst/>
          </a:prstGeom>
        </p:spPr>
      </p:pic>
      <p:sp>
        <p:nvSpPr>
          <p:cNvPr id="8" name="Text 2"/>
          <p:cNvSpPr txBox="1"/>
          <p:nvPr/>
        </p:nvSpPr>
        <p:spPr>
          <a:xfrm>
            <a:off x="952805" y="1123798"/>
            <a:ext cx="10478110" cy="600761"/>
          </a:xfrm>
          <a:prstGeom prst="rect">
            <a:avLst/>
          </a:prstGeom>
          <a:noFill/>
          <a:ln/>
        </p:spPr>
        <p:txBody>
          <a:bodyPr wrap="none" lIns="0" tIns="0" rIns="0" bIns="0" rtlCol="0" anchor="ctr"/>
          <a:lstStyle/>
          <a:p>
            <a:pPr algn="l" indent="0" marL="0">
              <a:buNone/>
            </a:pPr>
            <a:r>
              <a:rPr lang="en-US" sz="4500" b="1" spc="-45" kern="0" dirty="0">
                <a:solidFill>
                  <a:srgbClr val="1A1F2C"/>
                </a:solidFill>
                <a:latin typeface="Noto Sans KR" pitchFamily="34" charset="0"/>
                <a:ea typeface="Noto Sans KR" pitchFamily="34" charset="-122"/>
                <a:cs typeface="Noto Sans KR" pitchFamily="34" charset="-120"/>
              </a:rPr>
              <a:t>ACI CD Variation</a:t>
            </a:r>
            <a:endParaRPr lang="en-US" sz="4500" dirty="0"/>
          </a:p>
        </p:txBody>
      </p:sp>
      <p:sp>
        <p:nvSpPr>
          <p:cNvPr id="9" name="Text 3"/>
          <p:cNvSpPr txBox="1"/>
          <p:nvPr/>
        </p:nvSpPr>
        <p:spPr>
          <a:xfrm>
            <a:off x="952805" y="1857146"/>
            <a:ext cx="10478110" cy="295351"/>
          </a:xfrm>
          <a:prstGeom prst="rect">
            <a:avLst/>
          </a:prstGeom>
          <a:noFill/>
          <a:ln/>
        </p:spPr>
        <p:txBody>
          <a:bodyPr wrap="none" lIns="0" tIns="0" rIns="0" bIns="0" rtlCol="0" anchor="ctr"/>
          <a:lstStyle/>
          <a:p>
            <a:pPr algn="l" indent="0" marL="0">
              <a:buNone/>
            </a:pPr>
            <a:r>
              <a:rPr lang="en-US" sz="1650" dirty="0">
                <a:solidFill>
                  <a:srgbClr val="5C5448"/>
                </a:solidFill>
                <a:latin typeface="Noto Sans KR" pitchFamily="34" charset="0"/>
                <a:ea typeface="Noto Sans KR" pitchFamily="34" charset="-122"/>
                <a:cs typeface="Noto Sans KR" pitchFamily="34" charset="-120"/>
              </a:rPr>
              <a:t>cut 공정 종료 후 tip 결정 · mandrel quartet/doublet이 cut block을 통과한 후의 최종 라인 폭</a:t>
            </a:r>
            <a:endParaRPr lang="en-US" sz="1650" dirty="0"/>
          </a:p>
        </p:txBody>
      </p:sp>
      <p:sp>
        <p:nvSpPr>
          <p:cNvPr id="10" name="Text 4"/>
          <p:cNvSpPr txBox="1"/>
          <p:nvPr/>
        </p:nvSpPr>
        <p:spPr>
          <a:xfrm>
            <a:off x="15430500" y="1123798"/>
            <a:ext cx="1905610" cy="342900"/>
          </a:xfrm>
          <a:prstGeom prst="rect">
            <a:avLst/>
          </a:prstGeom>
          <a:noFill/>
          <a:ln/>
        </p:spPr>
        <p:txBody>
          <a:bodyPr wrap="none" lIns="0" tIns="0" rIns="0" bIns="0" rtlCol="0" anchor="ctr"/>
          <a:lstStyle/>
          <a:p>
            <a:pPr algn="ctr" indent="0" marL="0">
              <a:buNone/>
            </a:pPr>
            <a:r>
              <a:rPr lang="en-US" sz="1050" b="1" spc="210" kern="0" dirty="0">
                <a:solidFill>
                  <a:srgbClr val="FFE2C9"/>
                </a:solidFill>
                <a:latin typeface="JetBrains Mono" pitchFamily="34" charset="0"/>
                <a:ea typeface="JetBrains Mono" pitchFamily="34" charset="-122"/>
                <a:cs typeface="JetBrains Mono" pitchFamily="34" charset="-120"/>
              </a:rPr>
              <a:t>TARGET</a:t>
            </a:r>
            <a:endParaRPr lang="en-US" sz="1050" dirty="0"/>
          </a:p>
        </p:txBody>
      </p:sp>
      <p:sp>
        <p:nvSpPr>
          <p:cNvPr id="11" name="Text 5"/>
          <p:cNvSpPr txBox="1"/>
          <p:nvPr/>
        </p:nvSpPr>
        <p:spPr>
          <a:xfrm>
            <a:off x="15430500" y="1524305"/>
            <a:ext cx="1905610" cy="676656"/>
          </a:xfrm>
          <a:prstGeom prst="rect">
            <a:avLst/>
          </a:prstGeom>
          <a:noFill/>
          <a:ln/>
        </p:spPr>
        <p:txBody>
          <a:bodyPr wrap="none" lIns="0" tIns="0" rIns="0" bIns="0" rtlCol="0" anchor="ctr"/>
          <a:lstStyle/>
          <a:p>
            <a:pPr algn="ctr" indent="0" marL="0">
              <a:buNone/>
            </a:pPr>
            <a:r>
              <a:rPr lang="en-US" sz="4050" b="1" dirty="0">
                <a:solidFill>
                  <a:srgbClr val="FFFFFF"/>
                </a:solidFill>
                <a:latin typeface="JetBrains Mono" pitchFamily="34" charset="0"/>
                <a:ea typeface="JetBrains Mono" pitchFamily="34" charset="-122"/>
                <a:cs typeface="JetBrains Mono" pitchFamily="34" charset="-120"/>
              </a:rPr>
              <a:t>8.9</a:t>
            </a:r>
            <a:endParaRPr lang="en-US" sz="4050" dirty="0"/>
          </a:p>
        </p:txBody>
      </p:sp>
      <p:sp>
        <p:nvSpPr>
          <p:cNvPr id="12" name="Text 6"/>
          <p:cNvSpPr txBox="1"/>
          <p:nvPr/>
        </p:nvSpPr>
        <p:spPr>
          <a:xfrm>
            <a:off x="15430500" y="2200046"/>
            <a:ext cx="1905610" cy="191110"/>
          </a:xfrm>
          <a:prstGeom prst="rect">
            <a:avLst/>
          </a:prstGeom>
          <a:noFill/>
          <a:ln/>
        </p:spPr>
        <p:txBody>
          <a:bodyPr wrap="none" lIns="0" tIns="0" rIns="0" bIns="0" rtlCol="0" anchor="ctr"/>
          <a:lstStyle/>
          <a:p>
            <a:pPr algn="ctr" indent="0" marL="0">
              <a:buNone/>
            </a:pPr>
            <a:r>
              <a:rPr lang="en-US" sz="1050" b="1" dirty="0">
                <a:solidFill>
                  <a:srgbClr val="FFE2C9"/>
                </a:solidFill>
                <a:latin typeface="Noto Sans KR" pitchFamily="34" charset="0"/>
                <a:ea typeface="Noto Sans KR" pitchFamily="34" charset="-122"/>
                <a:cs typeface="Noto Sans KR" pitchFamily="34" charset="-120"/>
              </a:rPr>
              <a:t>nm</a:t>
            </a:r>
            <a:endParaRPr lang="en-US" sz="1050" dirty="0"/>
          </a:p>
        </p:txBody>
      </p:sp>
      <p:sp>
        <p:nvSpPr>
          <p:cNvPr id="13" name="Shape 7"/>
          <p:cNvSpPr/>
          <p:nvPr/>
        </p:nvSpPr>
        <p:spPr>
          <a:xfrm>
            <a:off x="952805" y="3124505"/>
            <a:ext cx="11430000" cy="571500"/>
          </a:xfrm>
          <a:prstGeom prst="rect">
            <a:avLst/>
          </a:prstGeom>
          <a:solidFill>
            <a:srgbClr val="1A1F2C"/>
          </a:solidFill>
          <a:ln w="12700">
            <a:solidFill>
              <a:srgbClr val="FFFFFF">
                <a:alpha val="0"/>
              </a:srgbClr>
            </a:solidFill>
            <a:prstDash val="solid"/>
          </a:ln>
        </p:spPr>
      </p:sp>
      <p:sp>
        <p:nvSpPr>
          <p:cNvPr id="14" name="Text 8"/>
          <p:cNvSpPr txBox="1"/>
          <p:nvPr/>
        </p:nvSpPr>
        <p:spPr>
          <a:xfrm>
            <a:off x="952805" y="3124505"/>
            <a:ext cx="1619402" cy="571500"/>
          </a:xfrm>
          <a:prstGeom prst="rect">
            <a:avLst/>
          </a:prstGeom>
          <a:noFill/>
          <a:ln/>
        </p:spPr>
        <p:txBody>
          <a:bodyPr wrap="square" lIns="0" tIns="0" rIns="0" bIns="0" rtlCol="0" anchor="ctr"/>
          <a:lstStyle/>
          <a:p>
            <a:pPr algn="l" indent="0" marL="0">
              <a:buNone/>
            </a:pPr>
            <a:r>
              <a:rPr lang="en-US" sz="1500" b="1" spc="180" kern="0" dirty="0">
                <a:solidFill>
                  <a:srgbClr val="E8762E"/>
                </a:solidFill>
                <a:latin typeface="Noto Sans KR" pitchFamily="34" charset="0"/>
                <a:ea typeface="Noto Sans KR" pitchFamily="34" charset="-122"/>
                <a:cs typeface="Noto Sans KR" pitchFamily="34" charset="-120"/>
              </a:rPr>
              <a:t>WAFER</a:t>
            </a:r>
            <a:endParaRPr lang="en-US" sz="1500" dirty="0"/>
          </a:p>
        </p:txBody>
      </p:sp>
      <p:sp>
        <p:nvSpPr>
          <p:cNvPr id="15" name="Text 9"/>
          <p:cNvSpPr txBox="1"/>
          <p:nvPr/>
        </p:nvSpPr>
        <p:spPr>
          <a:xfrm>
            <a:off x="2572207" y="3124505"/>
            <a:ext cx="2190902" cy="571500"/>
          </a:xfrm>
          <a:prstGeom prst="rect">
            <a:avLst/>
          </a:prstGeom>
          <a:noFill/>
          <a:ln/>
        </p:spPr>
        <p:txBody>
          <a:bodyPr wrap="square" lIns="0" tIns="0" rIns="0" bIns="0" rtlCol="0" anchor="ctr"/>
          <a:lstStyle/>
          <a:p>
            <a:pPr algn="l" indent="0" marL="0">
              <a:buNone/>
            </a:pPr>
            <a:r>
              <a:rPr lang="en-US" sz="1500" b="1" spc="180" kern="0" dirty="0">
                <a:solidFill>
                  <a:srgbClr val="E8762E"/>
                </a:solidFill>
                <a:latin typeface="Noto Sans KR" pitchFamily="34" charset="0"/>
                <a:ea typeface="Noto Sans KR" pitchFamily="34" charset="-122"/>
                <a:cs typeface="Noto Sans KR" pitchFamily="34" charset="-120"/>
              </a:rPr>
              <a:t>PROCESS</a:t>
            </a:r>
            <a:endParaRPr lang="en-US" sz="1500" dirty="0"/>
          </a:p>
        </p:txBody>
      </p:sp>
      <p:sp>
        <p:nvSpPr>
          <p:cNvPr id="16" name="Text 10"/>
          <p:cNvSpPr txBox="1"/>
          <p:nvPr/>
        </p:nvSpPr>
        <p:spPr>
          <a:xfrm>
            <a:off x="4762195" y="3124505"/>
            <a:ext cx="1905610" cy="571500"/>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MEAN</a:t>
            </a:r>
            <a:endParaRPr lang="en-US" sz="1500" dirty="0"/>
          </a:p>
        </p:txBody>
      </p:sp>
      <p:sp>
        <p:nvSpPr>
          <p:cNvPr id="17" name="Text 11"/>
          <p:cNvSpPr txBox="1"/>
          <p:nvPr/>
        </p:nvSpPr>
        <p:spPr>
          <a:xfrm>
            <a:off x="6667805" y="3124505"/>
            <a:ext cx="1905610" cy="571500"/>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3σ</a:t>
            </a:r>
            <a:endParaRPr lang="en-US" sz="1500" dirty="0"/>
          </a:p>
        </p:txBody>
      </p:sp>
      <p:sp>
        <p:nvSpPr>
          <p:cNvPr id="18" name="Text 12"/>
          <p:cNvSpPr txBox="1"/>
          <p:nvPr/>
        </p:nvSpPr>
        <p:spPr>
          <a:xfrm>
            <a:off x="8572500" y="3124505"/>
            <a:ext cx="1905610" cy="571500"/>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RANGE</a:t>
            </a:r>
            <a:endParaRPr lang="en-US" sz="1500" dirty="0"/>
          </a:p>
        </p:txBody>
      </p:sp>
      <p:sp>
        <p:nvSpPr>
          <p:cNvPr id="19" name="Text 13"/>
          <p:cNvSpPr txBox="1"/>
          <p:nvPr/>
        </p:nvSpPr>
        <p:spPr>
          <a:xfrm>
            <a:off x="10477195" y="3124505"/>
            <a:ext cx="1905610" cy="571500"/>
          </a:xfrm>
          <a:prstGeom prst="rect">
            <a:avLst/>
          </a:prstGeom>
          <a:noFill/>
          <a:ln/>
        </p:spPr>
        <p:txBody>
          <a:bodyPr wrap="square" lIns="0" tIns="0" rIns="0" bIns="0" rtlCol="0" anchor="ctr"/>
          <a:lstStyle/>
          <a:p>
            <a:pPr algn="r" indent="0" marL="0">
              <a:buNone/>
            </a:pPr>
            <a:r>
              <a:rPr lang="en-US" sz="1500" b="1" spc="180" kern="0" dirty="0">
                <a:solidFill>
                  <a:srgbClr val="E8762E"/>
                </a:solidFill>
                <a:latin typeface="Noto Sans KR" pitchFamily="34" charset="0"/>
                <a:ea typeface="Noto Sans KR" pitchFamily="34" charset="-122"/>
                <a:cs typeface="Noto Sans KR" pitchFamily="34" charset="-120"/>
              </a:rPr>
              <a:t>Δ vs TGT</a:t>
            </a:r>
            <a:endParaRPr lang="en-US" sz="1500" dirty="0"/>
          </a:p>
        </p:txBody>
      </p:sp>
      <p:sp>
        <p:nvSpPr>
          <p:cNvPr id="20" name="Shape 14"/>
          <p:cNvSpPr/>
          <p:nvPr/>
        </p:nvSpPr>
        <p:spPr>
          <a:xfrm>
            <a:off x="952805" y="3696005"/>
            <a:ext cx="11430000" cy="761695"/>
          </a:xfrm>
          <a:prstGeom prst="rect">
            <a:avLst/>
          </a:prstGeom>
          <a:solidFill>
            <a:srgbClr val="FBF7EF"/>
          </a:solidFill>
          <a:ln w="12700">
            <a:solidFill>
              <a:srgbClr val="FFFFFF">
                <a:alpha val="0"/>
              </a:srgbClr>
            </a:solidFill>
            <a:prstDash val="solid"/>
          </a:ln>
        </p:spPr>
      </p:sp>
      <p:sp>
        <p:nvSpPr>
          <p:cNvPr id="21" name="Text 15"/>
          <p:cNvSpPr txBox="1"/>
          <p:nvPr/>
        </p:nvSpPr>
        <p:spPr>
          <a:xfrm>
            <a:off x="952805" y="3696005"/>
            <a:ext cx="1619402" cy="76261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W01</a:t>
            </a:r>
            <a:endParaRPr lang="en-US" sz="1950" dirty="0"/>
          </a:p>
        </p:txBody>
      </p:sp>
      <p:sp>
        <p:nvSpPr>
          <p:cNvPr id="22" name="Text 16"/>
          <p:cNvSpPr txBox="1"/>
          <p:nvPr/>
        </p:nvSpPr>
        <p:spPr>
          <a:xfrm>
            <a:off x="4762195" y="369600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9.04</a:t>
            </a:r>
            <a:endParaRPr lang="en-US" sz="1950" dirty="0"/>
          </a:p>
        </p:txBody>
      </p:sp>
      <p:sp>
        <p:nvSpPr>
          <p:cNvPr id="23" name="Text 17"/>
          <p:cNvSpPr txBox="1"/>
          <p:nvPr/>
        </p:nvSpPr>
        <p:spPr>
          <a:xfrm>
            <a:off x="6667805" y="369600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0.27</a:t>
            </a:r>
            <a:endParaRPr lang="en-US" sz="1950" dirty="0"/>
          </a:p>
        </p:txBody>
      </p:sp>
      <p:sp>
        <p:nvSpPr>
          <p:cNvPr id="24" name="Text 18"/>
          <p:cNvSpPr txBox="1"/>
          <p:nvPr/>
        </p:nvSpPr>
        <p:spPr>
          <a:xfrm>
            <a:off x="8572500" y="369600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0.82</a:t>
            </a:r>
            <a:endParaRPr lang="en-US" sz="1950" dirty="0"/>
          </a:p>
        </p:txBody>
      </p:sp>
      <p:sp>
        <p:nvSpPr>
          <p:cNvPr id="25" name="Text 19"/>
          <p:cNvSpPr txBox="1"/>
          <p:nvPr/>
        </p:nvSpPr>
        <p:spPr>
          <a:xfrm>
            <a:off x="10477195" y="3696005"/>
            <a:ext cx="1905610" cy="76261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+0.14</a:t>
            </a:r>
            <a:endParaRPr lang="en-US" sz="1950" dirty="0"/>
          </a:p>
        </p:txBody>
      </p:sp>
      <p:sp>
        <p:nvSpPr>
          <p:cNvPr id="26" name="Shape 20"/>
          <p:cNvSpPr/>
          <p:nvPr/>
        </p:nvSpPr>
        <p:spPr>
          <a:xfrm>
            <a:off x="952805" y="4457700"/>
            <a:ext cx="11430000" cy="761695"/>
          </a:xfrm>
          <a:prstGeom prst="rect">
            <a:avLst/>
          </a:prstGeom>
          <a:solidFill>
            <a:srgbClr val="F4ECDC"/>
          </a:solidFill>
          <a:ln w="12700">
            <a:solidFill>
              <a:srgbClr val="FFFFFF">
                <a:alpha val="0"/>
              </a:srgbClr>
            </a:solidFill>
            <a:prstDash val="solid"/>
          </a:ln>
        </p:spPr>
      </p:sp>
      <p:sp>
        <p:nvSpPr>
          <p:cNvPr id="27" name="Text 21"/>
          <p:cNvSpPr txBox="1"/>
          <p:nvPr/>
        </p:nvSpPr>
        <p:spPr>
          <a:xfrm>
            <a:off x="952805" y="4457700"/>
            <a:ext cx="1619402" cy="76261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W02</a:t>
            </a:r>
            <a:endParaRPr lang="en-US" sz="1950" dirty="0"/>
          </a:p>
        </p:txBody>
      </p:sp>
      <p:sp>
        <p:nvSpPr>
          <p:cNvPr id="28" name="Text 22"/>
          <p:cNvSpPr txBox="1"/>
          <p:nvPr/>
        </p:nvSpPr>
        <p:spPr>
          <a:xfrm>
            <a:off x="4762195" y="4457700"/>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9.09</a:t>
            </a:r>
            <a:endParaRPr lang="en-US" sz="1950" dirty="0"/>
          </a:p>
        </p:txBody>
      </p:sp>
      <p:sp>
        <p:nvSpPr>
          <p:cNvPr id="29" name="Text 23"/>
          <p:cNvSpPr txBox="1"/>
          <p:nvPr/>
        </p:nvSpPr>
        <p:spPr>
          <a:xfrm>
            <a:off x="6667805" y="4457700"/>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0.31</a:t>
            </a:r>
            <a:endParaRPr lang="en-US" sz="1950" dirty="0"/>
          </a:p>
        </p:txBody>
      </p:sp>
      <p:sp>
        <p:nvSpPr>
          <p:cNvPr id="30" name="Text 24"/>
          <p:cNvSpPr txBox="1"/>
          <p:nvPr/>
        </p:nvSpPr>
        <p:spPr>
          <a:xfrm>
            <a:off x="8572500" y="4457700"/>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0.94</a:t>
            </a:r>
            <a:endParaRPr lang="en-US" sz="1950" dirty="0"/>
          </a:p>
        </p:txBody>
      </p:sp>
      <p:sp>
        <p:nvSpPr>
          <p:cNvPr id="31" name="Text 25"/>
          <p:cNvSpPr txBox="1"/>
          <p:nvPr/>
        </p:nvSpPr>
        <p:spPr>
          <a:xfrm>
            <a:off x="10477195" y="4457700"/>
            <a:ext cx="1905610" cy="76261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+0.19</a:t>
            </a:r>
            <a:endParaRPr lang="en-US" sz="1950" dirty="0"/>
          </a:p>
        </p:txBody>
      </p:sp>
      <p:sp>
        <p:nvSpPr>
          <p:cNvPr id="32" name="Shape 26"/>
          <p:cNvSpPr/>
          <p:nvPr/>
        </p:nvSpPr>
        <p:spPr>
          <a:xfrm>
            <a:off x="952805" y="5219395"/>
            <a:ext cx="11430000" cy="761695"/>
          </a:xfrm>
          <a:prstGeom prst="rect">
            <a:avLst/>
          </a:prstGeom>
          <a:solidFill>
            <a:srgbClr val="FBF7EF"/>
          </a:solidFill>
          <a:ln w="12700">
            <a:solidFill>
              <a:srgbClr val="FFFFFF">
                <a:alpha val="0"/>
              </a:srgbClr>
            </a:solidFill>
            <a:prstDash val="solid"/>
          </a:ln>
        </p:spPr>
      </p:sp>
      <p:sp>
        <p:nvSpPr>
          <p:cNvPr id="33" name="Text 27"/>
          <p:cNvSpPr txBox="1"/>
          <p:nvPr/>
        </p:nvSpPr>
        <p:spPr>
          <a:xfrm>
            <a:off x="952805" y="5219395"/>
            <a:ext cx="1619402" cy="76261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W03</a:t>
            </a:r>
            <a:endParaRPr lang="en-US" sz="1950" dirty="0"/>
          </a:p>
        </p:txBody>
      </p:sp>
      <p:sp>
        <p:nvSpPr>
          <p:cNvPr id="34" name="Text 28"/>
          <p:cNvSpPr txBox="1"/>
          <p:nvPr/>
        </p:nvSpPr>
        <p:spPr>
          <a:xfrm>
            <a:off x="4762195" y="521939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9.12</a:t>
            </a:r>
            <a:endParaRPr lang="en-US" sz="1950" dirty="0"/>
          </a:p>
        </p:txBody>
      </p:sp>
      <p:sp>
        <p:nvSpPr>
          <p:cNvPr id="35" name="Text 29"/>
          <p:cNvSpPr txBox="1"/>
          <p:nvPr/>
        </p:nvSpPr>
        <p:spPr>
          <a:xfrm>
            <a:off x="6667805" y="521939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0.36</a:t>
            </a:r>
            <a:endParaRPr lang="en-US" sz="1950" dirty="0"/>
          </a:p>
        </p:txBody>
      </p:sp>
      <p:sp>
        <p:nvSpPr>
          <p:cNvPr id="36" name="Text 30"/>
          <p:cNvSpPr txBox="1"/>
          <p:nvPr/>
        </p:nvSpPr>
        <p:spPr>
          <a:xfrm>
            <a:off x="8572500" y="521939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1.10</a:t>
            </a:r>
            <a:endParaRPr lang="en-US" sz="1950" dirty="0"/>
          </a:p>
        </p:txBody>
      </p:sp>
      <p:sp>
        <p:nvSpPr>
          <p:cNvPr id="37" name="Text 31"/>
          <p:cNvSpPr txBox="1"/>
          <p:nvPr/>
        </p:nvSpPr>
        <p:spPr>
          <a:xfrm>
            <a:off x="10477195" y="5219395"/>
            <a:ext cx="1905610" cy="762610"/>
          </a:xfrm>
          <a:prstGeom prst="rect">
            <a:avLst/>
          </a:prstGeom>
          <a:noFill/>
          <a:ln/>
        </p:spPr>
        <p:txBody>
          <a:bodyPr wrap="square" lIns="0" tIns="0" rIns="0" bIns="0" rtlCol="0" anchor="ctr"/>
          <a:lstStyle/>
          <a:p>
            <a:pPr algn="r" indent="0" marL="0">
              <a:buNone/>
            </a:pPr>
            <a:r>
              <a:rPr lang="en-US" sz="1950" b="1" dirty="0">
                <a:solidFill>
                  <a:srgbClr val="B8430E"/>
                </a:solidFill>
                <a:latin typeface="JetBrains Mono" pitchFamily="34" charset="0"/>
                <a:ea typeface="JetBrains Mono" pitchFamily="34" charset="-122"/>
                <a:cs typeface="JetBrains Mono" pitchFamily="34" charset="-120"/>
              </a:rPr>
              <a:t>+0.22</a:t>
            </a:r>
            <a:endParaRPr lang="en-US" sz="1950" dirty="0"/>
          </a:p>
        </p:txBody>
      </p:sp>
      <p:sp>
        <p:nvSpPr>
          <p:cNvPr id="38" name="Shape 32"/>
          <p:cNvSpPr/>
          <p:nvPr/>
        </p:nvSpPr>
        <p:spPr>
          <a:xfrm>
            <a:off x="952805" y="5982005"/>
            <a:ext cx="11430000" cy="761695"/>
          </a:xfrm>
          <a:prstGeom prst="rect">
            <a:avLst/>
          </a:prstGeom>
          <a:solidFill>
            <a:srgbClr val="F4ECDC"/>
          </a:solidFill>
          <a:ln w="12700">
            <a:solidFill>
              <a:srgbClr val="FFFFFF">
                <a:alpha val="0"/>
              </a:srgbClr>
            </a:solidFill>
            <a:prstDash val="solid"/>
          </a:ln>
        </p:spPr>
      </p:sp>
      <p:sp>
        <p:nvSpPr>
          <p:cNvPr id="39" name="Text 33"/>
          <p:cNvSpPr txBox="1"/>
          <p:nvPr/>
        </p:nvSpPr>
        <p:spPr>
          <a:xfrm>
            <a:off x="952805" y="5982005"/>
            <a:ext cx="1619402" cy="76261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W04</a:t>
            </a:r>
            <a:endParaRPr lang="en-US" sz="1950" dirty="0"/>
          </a:p>
        </p:txBody>
      </p:sp>
      <p:sp>
        <p:nvSpPr>
          <p:cNvPr id="40" name="Text 34"/>
          <p:cNvSpPr txBox="1"/>
          <p:nvPr/>
        </p:nvSpPr>
        <p:spPr>
          <a:xfrm>
            <a:off x="4762195" y="598200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8.83</a:t>
            </a:r>
            <a:endParaRPr lang="en-US" sz="1950" dirty="0"/>
          </a:p>
        </p:txBody>
      </p:sp>
      <p:sp>
        <p:nvSpPr>
          <p:cNvPr id="41" name="Text 35"/>
          <p:cNvSpPr txBox="1"/>
          <p:nvPr/>
        </p:nvSpPr>
        <p:spPr>
          <a:xfrm>
            <a:off x="6667805" y="598200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0.13</a:t>
            </a:r>
            <a:endParaRPr lang="en-US" sz="1950" dirty="0"/>
          </a:p>
        </p:txBody>
      </p:sp>
      <p:sp>
        <p:nvSpPr>
          <p:cNvPr id="42" name="Text 36"/>
          <p:cNvSpPr txBox="1"/>
          <p:nvPr/>
        </p:nvSpPr>
        <p:spPr>
          <a:xfrm>
            <a:off x="8572500" y="598200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0.39</a:t>
            </a:r>
            <a:endParaRPr lang="en-US" sz="1950" dirty="0"/>
          </a:p>
        </p:txBody>
      </p:sp>
      <p:sp>
        <p:nvSpPr>
          <p:cNvPr id="43" name="Text 37"/>
          <p:cNvSpPr txBox="1"/>
          <p:nvPr/>
        </p:nvSpPr>
        <p:spPr>
          <a:xfrm>
            <a:off x="10477195" y="598200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−0.07</a:t>
            </a:r>
            <a:endParaRPr lang="en-US" sz="1950" dirty="0"/>
          </a:p>
        </p:txBody>
      </p:sp>
      <p:sp>
        <p:nvSpPr>
          <p:cNvPr id="44" name="Shape 38"/>
          <p:cNvSpPr/>
          <p:nvPr/>
        </p:nvSpPr>
        <p:spPr>
          <a:xfrm>
            <a:off x="952805" y="6743700"/>
            <a:ext cx="11430000" cy="761695"/>
          </a:xfrm>
          <a:prstGeom prst="rect">
            <a:avLst/>
          </a:prstGeom>
          <a:solidFill>
            <a:srgbClr val="FBF7EF"/>
          </a:solidFill>
          <a:ln w="12700">
            <a:solidFill>
              <a:srgbClr val="FFFFFF">
                <a:alpha val="0"/>
              </a:srgbClr>
            </a:solidFill>
            <a:prstDash val="solid"/>
          </a:ln>
        </p:spPr>
      </p:sp>
      <p:sp>
        <p:nvSpPr>
          <p:cNvPr id="45" name="Text 39"/>
          <p:cNvSpPr txBox="1"/>
          <p:nvPr/>
        </p:nvSpPr>
        <p:spPr>
          <a:xfrm>
            <a:off x="952805" y="6743700"/>
            <a:ext cx="1619402" cy="76261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W05</a:t>
            </a:r>
            <a:endParaRPr lang="en-US" sz="1950" dirty="0"/>
          </a:p>
        </p:txBody>
      </p:sp>
      <p:sp>
        <p:nvSpPr>
          <p:cNvPr id="46" name="Text 40"/>
          <p:cNvSpPr txBox="1"/>
          <p:nvPr/>
        </p:nvSpPr>
        <p:spPr>
          <a:xfrm>
            <a:off x="4762195" y="6743700"/>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8.86</a:t>
            </a:r>
            <a:endParaRPr lang="en-US" sz="1950" dirty="0"/>
          </a:p>
        </p:txBody>
      </p:sp>
      <p:sp>
        <p:nvSpPr>
          <p:cNvPr id="47" name="Text 41"/>
          <p:cNvSpPr txBox="1"/>
          <p:nvPr/>
        </p:nvSpPr>
        <p:spPr>
          <a:xfrm>
            <a:off x="6667805" y="6743700"/>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0.12</a:t>
            </a:r>
            <a:endParaRPr lang="en-US" sz="1950" dirty="0"/>
          </a:p>
        </p:txBody>
      </p:sp>
      <p:sp>
        <p:nvSpPr>
          <p:cNvPr id="48" name="Text 42"/>
          <p:cNvSpPr txBox="1"/>
          <p:nvPr/>
        </p:nvSpPr>
        <p:spPr>
          <a:xfrm>
            <a:off x="8572500" y="6743700"/>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0.36</a:t>
            </a:r>
            <a:endParaRPr lang="en-US" sz="1950" dirty="0"/>
          </a:p>
        </p:txBody>
      </p:sp>
      <p:sp>
        <p:nvSpPr>
          <p:cNvPr id="49" name="Text 43"/>
          <p:cNvSpPr txBox="1"/>
          <p:nvPr/>
        </p:nvSpPr>
        <p:spPr>
          <a:xfrm>
            <a:off x="10477195" y="6743700"/>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−0.04</a:t>
            </a:r>
            <a:endParaRPr lang="en-US" sz="1950" dirty="0"/>
          </a:p>
        </p:txBody>
      </p:sp>
      <p:sp>
        <p:nvSpPr>
          <p:cNvPr id="50" name="Shape 44"/>
          <p:cNvSpPr/>
          <p:nvPr/>
        </p:nvSpPr>
        <p:spPr>
          <a:xfrm>
            <a:off x="952805" y="7505395"/>
            <a:ext cx="11430000" cy="761695"/>
          </a:xfrm>
          <a:prstGeom prst="rect">
            <a:avLst/>
          </a:prstGeom>
          <a:solidFill>
            <a:srgbClr val="F4ECDC"/>
          </a:solidFill>
          <a:ln w="12700">
            <a:solidFill>
              <a:srgbClr val="FFFFFF">
                <a:alpha val="0"/>
              </a:srgbClr>
            </a:solidFill>
            <a:prstDash val="solid"/>
          </a:ln>
        </p:spPr>
      </p:sp>
      <p:sp>
        <p:nvSpPr>
          <p:cNvPr id="51" name="Text 45"/>
          <p:cNvSpPr txBox="1"/>
          <p:nvPr/>
        </p:nvSpPr>
        <p:spPr>
          <a:xfrm>
            <a:off x="952805" y="7505395"/>
            <a:ext cx="1619402" cy="762610"/>
          </a:xfrm>
          <a:prstGeom prst="rect">
            <a:avLst/>
          </a:prstGeom>
          <a:noFill/>
          <a:ln/>
        </p:spPr>
        <p:txBody>
          <a:bodyPr wrap="square" lIns="0" tIns="0" rIns="0" bIns="0" rtlCol="0" anchor="ctr"/>
          <a:lstStyle/>
          <a:p>
            <a:pPr algn="l" indent="0" marL="0">
              <a:buNone/>
            </a:pPr>
            <a:r>
              <a:rPr lang="en-US" sz="1950" b="1" dirty="0">
                <a:solidFill>
                  <a:srgbClr val="1A1F2C"/>
                </a:solidFill>
                <a:latin typeface="JetBrains Mono" pitchFamily="34" charset="0"/>
                <a:ea typeface="JetBrains Mono" pitchFamily="34" charset="-122"/>
                <a:cs typeface="JetBrains Mono" pitchFamily="34" charset="-120"/>
              </a:rPr>
              <a:t>W06</a:t>
            </a:r>
            <a:endParaRPr lang="en-US" sz="1950" dirty="0"/>
          </a:p>
        </p:txBody>
      </p:sp>
      <p:sp>
        <p:nvSpPr>
          <p:cNvPr id="52" name="Text 46"/>
          <p:cNvSpPr txBox="1"/>
          <p:nvPr/>
        </p:nvSpPr>
        <p:spPr>
          <a:xfrm>
            <a:off x="4762195" y="750539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8.81</a:t>
            </a:r>
            <a:endParaRPr lang="en-US" sz="1950" dirty="0"/>
          </a:p>
        </p:txBody>
      </p:sp>
      <p:sp>
        <p:nvSpPr>
          <p:cNvPr id="53" name="Text 47"/>
          <p:cNvSpPr txBox="1"/>
          <p:nvPr/>
        </p:nvSpPr>
        <p:spPr>
          <a:xfrm>
            <a:off x="6667805" y="750539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0.10</a:t>
            </a:r>
            <a:endParaRPr lang="en-US" sz="1950" dirty="0"/>
          </a:p>
        </p:txBody>
      </p:sp>
      <p:sp>
        <p:nvSpPr>
          <p:cNvPr id="54" name="Text 48"/>
          <p:cNvSpPr txBox="1"/>
          <p:nvPr/>
        </p:nvSpPr>
        <p:spPr>
          <a:xfrm>
            <a:off x="8572500" y="750539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0.32</a:t>
            </a:r>
            <a:endParaRPr lang="en-US" sz="1950" dirty="0"/>
          </a:p>
        </p:txBody>
      </p:sp>
      <p:sp>
        <p:nvSpPr>
          <p:cNvPr id="55" name="Text 49"/>
          <p:cNvSpPr txBox="1"/>
          <p:nvPr/>
        </p:nvSpPr>
        <p:spPr>
          <a:xfrm>
            <a:off x="10477195" y="7505395"/>
            <a:ext cx="1905610" cy="762610"/>
          </a:xfrm>
          <a:prstGeom prst="rect">
            <a:avLst/>
          </a:prstGeom>
          <a:noFill/>
          <a:ln/>
        </p:spPr>
        <p:txBody>
          <a:bodyPr wrap="square" lIns="0" tIns="0" rIns="0" bIns="0" rtlCol="0" anchor="ctr"/>
          <a:lstStyle/>
          <a:p>
            <a:pPr algn="r" indent="0" marL="0">
              <a:buNone/>
            </a:pPr>
            <a:r>
              <a:rPr lang="en-US" sz="1950" b="1" dirty="0">
                <a:solidFill>
                  <a:srgbClr val="1A1F2C"/>
                </a:solidFill>
                <a:latin typeface="JetBrains Mono" pitchFamily="34" charset="0"/>
                <a:ea typeface="JetBrains Mono" pitchFamily="34" charset="-122"/>
                <a:cs typeface="JetBrains Mono" pitchFamily="34" charset="-120"/>
              </a:rPr>
              <a:t>−0.09</a:t>
            </a:r>
            <a:endParaRPr lang="en-US" sz="1950" dirty="0"/>
          </a:p>
        </p:txBody>
      </p:sp>
      <p:sp>
        <p:nvSpPr>
          <p:cNvPr id="56" name="Text 50"/>
          <p:cNvSpPr txBox="1"/>
          <p:nvPr/>
        </p:nvSpPr>
        <p:spPr>
          <a:xfrm>
            <a:off x="2628900" y="3914546"/>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7" name="Text 51"/>
          <p:cNvSpPr txBox="1"/>
          <p:nvPr/>
        </p:nvSpPr>
        <p:spPr>
          <a:xfrm>
            <a:off x="2628900" y="4677156"/>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8" name="Text 52"/>
          <p:cNvSpPr txBox="1"/>
          <p:nvPr/>
        </p:nvSpPr>
        <p:spPr>
          <a:xfrm>
            <a:off x="2628900" y="5438851"/>
            <a:ext cx="816559" cy="342900"/>
          </a:xfrm>
          <a:prstGeom prst="rect">
            <a:avLst/>
          </a:prstGeom>
          <a:solidFill>
            <a:srgbClr val="2D3848"/>
          </a:solidFill>
          <a:ln>
            <a:solidFill>
              <a:srgbClr val="FFFFFF">
                <a:alpha val="0"/>
              </a:srgbClr>
            </a:solidFill>
          </a:ln>
        </p:spPr>
        <p:txBody>
          <a:bodyPr wrap="none" lIns="139700" tIns="63500" rIns="139700" bIns="63500" rtlCol="0" anchor="ctr"/>
          <a:lstStyle/>
          <a:p>
            <a:pPr algn="l" indent="0" marL="0">
              <a:buNone/>
            </a:pPr>
            <a:r>
              <a:rPr lang="en-US" sz="1200" b="1" spc="120" kern="0" dirty="0">
                <a:solidFill>
                  <a:srgbClr val="F2EDE5"/>
                </a:solidFill>
                <a:latin typeface="Noto Sans KR" pitchFamily="34" charset="0"/>
                <a:ea typeface="Noto Sans KR" pitchFamily="34" charset="-122"/>
                <a:cs typeface="Noto Sans KR" pitchFamily="34" charset="-120"/>
              </a:rPr>
              <a:t>SAQP</a:t>
            </a:r>
            <a:endParaRPr lang="en-US" sz="1200" dirty="0"/>
          </a:p>
        </p:txBody>
      </p:sp>
      <p:sp>
        <p:nvSpPr>
          <p:cNvPr id="59" name="Text 53"/>
          <p:cNvSpPr txBox="1"/>
          <p:nvPr/>
        </p:nvSpPr>
        <p:spPr>
          <a:xfrm>
            <a:off x="2628900" y="6200546"/>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60" name="Text 54"/>
          <p:cNvSpPr txBox="1"/>
          <p:nvPr/>
        </p:nvSpPr>
        <p:spPr>
          <a:xfrm>
            <a:off x="2628900" y="6963156"/>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61" name="Text 55"/>
          <p:cNvSpPr txBox="1"/>
          <p:nvPr/>
        </p:nvSpPr>
        <p:spPr>
          <a:xfrm>
            <a:off x="2628900" y="7724851"/>
            <a:ext cx="1194206" cy="342900"/>
          </a:xfrm>
          <a:prstGeom prst="rect">
            <a:avLst/>
          </a:prstGeom>
          <a:solidFill>
            <a:srgbClr val="3E5C50"/>
          </a:solidFill>
          <a:ln>
            <a:solidFill>
              <a:srgbClr val="FFFFFF">
                <a:alpha val="0"/>
              </a:srgbClr>
            </a:solidFill>
          </a:ln>
        </p:spPr>
        <p:txBody>
          <a:bodyPr wrap="none" lIns="139700" tIns="63500" rIns="139700" bIns="63500" rtlCol="0" anchor="ctr"/>
          <a:lstStyle/>
          <a:p>
            <a:pPr algn="l" indent="0" marL="0">
              <a:buNone/>
            </a:pPr>
            <a:r>
              <a:rPr lang="en-US" sz="1200" b="1" spc="72" kern="0" dirty="0">
                <a:solidFill>
                  <a:srgbClr val="F2EDE5"/>
                </a:solidFill>
                <a:latin typeface="Noto Sans KR" pitchFamily="34" charset="0"/>
                <a:ea typeface="Noto Sans KR" pitchFamily="34" charset="-122"/>
                <a:cs typeface="Noto Sans KR" pitchFamily="34" charset="-120"/>
              </a:rPr>
              <a:t>SADP+SAB</a:t>
            </a:r>
            <a:endParaRPr lang="en-US" sz="1200" dirty="0"/>
          </a:p>
        </p:txBody>
      </p:sp>
      <p:sp>
        <p:nvSpPr>
          <p:cNvPr id="62" name="Text 56"/>
          <p:cNvSpPr txBox="1"/>
          <p:nvPr/>
        </p:nvSpPr>
        <p:spPr>
          <a:xfrm>
            <a:off x="12763195" y="5544007"/>
            <a:ext cx="4572000" cy="381305"/>
          </a:xfrm>
          <a:prstGeom prst="rect">
            <a:avLst/>
          </a:prstGeom>
          <a:noFill/>
          <a:ln/>
        </p:spPr>
        <p:txBody>
          <a:bodyPr wrap="square" lIns="0" tIns="0" rIns="0" bIns="0" rtlCol="0" anchor="ctr"/>
          <a:lstStyle/>
          <a:p>
            <a:pPr algn="l" indent="0" marL="0">
              <a:buNone/>
            </a:pPr>
            <a:r>
              <a:rPr lang="en-US" sz="1050" b="1" dirty="0">
                <a:solidFill>
                  <a:srgbClr val="FAF7F0"/>
                </a:solidFill>
                <a:latin typeface="Noto Sans KR" pitchFamily="34" charset="0"/>
                <a:ea typeface="Noto Sans KR" pitchFamily="34" charset="-122"/>
                <a:cs typeface="Noto Sans KR" pitchFamily="34" charset="-120"/>
              </a:rPr>
              <a:t>W06 wafer · cross-section SEM of stacked metal layers · reference micrograph</a:t>
            </a:r>
            <a:endParaRPr lang="en-US" sz="1050" dirty="0"/>
          </a:p>
        </p:txBody>
      </p:sp>
      <p:sp>
        <p:nvSpPr>
          <p:cNvPr id="63" name="Text 57"/>
          <p:cNvSpPr txBox="1"/>
          <p:nvPr/>
        </p:nvSpPr>
        <p:spPr>
          <a:xfrm>
            <a:off x="12763195" y="5962802"/>
            <a:ext cx="4572000" cy="324612"/>
          </a:xfrm>
          <a:prstGeom prst="rect">
            <a:avLst/>
          </a:prstGeom>
          <a:noFill/>
          <a:ln/>
        </p:spPr>
        <p:txBody>
          <a:bodyPr wrap="square" lIns="0" tIns="0" rIns="0" bIns="0" rtlCol="0" anchor="ctr"/>
          <a:lstStyle/>
          <a:p>
            <a:pPr algn="l" indent="0" marL="0">
              <a:buNone/>
            </a:pPr>
            <a:r>
              <a:rPr lang="en-US" sz="900" dirty="0">
                <a:solidFill>
                  <a:srgbClr val="9C9385"/>
                </a:solidFill>
                <a:latin typeface="Noto Sans KR" pitchFamily="34" charset="0"/>
                <a:ea typeface="Noto Sans KR" pitchFamily="34" charset="-122"/>
                <a:cs typeface="Noto Sans KR" pitchFamily="34" charset="-120"/>
              </a:rPr>
              <a:t>출처: imec — Semi-damascene metallization. (외부 참고용이며 본 보고서 수치는 시뮬레이션 값)</a:t>
            </a:r>
            <a:endParaRPr lang="en-US" sz="900" dirty="0"/>
          </a:p>
        </p:txBody>
      </p:sp>
      <p:pic>
        <p:nvPicPr>
          <p:cNvPr id="64" name="Image 3" descr="gen-dedup-0aaed0d55450f5208971d2019d1afdc4.png">    </p:cNvPr>
          <p:cNvPicPr>
            <a:picLocks noChangeAspect="1"/>
          </p:cNvPicPr>
          <p:nvPr/>
        </p:nvPicPr>
        <p:blipFill>
          <a:blip r:embed="rId4"/>
          <a:srcRect l="-2083" r="-2083" t="0" b="0"/>
          <a:stretch/>
        </p:blipFill>
        <p:spPr>
          <a:xfrm>
            <a:off x="13049402" y="6210605"/>
            <a:ext cx="4000500" cy="9144"/>
          </a:xfrm>
          <a:prstGeom prst="rect">
            <a:avLst/>
          </a:prstGeom>
        </p:spPr>
      </p:pic>
      <p:sp>
        <p:nvSpPr>
          <p:cNvPr id="65" name="Text 58"/>
          <p:cNvSpPr txBox="1"/>
          <p:nvPr/>
        </p:nvSpPr>
        <p:spPr>
          <a:xfrm>
            <a:off x="13049402" y="6381598"/>
            <a:ext cx="4000500" cy="162763"/>
          </a:xfrm>
          <a:prstGeom prst="rect">
            <a:avLst/>
          </a:prstGeom>
          <a:noFill/>
          <a:ln/>
        </p:spPr>
        <p:txBody>
          <a:bodyPr wrap="none" lIns="0" tIns="0" rIns="0" bIns="0" rtlCol="0" anchor="ctr"/>
          <a:lstStyle/>
          <a:p>
            <a:pPr algn="l" indent="0" marL="0">
              <a:buNone/>
            </a:pPr>
            <a:r>
              <a:rPr lang="en-US" sz="975" b="1" spc="195" kern="0" dirty="0">
                <a:solidFill>
                  <a:srgbClr val="E8762E"/>
                </a:solidFill>
                <a:latin typeface="JetBrains Mono" pitchFamily="34" charset="0"/>
                <a:ea typeface="JetBrains Mono" pitchFamily="34" charset="-122"/>
                <a:cs typeface="JetBrains Mono" pitchFamily="34" charset="-120"/>
              </a:rPr>
              <a:t>ACI · BATCH SUMMARY</a:t>
            </a:r>
            <a:endParaRPr lang="en-US" sz="975" dirty="0"/>
          </a:p>
        </p:txBody>
      </p:sp>
      <p:sp>
        <p:nvSpPr>
          <p:cNvPr id="66" name="Shape 59"/>
          <p:cNvSpPr/>
          <p:nvPr/>
        </p:nvSpPr>
        <p:spPr>
          <a:xfrm>
            <a:off x="13049402" y="7105802"/>
            <a:ext cx="4000500" cy="9144"/>
          </a:xfrm>
          <a:prstGeom prst="rect">
            <a:avLst/>
          </a:prstGeom>
          <a:solidFill>
            <a:srgbClr val="FFFFFF">
              <a:alpha val="10000"/>
            </a:srgbClr>
          </a:solidFill>
          <a:ln w="12700">
            <a:solidFill>
              <a:srgbClr val="FFFFFF">
                <a:alpha val="0"/>
              </a:srgbClr>
            </a:solidFill>
            <a:prstDash val="solid"/>
          </a:ln>
        </p:spPr>
      </p:sp>
      <p:sp>
        <p:nvSpPr>
          <p:cNvPr id="67" name="Text 60"/>
          <p:cNvSpPr txBox="1"/>
          <p:nvPr/>
        </p:nvSpPr>
        <p:spPr>
          <a:xfrm>
            <a:off x="13049402" y="6810451"/>
            <a:ext cx="1170432" cy="191110"/>
          </a:xfrm>
          <a:prstGeom prst="rect">
            <a:avLst/>
          </a:prstGeom>
          <a:noFill/>
          <a:ln/>
        </p:spPr>
        <p:txBody>
          <a:bodyPr wrap="none" lIns="0" tIns="0" rIns="0" bIns="0" rtlCol="0" anchor="ctr"/>
          <a:lstStyle/>
          <a:p>
            <a:pPr algn="l" indent="0" marL="0">
              <a:buNone/>
            </a:pPr>
            <a:r>
              <a:rPr lang="en-US" sz="1050" dirty="0">
                <a:solidFill>
                  <a:srgbClr val="FAF7F0"/>
                </a:solidFill>
                <a:latin typeface="Noto Sans KR" pitchFamily="34" charset="0"/>
                <a:ea typeface="Noto Sans KR" pitchFamily="34" charset="-122"/>
                <a:cs typeface="Noto Sans KR" pitchFamily="34" charset="-120"/>
              </a:rPr>
              <a:t>SAQP · avg 3σ</a:t>
            </a:r>
            <a:endParaRPr lang="en-US" sz="1050" dirty="0"/>
          </a:p>
        </p:txBody>
      </p:sp>
      <p:sp>
        <p:nvSpPr>
          <p:cNvPr id="68" name="Text 61"/>
          <p:cNvSpPr txBox="1"/>
          <p:nvPr/>
        </p:nvSpPr>
        <p:spPr>
          <a:xfrm>
            <a:off x="16420795" y="6752844"/>
            <a:ext cx="638251" cy="277063"/>
          </a:xfrm>
          <a:prstGeom prst="rect">
            <a:avLst/>
          </a:prstGeom>
          <a:noFill/>
          <a:ln/>
        </p:spPr>
        <p:txBody>
          <a:bodyPr wrap="none" lIns="0" tIns="0" rIns="0" bIns="0" rtlCol="0" anchor="ctr"/>
          <a:lstStyle/>
          <a:p>
            <a:pPr algn="l" indent="0" marL="0">
              <a:buNone/>
            </a:pPr>
            <a:r>
              <a:rPr lang="en-US" sz="1650" b="1" dirty="0">
                <a:solidFill>
                  <a:srgbClr val="FAF7F0"/>
                </a:solidFill>
                <a:latin typeface="JetBrains Mono" pitchFamily="34" charset="0"/>
                <a:ea typeface="JetBrains Mono" pitchFamily="34" charset="-122"/>
                <a:cs typeface="JetBrains Mono" pitchFamily="34" charset="-120"/>
              </a:rPr>
              <a:t>0.313</a:t>
            </a:r>
            <a:endParaRPr lang="en-US" sz="1650" dirty="0"/>
          </a:p>
        </p:txBody>
      </p:sp>
      <p:sp>
        <p:nvSpPr>
          <p:cNvPr id="69" name="Shape 62"/>
          <p:cNvSpPr/>
          <p:nvPr/>
        </p:nvSpPr>
        <p:spPr>
          <a:xfrm>
            <a:off x="13049402" y="7543800"/>
            <a:ext cx="4000500" cy="9144"/>
          </a:xfrm>
          <a:prstGeom prst="rect">
            <a:avLst/>
          </a:prstGeom>
          <a:solidFill>
            <a:srgbClr val="FFFFFF">
              <a:alpha val="10000"/>
            </a:srgbClr>
          </a:solidFill>
          <a:ln w="12700">
            <a:solidFill>
              <a:srgbClr val="FFFFFF">
                <a:alpha val="0"/>
              </a:srgbClr>
            </a:solidFill>
            <a:prstDash val="solid"/>
          </a:ln>
        </p:spPr>
      </p:sp>
      <p:sp>
        <p:nvSpPr>
          <p:cNvPr id="70" name="Text 63"/>
          <p:cNvSpPr txBox="1"/>
          <p:nvPr/>
        </p:nvSpPr>
        <p:spPr>
          <a:xfrm>
            <a:off x="13049402" y="7248449"/>
            <a:ext cx="1538935" cy="191110"/>
          </a:xfrm>
          <a:prstGeom prst="rect">
            <a:avLst/>
          </a:prstGeom>
          <a:noFill/>
          <a:ln/>
        </p:spPr>
        <p:txBody>
          <a:bodyPr wrap="none" lIns="0" tIns="0" rIns="0" bIns="0" rtlCol="0" anchor="ctr"/>
          <a:lstStyle/>
          <a:p>
            <a:pPr algn="l" indent="0" marL="0">
              <a:buNone/>
            </a:pPr>
            <a:r>
              <a:rPr lang="en-US" sz="1050" dirty="0">
                <a:solidFill>
                  <a:srgbClr val="FAF7F0"/>
                </a:solidFill>
                <a:latin typeface="Noto Sans KR" pitchFamily="34" charset="0"/>
                <a:ea typeface="Noto Sans KR" pitchFamily="34" charset="-122"/>
                <a:cs typeface="Noto Sans KR" pitchFamily="34" charset="-120"/>
              </a:rPr>
              <a:t>SADP+SAB · avg 3σ</a:t>
            </a:r>
            <a:endParaRPr lang="en-US" sz="1050" dirty="0"/>
          </a:p>
        </p:txBody>
      </p:sp>
      <p:sp>
        <p:nvSpPr>
          <p:cNvPr id="71" name="Text 64"/>
          <p:cNvSpPr txBox="1"/>
          <p:nvPr/>
        </p:nvSpPr>
        <p:spPr>
          <a:xfrm>
            <a:off x="16420795" y="7191756"/>
            <a:ext cx="638251" cy="277063"/>
          </a:xfrm>
          <a:prstGeom prst="rect">
            <a:avLst/>
          </a:prstGeom>
          <a:noFill/>
          <a:ln/>
        </p:spPr>
        <p:txBody>
          <a:bodyPr wrap="none" lIns="0" tIns="0" rIns="0" bIns="0" rtlCol="0" anchor="ctr"/>
          <a:lstStyle/>
          <a:p>
            <a:pPr algn="l" indent="0" marL="0">
              <a:buNone/>
            </a:pPr>
            <a:r>
              <a:rPr lang="en-US" sz="1650" b="1" dirty="0">
                <a:solidFill>
                  <a:srgbClr val="E8762E"/>
                </a:solidFill>
                <a:latin typeface="JetBrains Mono" pitchFamily="34" charset="0"/>
                <a:ea typeface="JetBrains Mono" pitchFamily="34" charset="-122"/>
                <a:cs typeface="JetBrains Mono" pitchFamily="34" charset="-120"/>
              </a:rPr>
              <a:t>0.117</a:t>
            </a:r>
            <a:endParaRPr lang="en-US" sz="1650" dirty="0"/>
          </a:p>
        </p:txBody>
      </p:sp>
      <p:sp>
        <p:nvSpPr>
          <p:cNvPr id="72" name="Shape 65"/>
          <p:cNvSpPr/>
          <p:nvPr/>
        </p:nvSpPr>
        <p:spPr>
          <a:xfrm>
            <a:off x="13049402" y="7981798"/>
            <a:ext cx="4000500" cy="9144"/>
          </a:xfrm>
          <a:prstGeom prst="rect">
            <a:avLst/>
          </a:prstGeom>
          <a:solidFill>
            <a:srgbClr val="FFFFFF">
              <a:alpha val="10000"/>
            </a:srgbClr>
          </a:solidFill>
          <a:ln w="12700">
            <a:solidFill>
              <a:srgbClr val="FFFFFF">
                <a:alpha val="0"/>
              </a:srgbClr>
            </a:solidFill>
            <a:prstDash val="solid"/>
          </a:ln>
        </p:spPr>
      </p:sp>
      <p:sp>
        <p:nvSpPr>
          <p:cNvPr id="73" name="Text 66"/>
          <p:cNvSpPr txBox="1"/>
          <p:nvPr/>
        </p:nvSpPr>
        <p:spPr>
          <a:xfrm>
            <a:off x="13049402" y="7686446"/>
            <a:ext cx="1080821" cy="191110"/>
          </a:xfrm>
          <a:prstGeom prst="rect">
            <a:avLst/>
          </a:prstGeom>
          <a:noFill/>
          <a:ln/>
        </p:spPr>
        <p:txBody>
          <a:bodyPr wrap="none" lIns="0" tIns="0" rIns="0" bIns="0" rtlCol="0" anchor="ctr"/>
          <a:lstStyle/>
          <a:p>
            <a:pPr algn="l" indent="0" marL="0">
              <a:buNone/>
            </a:pPr>
            <a:r>
              <a:rPr lang="en-US" sz="1050" dirty="0">
                <a:solidFill>
                  <a:srgbClr val="FAF7F0"/>
                </a:solidFill>
                <a:latin typeface="Noto Sans KR" pitchFamily="34" charset="0"/>
                <a:ea typeface="Noto Sans KR" pitchFamily="34" charset="-122"/>
                <a:cs typeface="Noto Sans KR" pitchFamily="34" charset="-120"/>
              </a:rPr>
              <a:t>3σ reduction</a:t>
            </a:r>
            <a:endParaRPr lang="en-US" sz="1050" dirty="0"/>
          </a:p>
        </p:txBody>
      </p:sp>
      <p:sp>
        <p:nvSpPr>
          <p:cNvPr id="74" name="Text 67"/>
          <p:cNvSpPr txBox="1"/>
          <p:nvPr/>
        </p:nvSpPr>
        <p:spPr>
          <a:xfrm>
            <a:off x="16546982" y="7629754"/>
            <a:ext cx="505663" cy="277063"/>
          </a:xfrm>
          <a:prstGeom prst="rect">
            <a:avLst/>
          </a:prstGeom>
          <a:noFill/>
          <a:ln/>
        </p:spPr>
        <p:txBody>
          <a:bodyPr wrap="none" lIns="0" tIns="0" rIns="0" bIns="0" rtlCol="0" anchor="ctr"/>
          <a:lstStyle/>
          <a:p>
            <a:pPr algn="l" indent="0" marL="0">
              <a:buNone/>
            </a:pPr>
            <a:r>
              <a:rPr lang="en-US" sz="1650" b="1" dirty="0">
                <a:solidFill>
                  <a:srgbClr val="FFE2C9"/>
                </a:solidFill>
                <a:latin typeface="JetBrains Mono" pitchFamily="34" charset="0"/>
                <a:ea typeface="JetBrains Mono" pitchFamily="34" charset="-122"/>
                <a:cs typeface="JetBrains Mono" pitchFamily="34" charset="-120"/>
              </a:rPr>
              <a:t>−62%</a:t>
            </a:r>
            <a:endParaRPr lang="en-US" sz="1650" dirty="0"/>
          </a:p>
        </p:txBody>
      </p:sp>
      <p:sp>
        <p:nvSpPr>
          <p:cNvPr id="75" name="Text 68"/>
          <p:cNvSpPr txBox="1"/>
          <p:nvPr/>
        </p:nvSpPr>
        <p:spPr>
          <a:xfrm>
            <a:off x="13049402" y="8124444"/>
            <a:ext cx="1624889" cy="191110"/>
          </a:xfrm>
          <a:prstGeom prst="rect">
            <a:avLst/>
          </a:prstGeom>
          <a:noFill/>
          <a:ln/>
        </p:spPr>
        <p:txBody>
          <a:bodyPr wrap="none" lIns="0" tIns="0" rIns="0" bIns="0" rtlCol="0" anchor="ctr"/>
          <a:lstStyle/>
          <a:p>
            <a:pPr algn="l" indent="0" marL="0">
              <a:buNone/>
            </a:pPr>
            <a:r>
              <a:rPr lang="en-US" sz="1050" dirty="0">
                <a:solidFill>
                  <a:srgbClr val="FAF7F0"/>
                </a:solidFill>
                <a:latin typeface="Noto Sans KR" pitchFamily="34" charset="0"/>
                <a:ea typeface="Noto Sans KR" pitchFamily="34" charset="-122"/>
                <a:cs typeface="Noto Sans KR" pitchFamily="34" charset="-120"/>
              </a:rPr>
              <a:t>single spec window</a:t>
            </a:r>
            <a:endParaRPr lang="en-US" sz="1050" dirty="0"/>
          </a:p>
        </p:txBody>
      </p:sp>
      <p:sp>
        <p:nvSpPr>
          <p:cNvPr id="76" name="Text 69"/>
          <p:cNvSpPr txBox="1"/>
          <p:nvPr/>
        </p:nvSpPr>
        <p:spPr>
          <a:xfrm>
            <a:off x="16169335" y="8067751"/>
            <a:ext cx="886054" cy="277063"/>
          </a:xfrm>
          <a:prstGeom prst="rect">
            <a:avLst/>
          </a:prstGeom>
          <a:noFill/>
          <a:ln/>
        </p:spPr>
        <p:txBody>
          <a:bodyPr wrap="none" lIns="0" tIns="0" rIns="0" bIns="0" rtlCol="0" anchor="ctr"/>
          <a:lstStyle/>
          <a:p>
            <a:pPr algn="l" indent="0" marL="0">
              <a:buNone/>
            </a:pPr>
            <a:r>
              <a:rPr lang="en-US" sz="1650" b="1" dirty="0">
                <a:solidFill>
                  <a:srgbClr val="FFFFFF"/>
                </a:solidFill>
                <a:latin typeface="JetBrains Mono" pitchFamily="34" charset="0"/>
                <a:ea typeface="JetBrains Mono" pitchFamily="34" charset="-122"/>
                <a:cs typeface="JetBrains Mono" pitchFamily="34" charset="-120"/>
              </a:rPr>
              <a:t>0.32 nm</a:t>
            </a:r>
            <a:endParaRPr lang="en-US" sz="1650" dirty="0"/>
          </a:p>
        </p:txBody>
      </p:sp>
      <p:sp>
        <p:nvSpPr>
          <p:cNvPr id="77" name="Text 70"/>
          <p:cNvSpPr txBox="1"/>
          <p:nvPr/>
        </p:nvSpPr>
        <p:spPr>
          <a:xfrm>
            <a:off x="952805" y="9696298"/>
            <a:ext cx="16383305" cy="210312"/>
          </a:xfrm>
          <a:prstGeom prst="rect">
            <a:avLst/>
          </a:prstGeom>
          <a:noFill/>
          <a:ln/>
        </p:spPr>
        <p:txBody>
          <a:bodyPr wrap="none" lIns="0" tIns="0" rIns="0" bIns="0" rtlCol="0" anchor="ctr"/>
          <a:lstStyle/>
          <a:p>
            <a:pPr algn="l" indent="0" marL="0">
              <a:buNone/>
            </a:pPr>
            <a:r>
              <a:rPr lang="en-US" sz="1125" b="1" spc="56" kern="0" dirty="0">
                <a:solidFill>
                  <a:srgbClr val="6B6358"/>
                </a:solidFill>
                <a:latin typeface="JetBrains Mono" pitchFamily="34" charset="0"/>
                <a:ea typeface="JetBrains Mono" pitchFamily="34" charset="-122"/>
                <a:cs typeface="JetBrains Mono" pitchFamily="34" charset="-120"/>
              </a:rPr>
              <a:t>※ 내부 테스트용 더미(가상) 데이터</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DE5"/>
        </a:solidFill>
      </p:bgPr>
    </p:bg>
    <p:spTree>
      <p:nvGrpSpPr>
        <p:cNvPr id="1" name=""/>
        <p:cNvGrpSpPr/>
        <p:nvPr/>
      </p:nvGrpSpPr>
      <p:grpSpPr>
        <a:xfrm>
          <a:off x="0" y="0"/>
          <a:ext cx="0" cy="0"/>
          <a:chOff x="0" y="0"/>
          <a:chExt cx="0" cy="0"/>
        </a:xfrm>
      </p:grpSpPr>
      <p:sp>
        <p:nvSpPr>
          <p:cNvPr id="3" name="Shape 0"/>
          <p:cNvSpPr/>
          <p:nvPr/>
        </p:nvSpPr>
        <p:spPr>
          <a:xfrm>
            <a:off x="1904695" y="8534095"/>
            <a:ext cx="5619902" cy="571500"/>
          </a:xfrm>
          <a:prstGeom prst="rect">
            <a:avLst/>
          </a:prstGeom>
          <a:solidFill>
            <a:srgbClr val="1A1F2C"/>
          </a:solidFill>
          <a:ln w="12700">
            <a:solidFill>
              <a:srgbClr val="FFFFFF">
                <a:alpha val="0"/>
              </a:srgbClr>
            </a:solidFill>
            <a:prstDash val="solid"/>
          </a:ln>
        </p:spPr>
      </p:sp>
      <p:pic>
        <p:nvPicPr>
          <p:cNvPr id="4" name="Image 0" descr="gen-dedup-10712ba9506011557717463f803e9fbb.png">    </p:cNvPr>
          <p:cNvPicPr>
            <a:picLocks noChangeAspect="1"/>
          </p:cNvPicPr>
          <p:nvPr/>
        </p:nvPicPr>
        <p:blipFill>
          <a:blip r:embed="rId1"/>
          <a:srcRect l="0" r="0" t="-375" b="-375"/>
          <a:stretch/>
        </p:blipFill>
        <p:spPr>
          <a:xfrm>
            <a:off x="952805" y="838505"/>
            <a:ext cx="609905" cy="57607"/>
          </a:xfrm>
          <a:prstGeom prst="rect">
            <a:avLst/>
          </a:prstGeom>
        </p:spPr>
      </p:pic>
      <p:sp>
        <p:nvSpPr>
          <p:cNvPr id="5" name="Shape 1"/>
          <p:cNvSpPr/>
          <p:nvPr/>
        </p:nvSpPr>
        <p:spPr>
          <a:xfrm>
            <a:off x="1904695" y="3676802"/>
            <a:ext cx="1047902" cy="857707"/>
          </a:xfrm>
          <a:prstGeom prst="rect">
            <a:avLst/>
          </a:prstGeom>
          <a:solidFill>
            <a:srgbClr val="F2D6BB"/>
          </a:solidFill>
          <a:ln w="12700">
            <a:solidFill>
              <a:srgbClr val="FFFFFF">
                <a:alpha val="0"/>
              </a:srgbClr>
            </a:solidFill>
            <a:prstDash val="solid"/>
          </a:ln>
        </p:spPr>
      </p:sp>
      <p:sp>
        <p:nvSpPr>
          <p:cNvPr id="6" name="Shape 2"/>
          <p:cNvSpPr/>
          <p:nvPr/>
        </p:nvSpPr>
        <p:spPr>
          <a:xfrm>
            <a:off x="3047695" y="3676802"/>
            <a:ext cx="1047902" cy="857707"/>
          </a:xfrm>
          <a:prstGeom prst="rect">
            <a:avLst/>
          </a:prstGeom>
          <a:solidFill>
            <a:srgbClr val="F8E8D2"/>
          </a:solidFill>
          <a:ln w="12700">
            <a:solidFill>
              <a:srgbClr val="FFFFFF">
                <a:alpha val="0"/>
              </a:srgbClr>
            </a:solidFill>
            <a:prstDash val="solid"/>
          </a:ln>
        </p:spPr>
      </p:sp>
      <p:sp>
        <p:nvSpPr>
          <p:cNvPr id="7" name="Shape 3"/>
          <p:cNvSpPr/>
          <p:nvPr/>
        </p:nvSpPr>
        <p:spPr>
          <a:xfrm>
            <a:off x="4190695" y="3676802"/>
            <a:ext cx="1047902" cy="857707"/>
          </a:xfrm>
          <a:prstGeom prst="rect">
            <a:avLst/>
          </a:prstGeom>
          <a:solidFill>
            <a:srgbClr val="FBF1E1"/>
          </a:solidFill>
          <a:ln w="12700">
            <a:solidFill>
              <a:srgbClr val="FFFFFF">
                <a:alpha val="0"/>
              </a:srgbClr>
            </a:solidFill>
            <a:prstDash val="solid"/>
          </a:ln>
        </p:spPr>
      </p:sp>
      <p:sp>
        <p:nvSpPr>
          <p:cNvPr id="8" name="Shape 4"/>
          <p:cNvSpPr/>
          <p:nvPr/>
        </p:nvSpPr>
        <p:spPr>
          <a:xfrm>
            <a:off x="5333695" y="3676802"/>
            <a:ext cx="1047902" cy="857707"/>
          </a:xfrm>
          <a:prstGeom prst="rect">
            <a:avLst/>
          </a:prstGeom>
          <a:solidFill>
            <a:srgbClr val="F8E8D2"/>
          </a:solidFill>
          <a:ln w="12700">
            <a:solidFill>
              <a:srgbClr val="FFFFFF">
                <a:alpha val="0"/>
              </a:srgbClr>
            </a:solidFill>
            <a:prstDash val="solid"/>
          </a:ln>
        </p:spPr>
      </p:sp>
      <p:sp>
        <p:nvSpPr>
          <p:cNvPr id="9" name="Shape 5"/>
          <p:cNvSpPr/>
          <p:nvPr/>
        </p:nvSpPr>
        <p:spPr>
          <a:xfrm>
            <a:off x="6476695" y="3676802"/>
            <a:ext cx="1047902" cy="857707"/>
          </a:xfrm>
          <a:prstGeom prst="rect">
            <a:avLst/>
          </a:prstGeom>
          <a:solidFill>
            <a:srgbClr val="F4DDC1"/>
          </a:solidFill>
          <a:ln w="12700">
            <a:solidFill>
              <a:srgbClr val="FFFFFF">
                <a:alpha val="0"/>
              </a:srgbClr>
            </a:solidFill>
            <a:prstDash val="solid"/>
          </a:ln>
        </p:spPr>
      </p:sp>
      <p:sp>
        <p:nvSpPr>
          <p:cNvPr id="10" name="Shape 6"/>
          <p:cNvSpPr/>
          <p:nvPr/>
        </p:nvSpPr>
        <p:spPr>
          <a:xfrm>
            <a:off x="1904695" y="4629607"/>
            <a:ext cx="1047902" cy="857707"/>
          </a:xfrm>
          <a:prstGeom prst="rect">
            <a:avLst/>
          </a:prstGeom>
          <a:solidFill>
            <a:srgbClr val="F8E8D2"/>
          </a:solidFill>
          <a:ln w="12700">
            <a:solidFill>
              <a:srgbClr val="FFFFFF">
                <a:alpha val="0"/>
              </a:srgbClr>
            </a:solidFill>
            <a:prstDash val="solid"/>
          </a:ln>
        </p:spPr>
      </p:sp>
      <p:sp>
        <p:nvSpPr>
          <p:cNvPr id="11" name="Shape 7"/>
          <p:cNvSpPr/>
          <p:nvPr/>
        </p:nvSpPr>
        <p:spPr>
          <a:xfrm>
            <a:off x="3047695" y="4629607"/>
            <a:ext cx="1047902" cy="857707"/>
          </a:xfrm>
          <a:prstGeom prst="rect">
            <a:avLst/>
          </a:prstGeom>
          <a:solidFill>
            <a:srgbClr val="FBF1E1"/>
          </a:solidFill>
          <a:ln w="12700">
            <a:solidFill>
              <a:srgbClr val="FFFFFF">
                <a:alpha val="0"/>
              </a:srgbClr>
            </a:solidFill>
            <a:prstDash val="solid"/>
          </a:ln>
        </p:spPr>
      </p:sp>
      <p:sp>
        <p:nvSpPr>
          <p:cNvPr id="12" name="Shape 8"/>
          <p:cNvSpPr/>
          <p:nvPr/>
        </p:nvSpPr>
        <p:spPr>
          <a:xfrm>
            <a:off x="4190695" y="4629607"/>
            <a:ext cx="1047902" cy="857707"/>
          </a:xfrm>
          <a:prstGeom prst="rect">
            <a:avLst/>
          </a:prstGeom>
          <a:solidFill>
            <a:srgbClr val="E8762E"/>
          </a:solidFill>
          <a:ln w="12700">
            <a:solidFill>
              <a:srgbClr val="FFFFFF">
                <a:alpha val="0"/>
              </a:srgbClr>
            </a:solidFill>
            <a:prstDash val="solid"/>
          </a:ln>
        </p:spPr>
      </p:sp>
      <p:sp>
        <p:nvSpPr>
          <p:cNvPr id="13" name="Shape 9"/>
          <p:cNvSpPr/>
          <p:nvPr/>
        </p:nvSpPr>
        <p:spPr>
          <a:xfrm>
            <a:off x="5333695" y="4629607"/>
            <a:ext cx="1047902" cy="857707"/>
          </a:xfrm>
          <a:prstGeom prst="rect">
            <a:avLst/>
          </a:prstGeom>
          <a:solidFill>
            <a:srgbClr val="F4DDC1"/>
          </a:solidFill>
          <a:ln w="12700">
            <a:solidFill>
              <a:srgbClr val="FFFFFF">
                <a:alpha val="0"/>
              </a:srgbClr>
            </a:solidFill>
            <a:prstDash val="solid"/>
          </a:ln>
        </p:spPr>
      </p:sp>
      <p:sp>
        <p:nvSpPr>
          <p:cNvPr id="14" name="Shape 10"/>
          <p:cNvSpPr/>
          <p:nvPr/>
        </p:nvSpPr>
        <p:spPr>
          <a:xfrm>
            <a:off x="6476695" y="4629607"/>
            <a:ext cx="1047902" cy="857707"/>
          </a:xfrm>
          <a:prstGeom prst="rect">
            <a:avLst/>
          </a:prstGeom>
          <a:solidFill>
            <a:srgbClr val="F8E8D2"/>
          </a:solidFill>
          <a:ln w="12700">
            <a:solidFill>
              <a:srgbClr val="FFFFFF">
                <a:alpha val="0"/>
              </a:srgbClr>
            </a:solidFill>
            <a:prstDash val="solid"/>
          </a:ln>
        </p:spPr>
      </p:sp>
      <p:sp>
        <p:nvSpPr>
          <p:cNvPr id="15" name="Shape 11"/>
          <p:cNvSpPr/>
          <p:nvPr/>
        </p:nvSpPr>
        <p:spPr>
          <a:xfrm>
            <a:off x="1904695" y="5581498"/>
            <a:ext cx="1047902" cy="857707"/>
          </a:xfrm>
          <a:prstGeom prst="rect">
            <a:avLst/>
          </a:prstGeom>
          <a:solidFill>
            <a:srgbClr val="FBF1E1"/>
          </a:solidFill>
          <a:ln w="12700">
            <a:solidFill>
              <a:srgbClr val="FFFFFF">
                <a:alpha val="0"/>
              </a:srgbClr>
            </a:solidFill>
            <a:prstDash val="solid"/>
          </a:ln>
        </p:spPr>
      </p:sp>
      <p:sp>
        <p:nvSpPr>
          <p:cNvPr id="16" name="Shape 12"/>
          <p:cNvSpPr/>
          <p:nvPr/>
        </p:nvSpPr>
        <p:spPr>
          <a:xfrm>
            <a:off x="3047695" y="5581498"/>
            <a:ext cx="1047902" cy="857707"/>
          </a:xfrm>
          <a:prstGeom prst="rect">
            <a:avLst/>
          </a:prstGeom>
          <a:solidFill>
            <a:srgbClr val="E8762E"/>
          </a:solidFill>
          <a:ln w="12700">
            <a:solidFill>
              <a:srgbClr val="FFFFFF">
                <a:alpha val="0"/>
              </a:srgbClr>
            </a:solidFill>
            <a:prstDash val="solid"/>
          </a:ln>
        </p:spPr>
      </p:sp>
      <p:sp>
        <p:nvSpPr>
          <p:cNvPr id="17" name="Shape 13"/>
          <p:cNvSpPr/>
          <p:nvPr/>
        </p:nvSpPr>
        <p:spPr>
          <a:xfrm>
            <a:off x="4190695" y="5581498"/>
            <a:ext cx="1047902" cy="857707"/>
          </a:xfrm>
          <a:prstGeom prst="rect">
            <a:avLst/>
          </a:prstGeom>
          <a:solidFill>
            <a:srgbClr val="B8430E"/>
          </a:solidFill>
          <a:ln w="12700">
            <a:solidFill>
              <a:srgbClr val="FFFFFF">
                <a:alpha val="0"/>
              </a:srgbClr>
            </a:solidFill>
            <a:prstDash val="solid"/>
          </a:ln>
        </p:spPr>
      </p:sp>
      <p:sp>
        <p:nvSpPr>
          <p:cNvPr id="18" name="Shape 14"/>
          <p:cNvSpPr/>
          <p:nvPr/>
        </p:nvSpPr>
        <p:spPr>
          <a:xfrm>
            <a:off x="5333695" y="5581498"/>
            <a:ext cx="1047902" cy="857707"/>
          </a:xfrm>
          <a:prstGeom prst="rect">
            <a:avLst/>
          </a:prstGeom>
          <a:solidFill>
            <a:srgbClr val="E8762E"/>
          </a:solidFill>
          <a:ln w="12700">
            <a:solidFill>
              <a:srgbClr val="FFFFFF">
                <a:alpha val="0"/>
              </a:srgbClr>
            </a:solidFill>
            <a:prstDash val="solid"/>
          </a:ln>
        </p:spPr>
      </p:sp>
      <p:sp>
        <p:nvSpPr>
          <p:cNvPr id="19" name="Shape 15"/>
          <p:cNvSpPr/>
          <p:nvPr/>
        </p:nvSpPr>
        <p:spPr>
          <a:xfrm>
            <a:off x="6476695" y="5581498"/>
            <a:ext cx="1047902" cy="857707"/>
          </a:xfrm>
          <a:prstGeom prst="rect">
            <a:avLst/>
          </a:prstGeom>
          <a:solidFill>
            <a:srgbClr val="F4DDC1"/>
          </a:solidFill>
          <a:ln w="12700">
            <a:solidFill>
              <a:srgbClr val="FFFFFF">
                <a:alpha val="0"/>
              </a:srgbClr>
            </a:solidFill>
            <a:prstDash val="solid"/>
          </a:ln>
        </p:spPr>
      </p:sp>
      <p:sp>
        <p:nvSpPr>
          <p:cNvPr id="20" name="Shape 16"/>
          <p:cNvSpPr/>
          <p:nvPr/>
        </p:nvSpPr>
        <p:spPr>
          <a:xfrm>
            <a:off x="1904695" y="6534302"/>
            <a:ext cx="1047902" cy="857707"/>
          </a:xfrm>
          <a:prstGeom prst="rect">
            <a:avLst/>
          </a:prstGeom>
          <a:solidFill>
            <a:srgbClr val="F8E8D2"/>
          </a:solidFill>
          <a:ln w="12700">
            <a:solidFill>
              <a:srgbClr val="FFFFFF">
                <a:alpha val="0"/>
              </a:srgbClr>
            </a:solidFill>
            <a:prstDash val="solid"/>
          </a:ln>
        </p:spPr>
      </p:sp>
      <p:sp>
        <p:nvSpPr>
          <p:cNvPr id="21" name="Shape 17"/>
          <p:cNvSpPr/>
          <p:nvPr/>
        </p:nvSpPr>
        <p:spPr>
          <a:xfrm>
            <a:off x="3047695" y="6534302"/>
            <a:ext cx="1047902" cy="857707"/>
          </a:xfrm>
          <a:prstGeom prst="rect">
            <a:avLst/>
          </a:prstGeom>
          <a:solidFill>
            <a:srgbClr val="FBF1E1"/>
          </a:solidFill>
          <a:ln w="12700">
            <a:solidFill>
              <a:srgbClr val="FFFFFF">
                <a:alpha val="0"/>
              </a:srgbClr>
            </a:solidFill>
            <a:prstDash val="solid"/>
          </a:ln>
        </p:spPr>
      </p:sp>
      <p:sp>
        <p:nvSpPr>
          <p:cNvPr id="22" name="Shape 18"/>
          <p:cNvSpPr/>
          <p:nvPr/>
        </p:nvSpPr>
        <p:spPr>
          <a:xfrm>
            <a:off x="4190695" y="6534302"/>
            <a:ext cx="1047902" cy="857707"/>
          </a:xfrm>
          <a:prstGeom prst="rect">
            <a:avLst/>
          </a:prstGeom>
          <a:solidFill>
            <a:srgbClr val="F4DDC1"/>
          </a:solidFill>
          <a:ln w="12700">
            <a:solidFill>
              <a:srgbClr val="FFFFFF">
                <a:alpha val="0"/>
              </a:srgbClr>
            </a:solidFill>
            <a:prstDash val="solid"/>
          </a:ln>
        </p:spPr>
      </p:sp>
      <p:sp>
        <p:nvSpPr>
          <p:cNvPr id="23" name="Shape 19"/>
          <p:cNvSpPr/>
          <p:nvPr/>
        </p:nvSpPr>
        <p:spPr>
          <a:xfrm>
            <a:off x="5333695" y="6534302"/>
            <a:ext cx="1047902" cy="857707"/>
          </a:xfrm>
          <a:prstGeom prst="rect">
            <a:avLst/>
          </a:prstGeom>
          <a:solidFill>
            <a:srgbClr val="F8E8D2"/>
          </a:solidFill>
          <a:ln w="12700">
            <a:solidFill>
              <a:srgbClr val="FFFFFF">
                <a:alpha val="0"/>
              </a:srgbClr>
            </a:solidFill>
            <a:prstDash val="solid"/>
          </a:ln>
        </p:spPr>
      </p:sp>
      <p:sp>
        <p:nvSpPr>
          <p:cNvPr id="24" name="Shape 20"/>
          <p:cNvSpPr/>
          <p:nvPr/>
        </p:nvSpPr>
        <p:spPr>
          <a:xfrm>
            <a:off x="6476695" y="6534302"/>
            <a:ext cx="1047902" cy="857707"/>
          </a:xfrm>
          <a:prstGeom prst="rect">
            <a:avLst/>
          </a:prstGeom>
          <a:solidFill>
            <a:srgbClr val="F8E8D2"/>
          </a:solidFill>
          <a:ln w="12700">
            <a:solidFill>
              <a:srgbClr val="FFFFFF">
                <a:alpha val="0"/>
              </a:srgbClr>
            </a:solidFill>
            <a:prstDash val="solid"/>
          </a:ln>
        </p:spPr>
      </p:sp>
      <p:sp>
        <p:nvSpPr>
          <p:cNvPr id="25" name="Shape 21"/>
          <p:cNvSpPr/>
          <p:nvPr/>
        </p:nvSpPr>
        <p:spPr>
          <a:xfrm>
            <a:off x="1904695" y="7487107"/>
            <a:ext cx="1047902" cy="857707"/>
          </a:xfrm>
          <a:prstGeom prst="rect">
            <a:avLst/>
          </a:prstGeom>
          <a:solidFill>
            <a:srgbClr val="F2D6BB"/>
          </a:solidFill>
          <a:ln w="12700">
            <a:solidFill>
              <a:srgbClr val="FFFFFF">
                <a:alpha val="0"/>
              </a:srgbClr>
            </a:solidFill>
            <a:prstDash val="solid"/>
          </a:ln>
        </p:spPr>
      </p:sp>
      <p:sp>
        <p:nvSpPr>
          <p:cNvPr id="26" name="Shape 22"/>
          <p:cNvSpPr/>
          <p:nvPr/>
        </p:nvSpPr>
        <p:spPr>
          <a:xfrm>
            <a:off x="3047695" y="7487107"/>
            <a:ext cx="1047902" cy="857707"/>
          </a:xfrm>
          <a:prstGeom prst="rect">
            <a:avLst/>
          </a:prstGeom>
          <a:solidFill>
            <a:srgbClr val="F4DDC1"/>
          </a:solidFill>
          <a:ln w="12700">
            <a:solidFill>
              <a:srgbClr val="FFFFFF">
                <a:alpha val="0"/>
              </a:srgbClr>
            </a:solidFill>
            <a:prstDash val="solid"/>
          </a:ln>
        </p:spPr>
      </p:sp>
      <p:sp>
        <p:nvSpPr>
          <p:cNvPr id="27" name="Shape 23"/>
          <p:cNvSpPr/>
          <p:nvPr/>
        </p:nvSpPr>
        <p:spPr>
          <a:xfrm>
            <a:off x="4190695" y="7487107"/>
            <a:ext cx="1047902" cy="857707"/>
          </a:xfrm>
          <a:prstGeom prst="rect">
            <a:avLst/>
          </a:prstGeom>
          <a:solidFill>
            <a:srgbClr val="F8E8D2"/>
          </a:solidFill>
          <a:ln w="12700">
            <a:solidFill>
              <a:srgbClr val="FFFFFF">
                <a:alpha val="0"/>
              </a:srgbClr>
            </a:solidFill>
            <a:prstDash val="solid"/>
          </a:ln>
        </p:spPr>
      </p:sp>
      <p:sp>
        <p:nvSpPr>
          <p:cNvPr id="28" name="Shape 24"/>
          <p:cNvSpPr/>
          <p:nvPr/>
        </p:nvSpPr>
        <p:spPr>
          <a:xfrm>
            <a:off x="5333695" y="7487107"/>
            <a:ext cx="1047902" cy="857707"/>
          </a:xfrm>
          <a:prstGeom prst="rect">
            <a:avLst/>
          </a:prstGeom>
          <a:solidFill>
            <a:srgbClr val="F4DDC1"/>
          </a:solidFill>
          <a:ln w="12700">
            <a:solidFill>
              <a:srgbClr val="FFFFFF">
                <a:alpha val="0"/>
              </a:srgbClr>
            </a:solidFill>
            <a:prstDash val="solid"/>
          </a:ln>
        </p:spPr>
      </p:sp>
      <p:sp>
        <p:nvSpPr>
          <p:cNvPr id="29" name="Shape 25"/>
          <p:cNvSpPr/>
          <p:nvPr/>
        </p:nvSpPr>
        <p:spPr>
          <a:xfrm>
            <a:off x="6476695" y="7487107"/>
            <a:ext cx="1047902" cy="857707"/>
          </a:xfrm>
          <a:prstGeom prst="rect">
            <a:avLst/>
          </a:prstGeom>
          <a:solidFill>
            <a:srgbClr val="F2D6BB"/>
          </a:solidFill>
          <a:ln w="12700">
            <a:solidFill>
              <a:srgbClr val="FFFFFF">
                <a:alpha val="0"/>
              </a:srgbClr>
            </a:solidFill>
            <a:prstDash val="solid"/>
          </a:ln>
        </p:spPr>
      </p:sp>
      <p:sp>
        <p:nvSpPr>
          <p:cNvPr id="30" name="Text 26"/>
          <p:cNvSpPr txBox="1"/>
          <p:nvPr/>
        </p:nvSpPr>
        <p:spPr>
          <a:xfrm>
            <a:off x="1904695" y="36768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8.79</a:t>
            </a:r>
            <a:endParaRPr lang="en-US" sz="1650" dirty="0"/>
          </a:p>
        </p:txBody>
      </p:sp>
      <p:sp>
        <p:nvSpPr>
          <p:cNvPr id="31" name="Text 27"/>
          <p:cNvSpPr txBox="1"/>
          <p:nvPr/>
        </p:nvSpPr>
        <p:spPr>
          <a:xfrm>
            <a:off x="3047695" y="36768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8.82</a:t>
            </a:r>
            <a:endParaRPr lang="en-US" sz="1650" dirty="0"/>
          </a:p>
        </p:txBody>
      </p:sp>
      <p:sp>
        <p:nvSpPr>
          <p:cNvPr id="32" name="Text 28"/>
          <p:cNvSpPr txBox="1"/>
          <p:nvPr/>
        </p:nvSpPr>
        <p:spPr>
          <a:xfrm>
            <a:off x="4190695" y="36768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8.85</a:t>
            </a:r>
            <a:endParaRPr lang="en-US" sz="1650" dirty="0"/>
          </a:p>
        </p:txBody>
      </p:sp>
      <p:sp>
        <p:nvSpPr>
          <p:cNvPr id="33" name="Text 29"/>
          <p:cNvSpPr txBox="1"/>
          <p:nvPr/>
        </p:nvSpPr>
        <p:spPr>
          <a:xfrm>
            <a:off x="5333695" y="36768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8.83</a:t>
            </a:r>
            <a:endParaRPr lang="en-US" sz="1650" dirty="0"/>
          </a:p>
        </p:txBody>
      </p:sp>
      <p:sp>
        <p:nvSpPr>
          <p:cNvPr id="34" name="Text 30"/>
          <p:cNvSpPr txBox="1"/>
          <p:nvPr/>
        </p:nvSpPr>
        <p:spPr>
          <a:xfrm>
            <a:off x="6476695" y="36768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8.80</a:t>
            </a:r>
            <a:endParaRPr lang="en-US" sz="1650" dirty="0"/>
          </a:p>
        </p:txBody>
      </p:sp>
      <p:sp>
        <p:nvSpPr>
          <p:cNvPr id="35" name="Text 31"/>
          <p:cNvSpPr txBox="1"/>
          <p:nvPr/>
        </p:nvSpPr>
        <p:spPr>
          <a:xfrm>
            <a:off x="1904695" y="4629607"/>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8.84</a:t>
            </a:r>
            <a:endParaRPr lang="en-US" sz="1650" dirty="0"/>
          </a:p>
        </p:txBody>
      </p:sp>
      <p:sp>
        <p:nvSpPr>
          <p:cNvPr id="36" name="Text 32"/>
          <p:cNvSpPr txBox="1"/>
          <p:nvPr/>
        </p:nvSpPr>
        <p:spPr>
          <a:xfrm>
            <a:off x="3047695" y="4629607"/>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8.86</a:t>
            </a:r>
            <a:endParaRPr lang="en-US" sz="1650" dirty="0"/>
          </a:p>
        </p:txBody>
      </p:sp>
      <p:sp>
        <p:nvSpPr>
          <p:cNvPr id="37" name="Text 33"/>
          <p:cNvSpPr txBox="1"/>
          <p:nvPr/>
        </p:nvSpPr>
        <p:spPr>
          <a:xfrm>
            <a:off x="4190695" y="4629607"/>
            <a:ext cx="1047902" cy="857707"/>
          </a:xfrm>
          <a:prstGeom prst="rect">
            <a:avLst/>
          </a:prstGeom>
          <a:noFill/>
          <a:ln/>
        </p:spPr>
        <p:txBody>
          <a:bodyPr wrap="none" lIns="0" tIns="0" rIns="0" bIns="0" rtlCol="0" anchor="ctr"/>
          <a:lstStyle/>
          <a:p>
            <a:pPr algn="ctr" indent="0" marL="0">
              <a:buNone/>
            </a:pPr>
            <a:r>
              <a:rPr lang="en-US" sz="1650" b="1" dirty="0">
                <a:solidFill>
                  <a:srgbClr val="FFFFFF"/>
                </a:solidFill>
                <a:latin typeface="JetBrains Mono" pitchFamily="34" charset="0"/>
                <a:ea typeface="JetBrains Mono" pitchFamily="34" charset="-122"/>
                <a:cs typeface="JetBrains Mono" pitchFamily="34" charset="-120"/>
              </a:rPr>
              <a:t>8.88</a:t>
            </a:r>
            <a:endParaRPr lang="en-US" sz="1650" dirty="0"/>
          </a:p>
        </p:txBody>
      </p:sp>
      <p:sp>
        <p:nvSpPr>
          <p:cNvPr id="38" name="Text 34"/>
          <p:cNvSpPr txBox="1"/>
          <p:nvPr/>
        </p:nvSpPr>
        <p:spPr>
          <a:xfrm>
            <a:off x="5333695" y="4629607"/>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8.87</a:t>
            </a:r>
            <a:endParaRPr lang="en-US" sz="1650" dirty="0"/>
          </a:p>
        </p:txBody>
      </p:sp>
      <p:sp>
        <p:nvSpPr>
          <p:cNvPr id="39" name="Text 35"/>
          <p:cNvSpPr txBox="1"/>
          <p:nvPr/>
        </p:nvSpPr>
        <p:spPr>
          <a:xfrm>
            <a:off x="6476695" y="4629607"/>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8.84</a:t>
            </a:r>
            <a:endParaRPr lang="en-US" sz="1650" dirty="0"/>
          </a:p>
        </p:txBody>
      </p:sp>
      <p:sp>
        <p:nvSpPr>
          <p:cNvPr id="40" name="Text 36"/>
          <p:cNvSpPr txBox="1"/>
          <p:nvPr/>
        </p:nvSpPr>
        <p:spPr>
          <a:xfrm>
            <a:off x="1904695" y="5581498"/>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8.86</a:t>
            </a:r>
            <a:endParaRPr lang="en-US" sz="1650" dirty="0"/>
          </a:p>
        </p:txBody>
      </p:sp>
      <p:sp>
        <p:nvSpPr>
          <p:cNvPr id="41" name="Text 37"/>
          <p:cNvSpPr txBox="1"/>
          <p:nvPr/>
        </p:nvSpPr>
        <p:spPr>
          <a:xfrm>
            <a:off x="3047695" y="5581498"/>
            <a:ext cx="1047902" cy="857707"/>
          </a:xfrm>
          <a:prstGeom prst="rect">
            <a:avLst/>
          </a:prstGeom>
          <a:noFill/>
          <a:ln/>
        </p:spPr>
        <p:txBody>
          <a:bodyPr wrap="none" lIns="0" tIns="0" rIns="0" bIns="0" rtlCol="0" anchor="ctr"/>
          <a:lstStyle/>
          <a:p>
            <a:pPr algn="ctr" indent="0" marL="0">
              <a:buNone/>
            </a:pPr>
            <a:r>
              <a:rPr lang="en-US" sz="1650" b="1" dirty="0">
                <a:solidFill>
                  <a:srgbClr val="FFFFFF"/>
                </a:solidFill>
                <a:latin typeface="JetBrains Mono" pitchFamily="34" charset="0"/>
                <a:ea typeface="JetBrains Mono" pitchFamily="34" charset="-122"/>
                <a:cs typeface="JetBrains Mono" pitchFamily="34" charset="-120"/>
              </a:rPr>
              <a:t>8.88</a:t>
            </a:r>
            <a:endParaRPr lang="en-US" sz="1650" dirty="0"/>
          </a:p>
        </p:txBody>
      </p:sp>
      <p:sp>
        <p:nvSpPr>
          <p:cNvPr id="42" name="Text 38"/>
          <p:cNvSpPr txBox="1"/>
          <p:nvPr/>
        </p:nvSpPr>
        <p:spPr>
          <a:xfrm>
            <a:off x="4190695" y="5581498"/>
            <a:ext cx="1047902" cy="857707"/>
          </a:xfrm>
          <a:prstGeom prst="rect">
            <a:avLst/>
          </a:prstGeom>
          <a:noFill/>
          <a:ln/>
        </p:spPr>
        <p:txBody>
          <a:bodyPr wrap="none" lIns="0" tIns="0" rIns="0" bIns="0" rtlCol="0" anchor="ctr"/>
          <a:lstStyle/>
          <a:p>
            <a:pPr algn="ctr" indent="0" marL="0">
              <a:buNone/>
            </a:pPr>
            <a:r>
              <a:rPr lang="en-US" sz="1650" b="1" dirty="0">
                <a:solidFill>
                  <a:srgbClr val="FFFFFF"/>
                </a:solidFill>
                <a:latin typeface="JetBrains Mono" pitchFamily="34" charset="0"/>
                <a:ea typeface="JetBrains Mono" pitchFamily="34" charset="-122"/>
                <a:cs typeface="JetBrains Mono" pitchFamily="34" charset="-120"/>
              </a:rPr>
              <a:t>8.92</a:t>
            </a:r>
            <a:endParaRPr lang="en-US" sz="1650" dirty="0"/>
          </a:p>
        </p:txBody>
      </p:sp>
      <p:sp>
        <p:nvSpPr>
          <p:cNvPr id="43" name="Text 39"/>
          <p:cNvSpPr txBox="1"/>
          <p:nvPr/>
        </p:nvSpPr>
        <p:spPr>
          <a:xfrm>
            <a:off x="5333695" y="5581498"/>
            <a:ext cx="1047902" cy="857707"/>
          </a:xfrm>
          <a:prstGeom prst="rect">
            <a:avLst/>
          </a:prstGeom>
          <a:noFill/>
          <a:ln/>
        </p:spPr>
        <p:txBody>
          <a:bodyPr wrap="none" lIns="0" tIns="0" rIns="0" bIns="0" rtlCol="0" anchor="ctr"/>
          <a:lstStyle/>
          <a:p>
            <a:pPr algn="ctr" indent="0" marL="0">
              <a:buNone/>
            </a:pPr>
            <a:r>
              <a:rPr lang="en-US" sz="1650" b="1" dirty="0">
                <a:solidFill>
                  <a:srgbClr val="FFFFFF"/>
                </a:solidFill>
                <a:latin typeface="JetBrains Mono" pitchFamily="34" charset="0"/>
                <a:ea typeface="JetBrains Mono" pitchFamily="34" charset="-122"/>
                <a:cs typeface="JetBrains Mono" pitchFamily="34" charset="-120"/>
              </a:rPr>
              <a:t>8.90</a:t>
            </a:r>
            <a:endParaRPr lang="en-US" sz="1650" dirty="0"/>
          </a:p>
        </p:txBody>
      </p:sp>
      <p:sp>
        <p:nvSpPr>
          <p:cNvPr id="44" name="Text 40"/>
          <p:cNvSpPr txBox="1"/>
          <p:nvPr/>
        </p:nvSpPr>
        <p:spPr>
          <a:xfrm>
            <a:off x="6476695" y="5581498"/>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8.87</a:t>
            </a:r>
            <a:endParaRPr lang="en-US" sz="1650" dirty="0"/>
          </a:p>
        </p:txBody>
      </p:sp>
      <p:sp>
        <p:nvSpPr>
          <p:cNvPr id="45" name="Text 41"/>
          <p:cNvSpPr txBox="1"/>
          <p:nvPr/>
        </p:nvSpPr>
        <p:spPr>
          <a:xfrm>
            <a:off x="1904695" y="65343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8.83</a:t>
            </a:r>
            <a:endParaRPr lang="en-US" sz="1650" dirty="0"/>
          </a:p>
        </p:txBody>
      </p:sp>
      <p:sp>
        <p:nvSpPr>
          <p:cNvPr id="46" name="Text 42"/>
          <p:cNvSpPr txBox="1"/>
          <p:nvPr/>
        </p:nvSpPr>
        <p:spPr>
          <a:xfrm>
            <a:off x="3047695" y="65343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8.85</a:t>
            </a:r>
            <a:endParaRPr lang="en-US" sz="1650" dirty="0"/>
          </a:p>
        </p:txBody>
      </p:sp>
      <p:sp>
        <p:nvSpPr>
          <p:cNvPr id="47" name="Text 43"/>
          <p:cNvSpPr txBox="1"/>
          <p:nvPr/>
        </p:nvSpPr>
        <p:spPr>
          <a:xfrm>
            <a:off x="4190695" y="65343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8.87</a:t>
            </a:r>
            <a:endParaRPr lang="en-US" sz="1650" dirty="0"/>
          </a:p>
        </p:txBody>
      </p:sp>
      <p:sp>
        <p:nvSpPr>
          <p:cNvPr id="48" name="Text 44"/>
          <p:cNvSpPr txBox="1"/>
          <p:nvPr/>
        </p:nvSpPr>
        <p:spPr>
          <a:xfrm>
            <a:off x="5333695" y="65343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8.86</a:t>
            </a:r>
            <a:endParaRPr lang="en-US" sz="1650" dirty="0"/>
          </a:p>
        </p:txBody>
      </p:sp>
      <p:sp>
        <p:nvSpPr>
          <p:cNvPr id="49" name="Text 45"/>
          <p:cNvSpPr txBox="1"/>
          <p:nvPr/>
        </p:nvSpPr>
        <p:spPr>
          <a:xfrm>
            <a:off x="6476695" y="6534302"/>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8.83</a:t>
            </a:r>
            <a:endParaRPr lang="en-US" sz="1650" dirty="0"/>
          </a:p>
        </p:txBody>
      </p:sp>
      <p:sp>
        <p:nvSpPr>
          <p:cNvPr id="50" name="Text 46"/>
          <p:cNvSpPr txBox="1"/>
          <p:nvPr/>
        </p:nvSpPr>
        <p:spPr>
          <a:xfrm>
            <a:off x="1904695" y="7487107"/>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8.78</a:t>
            </a:r>
            <a:endParaRPr lang="en-US" sz="1650" dirty="0"/>
          </a:p>
        </p:txBody>
      </p:sp>
      <p:sp>
        <p:nvSpPr>
          <p:cNvPr id="51" name="Text 47"/>
          <p:cNvSpPr txBox="1"/>
          <p:nvPr/>
        </p:nvSpPr>
        <p:spPr>
          <a:xfrm>
            <a:off x="3047695" y="7487107"/>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8.81</a:t>
            </a:r>
            <a:endParaRPr lang="en-US" sz="1650" dirty="0"/>
          </a:p>
        </p:txBody>
      </p:sp>
      <p:sp>
        <p:nvSpPr>
          <p:cNvPr id="52" name="Text 48"/>
          <p:cNvSpPr txBox="1"/>
          <p:nvPr/>
        </p:nvSpPr>
        <p:spPr>
          <a:xfrm>
            <a:off x="4190695" y="7487107"/>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8.84</a:t>
            </a:r>
            <a:endParaRPr lang="en-US" sz="1650" dirty="0"/>
          </a:p>
        </p:txBody>
      </p:sp>
      <p:sp>
        <p:nvSpPr>
          <p:cNvPr id="53" name="Text 49"/>
          <p:cNvSpPr txBox="1"/>
          <p:nvPr/>
        </p:nvSpPr>
        <p:spPr>
          <a:xfrm>
            <a:off x="5333695" y="7487107"/>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8.82</a:t>
            </a:r>
            <a:endParaRPr lang="en-US" sz="1650" dirty="0"/>
          </a:p>
        </p:txBody>
      </p:sp>
      <p:sp>
        <p:nvSpPr>
          <p:cNvPr id="54" name="Text 50"/>
          <p:cNvSpPr txBox="1"/>
          <p:nvPr/>
        </p:nvSpPr>
        <p:spPr>
          <a:xfrm>
            <a:off x="6476695" y="7487107"/>
            <a:ext cx="1047902" cy="857707"/>
          </a:xfrm>
          <a:prstGeom prst="rect">
            <a:avLst/>
          </a:prstGeom>
          <a:noFill/>
          <a:ln/>
        </p:spPr>
        <p:txBody>
          <a:bodyPr wrap="none" lIns="0" tIns="0" rIns="0" bIns="0" rtlCol="0" anchor="ctr"/>
          <a:lstStyle/>
          <a:p>
            <a:pPr algn="ctr" indent="0" marL="0">
              <a:buNone/>
            </a:pPr>
            <a:r>
              <a:rPr lang="en-US" sz="1650" b="1" dirty="0">
                <a:solidFill>
                  <a:srgbClr val="1A1F2C"/>
                </a:solidFill>
                <a:latin typeface="JetBrains Mono" pitchFamily="34" charset="0"/>
                <a:ea typeface="JetBrains Mono" pitchFamily="34" charset="-122"/>
                <a:cs typeface="JetBrains Mono" pitchFamily="34" charset="-120"/>
              </a:rPr>
              <a:t>8.79</a:t>
            </a:r>
            <a:endParaRPr lang="en-US" sz="1650" dirty="0"/>
          </a:p>
        </p:txBody>
      </p:sp>
      <p:sp>
        <p:nvSpPr>
          <p:cNvPr id="55" name="Text 51"/>
          <p:cNvSpPr txBox="1"/>
          <p:nvPr/>
        </p:nvSpPr>
        <p:spPr>
          <a:xfrm>
            <a:off x="952805" y="1123798"/>
            <a:ext cx="14287500" cy="562356"/>
          </a:xfrm>
          <a:prstGeom prst="rect">
            <a:avLst/>
          </a:prstGeom>
          <a:noFill/>
          <a:ln/>
        </p:spPr>
        <p:txBody>
          <a:bodyPr wrap="none" lIns="0" tIns="0" rIns="0" bIns="0" rtlCol="0" anchor="ctr"/>
          <a:lstStyle/>
          <a:p>
            <a:pPr algn="l" indent="0" marL="0">
              <a:buNone/>
            </a:pPr>
            <a:r>
              <a:rPr lang="en-US" sz="4200" b="1" spc="-42" kern="0" dirty="0">
                <a:solidFill>
                  <a:srgbClr val="1A1F2C"/>
                </a:solidFill>
                <a:latin typeface="Noto Sans KR" pitchFamily="34" charset="0"/>
                <a:ea typeface="Noto Sans KR" pitchFamily="34" charset="-122"/>
                <a:cs typeface="Noto Sans KR" pitchFamily="34" charset="-120"/>
              </a:rPr>
              <a:t>In-wafer 균일성 &amp; 전기 특성</a:t>
            </a:r>
            <a:endParaRPr lang="en-US" sz="4200" dirty="0"/>
          </a:p>
        </p:txBody>
      </p:sp>
      <p:sp>
        <p:nvSpPr>
          <p:cNvPr id="56" name="Text 52"/>
          <p:cNvSpPr txBox="1"/>
          <p:nvPr/>
        </p:nvSpPr>
        <p:spPr>
          <a:xfrm>
            <a:off x="952805" y="1816913"/>
            <a:ext cx="14287500" cy="295351"/>
          </a:xfrm>
          <a:prstGeom prst="rect">
            <a:avLst/>
          </a:prstGeom>
          <a:noFill/>
          <a:ln/>
        </p:spPr>
        <p:txBody>
          <a:bodyPr wrap="none" lIns="0" tIns="0" rIns="0" bIns="0" rtlCol="0" anchor="ctr"/>
          <a:lstStyle/>
          <a:p>
            <a:pPr algn="l" indent="0" marL="0">
              <a:buNone/>
            </a:pPr>
            <a:r>
              <a:rPr lang="en-US" sz="1650" dirty="0">
                <a:solidFill>
                  <a:srgbClr val="5C5448"/>
                </a:solidFill>
                <a:latin typeface="Noto Sans KR" pitchFamily="34" charset="0"/>
                <a:ea typeface="Noto Sans KR" pitchFamily="34" charset="-122"/>
                <a:cs typeface="Noto Sans KR" pitchFamily="34" charset="-120"/>
              </a:rPr>
              <a:t>25pt site map · W04 wafer 기준 ACI · 두 batch의 저항·누설·BD·체인 수율 응답</a:t>
            </a:r>
            <a:endParaRPr lang="en-US" sz="1650" dirty="0"/>
          </a:p>
        </p:txBody>
      </p:sp>
      <p:sp>
        <p:nvSpPr>
          <p:cNvPr id="57" name="Text 53"/>
          <p:cNvSpPr txBox="1"/>
          <p:nvPr/>
        </p:nvSpPr>
        <p:spPr>
          <a:xfrm>
            <a:off x="952805" y="2495398"/>
            <a:ext cx="7239305" cy="171907"/>
          </a:xfrm>
          <a:prstGeom prst="rect">
            <a:avLst/>
          </a:prstGeom>
          <a:noFill/>
          <a:ln/>
        </p:spPr>
        <p:txBody>
          <a:bodyPr wrap="none" lIns="0" tIns="0" rIns="0" bIns="0" rtlCol="0" anchor="ctr"/>
          <a:lstStyle/>
          <a:p>
            <a:pPr algn="l" indent="0" marL="0">
              <a:buNone/>
            </a:pPr>
            <a:r>
              <a:rPr lang="en-US" sz="1050" b="1" spc="210" kern="0" dirty="0">
                <a:solidFill>
                  <a:srgbClr val="B8430E"/>
                </a:solidFill>
                <a:latin typeface="JetBrains Mono" pitchFamily="34" charset="0"/>
                <a:ea typeface="JetBrains Mono" pitchFamily="34" charset="-122"/>
                <a:cs typeface="JetBrains Mono" pitchFamily="34" charset="-120"/>
              </a:rPr>
              <a:t>ACI · 25pt WAFER MAP</a:t>
            </a:r>
            <a:endParaRPr lang="en-US" sz="1050" dirty="0"/>
          </a:p>
        </p:txBody>
      </p:sp>
      <p:sp>
        <p:nvSpPr>
          <p:cNvPr id="58" name="Text 54"/>
          <p:cNvSpPr txBox="1"/>
          <p:nvPr/>
        </p:nvSpPr>
        <p:spPr>
          <a:xfrm>
            <a:off x="952805" y="2723998"/>
            <a:ext cx="7239305" cy="247802"/>
          </a:xfrm>
          <a:prstGeom prst="rect">
            <a:avLst/>
          </a:prstGeom>
          <a:noFill/>
          <a:ln/>
        </p:spPr>
        <p:txBody>
          <a:bodyPr wrap="none" lIns="0" tIns="0" rIns="0" bIns="0" rtlCol="0" anchor="ctr"/>
          <a:lstStyle/>
          <a:p>
            <a:pPr algn="l" indent="0" marL="0">
              <a:buNone/>
            </a:pPr>
            <a:r>
              <a:rPr lang="en-US" sz="1350" b="1" dirty="0">
                <a:solidFill>
                  <a:srgbClr val="1A1F2C"/>
                </a:solidFill>
                <a:latin typeface="Noto Sans KR" pitchFamily="34" charset="0"/>
                <a:ea typeface="Noto Sans KR" pitchFamily="34" charset="-122"/>
                <a:cs typeface="Noto Sans KR" pitchFamily="34" charset="-120"/>
              </a:rPr>
              <a:t>W04 wafer · SADP+SAB · target 8.9 nm · values in nm</a:t>
            </a:r>
            <a:endParaRPr lang="en-US" sz="1350" dirty="0"/>
          </a:p>
        </p:txBody>
      </p:sp>
      <p:sp>
        <p:nvSpPr>
          <p:cNvPr id="59" name="Text 55"/>
          <p:cNvSpPr txBox="1"/>
          <p:nvPr/>
        </p:nvSpPr>
        <p:spPr>
          <a:xfrm>
            <a:off x="1904695" y="3238805"/>
            <a:ext cx="1047902" cy="200254"/>
          </a:xfrm>
          <a:prstGeom prst="rect">
            <a:avLst/>
          </a:prstGeom>
          <a:noFill/>
          <a:ln/>
        </p:spPr>
        <p:txBody>
          <a:bodyPr wrap="none" lIns="0" tIns="0" rIns="0" bIns="0" rtlCol="0" anchor="ctr"/>
          <a:lstStyle/>
          <a:p>
            <a:pPr algn="ctr" indent="0" marL="0">
              <a:buNone/>
            </a:pPr>
            <a:r>
              <a:rPr lang="en-US" sz="1200" b="1" dirty="0">
                <a:solidFill>
                  <a:srgbClr val="5C5448"/>
                </a:solidFill>
                <a:latin typeface="JetBrains Mono" pitchFamily="34" charset="0"/>
                <a:ea typeface="JetBrains Mono" pitchFamily="34" charset="-122"/>
                <a:cs typeface="JetBrains Mono" pitchFamily="34" charset="-120"/>
              </a:rPr>
              <a:t>A</a:t>
            </a:r>
            <a:endParaRPr lang="en-US" sz="1200" dirty="0"/>
          </a:p>
        </p:txBody>
      </p:sp>
      <p:sp>
        <p:nvSpPr>
          <p:cNvPr id="60" name="Text 56"/>
          <p:cNvSpPr txBox="1"/>
          <p:nvPr/>
        </p:nvSpPr>
        <p:spPr>
          <a:xfrm>
            <a:off x="3047695" y="3238805"/>
            <a:ext cx="1047902" cy="200254"/>
          </a:xfrm>
          <a:prstGeom prst="rect">
            <a:avLst/>
          </a:prstGeom>
          <a:noFill/>
          <a:ln/>
        </p:spPr>
        <p:txBody>
          <a:bodyPr wrap="none" lIns="0" tIns="0" rIns="0" bIns="0" rtlCol="0" anchor="ctr"/>
          <a:lstStyle/>
          <a:p>
            <a:pPr algn="ctr" indent="0" marL="0">
              <a:buNone/>
            </a:pPr>
            <a:r>
              <a:rPr lang="en-US" sz="1200" b="1" dirty="0">
                <a:solidFill>
                  <a:srgbClr val="5C5448"/>
                </a:solidFill>
                <a:latin typeface="JetBrains Mono" pitchFamily="34" charset="0"/>
                <a:ea typeface="JetBrains Mono" pitchFamily="34" charset="-122"/>
                <a:cs typeface="JetBrains Mono" pitchFamily="34" charset="-120"/>
              </a:rPr>
              <a:t>B</a:t>
            </a:r>
            <a:endParaRPr lang="en-US" sz="1200" dirty="0"/>
          </a:p>
        </p:txBody>
      </p:sp>
      <p:sp>
        <p:nvSpPr>
          <p:cNvPr id="61" name="Text 57"/>
          <p:cNvSpPr txBox="1"/>
          <p:nvPr/>
        </p:nvSpPr>
        <p:spPr>
          <a:xfrm>
            <a:off x="4190695" y="3238805"/>
            <a:ext cx="1047902" cy="200254"/>
          </a:xfrm>
          <a:prstGeom prst="rect">
            <a:avLst/>
          </a:prstGeom>
          <a:noFill/>
          <a:ln/>
        </p:spPr>
        <p:txBody>
          <a:bodyPr wrap="none" lIns="0" tIns="0" rIns="0" bIns="0" rtlCol="0" anchor="ctr"/>
          <a:lstStyle/>
          <a:p>
            <a:pPr algn="ctr" indent="0" marL="0">
              <a:buNone/>
            </a:pPr>
            <a:r>
              <a:rPr lang="en-US" sz="1200" b="1" dirty="0">
                <a:solidFill>
                  <a:srgbClr val="5C5448"/>
                </a:solidFill>
                <a:latin typeface="JetBrains Mono" pitchFamily="34" charset="0"/>
                <a:ea typeface="JetBrains Mono" pitchFamily="34" charset="-122"/>
                <a:cs typeface="JetBrains Mono" pitchFamily="34" charset="-120"/>
              </a:rPr>
              <a:t>C</a:t>
            </a:r>
            <a:endParaRPr lang="en-US" sz="1200" dirty="0"/>
          </a:p>
        </p:txBody>
      </p:sp>
      <p:sp>
        <p:nvSpPr>
          <p:cNvPr id="62" name="Text 58"/>
          <p:cNvSpPr txBox="1"/>
          <p:nvPr/>
        </p:nvSpPr>
        <p:spPr>
          <a:xfrm>
            <a:off x="5333695" y="3238805"/>
            <a:ext cx="1047902" cy="200254"/>
          </a:xfrm>
          <a:prstGeom prst="rect">
            <a:avLst/>
          </a:prstGeom>
          <a:noFill/>
          <a:ln/>
        </p:spPr>
        <p:txBody>
          <a:bodyPr wrap="none" lIns="0" tIns="0" rIns="0" bIns="0" rtlCol="0" anchor="ctr"/>
          <a:lstStyle/>
          <a:p>
            <a:pPr algn="ctr" indent="0" marL="0">
              <a:buNone/>
            </a:pPr>
            <a:r>
              <a:rPr lang="en-US" sz="1200" b="1" dirty="0">
                <a:solidFill>
                  <a:srgbClr val="5C5448"/>
                </a:solidFill>
                <a:latin typeface="JetBrains Mono" pitchFamily="34" charset="0"/>
                <a:ea typeface="JetBrains Mono" pitchFamily="34" charset="-122"/>
                <a:cs typeface="JetBrains Mono" pitchFamily="34" charset="-120"/>
              </a:rPr>
              <a:t>D</a:t>
            </a:r>
            <a:endParaRPr lang="en-US" sz="1200" dirty="0"/>
          </a:p>
        </p:txBody>
      </p:sp>
      <p:sp>
        <p:nvSpPr>
          <p:cNvPr id="63" name="Text 59"/>
          <p:cNvSpPr txBox="1"/>
          <p:nvPr/>
        </p:nvSpPr>
        <p:spPr>
          <a:xfrm>
            <a:off x="6476695" y="3238805"/>
            <a:ext cx="1047902" cy="200254"/>
          </a:xfrm>
          <a:prstGeom prst="rect">
            <a:avLst/>
          </a:prstGeom>
          <a:noFill/>
          <a:ln/>
        </p:spPr>
        <p:txBody>
          <a:bodyPr wrap="none" lIns="0" tIns="0" rIns="0" bIns="0" rtlCol="0" anchor="ctr"/>
          <a:lstStyle/>
          <a:p>
            <a:pPr algn="ctr" indent="0" marL="0">
              <a:buNone/>
            </a:pPr>
            <a:r>
              <a:rPr lang="en-US" sz="1200" b="1" dirty="0">
                <a:solidFill>
                  <a:srgbClr val="5C5448"/>
                </a:solidFill>
                <a:latin typeface="JetBrains Mono" pitchFamily="34" charset="0"/>
                <a:ea typeface="JetBrains Mono" pitchFamily="34" charset="-122"/>
                <a:cs typeface="JetBrains Mono" pitchFamily="34" charset="-120"/>
              </a:rPr>
              <a:t>E</a:t>
            </a:r>
            <a:endParaRPr lang="en-US" sz="1200" dirty="0"/>
          </a:p>
        </p:txBody>
      </p:sp>
      <p:sp>
        <p:nvSpPr>
          <p:cNvPr id="64" name="Text 60"/>
          <p:cNvSpPr txBox="1"/>
          <p:nvPr/>
        </p:nvSpPr>
        <p:spPr>
          <a:xfrm>
            <a:off x="1333195" y="3676802"/>
            <a:ext cx="476402" cy="1047902"/>
          </a:xfrm>
          <a:prstGeom prst="rect">
            <a:avLst/>
          </a:prstGeom>
          <a:noFill/>
          <a:ln/>
        </p:spPr>
        <p:txBody>
          <a:bodyPr wrap="none" lIns="0" tIns="0" rIns="0" bIns="0" rtlCol="0" anchor="ctr"/>
          <a:lstStyle/>
          <a:p>
            <a:pPr algn="ctr" indent="0" marL="0">
              <a:buNone/>
            </a:pPr>
            <a:r>
              <a:rPr lang="en-US" sz="1350" b="1" dirty="0">
                <a:solidFill>
                  <a:srgbClr val="5C5448"/>
                </a:solidFill>
                <a:latin typeface="JetBrains Mono" pitchFamily="34" charset="0"/>
                <a:ea typeface="JetBrains Mono" pitchFamily="34" charset="-122"/>
                <a:cs typeface="JetBrains Mono" pitchFamily="34" charset="-120"/>
              </a:rPr>
              <a:t>1</a:t>
            </a:r>
            <a:endParaRPr lang="en-US" sz="1350" dirty="0"/>
          </a:p>
        </p:txBody>
      </p:sp>
      <p:sp>
        <p:nvSpPr>
          <p:cNvPr id="65" name="Text 61"/>
          <p:cNvSpPr txBox="1"/>
          <p:nvPr/>
        </p:nvSpPr>
        <p:spPr>
          <a:xfrm>
            <a:off x="1333195" y="4629607"/>
            <a:ext cx="476402" cy="1047902"/>
          </a:xfrm>
          <a:prstGeom prst="rect">
            <a:avLst/>
          </a:prstGeom>
          <a:noFill/>
          <a:ln/>
        </p:spPr>
        <p:txBody>
          <a:bodyPr wrap="none" lIns="0" tIns="0" rIns="0" bIns="0" rtlCol="0" anchor="ctr"/>
          <a:lstStyle/>
          <a:p>
            <a:pPr algn="ctr" indent="0" marL="0">
              <a:buNone/>
            </a:pPr>
            <a:r>
              <a:rPr lang="en-US" sz="1350" b="1" dirty="0">
                <a:solidFill>
                  <a:srgbClr val="5C5448"/>
                </a:solidFill>
                <a:latin typeface="JetBrains Mono" pitchFamily="34" charset="0"/>
                <a:ea typeface="JetBrains Mono" pitchFamily="34" charset="-122"/>
                <a:cs typeface="JetBrains Mono" pitchFamily="34" charset="-120"/>
              </a:rPr>
              <a:t>2</a:t>
            </a:r>
            <a:endParaRPr lang="en-US" sz="1350" dirty="0"/>
          </a:p>
        </p:txBody>
      </p:sp>
      <p:sp>
        <p:nvSpPr>
          <p:cNvPr id="66" name="Text 62"/>
          <p:cNvSpPr txBox="1"/>
          <p:nvPr/>
        </p:nvSpPr>
        <p:spPr>
          <a:xfrm>
            <a:off x="1333195" y="5581498"/>
            <a:ext cx="476402" cy="1047902"/>
          </a:xfrm>
          <a:prstGeom prst="rect">
            <a:avLst/>
          </a:prstGeom>
          <a:noFill/>
          <a:ln/>
        </p:spPr>
        <p:txBody>
          <a:bodyPr wrap="none" lIns="0" tIns="0" rIns="0" bIns="0" rtlCol="0" anchor="ctr"/>
          <a:lstStyle/>
          <a:p>
            <a:pPr algn="ctr" indent="0" marL="0">
              <a:buNone/>
            </a:pPr>
            <a:r>
              <a:rPr lang="en-US" sz="1350" b="1" dirty="0">
                <a:solidFill>
                  <a:srgbClr val="5C5448"/>
                </a:solidFill>
                <a:latin typeface="JetBrains Mono" pitchFamily="34" charset="0"/>
                <a:ea typeface="JetBrains Mono" pitchFamily="34" charset="-122"/>
                <a:cs typeface="JetBrains Mono" pitchFamily="34" charset="-120"/>
              </a:rPr>
              <a:t>3</a:t>
            </a:r>
            <a:endParaRPr lang="en-US" sz="1350" dirty="0"/>
          </a:p>
        </p:txBody>
      </p:sp>
      <p:sp>
        <p:nvSpPr>
          <p:cNvPr id="67" name="Text 63"/>
          <p:cNvSpPr txBox="1"/>
          <p:nvPr/>
        </p:nvSpPr>
        <p:spPr>
          <a:xfrm>
            <a:off x="1333195" y="6534302"/>
            <a:ext cx="476402" cy="1047902"/>
          </a:xfrm>
          <a:prstGeom prst="rect">
            <a:avLst/>
          </a:prstGeom>
          <a:noFill/>
          <a:ln/>
        </p:spPr>
        <p:txBody>
          <a:bodyPr wrap="none" lIns="0" tIns="0" rIns="0" bIns="0" rtlCol="0" anchor="ctr"/>
          <a:lstStyle/>
          <a:p>
            <a:pPr algn="ctr" indent="0" marL="0">
              <a:buNone/>
            </a:pPr>
            <a:r>
              <a:rPr lang="en-US" sz="1350" b="1" dirty="0">
                <a:solidFill>
                  <a:srgbClr val="5C5448"/>
                </a:solidFill>
                <a:latin typeface="JetBrains Mono" pitchFamily="34" charset="0"/>
                <a:ea typeface="JetBrains Mono" pitchFamily="34" charset="-122"/>
                <a:cs typeface="JetBrains Mono" pitchFamily="34" charset="-120"/>
              </a:rPr>
              <a:t>4</a:t>
            </a:r>
            <a:endParaRPr lang="en-US" sz="1350" dirty="0"/>
          </a:p>
        </p:txBody>
      </p:sp>
      <p:sp>
        <p:nvSpPr>
          <p:cNvPr id="68" name="Text 64"/>
          <p:cNvSpPr txBox="1"/>
          <p:nvPr/>
        </p:nvSpPr>
        <p:spPr>
          <a:xfrm>
            <a:off x="1333195" y="7487107"/>
            <a:ext cx="476402" cy="1047902"/>
          </a:xfrm>
          <a:prstGeom prst="rect">
            <a:avLst/>
          </a:prstGeom>
          <a:noFill/>
          <a:ln/>
        </p:spPr>
        <p:txBody>
          <a:bodyPr wrap="none" lIns="0" tIns="0" rIns="0" bIns="0" rtlCol="0" anchor="ctr"/>
          <a:lstStyle/>
          <a:p>
            <a:pPr algn="ctr" indent="0" marL="0">
              <a:buNone/>
            </a:pPr>
            <a:r>
              <a:rPr lang="en-US" sz="1350" b="1" dirty="0">
                <a:solidFill>
                  <a:srgbClr val="5C5448"/>
                </a:solidFill>
                <a:latin typeface="JetBrains Mono" pitchFamily="34" charset="0"/>
                <a:ea typeface="JetBrains Mono" pitchFamily="34" charset="-122"/>
                <a:cs typeface="JetBrains Mono" pitchFamily="34" charset="-120"/>
              </a:rPr>
              <a:t>5</a:t>
            </a:r>
            <a:endParaRPr lang="en-US" sz="1350" dirty="0"/>
          </a:p>
        </p:txBody>
      </p:sp>
      <p:sp>
        <p:nvSpPr>
          <p:cNvPr id="69" name="Shape 65"/>
          <p:cNvSpPr/>
          <p:nvPr/>
        </p:nvSpPr>
        <p:spPr>
          <a:xfrm>
            <a:off x="3305556" y="8534095"/>
            <a:ext cx="9144" cy="571500"/>
          </a:xfrm>
          <a:prstGeom prst="rect">
            <a:avLst/>
          </a:prstGeom>
          <a:solidFill>
            <a:srgbClr val="FFFFFF">
              <a:alpha val="10000"/>
            </a:srgbClr>
          </a:solidFill>
          <a:ln w="12700">
            <a:solidFill>
              <a:srgbClr val="FFFFFF">
                <a:alpha val="0"/>
              </a:srgbClr>
            </a:solidFill>
            <a:prstDash val="solid"/>
          </a:ln>
        </p:spPr>
      </p:sp>
      <p:sp>
        <p:nvSpPr>
          <p:cNvPr id="70" name="Text 66"/>
          <p:cNvSpPr txBox="1"/>
          <p:nvPr/>
        </p:nvSpPr>
        <p:spPr>
          <a:xfrm>
            <a:off x="2057400" y="8605418"/>
            <a:ext cx="1095451" cy="152705"/>
          </a:xfrm>
          <a:prstGeom prst="rect">
            <a:avLst/>
          </a:prstGeom>
          <a:noFill/>
          <a:ln/>
        </p:spPr>
        <p:txBody>
          <a:bodyPr wrap="none" lIns="0" tIns="0" rIns="0" bIns="0" rtlCol="0" anchor="ctr"/>
          <a:lstStyle/>
          <a:p>
            <a:pPr algn="l" indent="0" marL="0">
              <a:buNone/>
            </a:pPr>
            <a:r>
              <a:rPr lang="en-US" sz="825" b="1" spc="83" kern="0" dirty="0">
                <a:solidFill>
                  <a:srgbClr val="9C9385"/>
                </a:solidFill>
                <a:latin typeface="Noto Sans KR" pitchFamily="34" charset="0"/>
                <a:ea typeface="Noto Sans KR" pitchFamily="34" charset="-122"/>
                <a:cs typeface="Noto Sans KR" pitchFamily="34" charset="-120"/>
              </a:rPr>
              <a:t>MEAN</a:t>
            </a:r>
            <a:endParaRPr lang="en-US" sz="825" dirty="0"/>
          </a:p>
        </p:txBody>
      </p:sp>
      <p:sp>
        <p:nvSpPr>
          <p:cNvPr id="71" name="Text 67"/>
          <p:cNvSpPr txBox="1"/>
          <p:nvPr/>
        </p:nvSpPr>
        <p:spPr>
          <a:xfrm>
            <a:off x="2057400" y="8758123"/>
            <a:ext cx="1095451" cy="277063"/>
          </a:xfrm>
          <a:prstGeom prst="rect">
            <a:avLst/>
          </a:prstGeom>
          <a:noFill/>
          <a:ln/>
        </p:spPr>
        <p:txBody>
          <a:bodyPr wrap="none" lIns="0" tIns="0" rIns="0" bIns="0" rtlCol="0" anchor="ctr"/>
          <a:lstStyle/>
          <a:p>
            <a:pPr algn="l" indent="0" marL="0">
              <a:buNone/>
            </a:pPr>
            <a:r>
              <a:rPr lang="en-US" sz="1650" b="1" dirty="0">
                <a:solidFill>
                  <a:srgbClr val="FFFFFF"/>
                </a:solidFill>
                <a:latin typeface="JetBrains Mono" pitchFamily="34" charset="0"/>
                <a:ea typeface="JetBrains Mono" pitchFamily="34" charset="-122"/>
                <a:cs typeface="JetBrains Mono" pitchFamily="34" charset="-120"/>
              </a:rPr>
              <a:t>8.85</a:t>
            </a:r>
            <a:endParaRPr lang="en-US" sz="1650" dirty="0"/>
          </a:p>
        </p:txBody>
      </p:sp>
      <p:sp>
        <p:nvSpPr>
          <p:cNvPr id="72" name="Shape 68"/>
          <p:cNvSpPr/>
          <p:nvPr/>
        </p:nvSpPr>
        <p:spPr>
          <a:xfrm>
            <a:off x="4712818" y="8534095"/>
            <a:ext cx="9144" cy="571500"/>
          </a:xfrm>
          <a:prstGeom prst="rect">
            <a:avLst/>
          </a:prstGeom>
          <a:solidFill>
            <a:srgbClr val="FFFFFF">
              <a:alpha val="10000"/>
            </a:srgbClr>
          </a:solidFill>
          <a:ln w="12700">
            <a:solidFill>
              <a:srgbClr val="FFFFFF">
                <a:alpha val="0"/>
              </a:srgbClr>
            </a:solidFill>
            <a:prstDash val="solid"/>
          </a:ln>
        </p:spPr>
      </p:sp>
      <p:sp>
        <p:nvSpPr>
          <p:cNvPr id="73" name="Text 69"/>
          <p:cNvSpPr txBox="1"/>
          <p:nvPr/>
        </p:nvSpPr>
        <p:spPr>
          <a:xfrm>
            <a:off x="3464662" y="8605418"/>
            <a:ext cx="1095451" cy="152705"/>
          </a:xfrm>
          <a:prstGeom prst="rect">
            <a:avLst/>
          </a:prstGeom>
          <a:noFill/>
          <a:ln/>
        </p:spPr>
        <p:txBody>
          <a:bodyPr wrap="none" lIns="0" tIns="0" rIns="0" bIns="0" rtlCol="0" anchor="ctr"/>
          <a:lstStyle/>
          <a:p>
            <a:pPr algn="l" indent="0" marL="0">
              <a:buNone/>
            </a:pPr>
            <a:r>
              <a:rPr lang="en-US" sz="825" b="1" spc="83" kern="0" dirty="0">
                <a:solidFill>
                  <a:srgbClr val="9C9385"/>
                </a:solidFill>
                <a:latin typeface="Noto Sans KR" pitchFamily="34" charset="0"/>
                <a:ea typeface="Noto Sans KR" pitchFamily="34" charset="-122"/>
                <a:cs typeface="Noto Sans KR" pitchFamily="34" charset="-120"/>
              </a:rPr>
              <a:t>3σ</a:t>
            </a:r>
            <a:endParaRPr lang="en-US" sz="825" dirty="0"/>
          </a:p>
        </p:txBody>
      </p:sp>
      <p:sp>
        <p:nvSpPr>
          <p:cNvPr id="74" name="Text 70"/>
          <p:cNvSpPr txBox="1"/>
          <p:nvPr/>
        </p:nvSpPr>
        <p:spPr>
          <a:xfrm>
            <a:off x="3464662" y="8758123"/>
            <a:ext cx="1095451" cy="277063"/>
          </a:xfrm>
          <a:prstGeom prst="rect">
            <a:avLst/>
          </a:prstGeom>
          <a:noFill/>
          <a:ln/>
        </p:spPr>
        <p:txBody>
          <a:bodyPr wrap="none" lIns="0" tIns="0" rIns="0" bIns="0" rtlCol="0" anchor="ctr"/>
          <a:lstStyle/>
          <a:p>
            <a:pPr algn="l" indent="0" marL="0">
              <a:buNone/>
            </a:pPr>
            <a:r>
              <a:rPr lang="en-US" sz="1650" b="1" dirty="0">
                <a:solidFill>
                  <a:srgbClr val="FFFFFF"/>
                </a:solidFill>
                <a:latin typeface="JetBrains Mono" pitchFamily="34" charset="0"/>
                <a:ea typeface="JetBrains Mono" pitchFamily="34" charset="-122"/>
                <a:cs typeface="JetBrains Mono" pitchFamily="34" charset="-120"/>
              </a:rPr>
              <a:t>0.13</a:t>
            </a:r>
            <a:endParaRPr lang="en-US" sz="1650" dirty="0"/>
          </a:p>
        </p:txBody>
      </p:sp>
      <p:sp>
        <p:nvSpPr>
          <p:cNvPr id="75" name="Shape 71"/>
          <p:cNvSpPr/>
          <p:nvPr/>
        </p:nvSpPr>
        <p:spPr>
          <a:xfrm>
            <a:off x="6120079" y="8534095"/>
            <a:ext cx="9144" cy="571500"/>
          </a:xfrm>
          <a:prstGeom prst="rect">
            <a:avLst/>
          </a:prstGeom>
          <a:solidFill>
            <a:srgbClr val="FFFFFF">
              <a:alpha val="10000"/>
            </a:srgbClr>
          </a:solidFill>
          <a:ln w="12700">
            <a:solidFill>
              <a:srgbClr val="FFFFFF">
                <a:alpha val="0"/>
              </a:srgbClr>
            </a:solidFill>
            <a:prstDash val="solid"/>
          </a:ln>
        </p:spPr>
      </p:sp>
      <p:sp>
        <p:nvSpPr>
          <p:cNvPr id="76" name="Text 72"/>
          <p:cNvSpPr txBox="1"/>
          <p:nvPr/>
        </p:nvSpPr>
        <p:spPr>
          <a:xfrm>
            <a:off x="4871923" y="8605418"/>
            <a:ext cx="1095451" cy="152705"/>
          </a:xfrm>
          <a:prstGeom prst="rect">
            <a:avLst/>
          </a:prstGeom>
          <a:noFill/>
          <a:ln/>
        </p:spPr>
        <p:txBody>
          <a:bodyPr wrap="none" lIns="0" tIns="0" rIns="0" bIns="0" rtlCol="0" anchor="ctr"/>
          <a:lstStyle/>
          <a:p>
            <a:pPr algn="l" indent="0" marL="0">
              <a:buNone/>
            </a:pPr>
            <a:r>
              <a:rPr lang="en-US" sz="825" b="1" spc="83" kern="0" dirty="0">
                <a:solidFill>
                  <a:srgbClr val="9C9385"/>
                </a:solidFill>
                <a:latin typeface="Noto Sans KR" pitchFamily="34" charset="0"/>
                <a:ea typeface="Noto Sans KR" pitchFamily="34" charset="-122"/>
                <a:cs typeface="Noto Sans KR" pitchFamily="34" charset="-120"/>
              </a:rPr>
              <a:t>RANGE</a:t>
            </a:r>
            <a:endParaRPr lang="en-US" sz="825" dirty="0"/>
          </a:p>
        </p:txBody>
      </p:sp>
      <p:sp>
        <p:nvSpPr>
          <p:cNvPr id="77" name="Text 73"/>
          <p:cNvSpPr txBox="1"/>
          <p:nvPr/>
        </p:nvSpPr>
        <p:spPr>
          <a:xfrm>
            <a:off x="4871923" y="8758123"/>
            <a:ext cx="1095451" cy="277063"/>
          </a:xfrm>
          <a:prstGeom prst="rect">
            <a:avLst/>
          </a:prstGeom>
          <a:noFill/>
          <a:ln/>
        </p:spPr>
        <p:txBody>
          <a:bodyPr wrap="none" lIns="0" tIns="0" rIns="0" bIns="0" rtlCol="0" anchor="ctr"/>
          <a:lstStyle/>
          <a:p>
            <a:pPr algn="l" indent="0" marL="0">
              <a:buNone/>
            </a:pPr>
            <a:r>
              <a:rPr lang="en-US" sz="1650" b="1" dirty="0">
                <a:solidFill>
                  <a:srgbClr val="FFFFFF"/>
                </a:solidFill>
                <a:latin typeface="JetBrains Mono" pitchFamily="34" charset="0"/>
                <a:ea typeface="JetBrains Mono" pitchFamily="34" charset="-122"/>
                <a:cs typeface="JetBrains Mono" pitchFamily="34" charset="-120"/>
              </a:rPr>
              <a:t>0.14</a:t>
            </a:r>
            <a:endParaRPr lang="en-US" sz="1650" dirty="0"/>
          </a:p>
        </p:txBody>
      </p:sp>
      <p:sp>
        <p:nvSpPr>
          <p:cNvPr id="78" name="Text 74"/>
          <p:cNvSpPr txBox="1"/>
          <p:nvPr/>
        </p:nvSpPr>
        <p:spPr>
          <a:xfrm>
            <a:off x="6279185" y="8605418"/>
            <a:ext cx="1095451" cy="152705"/>
          </a:xfrm>
          <a:prstGeom prst="rect">
            <a:avLst/>
          </a:prstGeom>
          <a:noFill/>
          <a:ln/>
        </p:spPr>
        <p:txBody>
          <a:bodyPr wrap="none" lIns="0" tIns="0" rIns="0" bIns="0" rtlCol="0" anchor="ctr"/>
          <a:lstStyle/>
          <a:p>
            <a:pPr algn="l" indent="0" marL="0">
              <a:buNone/>
            </a:pPr>
            <a:r>
              <a:rPr lang="en-US" sz="825" b="1" spc="83" kern="0" dirty="0">
                <a:solidFill>
                  <a:srgbClr val="E8762E"/>
                </a:solidFill>
                <a:latin typeface="Noto Sans KR" pitchFamily="34" charset="0"/>
                <a:ea typeface="Noto Sans KR" pitchFamily="34" charset="-122"/>
                <a:cs typeface="Noto Sans KR" pitchFamily="34" charset="-120"/>
              </a:rPr>
              <a:t>PEAK site</a:t>
            </a:r>
            <a:endParaRPr lang="en-US" sz="825" dirty="0"/>
          </a:p>
        </p:txBody>
      </p:sp>
      <p:sp>
        <p:nvSpPr>
          <p:cNvPr id="79" name="Text 75"/>
          <p:cNvSpPr txBox="1"/>
          <p:nvPr/>
        </p:nvSpPr>
        <p:spPr>
          <a:xfrm>
            <a:off x="6279185" y="8758123"/>
            <a:ext cx="1095451" cy="277063"/>
          </a:xfrm>
          <a:prstGeom prst="rect">
            <a:avLst/>
          </a:prstGeom>
          <a:noFill/>
          <a:ln/>
        </p:spPr>
        <p:txBody>
          <a:bodyPr wrap="none" lIns="0" tIns="0" rIns="0" bIns="0" rtlCol="0" anchor="ctr"/>
          <a:lstStyle/>
          <a:p>
            <a:pPr algn="l" indent="0" marL="0">
              <a:buNone/>
            </a:pPr>
            <a:r>
              <a:rPr lang="en-US" sz="1650" b="1" dirty="0">
                <a:solidFill>
                  <a:srgbClr val="E8762E"/>
                </a:solidFill>
                <a:latin typeface="JetBrains Mono" pitchFamily="34" charset="0"/>
                <a:ea typeface="JetBrains Mono" pitchFamily="34" charset="-122"/>
                <a:cs typeface="JetBrains Mono" pitchFamily="34" charset="-120"/>
              </a:rPr>
              <a:t>C3</a:t>
            </a:r>
            <a:endParaRPr lang="en-US" sz="1650" dirty="0"/>
          </a:p>
        </p:txBody>
      </p:sp>
      <p:sp>
        <p:nvSpPr>
          <p:cNvPr id="80" name="Text 76"/>
          <p:cNvSpPr txBox="1"/>
          <p:nvPr/>
        </p:nvSpPr>
        <p:spPr>
          <a:xfrm>
            <a:off x="8382305" y="2495398"/>
            <a:ext cx="8953805" cy="171907"/>
          </a:xfrm>
          <a:prstGeom prst="rect">
            <a:avLst/>
          </a:prstGeom>
          <a:noFill/>
          <a:ln/>
        </p:spPr>
        <p:txBody>
          <a:bodyPr wrap="none" lIns="0" tIns="0" rIns="0" bIns="0" rtlCol="0" anchor="ctr"/>
          <a:lstStyle/>
          <a:p>
            <a:pPr algn="l" indent="0" marL="0">
              <a:buNone/>
            </a:pPr>
            <a:r>
              <a:rPr lang="en-US" sz="1050" b="1" spc="210" kern="0" dirty="0">
                <a:solidFill>
                  <a:srgbClr val="B8430E"/>
                </a:solidFill>
                <a:latin typeface="JetBrains Mono" pitchFamily="34" charset="0"/>
                <a:ea typeface="JetBrains Mono" pitchFamily="34" charset="-122"/>
                <a:cs typeface="JetBrains Mono" pitchFamily="34" charset="-120"/>
              </a:rPr>
              <a:t>WAFER UNIFORMITY · ACI</a:t>
            </a:r>
            <a:endParaRPr lang="en-US" sz="1050" dirty="0"/>
          </a:p>
        </p:txBody>
      </p:sp>
      <p:sp>
        <p:nvSpPr>
          <p:cNvPr id="81" name="Text 77"/>
          <p:cNvSpPr txBox="1"/>
          <p:nvPr/>
        </p:nvSpPr>
        <p:spPr>
          <a:xfrm>
            <a:off x="8382305" y="2704795"/>
            <a:ext cx="8953805" cy="247802"/>
          </a:xfrm>
          <a:prstGeom prst="rect">
            <a:avLst/>
          </a:prstGeom>
          <a:noFill/>
          <a:ln/>
        </p:spPr>
        <p:txBody>
          <a:bodyPr wrap="none" lIns="0" tIns="0" rIns="0" bIns="0" rtlCol="0" anchor="ctr"/>
          <a:lstStyle/>
          <a:p>
            <a:pPr algn="l" indent="0" marL="0">
              <a:buNone/>
            </a:pPr>
            <a:r>
              <a:rPr lang="en-US" sz="1350" b="1" dirty="0">
                <a:solidFill>
                  <a:srgbClr val="1A1F2C"/>
                </a:solidFill>
                <a:latin typeface="Noto Sans KR" pitchFamily="34" charset="0"/>
                <a:ea typeface="Noto Sans KR" pitchFamily="34" charset="-122"/>
                <a:cs typeface="Noto Sans KR" pitchFamily="34" charset="-120"/>
              </a:rPr>
              <a:t>25pt · wafer별 mean / 3σ / range / Δ vs 8.9</a:t>
            </a:r>
            <a:endParaRPr lang="en-US" sz="1350" dirty="0"/>
          </a:p>
        </p:txBody>
      </p:sp>
      <p:sp>
        <p:nvSpPr>
          <p:cNvPr id="82" name="Shape 78"/>
          <p:cNvSpPr/>
          <p:nvPr/>
        </p:nvSpPr>
        <p:spPr>
          <a:xfrm>
            <a:off x="8382305" y="3047695"/>
            <a:ext cx="8953805" cy="476402"/>
          </a:xfrm>
          <a:prstGeom prst="rect">
            <a:avLst/>
          </a:prstGeom>
          <a:solidFill>
            <a:srgbClr val="1A1F2C"/>
          </a:solidFill>
          <a:ln w="12700">
            <a:solidFill>
              <a:srgbClr val="FFFFFF">
                <a:alpha val="0"/>
              </a:srgbClr>
            </a:solidFill>
            <a:prstDash val="solid"/>
          </a:ln>
        </p:spPr>
      </p:sp>
      <p:sp>
        <p:nvSpPr>
          <p:cNvPr id="83" name="Text 79"/>
          <p:cNvSpPr txBox="1"/>
          <p:nvPr/>
        </p:nvSpPr>
        <p:spPr>
          <a:xfrm>
            <a:off x="8382305" y="3047695"/>
            <a:ext cx="1143000" cy="476402"/>
          </a:xfrm>
          <a:prstGeom prst="rect">
            <a:avLst/>
          </a:prstGeom>
          <a:noFill/>
          <a:ln/>
        </p:spPr>
        <p:txBody>
          <a:bodyPr wrap="square" lIns="0" tIns="0" rIns="0" bIns="0" rtlCol="0" anchor="ctr"/>
          <a:lstStyle/>
          <a:p>
            <a:pPr algn="l" indent="0" marL="0">
              <a:buNone/>
            </a:pPr>
            <a:r>
              <a:rPr lang="en-US" sz="1200" b="1" spc="120" kern="0" dirty="0">
                <a:solidFill>
                  <a:srgbClr val="E8762E"/>
                </a:solidFill>
                <a:latin typeface="Noto Sans KR" pitchFamily="34" charset="0"/>
                <a:ea typeface="Noto Sans KR" pitchFamily="34" charset="-122"/>
                <a:cs typeface="Noto Sans KR" pitchFamily="34" charset="-120"/>
              </a:rPr>
              <a:t>WAFER</a:t>
            </a:r>
            <a:endParaRPr lang="en-US" sz="1200" dirty="0"/>
          </a:p>
        </p:txBody>
      </p:sp>
      <p:sp>
        <p:nvSpPr>
          <p:cNvPr id="84" name="Text 80"/>
          <p:cNvSpPr txBox="1"/>
          <p:nvPr/>
        </p:nvSpPr>
        <p:spPr>
          <a:xfrm>
            <a:off x="9525305" y="3047695"/>
            <a:ext cx="1905610" cy="476402"/>
          </a:xfrm>
          <a:prstGeom prst="rect">
            <a:avLst/>
          </a:prstGeom>
          <a:noFill/>
          <a:ln/>
        </p:spPr>
        <p:txBody>
          <a:bodyPr wrap="square" lIns="0" tIns="0" rIns="0" bIns="0" rtlCol="0" anchor="ctr"/>
          <a:lstStyle/>
          <a:p>
            <a:pPr algn="l" indent="0" marL="0">
              <a:buNone/>
            </a:pPr>
            <a:r>
              <a:rPr lang="en-US" sz="1200" b="1" spc="120" kern="0" dirty="0">
                <a:solidFill>
                  <a:srgbClr val="E8762E"/>
                </a:solidFill>
                <a:latin typeface="Noto Sans KR" pitchFamily="34" charset="0"/>
                <a:ea typeface="Noto Sans KR" pitchFamily="34" charset="-122"/>
                <a:cs typeface="Noto Sans KR" pitchFamily="34" charset="-120"/>
              </a:rPr>
              <a:t>PROCESS</a:t>
            </a:r>
            <a:endParaRPr lang="en-US" sz="1200" dirty="0"/>
          </a:p>
        </p:txBody>
      </p:sp>
      <p:sp>
        <p:nvSpPr>
          <p:cNvPr id="85" name="Text 81"/>
          <p:cNvSpPr txBox="1"/>
          <p:nvPr/>
        </p:nvSpPr>
        <p:spPr>
          <a:xfrm>
            <a:off x="11430000" y="3047695"/>
            <a:ext cx="1476756" cy="476402"/>
          </a:xfrm>
          <a:prstGeom prst="rect">
            <a:avLst/>
          </a:prstGeom>
          <a:noFill/>
          <a:ln/>
        </p:spPr>
        <p:txBody>
          <a:bodyPr wrap="square" lIns="0" tIns="0" rIns="0" bIns="0" rtlCol="0" anchor="ctr"/>
          <a:lstStyle/>
          <a:p>
            <a:pPr algn="r" indent="0" marL="0">
              <a:buNone/>
            </a:pPr>
            <a:r>
              <a:rPr lang="en-US" sz="1200" b="1" spc="120" kern="0" dirty="0">
                <a:solidFill>
                  <a:srgbClr val="E8762E"/>
                </a:solidFill>
                <a:latin typeface="Noto Sans KR" pitchFamily="34" charset="0"/>
                <a:ea typeface="Noto Sans KR" pitchFamily="34" charset="-122"/>
                <a:cs typeface="Noto Sans KR" pitchFamily="34" charset="-120"/>
              </a:rPr>
              <a:t>MEAN</a:t>
            </a:r>
            <a:endParaRPr lang="en-US" sz="1200" dirty="0"/>
          </a:p>
        </p:txBody>
      </p:sp>
      <p:sp>
        <p:nvSpPr>
          <p:cNvPr id="86" name="Text 82"/>
          <p:cNvSpPr txBox="1"/>
          <p:nvPr/>
        </p:nvSpPr>
        <p:spPr>
          <a:xfrm>
            <a:off x="12906756" y="3047695"/>
            <a:ext cx="1476756" cy="476402"/>
          </a:xfrm>
          <a:prstGeom prst="rect">
            <a:avLst/>
          </a:prstGeom>
          <a:noFill/>
          <a:ln/>
        </p:spPr>
        <p:txBody>
          <a:bodyPr wrap="square" lIns="0" tIns="0" rIns="0" bIns="0" rtlCol="0" anchor="ctr"/>
          <a:lstStyle/>
          <a:p>
            <a:pPr algn="r" indent="0" marL="0">
              <a:buNone/>
            </a:pPr>
            <a:r>
              <a:rPr lang="en-US" sz="1200" b="1" spc="120" kern="0" dirty="0">
                <a:solidFill>
                  <a:srgbClr val="E8762E"/>
                </a:solidFill>
                <a:latin typeface="Noto Sans KR" pitchFamily="34" charset="0"/>
                <a:ea typeface="Noto Sans KR" pitchFamily="34" charset="-122"/>
                <a:cs typeface="Noto Sans KR" pitchFamily="34" charset="-120"/>
              </a:rPr>
              <a:t>3σ</a:t>
            </a:r>
            <a:endParaRPr lang="en-US" sz="1200" dirty="0"/>
          </a:p>
        </p:txBody>
      </p:sp>
      <p:sp>
        <p:nvSpPr>
          <p:cNvPr id="87" name="Text 83"/>
          <p:cNvSpPr txBox="1"/>
          <p:nvPr/>
        </p:nvSpPr>
        <p:spPr>
          <a:xfrm>
            <a:off x="14382598" y="3047695"/>
            <a:ext cx="1476756" cy="476402"/>
          </a:xfrm>
          <a:prstGeom prst="rect">
            <a:avLst/>
          </a:prstGeom>
          <a:noFill/>
          <a:ln/>
        </p:spPr>
        <p:txBody>
          <a:bodyPr wrap="square" lIns="0" tIns="0" rIns="0" bIns="0" rtlCol="0" anchor="ctr"/>
          <a:lstStyle/>
          <a:p>
            <a:pPr algn="r" indent="0" marL="0">
              <a:buNone/>
            </a:pPr>
            <a:r>
              <a:rPr lang="en-US" sz="1200" b="1" spc="120" kern="0" dirty="0">
                <a:solidFill>
                  <a:srgbClr val="E8762E"/>
                </a:solidFill>
                <a:latin typeface="Noto Sans KR" pitchFamily="34" charset="0"/>
                <a:ea typeface="Noto Sans KR" pitchFamily="34" charset="-122"/>
                <a:cs typeface="Noto Sans KR" pitchFamily="34" charset="-120"/>
              </a:rPr>
              <a:t>RANGE</a:t>
            </a:r>
            <a:endParaRPr lang="en-US" sz="1200" dirty="0"/>
          </a:p>
        </p:txBody>
      </p:sp>
      <p:sp>
        <p:nvSpPr>
          <p:cNvPr id="88" name="Text 84"/>
          <p:cNvSpPr txBox="1"/>
          <p:nvPr/>
        </p:nvSpPr>
        <p:spPr>
          <a:xfrm>
            <a:off x="15859354" y="3047695"/>
            <a:ext cx="1476756" cy="476402"/>
          </a:xfrm>
          <a:prstGeom prst="rect">
            <a:avLst/>
          </a:prstGeom>
          <a:noFill/>
          <a:ln/>
        </p:spPr>
        <p:txBody>
          <a:bodyPr wrap="square" lIns="0" tIns="0" rIns="0" bIns="0" rtlCol="0" anchor="ctr"/>
          <a:lstStyle/>
          <a:p>
            <a:pPr algn="r" indent="0" marL="0">
              <a:buNone/>
            </a:pPr>
            <a:r>
              <a:rPr lang="en-US" sz="1200" b="1" spc="120" kern="0" dirty="0">
                <a:solidFill>
                  <a:srgbClr val="E8762E"/>
                </a:solidFill>
                <a:latin typeface="Noto Sans KR" pitchFamily="34" charset="0"/>
                <a:ea typeface="Noto Sans KR" pitchFamily="34" charset="-122"/>
                <a:cs typeface="Noto Sans KR" pitchFamily="34" charset="-120"/>
              </a:rPr>
              <a:t>Δ vs TGT</a:t>
            </a:r>
            <a:endParaRPr lang="en-US" sz="1200" dirty="0"/>
          </a:p>
        </p:txBody>
      </p:sp>
      <p:sp>
        <p:nvSpPr>
          <p:cNvPr id="89" name="Shape 85"/>
          <p:cNvSpPr/>
          <p:nvPr/>
        </p:nvSpPr>
        <p:spPr>
          <a:xfrm>
            <a:off x="8382305" y="3524098"/>
            <a:ext cx="8953805" cy="400507"/>
          </a:xfrm>
          <a:prstGeom prst="rect">
            <a:avLst/>
          </a:prstGeom>
          <a:solidFill>
            <a:srgbClr val="FBF7EF"/>
          </a:solidFill>
          <a:ln w="12700">
            <a:solidFill>
              <a:srgbClr val="FFFFFF">
                <a:alpha val="0"/>
              </a:srgbClr>
            </a:solidFill>
            <a:prstDash val="solid"/>
          </a:ln>
        </p:spPr>
      </p:sp>
      <p:sp>
        <p:nvSpPr>
          <p:cNvPr id="90" name="Text 86"/>
          <p:cNvSpPr txBox="1"/>
          <p:nvPr/>
        </p:nvSpPr>
        <p:spPr>
          <a:xfrm>
            <a:off x="8382305" y="3524098"/>
            <a:ext cx="1143000" cy="400507"/>
          </a:xfrm>
          <a:prstGeom prst="rect">
            <a:avLst/>
          </a:prstGeom>
          <a:noFill/>
          <a:ln/>
        </p:spPr>
        <p:txBody>
          <a:bodyPr wrap="square" lIns="0" tIns="0" rIns="0" bIns="0" rtlCol="0" anchor="ctr"/>
          <a:lstStyle/>
          <a:p>
            <a:pPr algn="l" indent="0" marL="0">
              <a:buNone/>
            </a:pPr>
            <a:r>
              <a:rPr lang="en-US" sz="1650" b="1" dirty="0">
                <a:solidFill>
                  <a:srgbClr val="1A1F2C"/>
                </a:solidFill>
                <a:latin typeface="JetBrains Mono" pitchFamily="34" charset="0"/>
                <a:ea typeface="JetBrains Mono" pitchFamily="34" charset="-122"/>
                <a:cs typeface="JetBrains Mono" pitchFamily="34" charset="-120"/>
              </a:rPr>
              <a:t>W01</a:t>
            </a:r>
            <a:endParaRPr lang="en-US" sz="1650" dirty="0"/>
          </a:p>
        </p:txBody>
      </p:sp>
      <p:sp>
        <p:nvSpPr>
          <p:cNvPr id="91" name="Text 87"/>
          <p:cNvSpPr txBox="1"/>
          <p:nvPr/>
        </p:nvSpPr>
        <p:spPr>
          <a:xfrm>
            <a:off x="11430000" y="35240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9.04</a:t>
            </a:r>
            <a:endParaRPr lang="en-US" sz="1650" dirty="0"/>
          </a:p>
        </p:txBody>
      </p:sp>
      <p:sp>
        <p:nvSpPr>
          <p:cNvPr id="92" name="Text 88"/>
          <p:cNvSpPr txBox="1"/>
          <p:nvPr/>
        </p:nvSpPr>
        <p:spPr>
          <a:xfrm>
            <a:off x="12906756" y="35240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0.27</a:t>
            </a:r>
            <a:endParaRPr lang="en-US" sz="1650" dirty="0"/>
          </a:p>
        </p:txBody>
      </p:sp>
      <p:sp>
        <p:nvSpPr>
          <p:cNvPr id="93" name="Text 89"/>
          <p:cNvSpPr txBox="1"/>
          <p:nvPr/>
        </p:nvSpPr>
        <p:spPr>
          <a:xfrm>
            <a:off x="14382598" y="35240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0.82</a:t>
            </a:r>
            <a:endParaRPr lang="en-US" sz="1650" dirty="0"/>
          </a:p>
        </p:txBody>
      </p:sp>
      <p:sp>
        <p:nvSpPr>
          <p:cNvPr id="94" name="Text 90"/>
          <p:cNvSpPr txBox="1"/>
          <p:nvPr/>
        </p:nvSpPr>
        <p:spPr>
          <a:xfrm>
            <a:off x="15859354" y="3524098"/>
            <a:ext cx="1476756" cy="400507"/>
          </a:xfrm>
          <a:prstGeom prst="rect">
            <a:avLst/>
          </a:prstGeom>
          <a:noFill/>
          <a:ln/>
        </p:spPr>
        <p:txBody>
          <a:bodyPr wrap="square" lIns="0" tIns="0" rIns="0" bIns="0" rtlCol="0" anchor="ctr"/>
          <a:lstStyle/>
          <a:p>
            <a:pPr algn="r" indent="0" marL="0">
              <a:buNone/>
            </a:pPr>
            <a:r>
              <a:rPr lang="en-US" sz="1650" b="1" dirty="0">
                <a:solidFill>
                  <a:srgbClr val="B8430E"/>
                </a:solidFill>
                <a:latin typeface="JetBrains Mono" pitchFamily="34" charset="0"/>
                <a:ea typeface="JetBrains Mono" pitchFamily="34" charset="-122"/>
                <a:cs typeface="JetBrains Mono" pitchFamily="34" charset="-120"/>
              </a:rPr>
              <a:t>+0.14</a:t>
            </a:r>
            <a:endParaRPr lang="en-US" sz="1650" dirty="0"/>
          </a:p>
        </p:txBody>
      </p:sp>
      <p:sp>
        <p:nvSpPr>
          <p:cNvPr id="95" name="Shape 91"/>
          <p:cNvSpPr/>
          <p:nvPr/>
        </p:nvSpPr>
        <p:spPr>
          <a:xfrm>
            <a:off x="8382305" y="3924605"/>
            <a:ext cx="8953805" cy="400507"/>
          </a:xfrm>
          <a:prstGeom prst="rect">
            <a:avLst/>
          </a:prstGeom>
          <a:solidFill>
            <a:srgbClr val="F4ECDC"/>
          </a:solidFill>
          <a:ln w="12700">
            <a:solidFill>
              <a:srgbClr val="FFFFFF">
                <a:alpha val="0"/>
              </a:srgbClr>
            </a:solidFill>
            <a:prstDash val="solid"/>
          </a:ln>
        </p:spPr>
      </p:sp>
      <p:sp>
        <p:nvSpPr>
          <p:cNvPr id="96" name="Text 92"/>
          <p:cNvSpPr txBox="1"/>
          <p:nvPr/>
        </p:nvSpPr>
        <p:spPr>
          <a:xfrm>
            <a:off x="8382305" y="3924605"/>
            <a:ext cx="1143000" cy="400507"/>
          </a:xfrm>
          <a:prstGeom prst="rect">
            <a:avLst/>
          </a:prstGeom>
          <a:noFill/>
          <a:ln/>
        </p:spPr>
        <p:txBody>
          <a:bodyPr wrap="square" lIns="0" tIns="0" rIns="0" bIns="0" rtlCol="0" anchor="ctr"/>
          <a:lstStyle/>
          <a:p>
            <a:pPr algn="l" indent="0" marL="0">
              <a:buNone/>
            </a:pPr>
            <a:r>
              <a:rPr lang="en-US" sz="1650" b="1" dirty="0">
                <a:solidFill>
                  <a:srgbClr val="1A1F2C"/>
                </a:solidFill>
                <a:latin typeface="JetBrains Mono" pitchFamily="34" charset="0"/>
                <a:ea typeface="JetBrains Mono" pitchFamily="34" charset="-122"/>
                <a:cs typeface="JetBrains Mono" pitchFamily="34" charset="-120"/>
              </a:rPr>
              <a:t>W02</a:t>
            </a:r>
            <a:endParaRPr lang="en-US" sz="1650" dirty="0"/>
          </a:p>
        </p:txBody>
      </p:sp>
      <p:sp>
        <p:nvSpPr>
          <p:cNvPr id="97" name="Text 93"/>
          <p:cNvSpPr txBox="1"/>
          <p:nvPr/>
        </p:nvSpPr>
        <p:spPr>
          <a:xfrm>
            <a:off x="11430000" y="39246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9.09</a:t>
            </a:r>
            <a:endParaRPr lang="en-US" sz="1650" dirty="0"/>
          </a:p>
        </p:txBody>
      </p:sp>
      <p:sp>
        <p:nvSpPr>
          <p:cNvPr id="98" name="Text 94"/>
          <p:cNvSpPr txBox="1"/>
          <p:nvPr/>
        </p:nvSpPr>
        <p:spPr>
          <a:xfrm>
            <a:off x="12906756" y="39246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0.31</a:t>
            </a:r>
            <a:endParaRPr lang="en-US" sz="1650" dirty="0"/>
          </a:p>
        </p:txBody>
      </p:sp>
      <p:sp>
        <p:nvSpPr>
          <p:cNvPr id="99" name="Text 95"/>
          <p:cNvSpPr txBox="1"/>
          <p:nvPr/>
        </p:nvSpPr>
        <p:spPr>
          <a:xfrm>
            <a:off x="14382598" y="39246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0.94</a:t>
            </a:r>
            <a:endParaRPr lang="en-US" sz="1650" dirty="0"/>
          </a:p>
        </p:txBody>
      </p:sp>
      <p:sp>
        <p:nvSpPr>
          <p:cNvPr id="100" name="Text 96"/>
          <p:cNvSpPr txBox="1"/>
          <p:nvPr/>
        </p:nvSpPr>
        <p:spPr>
          <a:xfrm>
            <a:off x="15859354" y="3924605"/>
            <a:ext cx="1476756" cy="400507"/>
          </a:xfrm>
          <a:prstGeom prst="rect">
            <a:avLst/>
          </a:prstGeom>
          <a:noFill/>
          <a:ln/>
        </p:spPr>
        <p:txBody>
          <a:bodyPr wrap="square" lIns="0" tIns="0" rIns="0" bIns="0" rtlCol="0" anchor="ctr"/>
          <a:lstStyle/>
          <a:p>
            <a:pPr algn="r" indent="0" marL="0">
              <a:buNone/>
            </a:pPr>
            <a:r>
              <a:rPr lang="en-US" sz="1650" b="1" dirty="0">
                <a:solidFill>
                  <a:srgbClr val="B8430E"/>
                </a:solidFill>
                <a:latin typeface="JetBrains Mono" pitchFamily="34" charset="0"/>
                <a:ea typeface="JetBrains Mono" pitchFamily="34" charset="-122"/>
                <a:cs typeface="JetBrains Mono" pitchFamily="34" charset="-120"/>
              </a:rPr>
              <a:t>+0.19</a:t>
            </a:r>
            <a:endParaRPr lang="en-US" sz="1650" dirty="0"/>
          </a:p>
        </p:txBody>
      </p:sp>
      <p:sp>
        <p:nvSpPr>
          <p:cNvPr id="101" name="Shape 97"/>
          <p:cNvSpPr/>
          <p:nvPr/>
        </p:nvSpPr>
        <p:spPr>
          <a:xfrm>
            <a:off x="8382305" y="4324198"/>
            <a:ext cx="8953805" cy="400507"/>
          </a:xfrm>
          <a:prstGeom prst="rect">
            <a:avLst/>
          </a:prstGeom>
          <a:solidFill>
            <a:srgbClr val="FBF7EF"/>
          </a:solidFill>
          <a:ln w="12700">
            <a:solidFill>
              <a:srgbClr val="FFFFFF">
                <a:alpha val="0"/>
              </a:srgbClr>
            </a:solidFill>
            <a:prstDash val="solid"/>
          </a:ln>
        </p:spPr>
      </p:sp>
      <p:sp>
        <p:nvSpPr>
          <p:cNvPr id="102" name="Text 98"/>
          <p:cNvSpPr txBox="1"/>
          <p:nvPr/>
        </p:nvSpPr>
        <p:spPr>
          <a:xfrm>
            <a:off x="8382305" y="4324198"/>
            <a:ext cx="1143000" cy="400507"/>
          </a:xfrm>
          <a:prstGeom prst="rect">
            <a:avLst/>
          </a:prstGeom>
          <a:noFill/>
          <a:ln/>
        </p:spPr>
        <p:txBody>
          <a:bodyPr wrap="square" lIns="0" tIns="0" rIns="0" bIns="0" rtlCol="0" anchor="ctr"/>
          <a:lstStyle/>
          <a:p>
            <a:pPr algn="l" indent="0" marL="0">
              <a:buNone/>
            </a:pPr>
            <a:r>
              <a:rPr lang="en-US" sz="1650" b="1" dirty="0">
                <a:solidFill>
                  <a:srgbClr val="1A1F2C"/>
                </a:solidFill>
                <a:latin typeface="JetBrains Mono" pitchFamily="34" charset="0"/>
                <a:ea typeface="JetBrains Mono" pitchFamily="34" charset="-122"/>
                <a:cs typeface="JetBrains Mono" pitchFamily="34" charset="-120"/>
              </a:rPr>
              <a:t>W03</a:t>
            </a:r>
            <a:endParaRPr lang="en-US" sz="1650" dirty="0"/>
          </a:p>
        </p:txBody>
      </p:sp>
      <p:sp>
        <p:nvSpPr>
          <p:cNvPr id="103" name="Text 99"/>
          <p:cNvSpPr txBox="1"/>
          <p:nvPr/>
        </p:nvSpPr>
        <p:spPr>
          <a:xfrm>
            <a:off x="11430000" y="43241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9.12</a:t>
            </a:r>
            <a:endParaRPr lang="en-US" sz="1650" dirty="0"/>
          </a:p>
        </p:txBody>
      </p:sp>
      <p:sp>
        <p:nvSpPr>
          <p:cNvPr id="104" name="Text 100"/>
          <p:cNvSpPr txBox="1"/>
          <p:nvPr/>
        </p:nvSpPr>
        <p:spPr>
          <a:xfrm>
            <a:off x="12906756" y="43241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0.36</a:t>
            </a:r>
            <a:endParaRPr lang="en-US" sz="1650" dirty="0"/>
          </a:p>
        </p:txBody>
      </p:sp>
      <p:sp>
        <p:nvSpPr>
          <p:cNvPr id="105" name="Text 101"/>
          <p:cNvSpPr txBox="1"/>
          <p:nvPr/>
        </p:nvSpPr>
        <p:spPr>
          <a:xfrm>
            <a:off x="14382598" y="43241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1.10</a:t>
            </a:r>
            <a:endParaRPr lang="en-US" sz="1650" dirty="0"/>
          </a:p>
        </p:txBody>
      </p:sp>
      <p:sp>
        <p:nvSpPr>
          <p:cNvPr id="106" name="Text 102"/>
          <p:cNvSpPr txBox="1"/>
          <p:nvPr/>
        </p:nvSpPr>
        <p:spPr>
          <a:xfrm>
            <a:off x="15859354" y="4324198"/>
            <a:ext cx="1476756" cy="400507"/>
          </a:xfrm>
          <a:prstGeom prst="rect">
            <a:avLst/>
          </a:prstGeom>
          <a:noFill/>
          <a:ln/>
        </p:spPr>
        <p:txBody>
          <a:bodyPr wrap="square" lIns="0" tIns="0" rIns="0" bIns="0" rtlCol="0" anchor="ctr"/>
          <a:lstStyle/>
          <a:p>
            <a:pPr algn="r" indent="0" marL="0">
              <a:buNone/>
            </a:pPr>
            <a:r>
              <a:rPr lang="en-US" sz="1650" b="1" dirty="0">
                <a:solidFill>
                  <a:srgbClr val="B8430E"/>
                </a:solidFill>
                <a:latin typeface="JetBrains Mono" pitchFamily="34" charset="0"/>
                <a:ea typeface="JetBrains Mono" pitchFamily="34" charset="-122"/>
                <a:cs typeface="JetBrains Mono" pitchFamily="34" charset="-120"/>
              </a:rPr>
              <a:t>+0.22</a:t>
            </a:r>
            <a:endParaRPr lang="en-US" sz="1650" dirty="0"/>
          </a:p>
        </p:txBody>
      </p:sp>
      <p:sp>
        <p:nvSpPr>
          <p:cNvPr id="107" name="Shape 103"/>
          <p:cNvSpPr/>
          <p:nvPr/>
        </p:nvSpPr>
        <p:spPr>
          <a:xfrm>
            <a:off x="8382305" y="4724705"/>
            <a:ext cx="8953805" cy="400507"/>
          </a:xfrm>
          <a:prstGeom prst="rect">
            <a:avLst/>
          </a:prstGeom>
          <a:solidFill>
            <a:srgbClr val="F4ECDC"/>
          </a:solidFill>
          <a:ln w="12700">
            <a:solidFill>
              <a:srgbClr val="FFFFFF">
                <a:alpha val="0"/>
              </a:srgbClr>
            </a:solidFill>
            <a:prstDash val="solid"/>
          </a:ln>
        </p:spPr>
      </p:sp>
      <p:sp>
        <p:nvSpPr>
          <p:cNvPr id="108" name="Text 104"/>
          <p:cNvSpPr txBox="1"/>
          <p:nvPr/>
        </p:nvSpPr>
        <p:spPr>
          <a:xfrm>
            <a:off x="8382305" y="4724705"/>
            <a:ext cx="1143000" cy="400507"/>
          </a:xfrm>
          <a:prstGeom prst="rect">
            <a:avLst/>
          </a:prstGeom>
          <a:noFill/>
          <a:ln/>
        </p:spPr>
        <p:txBody>
          <a:bodyPr wrap="square" lIns="0" tIns="0" rIns="0" bIns="0" rtlCol="0" anchor="ctr"/>
          <a:lstStyle/>
          <a:p>
            <a:pPr algn="l" indent="0" marL="0">
              <a:buNone/>
            </a:pPr>
            <a:r>
              <a:rPr lang="en-US" sz="1650" b="1" dirty="0">
                <a:solidFill>
                  <a:srgbClr val="1A1F2C"/>
                </a:solidFill>
                <a:latin typeface="JetBrains Mono" pitchFamily="34" charset="0"/>
                <a:ea typeface="JetBrains Mono" pitchFamily="34" charset="-122"/>
                <a:cs typeface="JetBrains Mono" pitchFamily="34" charset="-120"/>
              </a:rPr>
              <a:t>W04</a:t>
            </a:r>
            <a:endParaRPr lang="en-US" sz="1650" dirty="0"/>
          </a:p>
        </p:txBody>
      </p:sp>
      <p:sp>
        <p:nvSpPr>
          <p:cNvPr id="109" name="Text 105"/>
          <p:cNvSpPr txBox="1"/>
          <p:nvPr/>
        </p:nvSpPr>
        <p:spPr>
          <a:xfrm>
            <a:off x="11430000" y="47247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8.83</a:t>
            </a:r>
            <a:endParaRPr lang="en-US" sz="1650" dirty="0"/>
          </a:p>
        </p:txBody>
      </p:sp>
      <p:sp>
        <p:nvSpPr>
          <p:cNvPr id="110" name="Text 106"/>
          <p:cNvSpPr txBox="1"/>
          <p:nvPr/>
        </p:nvSpPr>
        <p:spPr>
          <a:xfrm>
            <a:off x="12906756" y="47247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0.13</a:t>
            </a:r>
            <a:endParaRPr lang="en-US" sz="1650" dirty="0"/>
          </a:p>
        </p:txBody>
      </p:sp>
      <p:sp>
        <p:nvSpPr>
          <p:cNvPr id="111" name="Text 107"/>
          <p:cNvSpPr txBox="1"/>
          <p:nvPr/>
        </p:nvSpPr>
        <p:spPr>
          <a:xfrm>
            <a:off x="14382598" y="47247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0.39</a:t>
            </a:r>
            <a:endParaRPr lang="en-US" sz="1650" dirty="0"/>
          </a:p>
        </p:txBody>
      </p:sp>
      <p:sp>
        <p:nvSpPr>
          <p:cNvPr id="112" name="Text 108"/>
          <p:cNvSpPr txBox="1"/>
          <p:nvPr/>
        </p:nvSpPr>
        <p:spPr>
          <a:xfrm>
            <a:off x="15859354" y="47247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−0.07</a:t>
            </a:r>
            <a:endParaRPr lang="en-US" sz="1650" dirty="0"/>
          </a:p>
        </p:txBody>
      </p:sp>
      <p:sp>
        <p:nvSpPr>
          <p:cNvPr id="113" name="Shape 109"/>
          <p:cNvSpPr/>
          <p:nvPr/>
        </p:nvSpPr>
        <p:spPr>
          <a:xfrm>
            <a:off x="8382305" y="5124298"/>
            <a:ext cx="8953805" cy="400507"/>
          </a:xfrm>
          <a:prstGeom prst="rect">
            <a:avLst/>
          </a:prstGeom>
          <a:solidFill>
            <a:srgbClr val="FBF7EF"/>
          </a:solidFill>
          <a:ln w="12700">
            <a:solidFill>
              <a:srgbClr val="FFFFFF">
                <a:alpha val="0"/>
              </a:srgbClr>
            </a:solidFill>
            <a:prstDash val="solid"/>
          </a:ln>
        </p:spPr>
      </p:sp>
      <p:sp>
        <p:nvSpPr>
          <p:cNvPr id="114" name="Text 110"/>
          <p:cNvSpPr txBox="1"/>
          <p:nvPr/>
        </p:nvSpPr>
        <p:spPr>
          <a:xfrm>
            <a:off x="8382305" y="5124298"/>
            <a:ext cx="1143000" cy="400507"/>
          </a:xfrm>
          <a:prstGeom prst="rect">
            <a:avLst/>
          </a:prstGeom>
          <a:noFill/>
          <a:ln/>
        </p:spPr>
        <p:txBody>
          <a:bodyPr wrap="square" lIns="0" tIns="0" rIns="0" bIns="0" rtlCol="0" anchor="ctr"/>
          <a:lstStyle/>
          <a:p>
            <a:pPr algn="l" indent="0" marL="0">
              <a:buNone/>
            </a:pPr>
            <a:r>
              <a:rPr lang="en-US" sz="1650" b="1" dirty="0">
                <a:solidFill>
                  <a:srgbClr val="1A1F2C"/>
                </a:solidFill>
                <a:latin typeface="JetBrains Mono" pitchFamily="34" charset="0"/>
                <a:ea typeface="JetBrains Mono" pitchFamily="34" charset="-122"/>
                <a:cs typeface="JetBrains Mono" pitchFamily="34" charset="-120"/>
              </a:rPr>
              <a:t>W05</a:t>
            </a:r>
            <a:endParaRPr lang="en-US" sz="1650" dirty="0"/>
          </a:p>
        </p:txBody>
      </p:sp>
      <p:sp>
        <p:nvSpPr>
          <p:cNvPr id="115" name="Text 111"/>
          <p:cNvSpPr txBox="1"/>
          <p:nvPr/>
        </p:nvSpPr>
        <p:spPr>
          <a:xfrm>
            <a:off x="11430000" y="51242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8.86</a:t>
            </a:r>
            <a:endParaRPr lang="en-US" sz="1650" dirty="0"/>
          </a:p>
        </p:txBody>
      </p:sp>
      <p:sp>
        <p:nvSpPr>
          <p:cNvPr id="116" name="Text 112"/>
          <p:cNvSpPr txBox="1"/>
          <p:nvPr/>
        </p:nvSpPr>
        <p:spPr>
          <a:xfrm>
            <a:off x="12906756" y="51242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0.12</a:t>
            </a:r>
            <a:endParaRPr lang="en-US" sz="1650" dirty="0"/>
          </a:p>
        </p:txBody>
      </p:sp>
      <p:sp>
        <p:nvSpPr>
          <p:cNvPr id="117" name="Text 113"/>
          <p:cNvSpPr txBox="1"/>
          <p:nvPr/>
        </p:nvSpPr>
        <p:spPr>
          <a:xfrm>
            <a:off x="14382598" y="51242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0.36</a:t>
            </a:r>
            <a:endParaRPr lang="en-US" sz="1650" dirty="0"/>
          </a:p>
        </p:txBody>
      </p:sp>
      <p:sp>
        <p:nvSpPr>
          <p:cNvPr id="118" name="Text 114"/>
          <p:cNvSpPr txBox="1"/>
          <p:nvPr/>
        </p:nvSpPr>
        <p:spPr>
          <a:xfrm>
            <a:off x="15859354" y="5124298"/>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−0.04</a:t>
            </a:r>
            <a:endParaRPr lang="en-US" sz="1650" dirty="0"/>
          </a:p>
        </p:txBody>
      </p:sp>
      <p:sp>
        <p:nvSpPr>
          <p:cNvPr id="119" name="Shape 115"/>
          <p:cNvSpPr/>
          <p:nvPr/>
        </p:nvSpPr>
        <p:spPr>
          <a:xfrm>
            <a:off x="8382305" y="5524805"/>
            <a:ext cx="8953805" cy="400507"/>
          </a:xfrm>
          <a:prstGeom prst="rect">
            <a:avLst/>
          </a:prstGeom>
          <a:solidFill>
            <a:srgbClr val="F4ECDC"/>
          </a:solidFill>
          <a:ln w="12700">
            <a:solidFill>
              <a:srgbClr val="FFFFFF">
                <a:alpha val="0"/>
              </a:srgbClr>
            </a:solidFill>
            <a:prstDash val="solid"/>
          </a:ln>
        </p:spPr>
      </p:sp>
      <p:sp>
        <p:nvSpPr>
          <p:cNvPr id="120" name="Text 116"/>
          <p:cNvSpPr txBox="1"/>
          <p:nvPr/>
        </p:nvSpPr>
        <p:spPr>
          <a:xfrm>
            <a:off x="8382305" y="5524805"/>
            <a:ext cx="1143000" cy="400507"/>
          </a:xfrm>
          <a:prstGeom prst="rect">
            <a:avLst/>
          </a:prstGeom>
          <a:noFill/>
          <a:ln/>
        </p:spPr>
        <p:txBody>
          <a:bodyPr wrap="square" lIns="0" tIns="0" rIns="0" bIns="0" rtlCol="0" anchor="ctr"/>
          <a:lstStyle/>
          <a:p>
            <a:pPr algn="l" indent="0" marL="0">
              <a:buNone/>
            </a:pPr>
            <a:r>
              <a:rPr lang="en-US" sz="1650" b="1" dirty="0">
                <a:solidFill>
                  <a:srgbClr val="1A1F2C"/>
                </a:solidFill>
                <a:latin typeface="JetBrains Mono" pitchFamily="34" charset="0"/>
                <a:ea typeface="JetBrains Mono" pitchFamily="34" charset="-122"/>
                <a:cs typeface="JetBrains Mono" pitchFamily="34" charset="-120"/>
              </a:rPr>
              <a:t>W06</a:t>
            </a:r>
            <a:endParaRPr lang="en-US" sz="1650" dirty="0"/>
          </a:p>
        </p:txBody>
      </p:sp>
      <p:sp>
        <p:nvSpPr>
          <p:cNvPr id="121" name="Text 117"/>
          <p:cNvSpPr txBox="1"/>
          <p:nvPr/>
        </p:nvSpPr>
        <p:spPr>
          <a:xfrm>
            <a:off x="11430000" y="55248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8.81</a:t>
            </a:r>
            <a:endParaRPr lang="en-US" sz="1650" dirty="0"/>
          </a:p>
        </p:txBody>
      </p:sp>
      <p:sp>
        <p:nvSpPr>
          <p:cNvPr id="122" name="Text 118"/>
          <p:cNvSpPr txBox="1"/>
          <p:nvPr/>
        </p:nvSpPr>
        <p:spPr>
          <a:xfrm>
            <a:off x="12906756" y="55248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0.10</a:t>
            </a:r>
            <a:endParaRPr lang="en-US" sz="1650" dirty="0"/>
          </a:p>
        </p:txBody>
      </p:sp>
      <p:sp>
        <p:nvSpPr>
          <p:cNvPr id="123" name="Text 119"/>
          <p:cNvSpPr txBox="1"/>
          <p:nvPr/>
        </p:nvSpPr>
        <p:spPr>
          <a:xfrm>
            <a:off x="14382598" y="55248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0.32</a:t>
            </a:r>
            <a:endParaRPr lang="en-US" sz="1650" dirty="0"/>
          </a:p>
        </p:txBody>
      </p:sp>
      <p:sp>
        <p:nvSpPr>
          <p:cNvPr id="124" name="Text 120"/>
          <p:cNvSpPr txBox="1"/>
          <p:nvPr/>
        </p:nvSpPr>
        <p:spPr>
          <a:xfrm>
            <a:off x="15859354" y="5524805"/>
            <a:ext cx="1476756" cy="400507"/>
          </a:xfrm>
          <a:prstGeom prst="rect">
            <a:avLst/>
          </a:prstGeom>
          <a:noFill/>
          <a:ln/>
        </p:spPr>
        <p:txBody>
          <a:bodyPr wrap="square" lIns="0" tIns="0" rIns="0" bIns="0" rtlCol="0" anchor="ctr"/>
          <a:lstStyle/>
          <a:p>
            <a:pPr algn="r" indent="0" marL="0">
              <a:buNone/>
            </a:pPr>
            <a:r>
              <a:rPr lang="en-US" sz="1650" b="1" dirty="0">
                <a:solidFill>
                  <a:srgbClr val="1A1F2C"/>
                </a:solidFill>
                <a:latin typeface="JetBrains Mono" pitchFamily="34" charset="0"/>
                <a:ea typeface="JetBrains Mono" pitchFamily="34" charset="-122"/>
                <a:cs typeface="JetBrains Mono" pitchFamily="34" charset="-120"/>
              </a:rPr>
              <a:t>−0.09</a:t>
            </a:r>
            <a:endParaRPr lang="en-US" sz="1650" dirty="0"/>
          </a:p>
        </p:txBody>
      </p:sp>
      <p:sp>
        <p:nvSpPr>
          <p:cNvPr id="125" name="Text 121"/>
          <p:cNvSpPr txBox="1"/>
          <p:nvPr/>
        </p:nvSpPr>
        <p:spPr>
          <a:xfrm>
            <a:off x="9581998" y="3624682"/>
            <a:ext cx="669341" cy="238658"/>
          </a:xfrm>
          <a:prstGeom prst="rect">
            <a:avLst/>
          </a:prstGeom>
          <a:solidFill>
            <a:srgbClr val="2D3848"/>
          </a:solidFill>
          <a:ln>
            <a:solidFill>
              <a:srgbClr val="FFFFFF">
                <a:alpha val="0"/>
              </a:srgbClr>
            </a:solidFill>
          </a:ln>
        </p:spPr>
        <p:txBody>
          <a:bodyPr wrap="none" lIns="101600" tIns="25400" rIns="101600" bIns="25400" rtlCol="0" anchor="ctr"/>
          <a:lstStyle/>
          <a:p>
            <a:pPr algn="l" indent="0" marL="0">
              <a:buNone/>
            </a:pPr>
            <a:r>
              <a:rPr lang="en-US" sz="975" b="1" spc="78" kern="0" dirty="0">
                <a:solidFill>
                  <a:srgbClr val="F2EDE5"/>
                </a:solidFill>
                <a:latin typeface="Noto Sans KR" pitchFamily="34" charset="0"/>
                <a:ea typeface="Noto Sans KR" pitchFamily="34" charset="-122"/>
                <a:cs typeface="Noto Sans KR" pitchFamily="34" charset="-120"/>
              </a:rPr>
              <a:t>SAQP</a:t>
            </a:r>
            <a:endParaRPr lang="en-US" sz="975" dirty="0"/>
          </a:p>
        </p:txBody>
      </p:sp>
      <p:sp>
        <p:nvSpPr>
          <p:cNvPr id="126" name="Text 122"/>
          <p:cNvSpPr txBox="1"/>
          <p:nvPr/>
        </p:nvSpPr>
        <p:spPr>
          <a:xfrm>
            <a:off x="9581998" y="4024274"/>
            <a:ext cx="669341" cy="238658"/>
          </a:xfrm>
          <a:prstGeom prst="rect">
            <a:avLst/>
          </a:prstGeom>
          <a:solidFill>
            <a:srgbClr val="2D3848"/>
          </a:solidFill>
          <a:ln>
            <a:solidFill>
              <a:srgbClr val="FFFFFF">
                <a:alpha val="0"/>
              </a:srgbClr>
            </a:solidFill>
          </a:ln>
        </p:spPr>
        <p:txBody>
          <a:bodyPr wrap="none" lIns="101600" tIns="25400" rIns="101600" bIns="25400" rtlCol="0" anchor="ctr"/>
          <a:lstStyle/>
          <a:p>
            <a:pPr algn="l" indent="0" marL="0">
              <a:buNone/>
            </a:pPr>
            <a:r>
              <a:rPr lang="en-US" sz="975" b="1" spc="78" kern="0" dirty="0">
                <a:solidFill>
                  <a:srgbClr val="F2EDE5"/>
                </a:solidFill>
                <a:latin typeface="Noto Sans KR" pitchFamily="34" charset="0"/>
                <a:ea typeface="Noto Sans KR" pitchFamily="34" charset="-122"/>
                <a:cs typeface="Noto Sans KR" pitchFamily="34" charset="-120"/>
              </a:rPr>
              <a:t>SAQP</a:t>
            </a:r>
            <a:endParaRPr lang="en-US" sz="975" dirty="0"/>
          </a:p>
        </p:txBody>
      </p:sp>
      <p:sp>
        <p:nvSpPr>
          <p:cNvPr id="127" name="Text 123"/>
          <p:cNvSpPr txBox="1"/>
          <p:nvPr/>
        </p:nvSpPr>
        <p:spPr>
          <a:xfrm>
            <a:off x="9581998" y="4424782"/>
            <a:ext cx="669341" cy="238658"/>
          </a:xfrm>
          <a:prstGeom prst="rect">
            <a:avLst/>
          </a:prstGeom>
          <a:solidFill>
            <a:srgbClr val="2D3848"/>
          </a:solidFill>
          <a:ln>
            <a:solidFill>
              <a:srgbClr val="FFFFFF">
                <a:alpha val="0"/>
              </a:srgbClr>
            </a:solidFill>
          </a:ln>
        </p:spPr>
        <p:txBody>
          <a:bodyPr wrap="none" lIns="101600" tIns="25400" rIns="101600" bIns="25400" rtlCol="0" anchor="ctr"/>
          <a:lstStyle/>
          <a:p>
            <a:pPr algn="l" indent="0" marL="0">
              <a:buNone/>
            </a:pPr>
            <a:r>
              <a:rPr lang="en-US" sz="975" b="1" spc="78" kern="0" dirty="0">
                <a:solidFill>
                  <a:srgbClr val="F2EDE5"/>
                </a:solidFill>
                <a:latin typeface="Noto Sans KR" pitchFamily="34" charset="0"/>
                <a:ea typeface="Noto Sans KR" pitchFamily="34" charset="-122"/>
                <a:cs typeface="Noto Sans KR" pitchFamily="34" charset="-120"/>
              </a:rPr>
              <a:t>SAQP</a:t>
            </a:r>
            <a:endParaRPr lang="en-US" sz="975" dirty="0"/>
          </a:p>
        </p:txBody>
      </p:sp>
      <p:sp>
        <p:nvSpPr>
          <p:cNvPr id="128" name="Text 124"/>
          <p:cNvSpPr txBox="1"/>
          <p:nvPr/>
        </p:nvSpPr>
        <p:spPr>
          <a:xfrm>
            <a:off x="9581998" y="4824374"/>
            <a:ext cx="976579" cy="238658"/>
          </a:xfrm>
          <a:prstGeom prst="rect">
            <a:avLst/>
          </a:prstGeom>
          <a:solidFill>
            <a:srgbClr val="3E5C50"/>
          </a:solidFill>
          <a:ln>
            <a:solidFill>
              <a:srgbClr val="FFFFFF">
                <a:alpha val="0"/>
              </a:srgbClr>
            </a:solidFill>
          </a:ln>
        </p:spPr>
        <p:txBody>
          <a:bodyPr wrap="none" lIns="101600" tIns="25400" rIns="101600" bIns="25400" rtlCol="0" anchor="ctr"/>
          <a:lstStyle/>
          <a:p>
            <a:pPr algn="l" indent="0" marL="0">
              <a:buNone/>
            </a:pPr>
            <a:r>
              <a:rPr lang="en-US" sz="975" b="1" spc="59" kern="0" dirty="0">
                <a:solidFill>
                  <a:srgbClr val="F2EDE5"/>
                </a:solidFill>
                <a:latin typeface="Noto Sans KR" pitchFamily="34" charset="0"/>
                <a:ea typeface="Noto Sans KR" pitchFamily="34" charset="-122"/>
                <a:cs typeface="Noto Sans KR" pitchFamily="34" charset="-120"/>
              </a:rPr>
              <a:t>SADP+SAB</a:t>
            </a:r>
            <a:endParaRPr lang="en-US" sz="975" dirty="0"/>
          </a:p>
        </p:txBody>
      </p:sp>
      <p:sp>
        <p:nvSpPr>
          <p:cNvPr id="129" name="Text 125"/>
          <p:cNvSpPr txBox="1"/>
          <p:nvPr/>
        </p:nvSpPr>
        <p:spPr>
          <a:xfrm>
            <a:off x="9581998" y="5224882"/>
            <a:ext cx="976579" cy="238658"/>
          </a:xfrm>
          <a:prstGeom prst="rect">
            <a:avLst/>
          </a:prstGeom>
          <a:solidFill>
            <a:srgbClr val="3E5C50"/>
          </a:solidFill>
          <a:ln>
            <a:solidFill>
              <a:srgbClr val="FFFFFF">
                <a:alpha val="0"/>
              </a:srgbClr>
            </a:solidFill>
          </a:ln>
        </p:spPr>
        <p:txBody>
          <a:bodyPr wrap="none" lIns="101600" tIns="25400" rIns="101600" bIns="25400" rtlCol="0" anchor="ctr"/>
          <a:lstStyle/>
          <a:p>
            <a:pPr algn="l" indent="0" marL="0">
              <a:buNone/>
            </a:pPr>
            <a:r>
              <a:rPr lang="en-US" sz="975" b="1" spc="59" kern="0" dirty="0">
                <a:solidFill>
                  <a:srgbClr val="F2EDE5"/>
                </a:solidFill>
                <a:latin typeface="Noto Sans KR" pitchFamily="34" charset="0"/>
                <a:ea typeface="Noto Sans KR" pitchFamily="34" charset="-122"/>
                <a:cs typeface="Noto Sans KR" pitchFamily="34" charset="-120"/>
              </a:rPr>
              <a:t>SADP+SAB</a:t>
            </a:r>
            <a:endParaRPr lang="en-US" sz="975" dirty="0"/>
          </a:p>
        </p:txBody>
      </p:sp>
      <p:sp>
        <p:nvSpPr>
          <p:cNvPr id="130" name="Text 126"/>
          <p:cNvSpPr txBox="1"/>
          <p:nvPr/>
        </p:nvSpPr>
        <p:spPr>
          <a:xfrm>
            <a:off x="9581998" y="5624474"/>
            <a:ext cx="976579" cy="238658"/>
          </a:xfrm>
          <a:prstGeom prst="rect">
            <a:avLst/>
          </a:prstGeom>
          <a:solidFill>
            <a:srgbClr val="3E5C50"/>
          </a:solidFill>
          <a:ln>
            <a:solidFill>
              <a:srgbClr val="FFFFFF">
                <a:alpha val="0"/>
              </a:srgbClr>
            </a:solidFill>
          </a:ln>
        </p:spPr>
        <p:txBody>
          <a:bodyPr wrap="none" lIns="101600" tIns="25400" rIns="101600" bIns="25400" rtlCol="0" anchor="ctr"/>
          <a:lstStyle/>
          <a:p>
            <a:pPr algn="l" indent="0" marL="0">
              <a:buNone/>
            </a:pPr>
            <a:r>
              <a:rPr lang="en-US" sz="975" b="1" spc="59" kern="0" dirty="0">
                <a:solidFill>
                  <a:srgbClr val="F2EDE5"/>
                </a:solidFill>
                <a:latin typeface="Noto Sans KR" pitchFamily="34" charset="0"/>
                <a:ea typeface="Noto Sans KR" pitchFamily="34" charset="-122"/>
                <a:cs typeface="Noto Sans KR" pitchFamily="34" charset="-120"/>
              </a:rPr>
              <a:t>SADP+SAB</a:t>
            </a:r>
            <a:endParaRPr lang="en-US" sz="975" dirty="0"/>
          </a:p>
        </p:txBody>
      </p:sp>
      <p:sp>
        <p:nvSpPr>
          <p:cNvPr id="131" name="Text 127"/>
          <p:cNvSpPr txBox="1"/>
          <p:nvPr/>
        </p:nvSpPr>
        <p:spPr>
          <a:xfrm>
            <a:off x="8382305" y="6286500"/>
            <a:ext cx="8953805" cy="171907"/>
          </a:xfrm>
          <a:prstGeom prst="rect">
            <a:avLst/>
          </a:prstGeom>
          <a:noFill/>
          <a:ln/>
        </p:spPr>
        <p:txBody>
          <a:bodyPr wrap="none" lIns="0" tIns="0" rIns="0" bIns="0" rtlCol="0" anchor="ctr"/>
          <a:lstStyle/>
          <a:p>
            <a:pPr algn="l" indent="0" marL="0">
              <a:buNone/>
            </a:pPr>
            <a:r>
              <a:rPr lang="en-US" sz="1050" b="1" spc="210" kern="0" dirty="0">
                <a:solidFill>
                  <a:srgbClr val="B8430E"/>
                </a:solidFill>
                <a:latin typeface="JetBrains Mono" pitchFamily="34" charset="0"/>
                <a:ea typeface="JetBrains Mono" pitchFamily="34" charset="-122"/>
                <a:cs typeface="JetBrains Mono" pitchFamily="34" charset="-120"/>
              </a:rPr>
              <a:t>ELECTRICAL CHARACTERISTICS</a:t>
            </a:r>
            <a:endParaRPr lang="en-US" sz="1050" dirty="0"/>
          </a:p>
        </p:txBody>
      </p:sp>
      <p:sp>
        <p:nvSpPr>
          <p:cNvPr id="132" name="Text 128"/>
          <p:cNvSpPr txBox="1"/>
          <p:nvPr/>
        </p:nvSpPr>
        <p:spPr>
          <a:xfrm>
            <a:off x="8382305" y="6495898"/>
            <a:ext cx="8953805" cy="247802"/>
          </a:xfrm>
          <a:prstGeom prst="rect">
            <a:avLst/>
          </a:prstGeom>
          <a:noFill/>
          <a:ln/>
        </p:spPr>
        <p:txBody>
          <a:bodyPr wrap="none" lIns="0" tIns="0" rIns="0" bIns="0" rtlCol="0" anchor="ctr"/>
          <a:lstStyle/>
          <a:p>
            <a:pPr algn="l" indent="0" marL="0">
              <a:buNone/>
            </a:pPr>
            <a:r>
              <a:rPr lang="en-US" sz="1350" b="1" dirty="0">
                <a:solidFill>
                  <a:srgbClr val="1A1F2C"/>
                </a:solidFill>
                <a:latin typeface="Noto Sans KR" pitchFamily="34" charset="0"/>
                <a:ea typeface="Noto Sans KR" pitchFamily="34" charset="-122"/>
                <a:cs typeface="Noto Sans KR" pitchFamily="34" charset="-120"/>
              </a:rPr>
              <a:t>Rs · ρ · Rc · Jleak · BD · V0 chain yield</a:t>
            </a:r>
            <a:endParaRPr lang="en-US" sz="1350" dirty="0"/>
          </a:p>
        </p:txBody>
      </p:sp>
      <p:sp>
        <p:nvSpPr>
          <p:cNvPr id="133" name="Shape 129"/>
          <p:cNvSpPr/>
          <p:nvPr/>
        </p:nvSpPr>
        <p:spPr>
          <a:xfrm>
            <a:off x="8382305" y="6858000"/>
            <a:ext cx="8953805" cy="476402"/>
          </a:xfrm>
          <a:prstGeom prst="rect">
            <a:avLst/>
          </a:prstGeom>
          <a:solidFill>
            <a:srgbClr val="1A1F2C"/>
          </a:solidFill>
          <a:ln w="12700">
            <a:solidFill>
              <a:srgbClr val="FFFFFF">
                <a:alpha val="0"/>
              </a:srgbClr>
            </a:solidFill>
            <a:prstDash val="solid"/>
          </a:ln>
        </p:spPr>
      </p:sp>
      <p:sp>
        <p:nvSpPr>
          <p:cNvPr id="134" name="Text 130"/>
          <p:cNvSpPr txBox="1"/>
          <p:nvPr/>
        </p:nvSpPr>
        <p:spPr>
          <a:xfrm>
            <a:off x="8382305" y="6858000"/>
            <a:ext cx="857707" cy="476402"/>
          </a:xfrm>
          <a:prstGeom prst="rect">
            <a:avLst/>
          </a:prstGeom>
          <a:noFill/>
          <a:ln/>
        </p:spPr>
        <p:txBody>
          <a:bodyPr wrap="square" lIns="0" tIns="0" rIns="0" bIns="0" rtlCol="0" anchor="ctr"/>
          <a:lstStyle/>
          <a:p>
            <a:pPr algn="l" indent="0" marL="0">
              <a:buNone/>
            </a:pPr>
            <a:r>
              <a:rPr lang="en-US" sz="1050" b="1" spc="63" kern="0" dirty="0">
                <a:solidFill>
                  <a:srgbClr val="E8762E"/>
                </a:solidFill>
                <a:latin typeface="Noto Sans KR" pitchFamily="34" charset="0"/>
                <a:ea typeface="Noto Sans KR" pitchFamily="34" charset="-122"/>
                <a:cs typeface="Noto Sans KR" pitchFamily="34" charset="-120"/>
              </a:rPr>
              <a:t>WAFER</a:t>
            </a:r>
            <a:endParaRPr lang="en-US" sz="1050" dirty="0"/>
          </a:p>
        </p:txBody>
      </p:sp>
      <p:sp>
        <p:nvSpPr>
          <p:cNvPr id="135" name="Text 131"/>
          <p:cNvSpPr txBox="1"/>
          <p:nvPr/>
        </p:nvSpPr>
        <p:spPr>
          <a:xfrm>
            <a:off x="9239098" y="6858000"/>
            <a:ext cx="1334110" cy="476402"/>
          </a:xfrm>
          <a:prstGeom prst="rect">
            <a:avLst/>
          </a:prstGeom>
          <a:noFill/>
          <a:ln/>
        </p:spPr>
        <p:txBody>
          <a:bodyPr wrap="square" lIns="0" tIns="0" rIns="0" bIns="0" rtlCol="0" anchor="ctr"/>
          <a:lstStyle/>
          <a:p>
            <a:pPr algn="l" indent="0" marL="0">
              <a:buNone/>
            </a:pPr>
            <a:r>
              <a:rPr lang="en-US" sz="1050" b="1" spc="63" kern="0" dirty="0">
                <a:solidFill>
                  <a:srgbClr val="E8762E"/>
                </a:solidFill>
                <a:latin typeface="Noto Sans KR" pitchFamily="34" charset="0"/>
                <a:ea typeface="Noto Sans KR" pitchFamily="34" charset="-122"/>
                <a:cs typeface="Noto Sans KR" pitchFamily="34" charset="-120"/>
              </a:rPr>
              <a:t>PROC</a:t>
            </a:r>
            <a:endParaRPr lang="en-US" sz="1050" dirty="0"/>
          </a:p>
        </p:txBody>
      </p:sp>
      <p:sp>
        <p:nvSpPr>
          <p:cNvPr id="136" name="Text 132"/>
          <p:cNvSpPr txBox="1"/>
          <p:nvPr/>
        </p:nvSpPr>
        <p:spPr>
          <a:xfrm>
            <a:off x="10573207" y="6858000"/>
            <a:ext cx="1047902" cy="476402"/>
          </a:xfrm>
          <a:prstGeom prst="rect">
            <a:avLst/>
          </a:prstGeom>
          <a:noFill/>
          <a:ln/>
        </p:spPr>
        <p:txBody>
          <a:bodyPr wrap="square" lIns="0" tIns="0" rIns="0" bIns="0" rtlCol="0" anchor="t"/>
          <a:lstStyle/>
          <a:p>
            <a:pPr algn="r" indent="0" marL="0">
              <a:buNone/>
            </a:pPr>
            <a:r>
              <a:rPr lang="en-US" sz="975" b="1" dirty="0">
                <a:solidFill>
                  <a:srgbClr val="E8762E"/>
                </a:solidFill>
                <a:latin typeface="Noto Sans KR" pitchFamily="34" charset="0"/>
                <a:ea typeface="Noto Sans KR" pitchFamily="34" charset="-122"/>
                <a:cs typeface="Noto Sans KR" pitchFamily="34" charset="-120"/>
              </a:rPr>
              <a:t>Rs</a:t>
            </a:r>
            <a:pPr algn="r" indent="0" marL="0">
              <a:buNone/>
            </a:pPr>
            <a:endParaRPr lang="en-US" sz="975" dirty="0"/>
          </a:p>
          <a:p>
            <a:pPr algn="r" indent="0" marL="0">
              <a:buNone/>
            </a:pPr>
            <a:r>
              <a:rPr lang="en-US" sz="825" b="1" dirty="0">
                <a:solidFill>
                  <a:srgbClr val="9C9385"/>
                </a:solidFill>
                <a:latin typeface="Noto Sans KR" pitchFamily="34" charset="0"/>
                <a:ea typeface="Noto Sans KR" pitchFamily="34" charset="-122"/>
                <a:cs typeface="Noto Sans KR" pitchFamily="34" charset="-120"/>
              </a:rPr>
              <a:t>Ω/sq</a:t>
            </a:r>
            <a:endParaRPr lang="en-US" sz="975" dirty="0"/>
          </a:p>
        </p:txBody>
      </p:sp>
      <p:sp>
        <p:nvSpPr>
          <p:cNvPr id="137" name="Text 133"/>
          <p:cNvSpPr txBox="1"/>
          <p:nvPr/>
        </p:nvSpPr>
        <p:spPr>
          <a:xfrm>
            <a:off x="11620195" y="6858000"/>
            <a:ext cx="1095451" cy="476402"/>
          </a:xfrm>
          <a:prstGeom prst="rect">
            <a:avLst/>
          </a:prstGeom>
          <a:noFill/>
          <a:ln/>
        </p:spPr>
        <p:txBody>
          <a:bodyPr wrap="square" lIns="0" tIns="0" rIns="0" bIns="0" rtlCol="0" anchor="t"/>
          <a:lstStyle/>
          <a:p>
            <a:pPr algn="r" indent="0" marL="0">
              <a:buNone/>
            </a:pPr>
            <a:r>
              <a:rPr lang="en-US" sz="975" b="1" dirty="0">
                <a:solidFill>
                  <a:srgbClr val="E8762E"/>
                </a:solidFill>
                <a:latin typeface="Noto Sans KR" pitchFamily="34" charset="0"/>
                <a:ea typeface="Noto Sans KR" pitchFamily="34" charset="-122"/>
                <a:cs typeface="Noto Sans KR" pitchFamily="34" charset="-120"/>
              </a:rPr>
              <a:t>ρ</a:t>
            </a:r>
            <a:pPr algn="r" indent="0" marL="0">
              <a:buNone/>
            </a:pPr>
            <a:endParaRPr lang="en-US" sz="975" dirty="0"/>
          </a:p>
          <a:p>
            <a:pPr algn="r" indent="0" marL="0">
              <a:buNone/>
            </a:pPr>
            <a:r>
              <a:rPr lang="en-US" sz="825" b="1" dirty="0">
                <a:solidFill>
                  <a:srgbClr val="9C9385"/>
                </a:solidFill>
                <a:latin typeface="Noto Sans KR" pitchFamily="34" charset="0"/>
                <a:ea typeface="Noto Sans KR" pitchFamily="34" charset="-122"/>
                <a:cs typeface="Noto Sans KR" pitchFamily="34" charset="-120"/>
              </a:rPr>
              <a:t>μΩ·cm</a:t>
            </a:r>
            <a:endParaRPr lang="en-US" sz="975" dirty="0"/>
          </a:p>
        </p:txBody>
      </p:sp>
      <p:sp>
        <p:nvSpPr>
          <p:cNvPr id="138" name="Text 134"/>
          <p:cNvSpPr txBox="1"/>
          <p:nvPr/>
        </p:nvSpPr>
        <p:spPr>
          <a:xfrm>
            <a:off x="12715646" y="6858000"/>
            <a:ext cx="1143000" cy="476402"/>
          </a:xfrm>
          <a:prstGeom prst="rect">
            <a:avLst/>
          </a:prstGeom>
          <a:noFill/>
          <a:ln/>
        </p:spPr>
        <p:txBody>
          <a:bodyPr wrap="square" lIns="0" tIns="0" rIns="0" bIns="0" rtlCol="0" anchor="t"/>
          <a:lstStyle/>
          <a:p>
            <a:pPr algn="r" indent="0" marL="0">
              <a:buNone/>
            </a:pPr>
            <a:r>
              <a:rPr lang="en-US" sz="975" b="1" dirty="0">
                <a:solidFill>
                  <a:srgbClr val="E8762E"/>
                </a:solidFill>
                <a:latin typeface="Noto Sans KR" pitchFamily="34" charset="0"/>
                <a:ea typeface="Noto Sans KR" pitchFamily="34" charset="-122"/>
                <a:cs typeface="Noto Sans KR" pitchFamily="34" charset="-120"/>
              </a:rPr>
              <a:t>Rc</a:t>
            </a:r>
            <a:pPr algn="r" indent="0" marL="0">
              <a:buNone/>
            </a:pPr>
            <a:endParaRPr lang="en-US" sz="975" dirty="0"/>
          </a:p>
          <a:p>
            <a:pPr algn="r" indent="0" marL="0">
              <a:buNone/>
            </a:pPr>
            <a:r>
              <a:rPr lang="en-US" sz="825" b="1" dirty="0">
                <a:solidFill>
                  <a:srgbClr val="9C9385"/>
                </a:solidFill>
                <a:latin typeface="Noto Sans KR" pitchFamily="34" charset="0"/>
                <a:ea typeface="Noto Sans KR" pitchFamily="34" charset="-122"/>
                <a:cs typeface="Noto Sans KR" pitchFamily="34" charset="-120"/>
              </a:rPr>
              <a:t>Ω/ct</a:t>
            </a:r>
            <a:endParaRPr lang="en-US" sz="975" dirty="0"/>
          </a:p>
        </p:txBody>
      </p:sp>
      <p:sp>
        <p:nvSpPr>
          <p:cNvPr id="139" name="Text 135"/>
          <p:cNvSpPr txBox="1"/>
          <p:nvPr/>
        </p:nvSpPr>
        <p:spPr>
          <a:xfrm>
            <a:off x="13858646" y="6858000"/>
            <a:ext cx="1239012" cy="476402"/>
          </a:xfrm>
          <a:prstGeom prst="rect">
            <a:avLst/>
          </a:prstGeom>
          <a:noFill/>
          <a:ln/>
        </p:spPr>
        <p:txBody>
          <a:bodyPr wrap="square" lIns="0" tIns="0" rIns="0" bIns="0" rtlCol="0" anchor="t"/>
          <a:lstStyle/>
          <a:p>
            <a:pPr algn="r" indent="0" marL="0">
              <a:buNone/>
            </a:pPr>
            <a:r>
              <a:rPr lang="en-US" sz="975" b="1" dirty="0">
                <a:solidFill>
                  <a:srgbClr val="E8762E"/>
                </a:solidFill>
                <a:latin typeface="Noto Sans KR" pitchFamily="34" charset="0"/>
                <a:ea typeface="Noto Sans KR" pitchFamily="34" charset="-122"/>
                <a:cs typeface="Noto Sans KR" pitchFamily="34" charset="-120"/>
              </a:rPr>
              <a:t>Jleak</a:t>
            </a:r>
            <a:pPr algn="r" indent="0" marL="0">
              <a:buNone/>
            </a:pPr>
            <a:endParaRPr lang="en-US" sz="975" dirty="0"/>
          </a:p>
          <a:p>
            <a:pPr algn="r" indent="0" marL="0">
              <a:buNone/>
            </a:pPr>
            <a:r>
              <a:rPr lang="en-US" sz="825" b="1" dirty="0">
                <a:solidFill>
                  <a:srgbClr val="9C9385"/>
                </a:solidFill>
                <a:latin typeface="Noto Sans KR" pitchFamily="34" charset="0"/>
                <a:ea typeface="Noto Sans KR" pitchFamily="34" charset="-122"/>
                <a:cs typeface="Noto Sans KR" pitchFamily="34" charset="-120"/>
              </a:rPr>
              <a:t>A/cm²</a:t>
            </a:r>
            <a:endParaRPr lang="en-US" sz="975" dirty="0"/>
          </a:p>
        </p:txBody>
      </p:sp>
      <p:sp>
        <p:nvSpPr>
          <p:cNvPr id="140" name="Text 136"/>
          <p:cNvSpPr txBox="1"/>
          <p:nvPr/>
        </p:nvSpPr>
        <p:spPr>
          <a:xfrm>
            <a:off x="15096744" y="6858000"/>
            <a:ext cx="857707" cy="476402"/>
          </a:xfrm>
          <a:prstGeom prst="rect">
            <a:avLst/>
          </a:prstGeom>
          <a:noFill/>
          <a:ln/>
        </p:spPr>
        <p:txBody>
          <a:bodyPr wrap="square" lIns="0" tIns="0" rIns="0" bIns="0" rtlCol="0" anchor="t"/>
          <a:lstStyle/>
          <a:p>
            <a:pPr algn="r" indent="0" marL="0">
              <a:buNone/>
            </a:pPr>
            <a:r>
              <a:rPr lang="en-US" sz="975" b="1" dirty="0">
                <a:solidFill>
                  <a:srgbClr val="E8762E"/>
                </a:solidFill>
                <a:latin typeface="Noto Sans KR" pitchFamily="34" charset="0"/>
                <a:ea typeface="Noto Sans KR" pitchFamily="34" charset="-122"/>
                <a:cs typeface="Noto Sans KR" pitchFamily="34" charset="-120"/>
              </a:rPr>
              <a:t>BD</a:t>
            </a:r>
            <a:pPr algn="r" indent="0" marL="0">
              <a:buNone/>
            </a:pPr>
            <a:endParaRPr lang="en-US" sz="975" dirty="0"/>
          </a:p>
          <a:p>
            <a:pPr algn="r" indent="0" marL="0">
              <a:buNone/>
            </a:pPr>
            <a:r>
              <a:rPr lang="en-US" sz="825" b="1" dirty="0">
                <a:solidFill>
                  <a:srgbClr val="9C9385"/>
                </a:solidFill>
                <a:latin typeface="Noto Sans KR" pitchFamily="34" charset="0"/>
                <a:ea typeface="Noto Sans KR" pitchFamily="34" charset="-122"/>
                <a:cs typeface="Noto Sans KR" pitchFamily="34" charset="-120"/>
              </a:rPr>
              <a:t>V</a:t>
            </a:r>
            <a:endParaRPr lang="en-US" sz="975" dirty="0"/>
          </a:p>
        </p:txBody>
      </p:sp>
      <p:sp>
        <p:nvSpPr>
          <p:cNvPr id="141" name="Text 137"/>
          <p:cNvSpPr txBox="1"/>
          <p:nvPr/>
        </p:nvSpPr>
        <p:spPr>
          <a:xfrm>
            <a:off x="15954451" y="6858000"/>
            <a:ext cx="1381658" cy="476402"/>
          </a:xfrm>
          <a:prstGeom prst="rect">
            <a:avLst/>
          </a:prstGeom>
          <a:noFill/>
          <a:ln/>
        </p:spPr>
        <p:txBody>
          <a:bodyPr wrap="square" lIns="0" tIns="0" rIns="0" bIns="0" rtlCol="0" anchor="t"/>
          <a:lstStyle/>
          <a:p>
            <a:pPr algn="r" indent="0" marL="0">
              <a:buNone/>
            </a:pPr>
            <a:r>
              <a:rPr lang="en-US" sz="975" b="1" dirty="0">
                <a:solidFill>
                  <a:srgbClr val="E8762E"/>
                </a:solidFill>
                <a:latin typeface="Noto Sans KR" pitchFamily="34" charset="0"/>
                <a:ea typeface="Noto Sans KR" pitchFamily="34" charset="-122"/>
                <a:cs typeface="Noto Sans KR" pitchFamily="34" charset="-120"/>
              </a:rPr>
              <a:t>chain yield</a:t>
            </a:r>
            <a:pPr algn="r" indent="0" marL="0">
              <a:buNone/>
            </a:pPr>
            <a:endParaRPr lang="en-US" sz="975" dirty="0"/>
          </a:p>
          <a:p>
            <a:pPr algn="r" indent="0" marL="0">
              <a:buNone/>
            </a:pPr>
            <a:r>
              <a:rPr lang="en-US" sz="825" b="1" dirty="0">
                <a:solidFill>
                  <a:srgbClr val="9C9385"/>
                </a:solidFill>
                <a:latin typeface="Noto Sans KR" pitchFamily="34" charset="0"/>
                <a:ea typeface="Noto Sans KR" pitchFamily="34" charset="-122"/>
                <a:cs typeface="Noto Sans KR" pitchFamily="34" charset="-120"/>
              </a:rPr>
              <a:t>%</a:t>
            </a:r>
            <a:endParaRPr lang="en-US" sz="975" dirty="0"/>
          </a:p>
        </p:txBody>
      </p:sp>
      <p:sp>
        <p:nvSpPr>
          <p:cNvPr id="142" name="Shape 138"/>
          <p:cNvSpPr/>
          <p:nvPr/>
        </p:nvSpPr>
        <p:spPr>
          <a:xfrm>
            <a:off x="8382305" y="7334402"/>
            <a:ext cx="8953805" cy="400507"/>
          </a:xfrm>
          <a:prstGeom prst="rect">
            <a:avLst/>
          </a:prstGeom>
          <a:solidFill>
            <a:srgbClr val="FBF7EF"/>
          </a:solidFill>
          <a:ln w="12700">
            <a:solidFill>
              <a:srgbClr val="FFFFFF">
                <a:alpha val="0"/>
              </a:srgbClr>
            </a:solidFill>
            <a:prstDash val="solid"/>
          </a:ln>
        </p:spPr>
      </p:sp>
      <p:sp>
        <p:nvSpPr>
          <p:cNvPr id="143" name="Text 139"/>
          <p:cNvSpPr txBox="1"/>
          <p:nvPr/>
        </p:nvSpPr>
        <p:spPr>
          <a:xfrm>
            <a:off x="8382305" y="7334402"/>
            <a:ext cx="857707" cy="400507"/>
          </a:xfrm>
          <a:prstGeom prst="rect">
            <a:avLst/>
          </a:prstGeom>
          <a:noFill/>
          <a:ln/>
        </p:spPr>
        <p:txBody>
          <a:bodyPr wrap="square" lIns="0" tIns="0" rIns="0" bIns="0" rtlCol="0" anchor="ctr"/>
          <a:lstStyle/>
          <a:p>
            <a:pPr algn="l" indent="0" marL="0">
              <a:buNone/>
            </a:pPr>
            <a:r>
              <a:rPr lang="en-US" sz="1350" b="1" dirty="0">
                <a:solidFill>
                  <a:srgbClr val="1A1F2C"/>
                </a:solidFill>
                <a:latin typeface="JetBrains Mono" pitchFamily="34" charset="0"/>
                <a:ea typeface="JetBrains Mono" pitchFamily="34" charset="-122"/>
                <a:cs typeface="JetBrains Mono" pitchFamily="34" charset="-120"/>
              </a:rPr>
              <a:t>W01</a:t>
            </a:r>
            <a:endParaRPr lang="en-US" sz="1350" dirty="0"/>
          </a:p>
        </p:txBody>
      </p:sp>
      <p:sp>
        <p:nvSpPr>
          <p:cNvPr id="144" name="Text 140"/>
          <p:cNvSpPr txBox="1"/>
          <p:nvPr/>
        </p:nvSpPr>
        <p:spPr>
          <a:xfrm>
            <a:off x="10573207" y="7334402"/>
            <a:ext cx="104790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145.3</a:t>
            </a:r>
            <a:endParaRPr lang="en-US" sz="1350" dirty="0"/>
          </a:p>
        </p:txBody>
      </p:sp>
      <p:sp>
        <p:nvSpPr>
          <p:cNvPr id="145" name="Text 141"/>
          <p:cNvSpPr txBox="1"/>
          <p:nvPr/>
        </p:nvSpPr>
        <p:spPr>
          <a:xfrm>
            <a:off x="11620195" y="7334402"/>
            <a:ext cx="1095451"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13.1</a:t>
            </a:r>
            <a:endParaRPr lang="en-US" sz="1350" dirty="0"/>
          </a:p>
        </p:txBody>
      </p:sp>
      <p:sp>
        <p:nvSpPr>
          <p:cNvPr id="146" name="Text 142"/>
          <p:cNvSpPr txBox="1"/>
          <p:nvPr/>
        </p:nvSpPr>
        <p:spPr>
          <a:xfrm>
            <a:off x="12715646" y="7334402"/>
            <a:ext cx="1143000"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8.7</a:t>
            </a:r>
            <a:endParaRPr lang="en-US" sz="1350" dirty="0"/>
          </a:p>
        </p:txBody>
      </p:sp>
      <p:sp>
        <p:nvSpPr>
          <p:cNvPr id="147" name="Text 143"/>
          <p:cNvSpPr txBox="1"/>
          <p:nvPr/>
        </p:nvSpPr>
        <p:spPr>
          <a:xfrm>
            <a:off x="13858646" y="7334402"/>
            <a:ext cx="123901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2.4e-9</a:t>
            </a:r>
            <a:endParaRPr lang="en-US" sz="1350" dirty="0"/>
          </a:p>
        </p:txBody>
      </p:sp>
      <p:sp>
        <p:nvSpPr>
          <p:cNvPr id="148" name="Text 144"/>
          <p:cNvSpPr txBox="1"/>
          <p:nvPr/>
        </p:nvSpPr>
        <p:spPr>
          <a:xfrm>
            <a:off x="15096744" y="7334402"/>
            <a:ext cx="857707"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7.4</a:t>
            </a:r>
            <a:endParaRPr lang="en-US" sz="1350" dirty="0"/>
          </a:p>
        </p:txBody>
      </p:sp>
      <p:sp>
        <p:nvSpPr>
          <p:cNvPr id="149" name="Text 145"/>
          <p:cNvSpPr txBox="1"/>
          <p:nvPr/>
        </p:nvSpPr>
        <p:spPr>
          <a:xfrm>
            <a:off x="15954451" y="7334402"/>
            <a:ext cx="1381658"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91.2</a:t>
            </a:r>
            <a:endParaRPr lang="en-US" sz="1350" dirty="0"/>
          </a:p>
        </p:txBody>
      </p:sp>
      <p:sp>
        <p:nvSpPr>
          <p:cNvPr id="150" name="Shape 146"/>
          <p:cNvSpPr/>
          <p:nvPr/>
        </p:nvSpPr>
        <p:spPr>
          <a:xfrm>
            <a:off x="8382305" y="7733995"/>
            <a:ext cx="8953805" cy="400507"/>
          </a:xfrm>
          <a:prstGeom prst="rect">
            <a:avLst/>
          </a:prstGeom>
          <a:solidFill>
            <a:srgbClr val="F4ECDC"/>
          </a:solidFill>
          <a:ln w="12700">
            <a:solidFill>
              <a:srgbClr val="FFFFFF">
                <a:alpha val="0"/>
              </a:srgbClr>
            </a:solidFill>
            <a:prstDash val="solid"/>
          </a:ln>
        </p:spPr>
      </p:sp>
      <p:sp>
        <p:nvSpPr>
          <p:cNvPr id="151" name="Text 147"/>
          <p:cNvSpPr txBox="1"/>
          <p:nvPr/>
        </p:nvSpPr>
        <p:spPr>
          <a:xfrm>
            <a:off x="8382305" y="7733995"/>
            <a:ext cx="857707" cy="400507"/>
          </a:xfrm>
          <a:prstGeom prst="rect">
            <a:avLst/>
          </a:prstGeom>
          <a:noFill/>
          <a:ln/>
        </p:spPr>
        <p:txBody>
          <a:bodyPr wrap="square" lIns="0" tIns="0" rIns="0" bIns="0" rtlCol="0" anchor="ctr"/>
          <a:lstStyle/>
          <a:p>
            <a:pPr algn="l" indent="0" marL="0">
              <a:buNone/>
            </a:pPr>
            <a:r>
              <a:rPr lang="en-US" sz="1350" b="1" dirty="0">
                <a:solidFill>
                  <a:srgbClr val="1A1F2C"/>
                </a:solidFill>
                <a:latin typeface="JetBrains Mono" pitchFamily="34" charset="0"/>
                <a:ea typeface="JetBrains Mono" pitchFamily="34" charset="-122"/>
                <a:cs typeface="JetBrains Mono" pitchFamily="34" charset="-120"/>
              </a:rPr>
              <a:t>W02</a:t>
            </a:r>
            <a:endParaRPr lang="en-US" sz="1350" dirty="0"/>
          </a:p>
        </p:txBody>
      </p:sp>
      <p:sp>
        <p:nvSpPr>
          <p:cNvPr id="152" name="Text 148"/>
          <p:cNvSpPr txBox="1"/>
          <p:nvPr/>
        </p:nvSpPr>
        <p:spPr>
          <a:xfrm>
            <a:off x="10573207" y="7733995"/>
            <a:ext cx="104790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148.6</a:t>
            </a:r>
            <a:endParaRPr lang="en-US" sz="1350" dirty="0"/>
          </a:p>
        </p:txBody>
      </p:sp>
      <p:sp>
        <p:nvSpPr>
          <p:cNvPr id="153" name="Text 149"/>
          <p:cNvSpPr txBox="1"/>
          <p:nvPr/>
        </p:nvSpPr>
        <p:spPr>
          <a:xfrm>
            <a:off x="11620195" y="7733995"/>
            <a:ext cx="1095451"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13.4</a:t>
            </a:r>
            <a:endParaRPr lang="en-US" sz="1350" dirty="0"/>
          </a:p>
        </p:txBody>
      </p:sp>
      <p:sp>
        <p:nvSpPr>
          <p:cNvPr id="154" name="Text 150"/>
          <p:cNvSpPr txBox="1"/>
          <p:nvPr/>
        </p:nvSpPr>
        <p:spPr>
          <a:xfrm>
            <a:off x="12715646" y="7733995"/>
            <a:ext cx="1143000"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9.1</a:t>
            </a:r>
            <a:endParaRPr lang="en-US" sz="1350" dirty="0"/>
          </a:p>
        </p:txBody>
      </p:sp>
      <p:sp>
        <p:nvSpPr>
          <p:cNvPr id="155" name="Text 151"/>
          <p:cNvSpPr txBox="1"/>
          <p:nvPr/>
        </p:nvSpPr>
        <p:spPr>
          <a:xfrm>
            <a:off x="13858646" y="7733995"/>
            <a:ext cx="123901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3.1e-9</a:t>
            </a:r>
            <a:endParaRPr lang="en-US" sz="1350" dirty="0"/>
          </a:p>
        </p:txBody>
      </p:sp>
      <p:sp>
        <p:nvSpPr>
          <p:cNvPr id="156" name="Text 152"/>
          <p:cNvSpPr txBox="1"/>
          <p:nvPr/>
        </p:nvSpPr>
        <p:spPr>
          <a:xfrm>
            <a:off x="15096744" y="7733995"/>
            <a:ext cx="857707"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7.1</a:t>
            </a:r>
            <a:endParaRPr lang="en-US" sz="1350" dirty="0"/>
          </a:p>
        </p:txBody>
      </p:sp>
      <p:sp>
        <p:nvSpPr>
          <p:cNvPr id="157" name="Text 153"/>
          <p:cNvSpPr txBox="1"/>
          <p:nvPr/>
        </p:nvSpPr>
        <p:spPr>
          <a:xfrm>
            <a:off x="15954451" y="7733995"/>
            <a:ext cx="1381658"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88.5</a:t>
            </a:r>
            <a:endParaRPr lang="en-US" sz="1350" dirty="0"/>
          </a:p>
        </p:txBody>
      </p:sp>
      <p:sp>
        <p:nvSpPr>
          <p:cNvPr id="158" name="Shape 154"/>
          <p:cNvSpPr/>
          <p:nvPr/>
        </p:nvSpPr>
        <p:spPr>
          <a:xfrm>
            <a:off x="8382305" y="8134502"/>
            <a:ext cx="8953805" cy="400507"/>
          </a:xfrm>
          <a:prstGeom prst="rect">
            <a:avLst/>
          </a:prstGeom>
          <a:solidFill>
            <a:srgbClr val="FBF7EF"/>
          </a:solidFill>
          <a:ln w="12700">
            <a:solidFill>
              <a:srgbClr val="FFFFFF">
                <a:alpha val="0"/>
              </a:srgbClr>
            </a:solidFill>
            <a:prstDash val="solid"/>
          </a:ln>
        </p:spPr>
      </p:sp>
      <p:sp>
        <p:nvSpPr>
          <p:cNvPr id="159" name="Text 155"/>
          <p:cNvSpPr txBox="1"/>
          <p:nvPr/>
        </p:nvSpPr>
        <p:spPr>
          <a:xfrm>
            <a:off x="8382305" y="8134502"/>
            <a:ext cx="857707" cy="400507"/>
          </a:xfrm>
          <a:prstGeom prst="rect">
            <a:avLst/>
          </a:prstGeom>
          <a:noFill/>
          <a:ln/>
        </p:spPr>
        <p:txBody>
          <a:bodyPr wrap="square" lIns="0" tIns="0" rIns="0" bIns="0" rtlCol="0" anchor="ctr"/>
          <a:lstStyle/>
          <a:p>
            <a:pPr algn="l" indent="0" marL="0">
              <a:buNone/>
            </a:pPr>
            <a:r>
              <a:rPr lang="en-US" sz="1350" b="1" dirty="0">
                <a:solidFill>
                  <a:srgbClr val="1A1F2C"/>
                </a:solidFill>
                <a:latin typeface="JetBrains Mono" pitchFamily="34" charset="0"/>
                <a:ea typeface="JetBrains Mono" pitchFamily="34" charset="-122"/>
                <a:cs typeface="JetBrains Mono" pitchFamily="34" charset="-120"/>
              </a:rPr>
              <a:t>W03</a:t>
            </a:r>
            <a:endParaRPr lang="en-US" sz="1350" dirty="0"/>
          </a:p>
        </p:txBody>
      </p:sp>
      <p:sp>
        <p:nvSpPr>
          <p:cNvPr id="160" name="Text 156"/>
          <p:cNvSpPr txBox="1"/>
          <p:nvPr/>
        </p:nvSpPr>
        <p:spPr>
          <a:xfrm>
            <a:off x="10573207" y="8134502"/>
            <a:ext cx="104790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151.2</a:t>
            </a:r>
            <a:endParaRPr lang="en-US" sz="1350" dirty="0"/>
          </a:p>
        </p:txBody>
      </p:sp>
      <p:sp>
        <p:nvSpPr>
          <p:cNvPr id="161" name="Text 157"/>
          <p:cNvSpPr txBox="1"/>
          <p:nvPr/>
        </p:nvSpPr>
        <p:spPr>
          <a:xfrm>
            <a:off x="11620195" y="8134502"/>
            <a:ext cx="1095451"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13.6</a:t>
            </a:r>
            <a:endParaRPr lang="en-US" sz="1350" dirty="0"/>
          </a:p>
        </p:txBody>
      </p:sp>
      <p:sp>
        <p:nvSpPr>
          <p:cNvPr id="162" name="Text 158"/>
          <p:cNvSpPr txBox="1"/>
          <p:nvPr/>
        </p:nvSpPr>
        <p:spPr>
          <a:xfrm>
            <a:off x="12715646" y="8134502"/>
            <a:ext cx="1143000"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9.4</a:t>
            </a:r>
            <a:endParaRPr lang="en-US" sz="1350" dirty="0"/>
          </a:p>
        </p:txBody>
      </p:sp>
      <p:sp>
        <p:nvSpPr>
          <p:cNvPr id="163" name="Text 159"/>
          <p:cNvSpPr txBox="1"/>
          <p:nvPr/>
        </p:nvSpPr>
        <p:spPr>
          <a:xfrm>
            <a:off x="13858646" y="8134502"/>
            <a:ext cx="123901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3.5e-9</a:t>
            </a:r>
            <a:endParaRPr lang="en-US" sz="1350" dirty="0"/>
          </a:p>
        </p:txBody>
      </p:sp>
      <p:sp>
        <p:nvSpPr>
          <p:cNvPr id="164" name="Text 160"/>
          <p:cNvSpPr txBox="1"/>
          <p:nvPr/>
        </p:nvSpPr>
        <p:spPr>
          <a:xfrm>
            <a:off x="15096744" y="8134502"/>
            <a:ext cx="857707"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6.9</a:t>
            </a:r>
            <a:endParaRPr lang="en-US" sz="1350" dirty="0"/>
          </a:p>
        </p:txBody>
      </p:sp>
      <p:sp>
        <p:nvSpPr>
          <p:cNvPr id="165" name="Text 161"/>
          <p:cNvSpPr txBox="1"/>
          <p:nvPr/>
        </p:nvSpPr>
        <p:spPr>
          <a:xfrm>
            <a:off x="15954451" y="8134502"/>
            <a:ext cx="1381658" cy="400507"/>
          </a:xfrm>
          <a:prstGeom prst="rect">
            <a:avLst/>
          </a:prstGeom>
          <a:noFill/>
          <a:ln/>
        </p:spPr>
        <p:txBody>
          <a:bodyPr wrap="square" lIns="0" tIns="0" rIns="0" bIns="0" rtlCol="0" anchor="ctr"/>
          <a:lstStyle/>
          <a:p>
            <a:pPr algn="r" indent="0" marL="0">
              <a:buNone/>
            </a:pPr>
            <a:r>
              <a:rPr lang="en-US" sz="1350" b="1" dirty="0">
                <a:solidFill>
                  <a:srgbClr val="B8430E"/>
                </a:solidFill>
                <a:latin typeface="JetBrains Mono" pitchFamily="34" charset="0"/>
                <a:ea typeface="JetBrains Mono" pitchFamily="34" charset="-122"/>
                <a:cs typeface="JetBrains Mono" pitchFamily="34" charset="-120"/>
              </a:rPr>
              <a:t>85.7</a:t>
            </a:r>
            <a:endParaRPr lang="en-US" sz="1350" dirty="0"/>
          </a:p>
        </p:txBody>
      </p:sp>
      <p:sp>
        <p:nvSpPr>
          <p:cNvPr id="166" name="Shape 162"/>
          <p:cNvSpPr/>
          <p:nvPr/>
        </p:nvSpPr>
        <p:spPr>
          <a:xfrm>
            <a:off x="8382305" y="8534095"/>
            <a:ext cx="8953805" cy="400507"/>
          </a:xfrm>
          <a:prstGeom prst="rect">
            <a:avLst/>
          </a:prstGeom>
          <a:solidFill>
            <a:srgbClr val="F4ECDC"/>
          </a:solidFill>
          <a:ln w="12700">
            <a:solidFill>
              <a:srgbClr val="FFFFFF">
                <a:alpha val="0"/>
              </a:srgbClr>
            </a:solidFill>
            <a:prstDash val="solid"/>
          </a:ln>
        </p:spPr>
      </p:sp>
      <p:sp>
        <p:nvSpPr>
          <p:cNvPr id="167" name="Text 163"/>
          <p:cNvSpPr txBox="1"/>
          <p:nvPr/>
        </p:nvSpPr>
        <p:spPr>
          <a:xfrm>
            <a:off x="8382305" y="8534095"/>
            <a:ext cx="857707" cy="400507"/>
          </a:xfrm>
          <a:prstGeom prst="rect">
            <a:avLst/>
          </a:prstGeom>
          <a:noFill/>
          <a:ln/>
        </p:spPr>
        <p:txBody>
          <a:bodyPr wrap="square" lIns="0" tIns="0" rIns="0" bIns="0" rtlCol="0" anchor="ctr"/>
          <a:lstStyle/>
          <a:p>
            <a:pPr algn="l" indent="0" marL="0">
              <a:buNone/>
            </a:pPr>
            <a:r>
              <a:rPr lang="en-US" sz="1350" b="1" dirty="0">
                <a:solidFill>
                  <a:srgbClr val="1A1F2C"/>
                </a:solidFill>
                <a:latin typeface="JetBrains Mono" pitchFamily="34" charset="0"/>
                <a:ea typeface="JetBrains Mono" pitchFamily="34" charset="-122"/>
                <a:cs typeface="JetBrains Mono" pitchFamily="34" charset="-120"/>
              </a:rPr>
              <a:t>W04</a:t>
            </a:r>
            <a:endParaRPr lang="en-US" sz="1350" dirty="0"/>
          </a:p>
        </p:txBody>
      </p:sp>
      <p:sp>
        <p:nvSpPr>
          <p:cNvPr id="168" name="Text 164"/>
          <p:cNvSpPr txBox="1"/>
          <p:nvPr/>
        </p:nvSpPr>
        <p:spPr>
          <a:xfrm>
            <a:off x="10573207" y="8534095"/>
            <a:ext cx="104790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138.7</a:t>
            </a:r>
            <a:endParaRPr lang="en-US" sz="1350" dirty="0"/>
          </a:p>
        </p:txBody>
      </p:sp>
      <p:sp>
        <p:nvSpPr>
          <p:cNvPr id="169" name="Text 165"/>
          <p:cNvSpPr txBox="1"/>
          <p:nvPr/>
        </p:nvSpPr>
        <p:spPr>
          <a:xfrm>
            <a:off x="11620195" y="8534095"/>
            <a:ext cx="1095451"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12.5</a:t>
            </a:r>
            <a:endParaRPr lang="en-US" sz="1350" dirty="0"/>
          </a:p>
        </p:txBody>
      </p:sp>
      <p:sp>
        <p:nvSpPr>
          <p:cNvPr id="170" name="Text 166"/>
          <p:cNvSpPr txBox="1"/>
          <p:nvPr/>
        </p:nvSpPr>
        <p:spPr>
          <a:xfrm>
            <a:off x="12715646" y="8534095"/>
            <a:ext cx="1143000"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8.2</a:t>
            </a:r>
            <a:endParaRPr lang="en-US" sz="1350" dirty="0"/>
          </a:p>
        </p:txBody>
      </p:sp>
      <p:sp>
        <p:nvSpPr>
          <p:cNvPr id="171" name="Text 167"/>
          <p:cNvSpPr txBox="1"/>
          <p:nvPr/>
        </p:nvSpPr>
        <p:spPr>
          <a:xfrm>
            <a:off x="13858646" y="8534095"/>
            <a:ext cx="123901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1.6e-9</a:t>
            </a:r>
            <a:endParaRPr lang="en-US" sz="1350" dirty="0"/>
          </a:p>
        </p:txBody>
      </p:sp>
      <p:sp>
        <p:nvSpPr>
          <p:cNvPr id="172" name="Text 168"/>
          <p:cNvSpPr txBox="1"/>
          <p:nvPr/>
        </p:nvSpPr>
        <p:spPr>
          <a:xfrm>
            <a:off x="15096744" y="8534095"/>
            <a:ext cx="857707"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7.8</a:t>
            </a:r>
            <a:endParaRPr lang="en-US" sz="1350" dirty="0"/>
          </a:p>
        </p:txBody>
      </p:sp>
      <p:sp>
        <p:nvSpPr>
          <p:cNvPr id="173" name="Text 169"/>
          <p:cNvSpPr txBox="1"/>
          <p:nvPr/>
        </p:nvSpPr>
        <p:spPr>
          <a:xfrm>
            <a:off x="15954451" y="8534095"/>
            <a:ext cx="1381658" cy="400507"/>
          </a:xfrm>
          <a:prstGeom prst="rect">
            <a:avLst/>
          </a:prstGeom>
          <a:noFill/>
          <a:ln/>
        </p:spPr>
        <p:txBody>
          <a:bodyPr wrap="square" lIns="0" tIns="0" rIns="0" bIns="0" rtlCol="0" anchor="ctr"/>
          <a:lstStyle/>
          <a:p>
            <a:pPr algn="r" indent="0" marL="0">
              <a:buNone/>
            </a:pPr>
            <a:r>
              <a:rPr lang="en-US" sz="1350" b="1" dirty="0">
                <a:solidFill>
                  <a:srgbClr val="1A1F2C"/>
                </a:solidFill>
                <a:latin typeface="JetBrains Mono" pitchFamily="34" charset="0"/>
                <a:ea typeface="JetBrains Mono" pitchFamily="34" charset="-122"/>
                <a:cs typeface="JetBrains Mono" pitchFamily="34" charset="-120"/>
              </a:rPr>
              <a:t>96.4</a:t>
            </a:r>
            <a:endParaRPr lang="en-US" sz="1350" dirty="0"/>
          </a:p>
        </p:txBody>
      </p:sp>
      <p:sp>
        <p:nvSpPr>
          <p:cNvPr id="174" name="Shape 170"/>
          <p:cNvSpPr/>
          <p:nvPr/>
        </p:nvSpPr>
        <p:spPr>
          <a:xfrm>
            <a:off x="8382305" y="8934602"/>
            <a:ext cx="8953805" cy="400507"/>
          </a:xfrm>
          <a:prstGeom prst="rect">
            <a:avLst/>
          </a:prstGeom>
          <a:solidFill>
            <a:srgbClr val="FBF7EF"/>
          </a:solidFill>
          <a:ln w="12700">
            <a:solidFill>
              <a:srgbClr val="FFFFFF">
                <a:alpha val="0"/>
              </a:srgbClr>
            </a:solidFill>
            <a:prstDash val="solid"/>
          </a:ln>
        </p:spPr>
      </p:sp>
      <p:sp>
        <p:nvSpPr>
          <p:cNvPr id="175" name="Text 171"/>
          <p:cNvSpPr txBox="1"/>
          <p:nvPr/>
        </p:nvSpPr>
        <p:spPr>
          <a:xfrm>
            <a:off x="8382305" y="8934602"/>
            <a:ext cx="857707" cy="400507"/>
          </a:xfrm>
          <a:prstGeom prst="rect">
            <a:avLst/>
          </a:prstGeom>
          <a:noFill/>
          <a:ln/>
        </p:spPr>
        <p:txBody>
          <a:bodyPr wrap="square" lIns="0" tIns="0" rIns="0" bIns="0" rtlCol="0" anchor="ctr"/>
          <a:lstStyle/>
          <a:p>
            <a:pPr algn="l" indent="0" marL="0">
              <a:buNone/>
            </a:pPr>
            <a:r>
              <a:rPr lang="en-US" sz="1350" b="1" dirty="0">
                <a:solidFill>
                  <a:srgbClr val="1A1F2C"/>
                </a:solidFill>
                <a:latin typeface="JetBrains Mono" pitchFamily="34" charset="0"/>
                <a:ea typeface="JetBrains Mono" pitchFamily="34" charset="-122"/>
                <a:cs typeface="JetBrains Mono" pitchFamily="34" charset="-120"/>
              </a:rPr>
              <a:t>W05</a:t>
            </a:r>
            <a:endParaRPr lang="en-US" sz="1350" dirty="0"/>
          </a:p>
        </p:txBody>
      </p:sp>
      <p:sp>
        <p:nvSpPr>
          <p:cNvPr id="176" name="Text 172"/>
          <p:cNvSpPr txBox="1"/>
          <p:nvPr/>
        </p:nvSpPr>
        <p:spPr>
          <a:xfrm>
            <a:off x="10573207" y="8934602"/>
            <a:ext cx="104790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139.4</a:t>
            </a:r>
            <a:endParaRPr lang="en-US" sz="1350" dirty="0"/>
          </a:p>
        </p:txBody>
      </p:sp>
      <p:sp>
        <p:nvSpPr>
          <p:cNvPr id="177" name="Text 173"/>
          <p:cNvSpPr txBox="1"/>
          <p:nvPr/>
        </p:nvSpPr>
        <p:spPr>
          <a:xfrm>
            <a:off x="11620195" y="8934602"/>
            <a:ext cx="1095451"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12.6</a:t>
            </a:r>
            <a:endParaRPr lang="en-US" sz="1350" dirty="0"/>
          </a:p>
        </p:txBody>
      </p:sp>
      <p:sp>
        <p:nvSpPr>
          <p:cNvPr id="178" name="Text 174"/>
          <p:cNvSpPr txBox="1"/>
          <p:nvPr/>
        </p:nvSpPr>
        <p:spPr>
          <a:xfrm>
            <a:off x="12715646" y="8934602"/>
            <a:ext cx="1143000"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8.3</a:t>
            </a:r>
            <a:endParaRPr lang="en-US" sz="1350" dirty="0"/>
          </a:p>
        </p:txBody>
      </p:sp>
      <p:sp>
        <p:nvSpPr>
          <p:cNvPr id="179" name="Text 175"/>
          <p:cNvSpPr txBox="1"/>
          <p:nvPr/>
        </p:nvSpPr>
        <p:spPr>
          <a:xfrm>
            <a:off x="13858646" y="8934602"/>
            <a:ext cx="1239012"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1.8e-9</a:t>
            </a:r>
            <a:endParaRPr lang="en-US" sz="1350" dirty="0"/>
          </a:p>
        </p:txBody>
      </p:sp>
      <p:sp>
        <p:nvSpPr>
          <p:cNvPr id="180" name="Text 176"/>
          <p:cNvSpPr txBox="1"/>
          <p:nvPr/>
        </p:nvSpPr>
        <p:spPr>
          <a:xfrm>
            <a:off x="15096744" y="8934602"/>
            <a:ext cx="857707"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7.7</a:t>
            </a:r>
            <a:endParaRPr lang="en-US" sz="1350" dirty="0"/>
          </a:p>
        </p:txBody>
      </p:sp>
      <p:sp>
        <p:nvSpPr>
          <p:cNvPr id="181" name="Text 177"/>
          <p:cNvSpPr txBox="1"/>
          <p:nvPr/>
        </p:nvSpPr>
        <p:spPr>
          <a:xfrm>
            <a:off x="15954451" y="8934602"/>
            <a:ext cx="1381658" cy="400507"/>
          </a:xfrm>
          <a:prstGeom prst="rect">
            <a:avLst/>
          </a:prstGeom>
          <a:noFill/>
          <a:ln/>
        </p:spPr>
        <p:txBody>
          <a:bodyPr wrap="square" lIns="0" tIns="0" rIns="0" bIns="0" rtlCol="0" anchor="ctr"/>
          <a:lstStyle/>
          <a:p>
            <a:pPr algn="r" indent="0" marL="0">
              <a:buNone/>
            </a:pPr>
            <a:r>
              <a:rPr lang="en-US" sz="1350" dirty="0">
                <a:solidFill>
                  <a:srgbClr val="1A1F2C"/>
                </a:solidFill>
                <a:latin typeface="JetBrains Mono" pitchFamily="34" charset="0"/>
                <a:ea typeface="JetBrains Mono" pitchFamily="34" charset="-122"/>
                <a:cs typeface="JetBrains Mono" pitchFamily="34" charset="-120"/>
              </a:rPr>
              <a:t>95.1</a:t>
            </a:r>
            <a:endParaRPr lang="en-US" sz="1350" dirty="0"/>
          </a:p>
        </p:txBody>
      </p:sp>
      <p:sp>
        <p:nvSpPr>
          <p:cNvPr id="182" name="Shape 178"/>
          <p:cNvSpPr/>
          <p:nvPr/>
        </p:nvSpPr>
        <p:spPr>
          <a:xfrm>
            <a:off x="8382305" y="9334195"/>
            <a:ext cx="8953805" cy="400507"/>
          </a:xfrm>
          <a:prstGeom prst="rect">
            <a:avLst/>
          </a:prstGeom>
          <a:solidFill>
            <a:srgbClr val="F4ECDC"/>
          </a:solidFill>
          <a:ln w="12700">
            <a:solidFill>
              <a:srgbClr val="FFFFFF">
                <a:alpha val="0"/>
              </a:srgbClr>
            </a:solidFill>
            <a:prstDash val="solid"/>
          </a:ln>
        </p:spPr>
      </p:sp>
      <p:sp>
        <p:nvSpPr>
          <p:cNvPr id="183" name="Text 179"/>
          <p:cNvSpPr txBox="1"/>
          <p:nvPr/>
        </p:nvSpPr>
        <p:spPr>
          <a:xfrm>
            <a:off x="8382305" y="9334195"/>
            <a:ext cx="857707" cy="400507"/>
          </a:xfrm>
          <a:prstGeom prst="rect">
            <a:avLst/>
          </a:prstGeom>
          <a:noFill/>
          <a:ln/>
        </p:spPr>
        <p:txBody>
          <a:bodyPr wrap="square" lIns="0" tIns="0" rIns="0" bIns="0" rtlCol="0" anchor="ctr"/>
          <a:lstStyle/>
          <a:p>
            <a:pPr algn="l" indent="0" marL="0">
              <a:buNone/>
            </a:pPr>
            <a:r>
              <a:rPr lang="en-US" sz="1350" b="1" dirty="0">
                <a:solidFill>
                  <a:srgbClr val="1A1F2C"/>
                </a:solidFill>
                <a:latin typeface="JetBrains Mono" pitchFamily="34" charset="0"/>
                <a:ea typeface="JetBrains Mono" pitchFamily="34" charset="-122"/>
                <a:cs typeface="JetBrains Mono" pitchFamily="34" charset="-120"/>
              </a:rPr>
              <a:t>W06</a:t>
            </a:r>
            <a:endParaRPr lang="en-US" sz="1350" dirty="0"/>
          </a:p>
        </p:txBody>
      </p:sp>
      <p:sp>
        <p:nvSpPr>
          <p:cNvPr id="184" name="Text 180"/>
          <p:cNvSpPr txBox="1"/>
          <p:nvPr/>
        </p:nvSpPr>
        <p:spPr>
          <a:xfrm>
            <a:off x="10573207" y="9334195"/>
            <a:ext cx="1047902" cy="400507"/>
          </a:xfrm>
          <a:prstGeom prst="rect">
            <a:avLst/>
          </a:prstGeom>
          <a:noFill/>
          <a:ln/>
        </p:spPr>
        <p:txBody>
          <a:bodyPr wrap="square" lIns="0" tIns="0" rIns="0" bIns="0" rtlCol="0" anchor="ctr"/>
          <a:lstStyle/>
          <a:p>
            <a:pPr algn="r" indent="0" marL="0">
              <a:buNone/>
            </a:pPr>
            <a:r>
              <a:rPr lang="en-US" sz="1350" b="1" dirty="0">
                <a:solidFill>
                  <a:srgbClr val="1A1F2C"/>
                </a:solidFill>
                <a:latin typeface="JetBrains Mono" pitchFamily="34" charset="0"/>
                <a:ea typeface="JetBrains Mono" pitchFamily="34" charset="-122"/>
                <a:cs typeface="JetBrains Mono" pitchFamily="34" charset="-120"/>
              </a:rPr>
              <a:t>137.9</a:t>
            </a:r>
            <a:endParaRPr lang="en-US" sz="1350" dirty="0"/>
          </a:p>
        </p:txBody>
      </p:sp>
      <p:sp>
        <p:nvSpPr>
          <p:cNvPr id="185" name="Text 181"/>
          <p:cNvSpPr txBox="1"/>
          <p:nvPr/>
        </p:nvSpPr>
        <p:spPr>
          <a:xfrm>
            <a:off x="11620195" y="9334195"/>
            <a:ext cx="1095451" cy="400507"/>
          </a:xfrm>
          <a:prstGeom prst="rect">
            <a:avLst/>
          </a:prstGeom>
          <a:noFill/>
          <a:ln/>
        </p:spPr>
        <p:txBody>
          <a:bodyPr wrap="square" lIns="0" tIns="0" rIns="0" bIns="0" rtlCol="0" anchor="ctr"/>
          <a:lstStyle/>
          <a:p>
            <a:pPr algn="r" indent="0" marL="0">
              <a:buNone/>
            </a:pPr>
            <a:r>
              <a:rPr lang="en-US" sz="1350" b="1" dirty="0">
                <a:solidFill>
                  <a:srgbClr val="1A1F2C"/>
                </a:solidFill>
                <a:latin typeface="JetBrains Mono" pitchFamily="34" charset="0"/>
                <a:ea typeface="JetBrains Mono" pitchFamily="34" charset="-122"/>
                <a:cs typeface="JetBrains Mono" pitchFamily="34" charset="-120"/>
              </a:rPr>
              <a:t>12.4</a:t>
            </a:r>
            <a:endParaRPr lang="en-US" sz="1350" dirty="0"/>
          </a:p>
        </p:txBody>
      </p:sp>
      <p:sp>
        <p:nvSpPr>
          <p:cNvPr id="186" name="Text 182"/>
          <p:cNvSpPr txBox="1"/>
          <p:nvPr/>
        </p:nvSpPr>
        <p:spPr>
          <a:xfrm>
            <a:off x="12715646" y="9334195"/>
            <a:ext cx="1143000" cy="400507"/>
          </a:xfrm>
          <a:prstGeom prst="rect">
            <a:avLst/>
          </a:prstGeom>
          <a:noFill/>
          <a:ln/>
        </p:spPr>
        <p:txBody>
          <a:bodyPr wrap="square" lIns="0" tIns="0" rIns="0" bIns="0" rtlCol="0" anchor="ctr"/>
          <a:lstStyle/>
          <a:p>
            <a:pPr algn="r" indent="0" marL="0">
              <a:buNone/>
            </a:pPr>
            <a:r>
              <a:rPr lang="en-US" sz="1350" b="1" dirty="0">
                <a:solidFill>
                  <a:srgbClr val="1A1F2C"/>
                </a:solidFill>
                <a:latin typeface="JetBrains Mono" pitchFamily="34" charset="0"/>
                <a:ea typeface="JetBrains Mono" pitchFamily="34" charset="-122"/>
                <a:cs typeface="JetBrains Mono" pitchFamily="34" charset="-120"/>
              </a:rPr>
              <a:t>8.1</a:t>
            </a:r>
            <a:endParaRPr lang="en-US" sz="1350" dirty="0"/>
          </a:p>
        </p:txBody>
      </p:sp>
      <p:sp>
        <p:nvSpPr>
          <p:cNvPr id="187" name="Text 183"/>
          <p:cNvSpPr txBox="1"/>
          <p:nvPr/>
        </p:nvSpPr>
        <p:spPr>
          <a:xfrm>
            <a:off x="13858646" y="9334195"/>
            <a:ext cx="1239012" cy="400507"/>
          </a:xfrm>
          <a:prstGeom prst="rect">
            <a:avLst/>
          </a:prstGeom>
          <a:noFill/>
          <a:ln/>
        </p:spPr>
        <p:txBody>
          <a:bodyPr wrap="square" lIns="0" tIns="0" rIns="0" bIns="0" rtlCol="0" anchor="ctr"/>
          <a:lstStyle/>
          <a:p>
            <a:pPr algn="r" indent="0" marL="0">
              <a:buNone/>
            </a:pPr>
            <a:r>
              <a:rPr lang="en-US" sz="1350" b="1" dirty="0">
                <a:solidFill>
                  <a:srgbClr val="1A1F2C"/>
                </a:solidFill>
                <a:latin typeface="JetBrains Mono" pitchFamily="34" charset="0"/>
                <a:ea typeface="JetBrains Mono" pitchFamily="34" charset="-122"/>
                <a:cs typeface="JetBrains Mono" pitchFamily="34" charset="-120"/>
              </a:rPr>
              <a:t>1.5e-9</a:t>
            </a:r>
            <a:endParaRPr lang="en-US" sz="1350" dirty="0"/>
          </a:p>
        </p:txBody>
      </p:sp>
      <p:sp>
        <p:nvSpPr>
          <p:cNvPr id="188" name="Text 184"/>
          <p:cNvSpPr txBox="1"/>
          <p:nvPr/>
        </p:nvSpPr>
        <p:spPr>
          <a:xfrm>
            <a:off x="15096744" y="9334195"/>
            <a:ext cx="857707" cy="400507"/>
          </a:xfrm>
          <a:prstGeom prst="rect">
            <a:avLst/>
          </a:prstGeom>
          <a:noFill/>
          <a:ln/>
        </p:spPr>
        <p:txBody>
          <a:bodyPr wrap="square" lIns="0" tIns="0" rIns="0" bIns="0" rtlCol="0" anchor="ctr"/>
          <a:lstStyle/>
          <a:p>
            <a:pPr algn="r" indent="0" marL="0">
              <a:buNone/>
            </a:pPr>
            <a:r>
              <a:rPr lang="en-US" sz="1350" b="1" dirty="0">
                <a:solidFill>
                  <a:srgbClr val="1A1F2C"/>
                </a:solidFill>
                <a:latin typeface="JetBrains Mono" pitchFamily="34" charset="0"/>
                <a:ea typeface="JetBrains Mono" pitchFamily="34" charset="-122"/>
                <a:cs typeface="JetBrains Mono" pitchFamily="34" charset="-120"/>
              </a:rPr>
              <a:t>7.9</a:t>
            </a:r>
            <a:endParaRPr lang="en-US" sz="1350" dirty="0"/>
          </a:p>
        </p:txBody>
      </p:sp>
      <p:sp>
        <p:nvSpPr>
          <p:cNvPr id="189" name="Text 185"/>
          <p:cNvSpPr txBox="1"/>
          <p:nvPr/>
        </p:nvSpPr>
        <p:spPr>
          <a:xfrm>
            <a:off x="15954451" y="9334195"/>
            <a:ext cx="1381658" cy="400507"/>
          </a:xfrm>
          <a:prstGeom prst="rect">
            <a:avLst/>
          </a:prstGeom>
          <a:noFill/>
          <a:ln/>
        </p:spPr>
        <p:txBody>
          <a:bodyPr wrap="square" lIns="0" tIns="0" rIns="0" bIns="0" rtlCol="0" anchor="ctr"/>
          <a:lstStyle/>
          <a:p>
            <a:pPr algn="r" indent="0" marL="0">
              <a:buNone/>
            </a:pPr>
            <a:r>
              <a:rPr lang="en-US" sz="1350" b="1" dirty="0">
                <a:solidFill>
                  <a:srgbClr val="E8762E"/>
                </a:solidFill>
                <a:latin typeface="JetBrains Mono" pitchFamily="34" charset="0"/>
                <a:ea typeface="JetBrains Mono" pitchFamily="34" charset="-122"/>
                <a:cs typeface="JetBrains Mono" pitchFamily="34" charset="-120"/>
              </a:rPr>
              <a:t>97.3</a:t>
            </a:r>
            <a:endParaRPr lang="en-US" sz="1350" dirty="0"/>
          </a:p>
        </p:txBody>
      </p:sp>
      <p:sp>
        <p:nvSpPr>
          <p:cNvPr id="190" name="Text 186"/>
          <p:cNvSpPr txBox="1"/>
          <p:nvPr/>
        </p:nvSpPr>
        <p:spPr>
          <a:xfrm>
            <a:off x="9296705" y="7453274"/>
            <a:ext cx="584302" cy="191110"/>
          </a:xfrm>
          <a:prstGeom prst="rect">
            <a:avLst/>
          </a:prstGeom>
          <a:solidFill>
            <a:srgbClr val="2D3848"/>
          </a:solidFill>
          <a:ln>
            <a:solidFill>
              <a:srgbClr val="FFFFFF">
                <a:alpha val="0"/>
              </a:srgbClr>
            </a:solidFill>
          </a:ln>
        </p:spPr>
        <p:txBody>
          <a:bodyPr wrap="none" lIns="76200" tIns="25400" rIns="76200" bIns="25400" rtlCol="0" anchor="ctr"/>
          <a:lstStyle/>
          <a:p>
            <a:pPr algn="l" indent="0" marL="0">
              <a:buNone/>
            </a:pPr>
            <a:r>
              <a:rPr lang="en-US" sz="825" b="1" spc="66" kern="0" dirty="0">
                <a:solidFill>
                  <a:srgbClr val="F2EDE5"/>
                </a:solidFill>
                <a:latin typeface="Noto Sans KR" pitchFamily="34" charset="0"/>
                <a:ea typeface="Noto Sans KR" pitchFamily="34" charset="-122"/>
                <a:cs typeface="Noto Sans KR" pitchFamily="34" charset="-120"/>
              </a:rPr>
              <a:t>SAQP</a:t>
            </a:r>
            <a:endParaRPr lang="en-US" sz="825" dirty="0"/>
          </a:p>
        </p:txBody>
      </p:sp>
      <p:sp>
        <p:nvSpPr>
          <p:cNvPr id="191" name="Text 187"/>
          <p:cNvSpPr txBox="1"/>
          <p:nvPr/>
        </p:nvSpPr>
        <p:spPr>
          <a:xfrm>
            <a:off x="9296705" y="7853782"/>
            <a:ext cx="584302" cy="191110"/>
          </a:xfrm>
          <a:prstGeom prst="rect">
            <a:avLst/>
          </a:prstGeom>
          <a:solidFill>
            <a:srgbClr val="2D3848"/>
          </a:solidFill>
          <a:ln>
            <a:solidFill>
              <a:srgbClr val="FFFFFF">
                <a:alpha val="0"/>
              </a:srgbClr>
            </a:solidFill>
          </a:ln>
        </p:spPr>
        <p:txBody>
          <a:bodyPr wrap="none" lIns="76200" tIns="25400" rIns="76200" bIns="25400" rtlCol="0" anchor="ctr"/>
          <a:lstStyle/>
          <a:p>
            <a:pPr algn="l" indent="0" marL="0">
              <a:buNone/>
            </a:pPr>
            <a:r>
              <a:rPr lang="en-US" sz="825" b="1" spc="66" kern="0" dirty="0">
                <a:solidFill>
                  <a:srgbClr val="F2EDE5"/>
                </a:solidFill>
                <a:latin typeface="Noto Sans KR" pitchFamily="34" charset="0"/>
                <a:ea typeface="Noto Sans KR" pitchFamily="34" charset="-122"/>
                <a:cs typeface="Noto Sans KR" pitchFamily="34" charset="-120"/>
              </a:rPr>
              <a:t>SAQP</a:t>
            </a:r>
            <a:endParaRPr lang="en-US" sz="825" dirty="0"/>
          </a:p>
        </p:txBody>
      </p:sp>
      <p:sp>
        <p:nvSpPr>
          <p:cNvPr id="192" name="Text 188"/>
          <p:cNvSpPr txBox="1"/>
          <p:nvPr/>
        </p:nvSpPr>
        <p:spPr>
          <a:xfrm>
            <a:off x="9296705" y="8253374"/>
            <a:ext cx="584302" cy="191110"/>
          </a:xfrm>
          <a:prstGeom prst="rect">
            <a:avLst/>
          </a:prstGeom>
          <a:solidFill>
            <a:srgbClr val="2D3848"/>
          </a:solidFill>
          <a:ln>
            <a:solidFill>
              <a:srgbClr val="FFFFFF">
                <a:alpha val="0"/>
              </a:srgbClr>
            </a:solidFill>
          </a:ln>
        </p:spPr>
        <p:txBody>
          <a:bodyPr wrap="none" lIns="76200" tIns="25400" rIns="76200" bIns="25400" rtlCol="0" anchor="ctr"/>
          <a:lstStyle/>
          <a:p>
            <a:pPr algn="l" indent="0" marL="0">
              <a:buNone/>
            </a:pPr>
            <a:r>
              <a:rPr lang="en-US" sz="825" b="1" spc="66" kern="0" dirty="0">
                <a:solidFill>
                  <a:srgbClr val="F2EDE5"/>
                </a:solidFill>
                <a:latin typeface="Noto Sans KR" pitchFamily="34" charset="0"/>
                <a:ea typeface="Noto Sans KR" pitchFamily="34" charset="-122"/>
                <a:cs typeface="Noto Sans KR" pitchFamily="34" charset="-120"/>
              </a:rPr>
              <a:t>SAQP</a:t>
            </a:r>
            <a:endParaRPr lang="en-US" sz="825" dirty="0"/>
          </a:p>
        </p:txBody>
      </p:sp>
      <p:sp>
        <p:nvSpPr>
          <p:cNvPr id="193" name="Text 189"/>
          <p:cNvSpPr txBox="1"/>
          <p:nvPr/>
        </p:nvSpPr>
        <p:spPr>
          <a:xfrm>
            <a:off x="9296705" y="8653882"/>
            <a:ext cx="843991" cy="191110"/>
          </a:xfrm>
          <a:prstGeom prst="rect">
            <a:avLst/>
          </a:prstGeom>
          <a:solidFill>
            <a:srgbClr val="3E5C50"/>
          </a:solidFill>
          <a:ln>
            <a:solidFill>
              <a:srgbClr val="FFFFFF">
                <a:alpha val="0"/>
              </a:srgbClr>
            </a:solidFill>
          </a:ln>
        </p:spPr>
        <p:txBody>
          <a:bodyPr wrap="none" lIns="76200" tIns="25400" rIns="76200" bIns="25400" rtlCol="0" anchor="ctr"/>
          <a:lstStyle/>
          <a:p>
            <a:pPr algn="l" indent="0" marL="0">
              <a:buNone/>
            </a:pPr>
            <a:r>
              <a:rPr lang="en-US" sz="825" b="1" spc="50" kern="0" dirty="0">
                <a:solidFill>
                  <a:srgbClr val="F2EDE5"/>
                </a:solidFill>
                <a:latin typeface="Noto Sans KR" pitchFamily="34" charset="0"/>
                <a:ea typeface="Noto Sans KR" pitchFamily="34" charset="-122"/>
                <a:cs typeface="Noto Sans KR" pitchFamily="34" charset="-120"/>
              </a:rPr>
              <a:t>SADP+SAB</a:t>
            </a:r>
            <a:endParaRPr lang="en-US" sz="825" dirty="0"/>
          </a:p>
        </p:txBody>
      </p:sp>
      <p:sp>
        <p:nvSpPr>
          <p:cNvPr id="194" name="Text 190"/>
          <p:cNvSpPr txBox="1"/>
          <p:nvPr/>
        </p:nvSpPr>
        <p:spPr>
          <a:xfrm>
            <a:off x="9296705" y="9053474"/>
            <a:ext cx="843991" cy="191110"/>
          </a:xfrm>
          <a:prstGeom prst="rect">
            <a:avLst/>
          </a:prstGeom>
          <a:solidFill>
            <a:srgbClr val="3E5C50"/>
          </a:solidFill>
          <a:ln>
            <a:solidFill>
              <a:srgbClr val="FFFFFF">
                <a:alpha val="0"/>
              </a:srgbClr>
            </a:solidFill>
          </a:ln>
        </p:spPr>
        <p:txBody>
          <a:bodyPr wrap="none" lIns="76200" tIns="25400" rIns="76200" bIns="25400" rtlCol="0" anchor="ctr"/>
          <a:lstStyle/>
          <a:p>
            <a:pPr algn="l" indent="0" marL="0">
              <a:buNone/>
            </a:pPr>
            <a:r>
              <a:rPr lang="en-US" sz="825" b="1" spc="50" kern="0" dirty="0">
                <a:solidFill>
                  <a:srgbClr val="F2EDE5"/>
                </a:solidFill>
                <a:latin typeface="Noto Sans KR" pitchFamily="34" charset="0"/>
                <a:ea typeface="Noto Sans KR" pitchFamily="34" charset="-122"/>
                <a:cs typeface="Noto Sans KR" pitchFamily="34" charset="-120"/>
              </a:rPr>
              <a:t>SADP+SAB</a:t>
            </a:r>
            <a:endParaRPr lang="en-US" sz="825" dirty="0"/>
          </a:p>
        </p:txBody>
      </p:sp>
      <p:sp>
        <p:nvSpPr>
          <p:cNvPr id="195" name="Text 191"/>
          <p:cNvSpPr txBox="1"/>
          <p:nvPr/>
        </p:nvSpPr>
        <p:spPr>
          <a:xfrm>
            <a:off x="9296705" y="9453982"/>
            <a:ext cx="843991" cy="191110"/>
          </a:xfrm>
          <a:prstGeom prst="rect">
            <a:avLst/>
          </a:prstGeom>
          <a:solidFill>
            <a:srgbClr val="3E5C50"/>
          </a:solidFill>
          <a:ln>
            <a:solidFill>
              <a:srgbClr val="FFFFFF">
                <a:alpha val="0"/>
              </a:srgbClr>
            </a:solidFill>
          </a:ln>
        </p:spPr>
        <p:txBody>
          <a:bodyPr wrap="none" lIns="76200" tIns="25400" rIns="76200" bIns="25400" rtlCol="0" anchor="ctr"/>
          <a:lstStyle/>
          <a:p>
            <a:pPr algn="l" indent="0" marL="0">
              <a:buNone/>
            </a:pPr>
            <a:r>
              <a:rPr lang="en-US" sz="825" b="1" spc="50" kern="0" dirty="0">
                <a:solidFill>
                  <a:srgbClr val="F2EDE5"/>
                </a:solidFill>
                <a:latin typeface="Noto Sans KR" pitchFamily="34" charset="0"/>
                <a:ea typeface="Noto Sans KR" pitchFamily="34" charset="-122"/>
                <a:cs typeface="Noto Sans KR" pitchFamily="34" charset="-120"/>
              </a:rPr>
              <a:t>SADP+SAB</a:t>
            </a:r>
            <a:endParaRPr lang="en-US" sz="825" dirty="0"/>
          </a:p>
        </p:txBody>
      </p:sp>
      <p:sp>
        <p:nvSpPr>
          <p:cNvPr id="196" name="Text 192"/>
          <p:cNvSpPr txBox="1"/>
          <p:nvPr/>
        </p:nvSpPr>
        <p:spPr>
          <a:xfrm>
            <a:off x="952805" y="9696298"/>
            <a:ext cx="16383305" cy="210312"/>
          </a:xfrm>
          <a:prstGeom prst="rect">
            <a:avLst/>
          </a:prstGeom>
          <a:noFill/>
          <a:ln/>
        </p:spPr>
        <p:txBody>
          <a:bodyPr wrap="none" lIns="0" tIns="0" rIns="0" bIns="0" rtlCol="0" anchor="ctr"/>
          <a:lstStyle/>
          <a:p>
            <a:pPr algn="l" indent="0" marL="0">
              <a:buNone/>
            </a:pPr>
            <a:r>
              <a:rPr lang="en-US" sz="1125" b="1" spc="56" kern="0" dirty="0">
                <a:solidFill>
                  <a:srgbClr val="6B6358"/>
                </a:solidFill>
                <a:latin typeface="JetBrains Mono" pitchFamily="34" charset="0"/>
                <a:ea typeface="JetBrains Mono" pitchFamily="34" charset="-122"/>
                <a:cs typeface="JetBrains Mono" pitchFamily="34" charset="-120"/>
              </a:rPr>
              <a:t>※ 내부 테스트용 더미(가상) 데이터</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DE5"/>
        </a:solidFill>
      </p:bgPr>
    </p:bg>
    <p:spTree>
      <p:nvGrpSpPr>
        <p:cNvPr id="1" name=""/>
        <p:cNvGrpSpPr/>
        <p:nvPr/>
      </p:nvGrpSpPr>
      <p:grpSpPr>
        <a:xfrm>
          <a:off x="0" y="0"/>
          <a:ext cx="0" cy="0"/>
          <a:chOff x="0" y="0"/>
          <a:chExt cx="0" cy="0"/>
        </a:xfrm>
      </p:grpSpPr>
      <p:sp>
        <p:nvSpPr>
          <p:cNvPr id="3" name="Shape 0"/>
          <p:cNvSpPr/>
          <p:nvPr/>
        </p:nvSpPr>
        <p:spPr>
          <a:xfrm>
            <a:off x="952805" y="2819095"/>
            <a:ext cx="5162702" cy="3066898"/>
          </a:xfrm>
          <a:prstGeom prst="rect">
            <a:avLst/>
          </a:prstGeom>
          <a:solidFill>
            <a:srgbClr val="FBF7EF"/>
          </a:solidFill>
          <a:ln w="12700">
            <a:solidFill>
              <a:srgbClr val="DDD3C0"/>
            </a:solidFill>
            <a:prstDash val="solid"/>
          </a:ln>
        </p:spPr>
      </p:sp>
      <p:sp>
        <p:nvSpPr>
          <p:cNvPr id="4" name="Shape 1"/>
          <p:cNvSpPr/>
          <p:nvPr/>
        </p:nvSpPr>
        <p:spPr>
          <a:xfrm>
            <a:off x="6381598" y="2819095"/>
            <a:ext cx="5143500" cy="3047695"/>
          </a:xfrm>
          <a:prstGeom prst="rect">
            <a:avLst/>
          </a:prstGeom>
          <a:solidFill>
            <a:srgbClr val="1A1F2C"/>
          </a:solidFill>
          <a:ln w="12700">
            <a:solidFill>
              <a:srgbClr val="FFFFFF">
                <a:alpha val="0"/>
              </a:srgbClr>
            </a:solidFill>
            <a:prstDash val="solid"/>
          </a:ln>
        </p:spPr>
      </p:sp>
      <p:sp>
        <p:nvSpPr>
          <p:cNvPr id="5" name="Shape 2"/>
          <p:cNvSpPr/>
          <p:nvPr/>
        </p:nvSpPr>
        <p:spPr>
          <a:xfrm>
            <a:off x="11811305" y="2819095"/>
            <a:ext cx="5544007" cy="3066898"/>
          </a:xfrm>
          <a:prstGeom prst="rect">
            <a:avLst/>
          </a:prstGeom>
          <a:solidFill>
            <a:srgbClr val="FBF7EF"/>
          </a:solidFill>
          <a:ln w="12700">
            <a:solidFill>
              <a:srgbClr val="DDD3C0"/>
            </a:solidFill>
            <a:prstDash val="solid"/>
          </a:ln>
        </p:spPr>
      </p:sp>
      <p:pic>
        <p:nvPicPr>
          <p:cNvPr id="6" name="Image 0" descr="gen-dedup-c838ec602dcce14894c4110ff6843f0c.png">    </p:cNvPr>
          <p:cNvPicPr>
            <a:picLocks noChangeAspect="1"/>
          </p:cNvPicPr>
          <p:nvPr/>
        </p:nvPicPr>
        <p:blipFill>
          <a:blip r:embed="rId1"/>
          <a:srcRect l="0" r="0" t="-400" b="-400"/>
          <a:stretch/>
        </p:blipFill>
        <p:spPr>
          <a:xfrm>
            <a:off x="952805" y="2819095"/>
            <a:ext cx="5143500" cy="57607"/>
          </a:xfrm>
          <a:prstGeom prst="rect">
            <a:avLst/>
          </a:prstGeom>
        </p:spPr>
      </p:pic>
      <p:pic>
        <p:nvPicPr>
          <p:cNvPr id="7" name="Image 1" descr="gen-dedup-c838ec602dcce14894c4110ff6843f0c.png">    </p:cNvPr>
          <p:cNvPicPr>
            <a:picLocks noChangeAspect="1"/>
          </p:cNvPicPr>
          <p:nvPr/>
        </p:nvPicPr>
        <p:blipFill>
          <a:blip r:embed="rId2"/>
          <a:srcRect l="0" r="0" t="-400" b="-400"/>
          <a:stretch/>
        </p:blipFill>
        <p:spPr>
          <a:xfrm>
            <a:off x="6381598" y="2819095"/>
            <a:ext cx="5143500" cy="57607"/>
          </a:xfrm>
          <a:prstGeom prst="rect">
            <a:avLst/>
          </a:prstGeom>
        </p:spPr>
      </p:pic>
      <p:pic>
        <p:nvPicPr>
          <p:cNvPr id="8" name="Image 2" descr="gen-dedup-5eece60e4b3ea4ea9a3b7f988858d5cd.png">    </p:cNvPr>
          <p:cNvPicPr>
            <a:picLocks noChangeAspect="1"/>
          </p:cNvPicPr>
          <p:nvPr/>
        </p:nvPicPr>
        <p:blipFill>
          <a:blip r:embed="rId3"/>
          <a:srcRect l="0" r="0" t="-397" b="-397"/>
          <a:stretch/>
        </p:blipFill>
        <p:spPr>
          <a:xfrm>
            <a:off x="11811305" y="2819095"/>
            <a:ext cx="5524805" cy="57607"/>
          </a:xfrm>
          <a:prstGeom prst="rect">
            <a:avLst/>
          </a:prstGeom>
        </p:spPr>
      </p:pic>
      <p:pic>
        <p:nvPicPr>
          <p:cNvPr id="9" name="Image 3" descr="gen-dedup-10712ba9506011557717463f803e9fbb.png">    </p:cNvPr>
          <p:cNvPicPr>
            <a:picLocks noChangeAspect="1"/>
          </p:cNvPicPr>
          <p:nvPr/>
        </p:nvPicPr>
        <p:blipFill>
          <a:blip r:embed="rId4"/>
          <a:srcRect l="0" r="0" t="-375" b="-375"/>
          <a:stretch/>
        </p:blipFill>
        <p:spPr>
          <a:xfrm>
            <a:off x="952805" y="838505"/>
            <a:ext cx="609905" cy="57607"/>
          </a:xfrm>
          <a:prstGeom prst="rect">
            <a:avLst/>
          </a:prstGeom>
        </p:spPr>
      </p:pic>
      <p:sp>
        <p:nvSpPr>
          <p:cNvPr id="10" name="Text 3"/>
          <p:cNvSpPr txBox="1"/>
          <p:nvPr/>
        </p:nvSpPr>
        <p:spPr>
          <a:xfrm>
            <a:off x="952805" y="1123798"/>
            <a:ext cx="14287500" cy="600761"/>
          </a:xfrm>
          <a:prstGeom prst="rect">
            <a:avLst/>
          </a:prstGeom>
          <a:noFill/>
          <a:ln/>
        </p:spPr>
        <p:txBody>
          <a:bodyPr wrap="none" lIns="0" tIns="0" rIns="0" bIns="0" rtlCol="0" anchor="ctr"/>
          <a:lstStyle/>
          <a:p>
            <a:pPr algn="l" indent="0" marL="0">
              <a:buNone/>
            </a:pPr>
            <a:r>
              <a:rPr lang="en-US" sz="4500" b="1" spc="-45" kern="0" dirty="0">
                <a:solidFill>
                  <a:srgbClr val="1A1F2C"/>
                </a:solidFill>
                <a:latin typeface="Noto Sans KR" pitchFamily="34" charset="0"/>
                <a:ea typeface="Noto Sans KR" pitchFamily="34" charset="-122"/>
                <a:cs typeface="Noto Sans KR" pitchFamily="34" charset="-120"/>
              </a:rPr>
              <a:t>결론 및 후속 액션</a:t>
            </a:r>
            <a:endParaRPr lang="en-US" sz="4500" dirty="0"/>
          </a:p>
        </p:txBody>
      </p:sp>
      <p:sp>
        <p:nvSpPr>
          <p:cNvPr id="11" name="Text 4"/>
          <p:cNvSpPr txBox="1"/>
          <p:nvPr/>
        </p:nvSpPr>
        <p:spPr>
          <a:xfrm>
            <a:off x="952805" y="1857146"/>
            <a:ext cx="14287500" cy="295351"/>
          </a:xfrm>
          <a:prstGeom prst="rect">
            <a:avLst/>
          </a:prstGeom>
          <a:noFill/>
          <a:ln/>
        </p:spPr>
        <p:txBody>
          <a:bodyPr wrap="none" lIns="0" tIns="0" rIns="0" bIns="0" rtlCol="0" anchor="ctr"/>
          <a:lstStyle/>
          <a:p>
            <a:pPr algn="l" indent="0" marL="0">
              <a:buNone/>
            </a:pPr>
            <a:r>
              <a:rPr lang="en-US" sz="1650" dirty="0">
                <a:solidFill>
                  <a:srgbClr val="5C5448"/>
                </a:solidFill>
                <a:latin typeface="Noto Sans KR" pitchFamily="34" charset="0"/>
                <a:ea typeface="Noto Sans KR" pitchFamily="34" charset="-122"/>
                <a:cs typeface="Noto Sans KR" pitchFamily="34" charset="-120"/>
              </a:rPr>
              <a:t>V1 BEOL 6 wafer 더미 분할 평가에서 도출한 핵심 시그널과 후속 트란치로 넘길 권고</a:t>
            </a:r>
            <a:endParaRPr lang="en-US" sz="1650" dirty="0"/>
          </a:p>
        </p:txBody>
      </p:sp>
      <p:sp>
        <p:nvSpPr>
          <p:cNvPr id="12" name="Text 5"/>
          <p:cNvSpPr txBox="1"/>
          <p:nvPr/>
        </p:nvSpPr>
        <p:spPr>
          <a:xfrm>
            <a:off x="1238098" y="3124505"/>
            <a:ext cx="4572000" cy="162763"/>
          </a:xfrm>
          <a:prstGeom prst="rect">
            <a:avLst/>
          </a:prstGeom>
          <a:noFill/>
          <a:ln/>
        </p:spPr>
        <p:txBody>
          <a:bodyPr wrap="none" lIns="0" tIns="0" rIns="0" bIns="0" rtlCol="0" anchor="ctr"/>
          <a:lstStyle/>
          <a:p>
            <a:pPr algn="l" indent="0" marL="0">
              <a:buNone/>
            </a:pPr>
            <a:r>
              <a:rPr lang="en-US" sz="975" b="1" spc="195" kern="0" dirty="0">
                <a:solidFill>
                  <a:srgbClr val="B8430E"/>
                </a:solidFill>
                <a:latin typeface="JetBrains Mono" pitchFamily="34" charset="0"/>
                <a:ea typeface="JetBrains Mono" pitchFamily="34" charset="-122"/>
                <a:cs typeface="JetBrains Mono" pitchFamily="34" charset="-120"/>
              </a:rPr>
              <a:t>FINDING 01</a:t>
            </a:r>
            <a:endParaRPr lang="en-US" sz="975" dirty="0"/>
          </a:p>
        </p:txBody>
      </p:sp>
      <p:sp>
        <p:nvSpPr>
          <p:cNvPr id="13" name="Text 6"/>
          <p:cNvSpPr txBox="1"/>
          <p:nvPr/>
        </p:nvSpPr>
        <p:spPr>
          <a:xfrm>
            <a:off x="1238098" y="3362249"/>
            <a:ext cx="4572000" cy="600761"/>
          </a:xfrm>
          <a:prstGeom prst="rect">
            <a:avLst/>
          </a:prstGeom>
          <a:noFill/>
          <a:ln/>
        </p:spPr>
        <p:txBody>
          <a:bodyPr wrap="square" lIns="0" tIns="0" rIns="0" bIns="0" rtlCol="0" anchor="t"/>
          <a:lstStyle/>
          <a:p>
            <a:pPr algn="l" indent="0" marL="0">
              <a:lnSpc>
                <a:spcPct val="130000"/>
              </a:lnSpc>
              <a:buNone/>
            </a:pPr>
            <a:r>
              <a:rPr lang="en-US" sz="1800" b="1" dirty="0">
                <a:solidFill>
                  <a:srgbClr val="1A1F2C"/>
                </a:solidFill>
                <a:latin typeface="Noto Sans KR" pitchFamily="34" charset="0"/>
                <a:ea typeface="Noto Sans KR" pitchFamily="34" charset="-122"/>
                <a:cs typeface="Noto Sans KR" pitchFamily="34" charset="-120"/>
              </a:rPr>
              <a:t>SADP+SAB batch의 3σ가</a:t>
            </a:r>
            <a:pPr algn="l" indent="0" marL="0">
              <a:lnSpc>
                <a:spcPct val="130000"/>
              </a:lnSpc>
              <a:buNone/>
            </a:pPr>
            <a:endParaRPr lang="en-US" sz="1800" dirty="0"/>
          </a:p>
          <a:p>
            <a:pPr algn="l" indent="0" marL="0">
              <a:lnSpc>
                <a:spcPct val="130000"/>
              </a:lnSpc>
              <a:buNone/>
            </a:pPr>
            <a:r>
              <a:rPr lang="en-US" sz="1800" b="1" dirty="0">
                <a:solidFill>
                  <a:srgbClr val="1A1F2C"/>
                </a:solidFill>
                <a:latin typeface="Noto Sans KR" pitchFamily="34" charset="0"/>
                <a:ea typeface="Noto Sans KR" pitchFamily="34" charset="-122"/>
                <a:cs typeface="Noto Sans KR" pitchFamily="34" charset="-120"/>
              </a:rPr>
              <a:t>전 구간에서 -38~-62% 작다</a:t>
            </a:r>
            <a:endParaRPr lang="en-US" sz="1800" dirty="0"/>
          </a:p>
        </p:txBody>
      </p:sp>
      <p:sp>
        <p:nvSpPr>
          <p:cNvPr id="14" name="Text 7"/>
          <p:cNvSpPr txBox="1"/>
          <p:nvPr/>
        </p:nvSpPr>
        <p:spPr>
          <a:xfrm>
            <a:off x="1238098" y="4324198"/>
            <a:ext cx="4572000" cy="743407"/>
          </a:xfrm>
          <a:prstGeom prst="rect">
            <a:avLst/>
          </a:prstGeom>
          <a:noFill/>
          <a:ln/>
        </p:spPr>
        <p:txBody>
          <a:bodyPr wrap="none" lIns="0" tIns="0" rIns="0" bIns="0" rtlCol="0" anchor="ctr"/>
          <a:lstStyle/>
          <a:p>
            <a:pPr algn="l" indent="0" marL="0">
              <a:buNone/>
            </a:pPr>
            <a:r>
              <a:rPr lang="en-US" sz="5850" b="1" dirty="0">
                <a:solidFill>
                  <a:srgbClr val="E8762E"/>
                </a:solidFill>
                <a:latin typeface="JetBrains Mono" pitchFamily="34" charset="0"/>
                <a:ea typeface="JetBrains Mono" pitchFamily="34" charset="-122"/>
                <a:cs typeface="JetBrains Mono" pitchFamily="34" charset="-120"/>
              </a:rPr>
              <a:t>−48%</a:t>
            </a:r>
            <a:endParaRPr lang="en-US" sz="5850" dirty="0"/>
          </a:p>
        </p:txBody>
      </p:sp>
      <p:sp>
        <p:nvSpPr>
          <p:cNvPr id="15" name="Text 8"/>
          <p:cNvSpPr txBox="1"/>
          <p:nvPr/>
        </p:nvSpPr>
        <p:spPr>
          <a:xfrm>
            <a:off x="1238098" y="5124298"/>
            <a:ext cx="4572000" cy="228600"/>
          </a:xfrm>
          <a:prstGeom prst="rect">
            <a:avLst/>
          </a:prstGeom>
          <a:noFill/>
          <a:ln/>
        </p:spPr>
        <p:txBody>
          <a:bodyPr wrap="none" lIns="0" tIns="0" rIns="0" bIns="0" rtlCol="0" anchor="ctr"/>
          <a:lstStyle/>
          <a:p>
            <a:pPr algn="l" indent="0" marL="0">
              <a:buNone/>
            </a:pPr>
            <a:r>
              <a:rPr lang="en-US" sz="1200" dirty="0">
                <a:solidFill>
                  <a:srgbClr val="5C5448"/>
                </a:solidFill>
                <a:latin typeface="Noto Sans KR" pitchFamily="34" charset="0"/>
                <a:ea typeface="Noto Sans KR" pitchFamily="34" charset="-122"/>
                <a:cs typeface="Noto Sans KR" pitchFamily="34" charset="-120"/>
              </a:rPr>
              <a:t>four-point 3σ 평균 감소율</a:t>
            </a:r>
            <a:endParaRPr lang="en-US" sz="1200" dirty="0"/>
          </a:p>
        </p:txBody>
      </p:sp>
      <p:sp>
        <p:nvSpPr>
          <p:cNvPr id="16" name="Text 9"/>
          <p:cNvSpPr txBox="1"/>
          <p:nvPr/>
        </p:nvSpPr>
        <p:spPr>
          <a:xfrm>
            <a:off x="1238098" y="5391302"/>
            <a:ext cx="918058" cy="181051"/>
          </a:xfrm>
          <a:prstGeom prst="rect">
            <a:avLst/>
          </a:prstGeom>
          <a:noFill/>
          <a:ln/>
        </p:spPr>
        <p:txBody>
          <a:bodyPr wrap="none" lIns="0" tIns="0" rIns="0" bIns="0" rtlCol="0" anchor="ctr"/>
          <a:lstStyle/>
          <a:p>
            <a:pPr algn="l" indent="0" marL="0">
              <a:buNone/>
            </a:pPr>
            <a:r>
              <a:rPr lang="en-US" sz="975" b="1" dirty="0">
                <a:solidFill>
                  <a:srgbClr val="1A1F2C"/>
                </a:solidFill>
                <a:latin typeface="JetBrains Mono" pitchFamily="34" charset="0"/>
                <a:ea typeface="JetBrains Mono" pitchFamily="34" charset="-122"/>
                <a:cs typeface="JetBrains Mono" pitchFamily="34" charset="-120"/>
              </a:rPr>
              <a:t>−31%</a:t>
            </a:r>
            <a:pPr algn="l" indent="0" marL="0">
              <a:buNone/>
            </a:pPr>
            <a:r>
              <a:rPr lang="en-US" sz="975" dirty="0">
                <a:solidFill>
                  <a:srgbClr val="5C5448"/>
                </a:solidFill>
                <a:latin typeface="Noto Sans KR" pitchFamily="34" charset="0"/>
                <a:ea typeface="Noto Sans KR" pitchFamily="34" charset="-122"/>
                <a:cs typeface="Noto Sans KR" pitchFamily="34" charset="-120"/>
              </a:rPr>
              <a:t> · AASI</a:t>
            </a:r>
            <a:endParaRPr lang="en-US" sz="975" dirty="0"/>
          </a:p>
        </p:txBody>
      </p:sp>
      <p:sp>
        <p:nvSpPr>
          <p:cNvPr id="17" name="Text 10"/>
          <p:cNvSpPr txBox="1"/>
          <p:nvPr/>
        </p:nvSpPr>
        <p:spPr>
          <a:xfrm>
            <a:off x="2070202" y="5391302"/>
            <a:ext cx="918058" cy="181051"/>
          </a:xfrm>
          <a:prstGeom prst="rect">
            <a:avLst/>
          </a:prstGeom>
          <a:noFill/>
          <a:ln/>
        </p:spPr>
        <p:txBody>
          <a:bodyPr wrap="none" lIns="0" tIns="0" rIns="0" bIns="0" rtlCol="0" anchor="ctr"/>
          <a:lstStyle/>
          <a:p>
            <a:pPr algn="l" indent="0" marL="0">
              <a:buNone/>
            </a:pPr>
            <a:r>
              <a:rPr lang="en-US" sz="975" b="1" dirty="0">
                <a:solidFill>
                  <a:srgbClr val="1A1F2C"/>
                </a:solidFill>
                <a:latin typeface="JetBrains Mono" pitchFamily="34" charset="0"/>
                <a:ea typeface="JetBrains Mono" pitchFamily="34" charset="-122"/>
                <a:cs typeface="JetBrains Mono" pitchFamily="34" charset="-120"/>
              </a:rPr>
              <a:t>−45%</a:t>
            </a:r>
            <a:pPr algn="l" indent="0" marL="0">
              <a:buNone/>
            </a:pPr>
            <a:r>
              <a:rPr lang="en-US" sz="975" dirty="0">
                <a:solidFill>
                  <a:srgbClr val="5C5448"/>
                </a:solidFill>
                <a:latin typeface="Noto Sans KR" pitchFamily="34" charset="0"/>
                <a:ea typeface="Noto Sans KR" pitchFamily="34" charset="-122"/>
                <a:cs typeface="Noto Sans KR" pitchFamily="34" charset="-120"/>
              </a:rPr>
              <a:t> · ASEI</a:t>
            </a:r>
            <a:endParaRPr lang="en-US" sz="975" dirty="0"/>
          </a:p>
        </p:txBody>
      </p:sp>
      <p:sp>
        <p:nvSpPr>
          <p:cNvPr id="18" name="Text 11"/>
          <p:cNvSpPr txBox="1"/>
          <p:nvPr/>
        </p:nvSpPr>
        <p:spPr>
          <a:xfrm>
            <a:off x="2901391" y="5391302"/>
            <a:ext cx="836676" cy="181051"/>
          </a:xfrm>
          <a:prstGeom prst="rect">
            <a:avLst/>
          </a:prstGeom>
          <a:noFill/>
          <a:ln/>
        </p:spPr>
        <p:txBody>
          <a:bodyPr wrap="none" lIns="0" tIns="0" rIns="0" bIns="0" rtlCol="0" anchor="ctr"/>
          <a:lstStyle/>
          <a:p>
            <a:pPr algn="l" indent="0" marL="0">
              <a:buNone/>
            </a:pPr>
            <a:r>
              <a:rPr lang="en-US" sz="975" b="1" dirty="0">
                <a:solidFill>
                  <a:srgbClr val="1A1F2C"/>
                </a:solidFill>
                <a:latin typeface="JetBrains Mono" pitchFamily="34" charset="0"/>
                <a:ea typeface="JetBrains Mono" pitchFamily="34" charset="-122"/>
                <a:cs typeface="JetBrains Mono" pitchFamily="34" charset="-120"/>
              </a:rPr>
              <a:t>−55%</a:t>
            </a:r>
            <a:pPr algn="l" indent="0" marL="0">
              <a:buNone/>
            </a:pPr>
            <a:r>
              <a:rPr lang="en-US" sz="975" dirty="0">
                <a:solidFill>
                  <a:srgbClr val="5C5448"/>
                </a:solidFill>
                <a:latin typeface="Noto Sans KR" pitchFamily="34" charset="0"/>
                <a:ea typeface="Noto Sans KR" pitchFamily="34" charset="-122"/>
                <a:cs typeface="Noto Sans KR" pitchFamily="34" charset="-120"/>
              </a:rPr>
              <a:t> · AMI</a:t>
            </a:r>
            <a:endParaRPr lang="en-US" sz="975" dirty="0"/>
          </a:p>
        </p:txBody>
      </p:sp>
      <p:sp>
        <p:nvSpPr>
          <p:cNvPr id="19" name="Text 12"/>
          <p:cNvSpPr txBox="1"/>
          <p:nvPr/>
        </p:nvSpPr>
        <p:spPr>
          <a:xfrm>
            <a:off x="3685946" y="5391302"/>
            <a:ext cx="832104" cy="181051"/>
          </a:xfrm>
          <a:prstGeom prst="rect">
            <a:avLst/>
          </a:prstGeom>
          <a:noFill/>
          <a:ln/>
        </p:spPr>
        <p:txBody>
          <a:bodyPr wrap="none" lIns="0" tIns="0" rIns="0" bIns="0" rtlCol="0" anchor="ctr"/>
          <a:lstStyle/>
          <a:p>
            <a:pPr algn="l" indent="0" marL="0">
              <a:buNone/>
            </a:pPr>
            <a:r>
              <a:rPr lang="en-US" sz="975" b="1" dirty="0">
                <a:solidFill>
                  <a:srgbClr val="1A1F2C"/>
                </a:solidFill>
                <a:latin typeface="JetBrains Mono" pitchFamily="34" charset="0"/>
                <a:ea typeface="JetBrains Mono" pitchFamily="34" charset="-122"/>
                <a:cs typeface="JetBrains Mono" pitchFamily="34" charset="-120"/>
              </a:rPr>
              <a:t>−62%</a:t>
            </a:r>
            <a:pPr algn="l" indent="0" marL="0">
              <a:buNone/>
            </a:pPr>
            <a:r>
              <a:rPr lang="en-US" sz="975" dirty="0">
                <a:solidFill>
                  <a:srgbClr val="5C5448"/>
                </a:solidFill>
                <a:latin typeface="Noto Sans KR" pitchFamily="34" charset="0"/>
                <a:ea typeface="Noto Sans KR" pitchFamily="34" charset="-122"/>
                <a:cs typeface="Noto Sans KR" pitchFamily="34" charset="-120"/>
              </a:rPr>
              <a:t> · ACI</a:t>
            </a:r>
            <a:endParaRPr lang="en-US" sz="975" dirty="0"/>
          </a:p>
        </p:txBody>
      </p:sp>
      <p:sp>
        <p:nvSpPr>
          <p:cNvPr id="20" name="Text 13"/>
          <p:cNvSpPr txBox="1"/>
          <p:nvPr/>
        </p:nvSpPr>
        <p:spPr>
          <a:xfrm>
            <a:off x="6667805" y="3124505"/>
            <a:ext cx="4572000" cy="162763"/>
          </a:xfrm>
          <a:prstGeom prst="rect">
            <a:avLst/>
          </a:prstGeom>
          <a:noFill/>
          <a:ln/>
        </p:spPr>
        <p:txBody>
          <a:bodyPr wrap="none" lIns="0" tIns="0" rIns="0" bIns="0" rtlCol="0" anchor="ctr"/>
          <a:lstStyle/>
          <a:p>
            <a:pPr algn="l" indent="0" marL="0">
              <a:buNone/>
            </a:pPr>
            <a:r>
              <a:rPr lang="en-US" sz="975" b="1" spc="195" kern="0" dirty="0">
                <a:solidFill>
                  <a:srgbClr val="E8762E"/>
                </a:solidFill>
                <a:latin typeface="JetBrains Mono" pitchFamily="34" charset="0"/>
                <a:ea typeface="JetBrains Mono" pitchFamily="34" charset="-122"/>
                <a:cs typeface="JetBrains Mono" pitchFamily="34" charset="-120"/>
              </a:rPr>
              <a:t>FINDING 02</a:t>
            </a:r>
            <a:endParaRPr lang="en-US" sz="975" dirty="0"/>
          </a:p>
        </p:txBody>
      </p:sp>
      <p:sp>
        <p:nvSpPr>
          <p:cNvPr id="21" name="Text 14"/>
          <p:cNvSpPr txBox="1"/>
          <p:nvPr/>
        </p:nvSpPr>
        <p:spPr>
          <a:xfrm>
            <a:off x="6667805" y="3362249"/>
            <a:ext cx="4572000" cy="600761"/>
          </a:xfrm>
          <a:prstGeom prst="rect">
            <a:avLst/>
          </a:prstGeom>
          <a:noFill/>
          <a:ln/>
        </p:spPr>
        <p:txBody>
          <a:bodyPr wrap="square" lIns="0" tIns="0" rIns="0" bIns="0" rtlCol="0" anchor="t"/>
          <a:lstStyle/>
          <a:p>
            <a:pPr algn="l" indent="0" marL="0">
              <a:lnSpc>
                <a:spcPct val="130000"/>
              </a:lnSpc>
              <a:buNone/>
            </a:pPr>
            <a:r>
              <a:rPr lang="en-US" sz="1800" b="1" dirty="0">
                <a:solidFill>
                  <a:srgbClr val="FAF7F0"/>
                </a:solidFill>
                <a:latin typeface="Noto Sans KR" pitchFamily="34" charset="0"/>
                <a:ea typeface="Noto Sans KR" pitchFamily="34" charset="-122"/>
                <a:cs typeface="Noto Sans KR" pitchFamily="34" charset="-120"/>
              </a:rPr>
              <a:t>ACI 단일 spec window</a:t>
            </a:r>
            <a:pPr algn="l" indent="0" marL="0">
              <a:lnSpc>
                <a:spcPct val="130000"/>
              </a:lnSpc>
              <a:buNone/>
            </a:pPr>
            <a:endParaRPr lang="en-US" sz="1800" dirty="0"/>
          </a:p>
          <a:p>
            <a:pPr algn="l" indent="0" marL="0">
              <a:lnSpc>
                <a:spcPct val="130000"/>
              </a:lnSpc>
              <a:buNone/>
            </a:pPr>
            <a:r>
              <a:rPr lang="en-US" sz="1800" b="1" dirty="0">
                <a:solidFill>
                  <a:srgbClr val="FAF7F0"/>
                </a:solidFill>
                <a:latin typeface="Noto Sans KR" pitchFamily="34" charset="0"/>
                <a:ea typeface="Noto Sans KR" pitchFamily="34" charset="-122"/>
                <a:cs typeface="Noto Sans KR" pitchFamily="34" charset="-120"/>
              </a:rPr>
              <a:t>0.32 nm 안에 SADP+SAB 진입</a:t>
            </a:r>
            <a:endParaRPr lang="en-US" sz="1800" dirty="0"/>
          </a:p>
        </p:txBody>
      </p:sp>
      <p:sp>
        <p:nvSpPr>
          <p:cNvPr id="22" name="Text 15"/>
          <p:cNvSpPr txBox="1"/>
          <p:nvPr/>
        </p:nvSpPr>
        <p:spPr>
          <a:xfrm>
            <a:off x="6667805" y="4324198"/>
            <a:ext cx="4572000" cy="743407"/>
          </a:xfrm>
          <a:prstGeom prst="rect">
            <a:avLst/>
          </a:prstGeom>
          <a:noFill/>
          <a:ln/>
        </p:spPr>
        <p:txBody>
          <a:bodyPr wrap="none" lIns="0" tIns="0" rIns="0" bIns="0" rtlCol="0" anchor="ctr"/>
          <a:lstStyle/>
          <a:p>
            <a:pPr algn="l" indent="0" marL="0">
              <a:buNone/>
            </a:pPr>
            <a:r>
              <a:rPr lang="en-US" sz="5850" b="1" dirty="0">
                <a:solidFill>
                  <a:srgbClr val="E8762E"/>
                </a:solidFill>
                <a:latin typeface="JetBrains Mono" pitchFamily="34" charset="0"/>
                <a:ea typeface="JetBrains Mono" pitchFamily="34" charset="-122"/>
                <a:cs typeface="JetBrains Mono" pitchFamily="34" charset="-120"/>
              </a:rPr>
              <a:t>3/3</a:t>
            </a:r>
            <a:endParaRPr lang="en-US" sz="5850" dirty="0"/>
          </a:p>
        </p:txBody>
      </p:sp>
      <p:sp>
        <p:nvSpPr>
          <p:cNvPr id="23" name="Text 16"/>
          <p:cNvSpPr txBox="1"/>
          <p:nvPr/>
        </p:nvSpPr>
        <p:spPr>
          <a:xfrm>
            <a:off x="6667805" y="5124298"/>
            <a:ext cx="4572000" cy="228600"/>
          </a:xfrm>
          <a:prstGeom prst="rect">
            <a:avLst/>
          </a:prstGeom>
          <a:noFill/>
          <a:ln/>
        </p:spPr>
        <p:txBody>
          <a:bodyPr wrap="none" lIns="0" tIns="0" rIns="0" bIns="0" rtlCol="0" anchor="ctr"/>
          <a:lstStyle/>
          <a:p>
            <a:pPr algn="l" indent="0" marL="0">
              <a:buNone/>
            </a:pPr>
            <a:r>
              <a:rPr lang="en-US" sz="1200" dirty="0">
                <a:solidFill>
                  <a:srgbClr val="FAF7F0"/>
                </a:solidFill>
                <a:latin typeface="Noto Sans KR" pitchFamily="34" charset="0"/>
                <a:ea typeface="Noto Sans KR" pitchFamily="34" charset="-122"/>
                <a:cs typeface="Noto Sans KR" pitchFamily="34" charset="-120"/>
              </a:rPr>
              <a:t>W04 · W05 · W06 wafer pass</a:t>
            </a:r>
            <a:endParaRPr lang="en-US" sz="1200" dirty="0"/>
          </a:p>
        </p:txBody>
      </p:sp>
      <p:sp>
        <p:nvSpPr>
          <p:cNvPr id="24" name="Text 17"/>
          <p:cNvSpPr txBox="1"/>
          <p:nvPr/>
        </p:nvSpPr>
        <p:spPr>
          <a:xfrm>
            <a:off x="6667805" y="5373014"/>
            <a:ext cx="4572000" cy="390449"/>
          </a:xfrm>
          <a:prstGeom prst="rect">
            <a:avLst/>
          </a:prstGeom>
          <a:noFill/>
          <a:ln/>
        </p:spPr>
        <p:txBody>
          <a:bodyPr wrap="square" lIns="0" tIns="0" rIns="0" bIns="0" rtlCol="0" anchor="t"/>
          <a:lstStyle/>
          <a:p>
            <a:pPr algn="l" indent="0" marL="0">
              <a:lnSpc>
                <a:spcPts val="1463"/>
              </a:lnSpc>
              <a:buNone/>
            </a:pPr>
            <a:r>
              <a:rPr lang="en-US" sz="975" dirty="0">
                <a:solidFill>
                  <a:srgbClr val="9C9385"/>
                </a:solidFill>
                <a:latin typeface="Noto Sans KR" pitchFamily="34" charset="0"/>
                <a:ea typeface="Noto Sans KR" pitchFamily="34" charset="-122"/>
                <a:cs typeface="Noto Sans KR" pitchFamily="34" charset="-120"/>
              </a:rPr>
              <a:t>range 0.32–0.39 nm · Δ vs target −0.04 to −0.09 nm</a:t>
            </a:r>
            <a:pPr algn="l" indent="0" marL="0">
              <a:lnSpc>
                <a:spcPts val="1463"/>
              </a:lnSpc>
              <a:buNone/>
            </a:pPr>
            <a:endParaRPr lang="en-US" sz="975" dirty="0"/>
          </a:p>
          <a:p>
            <a:pPr algn="l" indent="0" marL="0">
              <a:lnSpc>
                <a:spcPts val="1463"/>
              </a:lnSpc>
              <a:buNone/>
            </a:pPr>
            <a:r>
              <a:rPr lang="en-US" sz="975" dirty="0">
                <a:solidFill>
                  <a:srgbClr val="9C9385"/>
                </a:solidFill>
                <a:latin typeface="Noto Sans KR" pitchFamily="34" charset="0"/>
                <a:ea typeface="Noto Sans KR" pitchFamily="34" charset="-122"/>
                <a:cs typeface="Noto Sans KR" pitchFamily="34" charset="-120"/>
              </a:rPr>
              <a:t>SAQP batch는 동시에 spec window 초과 (+0.14 ~ +0.22 nm)</a:t>
            </a:r>
            <a:endParaRPr lang="en-US" sz="975" dirty="0"/>
          </a:p>
        </p:txBody>
      </p:sp>
      <p:sp>
        <p:nvSpPr>
          <p:cNvPr id="25" name="Text 18"/>
          <p:cNvSpPr txBox="1"/>
          <p:nvPr/>
        </p:nvSpPr>
        <p:spPr>
          <a:xfrm>
            <a:off x="12096598" y="3124505"/>
            <a:ext cx="4953305" cy="162763"/>
          </a:xfrm>
          <a:prstGeom prst="rect">
            <a:avLst/>
          </a:prstGeom>
          <a:noFill/>
          <a:ln/>
        </p:spPr>
        <p:txBody>
          <a:bodyPr wrap="none" lIns="0" tIns="0" rIns="0" bIns="0" rtlCol="0" anchor="ctr"/>
          <a:lstStyle/>
          <a:p>
            <a:pPr algn="l" indent="0" marL="0">
              <a:buNone/>
            </a:pPr>
            <a:r>
              <a:rPr lang="en-US" sz="975" b="1" spc="195" kern="0" dirty="0">
                <a:solidFill>
                  <a:srgbClr val="B8430E"/>
                </a:solidFill>
                <a:latin typeface="JetBrains Mono" pitchFamily="34" charset="0"/>
                <a:ea typeface="JetBrains Mono" pitchFamily="34" charset="-122"/>
                <a:cs typeface="JetBrains Mono" pitchFamily="34" charset="-120"/>
              </a:rPr>
              <a:t>FINDING 03</a:t>
            </a:r>
            <a:endParaRPr lang="en-US" sz="975" dirty="0"/>
          </a:p>
        </p:txBody>
      </p:sp>
      <p:sp>
        <p:nvSpPr>
          <p:cNvPr id="26" name="Text 19"/>
          <p:cNvSpPr txBox="1"/>
          <p:nvPr/>
        </p:nvSpPr>
        <p:spPr>
          <a:xfrm>
            <a:off x="12096598" y="3362249"/>
            <a:ext cx="4953305" cy="305410"/>
          </a:xfrm>
          <a:prstGeom prst="rect">
            <a:avLst/>
          </a:prstGeom>
          <a:noFill/>
          <a:ln/>
        </p:spPr>
        <p:txBody>
          <a:bodyPr wrap="none" lIns="0" tIns="0" rIns="0" bIns="0" rtlCol="0" anchor="ctr"/>
          <a:lstStyle/>
          <a:p>
            <a:pPr algn="l" indent="0" marL="0">
              <a:buNone/>
            </a:pPr>
            <a:r>
              <a:rPr lang="en-US" sz="1800" b="1" dirty="0">
                <a:solidFill>
                  <a:srgbClr val="1A1F2C"/>
                </a:solidFill>
                <a:latin typeface="Noto Sans KR" pitchFamily="34" charset="0"/>
                <a:ea typeface="Noto Sans KR" pitchFamily="34" charset="-122"/>
                <a:cs typeface="Noto Sans KR" pitchFamily="34" charset="-120"/>
              </a:rPr>
              <a:t>전기 응답이 분기 선택을 추가 확인</a:t>
            </a:r>
            <a:endParaRPr lang="en-US" sz="1800" dirty="0"/>
          </a:p>
        </p:txBody>
      </p:sp>
      <p:sp>
        <p:nvSpPr>
          <p:cNvPr id="27" name="Text 20"/>
          <p:cNvSpPr txBox="1"/>
          <p:nvPr/>
        </p:nvSpPr>
        <p:spPr>
          <a:xfrm>
            <a:off x="12096598" y="4324198"/>
            <a:ext cx="724205" cy="400507"/>
          </a:xfrm>
          <a:prstGeom prst="rect">
            <a:avLst/>
          </a:prstGeom>
          <a:noFill/>
          <a:ln/>
        </p:spPr>
        <p:txBody>
          <a:bodyPr wrap="none" lIns="0" tIns="0" rIns="0" bIns="0" rtlCol="0" anchor="ctr"/>
          <a:lstStyle/>
          <a:p>
            <a:pPr algn="l" indent="0" marL="0">
              <a:buNone/>
            </a:pPr>
            <a:r>
              <a:rPr lang="en-US" sz="3150" b="1" dirty="0">
                <a:solidFill>
                  <a:srgbClr val="1A1F2C"/>
                </a:solidFill>
                <a:latin typeface="JetBrains Mono" pitchFamily="34" charset="0"/>
                <a:ea typeface="JetBrains Mono" pitchFamily="34" charset="-122"/>
                <a:cs typeface="JetBrains Mono" pitchFamily="34" charset="-120"/>
              </a:rPr>
              <a:t>−7%</a:t>
            </a:r>
            <a:endParaRPr lang="en-US" sz="3150" dirty="0"/>
          </a:p>
        </p:txBody>
      </p:sp>
      <p:sp>
        <p:nvSpPr>
          <p:cNvPr id="28" name="Text 21"/>
          <p:cNvSpPr txBox="1"/>
          <p:nvPr/>
        </p:nvSpPr>
        <p:spPr>
          <a:xfrm>
            <a:off x="12096598" y="4762195"/>
            <a:ext cx="724205" cy="181051"/>
          </a:xfrm>
          <a:prstGeom prst="rect">
            <a:avLst/>
          </a:prstGeom>
          <a:noFill/>
          <a:ln/>
        </p:spPr>
        <p:txBody>
          <a:bodyPr wrap="none" lIns="0" tIns="0" rIns="0" bIns="0" rtlCol="0" anchor="ctr"/>
          <a:lstStyle/>
          <a:p>
            <a:pPr algn="l" indent="0" marL="0">
              <a:buNone/>
            </a:pPr>
            <a:r>
              <a:rPr lang="en-US" sz="975" dirty="0">
                <a:solidFill>
                  <a:srgbClr val="5C5448"/>
                </a:solidFill>
                <a:latin typeface="Noto Sans KR" pitchFamily="34" charset="0"/>
                <a:ea typeface="Noto Sans KR" pitchFamily="34" charset="-122"/>
                <a:cs typeface="Noto Sans KR" pitchFamily="34" charset="-120"/>
              </a:rPr>
              <a:t>Rs</a:t>
            </a:r>
            <a:endParaRPr lang="en-US" sz="975" dirty="0"/>
          </a:p>
        </p:txBody>
      </p:sp>
      <p:sp>
        <p:nvSpPr>
          <p:cNvPr id="29" name="Text 22"/>
          <p:cNvSpPr txBox="1"/>
          <p:nvPr/>
        </p:nvSpPr>
        <p:spPr>
          <a:xfrm>
            <a:off x="12988138" y="4324198"/>
            <a:ext cx="962863" cy="400507"/>
          </a:xfrm>
          <a:prstGeom prst="rect">
            <a:avLst/>
          </a:prstGeom>
          <a:noFill/>
          <a:ln/>
        </p:spPr>
        <p:txBody>
          <a:bodyPr wrap="none" lIns="0" tIns="0" rIns="0" bIns="0" rtlCol="0" anchor="ctr"/>
          <a:lstStyle/>
          <a:p>
            <a:pPr algn="l" indent="0" marL="0">
              <a:buNone/>
            </a:pPr>
            <a:r>
              <a:rPr lang="en-US" sz="3150" b="1" dirty="0">
                <a:solidFill>
                  <a:srgbClr val="1A1F2C"/>
                </a:solidFill>
                <a:latin typeface="JetBrains Mono" pitchFamily="34" charset="0"/>
                <a:ea typeface="JetBrains Mono" pitchFamily="34" charset="-122"/>
                <a:cs typeface="JetBrains Mono" pitchFamily="34" charset="-120"/>
              </a:rPr>
              <a:t>−47%</a:t>
            </a:r>
            <a:endParaRPr lang="en-US" sz="3150" dirty="0"/>
          </a:p>
        </p:txBody>
      </p:sp>
      <p:sp>
        <p:nvSpPr>
          <p:cNvPr id="30" name="Text 23"/>
          <p:cNvSpPr txBox="1"/>
          <p:nvPr/>
        </p:nvSpPr>
        <p:spPr>
          <a:xfrm>
            <a:off x="12988138" y="4762195"/>
            <a:ext cx="962863" cy="181051"/>
          </a:xfrm>
          <a:prstGeom prst="rect">
            <a:avLst/>
          </a:prstGeom>
          <a:noFill/>
          <a:ln/>
        </p:spPr>
        <p:txBody>
          <a:bodyPr wrap="none" lIns="0" tIns="0" rIns="0" bIns="0" rtlCol="0" anchor="ctr"/>
          <a:lstStyle/>
          <a:p>
            <a:pPr algn="l" indent="0" marL="0">
              <a:buNone/>
            </a:pPr>
            <a:r>
              <a:rPr lang="en-US" sz="975" dirty="0">
                <a:solidFill>
                  <a:srgbClr val="5C5448"/>
                </a:solidFill>
                <a:latin typeface="Noto Sans KR" pitchFamily="34" charset="0"/>
                <a:ea typeface="Noto Sans KR" pitchFamily="34" charset="-122"/>
                <a:cs typeface="Noto Sans KR" pitchFamily="34" charset="-120"/>
              </a:rPr>
              <a:t>Jleak</a:t>
            </a:r>
            <a:endParaRPr lang="en-US" sz="975" dirty="0"/>
          </a:p>
        </p:txBody>
      </p:sp>
      <p:sp>
        <p:nvSpPr>
          <p:cNvPr id="31" name="Text 24"/>
          <p:cNvSpPr txBox="1"/>
          <p:nvPr/>
        </p:nvSpPr>
        <p:spPr>
          <a:xfrm>
            <a:off x="14120165" y="4324198"/>
            <a:ext cx="1209751" cy="400507"/>
          </a:xfrm>
          <a:prstGeom prst="rect">
            <a:avLst/>
          </a:prstGeom>
          <a:noFill/>
          <a:ln/>
        </p:spPr>
        <p:txBody>
          <a:bodyPr wrap="none" lIns="0" tIns="0" rIns="0" bIns="0" rtlCol="0" anchor="ctr"/>
          <a:lstStyle/>
          <a:p>
            <a:pPr algn="l" indent="0" marL="0">
              <a:buNone/>
            </a:pPr>
            <a:r>
              <a:rPr lang="en-US" sz="3150" b="1" dirty="0">
                <a:solidFill>
                  <a:srgbClr val="1A1F2C"/>
                </a:solidFill>
                <a:latin typeface="JetBrains Mono" pitchFamily="34" charset="0"/>
                <a:ea typeface="JetBrains Mono" pitchFamily="34" charset="-122"/>
                <a:cs typeface="JetBrains Mono" pitchFamily="34" charset="-120"/>
              </a:rPr>
              <a:t>+8 pp</a:t>
            </a:r>
            <a:endParaRPr lang="en-US" sz="3150" dirty="0"/>
          </a:p>
        </p:txBody>
      </p:sp>
      <p:sp>
        <p:nvSpPr>
          <p:cNvPr id="32" name="Text 25"/>
          <p:cNvSpPr txBox="1"/>
          <p:nvPr/>
        </p:nvSpPr>
        <p:spPr>
          <a:xfrm>
            <a:off x="14120165" y="4762195"/>
            <a:ext cx="1209751" cy="181051"/>
          </a:xfrm>
          <a:prstGeom prst="rect">
            <a:avLst/>
          </a:prstGeom>
          <a:noFill/>
          <a:ln/>
        </p:spPr>
        <p:txBody>
          <a:bodyPr wrap="none" lIns="0" tIns="0" rIns="0" bIns="0" rtlCol="0" anchor="ctr"/>
          <a:lstStyle/>
          <a:p>
            <a:pPr algn="l" indent="0" marL="0">
              <a:buNone/>
            </a:pPr>
            <a:r>
              <a:rPr lang="en-US" sz="975" dirty="0">
                <a:solidFill>
                  <a:srgbClr val="5C5448"/>
                </a:solidFill>
                <a:latin typeface="Noto Sans KR" pitchFamily="34" charset="0"/>
                <a:ea typeface="Noto Sans KR" pitchFamily="34" charset="-122"/>
                <a:cs typeface="Noto Sans KR" pitchFamily="34" charset="-120"/>
              </a:rPr>
              <a:t>chain yield</a:t>
            </a:r>
            <a:endParaRPr lang="en-US" sz="975" dirty="0"/>
          </a:p>
        </p:txBody>
      </p:sp>
      <p:sp>
        <p:nvSpPr>
          <p:cNvPr id="33" name="Text 26"/>
          <p:cNvSpPr txBox="1"/>
          <p:nvPr/>
        </p:nvSpPr>
        <p:spPr>
          <a:xfrm>
            <a:off x="12096598" y="5391302"/>
            <a:ext cx="4953305" cy="191110"/>
          </a:xfrm>
          <a:prstGeom prst="rect">
            <a:avLst/>
          </a:prstGeom>
          <a:noFill/>
          <a:ln/>
        </p:spPr>
        <p:txBody>
          <a:bodyPr wrap="none" lIns="0" tIns="0" rIns="0" bIns="0" rtlCol="0" anchor="ctr"/>
          <a:lstStyle/>
          <a:p>
            <a:pPr algn="l" indent="0" marL="0">
              <a:buNone/>
            </a:pPr>
            <a:r>
              <a:rPr lang="en-US" sz="975" dirty="0">
                <a:solidFill>
                  <a:srgbClr val="5C5448"/>
                </a:solidFill>
                <a:latin typeface="Noto Sans KR" pitchFamily="34" charset="0"/>
                <a:ea typeface="Noto Sans KR" pitchFamily="34" charset="-122"/>
                <a:cs typeface="Noto Sans KR" pitchFamily="34" charset="-120"/>
              </a:rPr>
              <a:t>BD 전압 +9% 함께 상승 · dummy lot 상의 한 batch-pair 평균 비교</a:t>
            </a:r>
            <a:endParaRPr lang="en-US" sz="975" dirty="0"/>
          </a:p>
        </p:txBody>
      </p:sp>
      <p:sp>
        <p:nvSpPr>
          <p:cNvPr id="34" name="Text 27"/>
          <p:cNvSpPr txBox="1"/>
          <p:nvPr/>
        </p:nvSpPr>
        <p:spPr>
          <a:xfrm>
            <a:off x="952805" y="6476695"/>
            <a:ext cx="16383305" cy="171907"/>
          </a:xfrm>
          <a:prstGeom prst="rect">
            <a:avLst/>
          </a:prstGeom>
          <a:noFill/>
          <a:ln/>
        </p:spPr>
        <p:txBody>
          <a:bodyPr wrap="none" lIns="0" tIns="0" rIns="0" bIns="0" rtlCol="0" anchor="ctr"/>
          <a:lstStyle/>
          <a:p>
            <a:pPr algn="l" indent="0" marL="0">
              <a:buNone/>
            </a:pPr>
            <a:r>
              <a:rPr lang="en-US" sz="1050" b="1" spc="210" kern="0" dirty="0">
                <a:solidFill>
                  <a:srgbClr val="B8430E"/>
                </a:solidFill>
                <a:latin typeface="JetBrains Mono" pitchFamily="34" charset="0"/>
                <a:ea typeface="JetBrains Mono" pitchFamily="34" charset="-122"/>
                <a:cs typeface="JetBrains Mono" pitchFamily="34" charset="-120"/>
              </a:rPr>
              <a:t>RECOMMENDED NEXT-STEP TRANCHES</a:t>
            </a:r>
            <a:endParaRPr lang="en-US" sz="1050" dirty="0"/>
          </a:p>
        </p:txBody>
      </p:sp>
      <p:sp>
        <p:nvSpPr>
          <p:cNvPr id="35" name="Text 28"/>
          <p:cNvSpPr txBox="1"/>
          <p:nvPr/>
        </p:nvSpPr>
        <p:spPr>
          <a:xfrm>
            <a:off x="952805" y="6687007"/>
            <a:ext cx="16383305" cy="247802"/>
          </a:xfrm>
          <a:prstGeom prst="rect">
            <a:avLst/>
          </a:prstGeom>
          <a:noFill/>
          <a:ln/>
        </p:spPr>
        <p:txBody>
          <a:bodyPr wrap="none" lIns="0" tIns="0" rIns="0" bIns="0" rtlCol="0" anchor="ctr"/>
          <a:lstStyle/>
          <a:p>
            <a:pPr algn="l" indent="0" marL="0">
              <a:buNone/>
            </a:pPr>
            <a:r>
              <a:rPr lang="en-US" sz="1350" b="1" dirty="0">
                <a:solidFill>
                  <a:srgbClr val="1A1F2C"/>
                </a:solidFill>
                <a:latin typeface="Noto Sans KR" pitchFamily="34" charset="0"/>
                <a:ea typeface="Noto Sans KR" pitchFamily="34" charset="-122"/>
                <a:cs typeface="Noto Sans KR" pitchFamily="34" charset="-120"/>
              </a:rPr>
              <a:t>의사결정 follow-up — 다음 3 단계</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52805" y="6953098"/>
          <a:ext cx="16383305" cy="2286000"/>
        </p:xfrm>
        <a:graphic>
          <a:graphicData uri="http://schemas.openxmlformats.org/drawingml/2006/table">
            <a:tbl>
              <a:tblPr/>
              <a:tblGrid>
                <a:gridCol w="761695"/>
                <a:gridCol w="2667305"/>
                <a:gridCol w="5333695"/>
                <a:gridCol w="3619195"/>
                <a:gridCol w="4000500"/>
              </a:tblGrid>
              <a:tr h="571500">
                <a:tc>
                  <a:txBody>
                    <a:bodyPr/>
                    <a:lstStyle/>
                    <a:p>
                      <a:pPr algn="ctr" indent="0" marL="0">
                        <a:buNone/>
                      </a:pPr>
                      <a:r>
                        <a:rPr lang="en-US" sz="1050" b="1" dirty="0">
                          <a:solidFill>
                            <a:srgbClr val="E8762E"/>
                          </a:solidFill>
                          <a:latin typeface="Noto Sans KR" pitchFamily="34" charset="0"/>
                          <a:ea typeface="Noto Sans KR" pitchFamily="34" charset="-122"/>
                          <a:cs typeface="Noto Sans KR" pitchFamily="34" charset="-120"/>
                        </a:rPr>
                        <a:t>STEP</a:t>
                      </a:r>
                      <a:endParaRPr lang="en-US" sz="1050" dirty="0">
                        <a:latin typeface="Noto Sans KR" charset="0"/>
                        <a:ea typeface="Noto Sans KR" charset="0"/>
                        <a:cs typeface="Noto Sans KR" charset="0"/>
                      </a:endParaRPr>
                    </a:p>
                  </a:txBody>
                  <a:tcPr marL="91440" marR="91440" marT="45720" marB="4572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A1F2C"/>
                    </a:solidFill>
                  </a:tcPr>
                </a:tc>
                <a:tc>
                  <a:txBody>
                    <a:bodyPr/>
                    <a:lstStyle/>
                    <a:p>
                      <a:pPr algn="l" indent="0" marL="0">
                        <a:buNone/>
                      </a:pPr>
                      <a:r>
                        <a:rPr lang="en-US" sz="1050" b="1" dirty="0">
                          <a:solidFill>
                            <a:srgbClr val="E8762E"/>
                          </a:solidFill>
                          <a:latin typeface="Noto Sans KR" pitchFamily="34" charset="0"/>
                          <a:ea typeface="Noto Sans KR" pitchFamily="34" charset="-122"/>
                          <a:cs typeface="Noto Sans KR" pitchFamily="34" charset="-120"/>
                        </a:rPr>
                        <a:t>SCOPE</a:t>
                      </a:r>
                      <a:endParaRPr lang="en-US" sz="10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A1F2C"/>
                    </a:solidFill>
                  </a:tcPr>
                </a:tc>
                <a:tc>
                  <a:txBody>
                    <a:bodyPr/>
                    <a:lstStyle/>
                    <a:p>
                      <a:pPr algn="l" indent="0" marL="0">
                        <a:buNone/>
                      </a:pPr>
                      <a:r>
                        <a:rPr lang="en-US" sz="1050" b="1" dirty="0">
                          <a:solidFill>
                            <a:srgbClr val="E8762E"/>
                          </a:solidFill>
                          <a:latin typeface="Noto Sans KR" pitchFamily="34" charset="0"/>
                          <a:ea typeface="Noto Sans KR" pitchFamily="34" charset="-122"/>
                          <a:cs typeface="Noto Sans KR" pitchFamily="34" charset="-120"/>
                        </a:rPr>
                        <a:t>WHAT TO RUN</a:t>
                      </a:r>
                      <a:endParaRPr lang="en-US" sz="10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A1F2C"/>
                    </a:solidFill>
                  </a:tcPr>
                </a:tc>
                <a:tc>
                  <a:txBody>
                    <a:bodyPr/>
                    <a:lstStyle/>
                    <a:p>
                      <a:pPr algn="l" indent="0" marL="0">
                        <a:buNone/>
                      </a:pPr>
                      <a:r>
                        <a:rPr lang="en-US" sz="1050" b="1" dirty="0">
                          <a:solidFill>
                            <a:srgbClr val="E8762E"/>
                          </a:solidFill>
                          <a:latin typeface="Noto Sans KR" pitchFamily="34" charset="0"/>
                          <a:ea typeface="Noto Sans KR" pitchFamily="34" charset="-122"/>
                          <a:cs typeface="Noto Sans KR" pitchFamily="34" charset="-120"/>
                        </a:rPr>
                        <a:t>METRIC</a:t>
                      </a:r>
                      <a:endParaRPr lang="en-US" sz="10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A1F2C"/>
                    </a:solidFill>
                  </a:tcPr>
                </a:tc>
                <a:tc>
                  <a:txBody>
                    <a:bodyPr/>
                    <a:lstStyle/>
                    <a:p>
                      <a:pPr algn="l" indent="0" marL="0">
                        <a:buNone/>
                      </a:pPr>
                      <a:r>
                        <a:rPr lang="en-US" sz="1050" b="1" dirty="0">
                          <a:solidFill>
                            <a:srgbClr val="E8762E"/>
                          </a:solidFill>
                          <a:latin typeface="Noto Sans KR" pitchFamily="34" charset="0"/>
                          <a:ea typeface="Noto Sans KR" pitchFamily="34" charset="-122"/>
                          <a:cs typeface="Noto Sans KR" pitchFamily="34" charset="-120"/>
                        </a:rPr>
                        <a:t>TARGET</a:t>
                      </a:r>
                      <a:endParaRPr lang="en-US" sz="10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A1F2C"/>
                    </a:solidFill>
                  </a:tcPr>
                </a:tc>
              </a:tr>
              <a:tr h="571500">
                <a:tc>
                  <a:txBody>
                    <a:bodyPr/>
                    <a:lstStyle/>
                    <a:p>
                      <a:pPr algn="ctr" indent="0" marL="0">
                        <a:buNone/>
                      </a:pPr>
                      <a:r>
                        <a:rPr lang="en-US" sz="1800" b="1" dirty="0">
                          <a:solidFill>
                            <a:srgbClr val="E8762E"/>
                          </a:solidFill>
                          <a:latin typeface="JetBrains Mono" pitchFamily="34" charset="0"/>
                          <a:ea typeface="JetBrains Mono" pitchFamily="34" charset="-122"/>
                          <a:cs typeface="JetBrains Mono" pitchFamily="34" charset="-120"/>
                        </a:rPr>
                        <a:t>T1</a:t>
                      </a:r>
                      <a:endParaRPr lang="en-US" sz="1800" dirty="0">
                        <a:latin typeface="JetBrains Mono" charset="0"/>
                        <a:ea typeface="JetBrains Mono" charset="0"/>
                        <a:cs typeface="JetBrains Mono" charset="0"/>
                      </a:endParaRPr>
                    </a:p>
                  </a:txBody>
                  <a:tcPr marL="91440" marR="91440" marT="45720" marB="4572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c>
                  <a:txBody>
                    <a:bodyPr/>
                    <a:lstStyle/>
                    <a:p>
                      <a:pPr indent="0" marL="0">
                        <a:buNone/>
                      </a:pPr>
                      <a:r>
                        <a:rPr lang="en-US" sz="1350" b="1" dirty="0">
                          <a:solidFill>
                            <a:srgbClr val="1A1F2C"/>
                          </a:solidFill>
                          <a:latin typeface="Noto Sans KR" pitchFamily="34" charset="0"/>
                          <a:ea typeface="Noto Sans KR" pitchFamily="34" charset="-122"/>
                          <a:cs typeface="Noto Sans KR" pitchFamily="34" charset="-120"/>
                        </a:rPr>
                        <a:t>cut mask split 재현성</a:t>
                      </a:r>
                      <a:endParaRPr lang="en-US" sz="13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c>
                  <a:txBody>
                    <a:bodyPr/>
                    <a:lstStyle/>
                    <a:p>
                      <a:pPr indent="0" marL="0">
                        <a:buNone/>
                      </a:pPr>
                      <a:r>
                        <a:rPr lang="en-US" sz="1350" dirty="0">
                          <a:solidFill>
                            <a:srgbClr val="5C5448"/>
                          </a:solidFill>
                          <a:latin typeface="Noto Sans KR" pitchFamily="34" charset="0"/>
                          <a:ea typeface="Noto Sans KR" pitchFamily="34" charset="-122"/>
                          <a:cs typeface="Noto Sans KR" pitchFamily="34" charset="-120"/>
                        </a:rPr>
                        <a:t>SADP+SAB lot 추가 6 wafer · edge 배치 보강</a:t>
                      </a:r>
                      <a:endParaRPr lang="en-US" sz="13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c>
                  <a:txBody>
                    <a:bodyPr/>
                    <a:lstStyle/>
                    <a:p>
                      <a:pPr indent="0" marL="0">
                        <a:buNone/>
                      </a:pPr>
                      <a:r>
                        <a:rPr lang="en-US" sz="1350" dirty="0">
                          <a:solidFill>
                            <a:srgbClr val="5C5448"/>
                          </a:solidFill>
                          <a:latin typeface="Noto Sans KR" pitchFamily="34" charset="0"/>
                          <a:ea typeface="Noto Sans KR" pitchFamily="34" charset="-122"/>
                          <a:cs typeface="Noto Sans KR" pitchFamily="34" charset="-120"/>
                        </a:rPr>
                        <a:t>Δ vs 8.9 nm · 3σ</a:t>
                      </a:r>
                      <a:endParaRPr lang="en-US" sz="13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c>
                  <a:txBody>
                    <a:bodyPr/>
                    <a:lstStyle/>
                    <a:p>
                      <a:pPr indent="0" marL="0">
                        <a:buNone/>
                      </a:pPr>
                      <a:r>
                        <a:rPr lang="en-US" sz="1350" b="1" dirty="0">
                          <a:solidFill>
                            <a:srgbClr val="1A1F2C"/>
                          </a:solidFill>
                          <a:latin typeface="JetBrains Mono" pitchFamily="34" charset="0"/>
                          <a:ea typeface="JetBrains Mono" pitchFamily="34" charset="-122"/>
                          <a:cs typeface="JetBrains Mono" pitchFamily="34" charset="-120"/>
                        </a:rPr>
                        <a:t>Δ ≤ 0.10 nm · 3σ ≤ 0.15</a:t>
                      </a:r>
                      <a:endParaRPr lang="en-US" sz="1350" dirty="0">
                        <a:latin typeface="JetBrains Mono" charset="0"/>
                        <a:ea typeface="JetBrains Mono" charset="0"/>
                        <a:cs typeface="JetBrains Mono"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r>
              <a:tr h="571500">
                <a:tc>
                  <a:txBody>
                    <a:bodyPr/>
                    <a:lstStyle/>
                    <a:p>
                      <a:pPr algn="ctr" indent="0" marL="0">
                        <a:buNone/>
                      </a:pPr>
                      <a:r>
                        <a:rPr lang="en-US" sz="1800" b="1" dirty="0">
                          <a:solidFill>
                            <a:srgbClr val="E8762E"/>
                          </a:solidFill>
                          <a:latin typeface="JetBrains Mono" pitchFamily="34" charset="0"/>
                          <a:ea typeface="JetBrains Mono" pitchFamily="34" charset="-122"/>
                          <a:cs typeface="JetBrains Mono" pitchFamily="34" charset="-120"/>
                        </a:rPr>
                        <a:t>T2</a:t>
                      </a:r>
                      <a:endParaRPr lang="en-US" sz="1800" dirty="0">
                        <a:latin typeface="JetBrains Mono" charset="0"/>
                        <a:ea typeface="JetBrains Mono" charset="0"/>
                        <a:cs typeface="JetBrains Mono" charset="0"/>
                      </a:endParaRPr>
                    </a:p>
                  </a:txBody>
                  <a:tcPr marL="91440" marR="91440" marT="45720" marB="4572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ECDC"/>
                    </a:solidFill>
                  </a:tcPr>
                </a:tc>
                <a:tc>
                  <a:txBody>
                    <a:bodyPr/>
                    <a:lstStyle/>
                    <a:p>
                      <a:pPr indent="0" marL="0">
                        <a:buNone/>
                      </a:pPr>
                      <a:r>
                        <a:rPr lang="en-US" sz="1350" b="1" dirty="0">
                          <a:solidFill>
                            <a:srgbClr val="1A1F2C"/>
                          </a:solidFill>
                          <a:latin typeface="Noto Sans KR" pitchFamily="34" charset="0"/>
                          <a:ea typeface="Noto Sans KR" pitchFamily="34" charset="-122"/>
                          <a:cs typeface="Noto Sans KR" pitchFamily="34" charset="-120"/>
                        </a:rPr>
                        <a:t>M2 layer 분기 검증</a:t>
                      </a:r>
                      <a:endParaRPr lang="en-US" sz="13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ECDC"/>
                    </a:solidFill>
                  </a:tcPr>
                </a:tc>
                <a:tc>
                  <a:txBody>
                    <a:bodyPr/>
                    <a:lstStyle/>
                    <a:p>
                      <a:pPr indent="0" marL="0">
                        <a:buNone/>
                      </a:pPr>
                      <a:r>
                        <a:rPr lang="en-US" sz="1350" dirty="0">
                          <a:solidFill>
                            <a:srgbClr val="5C5448"/>
                          </a:solidFill>
                          <a:latin typeface="Noto Sans KR" pitchFamily="34" charset="0"/>
                          <a:ea typeface="Noto Sans KR" pitchFamily="34" charset="-122"/>
                          <a:cs typeface="Noto Sans KR" pitchFamily="34" charset="-120"/>
                        </a:rPr>
                        <a:t>동일 mask set으로 M2 평가 segment 진행</a:t>
                      </a:r>
                      <a:endParaRPr lang="en-US" sz="13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ECDC"/>
                    </a:solidFill>
                  </a:tcPr>
                </a:tc>
                <a:tc>
                  <a:txBody>
                    <a:bodyPr/>
                    <a:lstStyle/>
                    <a:p>
                      <a:pPr indent="0" marL="0">
                        <a:buNone/>
                      </a:pPr>
                      <a:r>
                        <a:rPr lang="en-US" sz="1350" dirty="0">
                          <a:solidFill>
                            <a:srgbClr val="5C5448"/>
                          </a:solidFill>
                          <a:latin typeface="Noto Sans KR" pitchFamily="34" charset="0"/>
                          <a:ea typeface="Noto Sans KR" pitchFamily="34" charset="-122"/>
                          <a:cs typeface="Noto Sans KR" pitchFamily="34" charset="-120"/>
                        </a:rPr>
                        <a:t>AASI / AMI · 양 batch 비교</a:t>
                      </a:r>
                      <a:endParaRPr lang="en-US" sz="13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ECDC"/>
                    </a:solidFill>
                  </a:tcPr>
                </a:tc>
                <a:tc>
                  <a:txBody>
                    <a:bodyPr/>
                    <a:lstStyle/>
                    <a:p>
                      <a:pPr indent="0" marL="0">
                        <a:buNone/>
                      </a:pPr>
                      <a:r>
                        <a:rPr lang="en-US" sz="1350" b="1" dirty="0">
                          <a:solidFill>
                            <a:srgbClr val="1A1F2C"/>
                          </a:solidFill>
                          <a:latin typeface="JetBrains Mono" pitchFamily="34" charset="0"/>
                          <a:ea typeface="JetBrains Mono" pitchFamily="34" charset="-122"/>
                          <a:cs typeface="JetBrains Mono" pitchFamily="34" charset="-120"/>
                        </a:rPr>
                        <a:t>3σ gap &gt; 30% 유지</a:t>
                      </a:r>
                      <a:endParaRPr lang="en-US" sz="1350" dirty="0">
                        <a:latin typeface="JetBrains Mono" charset="0"/>
                        <a:ea typeface="JetBrains Mono" charset="0"/>
                        <a:cs typeface="JetBrains Mono"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ECDC"/>
                    </a:solidFill>
                  </a:tcPr>
                </a:tc>
              </a:tr>
              <a:tr h="571500">
                <a:tc>
                  <a:txBody>
                    <a:bodyPr/>
                    <a:lstStyle/>
                    <a:p>
                      <a:pPr algn="ctr" indent="0" marL="0">
                        <a:buNone/>
                      </a:pPr>
                      <a:r>
                        <a:rPr lang="en-US" sz="1800" b="1" dirty="0">
                          <a:solidFill>
                            <a:srgbClr val="E8762E"/>
                          </a:solidFill>
                          <a:latin typeface="JetBrains Mono" pitchFamily="34" charset="0"/>
                          <a:ea typeface="JetBrains Mono" pitchFamily="34" charset="-122"/>
                          <a:cs typeface="JetBrains Mono" pitchFamily="34" charset="-120"/>
                        </a:rPr>
                        <a:t>T3</a:t>
                      </a:r>
                      <a:endParaRPr lang="en-US" sz="1800" dirty="0">
                        <a:latin typeface="JetBrains Mono" charset="0"/>
                        <a:ea typeface="JetBrains Mono" charset="0"/>
                        <a:cs typeface="JetBrains Mono" charset="0"/>
                      </a:endParaRPr>
                    </a:p>
                  </a:txBody>
                  <a:tcPr marL="91440" marR="91440" marT="45720" marB="4572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c>
                  <a:txBody>
                    <a:bodyPr/>
                    <a:lstStyle/>
                    <a:p>
                      <a:pPr indent="0" marL="0">
                        <a:buNone/>
                      </a:pPr>
                      <a:r>
                        <a:rPr lang="en-US" sz="1350" b="1" dirty="0">
                          <a:solidFill>
                            <a:srgbClr val="1A1F2C"/>
                          </a:solidFill>
                          <a:latin typeface="Noto Sans KR" pitchFamily="34" charset="0"/>
                          <a:ea typeface="Noto Sans KR" pitchFamily="34" charset="-122"/>
                          <a:cs typeface="Noto Sans KR" pitchFamily="34" charset="-120"/>
                        </a:rPr>
                        <a:t>chain yield 정량화</a:t>
                      </a:r>
                      <a:endParaRPr lang="en-US" sz="13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c>
                  <a:txBody>
                    <a:bodyPr/>
                    <a:lstStyle/>
                    <a:p>
                      <a:pPr indent="0" marL="0">
                        <a:buNone/>
                      </a:pPr>
                      <a:r>
                        <a:rPr lang="en-US" sz="1350" dirty="0">
                          <a:solidFill>
                            <a:srgbClr val="5C5448"/>
                          </a:solidFill>
                          <a:latin typeface="Noto Sans KR" pitchFamily="34" charset="0"/>
                          <a:ea typeface="Noto Sans KR" pitchFamily="34" charset="-122"/>
                          <a:cs typeface="Noto Sans KR" pitchFamily="34" charset="-120"/>
                        </a:rPr>
                        <a:t>V0 체인 길이별 + via chain 별도 DOE</a:t>
                      </a:r>
                      <a:endParaRPr lang="en-US" sz="13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c>
                  <a:txBody>
                    <a:bodyPr/>
                    <a:lstStyle/>
                    <a:p>
                      <a:pPr indent="0" marL="0">
                        <a:buNone/>
                      </a:pPr>
                      <a:r>
                        <a:rPr lang="en-US" sz="1350" dirty="0">
                          <a:solidFill>
                            <a:srgbClr val="5C5448"/>
                          </a:solidFill>
                          <a:latin typeface="Noto Sans KR" pitchFamily="34" charset="0"/>
                          <a:ea typeface="Noto Sans KR" pitchFamily="34" charset="-122"/>
                          <a:cs typeface="Noto Sans KR" pitchFamily="34" charset="-120"/>
                        </a:rPr>
                        <a:t>chain 수율 · 시간 0/read</a:t>
                      </a:r>
                      <a:endParaRPr lang="en-US" sz="1350" dirty="0">
                        <a:latin typeface="Noto Sans KR" charset="0"/>
                        <a:ea typeface="Noto Sans KR" charset="0"/>
                        <a:cs typeface="Noto Sans KR"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c>
                  <a:txBody>
                    <a:bodyPr/>
                    <a:lstStyle/>
                    <a:p>
                      <a:pPr indent="0" marL="0">
                        <a:buNone/>
                      </a:pPr>
                      <a:r>
                        <a:rPr lang="en-US" sz="1350" b="1" dirty="0">
                          <a:solidFill>
                            <a:srgbClr val="1A1F2C"/>
                          </a:solidFill>
                          <a:latin typeface="JetBrains Mono" pitchFamily="34" charset="0"/>
                          <a:ea typeface="JetBrains Mono" pitchFamily="34" charset="-122"/>
                          <a:cs typeface="JetBrains Mono" pitchFamily="34" charset="-120"/>
                        </a:rPr>
                        <a:t>yield ≥ 96% at 1M cyc</a:t>
                      </a:r>
                      <a:endParaRPr lang="en-US" sz="1350" dirty="0">
                        <a:latin typeface="JetBrains Mono" charset="0"/>
                        <a:ea typeface="JetBrains Mono" charset="0"/>
                        <a:cs typeface="JetBrains Mono" charset="0"/>
                      </a:endParaRPr>
                    </a:p>
                  </a:txBody>
                  <a:tcPr marL="152705" marR="0" marT="0" marB="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F7EF"/>
                    </a:solidFill>
                  </a:tcPr>
                </a:tc>
              </a:tr>
            </a:tbl>
          </a:graphicData>
        </a:graphic>
      </p:graphicFrame>
      <p:sp>
        <p:nvSpPr>
          <p:cNvPr id="37" name="Text 29"/>
          <p:cNvSpPr txBox="1"/>
          <p:nvPr/>
        </p:nvSpPr>
        <p:spPr>
          <a:xfrm>
            <a:off x="952805" y="9696298"/>
            <a:ext cx="16383305" cy="210312"/>
          </a:xfrm>
          <a:prstGeom prst="rect">
            <a:avLst/>
          </a:prstGeom>
          <a:noFill/>
          <a:ln/>
        </p:spPr>
        <p:txBody>
          <a:bodyPr wrap="none" lIns="0" tIns="0" rIns="0" bIns="0" rtlCol="0" anchor="ctr"/>
          <a:lstStyle/>
          <a:p>
            <a:pPr algn="l" indent="0" marL="0">
              <a:buNone/>
            </a:pPr>
            <a:r>
              <a:rPr lang="en-US" sz="1125" b="1" spc="56" kern="0" dirty="0">
                <a:solidFill>
                  <a:srgbClr val="6B6358"/>
                </a:solidFill>
                <a:latin typeface="JetBrains Mono" pitchFamily="34" charset="0"/>
                <a:ea typeface="JetBrains Mono" pitchFamily="34" charset="-122"/>
                <a:cs typeface="JetBrains Mono" pitchFamily="34" charset="-120"/>
              </a:rPr>
              <a:t>※ 내부 테스트용 더미(가상) 데이터</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2026-10-04T07:28:38Z</dcterms:created>
  <dcterms:modified xsi:type="dcterms:W3CDTF">2026-10-04T07:28:38Z</dcterms:modified>
</cp:coreProperties>
</file>