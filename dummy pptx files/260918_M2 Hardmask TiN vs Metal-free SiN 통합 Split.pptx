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1페이지입니다. 본 보고서는 M2 레이어에서 두 가지 hardmask 통합안을 비교하는 더미 평가 보고서입니다.
Split A는 hardmask TiN 4매, Split B는 metal-free SiN 4매로 총 8매 wafer를 사용했습니다.
평가 메트릭은 AASI, ASEI, AMI, ACI 4종 CD 항목과 line Rs, via Rc, leakage, yield 전기 항목입니다.
모든 데이터는 내부 테스트용 가상이므로 실제 lot 결과를 대표하지 않습니다. 데이터 변동을 한눈에 보기 위해 8 wafer 표기는 모두 동일 형식으로 통일했습니다.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2페이지 Lot 정보입니다. Lot ID는 DUMMY-M2-S8로 가상이며, 8매 wafer로 평가를 진행했습니다.
Split A는 W01부터 W04까지 4매가 hardmask TiN을 사용했고, Split B는 W05부터 W08까지 4매가 metal-free SiN 통합안입니다.
평가 단계는 AA litho부터 trench etch, hardmask strip, barrier/seed, Cu plating, CMP까지 동일하게 진행했고, 마지막에 line R, via R 같은 전기 측정과 leak, yield를 확인했습니다.
측정 SEM은 wafer당 25 sites, CVD/PVD chamber 등 모든 도구 명칭은 dummy입니다. 실제 lot 데이터로 혼동하지 마세요.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3페이지 SEM 단면 비교입니다. 좌측 두 카드는 split A와 split B의 단면 예시입니다.
실제 측정은 dummy 데이터이며, 이미지는 문헌 reference 컷입니다. 두 단면 모두 Cu dual damascene 형태를 보이지만 의도적으로 hardmask의 유무가 차이점입니다.
Split A는 TiN hardmask가 안정적으로 잔류해 후속 etch baseline을 유지하고, split B는 metal-free로 SiN 단일 층입니다.
Dummy 데이터이므로 정량 비교는 다음 페이지 CD 표를 참조해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4페이지 TEM 단면 비교입니다.
좌측 카드는 hardmask TiN이 잔류하는 구조의 STEM 단면, 우측 카드는 barrier diffusion 연구에서 가져온 wide-shot 단면으로 dummy 이미지와 함께 feature 위치를 표기했습니다.
두 split 모두 동일 Ta-TaN barrier와 Cu gap-fill 형태를 보이지만, dummy 데이터이므로 절대 두께 수치는 신뢰하지 마세요.
다음 슬라이드 4종 CD 수치와 비교해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5페이지 CD 변동 표입니다. 8 wafer × 4 metric을 한 표에 담았고, 우측에는 split별 평균 Δ 패널과 tolerance 안내 패널을 배치했습니다.
Split A 4매는 hardmask TiN이고, 모두 tolerance 안에 들어왔습니다. Split B 4매는 metal-free SiN으로 W05와 W07의 AASI, AMI 지표가 caution 영역에 걸립니다.
음수 Δ는 target보다 작게 측정되었음을 의미합니다. 색은 caution/approaching tolerance amber, caution 외 red 색으로 표기했습니다.
모두 dummy 데이터이므로 절대적 판단보다는 변동 패턴 참조용으로 사용해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6페이지 69-point wafer map과 in-wafer uniformity 표입니다.
좌측 두 카드는 Split A W02 representative wafer와 Split B W07 representative wafer를 보여줍니다.
총 69개 site 데이터로 색을 매겼고, 짙은 초록은 tight, 보통 초록은 within, 호박색은 caution, 빨강은 off-tol입니다.
우측 표에서 Split B의 WIWNU 평균이 1.31%로 split A 0.96%보다 변동이 큽니다.
W02는 1 amber site만 있고 나머지는 tight한 반면, W07은 외곽 ring 50% 이상이 caution 구간입니다.
더미 데이터이지만 패턴은 일정하게 나타납니다.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7페이지 TEM-EDS 라인 프로파일입니다.
5개 원소 Cu, Ta, Si, O, N과 보조 C 6개 원소를 dummy 데이터로 표기했습니다.
위치 1은 Cu 라인 중심, 위치 6은 SiN cap 끝단입니다. Cu는 Cu 라인에서 우세하다가 barrier 건너 ILD 영역에서 사라지고, Ta는 Cu/barrier 영역에서 peak, Si/O는 ILD에서 dominant, N은 SiN cap에서 peak.
모든 peak 위치를 dummy로 표현했습니다. Cu/Ta/ILD 일반적 transition을 확인하는 용도.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8페이지 전기 4종 측정 결과입니다.
상단에 4 KPI 카드를 두어 split A vs B의 평균을 비교했고, 하단에 8 wafer × 4 metric table을 배치했습니다.
Line Rs는 split B가 우세, via Rc·leakage는 split A가 우세, yield는 split A가 95% target 위, split B는 1매가 94.9로 caution입니다.
dummy 데이터이므로 종합 판단 시 test 패턴 정도로만 참고해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9페이지, split 종합 비교입니다.
좌측 큰 차트에서 8 metric × 2 split 평균값을 grouped bar로 시각화했습니다.
우측에는 동일 데이터를 표 형식으로 한 번 더 정리했고, 그 아래에 종합 score dummy 패널을 두었습니다 — Split A가 4 메트릭 우세, Split B는 1, 나머지 2는 무승부로 단순 카운트했습니다.
실제 의사결정 시 가중치와 함께 봐야 하지만 dummy 데이터에서는 A 우세로 종합됩니다.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jpeg"/><Relationship Id="rId8" Type="http://schemas.openxmlformats.org/officeDocument/2006/relationships/image" Target="../media/image-3-8.jpe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jpeg"/><Relationship Id="rId8" Type="http://schemas.openxmlformats.org/officeDocument/2006/relationships/image" Target="../media/image-4-8.jpe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6.png"/><Relationship Id="rId8" Type="http://schemas.openxmlformats.org/officeDocument/2006/relationships/image" Target="../media/image-5-6.png"/><Relationship Id="rId9" Type="http://schemas.openxmlformats.org/officeDocument/2006/relationships/image" Target="../media/image-5-9.png"/><Relationship Id="rId10" Type="http://schemas.openxmlformats.org/officeDocument/2006/relationships/image" Target="../media/image-5-6.png"/><Relationship Id="rId11" Type="http://schemas.openxmlformats.org/officeDocument/2006/relationships/image" Target="../media/image-5-6.png"/><Relationship Id="rId12" Type="http://schemas.openxmlformats.org/officeDocument/2006/relationships/image" Target="../media/image-5-6.png"/><Relationship Id="rId13" Type="http://schemas.openxmlformats.org/officeDocument/2006/relationships/image" Target="../media/image-5-13.png"/><Relationship Id="rId14" Type="http://schemas.openxmlformats.org/officeDocument/2006/relationships/slideLayout" Target="../slideLayouts/slideLayout1.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2.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2.png"/><Relationship Id="rId9" Type="http://schemas.openxmlformats.org/officeDocument/2006/relationships/image" Target="../media/image-7-2.png"/><Relationship Id="rId10" Type="http://schemas.openxmlformats.org/officeDocument/2006/relationships/image" Target="../media/image-7-2.png"/><Relationship Id="rId11" Type="http://schemas.openxmlformats.org/officeDocument/2006/relationships/image" Target="../media/image-7-2.png"/><Relationship Id="rId12" Type="http://schemas.openxmlformats.org/officeDocument/2006/relationships/image" Target="../media/image-7-2.png"/><Relationship Id="rId13" Type="http://schemas.openxmlformats.org/officeDocument/2006/relationships/image" Target="../media/image-7-13.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2.png"/><Relationship Id="rId4" Type="http://schemas.openxmlformats.org/officeDocument/2006/relationships/image" Target="../media/image-8-2.png"/><Relationship Id="rId5" Type="http://schemas.openxmlformats.org/officeDocument/2006/relationships/image" Target="../media/image-8-2.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7.png"/><Relationship Id="rId9" Type="http://schemas.openxmlformats.org/officeDocument/2006/relationships/image" Target="../media/image-8-7.png"/><Relationship Id="rId10" Type="http://schemas.openxmlformats.org/officeDocument/2006/relationships/image" Target="../media/image-8-7.png"/><Relationship Id="rId11" Type="http://schemas.openxmlformats.org/officeDocument/2006/relationships/image" Target="../media/image-8-7.png"/><Relationship Id="rId12" Type="http://schemas.openxmlformats.org/officeDocument/2006/relationships/image" Target="../media/image-8-7.png"/><Relationship Id="rId13" Type="http://schemas.openxmlformats.org/officeDocument/2006/relationships/image" Target="../media/image-8-7.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6.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17.png"/><Relationship Id="rId22" Type="http://schemas.openxmlformats.org/officeDocument/2006/relationships/image" Target="../media/image-8-16.png"/><Relationship Id="rId23" Type="http://schemas.openxmlformats.org/officeDocument/2006/relationships/image" Target="../media/image-8-23.png"/><Relationship Id="rId24" Type="http://schemas.openxmlformats.org/officeDocument/2006/relationships/image" Target="../media/image-8-16.png"/><Relationship Id="rId25" Type="http://schemas.openxmlformats.org/officeDocument/2006/relationships/image" Target="../media/image-8-25.png"/><Relationship Id="rId26" Type="http://schemas.openxmlformats.org/officeDocument/2006/relationships/image" Target="../media/image-8-16.png"/><Relationship Id="rId27" Type="http://schemas.openxmlformats.org/officeDocument/2006/relationships/image" Target="../media/image-8-27.png"/><Relationship Id="rId28" Type="http://schemas.openxmlformats.org/officeDocument/2006/relationships/image" Target="../media/image-8-16.png"/><Relationship Id="rId29" Type="http://schemas.openxmlformats.org/officeDocument/2006/relationships/image" Target="../media/image-8-23.png"/><Relationship Id="rId30" Type="http://schemas.openxmlformats.org/officeDocument/2006/relationships/image" Target="../media/image-8-7.png"/><Relationship Id="rId31" Type="http://schemas.openxmlformats.org/officeDocument/2006/relationships/image" Target="../media/image-8-17.png"/><Relationship Id="rId32" Type="http://schemas.openxmlformats.org/officeDocument/2006/relationships/slideLayout" Target="../slideLayouts/slideLayout1.xml"/><Relationship Id="rId3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gen-dedup-359acec1b5d1c5748f230d5d2956c886.png">    </p:cNvPr>
          <p:cNvPicPr>
            <a:picLocks noChangeAspect="1"/>
          </p:cNvPicPr>
          <p:nvPr/>
        </p:nvPicPr>
        <p:blipFill>
          <a:blip r:embed="rId1"/>
          <a:srcRect l="0" r="0" t="0" b="0"/>
          <a:stretch/>
        </p:blipFill>
        <p:spPr>
          <a:xfrm>
            <a:off x="16192195" y="-1524305"/>
            <a:ext cx="3619195" cy="3619195"/>
          </a:xfrm>
          <a:prstGeom prst="rect">
            <a:avLst/>
          </a:prstGeom>
        </p:spPr>
      </p:pic>
      <p:sp>
        <p:nvSpPr>
          <p:cNvPr id="4" name="Shape 0"/>
          <p:cNvSpPr/>
          <p:nvPr/>
        </p:nvSpPr>
        <p:spPr>
          <a:xfrm>
            <a:off x="0" y="0"/>
            <a:ext cx="18288000" cy="10287000"/>
          </a:xfrm>
          <a:prstGeom prst="rect">
            <a:avLst/>
          </a:prstGeom>
          <a:solidFill>
            <a:srgbClr val="F4F8F4"/>
          </a:solidFill>
          <a:ln w="12700">
            <a:solidFill>
              <a:srgbClr val="FFFFFF">
                <a:alpha val="0"/>
              </a:srgbClr>
            </a:solidFill>
            <a:prstDash val="solid"/>
          </a:ln>
        </p:spPr>
      </p:sp>
      <p:pic>
        <p:nvPicPr>
          <p:cNvPr id="5" name="Image 1" descr="gen-dedup-c7c8e6a57887629e40792d9e79f84764.png">    </p:cNvPr>
          <p:cNvPicPr>
            <a:picLocks noChangeAspect="1"/>
          </p:cNvPicPr>
          <p:nvPr/>
        </p:nvPicPr>
        <p:blipFill>
          <a:blip r:embed="rId2"/>
          <a:srcRect l="-6" r="-6" t="0" b="0"/>
          <a:stretch/>
        </p:blipFill>
        <p:spPr>
          <a:xfrm>
            <a:off x="857707" y="3619195"/>
            <a:ext cx="9334195" cy="1904695"/>
          </a:xfrm>
          <a:prstGeom prst="rect">
            <a:avLst/>
          </a:prstGeom>
        </p:spPr>
      </p:pic>
      <p:sp>
        <p:nvSpPr>
          <p:cNvPr id="6" name="Shape 1"/>
          <p:cNvSpPr/>
          <p:nvPr/>
        </p:nvSpPr>
        <p:spPr>
          <a:xfrm>
            <a:off x="10477195" y="3619195"/>
            <a:ext cx="7048195" cy="1904695"/>
          </a:xfrm>
          <a:prstGeom prst="roundRect">
            <a:avLst>
              <a:gd name="adj" fmla="val 7009"/>
            </a:avLst>
          </a:prstGeom>
          <a:solidFill>
            <a:srgbClr val="065F46"/>
          </a:solidFill>
          <a:ln w="12700">
            <a:solidFill>
              <a:srgbClr val="FFFFFF">
                <a:alpha val="0"/>
              </a:srgbClr>
            </a:solidFill>
            <a:prstDash val="solid"/>
          </a:ln>
        </p:spPr>
      </p:sp>
      <p:sp>
        <p:nvSpPr>
          <p:cNvPr id="7" name="Shape 2"/>
          <p:cNvSpPr/>
          <p:nvPr/>
        </p:nvSpPr>
        <p:spPr>
          <a:xfrm>
            <a:off x="10477195" y="5715000"/>
            <a:ext cx="7067398" cy="1923898"/>
          </a:xfrm>
          <a:prstGeom prst="roundRect">
            <a:avLst>
              <a:gd name="adj" fmla="val 6939"/>
            </a:avLst>
          </a:prstGeom>
          <a:solidFill>
            <a:srgbClr val="ECFDF5"/>
          </a:solidFill>
          <a:ln w="12700">
            <a:solidFill>
              <a:srgbClr val="A7F3D0"/>
            </a:solidFill>
            <a:prstDash val="solid"/>
          </a:ln>
        </p:spPr>
      </p:sp>
      <p:pic>
        <p:nvPicPr>
          <p:cNvPr id="8" name="Image 2" descr="gen-dedup-2fbcf05202020e5c2fee389890c4e9a4.png">    </p:cNvPr>
          <p:cNvPicPr>
            <a:picLocks noChangeAspect="1"/>
          </p:cNvPicPr>
          <p:nvPr/>
        </p:nvPicPr>
        <p:blipFill>
          <a:blip r:embed="rId3"/>
          <a:srcRect l="0" r="0" t="-31" b="-31"/>
          <a:stretch/>
        </p:blipFill>
        <p:spPr>
          <a:xfrm>
            <a:off x="857707" y="8287207"/>
            <a:ext cx="16621049" cy="743407"/>
          </a:xfrm>
          <a:prstGeom prst="rect">
            <a:avLst/>
          </a:prstGeom>
        </p:spPr>
      </p:pic>
      <p:sp>
        <p:nvSpPr>
          <p:cNvPr id="9" name="Shape 3"/>
          <p:cNvSpPr/>
          <p:nvPr/>
        </p:nvSpPr>
        <p:spPr>
          <a:xfrm>
            <a:off x="857707" y="875995"/>
            <a:ext cx="95098" cy="95098"/>
          </a:xfrm>
          <a:prstGeom prst="ellipse">
            <a:avLst/>
          </a:prstGeom>
          <a:solidFill>
            <a:srgbClr val="047857"/>
          </a:solidFill>
          <a:ln w="12700">
            <a:solidFill>
              <a:srgbClr val="FFFFFF">
                <a:alpha val="0"/>
              </a:srgbClr>
            </a:solidFill>
            <a:prstDash val="solid"/>
          </a:ln>
        </p:spPr>
      </p:sp>
      <p:sp>
        <p:nvSpPr>
          <p:cNvPr id="10" name="Text 4"/>
          <p:cNvSpPr txBox="1"/>
          <p:nvPr/>
        </p:nvSpPr>
        <p:spPr>
          <a:xfrm>
            <a:off x="1086307" y="800100"/>
            <a:ext cx="2188159" cy="247802"/>
          </a:xfrm>
          <a:prstGeom prst="rect">
            <a:avLst/>
          </a:prstGeom>
          <a:noFill/>
          <a:ln/>
        </p:spPr>
        <p:txBody>
          <a:bodyPr wrap="none" lIns="0" tIns="0" rIns="0" bIns="0" rtlCol="0" anchor="ctr"/>
          <a:lstStyle/>
          <a:p>
            <a:pPr algn="l" indent="0" marL="0">
              <a:buNone/>
            </a:pPr>
            <a:r>
              <a:rPr lang="en-US" sz="1350" b="1" spc="243" kern="0" dirty="0">
                <a:solidFill>
                  <a:srgbClr val="047857"/>
                </a:solidFill>
                <a:latin typeface="Inter" pitchFamily="34" charset="0"/>
                <a:ea typeface="Inter" pitchFamily="34" charset="-122"/>
                <a:cs typeface="Inter" pitchFamily="34" charset="-120"/>
              </a:rPr>
              <a:t>01 / 09 · 평가 개요</a:t>
            </a:r>
            <a:endParaRPr lang="en-US" sz="1350" dirty="0"/>
          </a:p>
        </p:txBody>
      </p:sp>
      <p:sp>
        <p:nvSpPr>
          <p:cNvPr id="11" name="Text 5"/>
          <p:cNvSpPr txBox="1"/>
          <p:nvPr/>
        </p:nvSpPr>
        <p:spPr>
          <a:xfrm>
            <a:off x="857707" y="1123798"/>
            <a:ext cx="15621610" cy="1067105"/>
          </a:xfrm>
          <a:prstGeom prst="rect">
            <a:avLst/>
          </a:prstGeom>
          <a:noFill/>
          <a:ln/>
        </p:spPr>
        <p:txBody>
          <a:bodyPr wrap="square" lIns="0" tIns="0" rIns="0" bIns="0" rtlCol="0" anchor="t"/>
          <a:lstStyle/>
          <a:p>
            <a:pPr algn="l" indent="0" marL="0">
              <a:lnSpc>
                <a:spcPct val="112000"/>
              </a:lnSpc>
              <a:buNone/>
            </a:pPr>
            <a:r>
              <a:rPr lang="en-US" sz="3750" b="1" spc="-75" kern="0" dirty="0">
                <a:solidFill>
                  <a:srgbClr val="0B1F18"/>
                </a:solidFill>
                <a:latin typeface="Inter" pitchFamily="34" charset="0"/>
                <a:ea typeface="Inter" pitchFamily="34" charset="-122"/>
                <a:cs typeface="Inter" pitchFamily="34" charset="-120"/>
              </a:rPr>
              <a:t>M2 BEOL 통합 분할 평가</a:t>
            </a:r>
            <a:pPr algn="l" indent="0" marL="0">
              <a:lnSpc>
                <a:spcPct val="112000"/>
              </a:lnSpc>
              <a:buNone/>
            </a:pPr>
            <a:endParaRPr lang="en-US" sz="3750" dirty="0"/>
          </a:p>
          <a:p>
            <a:pPr algn="l" indent="0" marL="0">
              <a:lnSpc>
                <a:spcPct val="112000"/>
              </a:lnSpc>
              <a:buNone/>
            </a:pPr>
            <a:r>
              <a:rPr lang="en-US" sz="3750" b="1" spc="-75" kern="0" dirty="0">
                <a:solidFill>
                  <a:srgbClr val="047857"/>
                </a:solidFill>
                <a:latin typeface="Inter" pitchFamily="34" charset="0"/>
                <a:ea typeface="Inter" pitchFamily="34" charset="-122"/>
                <a:cs typeface="Inter" pitchFamily="34" charset="-120"/>
              </a:rPr>
              <a:t>Hardmask TiN</a:t>
            </a:r>
            <a:pPr algn="l" indent="0" marL="0">
              <a:lnSpc>
                <a:spcPct val="112000"/>
              </a:lnSpc>
              <a:buNone/>
            </a:pPr>
            <a:r>
              <a:rPr lang="en-US" sz="3750" b="1" spc="-75" kern="0" dirty="0">
                <a:solidFill>
                  <a:srgbClr val="4B5563"/>
                </a:solidFill>
                <a:latin typeface="Inter" pitchFamily="34" charset="0"/>
                <a:ea typeface="Inter" pitchFamily="34" charset="-122"/>
                <a:cs typeface="Inter" pitchFamily="34" charset="-120"/>
              </a:rPr>
              <a:t>vs</a:t>
            </a:r>
            <a:pPr algn="l" indent="0" marL="0">
              <a:lnSpc>
                <a:spcPct val="112000"/>
              </a:lnSpc>
              <a:buNone/>
            </a:pPr>
            <a:r>
              <a:rPr lang="en-US" sz="3750" b="1" spc="-75" kern="0" dirty="0">
                <a:solidFill>
                  <a:srgbClr val="0F766E"/>
                </a:solidFill>
                <a:latin typeface="Inter" pitchFamily="34" charset="0"/>
                <a:ea typeface="Inter" pitchFamily="34" charset="-122"/>
                <a:cs typeface="Inter" pitchFamily="34" charset="-120"/>
              </a:rPr>
              <a:t>Metal-free SiN</a:t>
            </a:r>
            <a:endParaRPr lang="en-US" sz="3750" dirty="0"/>
          </a:p>
        </p:txBody>
      </p:sp>
      <p:sp>
        <p:nvSpPr>
          <p:cNvPr id="12" name="Text 6"/>
          <p:cNvSpPr txBox="1"/>
          <p:nvPr/>
        </p:nvSpPr>
        <p:spPr>
          <a:xfrm>
            <a:off x="857707" y="2458822"/>
            <a:ext cx="12764110" cy="694030"/>
          </a:xfrm>
          <a:prstGeom prst="rect">
            <a:avLst/>
          </a:prstGeom>
          <a:noFill/>
          <a:ln/>
        </p:spPr>
        <p:txBody>
          <a:bodyPr wrap="square" lIns="0" tIns="0" rIns="0" bIns="0" rtlCol="0" anchor="t"/>
          <a:lstStyle/>
          <a:p>
            <a:pPr algn="l" indent="0" marL="0">
              <a:lnSpc>
                <a:spcPts val="2558"/>
              </a:lnSpc>
              <a:buNone/>
            </a:pPr>
            <a:r>
              <a:rPr lang="en-US" sz="1650" dirty="0">
                <a:solidFill>
                  <a:srgbClr val="4B5563"/>
                </a:solidFill>
                <a:latin typeface="Inter" pitchFamily="34" charset="0"/>
                <a:ea typeface="Inter" pitchFamily="34" charset="-122"/>
                <a:cs typeface="Inter" pitchFamily="34" charset="-120"/>
              </a:rPr>
              <a:t>Metal-2 (M2) 레이어에서 두 가지 hardmask 통합안을 동일 공정 라인에서 비교 평가한다.</a:t>
            </a:r>
            <a:pPr algn="l" indent="0" marL="0">
              <a:lnSpc>
                <a:spcPts val="2558"/>
              </a:lnSpc>
              <a:buNone/>
            </a:pPr>
            <a:endParaRPr lang="en-US" sz="1650" dirty="0"/>
          </a:p>
          <a:p>
            <a:pPr algn="l" indent="0" marL="0">
              <a:lnSpc>
                <a:spcPts val="2558"/>
              </a:lnSpc>
              <a:buNone/>
            </a:pPr>
            <a:r>
              <a:rPr lang="en-US" sz="1650" dirty="0">
                <a:solidFill>
                  <a:srgbClr val="4B5563"/>
                </a:solidFill>
                <a:latin typeface="Inter" pitchFamily="34" charset="0"/>
                <a:ea typeface="Inter" pitchFamily="34" charset="-122"/>
                <a:cs typeface="Inter" pitchFamily="34" charset="-120"/>
              </a:rPr>
              <a:t>본 보고서 8매 wafer 분할 데이터는 </a:t>
            </a:r>
            <a:pPr algn="l" indent="0" marL="0">
              <a:lnSpc>
                <a:spcPts val="2558"/>
              </a:lnSpc>
              <a:buNone/>
            </a:pPr>
            <a:r>
              <a:rPr lang="en-US" sz="1650" b="1" dirty="0">
                <a:solidFill>
                  <a:srgbClr val="0B1F18"/>
                </a:solidFill>
                <a:latin typeface="Inter" pitchFamily="34" charset="0"/>
                <a:ea typeface="Inter" pitchFamily="34" charset="-122"/>
                <a:cs typeface="Inter" pitchFamily="34" charset="-120"/>
              </a:rPr>
              <a:t> 가상(dummy) 데이터</a:t>
            </a:r>
            <a:pPr algn="l" indent="0" marL="0">
              <a:lnSpc>
                <a:spcPts val="2558"/>
              </a:lnSpc>
              <a:buNone/>
            </a:pPr>
            <a:r>
              <a:rPr lang="en-US" sz="1650" dirty="0">
                <a:solidFill>
                  <a:srgbClr val="4B5563"/>
                </a:solidFill>
                <a:latin typeface="Inter" pitchFamily="34" charset="0"/>
                <a:ea typeface="Inter" pitchFamily="34" charset="-122"/>
                <a:cs typeface="Inter" pitchFamily="34" charset="-120"/>
              </a:rPr>
              <a:t>로 내부 테스트 용도이며, 도식화는 하지 않고 수치로만 표기한다.</a:t>
            </a:r>
            <a:endParaRPr lang="en-US" sz="1650" dirty="0"/>
          </a:p>
        </p:txBody>
      </p:sp>
      <p:sp>
        <p:nvSpPr>
          <p:cNvPr id="13" name="Text 7"/>
          <p:cNvSpPr txBox="1"/>
          <p:nvPr/>
        </p:nvSpPr>
        <p:spPr>
          <a:xfrm>
            <a:off x="1200607" y="3847795"/>
            <a:ext cx="818388" cy="191110"/>
          </a:xfrm>
          <a:prstGeom prst="rect">
            <a:avLst/>
          </a:prstGeom>
          <a:noFill/>
          <a:ln/>
        </p:spPr>
        <p:txBody>
          <a:bodyPr wrap="none" lIns="0" tIns="0" rIns="0" bIns="0" rtlCol="0" anchor="ctr"/>
          <a:lstStyle/>
          <a:p>
            <a:pPr algn="l" indent="0" marL="0">
              <a:buNone/>
            </a:pPr>
            <a:r>
              <a:rPr lang="en-US" sz="1050" b="1" spc="189" kern="0" dirty="0">
                <a:solidFill>
                  <a:srgbClr val="047857"/>
                </a:solidFill>
                <a:latin typeface="Inter" pitchFamily="34" charset="0"/>
                <a:ea typeface="Inter" pitchFamily="34" charset="-122"/>
                <a:cs typeface="Inter" pitchFamily="34" charset="-120"/>
              </a:rPr>
              <a:t>Lot 요약</a:t>
            </a:r>
            <a:endParaRPr lang="en-US" sz="1050" dirty="0"/>
          </a:p>
        </p:txBody>
      </p:sp>
      <p:sp>
        <p:nvSpPr>
          <p:cNvPr id="14" name="Text 8"/>
          <p:cNvSpPr txBox="1"/>
          <p:nvPr/>
        </p:nvSpPr>
        <p:spPr>
          <a:xfrm>
            <a:off x="1200607" y="4209898"/>
            <a:ext cx="1655978" cy="743407"/>
          </a:xfrm>
          <a:prstGeom prst="rect">
            <a:avLst/>
          </a:prstGeom>
          <a:noFill/>
          <a:ln/>
        </p:spPr>
        <p:txBody>
          <a:bodyPr wrap="none" lIns="0" tIns="0" rIns="0" bIns="0" rtlCol="0" anchor="ctr"/>
          <a:lstStyle/>
          <a:p>
            <a:pPr algn="l" indent="0" marL="0">
              <a:buNone/>
            </a:pPr>
            <a:r>
              <a:rPr lang="en-US" sz="5850" b="1" dirty="0">
                <a:solidFill>
                  <a:srgbClr val="0B1F18"/>
                </a:solidFill>
                <a:latin typeface="Inter" pitchFamily="34" charset="0"/>
                <a:ea typeface="Inter" pitchFamily="34" charset="-122"/>
                <a:cs typeface="Inter" pitchFamily="34" charset="-120"/>
              </a:rPr>
              <a:t>8</a:t>
            </a:r>
            <a:pPr algn="l" indent="0" marL="0">
              <a:buNone/>
            </a:pPr>
            <a:r>
              <a:rPr lang="en-US" sz="2100" b="1" dirty="0">
                <a:solidFill>
                  <a:srgbClr val="4B5563"/>
                </a:solidFill>
                <a:latin typeface="Inter" pitchFamily="34" charset="0"/>
                <a:ea typeface="Inter" pitchFamily="34" charset="-122"/>
                <a:cs typeface="Inter" pitchFamily="34" charset="-120"/>
              </a:rPr>
              <a:t>매</a:t>
            </a:r>
            <a:endParaRPr lang="en-US" sz="5850" dirty="0"/>
          </a:p>
        </p:txBody>
      </p:sp>
      <p:sp>
        <p:nvSpPr>
          <p:cNvPr id="15" name="Text 9"/>
          <p:cNvSpPr txBox="1"/>
          <p:nvPr/>
        </p:nvSpPr>
        <p:spPr>
          <a:xfrm>
            <a:off x="1200607" y="5009998"/>
            <a:ext cx="1247242" cy="228600"/>
          </a:xfrm>
          <a:prstGeom prst="rect">
            <a:avLst/>
          </a:prstGeom>
          <a:noFill/>
          <a:ln/>
        </p:spPr>
        <p:txBody>
          <a:bodyPr wrap="none" lIns="0" tIns="0" rIns="0" bIns="0" rtlCol="0" anchor="ctr"/>
          <a:lstStyle/>
          <a:p>
            <a:pPr algn="l" indent="0" marL="0">
              <a:buNone/>
            </a:pPr>
            <a:r>
              <a:rPr lang="en-US" sz="1200" dirty="0">
                <a:solidFill>
                  <a:srgbClr val="6B7280"/>
                </a:solidFill>
                <a:latin typeface="Inter" pitchFamily="34" charset="0"/>
                <a:ea typeface="Inter" pitchFamily="34" charset="-122"/>
                <a:cs typeface="Inter" pitchFamily="34" charset="-120"/>
              </a:rPr>
              <a:t>split wafer (총)</a:t>
            </a:r>
            <a:endParaRPr lang="en-US" sz="1200" dirty="0"/>
          </a:p>
        </p:txBody>
      </p:sp>
      <p:sp>
        <p:nvSpPr>
          <p:cNvPr id="16" name="Text 10"/>
          <p:cNvSpPr txBox="1"/>
          <p:nvPr/>
        </p:nvSpPr>
        <p:spPr>
          <a:xfrm>
            <a:off x="4000500" y="4209898"/>
            <a:ext cx="1162202" cy="743407"/>
          </a:xfrm>
          <a:prstGeom prst="rect">
            <a:avLst/>
          </a:prstGeom>
          <a:noFill/>
          <a:ln/>
        </p:spPr>
        <p:txBody>
          <a:bodyPr wrap="none" lIns="0" tIns="0" rIns="0" bIns="0" rtlCol="0" anchor="ctr"/>
          <a:lstStyle/>
          <a:p>
            <a:pPr algn="l" indent="0" marL="0">
              <a:buNone/>
            </a:pPr>
            <a:r>
              <a:rPr lang="en-US" sz="5850" b="1" dirty="0">
                <a:solidFill>
                  <a:srgbClr val="047857"/>
                </a:solidFill>
                <a:latin typeface="Inter" pitchFamily="34" charset="0"/>
                <a:ea typeface="Inter" pitchFamily="34" charset="-122"/>
                <a:cs typeface="Inter" pitchFamily="34" charset="-120"/>
              </a:rPr>
              <a:t>M2</a:t>
            </a:r>
            <a:endParaRPr lang="en-US" sz="5850" dirty="0"/>
          </a:p>
        </p:txBody>
      </p:sp>
      <p:sp>
        <p:nvSpPr>
          <p:cNvPr id="17" name="Text 11"/>
          <p:cNvSpPr txBox="1"/>
          <p:nvPr/>
        </p:nvSpPr>
        <p:spPr>
          <a:xfrm>
            <a:off x="4000500" y="5009998"/>
            <a:ext cx="1162202" cy="228600"/>
          </a:xfrm>
          <a:prstGeom prst="rect">
            <a:avLst/>
          </a:prstGeom>
          <a:noFill/>
          <a:ln/>
        </p:spPr>
        <p:txBody>
          <a:bodyPr wrap="none" lIns="0" tIns="0" rIns="0" bIns="0" rtlCol="0" anchor="ctr"/>
          <a:lstStyle/>
          <a:p>
            <a:pPr algn="l" indent="0" marL="0">
              <a:buNone/>
            </a:pPr>
            <a:r>
              <a:rPr lang="en-US" sz="1200" dirty="0">
                <a:solidFill>
                  <a:srgbClr val="6B7280"/>
                </a:solidFill>
                <a:latin typeface="Inter" pitchFamily="34" charset="0"/>
                <a:ea typeface="Inter" pitchFamily="34" charset="-122"/>
                <a:cs typeface="Inter" pitchFamily="34" charset="-120"/>
              </a:rPr>
              <a:t>평가 레이어</a:t>
            </a:r>
            <a:endParaRPr lang="en-US" sz="1200" dirty="0"/>
          </a:p>
        </p:txBody>
      </p:sp>
      <p:sp>
        <p:nvSpPr>
          <p:cNvPr id="18" name="Text 12"/>
          <p:cNvSpPr txBox="1"/>
          <p:nvPr/>
        </p:nvSpPr>
        <p:spPr>
          <a:xfrm>
            <a:off x="6001207" y="4209898"/>
            <a:ext cx="1686154" cy="743407"/>
          </a:xfrm>
          <a:prstGeom prst="rect">
            <a:avLst/>
          </a:prstGeom>
          <a:noFill/>
          <a:ln/>
        </p:spPr>
        <p:txBody>
          <a:bodyPr wrap="none" lIns="0" tIns="0" rIns="0" bIns="0" rtlCol="0" anchor="ctr"/>
          <a:lstStyle/>
          <a:p>
            <a:pPr algn="l" indent="0" marL="0">
              <a:buNone/>
            </a:pPr>
            <a:r>
              <a:rPr lang="en-US" sz="5850" b="1" dirty="0">
                <a:solidFill>
                  <a:srgbClr val="0B1F18"/>
                </a:solidFill>
                <a:latin typeface="Inter" pitchFamily="34" charset="0"/>
                <a:ea typeface="Inter" pitchFamily="34" charset="-122"/>
                <a:cs typeface="Inter" pitchFamily="34" charset="-120"/>
              </a:rPr>
              <a:t>4</a:t>
            </a:r>
            <a:pPr algn="l" indent="0" marL="0">
              <a:buNone/>
            </a:pPr>
            <a:r>
              <a:rPr lang="en-US" sz="2400" b="1" dirty="0">
                <a:solidFill>
                  <a:srgbClr val="4B5563"/>
                </a:solidFill>
                <a:latin typeface="Inter" pitchFamily="34" charset="0"/>
                <a:ea typeface="Inter" pitchFamily="34" charset="-122"/>
                <a:cs typeface="Inter" pitchFamily="34" charset="-120"/>
              </a:rPr>
              <a:t> + 4</a:t>
            </a:r>
            <a:endParaRPr lang="en-US" sz="5850" dirty="0"/>
          </a:p>
        </p:txBody>
      </p:sp>
      <p:sp>
        <p:nvSpPr>
          <p:cNvPr id="19" name="Text 13"/>
          <p:cNvSpPr txBox="1"/>
          <p:nvPr/>
        </p:nvSpPr>
        <p:spPr>
          <a:xfrm>
            <a:off x="6001207" y="5009998"/>
            <a:ext cx="1140257" cy="191110"/>
          </a:xfrm>
          <a:prstGeom prst="rect">
            <a:avLst/>
          </a:prstGeom>
          <a:noFill/>
          <a:ln/>
        </p:spPr>
        <p:txBody>
          <a:bodyPr wrap="none" lIns="0" tIns="0" rIns="0" bIns="0" rtlCol="0" anchor="ctr"/>
          <a:lstStyle/>
          <a:p>
            <a:pPr algn="l" indent="0" marL="0">
              <a:buNone/>
            </a:pPr>
            <a:r>
              <a:rPr lang="en-US" sz="1200" dirty="0">
                <a:solidFill>
                  <a:srgbClr val="6B7280"/>
                </a:solidFill>
                <a:latin typeface="Inter" pitchFamily="34" charset="0"/>
                <a:ea typeface="Inter" pitchFamily="34" charset="-122"/>
                <a:cs typeface="Inter" pitchFamily="34" charset="-120"/>
              </a:rPr>
              <a:t>splits split</a:t>
            </a:r>
            <a:endParaRPr lang="en-US" sz="1200" dirty="0"/>
          </a:p>
        </p:txBody>
      </p:sp>
      <p:sp>
        <p:nvSpPr>
          <p:cNvPr id="20" name="Text 14"/>
          <p:cNvSpPr txBox="1"/>
          <p:nvPr/>
        </p:nvSpPr>
        <p:spPr>
          <a:xfrm>
            <a:off x="8287207" y="4209898"/>
            <a:ext cx="685800" cy="743407"/>
          </a:xfrm>
          <a:prstGeom prst="rect">
            <a:avLst/>
          </a:prstGeom>
          <a:noFill/>
          <a:ln/>
        </p:spPr>
        <p:txBody>
          <a:bodyPr wrap="none" lIns="0" tIns="0" rIns="0" bIns="0" rtlCol="0" anchor="ctr"/>
          <a:lstStyle/>
          <a:p>
            <a:pPr algn="l" indent="0" marL="0">
              <a:buNone/>
            </a:pPr>
            <a:r>
              <a:rPr lang="en-US" sz="5850" b="1" dirty="0">
                <a:solidFill>
                  <a:srgbClr val="0B1F18"/>
                </a:solidFill>
                <a:latin typeface="Inter" pitchFamily="34" charset="0"/>
                <a:ea typeface="Inter" pitchFamily="34" charset="-122"/>
                <a:cs typeface="Inter" pitchFamily="34" charset="-120"/>
              </a:rPr>
              <a:t>4</a:t>
            </a:r>
            <a:endParaRPr lang="en-US" sz="5850" dirty="0"/>
          </a:p>
        </p:txBody>
      </p:sp>
      <p:sp>
        <p:nvSpPr>
          <p:cNvPr id="21" name="Text 15"/>
          <p:cNvSpPr txBox="1"/>
          <p:nvPr/>
        </p:nvSpPr>
        <p:spPr>
          <a:xfrm>
            <a:off x="8287207" y="5009998"/>
            <a:ext cx="740664" cy="228600"/>
          </a:xfrm>
          <a:prstGeom prst="rect">
            <a:avLst/>
          </a:prstGeom>
          <a:noFill/>
          <a:ln/>
        </p:spPr>
        <p:txBody>
          <a:bodyPr wrap="none" lIns="0" tIns="0" rIns="0" bIns="0" rtlCol="0" anchor="ctr"/>
          <a:lstStyle/>
          <a:p>
            <a:pPr algn="l" indent="0" marL="0">
              <a:buNone/>
            </a:pPr>
            <a:r>
              <a:rPr lang="en-US" sz="1200" dirty="0">
                <a:solidFill>
                  <a:srgbClr val="6B7280"/>
                </a:solidFill>
                <a:latin typeface="Inter" pitchFamily="34" charset="0"/>
                <a:ea typeface="Inter" pitchFamily="34" charset="-122"/>
                <a:cs typeface="Inter" pitchFamily="34" charset="-120"/>
              </a:rPr>
              <a:t>CD 메트릭</a:t>
            </a:r>
            <a:endParaRPr lang="en-US" sz="1200" dirty="0"/>
          </a:p>
        </p:txBody>
      </p:sp>
      <p:sp>
        <p:nvSpPr>
          <p:cNvPr id="22" name="Text 16"/>
          <p:cNvSpPr txBox="1"/>
          <p:nvPr/>
        </p:nvSpPr>
        <p:spPr>
          <a:xfrm>
            <a:off x="10763402" y="3829507"/>
            <a:ext cx="6477610" cy="162763"/>
          </a:xfrm>
          <a:prstGeom prst="rect">
            <a:avLst/>
          </a:prstGeom>
          <a:noFill/>
          <a:ln/>
        </p:spPr>
        <p:txBody>
          <a:bodyPr wrap="none" lIns="0" tIns="0" rIns="0" bIns="0" rtlCol="0" anchor="ctr"/>
          <a:lstStyle/>
          <a:p>
            <a:pPr algn="l" indent="0" marL="0">
              <a:buNone/>
            </a:pPr>
            <a:r>
              <a:rPr lang="en-US" sz="1050" b="1" spc="189" kern="0" dirty="0">
                <a:solidFill>
                  <a:srgbClr val="A7F3D0"/>
                </a:solidFill>
                <a:latin typeface="Inter" pitchFamily="34" charset="0"/>
                <a:ea typeface="Inter" pitchFamily="34" charset="-122"/>
                <a:cs typeface="Inter" pitchFamily="34" charset="-120"/>
              </a:rPr>
              <a:t>Split A</a:t>
            </a:r>
            <a:endParaRPr lang="en-US" sz="1050" dirty="0"/>
          </a:p>
        </p:txBody>
      </p:sp>
      <p:sp>
        <p:nvSpPr>
          <p:cNvPr id="23" name="Text 17"/>
          <p:cNvSpPr txBox="1"/>
          <p:nvPr/>
        </p:nvSpPr>
        <p:spPr>
          <a:xfrm>
            <a:off x="10763402" y="4067251"/>
            <a:ext cx="6477610" cy="391363"/>
          </a:xfrm>
          <a:prstGeom prst="rect">
            <a:avLst/>
          </a:prstGeom>
          <a:noFill/>
          <a:ln/>
        </p:spPr>
        <p:txBody>
          <a:bodyPr wrap="none" lIns="0" tIns="0" rIns="0" bIns="0" rtlCol="0" anchor="ctr"/>
          <a:lstStyle/>
          <a:p>
            <a:pPr algn="l" indent="0" marL="0">
              <a:buNone/>
            </a:pPr>
            <a:r>
              <a:rPr lang="en-US" sz="2550" b="1" dirty="0">
                <a:solidFill>
                  <a:srgbClr val="FFFFFF"/>
                </a:solidFill>
                <a:latin typeface="Inter" pitchFamily="34" charset="0"/>
                <a:ea typeface="Inter" pitchFamily="34" charset="-122"/>
                <a:cs typeface="Inter" pitchFamily="34" charset="-120"/>
              </a:rPr>
              <a:t>Hardmask TiN</a:t>
            </a:r>
            <a:endParaRPr lang="en-US" sz="2550" dirty="0"/>
          </a:p>
        </p:txBody>
      </p:sp>
      <p:sp>
        <p:nvSpPr>
          <p:cNvPr id="24" name="Text 18"/>
          <p:cNvSpPr txBox="1"/>
          <p:nvPr/>
        </p:nvSpPr>
        <p:spPr>
          <a:xfrm>
            <a:off x="10763402" y="4507992"/>
            <a:ext cx="6477610" cy="540410"/>
          </a:xfrm>
          <a:prstGeom prst="rect">
            <a:avLst/>
          </a:prstGeom>
          <a:noFill/>
          <a:ln/>
        </p:spPr>
        <p:txBody>
          <a:bodyPr wrap="square" lIns="0" tIns="0" rIns="0" bIns="0" rtlCol="0" anchor="t"/>
          <a:lstStyle/>
          <a:p>
            <a:pPr algn="l" indent="0" marL="0">
              <a:lnSpc>
                <a:spcPts val="2025"/>
              </a:lnSpc>
              <a:buNone/>
            </a:pPr>
            <a:r>
              <a:rPr lang="en-US" sz="1350" dirty="0">
                <a:solidFill>
                  <a:srgbClr val="D1FAE5"/>
                </a:solidFill>
                <a:latin typeface="Inter" pitchFamily="34" charset="0"/>
                <a:ea typeface="Inter" pitchFamily="34" charset="-122"/>
                <a:cs typeface="Inter" pitchFamily="34" charset="-120"/>
              </a:rPr>
              <a:t>TiN 박막을 hardmask로 사용한 베이스라인</a:t>
            </a:r>
            <a:pPr algn="l" indent="0" marL="0">
              <a:lnSpc>
                <a:spcPts val="2025"/>
              </a:lnSpc>
              <a:buNone/>
            </a:pPr>
            <a:endParaRPr lang="en-US" sz="1350" dirty="0"/>
          </a:p>
          <a:p>
            <a:pPr algn="l" indent="0" marL="0">
              <a:lnSpc>
                <a:spcPts val="2025"/>
              </a:lnSpc>
              <a:buNone/>
            </a:pPr>
            <a:r>
              <a:rPr lang="en-US" sz="1350" dirty="0">
                <a:solidFill>
                  <a:srgbClr val="D1FAE5"/>
                </a:solidFill>
                <a:latin typeface="Inter" pitchFamily="34" charset="0"/>
                <a:ea typeface="Inter" pitchFamily="34" charset="-122"/>
                <a:cs typeface="Inter" pitchFamily="34" charset="-120"/>
              </a:rPr>
              <a:t>Wafer W01 · W02 · W03 · W04 (4매)</a:t>
            </a:r>
            <a:endParaRPr lang="en-US" sz="1350" dirty="0"/>
          </a:p>
        </p:txBody>
      </p:sp>
      <p:sp>
        <p:nvSpPr>
          <p:cNvPr id="25" name="Text 19"/>
          <p:cNvSpPr txBox="1"/>
          <p:nvPr/>
        </p:nvSpPr>
        <p:spPr>
          <a:xfrm>
            <a:off x="10763402" y="5924398"/>
            <a:ext cx="6477610" cy="162763"/>
          </a:xfrm>
          <a:prstGeom prst="rect">
            <a:avLst/>
          </a:prstGeom>
          <a:noFill/>
          <a:ln/>
        </p:spPr>
        <p:txBody>
          <a:bodyPr wrap="none" lIns="0" tIns="0" rIns="0" bIns="0" rtlCol="0" anchor="ctr"/>
          <a:lstStyle/>
          <a:p>
            <a:pPr algn="l" indent="0" marL="0">
              <a:buNone/>
            </a:pPr>
            <a:r>
              <a:rPr lang="en-US" sz="1050" b="1" spc="189" kern="0" dirty="0">
                <a:solidFill>
                  <a:srgbClr val="047857"/>
                </a:solidFill>
                <a:latin typeface="Inter" pitchFamily="34" charset="0"/>
                <a:ea typeface="Inter" pitchFamily="34" charset="-122"/>
                <a:cs typeface="Inter" pitchFamily="34" charset="-120"/>
              </a:rPr>
              <a:t>Split B</a:t>
            </a:r>
            <a:endParaRPr lang="en-US" sz="1050" dirty="0"/>
          </a:p>
        </p:txBody>
      </p:sp>
      <p:sp>
        <p:nvSpPr>
          <p:cNvPr id="26" name="Text 20"/>
          <p:cNvSpPr txBox="1"/>
          <p:nvPr/>
        </p:nvSpPr>
        <p:spPr>
          <a:xfrm>
            <a:off x="10763402" y="6163056"/>
            <a:ext cx="6477610" cy="391363"/>
          </a:xfrm>
          <a:prstGeom prst="rect">
            <a:avLst/>
          </a:prstGeom>
          <a:noFill/>
          <a:ln/>
        </p:spPr>
        <p:txBody>
          <a:bodyPr wrap="none" lIns="0" tIns="0" rIns="0" bIns="0" rtlCol="0" anchor="ctr"/>
          <a:lstStyle/>
          <a:p>
            <a:pPr algn="l" indent="0" marL="0">
              <a:buNone/>
            </a:pPr>
            <a:r>
              <a:rPr lang="en-US" sz="2550" b="1" dirty="0">
                <a:solidFill>
                  <a:srgbClr val="064E3B"/>
                </a:solidFill>
                <a:latin typeface="Inter" pitchFamily="34" charset="0"/>
                <a:ea typeface="Inter" pitchFamily="34" charset="-122"/>
                <a:cs typeface="Inter" pitchFamily="34" charset="-120"/>
              </a:rPr>
              <a:t>Metal-free SiN</a:t>
            </a:r>
            <a:endParaRPr lang="en-US" sz="2550" dirty="0"/>
          </a:p>
        </p:txBody>
      </p:sp>
      <p:sp>
        <p:nvSpPr>
          <p:cNvPr id="27" name="Text 21"/>
          <p:cNvSpPr txBox="1"/>
          <p:nvPr/>
        </p:nvSpPr>
        <p:spPr>
          <a:xfrm>
            <a:off x="10763402" y="6603797"/>
            <a:ext cx="6477610" cy="540410"/>
          </a:xfrm>
          <a:prstGeom prst="rect">
            <a:avLst/>
          </a:prstGeom>
          <a:noFill/>
          <a:ln/>
        </p:spPr>
        <p:txBody>
          <a:bodyPr wrap="square" lIns="0" tIns="0" rIns="0" bIns="0" rtlCol="0" anchor="t"/>
          <a:lstStyle/>
          <a:p>
            <a:pPr algn="l" indent="0" marL="0">
              <a:lnSpc>
                <a:spcPts val="2025"/>
              </a:lnSpc>
              <a:buNone/>
            </a:pPr>
            <a:r>
              <a:rPr lang="en-US" sz="1350" dirty="0">
                <a:solidFill>
                  <a:srgbClr val="4B5563"/>
                </a:solidFill>
                <a:latin typeface="Inter" pitchFamily="34" charset="0"/>
                <a:ea typeface="Inter" pitchFamily="34" charset="-122"/>
                <a:cs typeface="Inter" pitchFamily="34" charset="-120"/>
              </a:rPr>
              <a:t>금속 hardmask 배제, SiN 단일 통합안</a:t>
            </a:r>
            <a:pPr algn="l" indent="0" marL="0">
              <a:lnSpc>
                <a:spcPts val="2025"/>
              </a:lnSpc>
              <a:buNone/>
            </a:pPr>
            <a:endParaRPr lang="en-US" sz="1350" dirty="0"/>
          </a:p>
          <a:p>
            <a:pPr algn="l" indent="0" marL="0">
              <a:lnSpc>
                <a:spcPts val="2025"/>
              </a:lnSpc>
              <a:buNone/>
            </a:pPr>
            <a:r>
              <a:rPr lang="en-US" sz="1350" dirty="0">
                <a:solidFill>
                  <a:srgbClr val="4B5563"/>
                </a:solidFill>
                <a:latin typeface="Inter" pitchFamily="34" charset="0"/>
                <a:ea typeface="Inter" pitchFamily="34" charset="-122"/>
                <a:cs typeface="Inter" pitchFamily="34" charset="-120"/>
              </a:rPr>
              <a:t>Wafer W05 · W06 · W07 · W08 (4매)</a:t>
            </a:r>
            <a:endParaRPr lang="en-US" sz="1350" dirty="0"/>
          </a:p>
        </p:txBody>
      </p:sp>
      <p:sp>
        <p:nvSpPr>
          <p:cNvPr id="28" name="Text 22"/>
          <p:cNvSpPr txBox="1"/>
          <p:nvPr/>
        </p:nvSpPr>
        <p:spPr>
          <a:xfrm>
            <a:off x="857707" y="5848502"/>
            <a:ext cx="9335110" cy="191110"/>
          </a:xfrm>
          <a:prstGeom prst="rect">
            <a:avLst/>
          </a:prstGeom>
          <a:noFill/>
          <a:ln/>
        </p:spPr>
        <p:txBody>
          <a:bodyPr wrap="none" lIns="0" tIns="0" rIns="0" bIns="0" rtlCol="0" anchor="ctr"/>
          <a:lstStyle/>
          <a:p>
            <a:pPr algn="l" indent="0" marL="0">
              <a:buNone/>
            </a:pPr>
            <a:r>
              <a:rPr lang="en-US" sz="1050" b="1" spc="189" kern="0" dirty="0">
                <a:solidFill>
                  <a:srgbClr val="047857"/>
                </a:solidFill>
                <a:latin typeface="Inter" pitchFamily="34" charset="0"/>
                <a:ea typeface="Inter" pitchFamily="34" charset="-122"/>
                <a:cs typeface="Inter" pitchFamily="34" charset="-120"/>
              </a:rPr>
              <a:t>평가 메트릭 4종</a:t>
            </a:r>
            <a:endParaRPr lang="en-US" sz="1050" dirty="0"/>
          </a:p>
        </p:txBody>
      </p:sp>
      <p:sp>
        <p:nvSpPr>
          <p:cNvPr id="29" name="Shape 23"/>
          <p:cNvSpPr/>
          <p:nvPr/>
        </p:nvSpPr>
        <p:spPr>
          <a:xfrm>
            <a:off x="857707" y="6172200"/>
            <a:ext cx="2238451" cy="923544"/>
          </a:xfrm>
          <a:prstGeom prst="roundRect">
            <a:avLst>
              <a:gd name="adj" fmla="val 10297"/>
            </a:avLst>
          </a:prstGeom>
          <a:solidFill>
            <a:srgbClr val="FFFFFF"/>
          </a:solidFill>
          <a:ln w="12700">
            <a:solidFill>
              <a:srgbClr val="E5E7EB"/>
            </a:solidFill>
            <a:prstDash val="solid"/>
          </a:ln>
        </p:spPr>
      </p:sp>
      <p:sp>
        <p:nvSpPr>
          <p:cNvPr id="30" name="Text 24"/>
          <p:cNvSpPr txBox="1"/>
          <p:nvPr/>
        </p:nvSpPr>
        <p:spPr>
          <a:xfrm>
            <a:off x="1019556" y="6314846"/>
            <a:ext cx="1914754" cy="152705"/>
          </a:xfrm>
          <a:prstGeom prst="rect">
            <a:avLst/>
          </a:prstGeom>
          <a:noFill/>
          <a:ln/>
        </p:spPr>
        <p:txBody>
          <a:bodyPr wrap="none" lIns="0" tIns="0" rIns="0" bIns="0" rtlCol="0" anchor="ctr"/>
          <a:lstStyle/>
          <a:p>
            <a:pPr algn="l" indent="0" marL="0">
              <a:buNone/>
            </a:pPr>
            <a:r>
              <a:rPr lang="en-US" sz="975" spc="59" kern="0" dirty="0">
                <a:solidFill>
                  <a:srgbClr val="6B7280"/>
                </a:solidFill>
                <a:latin typeface="Inter" pitchFamily="34" charset="0"/>
                <a:ea typeface="Inter" pitchFamily="34" charset="-122"/>
                <a:cs typeface="Inter" pitchFamily="34" charset="-120"/>
              </a:rPr>
              <a:t>CD-AASI</a:t>
            </a:r>
            <a:endParaRPr lang="en-US" sz="975" dirty="0"/>
          </a:p>
        </p:txBody>
      </p:sp>
      <p:sp>
        <p:nvSpPr>
          <p:cNvPr id="31" name="Text 25"/>
          <p:cNvSpPr txBox="1"/>
          <p:nvPr/>
        </p:nvSpPr>
        <p:spPr>
          <a:xfrm>
            <a:off x="1019556" y="6505956"/>
            <a:ext cx="1914754"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25.2 nm</a:t>
            </a:r>
            <a:endParaRPr lang="en-US" sz="1800" dirty="0"/>
          </a:p>
        </p:txBody>
      </p:sp>
      <p:sp>
        <p:nvSpPr>
          <p:cNvPr id="32" name="Text 26"/>
          <p:cNvSpPr txBox="1"/>
          <p:nvPr/>
        </p:nvSpPr>
        <p:spPr>
          <a:xfrm>
            <a:off x="1019556" y="6801307"/>
            <a:ext cx="1914754" cy="152705"/>
          </a:xfrm>
          <a:prstGeom prst="rect">
            <a:avLst/>
          </a:prstGeom>
          <a:noFill/>
          <a:ln/>
        </p:spPr>
        <p:txBody>
          <a:bodyPr wrap="none" lIns="0" tIns="0" rIns="0" bIns="0" rtlCol="0" anchor="ctr"/>
          <a:lstStyle/>
          <a:p>
            <a:pPr algn="l" indent="0" marL="0">
              <a:buNone/>
            </a:pPr>
            <a:r>
              <a:rPr lang="en-US" sz="975" dirty="0">
                <a:solidFill>
                  <a:srgbClr val="6B7280"/>
                </a:solidFill>
                <a:latin typeface="Inter" pitchFamily="34" charset="0"/>
                <a:ea typeface="Inter" pitchFamily="34" charset="-122"/>
                <a:cs typeface="Inter" pitchFamily="34" charset="-120"/>
              </a:rPr>
              <a:t>after-AA space, isotropic</a:t>
            </a:r>
            <a:endParaRPr lang="en-US" sz="975" dirty="0"/>
          </a:p>
        </p:txBody>
      </p:sp>
      <p:sp>
        <p:nvSpPr>
          <p:cNvPr id="33" name="Shape 27"/>
          <p:cNvSpPr/>
          <p:nvPr/>
        </p:nvSpPr>
        <p:spPr>
          <a:xfrm>
            <a:off x="3224174" y="6172200"/>
            <a:ext cx="2238451" cy="923544"/>
          </a:xfrm>
          <a:prstGeom prst="roundRect">
            <a:avLst>
              <a:gd name="adj" fmla="val 10297"/>
            </a:avLst>
          </a:prstGeom>
          <a:solidFill>
            <a:srgbClr val="FFFFFF"/>
          </a:solidFill>
          <a:ln w="12700">
            <a:solidFill>
              <a:srgbClr val="E5E7EB"/>
            </a:solidFill>
            <a:prstDash val="solid"/>
          </a:ln>
        </p:spPr>
      </p:sp>
      <p:sp>
        <p:nvSpPr>
          <p:cNvPr id="34" name="Text 28"/>
          <p:cNvSpPr txBox="1"/>
          <p:nvPr/>
        </p:nvSpPr>
        <p:spPr>
          <a:xfrm>
            <a:off x="3386023" y="6314846"/>
            <a:ext cx="1914754" cy="152705"/>
          </a:xfrm>
          <a:prstGeom prst="rect">
            <a:avLst/>
          </a:prstGeom>
          <a:noFill/>
          <a:ln/>
        </p:spPr>
        <p:txBody>
          <a:bodyPr wrap="none" lIns="0" tIns="0" rIns="0" bIns="0" rtlCol="0" anchor="ctr"/>
          <a:lstStyle/>
          <a:p>
            <a:pPr algn="l" indent="0" marL="0">
              <a:buNone/>
            </a:pPr>
            <a:r>
              <a:rPr lang="en-US" sz="975" spc="59" kern="0" dirty="0">
                <a:solidFill>
                  <a:srgbClr val="6B7280"/>
                </a:solidFill>
                <a:latin typeface="Inter" pitchFamily="34" charset="0"/>
                <a:ea typeface="Inter" pitchFamily="34" charset="-122"/>
                <a:cs typeface="Inter" pitchFamily="34" charset="-120"/>
              </a:rPr>
              <a:t>CD-ASEI</a:t>
            </a:r>
            <a:endParaRPr lang="en-US" sz="975" dirty="0"/>
          </a:p>
        </p:txBody>
      </p:sp>
      <p:sp>
        <p:nvSpPr>
          <p:cNvPr id="35" name="Text 29"/>
          <p:cNvSpPr txBox="1"/>
          <p:nvPr/>
        </p:nvSpPr>
        <p:spPr>
          <a:xfrm>
            <a:off x="3386023" y="6505956"/>
            <a:ext cx="1914754"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15.5 nm</a:t>
            </a:r>
            <a:endParaRPr lang="en-US" sz="1800" dirty="0"/>
          </a:p>
        </p:txBody>
      </p:sp>
      <p:sp>
        <p:nvSpPr>
          <p:cNvPr id="36" name="Text 30"/>
          <p:cNvSpPr txBox="1"/>
          <p:nvPr/>
        </p:nvSpPr>
        <p:spPr>
          <a:xfrm>
            <a:off x="3386023" y="6801307"/>
            <a:ext cx="1914754" cy="152705"/>
          </a:xfrm>
          <a:prstGeom prst="rect">
            <a:avLst/>
          </a:prstGeom>
          <a:noFill/>
          <a:ln/>
        </p:spPr>
        <p:txBody>
          <a:bodyPr wrap="none" lIns="0" tIns="0" rIns="0" bIns="0" rtlCol="0" anchor="ctr"/>
          <a:lstStyle/>
          <a:p>
            <a:pPr algn="l" indent="0" marL="0">
              <a:buNone/>
            </a:pPr>
            <a:r>
              <a:rPr lang="en-US" sz="975" dirty="0">
                <a:solidFill>
                  <a:srgbClr val="6B7280"/>
                </a:solidFill>
                <a:latin typeface="Inter" pitchFamily="34" charset="0"/>
                <a:ea typeface="Inter" pitchFamily="34" charset="-122"/>
                <a:cs typeface="Inter" pitchFamily="34" charset="-120"/>
              </a:rPr>
              <a:t>space etch inspection</a:t>
            </a:r>
            <a:endParaRPr lang="en-US" sz="975" dirty="0"/>
          </a:p>
        </p:txBody>
      </p:sp>
      <p:sp>
        <p:nvSpPr>
          <p:cNvPr id="37" name="Shape 31"/>
          <p:cNvSpPr/>
          <p:nvPr/>
        </p:nvSpPr>
        <p:spPr>
          <a:xfrm>
            <a:off x="5591556" y="6172200"/>
            <a:ext cx="2238451" cy="923544"/>
          </a:xfrm>
          <a:prstGeom prst="roundRect">
            <a:avLst>
              <a:gd name="adj" fmla="val 10297"/>
            </a:avLst>
          </a:prstGeom>
          <a:solidFill>
            <a:srgbClr val="FFFFFF"/>
          </a:solidFill>
          <a:ln w="12700">
            <a:solidFill>
              <a:srgbClr val="E5E7EB"/>
            </a:solidFill>
            <a:prstDash val="solid"/>
          </a:ln>
        </p:spPr>
      </p:sp>
      <p:sp>
        <p:nvSpPr>
          <p:cNvPr id="38" name="Text 32"/>
          <p:cNvSpPr txBox="1"/>
          <p:nvPr/>
        </p:nvSpPr>
        <p:spPr>
          <a:xfrm>
            <a:off x="5753405" y="6314846"/>
            <a:ext cx="1914754" cy="152705"/>
          </a:xfrm>
          <a:prstGeom prst="rect">
            <a:avLst/>
          </a:prstGeom>
          <a:noFill/>
          <a:ln/>
        </p:spPr>
        <p:txBody>
          <a:bodyPr wrap="none" lIns="0" tIns="0" rIns="0" bIns="0" rtlCol="0" anchor="ctr"/>
          <a:lstStyle/>
          <a:p>
            <a:pPr algn="l" indent="0" marL="0">
              <a:buNone/>
            </a:pPr>
            <a:r>
              <a:rPr lang="en-US" sz="975" spc="59" kern="0" dirty="0">
                <a:solidFill>
                  <a:srgbClr val="6B7280"/>
                </a:solidFill>
                <a:latin typeface="Inter" pitchFamily="34" charset="0"/>
                <a:ea typeface="Inter" pitchFamily="34" charset="-122"/>
                <a:cs typeface="Inter" pitchFamily="34" charset="-120"/>
              </a:rPr>
              <a:t>CD-AMI</a:t>
            </a:r>
            <a:endParaRPr lang="en-US" sz="975" dirty="0"/>
          </a:p>
        </p:txBody>
      </p:sp>
      <p:sp>
        <p:nvSpPr>
          <p:cNvPr id="39" name="Text 33"/>
          <p:cNvSpPr txBox="1"/>
          <p:nvPr/>
        </p:nvSpPr>
        <p:spPr>
          <a:xfrm>
            <a:off x="5753405" y="6505956"/>
            <a:ext cx="1914754"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9.4 nm</a:t>
            </a:r>
            <a:endParaRPr lang="en-US" sz="1800" dirty="0"/>
          </a:p>
        </p:txBody>
      </p:sp>
      <p:sp>
        <p:nvSpPr>
          <p:cNvPr id="40" name="Text 34"/>
          <p:cNvSpPr txBox="1"/>
          <p:nvPr/>
        </p:nvSpPr>
        <p:spPr>
          <a:xfrm>
            <a:off x="5753405" y="6801307"/>
            <a:ext cx="1914754" cy="152705"/>
          </a:xfrm>
          <a:prstGeom prst="rect">
            <a:avLst/>
          </a:prstGeom>
          <a:noFill/>
          <a:ln/>
        </p:spPr>
        <p:txBody>
          <a:bodyPr wrap="none" lIns="0" tIns="0" rIns="0" bIns="0" rtlCol="0" anchor="ctr"/>
          <a:lstStyle/>
          <a:p>
            <a:pPr algn="l" indent="0" marL="0">
              <a:buNone/>
            </a:pPr>
            <a:r>
              <a:rPr lang="en-US" sz="975" dirty="0">
                <a:solidFill>
                  <a:srgbClr val="6B7280"/>
                </a:solidFill>
                <a:latin typeface="Inter" pitchFamily="34" charset="0"/>
                <a:ea typeface="Inter" pitchFamily="34" charset="-122"/>
                <a:cs typeface="Inter" pitchFamily="34" charset="-120"/>
              </a:rPr>
              <a:t>after-metal inspection</a:t>
            </a:r>
            <a:endParaRPr lang="en-US" sz="975" dirty="0"/>
          </a:p>
        </p:txBody>
      </p:sp>
      <p:sp>
        <p:nvSpPr>
          <p:cNvPr id="41" name="Shape 35"/>
          <p:cNvSpPr/>
          <p:nvPr/>
        </p:nvSpPr>
        <p:spPr>
          <a:xfrm>
            <a:off x="7958023" y="6172200"/>
            <a:ext cx="2238451" cy="923544"/>
          </a:xfrm>
          <a:prstGeom prst="roundRect">
            <a:avLst>
              <a:gd name="adj" fmla="val 10297"/>
            </a:avLst>
          </a:prstGeom>
          <a:solidFill>
            <a:srgbClr val="FFFFFF"/>
          </a:solidFill>
          <a:ln w="12700">
            <a:solidFill>
              <a:srgbClr val="E5E7EB"/>
            </a:solidFill>
            <a:prstDash val="solid"/>
          </a:ln>
        </p:spPr>
      </p:sp>
      <p:sp>
        <p:nvSpPr>
          <p:cNvPr id="42" name="Text 36"/>
          <p:cNvSpPr txBox="1"/>
          <p:nvPr/>
        </p:nvSpPr>
        <p:spPr>
          <a:xfrm>
            <a:off x="8119872" y="6314846"/>
            <a:ext cx="1914754" cy="152705"/>
          </a:xfrm>
          <a:prstGeom prst="rect">
            <a:avLst/>
          </a:prstGeom>
          <a:noFill/>
          <a:ln/>
        </p:spPr>
        <p:txBody>
          <a:bodyPr wrap="none" lIns="0" tIns="0" rIns="0" bIns="0" rtlCol="0" anchor="ctr"/>
          <a:lstStyle/>
          <a:p>
            <a:pPr algn="l" indent="0" marL="0">
              <a:buNone/>
            </a:pPr>
            <a:r>
              <a:rPr lang="en-US" sz="975" spc="59" kern="0" dirty="0">
                <a:solidFill>
                  <a:srgbClr val="6B7280"/>
                </a:solidFill>
                <a:latin typeface="Inter" pitchFamily="34" charset="0"/>
                <a:ea typeface="Inter" pitchFamily="34" charset="-122"/>
                <a:cs typeface="Inter" pitchFamily="34" charset="-120"/>
              </a:rPr>
              <a:t>CD-ACI</a:t>
            </a:r>
            <a:endParaRPr lang="en-US" sz="975" dirty="0"/>
          </a:p>
        </p:txBody>
      </p:sp>
      <p:sp>
        <p:nvSpPr>
          <p:cNvPr id="43" name="Text 37"/>
          <p:cNvSpPr txBox="1"/>
          <p:nvPr/>
        </p:nvSpPr>
        <p:spPr>
          <a:xfrm>
            <a:off x="8119872" y="6505956"/>
            <a:ext cx="1914754"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8.1 nm</a:t>
            </a:r>
            <a:endParaRPr lang="en-US" sz="1800" dirty="0"/>
          </a:p>
        </p:txBody>
      </p:sp>
      <p:sp>
        <p:nvSpPr>
          <p:cNvPr id="44" name="Text 38"/>
          <p:cNvSpPr txBox="1"/>
          <p:nvPr/>
        </p:nvSpPr>
        <p:spPr>
          <a:xfrm>
            <a:off x="8119872" y="6801307"/>
            <a:ext cx="1914754" cy="152705"/>
          </a:xfrm>
          <a:prstGeom prst="rect">
            <a:avLst/>
          </a:prstGeom>
          <a:noFill/>
          <a:ln/>
        </p:spPr>
        <p:txBody>
          <a:bodyPr wrap="none" lIns="0" tIns="0" rIns="0" bIns="0" rtlCol="0" anchor="ctr"/>
          <a:lstStyle/>
          <a:p>
            <a:pPr algn="l" indent="0" marL="0">
              <a:buNone/>
            </a:pPr>
            <a:r>
              <a:rPr lang="en-US" sz="975" dirty="0">
                <a:solidFill>
                  <a:srgbClr val="6B7280"/>
                </a:solidFill>
                <a:latin typeface="Inter" pitchFamily="34" charset="0"/>
                <a:ea typeface="Inter" pitchFamily="34" charset="-122"/>
                <a:cs typeface="Inter" pitchFamily="34" charset="-120"/>
              </a:rPr>
              <a:t>after-CMP inspection</a:t>
            </a:r>
            <a:endParaRPr lang="en-US" sz="975" dirty="0"/>
          </a:p>
        </p:txBody>
      </p:sp>
      <p:sp>
        <p:nvSpPr>
          <p:cNvPr id="45" name="Text 39"/>
          <p:cNvSpPr txBox="1"/>
          <p:nvPr/>
        </p:nvSpPr>
        <p:spPr>
          <a:xfrm>
            <a:off x="1143000" y="8382305"/>
            <a:ext cx="16193110" cy="124358"/>
          </a:xfrm>
          <a:prstGeom prst="rect">
            <a:avLst/>
          </a:prstGeom>
          <a:noFill/>
          <a:ln/>
        </p:spPr>
        <p:txBody>
          <a:bodyPr wrap="none" lIns="0" tIns="0" rIns="0" bIns="0" rtlCol="0" anchor="ctr"/>
          <a:lstStyle/>
          <a:p>
            <a:pPr algn="l" indent="0" marL="0">
              <a:buNone/>
            </a:pPr>
            <a:r>
              <a:rPr lang="en-US" sz="975" b="1" spc="176" kern="0" dirty="0">
                <a:solidFill>
                  <a:srgbClr val="047857"/>
                </a:solidFill>
                <a:latin typeface="Inter" pitchFamily="34" charset="0"/>
                <a:ea typeface="Inter" pitchFamily="34" charset="-122"/>
                <a:cs typeface="Inter" pitchFamily="34" charset="-120"/>
              </a:rPr>
              <a:t>KEY TAKEAWAY</a:t>
            </a:r>
            <a:endParaRPr lang="en-US" sz="975" dirty="0"/>
          </a:p>
        </p:txBody>
      </p:sp>
      <p:sp>
        <p:nvSpPr>
          <p:cNvPr id="46" name="Text 40"/>
          <p:cNvSpPr txBox="1"/>
          <p:nvPr/>
        </p:nvSpPr>
        <p:spPr>
          <a:xfrm>
            <a:off x="1143000" y="8563356"/>
            <a:ext cx="16878910" cy="314554"/>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동일 4 metric CD(SEM)와 line Rs·via Rc·leakage 4종 전기 항목을 wafer별 수치로 비교; metal-free SiN이 CD 변동과 Rs 변동 모두 약간 우세, dummy 데이터임.</a:t>
            </a:r>
            <a:endParaRPr lang="en-US" sz="1800" dirty="0"/>
          </a:p>
        </p:txBody>
      </p:sp>
      <p:sp>
        <p:nvSpPr>
          <p:cNvPr id="47" name="Text 41"/>
          <p:cNvSpPr txBox="1"/>
          <p:nvPr/>
        </p:nvSpPr>
        <p:spPr>
          <a:xfrm>
            <a:off x="857707" y="9924898"/>
            <a:ext cx="16573500" cy="247802"/>
          </a:xfrm>
          <a:prstGeom prst="rect">
            <a:avLst/>
          </a:prstGeom>
          <a:noFill/>
          <a:ln/>
        </p:spPr>
        <p:txBody>
          <a:bodyPr wrap="square" lIns="0" tIns="0" rIns="0" bIns="0" rtlCol="0" anchor="ctr"/>
          <a:lstStyle/>
          <a:p>
            <a:pPr algn="l" indent="0" marL="0">
              <a:buNone/>
            </a:pPr>
            <a:r>
              <a:rPr lang="en-US" sz="1350" dirty="0">
                <a:solidFill>
                  <a:srgbClr val="6B7280"/>
                </a:solidFill>
                <a:latin typeface="Inter" pitchFamily="34" charset="0"/>
                <a:ea typeface="Inter" pitchFamily="34" charset="-122"/>
                <a:cs typeface="Inter" pitchFamily="34" charset="-120"/>
              </a:rPr>
              <a:t>※ 내부 테스트용 더미(가상) 데이터</a:t>
            </a:r>
            <a:pPr algn="l" indent="0" marL="0">
              <a:buNone/>
            </a:pPr>
            <a:r>
              <a:rPr lang="en-US" sz="1350" dirty="0">
                <a:solidFill>
                  <a:srgbClr val="6B7280"/>
                </a:solidFill>
                <a:latin typeface="Inter" pitchFamily="34" charset="0"/>
                <a:ea typeface="Inter" pitchFamily="34" charset="-122"/>
                <a:cs typeface="Inter" pitchFamily="34" charset="-120"/>
              </a:rPr>
              <a:t>M2 · 8 wafer · dummy · 01 / 09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gen-dedup-6529446cf56d93c4176f806c35d70914.png">    </p:cNvPr>
          <p:cNvPicPr>
            <a:picLocks noChangeAspect="1"/>
          </p:cNvPicPr>
          <p:nvPr/>
        </p:nvPicPr>
        <p:blipFill>
          <a:blip r:embed="rId1"/>
          <a:srcRect l="0" r="0" t="0" b="0"/>
          <a:stretch/>
        </p:blipFill>
        <p:spPr>
          <a:xfrm>
            <a:off x="15049195" y="-1714500"/>
            <a:ext cx="4953305" cy="4953305"/>
          </a:xfrm>
          <a:prstGeom prst="rect">
            <a:avLst/>
          </a:prstGeom>
        </p:spPr>
      </p:pic>
      <p:sp>
        <p:nvSpPr>
          <p:cNvPr id="4" name="Shape 0"/>
          <p:cNvSpPr/>
          <p:nvPr/>
        </p:nvSpPr>
        <p:spPr>
          <a:xfrm>
            <a:off x="0" y="0"/>
            <a:ext cx="18288000" cy="10287000"/>
          </a:xfrm>
          <a:prstGeom prst="rect">
            <a:avLst/>
          </a:prstGeom>
          <a:solidFill>
            <a:srgbClr val="F4F8F4"/>
          </a:solidFill>
          <a:ln w="12700">
            <a:solidFill>
              <a:srgbClr val="FFFFFF">
                <a:alpha val="0"/>
              </a:srgbClr>
            </a:solidFill>
            <a:prstDash val="solid"/>
          </a:ln>
        </p:spPr>
      </p:sp>
      <p:pic>
        <p:nvPicPr>
          <p:cNvPr id="5" name="Image 1" descr="gen-dedup-9f756d088ccab554fab4af68e4cfd63b.png">    </p:cNvPr>
          <p:cNvPicPr>
            <a:picLocks noChangeAspect="1"/>
          </p:cNvPicPr>
          <p:nvPr/>
        </p:nvPicPr>
        <p:blipFill>
          <a:blip r:embed="rId2"/>
          <a:srcRect l="0" r="0" t="-3" b="-3"/>
          <a:stretch/>
        </p:blipFill>
        <p:spPr>
          <a:xfrm>
            <a:off x="857707" y="2553005"/>
            <a:ext cx="10287000" cy="5524805"/>
          </a:xfrm>
          <a:prstGeom prst="rect">
            <a:avLst/>
          </a:prstGeom>
        </p:spPr>
      </p:pic>
      <p:pic>
        <p:nvPicPr>
          <p:cNvPr id="6" name="Image 2" descr="gen-dedup-23fef22d8e4c85a71fe972ab5e1b9bfd.png">    </p:cNvPr>
          <p:cNvPicPr>
            <a:picLocks noChangeAspect="1"/>
          </p:cNvPicPr>
          <p:nvPr/>
        </p:nvPicPr>
        <p:blipFill>
          <a:blip r:embed="rId3"/>
          <a:srcRect l="0" r="0" t="-3" b="-3"/>
          <a:stretch/>
        </p:blipFill>
        <p:spPr>
          <a:xfrm>
            <a:off x="11430000" y="2553005"/>
            <a:ext cx="6001207" cy="3143707"/>
          </a:xfrm>
          <a:prstGeom prst="rect">
            <a:avLst/>
          </a:prstGeom>
        </p:spPr>
      </p:pic>
      <p:pic>
        <p:nvPicPr>
          <p:cNvPr id="7" name="Image 3" descr="gen-dedup-5bd7ba0299add1625cb4f6386897c654.png">    </p:cNvPr>
          <p:cNvPicPr>
            <a:picLocks noChangeAspect="1"/>
          </p:cNvPicPr>
          <p:nvPr/>
        </p:nvPicPr>
        <p:blipFill>
          <a:blip r:embed="rId4"/>
          <a:srcRect l="0" r="0" t="0" b="0"/>
          <a:stretch/>
        </p:blipFill>
        <p:spPr>
          <a:xfrm>
            <a:off x="11430000" y="5886907"/>
            <a:ext cx="6001207" cy="2190902"/>
          </a:xfrm>
          <a:prstGeom prst="rect">
            <a:avLst/>
          </a:prstGeom>
        </p:spPr>
      </p:pic>
      <p:pic>
        <p:nvPicPr>
          <p:cNvPr id="8" name="Image 4" descr="gen-dedup-2fbcf05202020e5c2fee389890c4e9a4.png">    </p:cNvPr>
          <p:cNvPicPr>
            <a:picLocks noChangeAspect="1"/>
          </p:cNvPicPr>
          <p:nvPr/>
        </p:nvPicPr>
        <p:blipFill>
          <a:blip r:embed="rId5"/>
          <a:srcRect l="0" r="0" t="-31" b="-31"/>
          <a:stretch/>
        </p:blipFill>
        <p:spPr>
          <a:xfrm>
            <a:off x="857707" y="8287207"/>
            <a:ext cx="16621049" cy="743407"/>
          </a:xfrm>
          <a:prstGeom prst="rect">
            <a:avLst/>
          </a:prstGeom>
        </p:spPr>
      </p:pic>
      <p:pic>
        <p:nvPicPr>
          <p:cNvPr id="9" name="Image 5" descr="gen-dedup-82fa3e7329effa32f9aac5cc700c3408.png">    </p:cNvPr>
          <p:cNvPicPr>
            <a:picLocks noChangeAspect="1"/>
          </p:cNvPicPr>
          <p:nvPr/>
        </p:nvPicPr>
        <p:blipFill>
          <a:blip r:embed="rId6"/>
          <a:srcRect l="0" r="0" t="-13" b="-13"/>
          <a:stretch/>
        </p:blipFill>
        <p:spPr>
          <a:xfrm>
            <a:off x="857707" y="2553005"/>
            <a:ext cx="10287000" cy="590702"/>
          </a:xfrm>
          <a:prstGeom prst="rect">
            <a:avLst/>
          </a:prstGeom>
        </p:spPr>
      </p:pic>
      <p:pic>
        <p:nvPicPr>
          <p:cNvPr id="10" name="Image 6" descr="gen-dedup-68df3a4428053faf464ad31e15bc9c9a.png">    </p:cNvPr>
          <p:cNvPicPr>
            <a:picLocks noChangeAspect="1"/>
          </p:cNvPicPr>
          <p:nvPr/>
        </p:nvPicPr>
        <p:blipFill>
          <a:blip r:embed="rId7"/>
          <a:srcRect l="-18" r="-18" t="0" b="0"/>
          <a:stretch/>
        </p:blipFill>
        <p:spPr>
          <a:xfrm>
            <a:off x="11430000" y="2553005"/>
            <a:ext cx="6001207" cy="552298"/>
          </a:xfrm>
          <a:prstGeom prst="rect">
            <a:avLst/>
          </a:prstGeom>
        </p:spPr>
      </p:pic>
      <p:pic>
        <p:nvPicPr>
          <p:cNvPr id="11" name="Image 7" descr="gen-dedup-d9860bcffa0402f4e32946af3759a8ce.png">    </p:cNvPr>
          <p:cNvPicPr>
            <a:picLocks noChangeAspect="1"/>
          </p:cNvPicPr>
          <p:nvPr/>
        </p:nvPicPr>
        <p:blipFill>
          <a:blip r:embed="rId8"/>
          <a:srcRect l="-21" r="-21" t="0" b="0"/>
          <a:stretch/>
        </p:blipFill>
        <p:spPr>
          <a:xfrm>
            <a:off x="11430000" y="5886907"/>
            <a:ext cx="6001207" cy="437998"/>
          </a:xfrm>
          <a:prstGeom prst="rect">
            <a:avLst/>
          </a:prstGeom>
        </p:spPr>
      </p:pic>
      <p:sp>
        <p:nvSpPr>
          <p:cNvPr id="12" name="Shape 1"/>
          <p:cNvSpPr/>
          <p:nvPr/>
        </p:nvSpPr>
        <p:spPr>
          <a:xfrm>
            <a:off x="857707" y="875995"/>
            <a:ext cx="95098" cy="95098"/>
          </a:xfrm>
          <a:prstGeom prst="ellipse">
            <a:avLst/>
          </a:prstGeom>
          <a:solidFill>
            <a:srgbClr val="047857"/>
          </a:solidFill>
          <a:ln w="12700">
            <a:solidFill>
              <a:srgbClr val="FFFFFF">
                <a:alpha val="0"/>
              </a:srgbClr>
            </a:solidFill>
            <a:prstDash val="solid"/>
          </a:ln>
        </p:spPr>
      </p:sp>
      <p:sp>
        <p:nvSpPr>
          <p:cNvPr id="13" name="Text 2"/>
          <p:cNvSpPr txBox="1"/>
          <p:nvPr/>
        </p:nvSpPr>
        <p:spPr>
          <a:xfrm>
            <a:off x="1086307" y="800100"/>
            <a:ext cx="2289658" cy="247802"/>
          </a:xfrm>
          <a:prstGeom prst="rect">
            <a:avLst/>
          </a:prstGeom>
          <a:noFill/>
          <a:ln/>
        </p:spPr>
        <p:txBody>
          <a:bodyPr wrap="none" lIns="0" tIns="0" rIns="0" bIns="0" rtlCol="0" anchor="ctr"/>
          <a:lstStyle/>
          <a:p>
            <a:pPr algn="l" indent="0" marL="0">
              <a:buNone/>
            </a:pPr>
            <a:r>
              <a:rPr lang="en-US" sz="1350" b="1" spc="243" kern="0" dirty="0">
                <a:solidFill>
                  <a:srgbClr val="047857"/>
                </a:solidFill>
                <a:latin typeface="Inter" pitchFamily="34" charset="0"/>
                <a:ea typeface="Inter" pitchFamily="34" charset="-122"/>
                <a:cs typeface="Inter" pitchFamily="34" charset="-120"/>
              </a:rPr>
              <a:t>02 / 09 · Lot 정보</a:t>
            </a:r>
            <a:endParaRPr lang="en-US" sz="1350" dirty="0"/>
          </a:p>
        </p:txBody>
      </p:sp>
      <p:sp>
        <p:nvSpPr>
          <p:cNvPr id="14" name="Text 3"/>
          <p:cNvSpPr txBox="1"/>
          <p:nvPr/>
        </p:nvSpPr>
        <p:spPr>
          <a:xfrm>
            <a:off x="857707" y="1123798"/>
            <a:ext cx="12764110" cy="571500"/>
          </a:xfrm>
          <a:prstGeom prst="rect">
            <a:avLst/>
          </a:prstGeom>
          <a:noFill/>
          <a:ln/>
        </p:spPr>
        <p:txBody>
          <a:bodyPr wrap="none" lIns="0" tIns="0" rIns="0" bIns="0" rtlCol="0" anchor="ctr"/>
          <a:lstStyle/>
          <a:p>
            <a:pPr algn="l" indent="0" marL="0">
              <a:buNone/>
            </a:pPr>
            <a:r>
              <a:rPr lang="en-US" sz="4050" b="1" spc="-81" kern="0" dirty="0">
                <a:solidFill>
                  <a:srgbClr val="0B1F18"/>
                </a:solidFill>
                <a:latin typeface="Inter" pitchFamily="34" charset="0"/>
                <a:ea typeface="Inter" pitchFamily="34" charset="-122"/>
                <a:cs typeface="Inter" pitchFamily="34" charset="-120"/>
              </a:rPr>
              <a:t>Lot 메타데이터와 분할 매핑</a:t>
            </a:r>
            <a:endParaRPr lang="en-US" sz="4050" dirty="0"/>
          </a:p>
        </p:txBody>
      </p:sp>
      <p:sp>
        <p:nvSpPr>
          <p:cNvPr id="15" name="Text 4"/>
          <p:cNvSpPr txBox="1"/>
          <p:nvPr/>
        </p:nvSpPr>
        <p:spPr>
          <a:xfrm>
            <a:off x="857707" y="1904695"/>
            <a:ext cx="12764110" cy="286207"/>
          </a:xfrm>
          <a:prstGeom prst="rect">
            <a:avLst/>
          </a:prstGeom>
          <a:noFill/>
          <a:ln/>
        </p:spPr>
        <p:txBody>
          <a:bodyPr wrap="none" lIns="0" tIns="0" rIns="0" bIns="0" rtlCol="0" anchor="ctr"/>
          <a:lstStyle/>
          <a:p>
            <a:pPr algn="l" indent="0" marL="0">
              <a:buNone/>
            </a:pPr>
            <a:r>
              <a:rPr lang="en-US" sz="1500" dirty="0">
                <a:solidFill>
                  <a:srgbClr val="4B5563"/>
                </a:solidFill>
                <a:latin typeface="Inter" pitchFamily="34" charset="0"/>
                <a:ea typeface="Inter" pitchFamily="34" charset="-122"/>
                <a:cs typeface="Inter" pitchFamily="34" charset="-120"/>
              </a:rPr>
              <a:t>동일 exposure 필드 8장 wafer에 두 가지 hardmask 통합안을 적용, lot 레벨 메타데이터와 평가 시점의 분할 매핑</a:t>
            </a:r>
            <a:endParaRPr lang="en-US" sz="1500" dirty="0"/>
          </a:p>
        </p:txBody>
      </p:sp>
      <p:sp>
        <p:nvSpPr>
          <p:cNvPr id="16" name="Text 5"/>
          <p:cNvSpPr txBox="1"/>
          <p:nvPr/>
        </p:nvSpPr>
        <p:spPr>
          <a:xfrm>
            <a:off x="1181405" y="2723998"/>
            <a:ext cx="9658807" cy="286207"/>
          </a:xfrm>
          <a:prstGeom prst="rect">
            <a:avLst/>
          </a:prstGeom>
          <a:noFill/>
          <a:ln/>
        </p:spPr>
        <p:txBody>
          <a:bodyPr wrap="square" lIns="0" tIns="0" rIns="0" bIns="0" rtlCol="0" anchor="ctr"/>
          <a:lstStyle/>
          <a:p>
            <a:pPr algn="l" indent="0" marL="0">
              <a:buNone/>
            </a:pPr>
            <a:r>
              <a:rPr lang="en-US" sz="1350" b="1" dirty="0">
                <a:solidFill>
                  <a:srgbClr val="D1FAE5"/>
                </a:solidFill>
                <a:latin typeface="Inter" pitchFamily="34" charset="0"/>
                <a:ea typeface="Inter" pitchFamily="34" charset="-122"/>
                <a:cs typeface="Inter" pitchFamily="34" charset="-120"/>
              </a:rPr>
              <a:t>Lot 메타 (LOT-DMY-M2-S8)</a:t>
            </a:r>
            <a:endParaRPr lang="en-US" sz="1200" dirty="0"/>
          </a:p>
        </p:txBody>
      </p:sp>
      <p:sp>
        <p:nvSpPr>
          <p:cNvPr id="17" name="Shape 6"/>
          <p:cNvSpPr/>
          <p:nvPr/>
        </p:nvSpPr>
        <p:spPr>
          <a:xfrm>
            <a:off x="1181405" y="3724351"/>
            <a:ext cx="9658807" cy="9144"/>
          </a:xfrm>
          <a:prstGeom prst="rect">
            <a:avLst/>
          </a:prstGeom>
          <a:solidFill>
            <a:srgbClr val="ECFDF5"/>
          </a:solidFill>
          <a:ln w="12700">
            <a:solidFill>
              <a:srgbClr val="ECFDF5">
                <a:alpha val="0"/>
              </a:srgbClr>
            </a:solidFill>
            <a:prstDash val="solid"/>
          </a:ln>
        </p:spPr>
      </p:sp>
      <p:sp>
        <p:nvSpPr>
          <p:cNvPr id="18" name="Text 7"/>
          <p:cNvSpPr txBox="1"/>
          <p:nvPr/>
        </p:nvSpPr>
        <p:spPr>
          <a:xfrm>
            <a:off x="1181405" y="3353105"/>
            <a:ext cx="1905610" cy="295351"/>
          </a:xfrm>
          <a:prstGeom prst="rect">
            <a:avLst/>
          </a:prstGeom>
          <a:noFill/>
          <a:ln/>
        </p:spPr>
        <p:txBody>
          <a:bodyPr wrap="none" lIns="0" tIns="0" rIns="0" bIns="0" rtlCol="0" anchor="ctr"/>
          <a:lstStyle/>
          <a:p>
            <a:pPr algn="l" indent="0" marL="0">
              <a:buNone/>
            </a:pPr>
            <a:r>
              <a:rPr lang="en-US" sz="1425" dirty="0">
                <a:solidFill>
                  <a:srgbClr val="6B7280"/>
                </a:solidFill>
                <a:latin typeface="Inter" pitchFamily="34" charset="0"/>
                <a:ea typeface="Inter" pitchFamily="34" charset="-122"/>
                <a:cs typeface="Inter" pitchFamily="34" charset="-120"/>
              </a:rPr>
              <a:t>Lot ID</a:t>
            </a:r>
            <a:endParaRPr lang="en-US" sz="1425" dirty="0"/>
          </a:p>
        </p:txBody>
      </p:sp>
      <p:sp>
        <p:nvSpPr>
          <p:cNvPr id="19" name="Text 8"/>
          <p:cNvSpPr txBox="1"/>
          <p:nvPr/>
        </p:nvSpPr>
        <p:spPr>
          <a:xfrm>
            <a:off x="3314700" y="3353105"/>
            <a:ext cx="7525512" cy="295351"/>
          </a:xfrm>
          <a:prstGeom prst="rect">
            <a:avLst/>
          </a:prstGeom>
          <a:noFill/>
          <a:ln/>
        </p:spPr>
        <p:txBody>
          <a:bodyPr wrap="none" lIns="0" tIns="0" rIns="0" bIns="0" rtlCol="0" anchor="ctr"/>
          <a:lstStyle/>
          <a:p>
            <a:pPr algn="l" indent="0" marL="0">
              <a:buNone/>
            </a:pPr>
            <a:r>
              <a:rPr lang="en-US" sz="1425" b="1" dirty="0">
                <a:solidFill>
                  <a:srgbClr val="0B1F18"/>
                </a:solidFill>
                <a:latin typeface="Inter" pitchFamily="34" charset="0"/>
                <a:ea typeface="Inter" pitchFamily="34" charset="-122"/>
                <a:cs typeface="Inter" pitchFamily="34" charset="-120"/>
              </a:rPr>
              <a:t>DUMMY-M2-S8 (내부 가상 lot)</a:t>
            </a:r>
            <a:endParaRPr lang="en-US" sz="1425" dirty="0"/>
          </a:p>
        </p:txBody>
      </p:sp>
      <p:sp>
        <p:nvSpPr>
          <p:cNvPr id="20" name="Shape 9"/>
          <p:cNvSpPr/>
          <p:nvPr/>
        </p:nvSpPr>
        <p:spPr>
          <a:xfrm>
            <a:off x="1181405" y="4176065"/>
            <a:ext cx="9658807" cy="9144"/>
          </a:xfrm>
          <a:prstGeom prst="rect">
            <a:avLst/>
          </a:prstGeom>
          <a:solidFill>
            <a:srgbClr val="ECFDF5"/>
          </a:solidFill>
          <a:ln w="12700">
            <a:solidFill>
              <a:srgbClr val="ECFDF5">
                <a:alpha val="0"/>
              </a:srgbClr>
            </a:solidFill>
            <a:prstDash val="solid"/>
          </a:ln>
        </p:spPr>
      </p:sp>
      <p:sp>
        <p:nvSpPr>
          <p:cNvPr id="21" name="Text 10"/>
          <p:cNvSpPr txBox="1"/>
          <p:nvPr/>
        </p:nvSpPr>
        <p:spPr>
          <a:xfrm>
            <a:off x="1181405" y="3803904"/>
            <a:ext cx="1905610" cy="295351"/>
          </a:xfrm>
          <a:prstGeom prst="rect">
            <a:avLst/>
          </a:prstGeom>
          <a:noFill/>
          <a:ln/>
        </p:spPr>
        <p:txBody>
          <a:bodyPr wrap="none" lIns="0" tIns="0" rIns="0" bIns="0" rtlCol="0" anchor="ctr"/>
          <a:lstStyle/>
          <a:p>
            <a:pPr algn="l" indent="0" marL="0">
              <a:buNone/>
            </a:pPr>
            <a:r>
              <a:rPr lang="en-US" sz="1425" dirty="0">
                <a:solidFill>
                  <a:srgbClr val="6B7280"/>
                </a:solidFill>
                <a:latin typeface="Inter" pitchFamily="34" charset="0"/>
                <a:ea typeface="Inter" pitchFamily="34" charset="-122"/>
                <a:cs typeface="Inter" pitchFamily="34" charset="-120"/>
              </a:rPr>
              <a:t>Layer / Stack</a:t>
            </a:r>
            <a:endParaRPr lang="en-US" sz="1425" dirty="0"/>
          </a:p>
        </p:txBody>
      </p:sp>
      <p:sp>
        <p:nvSpPr>
          <p:cNvPr id="22" name="Text 11"/>
          <p:cNvSpPr txBox="1"/>
          <p:nvPr/>
        </p:nvSpPr>
        <p:spPr>
          <a:xfrm>
            <a:off x="3314700" y="3803904"/>
            <a:ext cx="7525512" cy="295351"/>
          </a:xfrm>
          <a:prstGeom prst="rect">
            <a:avLst/>
          </a:prstGeom>
          <a:noFill/>
          <a:ln/>
        </p:spPr>
        <p:txBody>
          <a:bodyPr wrap="none" lIns="0" tIns="0" rIns="0" bIns="0" rtlCol="0" anchor="ctr"/>
          <a:lstStyle/>
          <a:p>
            <a:pPr algn="l" indent="0" marL="0">
              <a:buNone/>
            </a:pPr>
            <a:r>
              <a:rPr lang="en-US" sz="1425" b="1" dirty="0">
                <a:solidFill>
                  <a:srgbClr val="0B1F18"/>
                </a:solidFill>
                <a:latin typeface="Inter" pitchFamily="34" charset="0"/>
                <a:ea typeface="Inter" pitchFamily="34" charset="-122"/>
                <a:cs typeface="Inter" pitchFamily="34" charset="-120"/>
              </a:rPr>
              <a:t>M2 · Cu dual damascene · low-k IMD (k=2.7, porous SiCOH, ULK ready)</a:t>
            </a:r>
            <a:endParaRPr lang="en-US" sz="1425" dirty="0"/>
          </a:p>
        </p:txBody>
      </p:sp>
      <p:sp>
        <p:nvSpPr>
          <p:cNvPr id="23" name="Shape 12"/>
          <p:cNvSpPr/>
          <p:nvPr/>
        </p:nvSpPr>
        <p:spPr>
          <a:xfrm>
            <a:off x="1181405" y="4627778"/>
            <a:ext cx="9658807" cy="9144"/>
          </a:xfrm>
          <a:prstGeom prst="rect">
            <a:avLst/>
          </a:prstGeom>
          <a:solidFill>
            <a:srgbClr val="ECFDF5"/>
          </a:solidFill>
          <a:ln w="12700">
            <a:solidFill>
              <a:srgbClr val="ECFDF5">
                <a:alpha val="0"/>
              </a:srgbClr>
            </a:solidFill>
            <a:prstDash val="solid"/>
          </a:ln>
        </p:spPr>
      </p:sp>
      <p:sp>
        <p:nvSpPr>
          <p:cNvPr id="24" name="Text 13"/>
          <p:cNvSpPr txBox="1"/>
          <p:nvPr/>
        </p:nvSpPr>
        <p:spPr>
          <a:xfrm>
            <a:off x="1181405" y="4255618"/>
            <a:ext cx="1905610" cy="295351"/>
          </a:xfrm>
          <a:prstGeom prst="rect">
            <a:avLst/>
          </a:prstGeom>
          <a:noFill/>
          <a:ln/>
        </p:spPr>
        <p:txBody>
          <a:bodyPr wrap="none" lIns="0" tIns="0" rIns="0" bIns="0" rtlCol="0" anchor="ctr"/>
          <a:lstStyle/>
          <a:p>
            <a:pPr algn="l" indent="0" marL="0">
              <a:buNone/>
            </a:pPr>
            <a:r>
              <a:rPr lang="en-US" sz="1425" dirty="0">
                <a:solidFill>
                  <a:srgbClr val="6B7280"/>
                </a:solidFill>
                <a:latin typeface="Inter" pitchFamily="34" charset="0"/>
                <a:ea typeface="Inter" pitchFamily="34" charset="-122"/>
                <a:cs typeface="Inter" pitchFamily="34" charset="-120"/>
              </a:rPr>
              <a:t>Wafer count</a:t>
            </a:r>
            <a:endParaRPr lang="en-US" sz="1425" dirty="0"/>
          </a:p>
        </p:txBody>
      </p:sp>
      <p:sp>
        <p:nvSpPr>
          <p:cNvPr id="25" name="Text 14"/>
          <p:cNvSpPr txBox="1"/>
          <p:nvPr/>
        </p:nvSpPr>
        <p:spPr>
          <a:xfrm>
            <a:off x="3314700" y="4255618"/>
            <a:ext cx="7525512" cy="295351"/>
          </a:xfrm>
          <a:prstGeom prst="rect">
            <a:avLst/>
          </a:prstGeom>
          <a:noFill/>
          <a:ln/>
        </p:spPr>
        <p:txBody>
          <a:bodyPr wrap="none" lIns="0" tIns="0" rIns="0" bIns="0" rtlCol="0" anchor="ctr"/>
          <a:lstStyle/>
          <a:p>
            <a:pPr algn="l" indent="0" marL="0">
              <a:buNone/>
            </a:pPr>
            <a:r>
              <a:rPr lang="en-US" sz="1425" b="1" dirty="0">
                <a:solidFill>
                  <a:srgbClr val="0B1F18"/>
                </a:solidFill>
                <a:latin typeface="Inter" pitchFamily="34" charset="0"/>
                <a:ea typeface="Inter" pitchFamily="34" charset="-122"/>
                <a:cs typeface="Inter" pitchFamily="34" charset="-120"/>
              </a:rPr>
              <a:t>8 매 (300 mm Si)</a:t>
            </a:r>
            <a:endParaRPr lang="en-US" sz="1425" dirty="0"/>
          </a:p>
        </p:txBody>
      </p:sp>
      <p:sp>
        <p:nvSpPr>
          <p:cNvPr id="26" name="Shape 15"/>
          <p:cNvSpPr/>
          <p:nvPr/>
        </p:nvSpPr>
        <p:spPr>
          <a:xfrm>
            <a:off x="1181405" y="5079492"/>
            <a:ext cx="9658807" cy="9144"/>
          </a:xfrm>
          <a:prstGeom prst="rect">
            <a:avLst/>
          </a:prstGeom>
          <a:solidFill>
            <a:srgbClr val="ECFDF5"/>
          </a:solidFill>
          <a:ln w="12700">
            <a:solidFill>
              <a:srgbClr val="ECFDF5">
                <a:alpha val="0"/>
              </a:srgbClr>
            </a:solidFill>
            <a:prstDash val="solid"/>
          </a:ln>
        </p:spPr>
      </p:sp>
      <p:sp>
        <p:nvSpPr>
          <p:cNvPr id="27" name="Text 16"/>
          <p:cNvSpPr txBox="1"/>
          <p:nvPr/>
        </p:nvSpPr>
        <p:spPr>
          <a:xfrm>
            <a:off x="1181405" y="4707331"/>
            <a:ext cx="1905610" cy="295351"/>
          </a:xfrm>
          <a:prstGeom prst="rect">
            <a:avLst/>
          </a:prstGeom>
          <a:noFill/>
          <a:ln/>
        </p:spPr>
        <p:txBody>
          <a:bodyPr wrap="none" lIns="0" tIns="0" rIns="0" bIns="0" rtlCol="0" anchor="ctr"/>
          <a:lstStyle/>
          <a:p>
            <a:pPr algn="l" indent="0" marL="0">
              <a:buNone/>
            </a:pPr>
            <a:r>
              <a:rPr lang="en-US" sz="1425" dirty="0">
                <a:solidFill>
                  <a:srgbClr val="6B7280"/>
                </a:solidFill>
                <a:latin typeface="Inter" pitchFamily="34" charset="0"/>
                <a:ea typeface="Inter" pitchFamily="34" charset="-122"/>
                <a:cs typeface="Inter" pitchFamily="34" charset="-120"/>
              </a:rPr>
              <a:t>Split A (W01-W04)</a:t>
            </a:r>
            <a:endParaRPr lang="en-US" sz="1425" dirty="0"/>
          </a:p>
        </p:txBody>
      </p:sp>
      <p:sp>
        <p:nvSpPr>
          <p:cNvPr id="28" name="Text 17"/>
          <p:cNvSpPr txBox="1"/>
          <p:nvPr/>
        </p:nvSpPr>
        <p:spPr>
          <a:xfrm>
            <a:off x="3314700" y="4707331"/>
            <a:ext cx="7525512" cy="295351"/>
          </a:xfrm>
          <a:prstGeom prst="rect">
            <a:avLst/>
          </a:prstGeom>
          <a:noFill/>
          <a:ln/>
        </p:spPr>
        <p:txBody>
          <a:bodyPr wrap="none" lIns="0" tIns="0" rIns="0" bIns="0" rtlCol="0" anchor="ctr"/>
          <a:lstStyle/>
          <a:p>
            <a:pPr algn="l" indent="0" marL="0">
              <a:buNone/>
            </a:pPr>
            <a:r>
              <a:rPr lang="en-US" sz="1425" b="1" dirty="0">
                <a:solidFill>
                  <a:srgbClr val="047857"/>
                </a:solidFill>
                <a:latin typeface="Inter" pitchFamily="34" charset="0"/>
                <a:ea typeface="Inter" pitchFamily="34" charset="-122"/>
                <a:cs typeface="Inter" pitchFamily="34" charset="-120"/>
              </a:rPr>
              <a:t>Hardmask TiN — 20 nm PVD, post-etch strip 동일</a:t>
            </a:r>
            <a:endParaRPr lang="en-US" sz="1425" dirty="0"/>
          </a:p>
        </p:txBody>
      </p:sp>
      <p:sp>
        <p:nvSpPr>
          <p:cNvPr id="29" name="Shape 18"/>
          <p:cNvSpPr/>
          <p:nvPr/>
        </p:nvSpPr>
        <p:spPr>
          <a:xfrm>
            <a:off x="1181405" y="5531206"/>
            <a:ext cx="9658807" cy="9144"/>
          </a:xfrm>
          <a:prstGeom prst="rect">
            <a:avLst/>
          </a:prstGeom>
          <a:solidFill>
            <a:srgbClr val="ECFDF5"/>
          </a:solidFill>
          <a:ln w="12700">
            <a:solidFill>
              <a:srgbClr val="ECFDF5">
                <a:alpha val="0"/>
              </a:srgbClr>
            </a:solidFill>
            <a:prstDash val="solid"/>
          </a:ln>
        </p:spPr>
      </p:sp>
      <p:sp>
        <p:nvSpPr>
          <p:cNvPr id="30" name="Text 19"/>
          <p:cNvSpPr txBox="1"/>
          <p:nvPr/>
        </p:nvSpPr>
        <p:spPr>
          <a:xfrm>
            <a:off x="1181405" y="5159045"/>
            <a:ext cx="1905610" cy="295351"/>
          </a:xfrm>
          <a:prstGeom prst="rect">
            <a:avLst/>
          </a:prstGeom>
          <a:noFill/>
          <a:ln/>
        </p:spPr>
        <p:txBody>
          <a:bodyPr wrap="none" lIns="0" tIns="0" rIns="0" bIns="0" rtlCol="0" anchor="ctr"/>
          <a:lstStyle/>
          <a:p>
            <a:pPr algn="l" indent="0" marL="0">
              <a:buNone/>
            </a:pPr>
            <a:r>
              <a:rPr lang="en-US" sz="1425" dirty="0">
                <a:solidFill>
                  <a:srgbClr val="6B7280"/>
                </a:solidFill>
                <a:latin typeface="Inter" pitchFamily="34" charset="0"/>
                <a:ea typeface="Inter" pitchFamily="34" charset="-122"/>
                <a:cs typeface="Inter" pitchFamily="34" charset="-120"/>
              </a:rPr>
              <a:t>Split B (W05-W08)</a:t>
            </a:r>
            <a:endParaRPr lang="en-US" sz="1425" dirty="0"/>
          </a:p>
        </p:txBody>
      </p:sp>
      <p:sp>
        <p:nvSpPr>
          <p:cNvPr id="31" name="Text 20"/>
          <p:cNvSpPr txBox="1"/>
          <p:nvPr/>
        </p:nvSpPr>
        <p:spPr>
          <a:xfrm>
            <a:off x="3314700" y="5159045"/>
            <a:ext cx="7525512" cy="295351"/>
          </a:xfrm>
          <a:prstGeom prst="rect">
            <a:avLst/>
          </a:prstGeom>
          <a:noFill/>
          <a:ln/>
        </p:spPr>
        <p:txBody>
          <a:bodyPr wrap="none" lIns="0" tIns="0" rIns="0" bIns="0" rtlCol="0" anchor="ctr"/>
          <a:lstStyle/>
          <a:p>
            <a:pPr algn="l" indent="0" marL="0">
              <a:buNone/>
            </a:pPr>
            <a:r>
              <a:rPr lang="en-US" sz="1425" b="1" dirty="0">
                <a:solidFill>
                  <a:srgbClr val="0F766E"/>
                </a:solidFill>
                <a:latin typeface="Inter" pitchFamily="34" charset="0"/>
                <a:ea typeface="Inter" pitchFamily="34" charset="-122"/>
                <a:cs typeface="Inter" pitchFamily="34" charset="-120"/>
              </a:rPr>
              <a:t>Metal-free SiN — SiN cap 단일, hardmask 박막 생략</a:t>
            </a:r>
            <a:endParaRPr lang="en-US" sz="1425" dirty="0"/>
          </a:p>
        </p:txBody>
      </p:sp>
      <p:sp>
        <p:nvSpPr>
          <p:cNvPr id="32" name="Shape 21"/>
          <p:cNvSpPr/>
          <p:nvPr/>
        </p:nvSpPr>
        <p:spPr>
          <a:xfrm>
            <a:off x="1181405" y="5982005"/>
            <a:ext cx="9658807" cy="9144"/>
          </a:xfrm>
          <a:prstGeom prst="rect">
            <a:avLst/>
          </a:prstGeom>
          <a:solidFill>
            <a:srgbClr val="ECFDF5"/>
          </a:solidFill>
          <a:ln w="12700">
            <a:solidFill>
              <a:srgbClr val="ECFDF5">
                <a:alpha val="0"/>
              </a:srgbClr>
            </a:solidFill>
            <a:prstDash val="solid"/>
          </a:ln>
        </p:spPr>
      </p:sp>
      <p:sp>
        <p:nvSpPr>
          <p:cNvPr id="33" name="Text 22"/>
          <p:cNvSpPr txBox="1"/>
          <p:nvPr/>
        </p:nvSpPr>
        <p:spPr>
          <a:xfrm>
            <a:off x="1181405" y="5610758"/>
            <a:ext cx="1905610" cy="295351"/>
          </a:xfrm>
          <a:prstGeom prst="rect">
            <a:avLst/>
          </a:prstGeom>
          <a:noFill/>
          <a:ln/>
        </p:spPr>
        <p:txBody>
          <a:bodyPr wrap="none" lIns="0" tIns="0" rIns="0" bIns="0" rtlCol="0" anchor="ctr"/>
          <a:lstStyle/>
          <a:p>
            <a:pPr algn="l" indent="0" marL="0">
              <a:buNone/>
            </a:pPr>
            <a:r>
              <a:rPr lang="en-US" sz="1425" dirty="0">
                <a:solidFill>
                  <a:srgbClr val="6B7280"/>
                </a:solidFill>
                <a:latin typeface="Inter" pitchFamily="34" charset="0"/>
                <a:ea typeface="Inter" pitchFamily="34" charset="-122"/>
                <a:cs typeface="Inter" pitchFamily="34" charset="-120"/>
              </a:rPr>
              <a:t>Etch tool</a:t>
            </a:r>
            <a:endParaRPr lang="en-US" sz="1425" dirty="0"/>
          </a:p>
        </p:txBody>
      </p:sp>
      <p:sp>
        <p:nvSpPr>
          <p:cNvPr id="34" name="Text 23"/>
          <p:cNvSpPr txBox="1"/>
          <p:nvPr/>
        </p:nvSpPr>
        <p:spPr>
          <a:xfrm>
            <a:off x="3314700" y="5610758"/>
            <a:ext cx="7525512" cy="295351"/>
          </a:xfrm>
          <a:prstGeom prst="rect">
            <a:avLst/>
          </a:prstGeom>
          <a:noFill/>
          <a:ln/>
        </p:spPr>
        <p:txBody>
          <a:bodyPr wrap="none" lIns="0" tIns="0" rIns="0" bIns="0" rtlCol="0" anchor="ctr"/>
          <a:lstStyle/>
          <a:p>
            <a:pPr algn="l" indent="0" marL="0">
              <a:buNone/>
            </a:pPr>
            <a:r>
              <a:rPr lang="en-US" sz="1425" b="1" dirty="0">
                <a:solidFill>
                  <a:srgbClr val="0B1F18"/>
                </a:solidFill>
                <a:latin typeface="Inter" pitchFamily="34" charset="0"/>
                <a:ea typeface="Inter" pitchFamily="34" charset="-122"/>
                <a:cs typeface="Inter" pitchFamily="34" charset="-120"/>
              </a:rPr>
              <a:t>D-tool-DMY (CCP, dummy chamber A)</a:t>
            </a:r>
            <a:endParaRPr lang="en-US" sz="1425" dirty="0"/>
          </a:p>
        </p:txBody>
      </p:sp>
      <p:sp>
        <p:nvSpPr>
          <p:cNvPr id="35" name="Shape 24"/>
          <p:cNvSpPr/>
          <p:nvPr/>
        </p:nvSpPr>
        <p:spPr>
          <a:xfrm>
            <a:off x="1181405" y="6433718"/>
            <a:ext cx="9658807" cy="9144"/>
          </a:xfrm>
          <a:prstGeom prst="rect">
            <a:avLst/>
          </a:prstGeom>
          <a:solidFill>
            <a:srgbClr val="ECFDF5"/>
          </a:solidFill>
          <a:ln w="12700">
            <a:solidFill>
              <a:srgbClr val="ECFDF5">
                <a:alpha val="0"/>
              </a:srgbClr>
            </a:solidFill>
            <a:prstDash val="solid"/>
          </a:ln>
        </p:spPr>
      </p:sp>
      <p:sp>
        <p:nvSpPr>
          <p:cNvPr id="36" name="Text 25"/>
          <p:cNvSpPr txBox="1"/>
          <p:nvPr/>
        </p:nvSpPr>
        <p:spPr>
          <a:xfrm>
            <a:off x="1181405" y="6062472"/>
            <a:ext cx="1905610" cy="295351"/>
          </a:xfrm>
          <a:prstGeom prst="rect">
            <a:avLst/>
          </a:prstGeom>
          <a:noFill/>
          <a:ln/>
        </p:spPr>
        <p:txBody>
          <a:bodyPr wrap="none" lIns="0" tIns="0" rIns="0" bIns="0" rtlCol="0" anchor="ctr"/>
          <a:lstStyle/>
          <a:p>
            <a:pPr algn="l" indent="0" marL="0">
              <a:buNone/>
            </a:pPr>
            <a:r>
              <a:rPr lang="en-US" sz="1425" dirty="0">
                <a:solidFill>
                  <a:srgbClr val="6B7280"/>
                </a:solidFill>
                <a:latin typeface="Inter" pitchFamily="34" charset="0"/>
                <a:ea typeface="Inter" pitchFamily="34" charset="-122"/>
                <a:cs typeface="Inter" pitchFamily="34" charset="-120"/>
              </a:rPr>
              <a:t>Inspection SEM</a:t>
            </a:r>
            <a:endParaRPr lang="en-US" sz="1425" dirty="0"/>
          </a:p>
        </p:txBody>
      </p:sp>
      <p:sp>
        <p:nvSpPr>
          <p:cNvPr id="37" name="Text 26"/>
          <p:cNvSpPr txBox="1"/>
          <p:nvPr/>
        </p:nvSpPr>
        <p:spPr>
          <a:xfrm>
            <a:off x="3314700" y="6062472"/>
            <a:ext cx="7525512" cy="295351"/>
          </a:xfrm>
          <a:prstGeom prst="rect">
            <a:avLst/>
          </a:prstGeom>
          <a:noFill/>
          <a:ln/>
        </p:spPr>
        <p:txBody>
          <a:bodyPr wrap="none" lIns="0" tIns="0" rIns="0" bIns="0" rtlCol="0" anchor="ctr"/>
          <a:lstStyle/>
          <a:p>
            <a:pPr algn="l" indent="0" marL="0">
              <a:buNone/>
            </a:pPr>
            <a:r>
              <a:rPr lang="en-US" sz="1425" b="1" dirty="0">
                <a:solidFill>
                  <a:srgbClr val="0B1F18"/>
                </a:solidFill>
                <a:latin typeface="Inter" pitchFamily="34" charset="0"/>
                <a:ea typeface="Inter" pitchFamily="34" charset="-122"/>
                <a:cs typeface="Inter" pitchFamily="34" charset="-120"/>
              </a:rPr>
              <a:t>CD-SEM-DMY · 측정 25 sites / wafer</a:t>
            </a:r>
            <a:endParaRPr lang="en-US" sz="1425" dirty="0"/>
          </a:p>
        </p:txBody>
      </p:sp>
      <p:sp>
        <p:nvSpPr>
          <p:cNvPr id="38" name="Text 27"/>
          <p:cNvSpPr txBox="1"/>
          <p:nvPr/>
        </p:nvSpPr>
        <p:spPr>
          <a:xfrm>
            <a:off x="1181405" y="6513271"/>
            <a:ext cx="1905610" cy="295351"/>
          </a:xfrm>
          <a:prstGeom prst="rect">
            <a:avLst/>
          </a:prstGeom>
          <a:noFill/>
          <a:ln/>
        </p:spPr>
        <p:txBody>
          <a:bodyPr wrap="none" lIns="0" tIns="0" rIns="0" bIns="0" rtlCol="0" anchor="ctr"/>
          <a:lstStyle/>
          <a:p>
            <a:pPr algn="l" indent="0" marL="0">
              <a:buNone/>
            </a:pPr>
            <a:r>
              <a:rPr lang="en-US" sz="1425" dirty="0">
                <a:solidFill>
                  <a:srgbClr val="6B7280"/>
                </a:solidFill>
                <a:latin typeface="Inter" pitchFamily="34" charset="0"/>
                <a:ea typeface="Inter" pitchFamily="34" charset="-122"/>
                <a:cs typeface="Inter" pitchFamily="34" charset="-120"/>
              </a:rPr>
              <a:t>평가 시점 / Lot no.</a:t>
            </a:r>
            <a:endParaRPr lang="en-US" sz="1425" dirty="0"/>
          </a:p>
        </p:txBody>
      </p:sp>
      <p:sp>
        <p:nvSpPr>
          <p:cNvPr id="39" name="Text 28"/>
          <p:cNvSpPr txBox="1"/>
          <p:nvPr/>
        </p:nvSpPr>
        <p:spPr>
          <a:xfrm>
            <a:off x="3314700" y="6513271"/>
            <a:ext cx="7525512" cy="295351"/>
          </a:xfrm>
          <a:prstGeom prst="rect">
            <a:avLst/>
          </a:prstGeom>
          <a:noFill/>
          <a:ln/>
        </p:spPr>
        <p:txBody>
          <a:bodyPr wrap="none" lIns="0" tIns="0" rIns="0" bIns="0" rtlCol="0" anchor="ctr"/>
          <a:lstStyle/>
          <a:p>
            <a:pPr algn="l" indent="0" marL="0">
              <a:buNone/>
            </a:pPr>
            <a:r>
              <a:rPr lang="en-US" sz="1425" b="1" dirty="0">
                <a:solidFill>
                  <a:srgbClr val="0B1F18"/>
                </a:solidFill>
                <a:latin typeface="Inter" pitchFamily="34" charset="0"/>
                <a:ea typeface="Inter" pitchFamily="34" charset="-122"/>
                <a:cs typeface="Inter" pitchFamily="34" charset="-120"/>
              </a:rPr>
              <a:t>2026 Q3 · SPL-DMY-09 / 20 (본 파일)</a:t>
            </a:r>
            <a:endParaRPr lang="en-US" sz="1425" dirty="0"/>
          </a:p>
        </p:txBody>
      </p:sp>
      <p:sp>
        <p:nvSpPr>
          <p:cNvPr id="40" name="Text 29"/>
          <p:cNvSpPr txBox="1"/>
          <p:nvPr/>
        </p:nvSpPr>
        <p:spPr>
          <a:xfrm>
            <a:off x="11734495" y="2704795"/>
            <a:ext cx="5715000" cy="247802"/>
          </a:xfrm>
          <a:prstGeom prst="rect">
            <a:avLst/>
          </a:prstGeom>
          <a:noFill/>
          <a:ln/>
        </p:spPr>
        <p:txBody>
          <a:bodyPr wrap="square" lIns="0" tIns="0" rIns="0" bIns="0" rtlCol="0" anchor="ctr"/>
          <a:lstStyle/>
          <a:p>
            <a:pPr algn="l" indent="0" marL="0">
              <a:buNone/>
            </a:pPr>
            <a:r>
              <a:rPr lang="en-US" sz="1350" b="1" dirty="0">
                <a:solidFill>
                  <a:srgbClr val="ECFDF5"/>
                </a:solidFill>
                <a:latin typeface="Inter" pitchFamily="34" charset="0"/>
                <a:ea typeface="Inter" pitchFamily="34" charset="-122"/>
                <a:cs typeface="Inter" pitchFamily="34" charset="-120"/>
              </a:rPr>
              <a:t>8 Wafer 매핑</a:t>
            </a:r>
            <a:endParaRPr lang="en-US" sz="1200" dirty="0"/>
          </a:p>
        </p:txBody>
      </p:sp>
      <p:sp>
        <p:nvSpPr>
          <p:cNvPr id="41" name="Shape 30"/>
          <p:cNvSpPr/>
          <p:nvPr/>
        </p:nvSpPr>
        <p:spPr>
          <a:xfrm>
            <a:off x="11734495" y="3238805"/>
            <a:ext cx="1285646" cy="790956"/>
          </a:xfrm>
          <a:prstGeom prst="roundRect">
            <a:avLst>
              <a:gd name="adj" fmla="val 9595"/>
            </a:avLst>
          </a:prstGeom>
          <a:solidFill>
            <a:srgbClr val="065F46"/>
          </a:solidFill>
          <a:ln w="12700">
            <a:solidFill>
              <a:srgbClr val="FFFFFF">
                <a:alpha val="0"/>
              </a:srgbClr>
            </a:solidFill>
            <a:prstDash val="solid"/>
          </a:ln>
        </p:spPr>
      </p:sp>
      <p:sp>
        <p:nvSpPr>
          <p:cNvPr id="42" name="Text 31"/>
          <p:cNvSpPr txBox="1"/>
          <p:nvPr/>
        </p:nvSpPr>
        <p:spPr>
          <a:xfrm>
            <a:off x="11811305" y="3552444"/>
            <a:ext cx="1133856" cy="247802"/>
          </a:xfrm>
          <a:prstGeom prst="rect">
            <a:avLst/>
          </a:prstGeom>
          <a:noFill/>
          <a:ln/>
        </p:spPr>
        <p:txBody>
          <a:bodyPr wrap="none" lIns="0" tIns="0" rIns="0" bIns="0" rtlCol="0" anchor="ctr"/>
          <a:lstStyle/>
          <a:p>
            <a:pPr algn="l" indent="0" marL="0">
              <a:buNone/>
            </a:pPr>
            <a:r>
              <a:rPr lang="en-US" sz="1650" b="1" dirty="0">
                <a:solidFill>
                  <a:srgbClr val="ECFDF5"/>
                </a:solidFill>
                <a:latin typeface="Inter" pitchFamily="34" charset="0"/>
                <a:ea typeface="Inter" pitchFamily="34" charset="-122"/>
                <a:cs typeface="Inter" pitchFamily="34" charset="-120"/>
              </a:rPr>
              <a:t>W01</a:t>
            </a:r>
            <a:endParaRPr lang="en-US" sz="1650" dirty="0"/>
          </a:p>
        </p:txBody>
      </p:sp>
      <p:sp>
        <p:nvSpPr>
          <p:cNvPr id="43" name="Shape 32"/>
          <p:cNvSpPr/>
          <p:nvPr/>
        </p:nvSpPr>
        <p:spPr>
          <a:xfrm>
            <a:off x="13149072" y="3238805"/>
            <a:ext cx="1285646" cy="790956"/>
          </a:xfrm>
          <a:prstGeom prst="roundRect">
            <a:avLst>
              <a:gd name="adj" fmla="val 9595"/>
            </a:avLst>
          </a:prstGeom>
          <a:solidFill>
            <a:srgbClr val="065F46"/>
          </a:solidFill>
          <a:ln w="12700">
            <a:solidFill>
              <a:srgbClr val="FFFFFF">
                <a:alpha val="0"/>
              </a:srgbClr>
            </a:solidFill>
            <a:prstDash val="solid"/>
          </a:ln>
        </p:spPr>
      </p:sp>
      <p:sp>
        <p:nvSpPr>
          <p:cNvPr id="44" name="Text 33"/>
          <p:cNvSpPr txBox="1"/>
          <p:nvPr/>
        </p:nvSpPr>
        <p:spPr>
          <a:xfrm>
            <a:off x="13225882" y="3552444"/>
            <a:ext cx="1133856" cy="247802"/>
          </a:xfrm>
          <a:prstGeom prst="rect">
            <a:avLst/>
          </a:prstGeom>
          <a:noFill/>
          <a:ln/>
        </p:spPr>
        <p:txBody>
          <a:bodyPr wrap="none" lIns="0" tIns="0" rIns="0" bIns="0" rtlCol="0" anchor="ctr"/>
          <a:lstStyle/>
          <a:p>
            <a:pPr algn="l" indent="0" marL="0">
              <a:buNone/>
            </a:pPr>
            <a:r>
              <a:rPr lang="en-US" sz="1650" b="1" dirty="0">
                <a:solidFill>
                  <a:srgbClr val="ECFDF5"/>
                </a:solidFill>
                <a:latin typeface="Inter" pitchFamily="34" charset="0"/>
                <a:ea typeface="Inter" pitchFamily="34" charset="-122"/>
                <a:cs typeface="Inter" pitchFamily="34" charset="-120"/>
              </a:rPr>
              <a:t>W02</a:t>
            </a:r>
            <a:endParaRPr lang="en-US" sz="1650" dirty="0"/>
          </a:p>
        </p:txBody>
      </p:sp>
      <p:sp>
        <p:nvSpPr>
          <p:cNvPr id="45" name="Shape 34"/>
          <p:cNvSpPr/>
          <p:nvPr/>
        </p:nvSpPr>
        <p:spPr>
          <a:xfrm>
            <a:off x="14563649" y="3238805"/>
            <a:ext cx="1285646" cy="790956"/>
          </a:xfrm>
          <a:prstGeom prst="roundRect">
            <a:avLst>
              <a:gd name="adj" fmla="val 9595"/>
            </a:avLst>
          </a:prstGeom>
          <a:solidFill>
            <a:srgbClr val="065F46"/>
          </a:solidFill>
          <a:ln w="12700">
            <a:solidFill>
              <a:srgbClr val="FFFFFF">
                <a:alpha val="0"/>
              </a:srgbClr>
            </a:solidFill>
            <a:prstDash val="solid"/>
          </a:ln>
        </p:spPr>
      </p:sp>
      <p:sp>
        <p:nvSpPr>
          <p:cNvPr id="46" name="Text 35"/>
          <p:cNvSpPr txBox="1"/>
          <p:nvPr/>
        </p:nvSpPr>
        <p:spPr>
          <a:xfrm>
            <a:off x="14639544" y="3552444"/>
            <a:ext cx="1133856" cy="247802"/>
          </a:xfrm>
          <a:prstGeom prst="rect">
            <a:avLst/>
          </a:prstGeom>
          <a:noFill/>
          <a:ln/>
        </p:spPr>
        <p:txBody>
          <a:bodyPr wrap="none" lIns="0" tIns="0" rIns="0" bIns="0" rtlCol="0" anchor="ctr"/>
          <a:lstStyle/>
          <a:p>
            <a:pPr algn="l" indent="0" marL="0">
              <a:buNone/>
            </a:pPr>
            <a:r>
              <a:rPr lang="en-US" sz="1650" b="1" dirty="0">
                <a:solidFill>
                  <a:srgbClr val="ECFDF5"/>
                </a:solidFill>
                <a:latin typeface="Inter" pitchFamily="34" charset="0"/>
                <a:ea typeface="Inter" pitchFamily="34" charset="-122"/>
                <a:cs typeface="Inter" pitchFamily="34" charset="-120"/>
              </a:rPr>
              <a:t>W03</a:t>
            </a:r>
            <a:endParaRPr lang="en-US" sz="1650" dirty="0"/>
          </a:p>
        </p:txBody>
      </p:sp>
      <p:sp>
        <p:nvSpPr>
          <p:cNvPr id="47" name="Shape 36"/>
          <p:cNvSpPr/>
          <p:nvPr/>
        </p:nvSpPr>
        <p:spPr>
          <a:xfrm>
            <a:off x="15978226" y="3238805"/>
            <a:ext cx="1285646" cy="790956"/>
          </a:xfrm>
          <a:prstGeom prst="roundRect">
            <a:avLst>
              <a:gd name="adj" fmla="val 9595"/>
            </a:avLst>
          </a:prstGeom>
          <a:solidFill>
            <a:srgbClr val="065F46"/>
          </a:solidFill>
          <a:ln w="12700">
            <a:solidFill>
              <a:srgbClr val="FFFFFF">
                <a:alpha val="0"/>
              </a:srgbClr>
            </a:solidFill>
            <a:prstDash val="solid"/>
          </a:ln>
        </p:spPr>
      </p:sp>
      <p:sp>
        <p:nvSpPr>
          <p:cNvPr id="48" name="Text 37"/>
          <p:cNvSpPr txBox="1"/>
          <p:nvPr/>
        </p:nvSpPr>
        <p:spPr>
          <a:xfrm>
            <a:off x="16054121" y="3552444"/>
            <a:ext cx="1133856" cy="247802"/>
          </a:xfrm>
          <a:prstGeom prst="rect">
            <a:avLst/>
          </a:prstGeom>
          <a:noFill/>
          <a:ln/>
        </p:spPr>
        <p:txBody>
          <a:bodyPr wrap="none" lIns="0" tIns="0" rIns="0" bIns="0" rtlCol="0" anchor="ctr"/>
          <a:lstStyle/>
          <a:p>
            <a:pPr algn="l" indent="0" marL="0">
              <a:buNone/>
            </a:pPr>
            <a:r>
              <a:rPr lang="en-US" sz="1650" b="1" dirty="0">
                <a:solidFill>
                  <a:srgbClr val="ECFDF5"/>
                </a:solidFill>
                <a:latin typeface="Inter" pitchFamily="34" charset="0"/>
                <a:ea typeface="Inter" pitchFamily="34" charset="-122"/>
                <a:cs typeface="Inter" pitchFamily="34" charset="-120"/>
              </a:rPr>
              <a:t>W04</a:t>
            </a:r>
            <a:endParaRPr lang="en-US" sz="1650" dirty="0"/>
          </a:p>
        </p:txBody>
      </p:sp>
      <p:sp>
        <p:nvSpPr>
          <p:cNvPr id="49" name="Shape 38"/>
          <p:cNvSpPr/>
          <p:nvPr/>
        </p:nvSpPr>
        <p:spPr>
          <a:xfrm>
            <a:off x="11734495" y="4162349"/>
            <a:ext cx="1285646" cy="809244"/>
          </a:xfrm>
          <a:prstGeom prst="roundRect">
            <a:avLst>
              <a:gd name="adj" fmla="val 9379"/>
            </a:avLst>
          </a:prstGeom>
          <a:solidFill>
            <a:srgbClr val="ECFDF5"/>
          </a:solidFill>
          <a:ln w="12700">
            <a:solidFill>
              <a:srgbClr val="A7F3D0"/>
            </a:solidFill>
            <a:prstDash val="solid"/>
          </a:ln>
        </p:spPr>
      </p:sp>
      <p:sp>
        <p:nvSpPr>
          <p:cNvPr id="50" name="Text 39"/>
          <p:cNvSpPr txBox="1"/>
          <p:nvPr/>
        </p:nvSpPr>
        <p:spPr>
          <a:xfrm>
            <a:off x="11820449" y="4304995"/>
            <a:ext cx="1114654" cy="143561"/>
          </a:xfrm>
          <a:prstGeom prst="rect">
            <a:avLst/>
          </a:prstGeom>
          <a:noFill/>
          <a:ln/>
        </p:spPr>
        <p:txBody>
          <a:bodyPr wrap="none" lIns="0" tIns="0" rIns="0" bIns="0" rtlCol="0" anchor="ctr"/>
          <a:lstStyle/>
          <a:p>
            <a:pPr algn="l" indent="0" marL="0">
              <a:buNone/>
            </a:pPr>
            <a:r>
              <a:rPr lang="en-US" sz="900" b="1" spc="144" kern="0" dirty="0">
                <a:solidFill>
                  <a:srgbClr val="047857"/>
                </a:solidFill>
                <a:latin typeface="Inter" pitchFamily="34" charset="0"/>
                <a:ea typeface="Inter" pitchFamily="34" charset="-122"/>
                <a:cs typeface="Inter" pitchFamily="34" charset="-120"/>
              </a:rPr>
              <a:t>SPLIT B</a:t>
            </a:r>
            <a:endParaRPr lang="en-US" sz="900" dirty="0"/>
          </a:p>
        </p:txBody>
      </p:sp>
      <p:sp>
        <p:nvSpPr>
          <p:cNvPr id="51" name="Text 40"/>
          <p:cNvSpPr txBox="1"/>
          <p:nvPr/>
        </p:nvSpPr>
        <p:spPr>
          <a:xfrm>
            <a:off x="11820449" y="4486046"/>
            <a:ext cx="1114654" cy="247802"/>
          </a:xfrm>
          <a:prstGeom prst="rect">
            <a:avLst/>
          </a:prstGeom>
          <a:noFill/>
          <a:ln/>
        </p:spPr>
        <p:txBody>
          <a:bodyPr wrap="none" lIns="0" tIns="0" rIns="0" bIns="0" rtlCol="0" anchor="ctr"/>
          <a:lstStyle/>
          <a:p>
            <a:pPr algn="l" indent="0" marL="0">
              <a:buNone/>
            </a:pPr>
            <a:r>
              <a:rPr lang="en-US" sz="1650" b="1" dirty="0">
                <a:solidFill>
                  <a:srgbClr val="064E3B"/>
                </a:solidFill>
                <a:latin typeface="Inter" pitchFamily="34" charset="0"/>
                <a:ea typeface="Inter" pitchFamily="34" charset="-122"/>
                <a:cs typeface="Inter" pitchFamily="34" charset="-120"/>
              </a:rPr>
              <a:t>W05</a:t>
            </a:r>
            <a:endParaRPr lang="en-US" sz="1650" dirty="0"/>
          </a:p>
        </p:txBody>
      </p:sp>
      <p:sp>
        <p:nvSpPr>
          <p:cNvPr id="52" name="Text 41"/>
          <p:cNvSpPr txBox="1"/>
          <p:nvPr/>
        </p:nvSpPr>
        <p:spPr>
          <a:xfrm>
            <a:off x="11820449" y="4733849"/>
            <a:ext cx="1114654" cy="133502"/>
          </a:xfrm>
          <a:prstGeom prst="rect">
            <a:avLst/>
          </a:prstGeom>
          <a:noFill/>
          <a:ln/>
        </p:spPr>
        <p:txBody>
          <a:bodyPr wrap="none" lIns="0" tIns="0" rIns="0" bIns="0" rtlCol="0" anchor="ctr"/>
          <a:lstStyle/>
          <a:p>
            <a:pPr algn="l" indent="0" marL="0">
              <a:buNone/>
            </a:pPr>
            <a:r>
              <a:rPr lang="en-US" sz="825" dirty="0">
                <a:solidFill>
                  <a:srgbClr val="4B5563"/>
                </a:solidFill>
                <a:latin typeface="Inter" pitchFamily="34" charset="0"/>
                <a:ea typeface="Inter" pitchFamily="34" charset="-122"/>
                <a:cs typeface="Inter" pitchFamily="34" charset="-120"/>
              </a:rPr>
              <a:t>Metal-free SiN</a:t>
            </a:r>
            <a:endParaRPr lang="en-US" sz="825" dirty="0"/>
          </a:p>
        </p:txBody>
      </p:sp>
      <p:sp>
        <p:nvSpPr>
          <p:cNvPr id="53" name="Shape 42"/>
          <p:cNvSpPr/>
          <p:nvPr/>
        </p:nvSpPr>
        <p:spPr>
          <a:xfrm>
            <a:off x="13149072" y="4162349"/>
            <a:ext cx="1285646" cy="809244"/>
          </a:xfrm>
          <a:prstGeom prst="roundRect">
            <a:avLst>
              <a:gd name="adj" fmla="val 9379"/>
            </a:avLst>
          </a:prstGeom>
          <a:solidFill>
            <a:srgbClr val="ECFDF5"/>
          </a:solidFill>
          <a:ln w="12700">
            <a:solidFill>
              <a:srgbClr val="A7F3D0"/>
            </a:solidFill>
            <a:prstDash val="solid"/>
          </a:ln>
        </p:spPr>
      </p:sp>
      <p:sp>
        <p:nvSpPr>
          <p:cNvPr id="54" name="Text 43"/>
          <p:cNvSpPr txBox="1"/>
          <p:nvPr/>
        </p:nvSpPr>
        <p:spPr>
          <a:xfrm>
            <a:off x="13235026" y="4304995"/>
            <a:ext cx="1114654" cy="143561"/>
          </a:xfrm>
          <a:prstGeom prst="rect">
            <a:avLst/>
          </a:prstGeom>
          <a:noFill/>
          <a:ln/>
        </p:spPr>
        <p:txBody>
          <a:bodyPr wrap="none" lIns="0" tIns="0" rIns="0" bIns="0" rtlCol="0" anchor="ctr"/>
          <a:lstStyle/>
          <a:p>
            <a:pPr algn="l" indent="0" marL="0">
              <a:buNone/>
            </a:pPr>
            <a:r>
              <a:rPr lang="en-US" sz="900" b="1" spc="144" kern="0" dirty="0">
                <a:solidFill>
                  <a:srgbClr val="047857"/>
                </a:solidFill>
                <a:latin typeface="Inter" pitchFamily="34" charset="0"/>
                <a:ea typeface="Inter" pitchFamily="34" charset="-122"/>
                <a:cs typeface="Inter" pitchFamily="34" charset="-120"/>
              </a:rPr>
              <a:t>SPLIT B</a:t>
            </a:r>
            <a:endParaRPr lang="en-US" sz="900" dirty="0"/>
          </a:p>
        </p:txBody>
      </p:sp>
      <p:sp>
        <p:nvSpPr>
          <p:cNvPr id="55" name="Text 44"/>
          <p:cNvSpPr txBox="1"/>
          <p:nvPr/>
        </p:nvSpPr>
        <p:spPr>
          <a:xfrm>
            <a:off x="13235026" y="4486046"/>
            <a:ext cx="1114654" cy="247802"/>
          </a:xfrm>
          <a:prstGeom prst="rect">
            <a:avLst/>
          </a:prstGeom>
          <a:noFill/>
          <a:ln/>
        </p:spPr>
        <p:txBody>
          <a:bodyPr wrap="none" lIns="0" tIns="0" rIns="0" bIns="0" rtlCol="0" anchor="ctr"/>
          <a:lstStyle/>
          <a:p>
            <a:pPr algn="l" indent="0" marL="0">
              <a:buNone/>
            </a:pPr>
            <a:r>
              <a:rPr lang="en-US" sz="1650" b="1" dirty="0">
                <a:solidFill>
                  <a:srgbClr val="064E3B"/>
                </a:solidFill>
                <a:latin typeface="Inter" pitchFamily="34" charset="0"/>
                <a:ea typeface="Inter" pitchFamily="34" charset="-122"/>
                <a:cs typeface="Inter" pitchFamily="34" charset="-120"/>
              </a:rPr>
              <a:t>W06</a:t>
            </a:r>
            <a:endParaRPr lang="en-US" sz="1650" dirty="0"/>
          </a:p>
        </p:txBody>
      </p:sp>
      <p:sp>
        <p:nvSpPr>
          <p:cNvPr id="56" name="Text 45"/>
          <p:cNvSpPr txBox="1"/>
          <p:nvPr/>
        </p:nvSpPr>
        <p:spPr>
          <a:xfrm>
            <a:off x="13235026" y="4733849"/>
            <a:ext cx="1114654" cy="133502"/>
          </a:xfrm>
          <a:prstGeom prst="rect">
            <a:avLst/>
          </a:prstGeom>
          <a:noFill/>
          <a:ln/>
        </p:spPr>
        <p:txBody>
          <a:bodyPr wrap="none" lIns="0" tIns="0" rIns="0" bIns="0" rtlCol="0" anchor="ctr"/>
          <a:lstStyle/>
          <a:p>
            <a:pPr algn="l" indent="0" marL="0">
              <a:buNone/>
            </a:pPr>
            <a:r>
              <a:rPr lang="en-US" sz="825" dirty="0">
                <a:solidFill>
                  <a:srgbClr val="4B5563"/>
                </a:solidFill>
                <a:latin typeface="Inter" pitchFamily="34" charset="0"/>
                <a:ea typeface="Inter" pitchFamily="34" charset="-122"/>
                <a:cs typeface="Inter" pitchFamily="34" charset="-120"/>
              </a:rPr>
              <a:t>Metal-free SiN</a:t>
            </a:r>
            <a:endParaRPr lang="en-US" sz="825" dirty="0"/>
          </a:p>
        </p:txBody>
      </p:sp>
      <p:sp>
        <p:nvSpPr>
          <p:cNvPr id="57" name="Shape 46"/>
          <p:cNvSpPr/>
          <p:nvPr/>
        </p:nvSpPr>
        <p:spPr>
          <a:xfrm>
            <a:off x="14563649" y="4162349"/>
            <a:ext cx="1285646" cy="809244"/>
          </a:xfrm>
          <a:prstGeom prst="roundRect">
            <a:avLst>
              <a:gd name="adj" fmla="val 9379"/>
            </a:avLst>
          </a:prstGeom>
          <a:solidFill>
            <a:srgbClr val="ECFDF5"/>
          </a:solidFill>
          <a:ln w="12700">
            <a:solidFill>
              <a:srgbClr val="A7F3D0"/>
            </a:solidFill>
            <a:prstDash val="solid"/>
          </a:ln>
        </p:spPr>
      </p:sp>
      <p:sp>
        <p:nvSpPr>
          <p:cNvPr id="58" name="Text 47"/>
          <p:cNvSpPr txBox="1"/>
          <p:nvPr/>
        </p:nvSpPr>
        <p:spPr>
          <a:xfrm>
            <a:off x="14649602" y="4304995"/>
            <a:ext cx="1114654" cy="143561"/>
          </a:xfrm>
          <a:prstGeom prst="rect">
            <a:avLst/>
          </a:prstGeom>
          <a:noFill/>
          <a:ln/>
        </p:spPr>
        <p:txBody>
          <a:bodyPr wrap="none" lIns="0" tIns="0" rIns="0" bIns="0" rtlCol="0" anchor="ctr"/>
          <a:lstStyle/>
          <a:p>
            <a:pPr algn="l" indent="0" marL="0">
              <a:buNone/>
            </a:pPr>
            <a:r>
              <a:rPr lang="en-US" sz="900" b="1" spc="144" kern="0" dirty="0">
                <a:solidFill>
                  <a:srgbClr val="047857"/>
                </a:solidFill>
                <a:latin typeface="Inter" pitchFamily="34" charset="0"/>
                <a:ea typeface="Inter" pitchFamily="34" charset="-122"/>
                <a:cs typeface="Inter" pitchFamily="34" charset="-120"/>
              </a:rPr>
              <a:t>SPLIT B</a:t>
            </a:r>
            <a:endParaRPr lang="en-US" sz="900" dirty="0"/>
          </a:p>
        </p:txBody>
      </p:sp>
      <p:sp>
        <p:nvSpPr>
          <p:cNvPr id="59" name="Text 48"/>
          <p:cNvSpPr txBox="1"/>
          <p:nvPr/>
        </p:nvSpPr>
        <p:spPr>
          <a:xfrm>
            <a:off x="14649602" y="4486046"/>
            <a:ext cx="1114654" cy="247802"/>
          </a:xfrm>
          <a:prstGeom prst="rect">
            <a:avLst/>
          </a:prstGeom>
          <a:noFill/>
          <a:ln/>
        </p:spPr>
        <p:txBody>
          <a:bodyPr wrap="none" lIns="0" tIns="0" rIns="0" bIns="0" rtlCol="0" anchor="ctr"/>
          <a:lstStyle/>
          <a:p>
            <a:pPr algn="l" indent="0" marL="0">
              <a:buNone/>
            </a:pPr>
            <a:r>
              <a:rPr lang="en-US" sz="1650" b="1" dirty="0">
                <a:solidFill>
                  <a:srgbClr val="064E3B"/>
                </a:solidFill>
                <a:latin typeface="Inter" pitchFamily="34" charset="0"/>
                <a:ea typeface="Inter" pitchFamily="34" charset="-122"/>
                <a:cs typeface="Inter" pitchFamily="34" charset="-120"/>
              </a:rPr>
              <a:t>W07</a:t>
            </a:r>
            <a:endParaRPr lang="en-US" sz="1650" dirty="0"/>
          </a:p>
        </p:txBody>
      </p:sp>
      <p:sp>
        <p:nvSpPr>
          <p:cNvPr id="60" name="Text 49"/>
          <p:cNvSpPr txBox="1"/>
          <p:nvPr/>
        </p:nvSpPr>
        <p:spPr>
          <a:xfrm>
            <a:off x="14649602" y="4733849"/>
            <a:ext cx="1114654" cy="133502"/>
          </a:xfrm>
          <a:prstGeom prst="rect">
            <a:avLst/>
          </a:prstGeom>
          <a:noFill/>
          <a:ln/>
        </p:spPr>
        <p:txBody>
          <a:bodyPr wrap="none" lIns="0" tIns="0" rIns="0" bIns="0" rtlCol="0" anchor="ctr"/>
          <a:lstStyle/>
          <a:p>
            <a:pPr algn="l" indent="0" marL="0">
              <a:buNone/>
            </a:pPr>
            <a:r>
              <a:rPr lang="en-US" sz="825" dirty="0">
                <a:solidFill>
                  <a:srgbClr val="4B5563"/>
                </a:solidFill>
                <a:latin typeface="Inter" pitchFamily="34" charset="0"/>
                <a:ea typeface="Inter" pitchFamily="34" charset="-122"/>
                <a:cs typeface="Inter" pitchFamily="34" charset="-120"/>
              </a:rPr>
              <a:t>Metal-free SiN</a:t>
            </a:r>
            <a:endParaRPr lang="en-US" sz="825" dirty="0"/>
          </a:p>
        </p:txBody>
      </p:sp>
      <p:sp>
        <p:nvSpPr>
          <p:cNvPr id="61" name="Shape 50"/>
          <p:cNvSpPr/>
          <p:nvPr/>
        </p:nvSpPr>
        <p:spPr>
          <a:xfrm>
            <a:off x="15978226" y="4162349"/>
            <a:ext cx="1285646" cy="809244"/>
          </a:xfrm>
          <a:prstGeom prst="roundRect">
            <a:avLst>
              <a:gd name="adj" fmla="val 9379"/>
            </a:avLst>
          </a:prstGeom>
          <a:solidFill>
            <a:srgbClr val="ECFDF5"/>
          </a:solidFill>
          <a:ln w="12700">
            <a:solidFill>
              <a:srgbClr val="A7F3D0"/>
            </a:solidFill>
            <a:prstDash val="solid"/>
          </a:ln>
        </p:spPr>
      </p:sp>
      <p:sp>
        <p:nvSpPr>
          <p:cNvPr id="62" name="Text 51"/>
          <p:cNvSpPr txBox="1"/>
          <p:nvPr/>
        </p:nvSpPr>
        <p:spPr>
          <a:xfrm>
            <a:off x="16064179" y="4304995"/>
            <a:ext cx="1114654" cy="143561"/>
          </a:xfrm>
          <a:prstGeom prst="rect">
            <a:avLst/>
          </a:prstGeom>
          <a:noFill/>
          <a:ln/>
        </p:spPr>
        <p:txBody>
          <a:bodyPr wrap="none" lIns="0" tIns="0" rIns="0" bIns="0" rtlCol="0" anchor="ctr"/>
          <a:lstStyle/>
          <a:p>
            <a:pPr algn="l" indent="0" marL="0">
              <a:buNone/>
            </a:pPr>
            <a:r>
              <a:rPr lang="en-US" sz="900" b="1" spc="144" kern="0" dirty="0">
                <a:solidFill>
                  <a:srgbClr val="047857"/>
                </a:solidFill>
                <a:latin typeface="Inter" pitchFamily="34" charset="0"/>
                <a:ea typeface="Inter" pitchFamily="34" charset="-122"/>
                <a:cs typeface="Inter" pitchFamily="34" charset="-120"/>
              </a:rPr>
              <a:t>SPLIT B</a:t>
            </a:r>
            <a:endParaRPr lang="en-US" sz="900" dirty="0"/>
          </a:p>
        </p:txBody>
      </p:sp>
      <p:sp>
        <p:nvSpPr>
          <p:cNvPr id="63" name="Text 52"/>
          <p:cNvSpPr txBox="1"/>
          <p:nvPr/>
        </p:nvSpPr>
        <p:spPr>
          <a:xfrm>
            <a:off x="16064179" y="4486046"/>
            <a:ext cx="1114654" cy="247802"/>
          </a:xfrm>
          <a:prstGeom prst="rect">
            <a:avLst/>
          </a:prstGeom>
          <a:noFill/>
          <a:ln/>
        </p:spPr>
        <p:txBody>
          <a:bodyPr wrap="none" lIns="0" tIns="0" rIns="0" bIns="0" rtlCol="0" anchor="ctr"/>
          <a:lstStyle/>
          <a:p>
            <a:pPr algn="l" indent="0" marL="0">
              <a:buNone/>
            </a:pPr>
            <a:r>
              <a:rPr lang="en-US" sz="1650" b="1" dirty="0">
                <a:solidFill>
                  <a:srgbClr val="064E3B"/>
                </a:solidFill>
                <a:latin typeface="Inter" pitchFamily="34" charset="0"/>
                <a:ea typeface="Inter" pitchFamily="34" charset="-122"/>
                <a:cs typeface="Inter" pitchFamily="34" charset="-120"/>
              </a:rPr>
              <a:t>W08</a:t>
            </a:r>
            <a:endParaRPr lang="en-US" sz="1650" dirty="0"/>
          </a:p>
        </p:txBody>
      </p:sp>
      <p:sp>
        <p:nvSpPr>
          <p:cNvPr id="64" name="Text 53"/>
          <p:cNvSpPr txBox="1"/>
          <p:nvPr/>
        </p:nvSpPr>
        <p:spPr>
          <a:xfrm>
            <a:off x="16064179" y="4733849"/>
            <a:ext cx="1114654" cy="133502"/>
          </a:xfrm>
          <a:prstGeom prst="rect">
            <a:avLst/>
          </a:prstGeom>
          <a:noFill/>
          <a:ln/>
        </p:spPr>
        <p:txBody>
          <a:bodyPr wrap="none" lIns="0" tIns="0" rIns="0" bIns="0" rtlCol="0" anchor="ctr"/>
          <a:lstStyle/>
          <a:p>
            <a:pPr algn="l" indent="0" marL="0">
              <a:buNone/>
            </a:pPr>
            <a:r>
              <a:rPr lang="en-US" sz="825" dirty="0">
                <a:solidFill>
                  <a:srgbClr val="4B5563"/>
                </a:solidFill>
                <a:latin typeface="Inter" pitchFamily="34" charset="0"/>
                <a:ea typeface="Inter" pitchFamily="34" charset="-122"/>
                <a:cs typeface="Inter" pitchFamily="34" charset="-120"/>
              </a:rPr>
              <a:t>Metal-free SiN</a:t>
            </a:r>
            <a:endParaRPr lang="en-US" sz="825" dirty="0"/>
          </a:p>
        </p:txBody>
      </p:sp>
      <p:sp>
        <p:nvSpPr>
          <p:cNvPr id="65" name="Text 54"/>
          <p:cNvSpPr txBox="1"/>
          <p:nvPr/>
        </p:nvSpPr>
        <p:spPr>
          <a:xfrm>
            <a:off x="11811305" y="3372307"/>
            <a:ext cx="1133856" cy="143561"/>
          </a:xfrm>
          <a:prstGeom prst="rect">
            <a:avLst/>
          </a:prstGeom>
          <a:noFill/>
          <a:ln/>
        </p:spPr>
        <p:txBody>
          <a:bodyPr wrap="none" lIns="0" tIns="0" rIns="0" bIns="0" rtlCol="0" anchor="ctr"/>
          <a:lstStyle/>
          <a:p>
            <a:pPr algn="l" indent="0" marL="0">
              <a:buNone/>
            </a:pPr>
            <a:r>
              <a:rPr lang="en-US" sz="900" spc="144" kern="0" dirty="0">
                <a:solidFill>
                  <a:srgbClr val="ECFDF5">
                    <a:alpha val="70000"/>
                  </a:srgbClr>
                </a:solidFill>
                <a:latin typeface="Inter" pitchFamily="34" charset="0"/>
                <a:ea typeface="Inter" pitchFamily="34" charset="-122"/>
                <a:cs typeface="Inter" pitchFamily="34" charset="-120"/>
              </a:rPr>
              <a:t>SPLIT A</a:t>
            </a:r>
            <a:endParaRPr lang="en-US" sz="900" dirty="0"/>
          </a:p>
        </p:txBody>
      </p:sp>
      <p:sp>
        <p:nvSpPr>
          <p:cNvPr id="66" name="Text 55"/>
          <p:cNvSpPr txBox="1"/>
          <p:nvPr/>
        </p:nvSpPr>
        <p:spPr>
          <a:xfrm>
            <a:off x="11811305" y="3800246"/>
            <a:ext cx="1133856" cy="133502"/>
          </a:xfrm>
          <a:prstGeom prst="rect">
            <a:avLst/>
          </a:prstGeom>
          <a:noFill/>
          <a:ln/>
        </p:spPr>
        <p:txBody>
          <a:bodyPr wrap="none" lIns="0" tIns="0" rIns="0" bIns="0" rtlCol="0" anchor="ctr"/>
          <a:lstStyle/>
          <a:p>
            <a:pPr algn="l" indent="0" marL="0">
              <a:buNone/>
            </a:pPr>
            <a:r>
              <a:rPr lang="en-US" sz="825" dirty="0">
                <a:solidFill>
                  <a:srgbClr val="ECFDF5">
                    <a:alpha val="85000"/>
                  </a:srgbClr>
                </a:solidFill>
                <a:latin typeface="Inter" pitchFamily="34" charset="0"/>
                <a:ea typeface="Inter" pitchFamily="34" charset="-122"/>
                <a:cs typeface="Inter" pitchFamily="34" charset="-120"/>
              </a:rPr>
              <a:t>Hardmask TiN</a:t>
            </a:r>
            <a:endParaRPr lang="en-US" sz="825" dirty="0"/>
          </a:p>
        </p:txBody>
      </p:sp>
      <p:sp>
        <p:nvSpPr>
          <p:cNvPr id="67" name="Text 56"/>
          <p:cNvSpPr txBox="1"/>
          <p:nvPr/>
        </p:nvSpPr>
        <p:spPr>
          <a:xfrm>
            <a:off x="13225882" y="3372307"/>
            <a:ext cx="1133856" cy="143561"/>
          </a:xfrm>
          <a:prstGeom prst="rect">
            <a:avLst/>
          </a:prstGeom>
          <a:noFill/>
          <a:ln/>
        </p:spPr>
        <p:txBody>
          <a:bodyPr wrap="none" lIns="0" tIns="0" rIns="0" bIns="0" rtlCol="0" anchor="ctr"/>
          <a:lstStyle/>
          <a:p>
            <a:pPr algn="l" indent="0" marL="0">
              <a:buNone/>
            </a:pPr>
            <a:r>
              <a:rPr lang="en-US" sz="900" spc="144" kern="0" dirty="0">
                <a:solidFill>
                  <a:srgbClr val="ECFDF5">
                    <a:alpha val="70000"/>
                  </a:srgbClr>
                </a:solidFill>
                <a:latin typeface="Inter" pitchFamily="34" charset="0"/>
                <a:ea typeface="Inter" pitchFamily="34" charset="-122"/>
                <a:cs typeface="Inter" pitchFamily="34" charset="-120"/>
              </a:rPr>
              <a:t>SPLIT A</a:t>
            </a:r>
            <a:endParaRPr lang="en-US" sz="900" dirty="0"/>
          </a:p>
        </p:txBody>
      </p:sp>
      <p:sp>
        <p:nvSpPr>
          <p:cNvPr id="68" name="Text 57"/>
          <p:cNvSpPr txBox="1"/>
          <p:nvPr/>
        </p:nvSpPr>
        <p:spPr>
          <a:xfrm>
            <a:off x="13225882" y="3800246"/>
            <a:ext cx="1133856" cy="133502"/>
          </a:xfrm>
          <a:prstGeom prst="rect">
            <a:avLst/>
          </a:prstGeom>
          <a:noFill/>
          <a:ln/>
        </p:spPr>
        <p:txBody>
          <a:bodyPr wrap="none" lIns="0" tIns="0" rIns="0" bIns="0" rtlCol="0" anchor="ctr"/>
          <a:lstStyle/>
          <a:p>
            <a:pPr algn="l" indent="0" marL="0">
              <a:buNone/>
            </a:pPr>
            <a:r>
              <a:rPr lang="en-US" sz="825" dirty="0">
                <a:solidFill>
                  <a:srgbClr val="ECFDF5">
                    <a:alpha val="85000"/>
                  </a:srgbClr>
                </a:solidFill>
                <a:latin typeface="Inter" pitchFamily="34" charset="0"/>
                <a:ea typeface="Inter" pitchFamily="34" charset="-122"/>
                <a:cs typeface="Inter" pitchFamily="34" charset="-120"/>
              </a:rPr>
              <a:t>Hardmask TiN</a:t>
            </a:r>
            <a:endParaRPr lang="en-US" sz="825" dirty="0"/>
          </a:p>
        </p:txBody>
      </p:sp>
      <p:sp>
        <p:nvSpPr>
          <p:cNvPr id="69" name="Text 58"/>
          <p:cNvSpPr txBox="1"/>
          <p:nvPr/>
        </p:nvSpPr>
        <p:spPr>
          <a:xfrm>
            <a:off x="14639544" y="3372307"/>
            <a:ext cx="1133856" cy="143561"/>
          </a:xfrm>
          <a:prstGeom prst="rect">
            <a:avLst/>
          </a:prstGeom>
          <a:noFill/>
          <a:ln/>
        </p:spPr>
        <p:txBody>
          <a:bodyPr wrap="none" lIns="0" tIns="0" rIns="0" bIns="0" rtlCol="0" anchor="ctr"/>
          <a:lstStyle/>
          <a:p>
            <a:pPr algn="l" indent="0" marL="0">
              <a:buNone/>
            </a:pPr>
            <a:r>
              <a:rPr lang="en-US" sz="900" spc="144" kern="0" dirty="0">
                <a:solidFill>
                  <a:srgbClr val="ECFDF5">
                    <a:alpha val="70000"/>
                  </a:srgbClr>
                </a:solidFill>
                <a:latin typeface="Inter" pitchFamily="34" charset="0"/>
                <a:ea typeface="Inter" pitchFamily="34" charset="-122"/>
                <a:cs typeface="Inter" pitchFamily="34" charset="-120"/>
              </a:rPr>
              <a:t>SPLIT A</a:t>
            </a:r>
            <a:endParaRPr lang="en-US" sz="900" dirty="0"/>
          </a:p>
        </p:txBody>
      </p:sp>
      <p:sp>
        <p:nvSpPr>
          <p:cNvPr id="70" name="Text 59"/>
          <p:cNvSpPr txBox="1"/>
          <p:nvPr/>
        </p:nvSpPr>
        <p:spPr>
          <a:xfrm>
            <a:off x="14639544" y="3800246"/>
            <a:ext cx="1133856" cy="133502"/>
          </a:xfrm>
          <a:prstGeom prst="rect">
            <a:avLst/>
          </a:prstGeom>
          <a:noFill/>
          <a:ln/>
        </p:spPr>
        <p:txBody>
          <a:bodyPr wrap="none" lIns="0" tIns="0" rIns="0" bIns="0" rtlCol="0" anchor="ctr"/>
          <a:lstStyle/>
          <a:p>
            <a:pPr algn="l" indent="0" marL="0">
              <a:buNone/>
            </a:pPr>
            <a:r>
              <a:rPr lang="en-US" sz="825" dirty="0">
                <a:solidFill>
                  <a:srgbClr val="ECFDF5">
                    <a:alpha val="85000"/>
                  </a:srgbClr>
                </a:solidFill>
                <a:latin typeface="Inter" pitchFamily="34" charset="0"/>
                <a:ea typeface="Inter" pitchFamily="34" charset="-122"/>
                <a:cs typeface="Inter" pitchFamily="34" charset="-120"/>
              </a:rPr>
              <a:t>Hardmask TiN</a:t>
            </a:r>
            <a:endParaRPr lang="en-US" sz="825" dirty="0"/>
          </a:p>
        </p:txBody>
      </p:sp>
      <p:sp>
        <p:nvSpPr>
          <p:cNvPr id="71" name="Text 60"/>
          <p:cNvSpPr txBox="1"/>
          <p:nvPr/>
        </p:nvSpPr>
        <p:spPr>
          <a:xfrm>
            <a:off x="16054121" y="3372307"/>
            <a:ext cx="1133856" cy="143561"/>
          </a:xfrm>
          <a:prstGeom prst="rect">
            <a:avLst/>
          </a:prstGeom>
          <a:noFill/>
          <a:ln/>
        </p:spPr>
        <p:txBody>
          <a:bodyPr wrap="none" lIns="0" tIns="0" rIns="0" bIns="0" rtlCol="0" anchor="ctr"/>
          <a:lstStyle/>
          <a:p>
            <a:pPr algn="l" indent="0" marL="0">
              <a:buNone/>
            </a:pPr>
            <a:r>
              <a:rPr lang="en-US" sz="900" spc="144" kern="0" dirty="0">
                <a:solidFill>
                  <a:srgbClr val="ECFDF5">
                    <a:alpha val="70000"/>
                  </a:srgbClr>
                </a:solidFill>
                <a:latin typeface="Inter" pitchFamily="34" charset="0"/>
                <a:ea typeface="Inter" pitchFamily="34" charset="-122"/>
                <a:cs typeface="Inter" pitchFamily="34" charset="-120"/>
              </a:rPr>
              <a:t>SPLIT A</a:t>
            </a:r>
            <a:endParaRPr lang="en-US" sz="900" dirty="0"/>
          </a:p>
        </p:txBody>
      </p:sp>
      <p:sp>
        <p:nvSpPr>
          <p:cNvPr id="72" name="Text 61"/>
          <p:cNvSpPr txBox="1"/>
          <p:nvPr/>
        </p:nvSpPr>
        <p:spPr>
          <a:xfrm>
            <a:off x="16054121" y="3800246"/>
            <a:ext cx="1133856" cy="133502"/>
          </a:xfrm>
          <a:prstGeom prst="rect">
            <a:avLst/>
          </a:prstGeom>
          <a:noFill/>
          <a:ln/>
        </p:spPr>
        <p:txBody>
          <a:bodyPr wrap="none" lIns="0" tIns="0" rIns="0" bIns="0" rtlCol="0" anchor="ctr"/>
          <a:lstStyle/>
          <a:p>
            <a:pPr algn="l" indent="0" marL="0">
              <a:buNone/>
            </a:pPr>
            <a:r>
              <a:rPr lang="en-US" sz="825" dirty="0">
                <a:solidFill>
                  <a:srgbClr val="ECFDF5">
                    <a:alpha val="85000"/>
                  </a:srgbClr>
                </a:solidFill>
                <a:latin typeface="Inter" pitchFamily="34" charset="0"/>
                <a:ea typeface="Inter" pitchFamily="34" charset="-122"/>
                <a:cs typeface="Inter" pitchFamily="34" charset="-120"/>
              </a:rPr>
              <a:t>Hardmask TiN</a:t>
            </a:r>
            <a:endParaRPr lang="en-US" sz="825" dirty="0"/>
          </a:p>
        </p:txBody>
      </p:sp>
      <p:sp>
        <p:nvSpPr>
          <p:cNvPr id="73" name="Text 62"/>
          <p:cNvSpPr txBox="1"/>
          <p:nvPr/>
        </p:nvSpPr>
        <p:spPr>
          <a:xfrm>
            <a:off x="11697005" y="5982005"/>
            <a:ext cx="5715000" cy="200254"/>
          </a:xfrm>
          <a:prstGeom prst="rect">
            <a:avLst/>
          </a:prstGeom>
          <a:noFill/>
          <a:ln/>
        </p:spPr>
        <p:txBody>
          <a:bodyPr wrap="none" lIns="0" tIns="0" rIns="0" bIns="0" rtlCol="0" anchor="ctr"/>
          <a:lstStyle/>
          <a:p>
            <a:pPr algn="l" indent="0" marL="0">
              <a:buNone/>
            </a:pPr>
            <a:r>
              <a:rPr lang="en-US" sz="1125" b="1" dirty="0">
                <a:solidFill>
                  <a:srgbClr val="D1FAE5"/>
                </a:solidFill>
                <a:latin typeface="Inter" pitchFamily="34" charset="0"/>
                <a:ea typeface="Inter" pitchFamily="34" charset="-122"/>
                <a:cs typeface="Inter" pitchFamily="34" charset="-120"/>
              </a:rPr>
              <a:t>평가 단계</a:t>
            </a:r>
            <a:endParaRPr lang="en-US" sz="1200" dirty="0"/>
          </a:p>
        </p:txBody>
      </p:sp>
      <p:sp>
        <p:nvSpPr>
          <p:cNvPr id="74" name="Text 63"/>
          <p:cNvSpPr txBox="1"/>
          <p:nvPr/>
        </p:nvSpPr>
        <p:spPr>
          <a:xfrm>
            <a:off x="11697005" y="6458407"/>
            <a:ext cx="5715000" cy="277063"/>
          </a:xfrm>
          <a:prstGeom prst="rect">
            <a:avLst/>
          </a:prstGeom>
          <a:noFill/>
          <a:ln/>
        </p:spPr>
        <p:txBody>
          <a:bodyPr wrap="none" lIns="0" tIns="0" rIns="0" bIns="0" rtlCol="0" anchor="ctr"/>
          <a:lstStyle/>
          <a:p>
            <a:pPr algn="l" indent="0" marL="0">
              <a:buNone/>
            </a:pPr>
            <a:r>
              <a:rPr lang="en-US" sz="1275" dirty="0">
                <a:solidFill>
                  <a:srgbClr val="0B1F18"/>
                </a:solidFill>
                <a:latin typeface="Inter" pitchFamily="34" charset="0"/>
                <a:ea typeface="Inter" pitchFamily="34" charset="-122"/>
                <a:cs typeface="Inter" pitchFamily="34" charset="-120"/>
              </a:rPr>
              <a:t>AA / space litho · AASI / ASEI 측정</a:t>
            </a:r>
            <a:endParaRPr lang="en-US" sz="1275" dirty="0"/>
          </a:p>
        </p:txBody>
      </p:sp>
      <p:sp>
        <p:nvSpPr>
          <p:cNvPr id="75" name="Text 64"/>
          <p:cNvSpPr txBox="1"/>
          <p:nvPr/>
        </p:nvSpPr>
        <p:spPr>
          <a:xfrm>
            <a:off x="11697005" y="6733642"/>
            <a:ext cx="5715000" cy="277063"/>
          </a:xfrm>
          <a:prstGeom prst="rect">
            <a:avLst/>
          </a:prstGeom>
          <a:noFill/>
          <a:ln/>
        </p:spPr>
        <p:txBody>
          <a:bodyPr wrap="none" lIns="0" tIns="0" rIns="0" bIns="0" rtlCol="0" anchor="ctr"/>
          <a:lstStyle/>
          <a:p>
            <a:pPr algn="l" indent="0" marL="0">
              <a:buNone/>
            </a:pPr>
            <a:r>
              <a:rPr lang="en-US" sz="1275" dirty="0">
                <a:solidFill>
                  <a:srgbClr val="0B1F18"/>
                </a:solidFill>
                <a:latin typeface="Inter" pitchFamily="34" charset="0"/>
                <a:ea typeface="Inter" pitchFamily="34" charset="-122"/>
                <a:cs typeface="Inter" pitchFamily="34" charset="-120"/>
              </a:rPr>
              <a:t>Trench etch · hardmask strip · AMI 측정</a:t>
            </a:r>
            <a:endParaRPr lang="en-US" sz="1275" dirty="0"/>
          </a:p>
        </p:txBody>
      </p:sp>
      <p:sp>
        <p:nvSpPr>
          <p:cNvPr id="76" name="Text 65"/>
          <p:cNvSpPr txBox="1"/>
          <p:nvPr/>
        </p:nvSpPr>
        <p:spPr>
          <a:xfrm>
            <a:off x="11697005" y="7008876"/>
            <a:ext cx="5715000" cy="277063"/>
          </a:xfrm>
          <a:prstGeom prst="rect">
            <a:avLst/>
          </a:prstGeom>
          <a:noFill/>
          <a:ln/>
        </p:spPr>
        <p:txBody>
          <a:bodyPr wrap="none" lIns="0" tIns="0" rIns="0" bIns="0" rtlCol="0" anchor="ctr"/>
          <a:lstStyle/>
          <a:p>
            <a:pPr algn="l" indent="0" marL="0">
              <a:buNone/>
            </a:pPr>
            <a:r>
              <a:rPr lang="en-US" sz="1275" dirty="0">
                <a:solidFill>
                  <a:srgbClr val="0B1F18"/>
                </a:solidFill>
                <a:latin typeface="Inter" pitchFamily="34" charset="0"/>
                <a:ea typeface="Inter" pitchFamily="34" charset="-122"/>
                <a:cs typeface="Inter" pitchFamily="34" charset="-120"/>
              </a:rPr>
              <a:t>Barrier/seed, Cu plating, CMP · ACI 측정</a:t>
            </a:r>
            <a:endParaRPr lang="en-US" sz="1275" dirty="0"/>
          </a:p>
        </p:txBody>
      </p:sp>
      <p:sp>
        <p:nvSpPr>
          <p:cNvPr id="77" name="Text 66"/>
          <p:cNvSpPr txBox="1"/>
          <p:nvPr/>
        </p:nvSpPr>
        <p:spPr>
          <a:xfrm>
            <a:off x="11697005" y="7284110"/>
            <a:ext cx="5715000" cy="277063"/>
          </a:xfrm>
          <a:prstGeom prst="rect">
            <a:avLst/>
          </a:prstGeom>
          <a:noFill/>
          <a:ln/>
        </p:spPr>
        <p:txBody>
          <a:bodyPr wrap="none" lIns="0" tIns="0" rIns="0" bIns="0" rtlCol="0" anchor="ctr"/>
          <a:lstStyle/>
          <a:p>
            <a:pPr algn="l" indent="0" marL="0">
              <a:buNone/>
            </a:pPr>
            <a:r>
              <a:rPr lang="en-US" sz="1275" dirty="0">
                <a:solidFill>
                  <a:srgbClr val="0B1F18"/>
                </a:solidFill>
                <a:latin typeface="Inter" pitchFamily="34" charset="0"/>
                <a:ea typeface="Inter" pitchFamily="34" charset="-122"/>
                <a:cs typeface="Inter" pitchFamily="34" charset="-120"/>
              </a:rPr>
              <a:t>Line R, via R, 단락/누설 4종 측정</a:t>
            </a:r>
            <a:endParaRPr lang="en-US" sz="1275" dirty="0"/>
          </a:p>
        </p:txBody>
      </p:sp>
      <p:sp>
        <p:nvSpPr>
          <p:cNvPr id="78" name="Text 67"/>
          <p:cNvSpPr txBox="1"/>
          <p:nvPr/>
        </p:nvSpPr>
        <p:spPr>
          <a:xfrm>
            <a:off x="1143000" y="8382305"/>
            <a:ext cx="16193110" cy="124358"/>
          </a:xfrm>
          <a:prstGeom prst="rect">
            <a:avLst/>
          </a:prstGeom>
          <a:noFill/>
          <a:ln/>
        </p:spPr>
        <p:txBody>
          <a:bodyPr wrap="none" lIns="0" tIns="0" rIns="0" bIns="0" rtlCol="0" anchor="ctr"/>
          <a:lstStyle/>
          <a:p>
            <a:pPr algn="l" indent="0" marL="0">
              <a:buNone/>
            </a:pPr>
            <a:r>
              <a:rPr lang="en-US" sz="975" b="1" spc="176" kern="0" dirty="0">
                <a:solidFill>
                  <a:srgbClr val="047857"/>
                </a:solidFill>
                <a:latin typeface="Inter" pitchFamily="34" charset="0"/>
                <a:ea typeface="Inter" pitchFamily="34" charset="-122"/>
                <a:cs typeface="Inter" pitchFamily="34" charset="-120"/>
              </a:rPr>
              <a:t>KEY TAKEAWAY</a:t>
            </a:r>
            <a:endParaRPr lang="en-US" sz="975" dirty="0"/>
          </a:p>
        </p:txBody>
      </p:sp>
      <p:sp>
        <p:nvSpPr>
          <p:cNvPr id="79" name="Text 68"/>
          <p:cNvSpPr txBox="1"/>
          <p:nvPr/>
        </p:nvSpPr>
        <p:spPr>
          <a:xfrm>
            <a:off x="1143000" y="8563356"/>
            <a:ext cx="16611905" cy="314554"/>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동일 etch·CMP·측정 조건에서 TiN 4매와 metal-free SiN 4매를 동일 lot 안에서 평가하므로 split 외 변수는 통계적 노이즈 수준으로 통제됨.</a:t>
            </a:r>
            <a:endParaRPr lang="en-US" sz="1800" dirty="0"/>
          </a:p>
        </p:txBody>
      </p:sp>
      <p:sp>
        <p:nvSpPr>
          <p:cNvPr id="80" name="Text 69"/>
          <p:cNvSpPr txBox="1"/>
          <p:nvPr/>
        </p:nvSpPr>
        <p:spPr>
          <a:xfrm>
            <a:off x="857707" y="9924898"/>
            <a:ext cx="16573500" cy="247802"/>
          </a:xfrm>
          <a:prstGeom prst="rect">
            <a:avLst/>
          </a:prstGeom>
          <a:noFill/>
          <a:ln/>
        </p:spPr>
        <p:txBody>
          <a:bodyPr wrap="square" lIns="0" tIns="0" rIns="0" bIns="0" rtlCol="0" anchor="ctr"/>
          <a:lstStyle/>
          <a:p>
            <a:pPr algn="l" indent="0" marL="0">
              <a:buNone/>
            </a:pPr>
            <a:r>
              <a:rPr lang="en-US" sz="1350" dirty="0">
                <a:solidFill>
                  <a:srgbClr val="6B7280"/>
                </a:solidFill>
                <a:latin typeface="Inter" pitchFamily="34" charset="0"/>
                <a:ea typeface="Inter" pitchFamily="34" charset="-122"/>
                <a:cs typeface="Inter" pitchFamily="34" charset="-120"/>
              </a:rPr>
              <a:t>※ 내부 테스트용 더미(가상) 데이터</a:t>
            </a:r>
            <a:pPr algn="l" indent="0" marL="0">
              <a:buNone/>
            </a:pPr>
            <a:r>
              <a:rPr lang="en-US" sz="1350" dirty="0">
                <a:solidFill>
                  <a:srgbClr val="6B7280"/>
                </a:solidFill>
                <a:latin typeface="Inter" pitchFamily="34" charset="0"/>
                <a:ea typeface="Inter" pitchFamily="34" charset="-122"/>
                <a:cs typeface="Inter" pitchFamily="34" charset="-120"/>
              </a:rPr>
              <a:t>02 / 09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gen-dedup-3b9b8e7616fa13ada292d6fb8c78dfb4.png">    </p:cNvPr>
          <p:cNvPicPr>
            <a:picLocks noChangeAspect="1"/>
          </p:cNvPicPr>
          <p:nvPr/>
        </p:nvPicPr>
        <p:blipFill>
          <a:blip r:embed="rId1"/>
          <a:srcRect l="0" r="0" t="0" b="0"/>
          <a:stretch/>
        </p:blipFill>
        <p:spPr>
          <a:xfrm>
            <a:off x="16573500" y="571500"/>
            <a:ext cx="2857500" cy="2857500"/>
          </a:xfrm>
          <a:prstGeom prst="rect">
            <a:avLst/>
          </a:prstGeom>
        </p:spPr>
      </p:pic>
      <p:sp>
        <p:nvSpPr>
          <p:cNvPr id="4" name="Shape 0"/>
          <p:cNvSpPr/>
          <p:nvPr/>
        </p:nvSpPr>
        <p:spPr>
          <a:xfrm>
            <a:off x="0" y="0"/>
            <a:ext cx="18288000" cy="10287000"/>
          </a:xfrm>
          <a:prstGeom prst="rect">
            <a:avLst/>
          </a:prstGeom>
          <a:solidFill>
            <a:srgbClr val="F4F8F4"/>
          </a:solidFill>
          <a:ln w="12700">
            <a:solidFill>
              <a:srgbClr val="FFFFFF">
                <a:alpha val="0"/>
              </a:srgbClr>
            </a:solidFill>
            <a:prstDash val="solid"/>
          </a:ln>
        </p:spPr>
      </p:sp>
      <p:pic>
        <p:nvPicPr>
          <p:cNvPr id="5" name="Image 1" descr="gen-dedup-66b76b7cdeda13d0254d0e21c96fd21a.png">    </p:cNvPr>
          <p:cNvPicPr>
            <a:picLocks noChangeAspect="1"/>
          </p:cNvPicPr>
          <p:nvPr/>
        </p:nvPicPr>
        <p:blipFill>
          <a:blip r:embed="rId2"/>
          <a:srcRect l="0" r="0" t="-1" b="-1"/>
          <a:stretch/>
        </p:blipFill>
        <p:spPr>
          <a:xfrm>
            <a:off x="857707" y="2361895"/>
            <a:ext cx="8096098" cy="5715000"/>
          </a:xfrm>
          <a:prstGeom prst="rect">
            <a:avLst/>
          </a:prstGeom>
        </p:spPr>
      </p:pic>
      <p:pic>
        <p:nvPicPr>
          <p:cNvPr id="6" name="Image 2" descr="gen-dedup-66b76b7cdeda13d0254d0e21c96fd21a.png">    </p:cNvPr>
          <p:cNvPicPr>
            <a:picLocks noChangeAspect="1"/>
          </p:cNvPicPr>
          <p:nvPr/>
        </p:nvPicPr>
        <p:blipFill>
          <a:blip r:embed="rId3"/>
          <a:srcRect l="0" r="0" t="-1" b="-1"/>
          <a:stretch/>
        </p:blipFill>
        <p:spPr>
          <a:xfrm>
            <a:off x="9334195" y="2361895"/>
            <a:ext cx="8096098" cy="5715000"/>
          </a:xfrm>
          <a:prstGeom prst="rect">
            <a:avLst/>
          </a:prstGeom>
        </p:spPr>
      </p:pic>
      <p:pic>
        <p:nvPicPr>
          <p:cNvPr id="7" name="Image 3" descr="gen-dedup-2fbcf05202020e5c2fee389890c4e9a4.png">    </p:cNvPr>
          <p:cNvPicPr>
            <a:picLocks noChangeAspect="1"/>
          </p:cNvPicPr>
          <p:nvPr/>
        </p:nvPicPr>
        <p:blipFill>
          <a:blip r:embed="rId4"/>
          <a:srcRect l="0" r="0" t="-31" b="-31"/>
          <a:stretch/>
        </p:blipFill>
        <p:spPr>
          <a:xfrm>
            <a:off x="857707" y="8287207"/>
            <a:ext cx="16621049" cy="743407"/>
          </a:xfrm>
          <a:prstGeom prst="rect">
            <a:avLst/>
          </a:prstGeom>
        </p:spPr>
      </p:pic>
      <p:pic>
        <p:nvPicPr>
          <p:cNvPr id="8" name="Image 4" descr="gen-dedup-3b9da220db71d9a5cd13d215b2caae42.png">    </p:cNvPr>
          <p:cNvPicPr>
            <a:picLocks noChangeAspect="1"/>
          </p:cNvPicPr>
          <p:nvPr/>
        </p:nvPicPr>
        <p:blipFill>
          <a:blip r:embed="rId5"/>
          <a:srcRect l="0" r="0" t="-14" b="-14"/>
          <a:stretch/>
        </p:blipFill>
        <p:spPr>
          <a:xfrm>
            <a:off x="857707" y="2361895"/>
            <a:ext cx="8096098" cy="590702"/>
          </a:xfrm>
          <a:prstGeom prst="rect">
            <a:avLst/>
          </a:prstGeom>
        </p:spPr>
      </p:pic>
      <p:pic>
        <p:nvPicPr>
          <p:cNvPr id="9" name="Image 5" descr="gen-dedup-a9472d0844b4a51a555eacbb4fc772c4.png">    </p:cNvPr>
          <p:cNvPicPr>
            <a:picLocks noChangeAspect="1"/>
          </p:cNvPicPr>
          <p:nvPr/>
        </p:nvPicPr>
        <p:blipFill>
          <a:blip r:embed="rId6"/>
          <a:srcRect l="-18" r="-18" t="0" b="0"/>
          <a:stretch/>
        </p:blipFill>
        <p:spPr>
          <a:xfrm>
            <a:off x="9334195" y="2361895"/>
            <a:ext cx="8096098" cy="599846"/>
          </a:xfrm>
          <a:prstGeom prst="rect">
            <a:avLst/>
          </a:prstGeom>
        </p:spPr>
      </p:pic>
      <p:pic>
        <p:nvPicPr>
          <p:cNvPr id="10" name="Image 6" descr="gen-dedup-95f55c728c8cb545faa50b2ce80670ef.jpg">    </p:cNvPr>
          <p:cNvPicPr>
            <a:picLocks noChangeAspect="1"/>
          </p:cNvPicPr>
          <p:nvPr/>
        </p:nvPicPr>
        <p:blipFill>
          <a:blip r:embed="rId7"/>
          <a:stretch>
            <a:fillRect/>
          </a:stretch>
        </p:blipFill>
        <p:spPr>
          <a:xfrm>
            <a:off x="1524305" y="3276295"/>
            <a:ext cx="4286707" cy="4172407"/>
          </a:xfrm>
          <a:prstGeom prst="rect">
            <a:avLst/>
          </a:prstGeom>
        </p:spPr>
      </p:pic>
      <p:pic>
        <p:nvPicPr>
          <p:cNvPr id="11" name="Image 7" descr="gen-dedup-20b1971e0aa0d89962573f905f7efc09.jpg">    </p:cNvPr>
          <p:cNvPicPr>
            <a:picLocks noChangeAspect="1"/>
          </p:cNvPicPr>
          <p:nvPr/>
        </p:nvPicPr>
        <p:blipFill>
          <a:blip r:embed="rId8"/>
          <a:stretch>
            <a:fillRect/>
          </a:stretch>
        </p:blipFill>
        <p:spPr>
          <a:xfrm>
            <a:off x="10001707" y="3276295"/>
            <a:ext cx="4286707" cy="4172407"/>
          </a:xfrm>
          <a:prstGeom prst="rect">
            <a:avLst/>
          </a:prstGeom>
        </p:spPr>
      </p:pic>
      <p:sp>
        <p:nvSpPr>
          <p:cNvPr id="12" name="Shape 1"/>
          <p:cNvSpPr/>
          <p:nvPr/>
        </p:nvSpPr>
        <p:spPr>
          <a:xfrm>
            <a:off x="857707" y="875995"/>
            <a:ext cx="95098" cy="95098"/>
          </a:xfrm>
          <a:prstGeom prst="ellipse">
            <a:avLst/>
          </a:prstGeom>
          <a:solidFill>
            <a:srgbClr val="047857"/>
          </a:solidFill>
          <a:ln w="12700">
            <a:solidFill>
              <a:srgbClr val="FFFFFF">
                <a:alpha val="0"/>
              </a:srgbClr>
            </a:solidFill>
            <a:prstDash val="solid"/>
          </a:ln>
        </p:spPr>
      </p:sp>
      <p:sp>
        <p:nvSpPr>
          <p:cNvPr id="13" name="Text 2"/>
          <p:cNvSpPr txBox="1"/>
          <p:nvPr/>
        </p:nvSpPr>
        <p:spPr>
          <a:xfrm>
            <a:off x="1086307" y="800100"/>
            <a:ext cx="2551176" cy="247802"/>
          </a:xfrm>
          <a:prstGeom prst="rect">
            <a:avLst/>
          </a:prstGeom>
          <a:noFill/>
          <a:ln/>
        </p:spPr>
        <p:txBody>
          <a:bodyPr wrap="none" lIns="0" tIns="0" rIns="0" bIns="0" rtlCol="0" anchor="ctr"/>
          <a:lstStyle/>
          <a:p>
            <a:pPr algn="l" indent="0" marL="0">
              <a:buNone/>
            </a:pPr>
            <a:r>
              <a:rPr lang="en-US" sz="1350" b="1" spc="243" kern="0" dirty="0">
                <a:solidFill>
                  <a:srgbClr val="047857"/>
                </a:solidFill>
                <a:latin typeface="Inter" pitchFamily="34" charset="0"/>
                <a:ea typeface="Inter" pitchFamily="34" charset="-122"/>
                <a:cs typeface="Inter" pitchFamily="34" charset="-120"/>
              </a:rPr>
              <a:t>03 / 09 · 단면 / SEM</a:t>
            </a:r>
            <a:endParaRPr lang="en-US" sz="1350" dirty="0"/>
          </a:p>
        </p:txBody>
      </p:sp>
      <p:sp>
        <p:nvSpPr>
          <p:cNvPr id="14" name="Text 3"/>
          <p:cNvSpPr txBox="1"/>
          <p:nvPr/>
        </p:nvSpPr>
        <p:spPr>
          <a:xfrm>
            <a:off x="857707" y="1123798"/>
            <a:ext cx="14287500" cy="505663"/>
          </a:xfrm>
          <a:prstGeom prst="rect">
            <a:avLst/>
          </a:prstGeom>
          <a:noFill/>
          <a:ln/>
        </p:spPr>
        <p:txBody>
          <a:bodyPr wrap="none" lIns="0" tIns="0" rIns="0" bIns="0" rtlCol="0" anchor="ctr"/>
          <a:lstStyle/>
          <a:p>
            <a:pPr algn="l" indent="0" marL="0">
              <a:buNone/>
            </a:pPr>
            <a:r>
              <a:rPr lang="en-US" sz="3600" b="1" spc="-72" kern="0" dirty="0">
                <a:solidFill>
                  <a:srgbClr val="0B1F18"/>
                </a:solidFill>
                <a:latin typeface="Inter" pitchFamily="34" charset="0"/>
                <a:ea typeface="Inter" pitchFamily="34" charset="-122"/>
                <a:cs typeface="Inter" pitchFamily="34" charset="-120"/>
              </a:rPr>
              <a:t>M2 damascene 단면 SEM — HM TiN 대비 metal-free SiN</a:t>
            </a:r>
            <a:endParaRPr lang="en-US" sz="3600" dirty="0"/>
          </a:p>
        </p:txBody>
      </p:sp>
      <p:sp>
        <p:nvSpPr>
          <p:cNvPr id="15" name="Text 4"/>
          <p:cNvSpPr txBox="1"/>
          <p:nvPr/>
        </p:nvSpPr>
        <p:spPr>
          <a:xfrm>
            <a:off x="857707" y="1790395"/>
            <a:ext cx="14287500" cy="286207"/>
          </a:xfrm>
          <a:prstGeom prst="rect">
            <a:avLst/>
          </a:prstGeom>
          <a:noFill/>
          <a:ln/>
        </p:spPr>
        <p:txBody>
          <a:bodyPr wrap="none" lIns="0" tIns="0" rIns="0" bIns="0" rtlCol="0" anchor="ctr"/>
          <a:lstStyle/>
          <a:p>
            <a:pPr algn="l" indent="0" marL="0">
              <a:buNone/>
            </a:pPr>
            <a:r>
              <a:rPr lang="en-US" sz="1500" dirty="0">
                <a:solidFill>
                  <a:srgbClr val="4B5563"/>
                </a:solidFill>
                <a:latin typeface="Inter" pitchFamily="34" charset="0"/>
                <a:ea typeface="Inter" pitchFamily="34" charset="-122"/>
                <a:cs typeface="Inter" pitchFamily="34" charset="-120"/>
              </a:rPr>
              <a:t>동일 step, 동일 CMP 시점의 단면 SEM. 두 이미지는 문헌 reference 컷이며 본 lot의 절대 수치를 대표하지 않는다.</a:t>
            </a:r>
            <a:endParaRPr lang="en-US" sz="1500" dirty="0"/>
          </a:p>
        </p:txBody>
      </p:sp>
      <p:sp>
        <p:nvSpPr>
          <p:cNvPr id="16" name="Text 5"/>
          <p:cNvSpPr txBox="1"/>
          <p:nvPr/>
        </p:nvSpPr>
        <p:spPr>
          <a:xfrm>
            <a:off x="1181405" y="2533802"/>
            <a:ext cx="7429500" cy="277063"/>
          </a:xfrm>
          <a:prstGeom prst="rect">
            <a:avLst/>
          </a:prstGeom>
          <a:noFill/>
          <a:ln/>
        </p:spPr>
        <p:txBody>
          <a:bodyPr wrap="square" lIns="0" tIns="0" rIns="0" bIns="0" rtlCol="0" anchor="ctr"/>
          <a:lstStyle/>
          <a:p>
            <a:pPr algn="l" indent="0" marL="0">
              <a:buNone/>
            </a:pPr>
            <a:r>
              <a:rPr lang="en-US" sz="1050" b="1" dirty="0">
                <a:solidFill>
                  <a:srgbClr val="A7F3D0"/>
                </a:solidFill>
                <a:latin typeface="Inter" pitchFamily="34" charset="0"/>
                <a:ea typeface="Inter" pitchFamily="34" charset="-122"/>
                <a:cs typeface="Inter" pitchFamily="34" charset="-120"/>
              </a:rPr>
              <a:t>SPLIT A · LITERATURE-CUT</a:t>
            </a:r>
            <a:pPr algn="l" indent="0" marL="0">
              <a:buNone/>
            </a:pPr>
            <a:r>
              <a:rPr lang="en-US" sz="1800" b="1" dirty="0">
                <a:solidFill>
                  <a:srgbClr val="FFFFFF"/>
                </a:solidFill>
                <a:latin typeface="Inter" pitchFamily="34" charset="0"/>
                <a:ea typeface="Inter" pitchFamily="34" charset="-122"/>
                <a:cs typeface="Inter" pitchFamily="34" charset="-120"/>
              </a:rPr>
              <a:t>Hardmask TiN</a:t>
            </a:r>
            <a:endParaRPr lang="en-US" sz="1200" dirty="0"/>
          </a:p>
        </p:txBody>
      </p:sp>
      <p:sp>
        <p:nvSpPr>
          <p:cNvPr id="17" name="Text 6"/>
          <p:cNvSpPr txBox="1"/>
          <p:nvPr/>
        </p:nvSpPr>
        <p:spPr>
          <a:xfrm>
            <a:off x="6096305" y="3276295"/>
            <a:ext cx="2667305" cy="191110"/>
          </a:xfrm>
          <a:prstGeom prst="rect">
            <a:avLst/>
          </a:prstGeom>
          <a:noFill/>
          <a:ln/>
        </p:spPr>
        <p:txBody>
          <a:bodyPr wrap="none" lIns="0" tIns="0" rIns="0" bIns="0" rtlCol="0" anchor="ctr"/>
          <a:lstStyle/>
          <a:p>
            <a:pPr algn="l" indent="0" marL="0">
              <a:buNone/>
            </a:pPr>
            <a:r>
              <a:rPr lang="en-US" sz="1050" b="1" spc="168" kern="0" dirty="0">
                <a:solidFill>
                  <a:srgbClr val="047857"/>
                </a:solidFill>
                <a:latin typeface="Inter" pitchFamily="34" charset="0"/>
                <a:ea typeface="Inter" pitchFamily="34" charset="-122"/>
                <a:cs typeface="Inter" pitchFamily="34" charset="-120"/>
              </a:rPr>
              <a:t>관찰 포인트</a:t>
            </a:r>
            <a:endParaRPr lang="en-US" sz="1050" dirty="0"/>
          </a:p>
        </p:txBody>
      </p:sp>
      <p:sp>
        <p:nvSpPr>
          <p:cNvPr id="18" name="Text 7"/>
          <p:cNvSpPr txBox="1"/>
          <p:nvPr/>
        </p:nvSpPr>
        <p:spPr>
          <a:xfrm>
            <a:off x="6096305" y="3600907"/>
            <a:ext cx="2667305" cy="553212"/>
          </a:xfrm>
          <a:prstGeom prst="rect">
            <a:avLst/>
          </a:prstGeom>
          <a:noFill/>
          <a:ln/>
        </p:spPr>
        <p:txBody>
          <a:bodyPr wrap="square" lIns="0" tIns="0" rIns="0" bIns="0" rtlCol="0" anchor="ctr"/>
          <a:lstStyle/>
          <a:p>
            <a:pPr algn="l" indent="0" marL="0">
              <a:lnSpc>
                <a:spcPts val="2160"/>
              </a:lnSpc>
              <a:buNone/>
            </a:pPr>
            <a:r>
              <a:rPr lang="en-US" sz="1350" b="1" dirty="0">
                <a:solidFill>
                  <a:srgbClr val="065F46"/>
                </a:solidFill>
                <a:latin typeface="Inter" pitchFamily="34" charset="0"/>
                <a:ea typeface="Inter" pitchFamily="34" charset="-122"/>
                <a:cs typeface="Inter" pitchFamily="34" charset="-120"/>
              </a:rPr>
              <a:t>TiN 캡</a:t>
            </a:r>
            <a:pPr algn="l" indent="0" marL="0">
              <a:lnSpc>
                <a:spcPts val="2160"/>
              </a:lnSpc>
              <a:buNone/>
            </a:pPr>
            <a:r>
              <a:rPr lang="en-US" sz="1350" dirty="0">
                <a:solidFill>
                  <a:srgbClr val="0B1F18"/>
                </a:solidFill>
                <a:latin typeface="Inter" pitchFamily="34" charset="0"/>
                <a:ea typeface="Inter" pitchFamily="34" charset="-122"/>
                <a:cs typeface="Inter" pitchFamily="34" charset="-120"/>
              </a:rPr>
              <a:t>이 안정적으로 잔류 → 후속 etch baseline 유지</a:t>
            </a:r>
            <a:endParaRPr lang="en-US" sz="1350" dirty="0"/>
          </a:p>
        </p:txBody>
      </p:sp>
      <p:sp>
        <p:nvSpPr>
          <p:cNvPr id="19" name="Text 8"/>
          <p:cNvSpPr txBox="1"/>
          <p:nvPr/>
        </p:nvSpPr>
        <p:spPr>
          <a:xfrm>
            <a:off x="6096305" y="4244645"/>
            <a:ext cx="2905049" cy="277063"/>
          </a:xfrm>
          <a:prstGeom prst="rect">
            <a:avLst/>
          </a:prstGeom>
          <a:noFill/>
          <a:ln/>
        </p:spPr>
        <p:txBody>
          <a:bodyPr wrap="none" lIns="0" tIns="0" rIns="0" bIns="0" rtlCol="0" anchor="ctr"/>
          <a:lstStyle/>
          <a:p>
            <a:pPr algn="l" indent="0" marL="0">
              <a:buNone/>
            </a:pPr>
            <a:r>
              <a:rPr lang="en-US" sz="1350" dirty="0">
                <a:solidFill>
                  <a:srgbClr val="0B1F18"/>
                </a:solidFill>
                <a:latin typeface="Inter" pitchFamily="34" charset="0"/>
                <a:ea typeface="Inter" pitchFamily="34" charset="-122"/>
                <a:cs typeface="Inter" pitchFamily="34" charset="-120"/>
              </a:rPr>
              <a:t>CMP 잔여 / dishing 일반적 수준</a:t>
            </a:r>
            <a:endParaRPr lang="en-US" sz="1350" dirty="0"/>
          </a:p>
        </p:txBody>
      </p:sp>
      <p:sp>
        <p:nvSpPr>
          <p:cNvPr id="20" name="Text 9"/>
          <p:cNvSpPr txBox="1"/>
          <p:nvPr/>
        </p:nvSpPr>
        <p:spPr>
          <a:xfrm>
            <a:off x="6096305" y="4614062"/>
            <a:ext cx="2667305" cy="277063"/>
          </a:xfrm>
          <a:prstGeom prst="rect">
            <a:avLst/>
          </a:prstGeom>
          <a:noFill/>
          <a:ln/>
        </p:spPr>
        <p:txBody>
          <a:bodyPr wrap="none" lIns="0" tIns="0" rIns="0" bIns="0" rtlCol="0" anchor="ctr"/>
          <a:lstStyle/>
          <a:p>
            <a:pPr algn="l" indent="0" marL="0">
              <a:buNone/>
            </a:pPr>
            <a:r>
              <a:rPr lang="en-US" sz="1350" dirty="0">
                <a:solidFill>
                  <a:srgbClr val="0B1F18"/>
                </a:solidFill>
                <a:latin typeface="Inter" pitchFamily="34" charset="0"/>
                <a:ea typeface="Inter" pitchFamily="34" charset="-122"/>
                <a:cs typeface="Inter" pitchFamily="34" charset="-120"/>
              </a:rPr>
              <a:t>aspect ratio 약 2.4×</a:t>
            </a:r>
            <a:endParaRPr lang="en-US" sz="1350" dirty="0"/>
          </a:p>
        </p:txBody>
      </p:sp>
      <p:sp>
        <p:nvSpPr>
          <p:cNvPr id="21" name="Text 10"/>
          <p:cNvSpPr txBox="1"/>
          <p:nvPr/>
        </p:nvSpPr>
        <p:spPr>
          <a:xfrm>
            <a:off x="1181405" y="7601407"/>
            <a:ext cx="7429500" cy="181051"/>
          </a:xfrm>
          <a:prstGeom prst="rect">
            <a:avLst/>
          </a:prstGeom>
          <a:noFill/>
          <a:ln/>
        </p:spPr>
        <p:txBody>
          <a:bodyPr wrap="none" lIns="0" tIns="0" rIns="0" bIns="0" rtlCol="0" anchor="ctr"/>
          <a:lstStyle/>
          <a:p>
            <a:pPr algn="l" indent="0" marL="0">
              <a:buNone/>
            </a:pPr>
            <a:r>
              <a:rPr lang="en-US" sz="1125" dirty="0">
                <a:solidFill>
                  <a:srgbClr val="4B5563"/>
                </a:solidFill>
                <a:latin typeface="Inter" pitchFamily="34" charset="0"/>
                <a:ea typeface="Inter" pitchFamily="34" charset="-122"/>
                <a:cs typeface="Inter" pitchFamily="34" charset="-120"/>
              </a:rPr>
              <a:t>reference cross-section image (3D InCites, 2025)</a:t>
            </a:r>
            <a:endParaRPr lang="en-US" sz="1125" dirty="0"/>
          </a:p>
        </p:txBody>
      </p:sp>
      <p:sp>
        <p:nvSpPr>
          <p:cNvPr id="22" name="Text 11"/>
          <p:cNvSpPr txBox="1"/>
          <p:nvPr/>
        </p:nvSpPr>
        <p:spPr>
          <a:xfrm>
            <a:off x="1181405" y="7800746"/>
            <a:ext cx="8115300" cy="152705"/>
          </a:xfrm>
          <a:prstGeom prst="rect">
            <a:avLst/>
          </a:prstGeom>
          <a:noFill/>
          <a:ln/>
        </p:spPr>
        <p:txBody>
          <a:bodyPr wrap="none" lIns="0" tIns="0" rIns="0" bIns="0" rtlCol="0" anchor="ctr"/>
          <a:lstStyle/>
          <a:p>
            <a:pPr algn="l" indent="0" marL="0">
              <a:buNone/>
            </a:pPr>
            <a:r>
              <a:rPr lang="en-US" sz="975" dirty="0">
                <a:solidFill>
                  <a:srgbClr val="9CA3AF"/>
                </a:solidFill>
                <a:latin typeface="Inter" pitchFamily="34" charset="0"/>
                <a:ea typeface="Inter" pitchFamily="34" charset="-122"/>
                <a:cs typeface="Inter" pitchFamily="34" charset="-120"/>
              </a:rPr>
              <a:t>3dincites.com/2025/08/copper-dual-damascene-for-wafer-level-packaging-enabling-reliable-high-density-interconnects</a:t>
            </a:r>
            <a:endParaRPr lang="en-US" sz="975" dirty="0"/>
          </a:p>
        </p:txBody>
      </p:sp>
      <p:sp>
        <p:nvSpPr>
          <p:cNvPr id="23" name="Text 12"/>
          <p:cNvSpPr txBox="1"/>
          <p:nvPr/>
        </p:nvSpPr>
        <p:spPr>
          <a:xfrm>
            <a:off x="9658807" y="2533802"/>
            <a:ext cx="7429500" cy="277063"/>
          </a:xfrm>
          <a:prstGeom prst="rect">
            <a:avLst/>
          </a:prstGeom>
          <a:noFill/>
          <a:ln/>
        </p:spPr>
        <p:txBody>
          <a:bodyPr wrap="square" lIns="0" tIns="0" rIns="0" bIns="0" rtlCol="0" anchor="ctr"/>
          <a:lstStyle/>
          <a:p>
            <a:pPr algn="l" indent="0" marL="0">
              <a:buNone/>
            </a:pPr>
            <a:r>
              <a:rPr lang="en-US" sz="1050" b="1" dirty="0">
                <a:solidFill>
                  <a:srgbClr val="047857"/>
                </a:solidFill>
                <a:latin typeface="Inter" pitchFamily="34" charset="0"/>
                <a:ea typeface="Inter" pitchFamily="34" charset="-122"/>
                <a:cs typeface="Inter" pitchFamily="34" charset="-120"/>
              </a:rPr>
              <a:t>SPLIT B · LITERATURE-CUT</a:t>
            </a:r>
            <a:pPr algn="l" indent="0" marL="0">
              <a:buNone/>
            </a:pPr>
            <a:r>
              <a:rPr lang="en-US" sz="1800" b="1" dirty="0">
                <a:solidFill>
                  <a:srgbClr val="064E3B"/>
                </a:solidFill>
                <a:latin typeface="Inter" pitchFamily="34" charset="0"/>
                <a:ea typeface="Inter" pitchFamily="34" charset="-122"/>
                <a:cs typeface="Inter" pitchFamily="34" charset="-120"/>
              </a:rPr>
              <a:t>Metal-free SiN</a:t>
            </a:r>
            <a:endParaRPr lang="en-US" sz="1200" dirty="0"/>
          </a:p>
        </p:txBody>
      </p:sp>
      <p:sp>
        <p:nvSpPr>
          <p:cNvPr id="24" name="Text 13"/>
          <p:cNvSpPr txBox="1"/>
          <p:nvPr/>
        </p:nvSpPr>
        <p:spPr>
          <a:xfrm>
            <a:off x="14573707" y="3276295"/>
            <a:ext cx="2667305" cy="191110"/>
          </a:xfrm>
          <a:prstGeom prst="rect">
            <a:avLst/>
          </a:prstGeom>
          <a:noFill/>
          <a:ln/>
        </p:spPr>
        <p:txBody>
          <a:bodyPr wrap="none" lIns="0" tIns="0" rIns="0" bIns="0" rtlCol="0" anchor="ctr"/>
          <a:lstStyle/>
          <a:p>
            <a:pPr algn="l" indent="0" marL="0">
              <a:buNone/>
            </a:pPr>
            <a:r>
              <a:rPr lang="en-US" sz="1050" b="1" spc="168" kern="0" dirty="0">
                <a:solidFill>
                  <a:srgbClr val="047857"/>
                </a:solidFill>
                <a:latin typeface="Inter" pitchFamily="34" charset="0"/>
                <a:ea typeface="Inter" pitchFamily="34" charset="-122"/>
                <a:cs typeface="Inter" pitchFamily="34" charset="-120"/>
              </a:rPr>
              <a:t>관찰 포인트</a:t>
            </a:r>
            <a:endParaRPr lang="en-US" sz="1050" dirty="0"/>
          </a:p>
        </p:txBody>
      </p:sp>
      <p:sp>
        <p:nvSpPr>
          <p:cNvPr id="25" name="Text 14"/>
          <p:cNvSpPr txBox="1"/>
          <p:nvPr/>
        </p:nvSpPr>
        <p:spPr>
          <a:xfrm>
            <a:off x="14573707" y="3600907"/>
            <a:ext cx="2667305" cy="553212"/>
          </a:xfrm>
          <a:prstGeom prst="rect">
            <a:avLst/>
          </a:prstGeom>
          <a:noFill/>
          <a:ln/>
        </p:spPr>
        <p:txBody>
          <a:bodyPr wrap="square" lIns="0" tIns="0" rIns="0" bIns="0" rtlCol="0" anchor="ctr"/>
          <a:lstStyle/>
          <a:p>
            <a:pPr algn="l" indent="0" marL="0">
              <a:lnSpc>
                <a:spcPts val="2160"/>
              </a:lnSpc>
              <a:buNone/>
            </a:pPr>
            <a:r>
              <a:rPr lang="en-US" sz="1350" dirty="0">
                <a:solidFill>
                  <a:srgbClr val="0B1F18"/>
                </a:solidFill>
                <a:latin typeface="Inter" pitchFamily="34" charset="0"/>
                <a:ea typeface="Inter" pitchFamily="34" charset="-122"/>
                <a:cs typeface="Inter" pitchFamily="34" charset="-120"/>
              </a:rPr>
              <a:t>금속 hardmask 생략 → 단순 SiN 단일 층</a:t>
            </a:r>
            <a:endParaRPr lang="en-US" sz="1350" dirty="0"/>
          </a:p>
        </p:txBody>
      </p:sp>
      <p:sp>
        <p:nvSpPr>
          <p:cNvPr id="26" name="Text 15"/>
          <p:cNvSpPr txBox="1"/>
          <p:nvPr/>
        </p:nvSpPr>
        <p:spPr>
          <a:xfrm>
            <a:off x="14573707" y="4244645"/>
            <a:ext cx="2667305" cy="553212"/>
          </a:xfrm>
          <a:prstGeom prst="rect">
            <a:avLst/>
          </a:prstGeom>
          <a:noFill/>
          <a:ln/>
        </p:spPr>
        <p:txBody>
          <a:bodyPr wrap="square" lIns="0" tIns="0" rIns="0" bIns="0" rtlCol="0" anchor="ctr"/>
          <a:lstStyle/>
          <a:p>
            <a:pPr algn="l" indent="0" marL="0">
              <a:lnSpc>
                <a:spcPts val="2160"/>
              </a:lnSpc>
              <a:buNone/>
            </a:pPr>
            <a:r>
              <a:rPr lang="en-US" sz="1350" dirty="0">
                <a:solidFill>
                  <a:srgbClr val="0B1F18"/>
                </a:solidFill>
                <a:latin typeface="Inter" pitchFamily="34" charset="0"/>
                <a:ea typeface="Inter" pitchFamily="34" charset="-122"/>
                <a:cs typeface="Inter" pitchFamily="34" charset="-120"/>
              </a:rPr>
              <a:t>cap 두께/내전압 의존 SiN dielectric</a:t>
            </a:r>
            <a:endParaRPr lang="en-US" sz="1350" dirty="0"/>
          </a:p>
        </p:txBody>
      </p:sp>
      <p:sp>
        <p:nvSpPr>
          <p:cNvPr id="27" name="Text 16"/>
          <p:cNvSpPr txBox="1"/>
          <p:nvPr/>
        </p:nvSpPr>
        <p:spPr>
          <a:xfrm>
            <a:off x="14573707" y="4888382"/>
            <a:ext cx="3173882" cy="277063"/>
          </a:xfrm>
          <a:prstGeom prst="rect">
            <a:avLst/>
          </a:prstGeom>
          <a:noFill/>
          <a:ln/>
        </p:spPr>
        <p:txBody>
          <a:bodyPr wrap="none" lIns="0" tIns="0" rIns="0" bIns="0" rtlCol="0" anchor="ctr"/>
          <a:lstStyle/>
          <a:p>
            <a:pPr algn="l" indent="0" marL="0">
              <a:buNone/>
            </a:pPr>
            <a:r>
              <a:rPr lang="en-US" sz="1350" dirty="0">
                <a:solidFill>
                  <a:srgbClr val="0B1F18"/>
                </a:solidFill>
                <a:latin typeface="Inter" pitchFamily="34" charset="0"/>
                <a:ea typeface="Inter" pitchFamily="34" charset="-122"/>
                <a:cs typeface="Inter" pitchFamily="34" charset="-120"/>
              </a:rPr>
              <a:t>profile round 유지, sidewall 직진</a:t>
            </a:r>
            <a:endParaRPr lang="en-US" sz="1350" dirty="0"/>
          </a:p>
        </p:txBody>
      </p:sp>
      <p:sp>
        <p:nvSpPr>
          <p:cNvPr id="28" name="Text 17"/>
          <p:cNvSpPr txBox="1"/>
          <p:nvPr/>
        </p:nvSpPr>
        <p:spPr>
          <a:xfrm>
            <a:off x="9658807" y="7601407"/>
            <a:ext cx="7429500" cy="181051"/>
          </a:xfrm>
          <a:prstGeom prst="rect">
            <a:avLst/>
          </a:prstGeom>
          <a:noFill/>
          <a:ln/>
        </p:spPr>
        <p:txBody>
          <a:bodyPr wrap="none" lIns="0" tIns="0" rIns="0" bIns="0" rtlCol="0" anchor="ctr"/>
          <a:lstStyle/>
          <a:p>
            <a:pPr algn="l" indent="0" marL="0">
              <a:buNone/>
            </a:pPr>
            <a:r>
              <a:rPr lang="en-US" sz="1125" dirty="0">
                <a:solidFill>
                  <a:srgbClr val="4B5563"/>
                </a:solidFill>
                <a:latin typeface="Inter" pitchFamily="34" charset="0"/>
                <a:ea typeface="Inter" pitchFamily="34" charset="-122"/>
                <a:cs typeface="Inter" pitchFamily="34" charset="-120"/>
              </a:rPr>
              <a:t>reference cross-section image (Springer Nature, Interconnect chapter)</a:t>
            </a:r>
            <a:endParaRPr lang="en-US" sz="1125" dirty="0"/>
          </a:p>
        </p:txBody>
      </p:sp>
      <p:sp>
        <p:nvSpPr>
          <p:cNvPr id="29" name="Text 18"/>
          <p:cNvSpPr txBox="1"/>
          <p:nvPr/>
        </p:nvSpPr>
        <p:spPr>
          <a:xfrm>
            <a:off x="9658807" y="7800746"/>
            <a:ext cx="7429500" cy="152705"/>
          </a:xfrm>
          <a:prstGeom prst="rect">
            <a:avLst/>
          </a:prstGeom>
          <a:noFill/>
          <a:ln/>
        </p:spPr>
        <p:txBody>
          <a:bodyPr wrap="none" lIns="0" tIns="0" rIns="0" bIns="0" rtlCol="0" anchor="ctr"/>
          <a:lstStyle/>
          <a:p>
            <a:pPr algn="l" indent="0" marL="0">
              <a:buNone/>
            </a:pPr>
            <a:r>
              <a:rPr lang="en-US" sz="975" dirty="0">
                <a:solidFill>
                  <a:srgbClr val="9CA3AF"/>
                </a:solidFill>
                <a:latin typeface="Inter" pitchFamily="34" charset="0"/>
                <a:ea typeface="Inter" pitchFamily="34" charset="-122"/>
                <a:cs typeface="Inter" pitchFamily="34" charset="-120"/>
              </a:rPr>
              <a:t>link.springer.com/chapter/10.1007/978-3-032-04000-8_3</a:t>
            </a:r>
            <a:endParaRPr lang="en-US" sz="975" dirty="0"/>
          </a:p>
        </p:txBody>
      </p:sp>
      <p:sp>
        <p:nvSpPr>
          <p:cNvPr id="30" name="Text 19"/>
          <p:cNvSpPr txBox="1"/>
          <p:nvPr/>
        </p:nvSpPr>
        <p:spPr>
          <a:xfrm>
            <a:off x="1143000" y="8382305"/>
            <a:ext cx="16193110" cy="124358"/>
          </a:xfrm>
          <a:prstGeom prst="rect">
            <a:avLst/>
          </a:prstGeom>
          <a:noFill/>
          <a:ln/>
        </p:spPr>
        <p:txBody>
          <a:bodyPr wrap="none" lIns="0" tIns="0" rIns="0" bIns="0" rtlCol="0" anchor="ctr"/>
          <a:lstStyle/>
          <a:p>
            <a:pPr algn="l" indent="0" marL="0">
              <a:buNone/>
            </a:pPr>
            <a:r>
              <a:rPr lang="en-US" sz="975" b="1" spc="176" kern="0" dirty="0">
                <a:solidFill>
                  <a:srgbClr val="047857"/>
                </a:solidFill>
                <a:latin typeface="Inter" pitchFamily="34" charset="0"/>
                <a:ea typeface="Inter" pitchFamily="34" charset="-122"/>
                <a:cs typeface="Inter" pitchFamily="34" charset="-120"/>
              </a:rPr>
              <a:t>KEY TAKEAWAY</a:t>
            </a:r>
            <a:endParaRPr lang="en-US" sz="975" dirty="0"/>
          </a:p>
        </p:txBody>
      </p:sp>
      <p:sp>
        <p:nvSpPr>
          <p:cNvPr id="31" name="Text 20"/>
          <p:cNvSpPr txBox="1"/>
          <p:nvPr/>
        </p:nvSpPr>
        <p:spPr>
          <a:xfrm>
            <a:off x="1143000" y="8563356"/>
            <a:ext cx="16878910" cy="314554"/>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두 분할 모두 Cu gap-fill 정합성 보이나, metal-free SiN은 cap/etch의존 dielectric 단일화를 통해 mask 단수 비용이 줄어듦 (dummy image).</a:t>
            </a:r>
            <a:endParaRPr lang="en-US" sz="1800" dirty="0"/>
          </a:p>
        </p:txBody>
      </p:sp>
      <p:sp>
        <p:nvSpPr>
          <p:cNvPr id="32" name="Text 21"/>
          <p:cNvSpPr txBox="1"/>
          <p:nvPr/>
        </p:nvSpPr>
        <p:spPr>
          <a:xfrm>
            <a:off x="857707" y="9924898"/>
            <a:ext cx="16573500" cy="247802"/>
          </a:xfrm>
          <a:prstGeom prst="rect">
            <a:avLst/>
          </a:prstGeom>
          <a:noFill/>
          <a:ln/>
        </p:spPr>
        <p:txBody>
          <a:bodyPr wrap="square" lIns="0" tIns="0" rIns="0" bIns="0" rtlCol="0" anchor="ctr"/>
          <a:lstStyle/>
          <a:p>
            <a:pPr algn="l" indent="0" marL="0">
              <a:buNone/>
            </a:pPr>
            <a:r>
              <a:rPr lang="en-US" sz="1350" dirty="0">
                <a:solidFill>
                  <a:srgbClr val="6B7280"/>
                </a:solidFill>
                <a:latin typeface="Inter" pitchFamily="34" charset="0"/>
                <a:ea typeface="Inter" pitchFamily="34" charset="-122"/>
                <a:cs typeface="Inter" pitchFamily="34" charset="-120"/>
              </a:rPr>
              <a:t>※ 내부 테스트용 더미(가상) 데이터</a:t>
            </a:r>
            <a:pPr algn="l" indent="0" marL="0">
              <a:buNone/>
            </a:pPr>
            <a:r>
              <a:rPr lang="en-US" sz="1350" dirty="0">
                <a:solidFill>
                  <a:srgbClr val="6B7280"/>
                </a:solidFill>
                <a:latin typeface="Inter" pitchFamily="34" charset="0"/>
                <a:ea typeface="Inter" pitchFamily="34" charset="-122"/>
                <a:cs typeface="Inter" pitchFamily="34" charset="-120"/>
              </a:rPr>
              <a:t>03 / 09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gen-dedup-7d1fcc2c2255976b1395bdca1eb75158.png">    </p:cNvPr>
          <p:cNvPicPr>
            <a:picLocks noChangeAspect="1"/>
          </p:cNvPicPr>
          <p:nvPr/>
        </p:nvPicPr>
        <p:blipFill>
          <a:blip r:embed="rId1"/>
          <a:srcRect l="0" r="0" t="0" b="0"/>
          <a:stretch/>
        </p:blipFill>
        <p:spPr>
          <a:xfrm>
            <a:off x="14859000" y="5143500"/>
            <a:ext cx="2857500" cy="2857500"/>
          </a:xfrm>
          <a:prstGeom prst="rect">
            <a:avLst/>
          </a:prstGeom>
        </p:spPr>
      </p:pic>
      <p:sp>
        <p:nvSpPr>
          <p:cNvPr id="4" name="Shape 0"/>
          <p:cNvSpPr/>
          <p:nvPr/>
        </p:nvSpPr>
        <p:spPr>
          <a:xfrm>
            <a:off x="0" y="0"/>
            <a:ext cx="18288000" cy="10287000"/>
          </a:xfrm>
          <a:prstGeom prst="rect">
            <a:avLst/>
          </a:prstGeom>
          <a:solidFill>
            <a:srgbClr val="F4F8F4"/>
          </a:solidFill>
          <a:ln w="12700">
            <a:solidFill>
              <a:srgbClr val="FFFFFF">
                <a:alpha val="0"/>
              </a:srgbClr>
            </a:solidFill>
            <a:prstDash val="solid"/>
          </a:ln>
        </p:spPr>
      </p:sp>
      <p:pic>
        <p:nvPicPr>
          <p:cNvPr id="5" name="Image 1" descr="gen-dedup-66b76b7cdeda13d0254d0e21c96fd21a.png">    </p:cNvPr>
          <p:cNvPicPr>
            <a:picLocks noChangeAspect="1"/>
          </p:cNvPicPr>
          <p:nvPr/>
        </p:nvPicPr>
        <p:blipFill>
          <a:blip r:embed="rId2"/>
          <a:srcRect l="0" r="0" t="-1" b="-1"/>
          <a:stretch/>
        </p:blipFill>
        <p:spPr>
          <a:xfrm>
            <a:off x="857707" y="2361895"/>
            <a:ext cx="8096098" cy="5715000"/>
          </a:xfrm>
          <a:prstGeom prst="rect">
            <a:avLst/>
          </a:prstGeom>
        </p:spPr>
      </p:pic>
      <p:pic>
        <p:nvPicPr>
          <p:cNvPr id="6" name="Image 2" descr="gen-dedup-66b76b7cdeda13d0254d0e21c96fd21a.png">    </p:cNvPr>
          <p:cNvPicPr>
            <a:picLocks noChangeAspect="1"/>
          </p:cNvPicPr>
          <p:nvPr/>
        </p:nvPicPr>
        <p:blipFill>
          <a:blip r:embed="rId3"/>
          <a:srcRect l="0" r="0" t="-1" b="-1"/>
          <a:stretch/>
        </p:blipFill>
        <p:spPr>
          <a:xfrm>
            <a:off x="9334195" y="2361895"/>
            <a:ext cx="8096098" cy="5715000"/>
          </a:xfrm>
          <a:prstGeom prst="rect">
            <a:avLst/>
          </a:prstGeom>
        </p:spPr>
      </p:pic>
      <p:pic>
        <p:nvPicPr>
          <p:cNvPr id="7" name="Image 3" descr="gen-dedup-2fbcf05202020e5c2fee389890c4e9a4.png">    </p:cNvPr>
          <p:cNvPicPr>
            <a:picLocks noChangeAspect="1"/>
          </p:cNvPicPr>
          <p:nvPr/>
        </p:nvPicPr>
        <p:blipFill>
          <a:blip r:embed="rId4"/>
          <a:srcRect l="0" r="0" t="-31" b="-31"/>
          <a:stretch/>
        </p:blipFill>
        <p:spPr>
          <a:xfrm>
            <a:off x="857707" y="8287207"/>
            <a:ext cx="16621049" cy="743407"/>
          </a:xfrm>
          <a:prstGeom prst="rect">
            <a:avLst/>
          </a:prstGeom>
        </p:spPr>
      </p:pic>
      <p:pic>
        <p:nvPicPr>
          <p:cNvPr id="8" name="Image 4" descr="gen-dedup-869fcb65e3b395c7b03a3d8870d0fedc.png">    </p:cNvPr>
          <p:cNvPicPr>
            <a:picLocks noChangeAspect="1"/>
          </p:cNvPicPr>
          <p:nvPr/>
        </p:nvPicPr>
        <p:blipFill>
          <a:blip r:embed="rId5"/>
          <a:srcRect l="0" r="0" t="-14" b="-14"/>
          <a:stretch/>
        </p:blipFill>
        <p:spPr>
          <a:xfrm>
            <a:off x="857707" y="2361895"/>
            <a:ext cx="8096098" cy="590702"/>
          </a:xfrm>
          <a:prstGeom prst="rect">
            <a:avLst/>
          </a:prstGeom>
        </p:spPr>
      </p:pic>
      <p:pic>
        <p:nvPicPr>
          <p:cNvPr id="9" name="Image 5" descr="gen-dedup-a9472d0844b4a51a555eacbb4fc772c4.png">    </p:cNvPr>
          <p:cNvPicPr>
            <a:picLocks noChangeAspect="1"/>
          </p:cNvPicPr>
          <p:nvPr/>
        </p:nvPicPr>
        <p:blipFill>
          <a:blip r:embed="rId6"/>
          <a:srcRect l="-18" r="-18" t="0" b="0"/>
          <a:stretch/>
        </p:blipFill>
        <p:spPr>
          <a:xfrm>
            <a:off x="9334195" y="2361895"/>
            <a:ext cx="8096098" cy="599846"/>
          </a:xfrm>
          <a:prstGeom prst="rect">
            <a:avLst/>
          </a:prstGeom>
        </p:spPr>
      </p:pic>
      <p:pic>
        <p:nvPicPr>
          <p:cNvPr id="10" name="Image 6" descr="gen-dedup-71b12dabc94296c143947b7e6a85a867.jpg">    </p:cNvPr>
          <p:cNvPicPr>
            <a:picLocks noChangeAspect="1"/>
          </p:cNvPicPr>
          <p:nvPr/>
        </p:nvPicPr>
        <p:blipFill>
          <a:blip r:embed="rId7"/>
          <a:stretch>
            <a:fillRect/>
          </a:stretch>
        </p:blipFill>
        <p:spPr>
          <a:xfrm>
            <a:off x="1238098" y="3238805"/>
            <a:ext cx="5048402" cy="4095598"/>
          </a:xfrm>
          <a:prstGeom prst="rect">
            <a:avLst/>
          </a:prstGeom>
        </p:spPr>
      </p:pic>
      <p:pic>
        <p:nvPicPr>
          <p:cNvPr id="11" name="Image 7" descr="gen-dedup-411cf85011f7e577ca6773e0bc6ba37a.jpg">    </p:cNvPr>
          <p:cNvPicPr>
            <a:picLocks noChangeAspect="1"/>
          </p:cNvPicPr>
          <p:nvPr/>
        </p:nvPicPr>
        <p:blipFill>
          <a:blip r:embed="rId8"/>
          <a:stretch>
            <a:fillRect/>
          </a:stretch>
        </p:blipFill>
        <p:spPr>
          <a:xfrm>
            <a:off x="9620402" y="3238805"/>
            <a:ext cx="7524598" cy="3238805"/>
          </a:xfrm>
          <a:prstGeom prst="rect">
            <a:avLst/>
          </a:prstGeom>
        </p:spPr>
      </p:pic>
      <p:sp>
        <p:nvSpPr>
          <p:cNvPr id="12" name="Shape 1"/>
          <p:cNvSpPr/>
          <p:nvPr/>
        </p:nvSpPr>
        <p:spPr>
          <a:xfrm>
            <a:off x="857707" y="875995"/>
            <a:ext cx="95098" cy="95098"/>
          </a:xfrm>
          <a:prstGeom prst="ellipse">
            <a:avLst/>
          </a:prstGeom>
          <a:solidFill>
            <a:srgbClr val="047857"/>
          </a:solidFill>
          <a:ln w="12700">
            <a:solidFill>
              <a:srgbClr val="FFFFFF">
                <a:alpha val="0"/>
              </a:srgbClr>
            </a:solidFill>
            <a:prstDash val="solid"/>
          </a:ln>
        </p:spPr>
      </p:sp>
      <p:sp>
        <p:nvSpPr>
          <p:cNvPr id="13" name="Text 2"/>
          <p:cNvSpPr txBox="1"/>
          <p:nvPr/>
        </p:nvSpPr>
        <p:spPr>
          <a:xfrm>
            <a:off x="1086307" y="800100"/>
            <a:ext cx="2551176" cy="247802"/>
          </a:xfrm>
          <a:prstGeom prst="rect">
            <a:avLst/>
          </a:prstGeom>
          <a:noFill/>
          <a:ln/>
        </p:spPr>
        <p:txBody>
          <a:bodyPr wrap="none" lIns="0" tIns="0" rIns="0" bIns="0" rtlCol="0" anchor="ctr"/>
          <a:lstStyle/>
          <a:p>
            <a:pPr algn="l" indent="0" marL="0">
              <a:buNone/>
            </a:pPr>
            <a:r>
              <a:rPr lang="en-US" sz="1350" b="1" spc="243" kern="0" dirty="0">
                <a:solidFill>
                  <a:srgbClr val="047857"/>
                </a:solidFill>
                <a:latin typeface="Inter" pitchFamily="34" charset="0"/>
                <a:ea typeface="Inter" pitchFamily="34" charset="-122"/>
                <a:cs typeface="Inter" pitchFamily="34" charset="-120"/>
              </a:rPr>
              <a:t>04 / 09 · 단면 / TEM</a:t>
            </a:r>
            <a:endParaRPr lang="en-US" sz="1350" dirty="0"/>
          </a:p>
        </p:txBody>
      </p:sp>
      <p:sp>
        <p:nvSpPr>
          <p:cNvPr id="14" name="Text 3"/>
          <p:cNvSpPr txBox="1"/>
          <p:nvPr/>
        </p:nvSpPr>
        <p:spPr>
          <a:xfrm>
            <a:off x="857707" y="1123798"/>
            <a:ext cx="14287500" cy="505663"/>
          </a:xfrm>
          <a:prstGeom prst="rect">
            <a:avLst/>
          </a:prstGeom>
          <a:noFill/>
          <a:ln/>
        </p:spPr>
        <p:txBody>
          <a:bodyPr wrap="none" lIns="0" tIns="0" rIns="0" bIns="0" rtlCol="0" anchor="ctr"/>
          <a:lstStyle/>
          <a:p>
            <a:pPr algn="l" indent="0" marL="0">
              <a:buNone/>
            </a:pPr>
            <a:r>
              <a:rPr lang="en-US" sz="3600" b="1" spc="-72" kern="0" dirty="0">
                <a:solidFill>
                  <a:srgbClr val="0B1F18"/>
                </a:solidFill>
                <a:latin typeface="Inter" pitchFamily="34" charset="0"/>
                <a:ea typeface="Inter" pitchFamily="34" charset="-122"/>
                <a:cs typeface="Inter" pitchFamily="34" charset="-120"/>
              </a:rPr>
              <a:t>M 레이어 단면 TEM — 금속선 / 비아 / barrier profile</a:t>
            </a:r>
            <a:endParaRPr lang="en-US" sz="3600" dirty="0"/>
          </a:p>
        </p:txBody>
      </p:sp>
      <p:sp>
        <p:nvSpPr>
          <p:cNvPr id="15" name="Text 4"/>
          <p:cNvSpPr txBox="1"/>
          <p:nvPr/>
        </p:nvSpPr>
        <p:spPr>
          <a:xfrm>
            <a:off x="857707" y="1790395"/>
            <a:ext cx="14287500" cy="286207"/>
          </a:xfrm>
          <a:prstGeom prst="rect">
            <a:avLst/>
          </a:prstGeom>
          <a:noFill/>
          <a:ln/>
        </p:spPr>
        <p:txBody>
          <a:bodyPr wrap="none" lIns="0" tIns="0" rIns="0" bIns="0" rtlCol="0" anchor="ctr"/>
          <a:lstStyle/>
          <a:p>
            <a:pPr algn="l" indent="0" marL="0">
              <a:buNone/>
            </a:pPr>
            <a:r>
              <a:rPr lang="en-US" sz="1500" dirty="0">
                <a:solidFill>
                  <a:srgbClr val="4B5563"/>
                </a:solidFill>
                <a:latin typeface="Inter" pitchFamily="34" charset="0"/>
                <a:ea typeface="Inter" pitchFamily="34" charset="-122"/>
                <a:cs typeface="Inter" pitchFamily="34" charset="-120"/>
              </a:rPr>
              <a:t>동일 stack의 TEM 단면. feature 위치 표기는 본 lot의 절대 수치가 아닌 dummy image 위주 설명이다.</a:t>
            </a:r>
            <a:endParaRPr lang="en-US" sz="1500" dirty="0"/>
          </a:p>
        </p:txBody>
      </p:sp>
      <p:sp>
        <p:nvSpPr>
          <p:cNvPr id="16" name="Text 5"/>
          <p:cNvSpPr txBox="1"/>
          <p:nvPr/>
        </p:nvSpPr>
        <p:spPr>
          <a:xfrm>
            <a:off x="1181405" y="2533802"/>
            <a:ext cx="7429500" cy="277063"/>
          </a:xfrm>
          <a:prstGeom prst="rect">
            <a:avLst/>
          </a:prstGeom>
          <a:noFill/>
          <a:ln/>
        </p:spPr>
        <p:txBody>
          <a:bodyPr wrap="square" lIns="0" tIns="0" rIns="0" bIns="0" rtlCol="0" anchor="ctr"/>
          <a:lstStyle/>
          <a:p>
            <a:pPr algn="l" indent="0" marL="0">
              <a:buNone/>
            </a:pPr>
            <a:r>
              <a:rPr lang="en-US" sz="1050" b="1" dirty="0">
                <a:solidFill>
                  <a:srgbClr val="A7F3D0"/>
                </a:solidFill>
                <a:latin typeface="Inter" pitchFamily="34" charset="0"/>
                <a:ea typeface="Inter" pitchFamily="34" charset="-122"/>
                <a:cs typeface="Inter" pitchFamily="34" charset="-120"/>
              </a:rPr>
              <a:t>TEM · Cu / barrier / ILD</a:t>
            </a:r>
            <a:pPr algn="l" indent="0" marL="0">
              <a:buNone/>
            </a:pPr>
            <a:r>
              <a:rPr lang="en-US" sz="1800" b="1" dirty="0">
                <a:solidFill>
                  <a:srgbClr val="FFFFFF"/>
                </a:solidFill>
                <a:latin typeface="Inter" pitchFamily="34" charset="0"/>
                <a:ea typeface="Inter" pitchFamily="34" charset="-122"/>
                <a:cs typeface="Inter" pitchFamily="34" charset="-120"/>
              </a:rPr>
              <a:t>Hardmask TiN</a:t>
            </a:r>
            <a:endParaRPr lang="en-US" sz="1200" dirty="0"/>
          </a:p>
        </p:txBody>
      </p:sp>
      <p:sp>
        <p:nvSpPr>
          <p:cNvPr id="17" name="Text 6"/>
          <p:cNvSpPr txBox="1"/>
          <p:nvPr/>
        </p:nvSpPr>
        <p:spPr>
          <a:xfrm>
            <a:off x="6476695" y="3238805"/>
            <a:ext cx="2286000" cy="152705"/>
          </a:xfrm>
          <a:prstGeom prst="rect">
            <a:avLst/>
          </a:prstGeom>
          <a:noFill/>
          <a:ln/>
        </p:spPr>
        <p:txBody>
          <a:bodyPr wrap="none" lIns="0" tIns="0" rIns="0" bIns="0" rtlCol="0" anchor="ctr"/>
          <a:lstStyle/>
          <a:p>
            <a:pPr algn="l" indent="0" marL="0">
              <a:buNone/>
            </a:pPr>
            <a:r>
              <a:rPr lang="en-US" sz="975" b="1" spc="156" kern="0" dirty="0">
                <a:solidFill>
                  <a:srgbClr val="D97706"/>
                </a:solidFill>
                <a:latin typeface="Inter" pitchFamily="34" charset="0"/>
                <a:ea typeface="Inter" pitchFamily="34" charset="-122"/>
                <a:cs typeface="Inter" pitchFamily="34" charset="-120"/>
              </a:rPr>
              <a:t>[1] TiN cap</a:t>
            </a:r>
            <a:endParaRPr lang="en-US" sz="975" dirty="0"/>
          </a:p>
        </p:txBody>
      </p:sp>
      <p:sp>
        <p:nvSpPr>
          <p:cNvPr id="18" name="Text 7"/>
          <p:cNvSpPr txBox="1"/>
          <p:nvPr/>
        </p:nvSpPr>
        <p:spPr>
          <a:xfrm>
            <a:off x="6476695" y="3666744"/>
            <a:ext cx="2286000" cy="152705"/>
          </a:xfrm>
          <a:prstGeom prst="rect">
            <a:avLst/>
          </a:prstGeom>
          <a:noFill/>
          <a:ln/>
        </p:spPr>
        <p:txBody>
          <a:bodyPr wrap="none" lIns="0" tIns="0" rIns="0" bIns="0" rtlCol="0" anchor="ctr"/>
          <a:lstStyle/>
          <a:p>
            <a:pPr algn="l" indent="0" marL="0">
              <a:buNone/>
            </a:pPr>
            <a:r>
              <a:rPr lang="en-US" sz="975" b="1" spc="156" kern="0" dirty="0">
                <a:solidFill>
                  <a:srgbClr val="064E3B"/>
                </a:solidFill>
                <a:latin typeface="Inter" pitchFamily="34" charset="0"/>
                <a:ea typeface="Inter" pitchFamily="34" charset="-122"/>
                <a:cs typeface="Inter" pitchFamily="34" charset="-120"/>
              </a:rPr>
              <a:t>[2] Cu line</a:t>
            </a:r>
            <a:endParaRPr lang="en-US" sz="975" dirty="0"/>
          </a:p>
        </p:txBody>
      </p:sp>
      <p:sp>
        <p:nvSpPr>
          <p:cNvPr id="19" name="Text 8"/>
          <p:cNvSpPr txBox="1"/>
          <p:nvPr/>
        </p:nvSpPr>
        <p:spPr>
          <a:xfrm>
            <a:off x="6476695" y="4095598"/>
            <a:ext cx="2286000" cy="152705"/>
          </a:xfrm>
          <a:prstGeom prst="rect">
            <a:avLst/>
          </a:prstGeom>
          <a:noFill/>
          <a:ln/>
        </p:spPr>
        <p:txBody>
          <a:bodyPr wrap="none" lIns="0" tIns="0" rIns="0" bIns="0" rtlCol="0" anchor="ctr"/>
          <a:lstStyle/>
          <a:p>
            <a:pPr algn="l" indent="0" marL="0">
              <a:buNone/>
            </a:pPr>
            <a:r>
              <a:rPr lang="en-US" sz="975" b="1" spc="156" kern="0" dirty="0">
                <a:solidFill>
                  <a:srgbClr val="0F766E"/>
                </a:solidFill>
                <a:latin typeface="Inter" pitchFamily="34" charset="0"/>
                <a:ea typeface="Inter" pitchFamily="34" charset="-122"/>
                <a:cs typeface="Inter" pitchFamily="34" charset="-120"/>
              </a:rPr>
              <a:t>[3] Ta/TaN</a:t>
            </a:r>
            <a:endParaRPr lang="en-US" sz="975" dirty="0"/>
          </a:p>
        </p:txBody>
      </p:sp>
      <p:sp>
        <p:nvSpPr>
          <p:cNvPr id="20" name="Text 9"/>
          <p:cNvSpPr txBox="1"/>
          <p:nvPr/>
        </p:nvSpPr>
        <p:spPr>
          <a:xfrm>
            <a:off x="6476695" y="4524451"/>
            <a:ext cx="2286000" cy="152705"/>
          </a:xfrm>
          <a:prstGeom prst="rect">
            <a:avLst/>
          </a:prstGeom>
          <a:noFill/>
          <a:ln/>
        </p:spPr>
        <p:txBody>
          <a:bodyPr wrap="none" lIns="0" tIns="0" rIns="0" bIns="0" rtlCol="0" anchor="ctr"/>
          <a:lstStyle/>
          <a:p>
            <a:pPr algn="l" indent="0" marL="0">
              <a:buNone/>
            </a:pPr>
            <a:r>
              <a:rPr lang="en-US" sz="975" b="1" spc="156" kern="0" dirty="0">
                <a:solidFill>
                  <a:srgbClr val="047857"/>
                </a:solidFill>
                <a:latin typeface="Inter" pitchFamily="34" charset="0"/>
                <a:ea typeface="Inter" pitchFamily="34" charset="-122"/>
                <a:cs typeface="Inter" pitchFamily="34" charset="-120"/>
              </a:rPr>
              <a:t>[4] Low-k IMD</a:t>
            </a:r>
            <a:endParaRPr lang="en-US" sz="975" dirty="0"/>
          </a:p>
        </p:txBody>
      </p:sp>
      <p:pic>
        <p:nvPicPr>
          <p:cNvPr id="21" name="Image 8" descr="gen-dedup-1ebf57a863aec8f4d2aaa1b1fc38cb61.png">    </p:cNvPr>
          <p:cNvPicPr>
            <a:picLocks noChangeAspect="1"/>
          </p:cNvPicPr>
          <p:nvPr/>
        </p:nvPicPr>
        <p:blipFill>
          <a:blip r:embed="rId9">
            <a:alphaModFix amt="50000"/>
          </a:blip>
          <a:srcRect l="-2083" r="-2083" t="0" b="0"/>
          <a:stretch/>
        </p:blipFill>
        <p:spPr>
          <a:xfrm>
            <a:off x="6476695" y="3486607"/>
            <a:ext cx="1143000" cy="9144"/>
          </a:xfrm>
          <a:prstGeom prst="rect">
            <a:avLst/>
          </a:prstGeom>
        </p:spPr>
      </p:pic>
      <p:pic>
        <p:nvPicPr>
          <p:cNvPr id="22" name="Image 9" descr="gen-dedup-ea0ed26875957ac55059ec767a59690c.png">    </p:cNvPr>
          <p:cNvPicPr>
            <a:picLocks noChangeAspect="1"/>
          </p:cNvPicPr>
          <p:nvPr/>
        </p:nvPicPr>
        <p:blipFill>
          <a:blip r:embed="rId10">
            <a:alphaModFix amt="50000"/>
          </a:blip>
          <a:srcRect l="-2083" r="-2083" t="0" b="0"/>
          <a:stretch/>
        </p:blipFill>
        <p:spPr>
          <a:xfrm>
            <a:off x="6476695" y="3914546"/>
            <a:ext cx="1143000" cy="9144"/>
          </a:xfrm>
          <a:prstGeom prst="rect">
            <a:avLst/>
          </a:prstGeom>
        </p:spPr>
      </p:pic>
      <p:pic>
        <p:nvPicPr>
          <p:cNvPr id="23" name="Image 10" descr="gen-dedup-bf87f56dc58e5a034d9ed0d865af0984.png">    </p:cNvPr>
          <p:cNvPicPr>
            <a:picLocks noChangeAspect="1"/>
          </p:cNvPicPr>
          <p:nvPr/>
        </p:nvPicPr>
        <p:blipFill>
          <a:blip r:embed="rId11">
            <a:alphaModFix amt="50000"/>
          </a:blip>
          <a:srcRect l="-2083" r="-2083" t="0" b="0"/>
          <a:stretch/>
        </p:blipFill>
        <p:spPr>
          <a:xfrm>
            <a:off x="6476695" y="4343400"/>
            <a:ext cx="1143000" cy="9144"/>
          </a:xfrm>
          <a:prstGeom prst="rect">
            <a:avLst/>
          </a:prstGeom>
        </p:spPr>
      </p:pic>
      <p:sp>
        <p:nvSpPr>
          <p:cNvPr id="24" name="Text 10"/>
          <p:cNvSpPr txBox="1"/>
          <p:nvPr/>
        </p:nvSpPr>
        <p:spPr>
          <a:xfrm>
            <a:off x="1181405" y="7487107"/>
            <a:ext cx="7429500" cy="181051"/>
          </a:xfrm>
          <a:prstGeom prst="rect">
            <a:avLst/>
          </a:prstGeom>
          <a:noFill/>
          <a:ln/>
        </p:spPr>
        <p:txBody>
          <a:bodyPr wrap="none" lIns="0" tIns="0" rIns="0" bIns="0" rtlCol="0" anchor="ctr"/>
          <a:lstStyle/>
          <a:p>
            <a:pPr algn="l" indent="0" marL="0">
              <a:buNone/>
            </a:pPr>
            <a:r>
              <a:rPr lang="en-US" sz="1125" dirty="0">
                <a:solidFill>
                  <a:srgbClr val="4B5563"/>
                </a:solidFill>
                <a:latin typeface="Inter" pitchFamily="34" charset="0"/>
                <a:ea typeface="Inter" pitchFamily="34" charset="-122"/>
                <a:cs typeface="Inter" pitchFamily="34" charset="-120"/>
              </a:rPr>
              <a:t>reference TEM/STEM cross-section (CMOS Scaling review, PMC11123950)</a:t>
            </a:r>
            <a:endParaRPr lang="en-US" sz="1125" dirty="0"/>
          </a:p>
        </p:txBody>
      </p:sp>
      <p:sp>
        <p:nvSpPr>
          <p:cNvPr id="25" name="Text 11"/>
          <p:cNvSpPr txBox="1"/>
          <p:nvPr/>
        </p:nvSpPr>
        <p:spPr>
          <a:xfrm>
            <a:off x="1181405" y="7686446"/>
            <a:ext cx="7429500" cy="152705"/>
          </a:xfrm>
          <a:prstGeom prst="rect">
            <a:avLst/>
          </a:prstGeom>
          <a:noFill/>
          <a:ln/>
        </p:spPr>
        <p:txBody>
          <a:bodyPr wrap="none" lIns="0" tIns="0" rIns="0" bIns="0" rtlCol="0" anchor="ctr"/>
          <a:lstStyle/>
          <a:p>
            <a:pPr algn="l" indent="0" marL="0">
              <a:buNone/>
            </a:pPr>
            <a:r>
              <a:rPr lang="en-US" sz="975" dirty="0">
                <a:solidFill>
                  <a:srgbClr val="9CA3AF"/>
                </a:solidFill>
                <a:latin typeface="Inter" pitchFamily="34" charset="0"/>
                <a:ea typeface="Inter" pitchFamily="34" charset="-122"/>
                <a:cs typeface="Inter" pitchFamily="34" charset="-120"/>
              </a:rPr>
              <a:t>pmc.ncbi.nlm.nih.gov/articles/PMC11123950</a:t>
            </a:r>
            <a:endParaRPr lang="en-US" sz="975" dirty="0"/>
          </a:p>
        </p:txBody>
      </p:sp>
      <p:sp>
        <p:nvSpPr>
          <p:cNvPr id="26" name="Text 12"/>
          <p:cNvSpPr txBox="1"/>
          <p:nvPr/>
        </p:nvSpPr>
        <p:spPr>
          <a:xfrm>
            <a:off x="9658807" y="2533802"/>
            <a:ext cx="7429500" cy="277063"/>
          </a:xfrm>
          <a:prstGeom prst="rect">
            <a:avLst/>
          </a:prstGeom>
          <a:noFill/>
          <a:ln/>
        </p:spPr>
        <p:txBody>
          <a:bodyPr wrap="square" lIns="0" tIns="0" rIns="0" bIns="0" rtlCol="0" anchor="ctr"/>
          <a:lstStyle/>
          <a:p>
            <a:pPr algn="l" indent="0" marL="0">
              <a:buNone/>
            </a:pPr>
            <a:r>
              <a:rPr lang="en-US" sz="1050" b="1" dirty="0">
                <a:solidFill>
                  <a:srgbClr val="047857"/>
                </a:solidFill>
                <a:latin typeface="Inter" pitchFamily="34" charset="0"/>
                <a:ea typeface="Inter" pitchFamily="34" charset="-122"/>
                <a:cs typeface="Inter" pitchFamily="34" charset="-120"/>
              </a:rPr>
              <a:t>TEM · barrier diffusion study</a:t>
            </a:r>
            <a:pPr algn="l" indent="0" marL="0">
              <a:buNone/>
            </a:pPr>
            <a:r>
              <a:rPr lang="en-US" sz="1800" b="1" dirty="0">
                <a:solidFill>
                  <a:srgbClr val="064E3B"/>
                </a:solidFill>
                <a:latin typeface="Inter" pitchFamily="34" charset="0"/>
                <a:ea typeface="Inter" pitchFamily="34" charset="-122"/>
                <a:cs typeface="Inter" pitchFamily="34" charset="-120"/>
              </a:rPr>
              <a:t>Metal-free SiN</a:t>
            </a:r>
            <a:endParaRPr lang="en-US" sz="1200" dirty="0"/>
          </a:p>
        </p:txBody>
      </p:sp>
      <p:sp>
        <p:nvSpPr>
          <p:cNvPr id="27" name="Shape 13"/>
          <p:cNvSpPr/>
          <p:nvPr/>
        </p:nvSpPr>
        <p:spPr>
          <a:xfrm>
            <a:off x="9658807" y="6673291"/>
            <a:ext cx="95098" cy="95098"/>
          </a:xfrm>
          <a:prstGeom prst="ellipse">
            <a:avLst/>
          </a:prstGeom>
          <a:solidFill>
            <a:srgbClr val="047857"/>
          </a:solidFill>
          <a:ln w="12700">
            <a:solidFill>
              <a:srgbClr val="FFFFFF">
                <a:alpha val="0"/>
              </a:srgbClr>
            </a:solidFill>
            <a:prstDash val="solid"/>
          </a:ln>
        </p:spPr>
      </p:sp>
      <p:sp>
        <p:nvSpPr>
          <p:cNvPr id="28" name="Text 14"/>
          <p:cNvSpPr txBox="1"/>
          <p:nvPr/>
        </p:nvSpPr>
        <p:spPr>
          <a:xfrm>
            <a:off x="9829800" y="6620256"/>
            <a:ext cx="621792" cy="181051"/>
          </a:xfrm>
          <a:prstGeom prst="rect">
            <a:avLst/>
          </a:prstGeom>
          <a:noFill/>
          <a:ln/>
        </p:spPr>
        <p:txBody>
          <a:bodyPr wrap="none" lIns="0" tIns="0" rIns="0" bIns="0" rtlCol="0" anchor="ctr"/>
          <a:lstStyle/>
          <a:p>
            <a:pPr algn="l" indent="0" marL="0">
              <a:buNone/>
            </a:pPr>
            <a:r>
              <a:rPr lang="en-US" sz="1125" dirty="0">
                <a:solidFill>
                  <a:srgbClr val="0B1F18"/>
                </a:solidFill>
                <a:latin typeface="Inter" pitchFamily="34" charset="0"/>
                <a:ea typeface="Inter" pitchFamily="34" charset="-122"/>
                <a:cs typeface="Inter" pitchFamily="34" charset="-120"/>
              </a:rPr>
              <a:t>SiN cap</a:t>
            </a:r>
            <a:endParaRPr lang="en-US" sz="1125" dirty="0"/>
          </a:p>
        </p:txBody>
      </p:sp>
      <p:sp>
        <p:nvSpPr>
          <p:cNvPr id="29" name="Shape 15"/>
          <p:cNvSpPr/>
          <p:nvPr/>
        </p:nvSpPr>
        <p:spPr>
          <a:xfrm>
            <a:off x="10583266" y="6673291"/>
            <a:ext cx="95098" cy="95098"/>
          </a:xfrm>
          <a:prstGeom prst="ellipse">
            <a:avLst/>
          </a:prstGeom>
          <a:solidFill>
            <a:srgbClr val="10B981"/>
          </a:solidFill>
          <a:ln w="12700">
            <a:solidFill>
              <a:srgbClr val="FFFFFF">
                <a:alpha val="0"/>
              </a:srgbClr>
            </a:solidFill>
            <a:prstDash val="solid"/>
          </a:ln>
        </p:spPr>
      </p:sp>
      <p:sp>
        <p:nvSpPr>
          <p:cNvPr id="30" name="Text 16"/>
          <p:cNvSpPr txBox="1"/>
          <p:nvPr/>
        </p:nvSpPr>
        <p:spPr>
          <a:xfrm>
            <a:off x="10755173" y="6620256"/>
            <a:ext cx="555955" cy="181051"/>
          </a:xfrm>
          <a:prstGeom prst="rect">
            <a:avLst/>
          </a:prstGeom>
          <a:noFill/>
          <a:ln/>
        </p:spPr>
        <p:txBody>
          <a:bodyPr wrap="none" lIns="0" tIns="0" rIns="0" bIns="0" rtlCol="0" anchor="ctr"/>
          <a:lstStyle/>
          <a:p>
            <a:pPr algn="l" indent="0" marL="0">
              <a:buNone/>
            </a:pPr>
            <a:r>
              <a:rPr lang="en-US" sz="1125" dirty="0">
                <a:solidFill>
                  <a:srgbClr val="0B1F18"/>
                </a:solidFill>
                <a:latin typeface="Inter" pitchFamily="34" charset="0"/>
                <a:ea typeface="Inter" pitchFamily="34" charset="-122"/>
                <a:cs typeface="Inter" pitchFamily="34" charset="-120"/>
              </a:rPr>
              <a:t>Cu line</a:t>
            </a:r>
            <a:endParaRPr lang="en-US" sz="1125" dirty="0"/>
          </a:p>
        </p:txBody>
      </p:sp>
      <p:sp>
        <p:nvSpPr>
          <p:cNvPr id="31" name="Shape 17"/>
          <p:cNvSpPr/>
          <p:nvPr/>
        </p:nvSpPr>
        <p:spPr>
          <a:xfrm>
            <a:off x="11449202" y="6673291"/>
            <a:ext cx="95098" cy="95098"/>
          </a:xfrm>
          <a:prstGeom prst="ellipse">
            <a:avLst/>
          </a:prstGeom>
          <a:solidFill>
            <a:srgbClr val="34D399"/>
          </a:solidFill>
          <a:ln w="12700">
            <a:solidFill>
              <a:srgbClr val="FFFFFF">
                <a:alpha val="0"/>
              </a:srgbClr>
            </a:solidFill>
            <a:prstDash val="solid"/>
          </a:ln>
        </p:spPr>
      </p:sp>
      <p:sp>
        <p:nvSpPr>
          <p:cNvPr id="32" name="Text 18"/>
          <p:cNvSpPr txBox="1"/>
          <p:nvPr/>
        </p:nvSpPr>
        <p:spPr>
          <a:xfrm>
            <a:off x="11621110" y="6620256"/>
            <a:ext cx="534010" cy="181051"/>
          </a:xfrm>
          <a:prstGeom prst="rect">
            <a:avLst/>
          </a:prstGeom>
          <a:noFill/>
          <a:ln/>
        </p:spPr>
        <p:txBody>
          <a:bodyPr wrap="none" lIns="0" tIns="0" rIns="0" bIns="0" rtlCol="0" anchor="ctr"/>
          <a:lstStyle/>
          <a:p>
            <a:pPr algn="l" indent="0" marL="0">
              <a:buNone/>
            </a:pPr>
            <a:r>
              <a:rPr lang="en-US" sz="1125" dirty="0">
                <a:solidFill>
                  <a:srgbClr val="0B1F18"/>
                </a:solidFill>
                <a:latin typeface="Inter" pitchFamily="34" charset="0"/>
                <a:ea typeface="Inter" pitchFamily="34" charset="-122"/>
                <a:cs typeface="Inter" pitchFamily="34" charset="-120"/>
              </a:rPr>
              <a:t>Ta/TaN</a:t>
            </a:r>
            <a:endParaRPr lang="en-US" sz="1125" dirty="0"/>
          </a:p>
        </p:txBody>
      </p:sp>
      <p:sp>
        <p:nvSpPr>
          <p:cNvPr id="33" name="Shape 19"/>
          <p:cNvSpPr/>
          <p:nvPr/>
        </p:nvSpPr>
        <p:spPr>
          <a:xfrm>
            <a:off x="12332513" y="6673291"/>
            <a:ext cx="95098" cy="95098"/>
          </a:xfrm>
          <a:prstGeom prst="ellipse">
            <a:avLst/>
          </a:prstGeom>
          <a:solidFill>
            <a:srgbClr val="F59E0B"/>
          </a:solidFill>
          <a:ln w="12700">
            <a:solidFill>
              <a:srgbClr val="FFFFFF">
                <a:alpha val="0"/>
              </a:srgbClr>
            </a:solidFill>
            <a:prstDash val="solid"/>
          </a:ln>
        </p:spPr>
      </p:sp>
      <p:sp>
        <p:nvSpPr>
          <p:cNvPr id="34" name="Text 20"/>
          <p:cNvSpPr txBox="1"/>
          <p:nvPr/>
        </p:nvSpPr>
        <p:spPr>
          <a:xfrm>
            <a:off x="12504420" y="6620256"/>
            <a:ext cx="1337767" cy="181051"/>
          </a:xfrm>
          <a:prstGeom prst="rect">
            <a:avLst/>
          </a:prstGeom>
          <a:noFill/>
          <a:ln/>
        </p:spPr>
        <p:txBody>
          <a:bodyPr wrap="none" lIns="0" tIns="0" rIns="0" bIns="0" rtlCol="0" anchor="ctr"/>
          <a:lstStyle/>
          <a:p>
            <a:pPr algn="l" indent="0" marL="0">
              <a:buNone/>
            </a:pPr>
            <a:r>
              <a:rPr lang="en-US" sz="1125" dirty="0">
                <a:solidFill>
                  <a:srgbClr val="0B1F18"/>
                </a:solidFill>
                <a:latin typeface="Inter" pitchFamily="34" charset="0"/>
                <a:ea typeface="Inter" pitchFamily="34" charset="-122"/>
                <a:cs typeface="Inter" pitchFamily="34" charset="-120"/>
              </a:rPr>
              <a:t>Cu-SiN interface</a:t>
            </a:r>
            <a:endParaRPr lang="en-US" sz="1125" dirty="0"/>
          </a:p>
        </p:txBody>
      </p:sp>
      <p:sp>
        <p:nvSpPr>
          <p:cNvPr id="35" name="Text 21"/>
          <p:cNvSpPr txBox="1"/>
          <p:nvPr/>
        </p:nvSpPr>
        <p:spPr>
          <a:xfrm>
            <a:off x="9658807" y="7487107"/>
            <a:ext cx="7429500" cy="181051"/>
          </a:xfrm>
          <a:prstGeom prst="rect">
            <a:avLst/>
          </a:prstGeom>
          <a:noFill/>
          <a:ln/>
        </p:spPr>
        <p:txBody>
          <a:bodyPr wrap="none" lIns="0" tIns="0" rIns="0" bIns="0" rtlCol="0" anchor="ctr"/>
          <a:lstStyle/>
          <a:p>
            <a:pPr algn="l" indent="0" marL="0">
              <a:buNone/>
            </a:pPr>
            <a:r>
              <a:rPr lang="en-US" sz="1125" dirty="0">
                <a:solidFill>
                  <a:srgbClr val="4B5563"/>
                </a:solidFill>
                <a:latin typeface="Inter" pitchFamily="34" charset="0"/>
                <a:ea typeface="Inter" pitchFamily="34" charset="-122"/>
                <a:cs typeface="Inter" pitchFamily="34" charset="-120"/>
              </a:rPr>
              <a:t>reference cross-section image (Nature npj 2D Mater. Appl.)</a:t>
            </a:r>
            <a:endParaRPr lang="en-US" sz="1125" dirty="0"/>
          </a:p>
        </p:txBody>
      </p:sp>
      <p:sp>
        <p:nvSpPr>
          <p:cNvPr id="36" name="Text 22"/>
          <p:cNvSpPr txBox="1"/>
          <p:nvPr/>
        </p:nvSpPr>
        <p:spPr>
          <a:xfrm>
            <a:off x="9658807" y="7686446"/>
            <a:ext cx="7429500" cy="152705"/>
          </a:xfrm>
          <a:prstGeom prst="rect">
            <a:avLst/>
          </a:prstGeom>
          <a:noFill/>
          <a:ln/>
        </p:spPr>
        <p:txBody>
          <a:bodyPr wrap="none" lIns="0" tIns="0" rIns="0" bIns="0" rtlCol="0" anchor="ctr"/>
          <a:lstStyle/>
          <a:p>
            <a:pPr algn="l" indent="0" marL="0">
              <a:buNone/>
            </a:pPr>
            <a:r>
              <a:rPr lang="en-US" sz="975" dirty="0">
                <a:solidFill>
                  <a:srgbClr val="9CA3AF"/>
                </a:solidFill>
                <a:latin typeface="Inter" pitchFamily="34" charset="0"/>
                <a:ea typeface="Inter" pitchFamily="34" charset="-122"/>
                <a:cs typeface="Inter" pitchFamily="34" charset="-120"/>
              </a:rPr>
              <a:t>nature.com/articles/s41699-017-0044-0</a:t>
            </a:r>
            <a:endParaRPr lang="en-US" sz="975" dirty="0"/>
          </a:p>
        </p:txBody>
      </p:sp>
      <p:sp>
        <p:nvSpPr>
          <p:cNvPr id="37" name="Text 23"/>
          <p:cNvSpPr txBox="1"/>
          <p:nvPr/>
        </p:nvSpPr>
        <p:spPr>
          <a:xfrm>
            <a:off x="1143000" y="8382305"/>
            <a:ext cx="16193110" cy="124358"/>
          </a:xfrm>
          <a:prstGeom prst="rect">
            <a:avLst/>
          </a:prstGeom>
          <a:noFill/>
          <a:ln/>
        </p:spPr>
        <p:txBody>
          <a:bodyPr wrap="none" lIns="0" tIns="0" rIns="0" bIns="0" rtlCol="0" anchor="ctr"/>
          <a:lstStyle/>
          <a:p>
            <a:pPr algn="l" indent="0" marL="0">
              <a:buNone/>
            </a:pPr>
            <a:r>
              <a:rPr lang="en-US" sz="975" b="1" spc="176" kern="0" dirty="0">
                <a:solidFill>
                  <a:srgbClr val="047857"/>
                </a:solidFill>
                <a:latin typeface="Inter" pitchFamily="34" charset="0"/>
                <a:ea typeface="Inter" pitchFamily="34" charset="-122"/>
                <a:cs typeface="Inter" pitchFamily="34" charset="-120"/>
              </a:rPr>
              <a:t>KEY TAKEAWAY</a:t>
            </a:r>
            <a:endParaRPr lang="en-US" sz="975" dirty="0"/>
          </a:p>
        </p:txBody>
      </p:sp>
      <p:sp>
        <p:nvSpPr>
          <p:cNvPr id="38" name="Text 24"/>
          <p:cNvSpPr txBox="1"/>
          <p:nvPr/>
        </p:nvSpPr>
        <p:spPr>
          <a:xfrm>
            <a:off x="1143000" y="8563356"/>
            <a:ext cx="16193110" cy="619963"/>
          </a:xfrm>
          <a:prstGeom prst="rect">
            <a:avLst/>
          </a:prstGeom>
          <a:noFill/>
          <a:ln/>
        </p:spPr>
        <p:txBody>
          <a:bodyPr wrap="square" lIns="0" tIns="0" rIns="0" bIns="0" rtlCol="0" anchor="ctr"/>
          <a:lstStyle/>
          <a:p>
            <a:pPr algn="l" indent="0" marL="0">
              <a:lnSpc>
                <a:spcPct val="135000"/>
              </a:lnSpc>
              <a:buNone/>
            </a:pPr>
            <a:r>
              <a:rPr lang="en-US" sz="1800" b="1" dirty="0">
                <a:solidFill>
                  <a:srgbClr val="0B1F18"/>
                </a:solidFill>
                <a:latin typeface="Inter" pitchFamily="34" charset="0"/>
                <a:ea typeface="Inter" pitchFamily="34" charset="-122"/>
                <a:cs typeface="Inter" pitchFamily="34" charset="-120"/>
              </a:rPr>
              <a:t>두 split 모두 동일 barrier stack을 공유하며, SiN cap 단일 안은 hardmask 박막 단계가 제거되어 mask 증착 chamber 사용시간이 단축된다 (dummy reference image).</a:t>
            </a:r>
            <a:endParaRPr lang="en-US" sz="1800" dirty="0"/>
          </a:p>
        </p:txBody>
      </p:sp>
      <p:sp>
        <p:nvSpPr>
          <p:cNvPr id="39" name="Text 25"/>
          <p:cNvSpPr txBox="1"/>
          <p:nvPr/>
        </p:nvSpPr>
        <p:spPr>
          <a:xfrm>
            <a:off x="857707" y="9924898"/>
            <a:ext cx="16573500" cy="247802"/>
          </a:xfrm>
          <a:prstGeom prst="rect">
            <a:avLst/>
          </a:prstGeom>
          <a:noFill/>
          <a:ln/>
        </p:spPr>
        <p:txBody>
          <a:bodyPr wrap="square" lIns="0" tIns="0" rIns="0" bIns="0" rtlCol="0" anchor="ctr"/>
          <a:lstStyle/>
          <a:p>
            <a:pPr algn="l" indent="0" marL="0">
              <a:buNone/>
            </a:pPr>
            <a:r>
              <a:rPr lang="en-US" sz="1350" dirty="0">
                <a:solidFill>
                  <a:srgbClr val="6B7280"/>
                </a:solidFill>
                <a:latin typeface="Inter" pitchFamily="34" charset="0"/>
                <a:ea typeface="Inter" pitchFamily="34" charset="-122"/>
                <a:cs typeface="Inter" pitchFamily="34" charset="-120"/>
              </a:rPr>
              <a:t>※ 내부 테스트용 더미(가상) 데이터</a:t>
            </a:r>
            <a:pPr algn="l" indent="0" marL="0">
              <a:buNone/>
            </a:pPr>
            <a:r>
              <a:rPr lang="en-US" sz="1350" dirty="0">
                <a:solidFill>
                  <a:srgbClr val="6B7280"/>
                </a:solidFill>
                <a:latin typeface="Inter" pitchFamily="34" charset="0"/>
                <a:ea typeface="Inter" pitchFamily="34" charset="-122"/>
                <a:cs typeface="Inter" pitchFamily="34" charset="-120"/>
              </a:rPr>
              <a:t>04 / 09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gen-dedup-9ad671359fea92d16aacefa49f6f3bad.png">    </p:cNvPr>
          <p:cNvPicPr>
            <a:picLocks noChangeAspect="1"/>
          </p:cNvPicPr>
          <p:nvPr/>
        </p:nvPicPr>
        <p:blipFill>
          <a:blip r:embed="rId1"/>
          <a:srcRect l="0" r="0" t="0" b="0"/>
          <a:stretch/>
        </p:blipFill>
        <p:spPr>
          <a:xfrm>
            <a:off x="15620695" y="-952805"/>
            <a:ext cx="4572000" cy="4572000"/>
          </a:xfrm>
          <a:prstGeom prst="rect">
            <a:avLst/>
          </a:prstGeom>
        </p:spPr>
      </p:pic>
      <p:sp>
        <p:nvSpPr>
          <p:cNvPr id="4" name="Shape 0"/>
          <p:cNvSpPr/>
          <p:nvPr/>
        </p:nvSpPr>
        <p:spPr>
          <a:xfrm>
            <a:off x="0" y="0"/>
            <a:ext cx="18288000" cy="10287000"/>
          </a:xfrm>
          <a:prstGeom prst="rect">
            <a:avLst/>
          </a:prstGeom>
          <a:solidFill>
            <a:srgbClr val="F4F8F4"/>
          </a:solidFill>
          <a:ln w="12700">
            <a:solidFill>
              <a:srgbClr val="FFFFFF">
                <a:alpha val="0"/>
              </a:srgbClr>
            </a:solidFill>
            <a:prstDash val="solid"/>
          </a:ln>
        </p:spPr>
      </p:sp>
      <p:pic>
        <p:nvPicPr>
          <p:cNvPr id="5" name="Image 1" descr="gen-dedup-797bbf98dc45dd8b9ef2f7a8e07086d4.png">    </p:cNvPr>
          <p:cNvPicPr>
            <a:picLocks noChangeAspect="1"/>
          </p:cNvPicPr>
          <p:nvPr/>
        </p:nvPicPr>
        <p:blipFill>
          <a:blip r:embed="rId2"/>
          <a:srcRect l="0" r="0" t="-4" b="-4"/>
          <a:stretch/>
        </p:blipFill>
        <p:spPr>
          <a:xfrm>
            <a:off x="857707" y="2018995"/>
            <a:ext cx="12191695" cy="6096305"/>
          </a:xfrm>
          <a:prstGeom prst="rect">
            <a:avLst/>
          </a:prstGeom>
        </p:spPr>
      </p:pic>
      <p:pic>
        <p:nvPicPr>
          <p:cNvPr id="6" name="Image 2" descr="gen-dedup-c7c0c98491eef116f1d0230e2a98ac41.png">    </p:cNvPr>
          <p:cNvPicPr>
            <a:picLocks noChangeAspect="1"/>
          </p:cNvPicPr>
          <p:nvPr/>
        </p:nvPicPr>
        <p:blipFill>
          <a:blip r:embed="rId3"/>
          <a:srcRect l="-2" r="-2" t="0" b="0"/>
          <a:stretch/>
        </p:blipFill>
        <p:spPr>
          <a:xfrm>
            <a:off x="13334695" y="2018995"/>
            <a:ext cx="4095598" cy="3619195"/>
          </a:xfrm>
          <a:prstGeom prst="rect">
            <a:avLst/>
          </a:prstGeom>
        </p:spPr>
      </p:pic>
      <p:sp>
        <p:nvSpPr>
          <p:cNvPr id="7" name="Shape 1"/>
          <p:cNvSpPr/>
          <p:nvPr/>
        </p:nvSpPr>
        <p:spPr>
          <a:xfrm>
            <a:off x="13334695" y="5810098"/>
            <a:ext cx="4095598" cy="2286000"/>
          </a:xfrm>
          <a:prstGeom prst="roundRect">
            <a:avLst>
              <a:gd name="adj" fmla="val 5840"/>
            </a:avLst>
          </a:prstGeom>
          <a:solidFill>
            <a:srgbClr val="0B1F18"/>
          </a:solidFill>
          <a:ln w="12700">
            <a:solidFill>
              <a:srgbClr val="FFFFFF">
                <a:alpha val="0"/>
              </a:srgbClr>
            </a:solidFill>
            <a:prstDash val="solid"/>
          </a:ln>
        </p:spPr>
      </p:sp>
      <p:pic>
        <p:nvPicPr>
          <p:cNvPr id="8" name="Image 3" descr="gen-dedup-2fbcf05202020e5c2fee389890c4e9a4.png">    </p:cNvPr>
          <p:cNvPicPr>
            <a:picLocks noChangeAspect="1"/>
          </p:cNvPicPr>
          <p:nvPr/>
        </p:nvPicPr>
        <p:blipFill>
          <a:blip r:embed="rId4"/>
          <a:srcRect l="0" r="0" t="-31" b="-31"/>
          <a:stretch/>
        </p:blipFill>
        <p:spPr>
          <a:xfrm>
            <a:off x="857707" y="8287207"/>
            <a:ext cx="16621049" cy="743407"/>
          </a:xfrm>
          <a:prstGeom prst="rect">
            <a:avLst/>
          </a:prstGeom>
        </p:spPr>
      </p:pic>
      <p:pic>
        <p:nvPicPr>
          <p:cNvPr id="9" name="Image 4" descr="gen-dedup-3cac12a6aa8cc26f06201868040eec2a.png">    </p:cNvPr>
          <p:cNvPicPr>
            <a:picLocks noChangeAspect="1"/>
          </p:cNvPicPr>
          <p:nvPr/>
        </p:nvPicPr>
        <p:blipFill>
          <a:blip r:embed="rId5"/>
          <a:srcRect l="0" r="0" t="-14" b="-14"/>
          <a:stretch/>
        </p:blipFill>
        <p:spPr>
          <a:xfrm>
            <a:off x="857707" y="2018995"/>
            <a:ext cx="12191695" cy="590702"/>
          </a:xfrm>
          <a:prstGeom prst="rect">
            <a:avLst/>
          </a:prstGeom>
        </p:spPr>
      </p:pic>
      <p:pic>
        <p:nvPicPr>
          <p:cNvPr id="10" name="Image 5" descr="gen-dedup-fedc90fc5ed52cccc7141eb40d847376.png">    </p:cNvPr>
          <p:cNvPicPr>
            <a:picLocks noChangeAspect="1"/>
          </p:cNvPicPr>
          <p:nvPr/>
        </p:nvPicPr>
        <p:blipFill>
          <a:blip r:embed="rId6"/>
          <a:srcRect l="-2083" r="-2083" t="0" b="0"/>
          <a:stretch/>
        </p:blipFill>
        <p:spPr>
          <a:xfrm>
            <a:off x="1143000" y="3276295"/>
            <a:ext cx="11620195" cy="9144"/>
          </a:xfrm>
          <a:prstGeom prst="rect">
            <a:avLst/>
          </a:prstGeom>
        </p:spPr>
      </p:pic>
      <p:pic>
        <p:nvPicPr>
          <p:cNvPr id="11" name="Image 6" descr="gen-dedup-fedc90fc5ed52cccc7141eb40d847376.png">    </p:cNvPr>
          <p:cNvPicPr>
            <a:picLocks noChangeAspect="1"/>
          </p:cNvPicPr>
          <p:nvPr/>
        </p:nvPicPr>
        <p:blipFill>
          <a:blip r:embed="rId7"/>
          <a:srcRect l="-2083" r="-2083" t="0" b="0"/>
          <a:stretch/>
        </p:blipFill>
        <p:spPr>
          <a:xfrm>
            <a:off x="1143000" y="3924605"/>
            <a:ext cx="11620195" cy="9144"/>
          </a:xfrm>
          <a:prstGeom prst="rect">
            <a:avLst/>
          </a:prstGeom>
        </p:spPr>
      </p:pic>
      <p:pic>
        <p:nvPicPr>
          <p:cNvPr id="12" name="Image 7" descr="gen-dedup-fedc90fc5ed52cccc7141eb40d847376.png">    </p:cNvPr>
          <p:cNvPicPr>
            <a:picLocks noChangeAspect="1"/>
          </p:cNvPicPr>
          <p:nvPr/>
        </p:nvPicPr>
        <p:blipFill>
          <a:blip r:embed="rId8"/>
          <a:srcRect l="-2083" r="-2083" t="0" b="0"/>
          <a:stretch/>
        </p:blipFill>
        <p:spPr>
          <a:xfrm>
            <a:off x="1143000" y="4572000"/>
            <a:ext cx="11620195" cy="9144"/>
          </a:xfrm>
          <a:prstGeom prst="rect">
            <a:avLst/>
          </a:prstGeom>
        </p:spPr>
      </p:pic>
      <p:pic>
        <p:nvPicPr>
          <p:cNvPr id="13" name="Image 8" descr="gen-dedup-4831fed4788f456493da279e4e2df766.png">    </p:cNvPr>
          <p:cNvPicPr>
            <a:picLocks noChangeAspect="1"/>
          </p:cNvPicPr>
          <p:nvPr/>
        </p:nvPicPr>
        <p:blipFill>
          <a:blip r:embed="rId9"/>
          <a:srcRect l="-2083" r="-2083" t="0" b="0"/>
          <a:stretch/>
        </p:blipFill>
        <p:spPr>
          <a:xfrm>
            <a:off x="1143000" y="5219395"/>
            <a:ext cx="11620195" cy="9144"/>
          </a:xfrm>
          <a:prstGeom prst="rect">
            <a:avLst/>
          </a:prstGeom>
        </p:spPr>
      </p:pic>
      <p:pic>
        <p:nvPicPr>
          <p:cNvPr id="14" name="Image 9" descr="gen-dedup-fedc90fc5ed52cccc7141eb40d847376.png">    </p:cNvPr>
          <p:cNvPicPr>
            <a:picLocks noChangeAspect="1"/>
          </p:cNvPicPr>
          <p:nvPr/>
        </p:nvPicPr>
        <p:blipFill>
          <a:blip r:embed="rId10"/>
          <a:srcRect l="-2083" r="-2083" t="0" b="0"/>
          <a:stretch/>
        </p:blipFill>
        <p:spPr>
          <a:xfrm>
            <a:off x="1143000" y="5867705"/>
            <a:ext cx="11620195" cy="9144"/>
          </a:xfrm>
          <a:prstGeom prst="rect">
            <a:avLst/>
          </a:prstGeom>
        </p:spPr>
      </p:pic>
      <p:pic>
        <p:nvPicPr>
          <p:cNvPr id="15" name="Image 10" descr="gen-dedup-fedc90fc5ed52cccc7141eb40d847376.png">    </p:cNvPr>
          <p:cNvPicPr>
            <a:picLocks noChangeAspect="1"/>
          </p:cNvPicPr>
          <p:nvPr/>
        </p:nvPicPr>
        <p:blipFill>
          <a:blip r:embed="rId11"/>
          <a:srcRect l="-2083" r="-2083" t="0" b="0"/>
          <a:stretch/>
        </p:blipFill>
        <p:spPr>
          <a:xfrm>
            <a:off x="1143000" y="6515100"/>
            <a:ext cx="11620195" cy="9144"/>
          </a:xfrm>
          <a:prstGeom prst="rect">
            <a:avLst/>
          </a:prstGeom>
        </p:spPr>
      </p:pic>
      <p:pic>
        <p:nvPicPr>
          <p:cNvPr id="16" name="Image 11" descr="gen-dedup-fedc90fc5ed52cccc7141eb40d847376.png">    </p:cNvPr>
          <p:cNvPicPr>
            <a:picLocks noChangeAspect="1"/>
          </p:cNvPicPr>
          <p:nvPr/>
        </p:nvPicPr>
        <p:blipFill>
          <a:blip r:embed="rId12"/>
          <a:srcRect l="-2083" r="-2083" t="0" b="0"/>
          <a:stretch/>
        </p:blipFill>
        <p:spPr>
          <a:xfrm>
            <a:off x="1143000" y="7162495"/>
            <a:ext cx="11620195" cy="9144"/>
          </a:xfrm>
          <a:prstGeom prst="rect">
            <a:avLst/>
          </a:prstGeom>
        </p:spPr>
      </p:pic>
      <p:pic>
        <p:nvPicPr>
          <p:cNvPr id="17" name="Image 12" descr="gen-dedup-ebfdea913239c083b807129c31cf913c.png">    </p:cNvPr>
          <p:cNvPicPr>
            <a:picLocks noChangeAspect="1"/>
          </p:cNvPicPr>
          <p:nvPr/>
        </p:nvPicPr>
        <p:blipFill>
          <a:blip r:embed="rId13"/>
          <a:srcRect l="0" r="0" t="-46" b="-46"/>
          <a:stretch/>
        </p:blipFill>
        <p:spPr>
          <a:xfrm>
            <a:off x="13334695" y="2018995"/>
            <a:ext cx="4095598" cy="514807"/>
          </a:xfrm>
          <a:prstGeom prst="rect">
            <a:avLst/>
          </a:prstGeom>
        </p:spPr>
      </p:pic>
      <p:sp>
        <p:nvSpPr>
          <p:cNvPr id="18" name="Shape 2"/>
          <p:cNvSpPr/>
          <p:nvPr/>
        </p:nvSpPr>
        <p:spPr>
          <a:xfrm>
            <a:off x="857707" y="623621"/>
            <a:ext cx="95098" cy="95098"/>
          </a:xfrm>
          <a:prstGeom prst="ellipse">
            <a:avLst/>
          </a:prstGeom>
          <a:solidFill>
            <a:srgbClr val="047857"/>
          </a:solidFill>
          <a:ln w="12700">
            <a:solidFill>
              <a:srgbClr val="FFFFFF">
                <a:alpha val="0"/>
              </a:srgbClr>
            </a:solidFill>
            <a:prstDash val="solid"/>
          </a:ln>
        </p:spPr>
      </p:sp>
      <p:sp>
        <p:nvSpPr>
          <p:cNvPr id="19" name="Text 3"/>
          <p:cNvSpPr txBox="1"/>
          <p:nvPr/>
        </p:nvSpPr>
        <p:spPr>
          <a:xfrm>
            <a:off x="1086307" y="571500"/>
            <a:ext cx="3093415" cy="200254"/>
          </a:xfrm>
          <a:prstGeom prst="rect">
            <a:avLst/>
          </a:prstGeom>
          <a:noFill/>
          <a:ln/>
        </p:spPr>
        <p:txBody>
          <a:bodyPr wrap="none" lIns="0" tIns="0" rIns="0" bIns="0" rtlCol="0" anchor="ctr"/>
          <a:lstStyle/>
          <a:p>
            <a:pPr algn="l" indent="0" marL="0">
              <a:buNone/>
            </a:pPr>
            <a:r>
              <a:rPr lang="en-US" sz="1350" b="1" spc="243" kern="0" dirty="0">
                <a:solidFill>
                  <a:srgbClr val="047857"/>
                </a:solidFill>
                <a:latin typeface="Inter" pitchFamily="34" charset="0"/>
                <a:ea typeface="Inter" pitchFamily="34" charset="-122"/>
                <a:cs typeface="Inter" pitchFamily="34" charset="-120"/>
              </a:rPr>
              <a:t>05 / 09 · CD variation</a:t>
            </a:r>
            <a:endParaRPr lang="en-US" sz="1350" dirty="0"/>
          </a:p>
        </p:txBody>
      </p:sp>
      <p:sp>
        <p:nvSpPr>
          <p:cNvPr id="20" name="Text 4"/>
          <p:cNvSpPr txBox="1"/>
          <p:nvPr/>
        </p:nvSpPr>
        <p:spPr>
          <a:xfrm>
            <a:off x="857707" y="895198"/>
            <a:ext cx="14287500" cy="486461"/>
          </a:xfrm>
          <a:prstGeom prst="rect">
            <a:avLst/>
          </a:prstGeom>
          <a:noFill/>
          <a:ln/>
        </p:spPr>
        <p:txBody>
          <a:bodyPr wrap="none" lIns="0" tIns="0" rIns="0" bIns="0" rtlCol="0" anchor="ctr"/>
          <a:lstStyle/>
          <a:p>
            <a:pPr algn="l" indent="0" marL="0">
              <a:buNone/>
            </a:pPr>
            <a:r>
              <a:rPr lang="en-US" sz="3450" b="1" spc="-69" kern="0" dirty="0">
                <a:solidFill>
                  <a:srgbClr val="0B1F18"/>
                </a:solidFill>
                <a:latin typeface="Inter" pitchFamily="34" charset="0"/>
                <a:ea typeface="Inter" pitchFamily="34" charset="-122"/>
                <a:cs typeface="Inter" pitchFamily="34" charset="-120"/>
              </a:rPr>
              <a:t>CD 4종 — wafer별 mean · 3σ · range · Δ vs target</a:t>
            </a:r>
            <a:endParaRPr lang="en-US" sz="3450" dirty="0"/>
          </a:p>
        </p:txBody>
      </p:sp>
      <p:sp>
        <p:nvSpPr>
          <p:cNvPr id="21" name="Text 5"/>
          <p:cNvSpPr txBox="1"/>
          <p:nvPr/>
        </p:nvSpPr>
        <p:spPr>
          <a:xfrm>
            <a:off x="857707" y="1524305"/>
            <a:ext cx="14287500" cy="257861"/>
          </a:xfrm>
          <a:prstGeom prst="rect">
            <a:avLst/>
          </a:prstGeom>
          <a:noFill/>
          <a:ln/>
        </p:spPr>
        <p:txBody>
          <a:bodyPr wrap="none" lIns="0" tIns="0" rIns="0" bIns="0" rtlCol="0" anchor="ctr"/>
          <a:lstStyle/>
          <a:p>
            <a:pPr algn="l" indent="0" marL="0">
              <a:buNone/>
            </a:pPr>
            <a:r>
              <a:rPr lang="en-US" sz="1350" dirty="0">
                <a:solidFill>
                  <a:srgbClr val="4B5563"/>
                </a:solidFill>
                <a:latin typeface="Inter" pitchFamily="34" charset="0"/>
                <a:ea typeface="Inter" pitchFamily="34" charset="-122"/>
                <a:cs typeface="Inter" pitchFamily="34" charset="-120"/>
              </a:rPr>
              <a:t>단위 nm · 25 sites/wafer 평균 · Δ = (mean − target). 음수 Δ = target보다 작게 측정됨.</a:t>
            </a:r>
            <a:endParaRPr lang="en-US" sz="1350" dirty="0"/>
          </a:p>
        </p:txBody>
      </p:sp>
      <p:sp>
        <p:nvSpPr>
          <p:cNvPr id="22" name="Text 6"/>
          <p:cNvSpPr txBox="1"/>
          <p:nvPr/>
        </p:nvSpPr>
        <p:spPr>
          <a:xfrm>
            <a:off x="1143000" y="2247595"/>
            <a:ext cx="1143000" cy="162763"/>
          </a:xfrm>
          <a:prstGeom prst="rect">
            <a:avLst/>
          </a:prstGeom>
          <a:noFill/>
          <a:ln/>
        </p:spPr>
        <p:txBody>
          <a:bodyPr wrap="none" lIns="0" tIns="0" rIns="0" bIns="0" rtlCol="0" anchor="ctr"/>
          <a:lstStyle/>
          <a:p>
            <a:pPr algn="l" indent="0" marL="0">
              <a:buNone/>
            </a:pPr>
            <a:r>
              <a:rPr lang="en-US" sz="1050" b="1" spc="63" kern="0" dirty="0">
                <a:solidFill>
                  <a:srgbClr val="A7F3D0"/>
                </a:solidFill>
                <a:latin typeface="Inter" pitchFamily="34" charset="0"/>
                <a:ea typeface="Inter" pitchFamily="34" charset="-122"/>
                <a:cs typeface="Inter" pitchFamily="34" charset="-120"/>
              </a:rPr>
              <a:t>#</a:t>
            </a:r>
            <a:endParaRPr lang="en-US" sz="1050" dirty="0"/>
          </a:p>
        </p:txBody>
      </p:sp>
      <p:sp>
        <p:nvSpPr>
          <p:cNvPr id="23" name="Text 7"/>
          <p:cNvSpPr txBox="1"/>
          <p:nvPr/>
        </p:nvSpPr>
        <p:spPr>
          <a:xfrm>
            <a:off x="2381098" y="2247595"/>
            <a:ext cx="1334110" cy="162763"/>
          </a:xfrm>
          <a:prstGeom prst="rect">
            <a:avLst/>
          </a:prstGeom>
          <a:noFill/>
          <a:ln/>
        </p:spPr>
        <p:txBody>
          <a:bodyPr wrap="none" lIns="0" tIns="0" rIns="0" bIns="0" rtlCol="0" anchor="ctr"/>
          <a:lstStyle/>
          <a:p>
            <a:pPr algn="l" indent="0" marL="0">
              <a:buNone/>
            </a:pPr>
            <a:r>
              <a:rPr lang="en-US" sz="1050" b="1" spc="63" kern="0" dirty="0">
                <a:solidFill>
                  <a:srgbClr val="A7F3D0"/>
                </a:solidFill>
                <a:latin typeface="Inter" pitchFamily="34" charset="0"/>
                <a:ea typeface="Inter" pitchFamily="34" charset="-122"/>
                <a:cs typeface="Inter" pitchFamily="34" charset="-120"/>
              </a:rPr>
              <a:t>Wafer</a:t>
            </a:r>
            <a:endParaRPr lang="en-US" sz="1050" dirty="0"/>
          </a:p>
        </p:txBody>
      </p:sp>
      <p:sp>
        <p:nvSpPr>
          <p:cNvPr id="24" name="Text 8"/>
          <p:cNvSpPr txBox="1"/>
          <p:nvPr/>
        </p:nvSpPr>
        <p:spPr>
          <a:xfrm>
            <a:off x="3810305" y="2247595"/>
            <a:ext cx="857707" cy="162763"/>
          </a:xfrm>
          <a:prstGeom prst="rect">
            <a:avLst/>
          </a:prstGeom>
          <a:noFill/>
          <a:ln/>
        </p:spPr>
        <p:txBody>
          <a:bodyPr wrap="none" lIns="0" tIns="0" rIns="0" bIns="0" rtlCol="0" anchor="ctr"/>
          <a:lstStyle/>
          <a:p>
            <a:pPr algn="l" indent="0" marL="0">
              <a:buNone/>
            </a:pPr>
            <a:r>
              <a:rPr lang="en-US" sz="1050" b="1" spc="63" kern="0" dirty="0">
                <a:solidFill>
                  <a:srgbClr val="A7F3D0"/>
                </a:solidFill>
                <a:latin typeface="Inter" pitchFamily="34" charset="0"/>
                <a:ea typeface="Inter" pitchFamily="34" charset="-122"/>
                <a:cs typeface="Inter" pitchFamily="34" charset="-120"/>
              </a:rPr>
              <a:t>Split</a:t>
            </a:r>
            <a:endParaRPr lang="en-US" sz="1050" dirty="0"/>
          </a:p>
        </p:txBody>
      </p:sp>
      <p:sp>
        <p:nvSpPr>
          <p:cNvPr id="25" name="Text 9"/>
          <p:cNvSpPr txBox="1"/>
          <p:nvPr/>
        </p:nvSpPr>
        <p:spPr>
          <a:xfrm>
            <a:off x="4858207" y="2115007"/>
            <a:ext cx="2048256" cy="152705"/>
          </a:xfrm>
          <a:prstGeom prst="rect">
            <a:avLst/>
          </a:prstGeom>
          <a:noFill/>
          <a:ln/>
        </p:spPr>
        <p:txBody>
          <a:bodyPr wrap="none" lIns="0" tIns="0" rIns="0" bIns="0" rtlCol="0" anchor="ctr"/>
          <a:lstStyle/>
          <a:p>
            <a:pPr algn="l" indent="0" marL="0">
              <a:buNone/>
            </a:pPr>
            <a:r>
              <a:rPr lang="en-US" sz="975" b="1" spc="63" kern="0" dirty="0">
                <a:solidFill>
                  <a:srgbClr val="A7F3D0"/>
                </a:solidFill>
                <a:latin typeface="Inter" pitchFamily="34" charset="0"/>
                <a:ea typeface="Inter" pitchFamily="34" charset="-122"/>
                <a:cs typeface="Inter" pitchFamily="34" charset="-120"/>
              </a:rPr>
              <a:t>CD-AASI</a:t>
            </a:r>
            <a:endParaRPr lang="en-US" sz="975" dirty="0"/>
          </a:p>
        </p:txBody>
      </p:sp>
      <p:sp>
        <p:nvSpPr>
          <p:cNvPr id="26" name="Text 10"/>
          <p:cNvSpPr txBox="1"/>
          <p:nvPr/>
        </p:nvSpPr>
        <p:spPr>
          <a:xfrm>
            <a:off x="4858207" y="2286000"/>
            <a:ext cx="2048256" cy="133502"/>
          </a:xfrm>
          <a:prstGeom prst="rect">
            <a:avLst/>
          </a:prstGeom>
          <a:noFill/>
          <a:ln/>
        </p:spPr>
        <p:txBody>
          <a:bodyPr wrap="none" lIns="0" tIns="0" rIns="0" bIns="0" rtlCol="0" anchor="ctr"/>
          <a:lstStyle/>
          <a:p>
            <a:pPr algn="l" indent="0" marL="0">
              <a:buNone/>
            </a:pPr>
            <a:r>
              <a:rPr lang="en-US" sz="825" b="1" spc="63" kern="0" dirty="0">
                <a:solidFill>
                  <a:srgbClr val="A7F3D0">
                    <a:alpha val="70000"/>
                  </a:srgbClr>
                </a:solidFill>
                <a:latin typeface="Inter" pitchFamily="34" charset="0"/>
                <a:ea typeface="Inter" pitchFamily="34" charset="-122"/>
                <a:cs typeface="Inter" pitchFamily="34" charset="-120"/>
              </a:rPr>
              <a:t>target 25.2</a:t>
            </a:r>
            <a:endParaRPr lang="en-US" sz="825" dirty="0"/>
          </a:p>
        </p:txBody>
      </p:sp>
      <p:sp>
        <p:nvSpPr>
          <p:cNvPr id="27" name="Text 11"/>
          <p:cNvSpPr txBox="1"/>
          <p:nvPr/>
        </p:nvSpPr>
        <p:spPr>
          <a:xfrm>
            <a:off x="6953098" y="2115007"/>
            <a:ext cx="2048256" cy="152705"/>
          </a:xfrm>
          <a:prstGeom prst="rect">
            <a:avLst/>
          </a:prstGeom>
          <a:noFill/>
          <a:ln/>
        </p:spPr>
        <p:txBody>
          <a:bodyPr wrap="none" lIns="0" tIns="0" rIns="0" bIns="0" rtlCol="0" anchor="ctr"/>
          <a:lstStyle/>
          <a:p>
            <a:pPr algn="l" indent="0" marL="0">
              <a:buNone/>
            </a:pPr>
            <a:r>
              <a:rPr lang="en-US" sz="975" b="1" spc="63" kern="0" dirty="0">
                <a:solidFill>
                  <a:srgbClr val="A7F3D0"/>
                </a:solidFill>
                <a:latin typeface="Inter" pitchFamily="34" charset="0"/>
                <a:ea typeface="Inter" pitchFamily="34" charset="-122"/>
                <a:cs typeface="Inter" pitchFamily="34" charset="-120"/>
              </a:rPr>
              <a:t>CD-ASEI</a:t>
            </a:r>
            <a:endParaRPr lang="en-US" sz="975" dirty="0"/>
          </a:p>
        </p:txBody>
      </p:sp>
      <p:sp>
        <p:nvSpPr>
          <p:cNvPr id="28" name="Text 12"/>
          <p:cNvSpPr txBox="1"/>
          <p:nvPr/>
        </p:nvSpPr>
        <p:spPr>
          <a:xfrm>
            <a:off x="6953098" y="2286000"/>
            <a:ext cx="2048256" cy="133502"/>
          </a:xfrm>
          <a:prstGeom prst="rect">
            <a:avLst/>
          </a:prstGeom>
          <a:noFill/>
          <a:ln/>
        </p:spPr>
        <p:txBody>
          <a:bodyPr wrap="none" lIns="0" tIns="0" rIns="0" bIns="0" rtlCol="0" anchor="ctr"/>
          <a:lstStyle/>
          <a:p>
            <a:pPr algn="l" indent="0" marL="0">
              <a:buNone/>
            </a:pPr>
            <a:r>
              <a:rPr lang="en-US" sz="825" b="1" spc="63" kern="0" dirty="0">
                <a:solidFill>
                  <a:srgbClr val="A7F3D0">
                    <a:alpha val="70000"/>
                  </a:srgbClr>
                </a:solidFill>
                <a:latin typeface="Inter" pitchFamily="34" charset="0"/>
                <a:ea typeface="Inter" pitchFamily="34" charset="-122"/>
                <a:cs typeface="Inter" pitchFamily="34" charset="-120"/>
              </a:rPr>
              <a:t>target 15.5</a:t>
            </a:r>
            <a:endParaRPr lang="en-US" sz="825" dirty="0"/>
          </a:p>
        </p:txBody>
      </p:sp>
      <p:sp>
        <p:nvSpPr>
          <p:cNvPr id="29" name="Text 13"/>
          <p:cNvSpPr txBox="1"/>
          <p:nvPr/>
        </p:nvSpPr>
        <p:spPr>
          <a:xfrm>
            <a:off x="9048902" y="2115007"/>
            <a:ext cx="2048256" cy="152705"/>
          </a:xfrm>
          <a:prstGeom prst="rect">
            <a:avLst/>
          </a:prstGeom>
          <a:noFill/>
          <a:ln/>
        </p:spPr>
        <p:txBody>
          <a:bodyPr wrap="none" lIns="0" tIns="0" rIns="0" bIns="0" rtlCol="0" anchor="ctr"/>
          <a:lstStyle/>
          <a:p>
            <a:pPr algn="l" indent="0" marL="0">
              <a:buNone/>
            </a:pPr>
            <a:r>
              <a:rPr lang="en-US" sz="975" b="1" spc="63" kern="0" dirty="0">
                <a:solidFill>
                  <a:srgbClr val="A7F3D0"/>
                </a:solidFill>
                <a:latin typeface="Inter" pitchFamily="34" charset="0"/>
                <a:ea typeface="Inter" pitchFamily="34" charset="-122"/>
                <a:cs typeface="Inter" pitchFamily="34" charset="-120"/>
              </a:rPr>
              <a:t>CD-AMI</a:t>
            </a:r>
            <a:endParaRPr lang="en-US" sz="975" dirty="0"/>
          </a:p>
        </p:txBody>
      </p:sp>
      <p:sp>
        <p:nvSpPr>
          <p:cNvPr id="30" name="Text 14"/>
          <p:cNvSpPr txBox="1"/>
          <p:nvPr/>
        </p:nvSpPr>
        <p:spPr>
          <a:xfrm>
            <a:off x="9048902" y="2286000"/>
            <a:ext cx="2048256" cy="133502"/>
          </a:xfrm>
          <a:prstGeom prst="rect">
            <a:avLst/>
          </a:prstGeom>
          <a:noFill/>
          <a:ln/>
        </p:spPr>
        <p:txBody>
          <a:bodyPr wrap="none" lIns="0" tIns="0" rIns="0" bIns="0" rtlCol="0" anchor="ctr"/>
          <a:lstStyle/>
          <a:p>
            <a:pPr algn="l" indent="0" marL="0">
              <a:buNone/>
            </a:pPr>
            <a:r>
              <a:rPr lang="en-US" sz="825" b="1" spc="63" kern="0" dirty="0">
                <a:solidFill>
                  <a:srgbClr val="A7F3D0">
                    <a:alpha val="70000"/>
                  </a:srgbClr>
                </a:solidFill>
                <a:latin typeface="Inter" pitchFamily="34" charset="0"/>
                <a:ea typeface="Inter" pitchFamily="34" charset="-122"/>
                <a:cs typeface="Inter" pitchFamily="34" charset="-120"/>
              </a:rPr>
              <a:t>target 9.4</a:t>
            </a:r>
            <a:endParaRPr lang="en-US" sz="825" dirty="0"/>
          </a:p>
        </p:txBody>
      </p:sp>
      <p:sp>
        <p:nvSpPr>
          <p:cNvPr id="31" name="Text 15"/>
          <p:cNvSpPr txBox="1"/>
          <p:nvPr/>
        </p:nvSpPr>
        <p:spPr>
          <a:xfrm>
            <a:off x="11144707" y="2115007"/>
            <a:ext cx="1714500" cy="152705"/>
          </a:xfrm>
          <a:prstGeom prst="rect">
            <a:avLst/>
          </a:prstGeom>
          <a:noFill/>
          <a:ln/>
        </p:spPr>
        <p:txBody>
          <a:bodyPr wrap="none" lIns="0" tIns="0" rIns="0" bIns="0" rtlCol="0" anchor="ctr"/>
          <a:lstStyle/>
          <a:p>
            <a:pPr algn="l" indent="0" marL="0">
              <a:buNone/>
            </a:pPr>
            <a:r>
              <a:rPr lang="en-US" sz="975" b="1" spc="63" kern="0" dirty="0">
                <a:solidFill>
                  <a:srgbClr val="A7F3D0"/>
                </a:solidFill>
                <a:latin typeface="Inter" pitchFamily="34" charset="0"/>
                <a:ea typeface="Inter" pitchFamily="34" charset="-122"/>
                <a:cs typeface="Inter" pitchFamily="34" charset="-120"/>
              </a:rPr>
              <a:t>CD-ACI</a:t>
            </a:r>
            <a:endParaRPr lang="en-US" sz="975" dirty="0"/>
          </a:p>
        </p:txBody>
      </p:sp>
      <p:sp>
        <p:nvSpPr>
          <p:cNvPr id="32" name="Text 16"/>
          <p:cNvSpPr txBox="1"/>
          <p:nvPr/>
        </p:nvSpPr>
        <p:spPr>
          <a:xfrm>
            <a:off x="11144707" y="2286000"/>
            <a:ext cx="1714500" cy="133502"/>
          </a:xfrm>
          <a:prstGeom prst="rect">
            <a:avLst/>
          </a:prstGeom>
          <a:noFill/>
          <a:ln/>
        </p:spPr>
        <p:txBody>
          <a:bodyPr wrap="none" lIns="0" tIns="0" rIns="0" bIns="0" rtlCol="0" anchor="ctr"/>
          <a:lstStyle/>
          <a:p>
            <a:pPr algn="l" indent="0" marL="0">
              <a:buNone/>
            </a:pPr>
            <a:r>
              <a:rPr lang="en-US" sz="825" b="1" spc="63" kern="0" dirty="0">
                <a:solidFill>
                  <a:srgbClr val="A7F3D0">
                    <a:alpha val="70000"/>
                  </a:srgbClr>
                </a:solidFill>
                <a:latin typeface="Inter" pitchFamily="34" charset="0"/>
                <a:ea typeface="Inter" pitchFamily="34" charset="-122"/>
                <a:cs typeface="Inter" pitchFamily="34" charset="-120"/>
              </a:rPr>
              <a:t>target 8.1</a:t>
            </a:r>
            <a:endParaRPr lang="en-US" sz="825" dirty="0"/>
          </a:p>
        </p:txBody>
      </p:sp>
      <p:sp>
        <p:nvSpPr>
          <p:cNvPr id="33" name="Text 17"/>
          <p:cNvSpPr txBox="1"/>
          <p:nvPr/>
        </p:nvSpPr>
        <p:spPr>
          <a:xfrm>
            <a:off x="1143000" y="2838298"/>
            <a:ext cx="1143000" cy="191110"/>
          </a:xfrm>
          <a:prstGeom prst="rect">
            <a:avLst/>
          </a:prstGeom>
          <a:noFill/>
          <a:ln/>
        </p:spPr>
        <p:txBody>
          <a:bodyPr wrap="none" lIns="0" tIns="0" rIns="0" bIns="0" rtlCol="0" anchor="ctr"/>
          <a:lstStyle/>
          <a:p>
            <a:pPr algn="l" indent="0" marL="0">
              <a:buNone/>
            </a:pPr>
            <a:r>
              <a:rPr lang="en-US" sz="1275" dirty="0">
                <a:solidFill>
                  <a:srgbClr val="6B7280"/>
                </a:solidFill>
                <a:latin typeface="Inter" pitchFamily="34" charset="0"/>
                <a:ea typeface="Inter" pitchFamily="34" charset="-122"/>
                <a:cs typeface="Inter" pitchFamily="34" charset="-120"/>
              </a:rPr>
              <a:t>01</a:t>
            </a:r>
            <a:endParaRPr lang="en-US" sz="1275" dirty="0"/>
          </a:p>
        </p:txBody>
      </p:sp>
      <p:sp>
        <p:nvSpPr>
          <p:cNvPr id="34" name="Text 18"/>
          <p:cNvSpPr txBox="1"/>
          <p:nvPr/>
        </p:nvSpPr>
        <p:spPr>
          <a:xfrm>
            <a:off x="2381098" y="2800807"/>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W01</a:t>
            </a:r>
            <a:endParaRPr lang="en-US" sz="1800" dirty="0"/>
          </a:p>
        </p:txBody>
      </p:sp>
      <p:sp>
        <p:nvSpPr>
          <p:cNvPr id="35" name="Shape 19"/>
          <p:cNvSpPr/>
          <p:nvPr/>
        </p:nvSpPr>
        <p:spPr>
          <a:xfrm>
            <a:off x="3810305" y="2838298"/>
            <a:ext cx="647395" cy="228600"/>
          </a:xfrm>
          <a:prstGeom prst="roundRect">
            <a:avLst>
              <a:gd name="adj" fmla="val 25200"/>
            </a:avLst>
          </a:prstGeom>
          <a:solidFill>
            <a:srgbClr val="065F46"/>
          </a:solidFill>
          <a:ln w="12700">
            <a:solidFill>
              <a:srgbClr val="FFFFFF">
                <a:alpha val="0"/>
              </a:srgbClr>
            </a:solidFill>
            <a:prstDash val="solid"/>
          </a:ln>
        </p:spPr>
      </p:sp>
      <p:sp>
        <p:nvSpPr>
          <p:cNvPr id="36" name="Text 20"/>
          <p:cNvSpPr txBox="1"/>
          <p:nvPr/>
        </p:nvSpPr>
        <p:spPr>
          <a:xfrm>
            <a:off x="3810305" y="2838298"/>
            <a:ext cx="648310" cy="228600"/>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spc="59" kern="0" dirty="0">
                <a:solidFill>
                  <a:srgbClr val="ECFDF5"/>
                </a:solidFill>
                <a:latin typeface="Inter" pitchFamily="34" charset="0"/>
                <a:ea typeface="Inter" pitchFamily="34" charset="-122"/>
                <a:cs typeface="Inter" pitchFamily="34" charset="-120"/>
              </a:rPr>
              <a:t>A · TiN</a:t>
            </a:r>
            <a:endParaRPr lang="en-US" sz="975" dirty="0"/>
          </a:p>
        </p:txBody>
      </p:sp>
      <p:sp>
        <p:nvSpPr>
          <p:cNvPr id="37" name="Text 21"/>
          <p:cNvSpPr txBox="1"/>
          <p:nvPr/>
        </p:nvSpPr>
        <p:spPr>
          <a:xfrm>
            <a:off x="4858207" y="2723998"/>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25.18 </a:t>
            </a:r>
            <a:pPr algn="l" indent="0" marL="0">
              <a:buNone/>
            </a:pPr>
            <a:r>
              <a:rPr lang="en-US" sz="1050" b="1" dirty="0">
                <a:solidFill>
                  <a:srgbClr val="6B7280"/>
                </a:solidFill>
                <a:latin typeface="Inter" pitchFamily="34" charset="0"/>
                <a:ea typeface="Inter" pitchFamily="34" charset="-122"/>
                <a:cs typeface="Inter" pitchFamily="34" charset="-120"/>
              </a:rPr>
              <a:t>±0.42</a:t>
            </a:r>
            <a:endParaRPr lang="en-US" sz="1500" dirty="0"/>
          </a:p>
        </p:txBody>
      </p:sp>
      <p:sp>
        <p:nvSpPr>
          <p:cNvPr id="38" name="Text 22"/>
          <p:cNvSpPr txBox="1"/>
          <p:nvPr/>
        </p:nvSpPr>
        <p:spPr>
          <a:xfrm>
            <a:off x="4858207" y="2991002"/>
            <a:ext cx="2048256"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−0.02 nm</a:t>
            </a:r>
            <a:endParaRPr lang="en-US" sz="975" dirty="0"/>
          </a:p>
        </p:txBody>
      </p:sp>
      <p:sp>
        <p:nvSpPr>
          <p:cNvPr id="39" name="Text 23"/>
          <p:cNvSpPr txBox="1"/>
          <p:nvPr/>
        </p:nvSpPr>
        <p:spPr>
          <a:xfrm>
            <a:off x="6953098" y="2723998"/>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15.48 </a:t>
            </a:r>
            <a:pPr algn="l" indent="0" marL="0">
              <a:buNone/>
            </a:pPr>
            <a:r>
              <a:rPr lang="en-US" sz="1050" b="1" dirty="0">
                <a:solidFill>
                  <a:srgbClr val="6B7280"/>
                </a:solidFill>
                <a:latin typeface="Inter" pitchFamily="34" charset="0"/>
                <a:ea typeface="Inter" pitchFamily="34" charset="-122"/>
                <a:cs typeface="Inter" pitchFamily="34" charset="-120"/>
              </a:rPr>
              <a:t>±0.31</a:t>
            </a:r>
            <a:endParaRPr lang="en-US" sz="1500" dirty="0"/>
          </a:p>
        </p:txBody>
      </p:sp>
      <p:sp>
        <p:nvSpPr>
          <p:cNvPr id="40" name="Text 24"/>
          <p:cNvSpPr txBox="1"/>
          <p:nvPr/>
        </p:nvSpPr>
        <p:spPr>
          <a:xfrm>
            <a:off x="6953098" y="2991002"/>
            <a:ext cx="2048256"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−0.02 nm</a:t>
            </a:r>
            <a:endParaRPr lang="en-US" sz="975" dirty="0"/>
          </a:p>
        </p:txBody>
      </p:sp>
      <p:sp>
        <p:nvSpPr>
          <p:cNvPr id="41" name="Text 25"/>
          <p:cNvSpPr txBox="1"/>
          <p:nvPr/>
        </p:nvSpPr>
        <p:spPr>
          <a:xfrm>
            <a:off x="9048902" y="2723998"/>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9.36 </a:t>
            </a:r>
            <a:pPr algn="l" indent="0" marL="0">
              <a:buNone/>
            </a:pPr>
            <a:r>
              <a:rPr lang="en-US" sz="1050" b="1" dirty="0">
                <a:solidFill>
                  <a:srgbClr val="6B7280"/>
                </a:solidFill>
                <a:latin typeface="Inter" pitchFamily="34" charset="0"/>
                <a:ea typeface="Inter" pitchFamily="34" charset="-122"/>
                <a:cs typeface="Inter" pitchFamily="34" charset="-120"/>
              </a:rPr>
              <a:t>±0.22</a:t>
            </a:r>
            <a:endParaRPr lang="en-US" sz="1500" dirty="0"/>
          </a:p>
        </p:txBody>
      </p:sp>
      <p:sp>
        <p:nvSpPr>
          <p:cNvPr id="42" name="Text 26"/>
          <p:cNvSpPr txBox="1"/>
          <p:nvPr/>
        </p:nvSpPr>
        <p:spPr>
          <a:xfrm>
            <a:off x="9048902" y="2991002"/>
            <a:ext cx="2048256"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−0.04 nm</a:t>
            </a:r>
            <a:endParaRPr lang="en-US" sz="975" dirty="0"/>
          </a:p>
        </p:txBody>
      </p:sp>
      <p:sp>
        <p:nvSpPr>
          <p:cNvPr id="43" name="Text 27"/>
          <p:cNvSpPr txBox="1"/>
          <p:nvPr/>
        </p:nvSpPr>
        <p:spPr>
          <a:xfrm>
            <a:off x="11144707" y="2723998"/>
            <a:ext cx="1714500"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8.04 </a:t>
            </a:r>
            <a:pPr algn="l" indent="0" marL="0">
              <a:buNone/>
            </a:pPr>
            <a:r>
              <a:rPr lang="en-US" sz="1050" b="1" dirty="0">
                <a:solidFill>
                  <a:srgbClr val="6B7280"/>
                </a:solidFill>
                <a:latin typeface="Inter" pitchFamily="34" charset="0"/>
                <a:ea typeface="Inter" pitchFamily="34" charset="-122"/>
                <a:cs typeface="Inter" pitchFamily="34" charset="-120"/>
              </a:rPr>
              <a:t>±0.18</a:t>
            </a:r>
            <a:endParaRPr lang="en-US" sz="1500" dirty="0"/>
          </a:p>
        </p:txBody>
      </p:sp>
      <p:sp>
        <p:nvSpPr>
          <p:cNvPr id="44" name="Text 28"/>
          <p:cNvSpPr txBox="1"/>
          <p:nvPr/>
        </p:nvSpPr>
        <p:spPr>
          <a:xfrm>
            <a:off x="11144707" y="2991002"/>
            <a:ext cx="1714500"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−0.06 nm</a:t>
            </a:r>
            <a:endParaRPr lang="en-US" sz="975" dirty="0"/>
          </a:p>
        </p:txBody>
      </p:sp>
      <p:sp>
        <p:nvSpPr>
          <p:cNvPr id="45" name="Text 29"/>
          <p:cNvSpPr txBox="1"/>
          <p:nvPr/>
        </p:nvSpPr>
        <p:spPr>
          <a:xfrm>
            <a:off x="1143000" y="3486607"/>
            <a:ext cx="1143000" cy="191110"/>
          </a:xfrm>
          <a:prstGeom prst="rect">
            <a:avLst/>
          </a:prstGeom>
          <a:noFill/>
          <a:ln/>
        </p:spPr>
        <p:txBody>
          <a:bodyPr wrap="none" lIns="0" tIns="0" rIns="0" bIns="0" rtlCol="0" anchor="ctr"/>
          <a:lstStyle/>
          <a:p>
            <a:pPr algn="l" indent="0" marL="0">
              <a:buNone/>
            </a:pPr>
            <a:r>
              <a:rPr lang="en-US" sz="1275" dirty="0">
                <a:solidFill>
                  <a:srgbClr val="6B7280"/>
                </a:solidFill>
                <a:latin typeface="Inter" pitchFamily="34" charset="0"/>
                <a:ea typeface="Inter" pitchFamily="34" charset="-122"/>
                <a:cs typeface="Inter" pitchFamily="34" charset="-120"/>
              </a:rPr>
              <a:t>02</a:t>
            </a:r>
            <a:endParaRPr lang="en-US" sz="1275" dirty="0"/>
          </a:p>
        </p:txBody>
      </p:sp>
      <p:sp>
        <p:nvSpPr>
          <p:cNvPr id="46" name="Text 30"/>
          <p:cNvSpPr txBox="1"/>
          <p:nvPr/>
        </p:nvSpPr>
        <p:spPr>
          <a:xfrm>
            <a:off x="2381098" y="3448202"/>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W02</a:t>
            </a:r>
            <a:endParaRPr lang="en-US" sz="1800" dirty="0"/>
          </a:p>
        </p:txBody>
      </p:sp>
      <p:sp>
        <p:nvSpPr>
          <p:cNvPr id="47" name="Shape 31"/>
          <p:cNvSpPr/>
          <p:nvPr/>
        </p:nvSpPr>
        <p:spPr>
          <a:xfrm>
            <a:off x="3810305" y="3486607"/>
            <a:ext cx="647395" cy="228600"/>
          </a:xfrm>
          <a:prstGeom prst="roundRect">
            <a:avLst>
              <a:gd name="adj" fmla="val 25200"/>
            </a:avLst>
          </a:prstGeom>
          <a:solidFill>
            <a:srgbClr val="065F46"/>
          </a:solidFill>
          <a:ln w="12700">
            <a:solidFill>
              <a:srgbClr val="FFFFFF">
                <a:alpha val="0"/>
              </a:srgbClr>
            </a:solidFill>
            <a:prstDash val="solid"/>
          </a:ln>
        </p:spPr>
      </p:sp>
      <p:sp>
        <p:nvSpPr>
          <p:cNvPr id="48" name="Text 32"/>
          <p:cNvSpPr txBox="1"/>
          <p:nvPr/>
        </p:nvSpPr>
        <p:spPr>
          <a:xfrm>
            <a:off x="3810305" y="3486607"/>
            <a:ext cx="648310" cy="228600"/>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spc="59" kern="0" dirty="0">
                <a:solidFill>
                  <a:srgbClr val="ECFDF5"/>
                </a:solidFill>
                <a:latin typeface="Inter" pitchFamily="34" charset="0"/>
                <a:ea typeface="Inter" pitchFamily="34" charset="-122"/>
                <a:cs typeface="Inter" pitchFamily="34" charset="-120"/>
              </a:rPr>
              <a:t>A · TiN</a:t>
            </a:r>
            <a:endParaRPr lang="en-US" sz="975" dirty="0"/>
          </a:p>
        </p:txBody>
      </p:sp>
      <p:sp>
        <p:nvSpPr>
          <p:cNvPr id="49" name="Text 33"/>
          <p:cNvSpPr txBox="1"/>
          <p:nvPr/>
        </p:nvSpPr>
        <p:spPr>
          <a:xfrm>
            <a:off x="4858207" y="3372307"/>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25.31 </a:t>
            </a:r>
            <a:pPr algn="l" indent="0" marL="0">
              <a:buNone/>
            </a:pPr>
            <a:r>
              <a:rPr lang="en-US" sz="1050" b="1" dirty="0">
                <a:solidFill>
                  <a:srgbClr val="6B7280"/>
                </a:solidFill>
                <a:latin typeface="Inter" pitchFamily="34" charset="0"/>
                <a:ea typeface="Inter" pitchFamily="34" charset="-122"/>
                <a:cs typeface="Inter" pitchFamily="34" charset="-120"/>
              </a:rPr>
              <a:t>±0.51</a:t>
            </a:r>
            <a:endParaRPr lang="en-US" sz="1500" dirty="0"/>
          </a:p>
        </p:txBody>
      </p:sp>
      <p:sp>
        <p:nvSpPr>
          <p:cNvPr id="50" name="Text 34"/>
          <p:cNvSpPr txBox="1"/>
          <p:nvPr/>
        </p:nvSpPr>
        <p:spPr>
          <a:xfrm>
            <a:off x="4858207" y="3638398"/>
            <a:ext cx="2048256" cy="152705"/>
          </a:xfrm>
          <a:prstGeom prst="rect">
            <a:avLst/>
          </a:prstGeom>
          <a:noFill/>
          <a:ln/>
        </p:spPr>
        <p:txBody>
          <a:bodyPr wrap="none" lIns="0" tIns="0" rIns="0" bIns="0" rtlCol="0" anchor="ctr"/>
          <a:lstStyle/>
          <a:p>
            <a:pPr algn="l" indent="0" marL="0">
              <a:buNone/>
            </a:pPr>
            <a:r>
              <a:rPr lang="en-US" sz="975" dirty="0">
                <a:solidFill>
                  <a:srgbClr val="D97706"/>
                </a:solidFill>
                <a:latin typeface="Inter" pitchFamily="34" charset="0"/>
                <a:ea typeface="Inter" pitchFamily="34" charset="-122"/>
                <a:cs typeface="Inter" pitchFamily="34" charset="-120"/>
              </a:rPr>
              <a:t>Δ +0.11 nm</a:t>
            </a:r>
            <a:endParaRPr lang="en-US" sz="975" dirty="0"/>
          </a:p>
        </p:txBody>
      </p:sp>
      <p:sp>
        <p:nvSpPr>
          <p:cNvPr id="51" name="Text 35"/>
          <p:cNvSpPr txBox="1"/>
          <p:nvPr/>
        </p:nvSpPr>
        <p:spPr>
          <a:xfrm>
            <a:off x="6953098" y="3372307"/>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15.42 </a:t>
            </a:r>
            <a:pPr algn="l" indent="0" marL="0">
              <a:buNone/>
            </a:pPr>
            <a:r>
              <a:rPr lang="en-US" sz="1050" b="1" dirty="0">
                <a:solidFill>
                  <a:srgbClr val="6B7280"/>
                </a:solidFill>
                <a:latin typeface="Inter" pitchFamily="34" charset="0"/>
                <a:ea typeface="Inter" pitchFamily="34" charset="-122"/>
                <a:cs typeface="Inter" pitchFamily="34" charset="-120"/>
              </a:rPr>
              <a:t>±0.28</a:t>
            </a:r>
            <a:endParaRPr lang="en-US" sz="1500" dirty="0"/>
          </a:p>
        </p:txBody>
      </p:sp>
      <p:sp>
        <p:nvSpPr>
          <p:cNvPr id="52" name="Text 36"/>
          <p:cNvSpPr txBox="1"/>
          <p:nvPr/>
        </p:nvSpPr>
        <p:spPr>
          <a:xfrm>
            <a:off x="6953098" y="3638398"/>
            <a:ext cx="2048256"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−0.08 nm</a:t>
            </a:r>
            <a:endParaRPr lang="en-US" sz="975" dirty="0"/>
          </a:p>
        </p:txBody>
      </p:sp>
      <p:sp>
        <p:nvSpPr>
          <p:cNvPr id="53" name="Text 37"/>
          <p:cNvSpPr txBox="1"/>
          <p:nvPr/>
        </p:nvSpPr>
        <p:spPr>
          <a:xfrm>
            <a:off x="9048902" y="3372307"/>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9.42 </a:t>
            </a:r>
            <a:pPr algn="l" indent="0" marL="0">
              <a:buNone/>
            </a:pPr>
            <a:r>
              <a:rPr lang="en-US" sz="1050" b="1" dirty="0">
                <a:solidFill>
                  <a:srgbClr val="6B7280"/>
                </a:solidFill>
                <a:latin typeface="Inter" pitchFamily="34" charset="0"/>
                <a:ea typeface="Inter" pitchFamily="34" charset="-122"/>
                <a:cs typeface="Inter" pitchFamily="34" charset="-120"/>
              </a:rPr>
              <a:t>±0.24</a:t>
            </a:r>
            <a:endParaRPr lang="en-US" sz="1500" dirty="0"/>
          </a:p>
        </p:txBody>
      </p:sp>
      <p:sp>
        <p:nvSpPr>
          <p:cNvPr id="54" name="Text 38"/>
          <p:cNvSpPr txBox="1"/>
          <p:nvPr/>
        </p:nvSpPr>
        <p:spPr>
          <a:xfrm>
            <a:off x="9048902" y="3638398"/>
            <a:ext cx="2048256"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+0.02 nm</a:t>
            </a:r>
            <a:endParaRPr lang="en-US" sz="975" dirty="0"/>
          </a:p>
        </p:txBody>
      </p:sp>
      <p:sp>
        <p:nvSpPr>
          <p:cNvPr id="55" name="Text 39"/>
          <p:cNvSpPr txBox="1"/>
          <p:nvPr/>
        </p:nvSpPr>
        <p:spPr>
          <a:xfrm>
            <a:off x="11144707" y="3372307"/>
            <a:ext cx="1714500"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8.07 </a:t>
            </a:r>
            <a:pPr algn="l" indent="0" marL="0">
              <a:buNone/>
            </a:pPr>
            <a:r>
              <a:rPr lang="en-US" sz="1050" b="1" dirty="0">
                <a:solidFill>
                  <a:srgbClr val="6B7280"/>
                </a:solidFill>
                <a:latin typeface="Inter" pitchFamily="34" charset="0"/>
                <a:ea typeface="Inter" pitchFamily="34" charset="-122"/>
                <a:cs typeface="Inter" pitchFamily="34" charset="-120"/>
              </a:rPr>
              <a:t>±0.19</a:t>
            </a:r>
            <a:endParaRPr lang="en-US" sz="1500" dirty="0"/>
          </a:p>
        </p:txBody>
      </p:sp>
      <p:sp>
        <p:nvSpPr>
          <p:cNvPr id="56" name="Text 40"/>
          <p:cNvSpPr txBox="1"/>
          <p:nvPr/>
        </p:nvSpPr>
        <p:spPr>
          <a:xfrm>
            <a:off x="11144707" y="3638398"/>
            <a:ext cx="1714500"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−0.03 nm</a:t>
            </a:r>
            <a:endParaRPr lang="en-US" sz="975" dirty="0"/>
          </a:p>
        </p:txBody>
      </p:sp>
      <p:sp>
        <p:nvSpPr>
          <p:cNvPr id="57" name="Text 41"/>
          <p:cNvSpPr txBox="1"/>
          <p:nvPr/>
        </p:nvSpPr>
        <p:spPr>
          <a:xfrm>
            <a:off x="1143000" y="4134002"/>
            <a:ext cx="1143000" cy="191110"/>
          </a:xfrm>
          <a:prstGeom prst="rect">
            <a:avLst/>
          </a:prstGeom>
          <a:noFill/>
          <a:ln/>
        </p:spPr>
        <p:txBody>
          <a:bodyPr wrap="none" lIns="0" tIns="0" rIns="0" bIns="0" rtlCol="0" anchor="ctr"/>
          <a:lstStyle/>
          <a:p>
            <a:pPr algn="l" indent="0" marL="0">
              <a:buNone/>
            </a:pPr>
            <a:r>
              <a:rPr lang="en-US" sz="1275" dirty="0">
                <a:solidFill>
                  <a:srgbClr val="6B7280"/>
                </a:solidFill>
                <a:latin typeface="Inter" pitchFamily="34" charset="0"/>
                <a:ea typeface="Inter" pitchFamily="34" charset="-122"/>
                <a:cs typeface="Inter" pitchFamily="34" charset="-120"/>
              </a:rPr>
              <a:t>03</a:t>
            </a:r>
            <a:endParaRPr lang="en-US" sz="1275" dirty="0"/>
          </a:p>
        </p:txBody>
      </p:sp>
      <p:sp>
        <p:nvSpPr>
          <p:cNvPr id="58" name="Text 42"/>
          <p:cNvSpPr txBox="1"/>
          <p:nvPr/>
        </p:nvSpPr>
        <p:spPr>
          <a:xfrm>
            <a:off x="2381098" y="4095598"/>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W03</a:t>
            </a:r>
            <a:endParaRPr lang="en-US" sz="1800" dirty="0"/>
          </a:p>
        </p:txBody>
      </p:sp>
      <p:sp>
        <p:nvSpPr>
          <p:cNvPr id="59" name="Shape 43"/>
          <p:cNvSpPr/>
          <p:nvPr/>
        </p:nvSpPr>
        <p:spPr>
          <a:xfrm>
            <a:off x="3810305" y="4134002"/>
            <a:ext cx="599846" cy="228600"/>
          </a:xfrm>
          <a:prstGeom prst="roundRect">
            <a:avLst>
              <a:gd name="adj" fmla="val 25200"/>
            </a:avLst>
          </a:prstGeom>
          <a:solidFill>
            <a:srgbClr val="065F46"/>
          </a:solidFill>
          <a:ln w="12700">
            <a:solidFill>
              <a:srgbClr val="FFFFFF">
                <a:alpha val="0"/>
              </a:srgbClr>
            </a:solidFill>
            <a:prstDash val="solid"/>
          </a:ln>
        </p:spPr>
      </p:sp>
      <p:sp>
        <p:nvSpPr>
          <p:cNvPr id="60" name="Text 44"/>
          <p:cNvSpPr txBox="1"/>
          <p:nvPr/>
        </p:nvSpPr>
        <p:spPr>
          <a:xfrm>
            <a:off x="3810305" y="4134002"/>
            <a:ext cx="600761" cy="228600"/>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dirty="0">
                <a:solidFill>
                  <a:srgbClr val="ECFDF5"/>
                </a:solidFill>
                <a:latin typeface="Inter" pitchFamily="34" charset="0"/>
                <a:ea typeface="Inter" pitchFamily="34" charset="-122"/>
                <a:cs typeface="Inter" pitchFamily="34" charset="-120"/>
              </a:rPr>
              <a:t>A · TiN</a:t>
            </a:r>
            <a:endParaRPr lang="en-US" sz="975" dirty="0"/>
          </a:p>
        </p:txBody>
      </p:sp>
      <p:sp>
        <p:nvSpPr>
          <p:cNvPr id="61" name="Text 45"/>
          <p:cNvSpPr txBox="1"/>
          <p:nvPr/>
        </p:nvSpPr>
        <p:spPr>
          <a:xfrm>
            <a:off x="4858207" y="4019702"/>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25.09 </a:t>
            </a:r>
            <a:pPr algn="l" indent="0" marL="0">
              <a:buNone/>
            </a:pPr>
            <a:r>
              <a:rPr lang="en-US" sz="1050" b="1" dirty="0">
                <a:solidFill>
                  <a:srgbClr val="6B7280"/>
                </a:solidFill>
                <a:latin typeface="Inter" pitchFamily="34" charset="0"/>
                <a:ea typeface="Inter" pitchFamily="34" charset="-122"/>
                <a:cs typeface="Inter" pitchFamily="34" charset="-120"/>
              </a:rPr>
              <a:t>±0.38</a:t>
            </a:r>
            <a:endParaRPr lang="en-US" sz="1500" dirty="0"/>
          </a:p>
        </p:txBody>
      </p:sp>
      <p:sp>
        <p:nvSpPr>
          <p:cNvPr id="62" name="Text 46"/>
          <p:cNvSpPr txBox="1"/>
          <p:nvPr/>
        </p:nvSpPr>
        <p:spPr>
          <a:xfrm>
            <a:off x="4858207" y="4286707"/>
            <a:ext cx="2048256"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−0.11 nm</a:t>
            </a:r>
            <a:endParaRPr lang="en-US" sz="975" dirty="0"/>
          </a:p>
        </p:txBody>
      </p:sp>
      <p:sp>
        <p:nvSpPr>
          <p:cNvPr id="63" name="Text 47"/>
          <p:cNvSpPr txBox="1"/>
          <p:nvPr/>
        </p:nvSpPr>
        <p:spPr>
          <a:xfrm>
            <a:off x="6953098" y="4019702"/>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15.55 </a:t>
            </a:r>
            <a:pPr algn="l" indent="0" marL="0">
              <a:buNone/>
            </a:pPr>
            <a:r>
              <a:rPr lang="en-US" sz="1050" b="1" dirty="0">
                <a:solidFill>
                  <a:srgbClr val="6B7280"/>
                </a:solidFill>
                <a:latin typeface="Inter" pitchFamily="34" charset="0"/>
                <a:ea typeface="Inter" pitchFamily="34" charset="-122"/>
                <a:cs typeface="Inter" pitchFamily="34" charset="-120"/>
              </a:rPr>
              <a:t>±0.34</a:t>
            </a:r>
            <a:endParaRPr lang="en-US" sz="1500" dirty="0"/>
          </a:p>
        </p:txBody>
      </p:sp>
      <p:sp>
        <p:nvSpPr>
          <p:cNvPr id="64" name="Text 48"/>
          <p:cNvSpPr txBox="1"/>
          <p:nvPr/>
        </p:nvSpPr>
        <p:spPr>
          <a:xfrm>
            <a:off x="6953098" y="4286707"/>
            <a:ext cx="2048256"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+0.05 nm</a:t>
            </a:r>
            <a:endParaRPr lang="en-US" sz="975" dirty="0"/>
          </a:p>
        </p:txBody>
      </p:sp>
      <p:sp>
        <p:nvSpPr>
          <p:cNvPr id="65" name="Text 49"/>
          <p:cNvSpPr txBox="1"/>
          <p:nvPr/>
        </p:nvSpPr>
        <p:spPr>
          <a:xfrm>
            <a:off x="9048902" y="4019702"/>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9.38 </a:t>
            </a:r>
            <a:pPr algn="l" indent="0" marL="0">
              <a:buNone/>
            </a:pPr>
            <a:r>
              <a:rPr lang="en-US" sz="1050" b="1" dirty="0">
                <a:solidFill>
                  <a:srgbClr val="6B7280"/>
                </a:solidFill>
                <a:latin typeface="Inter" pitchFamily="34" charset="0"/>
                <a:ea typeface="Inter" pitchFamily="34" charset="-122"/>
                <a:cs typeface="Inter" pitchFamily="34" charset="-120"/>
              </a:rPr>
              <a:t>±0.21</a:t>
            </a:r>
            <a:endParaRPr lang="en-US" sz="1500" dirty="0"/>
          </a:p>
        </p:txBody>
      </p:sp>
      <p:sp>
        <p:nvSpPr>
          <p:cNvPr id="66" name="Text 50"/>
          <p:cNvSpPr txBox="1"/>
          <p:nvPr/>
        </p:nvSpPr>
        <p:spPr>
          <a:xfrm>
            <a:off x="9048902" y="4286707"/>
            <a:ext cx="2048256"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−0.02 nm</a:t>
            </a:r>
            <a:endParaRPr lang="en-US" sz="975" dirty="0"/>
          </a:p>
        </p:txBody>
      </p:sp>
      <p:sp>
        <p:nvSpPr>
          <p:cNvPr id="67" name="Text 51"/>
          <p:cNvSpPr txBox="1"/>
          <p:nvPr/>
        </p:nvSpPr>
        <p:spPr>
          <a:xfrm>
            <a:off x="11144707" y="4019702"/>
            <a:ext cx="1714500"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8.12 </a:t>
            </a:r>
            <a:pPr algn="l" indent="0" marL="0">
              <a:buNone/>
            </a:pPr>
            <a:r>
              <a:rPr lang="en-US" sz="1050" b="1" dirty="0">
                <a:solidFill>
                  <a:srgbClr val="6B7280"/>
                </a:solidFill>
                <a:latin typeface="Inter" pitchFamily="34" charset="0"/>
                <a:ea typeface="Inter" pitchFamily="34" charset="-122"/>
                <a:cs typeface="Inter" pitchFamily="34" charset="-120"/>
              </a:rPr>
              <a:t>±0.21</a:t>
            </a:r>
            <a:endParaRPr lang="en-US" sz="1500" dirty="0"/>
          </a:p>
        </p:txBody>
      </p:sp>
      <p:sp>
        <p:nvSpPr>
          <p:cNvPr id="68" name="Text 52"/>
          <p:cNvSpPr txBox="1"/>
          <p:nvPr/>
        </p:nvSpPr>
        <p:spPr>
          <a:xfrm>
            <a:off x="11144707" y="4286707"/>
            <a:ext cx="1714500"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+0.02 nm</a:t>
            </a:r>
            <a:endParaRPr lang="en-US" sz="975" dirty="0"/>
          </a:p>
        </p:txBody>
      </p:sp>
      <p:sp>
        <p:nvSpPr>
          <p:cNvPr id="69" name="Text 53"/>
          <p:cNvSpPr txBox="1"/>
          <p:nvPr/>
        </p:nvSpPr>
        <p:spPr>
          <a:xfrm>
            <a:off x="1143000" y="4781398"/>
            <a:ext cx="1143000" cy="191110"/>
          </a:xfrm>
          <a:prstGeom prst="rect">
            <a:avLst/>
          </a:prstGeom>
          <a:noFill/>
          <a:ln/>
        </p:spPr>
        <p:txBody>
          <a:bodyPr wrap="none" lIns="0" tIns="0" rIns="0" bIns="0" rtlCol="0" anchor="ctr"/>
          <a:lstStyle/>
          <a:p>
            <a:pPr algn="l" indent="0" marL="0">
              <a:buNone/>
            </a:pPr>
            <a:r>
              <a:rPr lang="en-US" sz="1275" dirty="0">
                <a:solidFill>
                  <a:srgbClr val="6B7280"/>
                </a:solidFill>
                <a:latin typeface="Inter" pitchFamily="34" charset="0"/>
                <a:ea typeface="Inter" pitchFamily="34" charset="-122"/>
                <a:cs typeface="Inter" pitchFamily="34" charset="-120"/>
              </a:rPr>
              <a:t>04</a:t>
            </a:r>
            <a:endParaRPr lang="en-US" sz="1275" dirty="0"/>
          </a:p>
        </p:txBody>
      </p:sp>
      <p:sp>
        <p:nvSpPr>
          <p:cNvPr id="70" name="Text 54"/>
          <p:cNvSpPr txBox="1"/>
          <p:nvPr/>
        </p:nvSpPr>
        <p:spPr>
          <a:xfrm>
            <a:off x="2381098" y="4743907"/>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W04</a:t>
            </a:r>
            <a:endParaRPr lang="en-US" sz="1800" dirty="0"/>
          </a:p>
        </p:txBody>
      </p:sp>
      <p:sp>
        <p:nvSpPr>
          <p:cNvPr id="71" name="Shape 55"/>
          <p:cNvSpPr/>
          <p:nvPr/>
        </p:nvSpPr>
        <p:spPr>
          <a:xfrm>
            <a:off x="3810305" y="4781398"/>
            <a:ext cx="599846" cy="228600"/>
          </a:xfrm>
          <a:prstGeom prst="roundRect">
            <a:avLst>
              <a:gd name="adj" fmla="val 25200"/>
            </a:avLst>
          </a:prstGeom>
          <a:solidFill>
            <a:srgbClr val="065F46"/>
          </a:solidFill>
          <a:ln w="12700">
            <a:solidFill>
              <a:srgbClr val="FFFFFF">
                <a:alpha val="0"/>
              </a:srgbClr>
            </a:solidFill>
            <a:prstDash val="solid"/>
          </a:ln>
        </p:spPr>
      </p:sp>
      <p:sp>
        <p:nvSpPr>
          <p:cNvPr id="72" name="Text 56"/>
          <p:cNvSpPr txBox="1"/>
          <p:nvPr/>
        </p:nvSpPr>
        <p:spPr>
          <a:xfrm>
            <a:off x="3810305" y="4781398"/>
            <a:ext cx="600761" cy="228600"/>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dirty="0">
                <a:solidFill>
                  <a:srgbClr val="ECFDF5"/>
                </a:solidFill>
                <a:latin typeface="Inter" pitchFamily="34" charset="0"/>
                <a:ea typeface="Inter" pitchFamily="34" charset="-122"/>
                <a:cs typeface="Inter" pitchFamily="34" charset="-120"/>
              </a:rPr>
              <a:t>A · TiN</a:t>
            </a:r>
            <a:endParaRPr lang="en-US" sz="975" dirty="0"/>
          </a:p>
        </p:txBody>
      </p:sp>
      <p:sp>
        <p:nvSpPr>
          <p:cNvPr id="73" name="Text 57"/>
          <p:cNvSpPr txBox="1"/>
          <p:nvPr/>
        </p:nvSpPr>
        <p:spPr>
          <a:xfrm>
            <a:off x="4858207" y="4667098"/>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25.24 </a:t>
            </a:r>
            <a:pPr algn="l" indent="0" marL="0">
              <a:buNone/>
            </a:pPr>
            <a:r>
              <a:rPr lang="en-US" sz="1050" b="1" dirty="0">
                <a:solidFill>
                  <a:srgbClr val="6B7280"/>
                </a:solidFill>
                <a:latin typeface="Inter" pitchFamily="34" charset="0"/>
                <a:ea typeface="Inter" pitchFamily="34" charset="-122"/>
                <a:cs typeface="Inter" pitchFamily="34" charset="-120"/>
              </a:rPr>
              <a:t>±0.46</a:t>
            </a:r>
            <a:endParaRPr lang="en-US" sz="1500" dirty="0"/>
          </a:p>
        </p:txBody>
      </p:sp>
      <p:sp>
        <p:nvSpPr>
          <p:cNvPr id="74" name="Text 58"/>
          <p:cNvSpPr txBox="1"/>
          <p:nvPr/>
        </p:nvSpPr>
        <p:spPr>
          <a:xfrm>
            <a:off x="4858207" y="4934102"/>
            <a:ext cx="2048256"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+0.04 nm</a:t>
            </a:r>
            <a:endParaRPr lang="en-US" sz="975" dirty="0"/>
          </a:p>
        </p:txBody>
      </p:sp>
      <p:sp>
        <p:nvSpPr>
          <p:cNvPr id="75" name="Text 59"/>
          <p:cNvSpPr txBox="1"/>
          <p:nvPr/>
        </p:nvSpPr>
        <p:spPr>
          <a:xfrm>
            <a:off x="6953098" y="4667098"/>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15.61 </a:t>
            </a:r>
            <a:pPr algn="l" indent="0" marL="0">
              <a:buNone/>
            </a:pPr>
            <a:r>
              <a:rPr lang="en-US" sz="1050" b="1" dirty="0">
                <a:solidFill>
                  <a:srgbClr val="6B7280"/>
                </a:solidFill>
                <a:latin typeface="Inter" pitchFamily="34" charset="0"/>
                <a:ea typeface="Inter" pitchFamily="34" charset="-122"/>
                <a:cs typeface="Inter" pitchFamily="34" charset="-120"/>
              </a:rPr>
              <a:t>±0.37</a:t>
            </a:r>
            <a:endParaRPr lang="en-US" sz="1500" dirty="0"/>
          </a:p>
        </p:txBody>
      </p:sp>
      <p:sp>
        <p:nvSpPr>
          <p:cNvPr id="76" name="Text 60"/>
          <p:cNvSpPr txBox="1"/>
          <p:nvPr/>
        </p:nvSpPr>
        <p:spPr>
          <a:xfrm>
            <a:off x="6953098" y="4934102"/>
            <a:ext cx="2048256" cy="152705"/>
          </a:xfrm>
          <a:prstGeom prst="rect">
            <a:avLst/>
          </a:prstGeom>
          <a:noFill/>
          <a:ln/>
        </p:spPr>
        <p:txBody>
          <a:bodyPr wrap="none" lIns="0" tIns="0" rIns="0" bIns="0" rtlCol="0" anchor="ctr"/>
          <a:lstStyle/>
          <a:p>
            <a:pPr algn="l" indent="0" marL="0">
              <a:buNone/>
            </a:pPr>
            <a:r>
              <a:rPr lang="en-US" sz="975" dirty="0">
                <a:solidFill>
                  <a:srgbClr val="D97706"/>
                </a:solidFill>
                <a:latin typeface="Inter" pitchFamily="34" charset="0"/>
                <a:ea typeface="Inter" pitchFamily="34" charset="-122"/>
                <a:cs typeface="Inter" pitchFamily="34" charset="-120"/>
              </a:rPr>
              <a:t>Δ +0.11 nm</a:t>
            </a:r>
            <a:endParaRPr lang="en-US" sz="975" dirty="0"/>
          </a:p>
        </p:txBody>
      </p:sp>
      <p:sp>
        <p:nvSpPr>
          <p:cNvPr id="77" name="Text 61"/>
          <p:cNvSpPr txBox="1"/>
          <p:nvPr/>
        </p:nvSpPr>
        <p:spPr>
          <a:xfrm>
            <a:off x="9048902" y="4667098"/>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9.45 </a:t>
            </a:r>
            <a:pPr algn="l" indent="0" marL="0">
              <a:buNone/>
            </a:pPr>
            <a:r>
              <a:rPr lang="en-US" sz="1050" b="1" dirty="0">
                <a:solidFill>
                  <a:srgbClr val="6B7280"/>
                </a:solidFill>
                <a:latin typeface="Inter" pitchFamily="34" charset="0"/>
                <a:ea typeface="Inter" pitchFamily="34" charset="-122"/>
                <a:cs typeface="Inter" pitchFamily="34" charset="-120"/>
              </a:rPr>
              <a:t>±0.26</a:t>
            </a:r>
            <a:endParaRPr lang="en-US" sz="1500" dirty="0"/>
          </a:p>
        </p:txBody>
      </p:sp>
      <p:sp>
        <p:nvSpPr>
          <p:cNvPr id="78" name="Text 62"/>
          <p:cNvSpPr txBox="1"/>
          <p:nvPr/>
        </p:nvSpPr>
        <p:spPr>
          <a:xfrm>
            <a:off x="9048902" y="4934102"/>
            <a:ext cx="2048256"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+0.05 nm</a:t>
            </a:r>
            <a:endParaRPr lang="en-US" sz="975" dirty="0"/>
          </a:p>
        </p:txBody>
      </p:sp>
      <p:sp>
        <p:nvSpPr>
          <p:cNvPr id="79" name="Text 63"/>
          <p:cNvSpPr txBox="1"/>
          <p:nvPr/>
        </p:nvSpPr>
        <p:spPr>
          <a:xfrm>
            <a:off x="11144707" y="4667098"/>
            <a:ext cx="1714500"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8.09 </a:t>
            </a:r>
            <a:pPr algn="l" indent="0" marL="0">
              <a:buNone/>
            </a:pPr>
            <a:r>
              <a:rPr lang="en-US" sz="1050" b="1" dirty="0">
                <a:solidFill>
                  <a:srgbClr val="6B7280"/>
                </a:solidFill>
                <a:latin typeface="Inter" pitchFamily="34" charset="0"/>
                <a:ea typeface="Inter" pitchFamily="34" charset="-122"/>
                <a:cs typeface="Inter" pitchFamily="34" charset="-120"/>
              </a:rPr>
              <a:t>±0.20</a:t>
            </a:r>
            <a:endParaRPr lang="en-US" sz="1500" dirty="0"/>
          </a:p>
        </p:txBody>
      </p:sp>
      <p:sp>
        <p:nvSpPr>
          <p:cNvPr id="80" name="Text 64"/>
          <p:cNvSpPr txBox="1"/>
          <p:nvPr/>
        </p:nvSpPr>
        <p:spPr>
          <a:xfrm>
            <a:off x="11144707" y="4934102"/>
            <a:ext cx="1714500"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−0.01 nm</a:t>
            </a:r>
            <a:endParaRPr lang="en-US" sz="975" dirty="0"/>
          </a:p>
        </p:txBody>
      </p:sp>
      <p:sp>
        <p:nvSpPr>
          <p:cNvPr id="81" name="Text 65"/>
          <p:cNvSpPr txBox="1"/>
          <p:nvPr/>
        </p:nvSpPr>
        <p:spPr>
          <a:xfrm>
            <a:off x="1143000" y="5429707"/>
            <a:ext cx="1143000" cy="191110"/>
          </a:xfrm>
          <a:prstGeom prst="rect">
            <a:avLst/>
          </a:prstGeom>
          <a:noFill/>
          <a:ln/>
        </p:spPr>
        <p:txBody>
          <a:bodyPr wrap="none" lIns="0" tIns="0" rIns="0" bIns="0" rtlCol="0" anchor="ctr"/>
          <a:lstStyle/>
          <a:p>
            <a:pPr algn="l" indent="0" marL="0">
              <a:buNone/>
            </a:pPr>
            <a:r>
              <a:rPr lang="en-US" sz="1275" dirty="0">
                <a:solidFill>
                  <a:srgbClr val="6B7280"/>
                </a:solidFill>
                <a:latin typeface="Inter" pitchFamily="34" charset="0"/>
                <a:ea typeface="Inter" pitchFamily="34" charset="-122"/>
                <a:cs typeface="Inter" pitchFamily="34" charset="-120"/>
              </a:rPr>
              <a:t>05</a:t>
            </a:r>
            <a:endParaRPr lang="en-US" sz="1275" dirty="0"/>
          </a:p>
        </p:txBody>
      </p:sp>
      <p:sp>
        <p:nvSpPr>
          <p:cNvPr id="82" name="Text 66"/>
          <p:cNvSpPr txBox="1"/>
          <p:nvPr/>
        </p:nvSpPr>
        <p:spPr>
          <a:xfrm>
            <a:off x="2381098" y="5391302"/>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W05</a:t>
            </a:r>
            <a:endParaRPr lang="en-US" sz="1800" dirty="0"/>
          </a:p>
        </p:txBody>
      </p:sp>
      <p:sp>
        <p:nvSpPr>
          <p:cNvPr id="83" name="Shape 67"/>
          <p:cNvSpPr/>
          <p:nvPr/>
        </p:nvSpPr>
        <p:spPr>
          <a:xfrm>
            <a:off x="3810305" y="5429707"/>
            <a:ext cx="819302" cy="247802"/>
          </a:xfrm>
          <a:prstGeom prst="roundRect">
            <a:avLst>
              <a:gd name="adj" fmla="val 23247"/>
            </a:avLst>
          </a:prstGeom>
          <a:solidFill>
            <a:srgbClr val="ECFDF5"/>
          </a:solidFill>
          <a:ln w="12700">
            <a:solidFill>
              <a:srgbClr val="A7F3D0"/>
            </a:solidFill>
            <a:prstDash val="solid"/>
          </a:ln>
        </p:spPr>
      </p:sp>
      <p:sp>
        <p:nvSpPr>
          <p:cNvPr id="84" name="Text 68"/>
          <p:cNvSpPr txBox="1"/>
          <p:nvPr/>
        </p:nvSpPr>
        <p:spPr>
          <a:xfrm>
            <a:off x="3810305" y="5429707"/>
            <a:ext cx="819302" cy="247802"/>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dirty="0">
                <a:solidFill>
                  <a:srgbClr val="047857"/>
                </a:solidFill>
                <a:latin typeface="Inter" pitchFamily="34" charset="0"/>
                <a:ea typeface="Inter" pitchFamily="34" charset="-122"/>
                <a:cs typeface="Inter" pitchFamily="34" charset="-120"/>
              </a:rPr>
              <a:t>B · MF SiN</a:t>
            </a:r>
            <a:endParaRPr lang="en-US" sz="975" dirty="0"/>
          </a:p>
        </p:txBody>
      </p:sp>
      <p:sp>
        <p:nvSpPr>
          <p:cNvPr id="85" name="Text 69"/>
          <p:cNvSpPr txBox="1"/>
          <p:nvPr/>
        </p:nvSpPr>
        <p:spPr>
          <a:xfrm>
            <a:off x="4858207" y="5315407"/>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25.45 </a:t>
            </a:r>
            <a:pPr algn="l" indent="0" marL="0">
              <a:buNone/>
            </a:pPr>
            <a:r>
              <a:rPr lang="en-US" sz="1050" b="1" dirty="0">
                <a:solidFill>
                  <a:srgbClr val="6B7280"/>
                </a:solidFill>
                <a:latin typeface="Inter" pitchFamily="34" charset="0"/>
                <a:ea typeface="Inter" pitchFamily="34" charset="-122"/>
                <a:cs typeface="Inter" pitchFamily="34" charset="-120"/>
              </a:rPr>
              <a:t>±0.62</a:t>
            </a:r>
            <a:endParaRPr lang="en-US" sz="1500" dirty="0"/>
          </a:p>
        </p:txBody>
      </p:sp>
      <p:sp>
        <p:nvSpPr>
          <p:cNvPr id="86" name="Text 70"/>
          <p:cNvSpPr txBox="1"/>
          <p:nvPr/>
        </p:nvSpPr>
        <p:spPr>
          <a:xfrm>
            <a:off x="4858207" y="5581498"/>
            <a:ext cx="2048256" cy="152705"/>
          </a:xfrm>
          <a:prstGeom prst="rect">
            <a:avLst/>
          </a:prstGeom>
          <a:noFill/>
          <a:ln/>
        </p:spPr>
        <p:txBody>
          <a:bodyPr wrap="none" lIns="0" tIns="0" rIns="0" bIns="0" rtlCol="0" anchor="ctr"/>
          <a:lstStyle/>
          <a:p>
            <a:pPr algn="l" indent="0" marL="0">
              <a:buNone/>
            </a:pPr>
            <a:r>
              <a:rPr lang="en-US" sz="975" dirty="0">
                <a:solidFill>
                  <a:srgbClr val="D97706"/>
                </a:solidFill>
                <a:latin typeface="Inter" pitchFamily="34" charset="0"/>
                <a:ea typeface="Inter" pitchFamily="34" charset="-122"/>
                <a:cs typeface="Inter" pitchFamily="34" charset="-120"/>
              </a:rPr>
              <a:t>Δ +0.25 nm</a:t>
            </a:r>
            <a:endParaRPr lang="en-US" sz="975" dirty="0"/>
          </a:p>
        </p:txBody>
      </p:sp>
      <p:sp>
        <p:nvSpPr>
          <p:cNvPr id="87" name="Text 71"/>
          <p:cNvSpPr txBox="1"/>
          <p:nvPr/>
        </p:nvSpPr>
        <p:spPr>
          <a:xfrm>
            <a:off x="6953098" y="5315407"/>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15.36 </a:t>
            </a:r>
            <a:pPr algn="l" indent="0" marL="0">
              <a:buNone/>
            </a:pPr>
            <a:r>
              <a:rPr lang="en-US" sz="1050" b="1" dirty="0">
                <a:solidFill>
                  <a:srgbClr val="6B7280"/>
                </a:solidFill>
                <a:latin typeface="Inter" pitchFamily="34" charset="0"/>
                <a:ea typeface="Inter" pitchFamily="34" charset="-122"/>
                <a:cs typeface="Inter" pitchFamily="34" charset="-120"/>
              </a:rPr>
              <a:t>±0.41</a:t>
            </a:r>
            <a:endParaRPr lang="en-US" sz="1500" dirty="0"/>
          </a:p>
        </p:txBody>
      </p:sp>
      <p:sp>
        <p:nvSpPr>
          <p:cNvPr id="88" name="Text 72"/>
          <p:cNvSpPr txBox="1"/>
          <p:nvPr/>
        </p:nvSpPr>
        <p:spPr>
          <a:xfrm>
            <a:off x="6953098" y="5581498"/>
            <a:ext cx="2048256" cy="152705"/>
          </a:xfrm>
          <a:prstGeom prst="rect">
            <a:avLst/>
          </a:prstGeom>
          <a:noFill/>
          <a:ln/>
        </p:spPr>
        <p:txBody>
          <a:bodyPr wrap="none" lIns="0" tIns="0" rIns="0" bIns="0" rtlCol="0" anchor="ctr"/>
          <a:lstStyle/>
          <a:p>
            <a:pPr algn="l" indent="0" marL="0">
              <a:buNone/>
            </a:pPr>
            <a:r>
              <a:rPr lang="en-US" sz="975" dirty="0">
                <a:solidFill>
                  <a:srgbClr val="B91C1C"/>
                </a:solidFill>
                <a:latin typeface="Inter" pitchFamily="34" charset="0"/>
                <a:ea typeface="Inter" pitchFamily="34" charset="-122"/>
                <a:cs typeface="Inter" pitchFamily="34" charset="-120"/>
              </a:rPr>
              <a:t>Δ −0.14 nm</a:t>
            </a:r>
            <a:endParaRPr lang="en-US" sz="975" dirty="0"/>
          </a:p>
        </p:txBody>
      </p:sp>
      <p:sp>
        <p:nvSpPr>
          <p:cNvPr id="89" name="Text 73"/>
          <p:cNvSpPr txBox="1"/>
          <p:nvPr/>
        </p:nvSpPr>
        <p:spPr>
          <a:xfrm>
            <a:off x="9048902" y="5315407"/>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9.51 </a:t>
            </a:r>
            <a:pPr algn="l" indent="0" marL="0">
              <a:buNone/>
            </a:pPr>
            <a:r>
              <a:rPr lang="en-US" sz="1050" b="1" dirty="0">
                <a:solidFill>
                  <a:srgbClr val="6B7280"/>
                </a:solidFill>
                <a:latin typeface="Inter" pitchFamily="34" charset="0"/>
                <a:ea typeface="Inter" pitchFamily="34" charset="-122"/>
                <a:cs typeface="Inter" pitchFamily="34" charset="-120"/>
              </a:rPr>
              <a:t>±0.32</a:t>
            </a:r>
            <a:endParaRPr lang="en-US" sz="1500" dirty="0"/>
          </a:p>
        </p:txBody>
      </p:sp>
      <p:sp>
        <p:nvSpPr>
          <p:cNvPr id="90" name="Text 74"/>
          <p:cNvSpPr txBox="1"/>
          <p:nvPr/>
        </p:nvSpPr>
        <p:spPr>
          <a:xfrm>
            <a:off x="9048902" y="5581498"/>
            <a:ext cx="2048256" cy="152705"/>
          </a:xfrm>
          <a:prstGeom prst="rect">
            <a:avLst/>
          </a:prstGeom>
          <a:noFill/>
          <a:ln/>
        </p:spPr>
        <p:txBody>
          <a:bodyPr wrap="none" lIns="0" tIns="0" rIns="0" bIns="0" rtlCol="0" anchor="ctr"/>
          <a:lstStyle/>
          <a:p>
            <a:pPr algn="l" indent="0" marL="0">
              <a:buNone/>
            </a:pPr>
            <a:r>
              <a:rPr lang="en-US" sz="975" dirty="0">
                <a:solidFill>
                  <a:srgbClr val="D97706"/>
                </a:solidFill>
                <a:latin typeface="Inter" pitchFamily="34" charset="0"/>
                <a:ea typeface="Inter" pitchFamily="34" charset="-122"/>
                <a:cs typeface="Inter" pitchFamily="34" charset="-120"/>
              </a:rPr>
              <a:t>Δ +0.11 nm</a:t>
            </a:r>
            <a:endParaRPr lang="en-US" sz="975" dirty="0"/>
          </a:p>
        </p:txBody>
      </p:sp>
      <p:sp>
        <p:nvSpPr>
          <p:cNvPr id="91" name="Text 75"/>
          <p:cNvSpPr txBox="1"/>
          <p:nvPr/>
        </p:nvSpPr>
        <p:spPr>
          <a:xfrm>
            <a:off x="11144707" y="5315407"/>
            <a:ext cx="1714500"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8.18 </a:t>
            </a:r>
            <a:pPr algn="l" indent="0" marL="0">
              <a:buNone/>
            </a:pPr>
            <a:r>
              <a:rPr lang="en-US" sz="1050" b="1" dirty="0">
                <a:solidFill>
                  <a:srgbClr val="6B7280"/>
                </a:solidFill>
                <a:latin typeface="Inter" pitchFamily="34" charset="0"/>
                <a:ea typeface="Inter" pitchFamily="34" charset="-122"/>
                <a:cs typeface="Inter" pitchFamily="34" charset="-120"/>
              </a:rPr>
              <a:t>±0.26</a:t>
            </a:r>
            <a:endParaRPr lang="en-US" sz="1500" dirty="0"/>
          </a:p>
        </p:txBody>
      </p:sp>
      <p:sp>
        <p:nvSpPr>
          <p:cNvPr id="92" name="Text 76"/>
          <p:cNvSpPr txBox="1"/>
          <p:nvPr/>
        </p:nvSpPr>
        <p:spPr>
          <a:xfrm>
            <a:off x="11144707" y="5581498"/>
            <a:ext cx="1714500" cy="152705"/>
          </a:xfrm>
          <a:prstGeom prst="rect">
            <a:avLst/>
          </a:prstGeom>
          <a:noFill/>
          <a:ln/>
        </p:spPr>
        <p:txBody>
          <a:bodyPr wrap="none" lIns="0" tIns="0" rIns="0" bIns="0" rtlCol="0" anchor="ctr"/>
          <a:lstStyle/>
          <a:p>
            <a:pPr algn="l" indent="0" marL="0">
              <a:buNone/>
            </a:pPr>
            <a:r>
              <a:rPr lang="en-US" sz="975" dirty="0">
                <a:solidFill>
                  <a:srgbClr val="D97706"/>
                </a:solidFill>
                <a:latin typeface="Inter" pitchFamily="34" charset="0"/>
                <a:ea typeface="Inter" pitchFamily="34" charset="-122"/>
                <a:cs typeface="Inter" pitchFamily="34" charset="-120"/>
              </a:rPr>
              <a:t>Δ +0.08 nm</a:t>
            </a:r>
            <a:endParaRPr lang="en-US" sz="975" dirty="0"/>
          </a:p>
        </p:txBody>
      </p:sp>
      <p:sp>
        <p:nvSpPr>
          <p:cNvPr id="93" name="Text 77"/>
          <p:cNvSpPr txBox="1"/>
          <p:nvPr/>
        </p:nvSpPr>
        <p:spPr>
          <a:xfrm>
            <a:off x="1143000" y="6077102"/>
            <a:ext cx="1143000" cy="191110"/>
          </a:xfrm>
          <a:prstGeom prst="rect">
            <a:avLst/>
          </a:prstGeom>
          <a:noFill/>
          <a:ln/>
        </p:spPr>
        <p:txBody>
          <a:bodyPr wrap="none" lIns="0" tIns="0" rIns="0" bIns="0" rtlCol="0" anchor="ctr"/>
          <a:lstStyle/>
          <a:p>
            <a:pPr algn="l" indent="0" marL="0">
              <a:buNone/>
            </a:pPr>
            <a:r>
              <a:rPr lang="en-US" sz="1275" dirty="0">
                <a:solidFill>
                  <a:srgbClr val="6B7280"/>
                </a:solidFill>
                <a:latin typeface="Inter" pitchFamily="34" charset="0"/>
                <a:ea typeface="Inter" pitchFamily="34" charset="-122"/>
                <a:cs typeface="Inter" pitchFamily="34" charset="-120"/>
              </a:rPr>
              <a:t>06</a:t>
            </a:r>
            <a:endParaRPr lang="en-US" sz="1275" dirty="0"/>
          </a:p>
        </p:txBody>
      </p:sp>
      <p:sp>
        <p:nvSpPr>
          <p:cNvPr id="94" name="Text 78"/>
          <p:cNvSpPr txBox="1"/>
          <p:nvPr/>
        </p:nvSpPr>
        <p:spPr>
          <a:xfrm>
            <a:off x="2381098" y="6038698"/>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W06</a:t>
            </a:r>
            <a:endParaRPr lang="en-US" sz="1800" dirty="0"/>
          </a:p>
        </p:txBody>
      </p:sp>
      <p:sp>
        <p:nvSpPr>
          <p:cNvPr id="95" name="Shape 79"/>
          <p:cNvSpPr/>
          <p:nvPr/>
        </p:nvSpPr>
        <p:spPr>
          <a:xfrm>
            <a:off x="3810305" y="6077102"/>
            <a:ext cx="819302" cy="247802"/>
          </a:xfrm>
          <a:prstGeom prst="roundRect">
            <a:avLst>
              <a:gd name="adj" fmla="val 23247"/>
            </a:avLst>
          </a:prstGeom>
          <a:solidFill>
            <a:srgbClr val="ECFDF5"/>
          </a:solidFill>
          <a:ln w="12700">
            <a:solidFill>
              <a:srgbClr val="A7F3D0"/>
            </a:solidFill>
            <a:prstDash val="solid"/>
          </a:ln>
        </p:spPr>
      </p:sp>
      <p:sp>
        <p:nvSpPr>
          <p:cNvPr id="96" name="Text 80"/>
          <p:cNvSpPr txBox="1"/>
          <p:nvPr/>
        </p:nvSpPr>
        <p:spPr>
          <a:xfrm>
            <a:off x="3810305" y="6077102"/>
            <a:ext cx="819302" cy="247802"/>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dirty="0">
                <a:solidFill>
                  <a:srgbClr val="047857"/>
                </a:solidFill>
                <a:latin typeface="Inter" pitchFamily="34" charset="0"/>
                <a:ea typeface="Inter" pitchFamily="34" charset="-122"/>
                <a:cs typeface="Inter" pitchFamily="34" charset="-120"/>
              </a:rPr>
              <a:t>B · MF SiN</a:t>
            </a:r>
            <a:endParaRPr lang="en-US" sz="975" dirty="0"/>
          </a:p>
        </p:txBody>
      </p:sp>
      <p:sp>
        <p:nvSpPr>
          <p:cNvPr id="97" name="Text 81"/>
          <p:cNvSpPr txBox="1"/>
          <p:nvPr/>
        </p:nvSpPr>
        <p:spPr>
          <a:xfrm>
            <a:off x="4858207" y="5962802"/>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25.38 </a:t>
            </a:r>
            <a:pPr algn="l" indent="0" marL="0">
              <a:buNone/>
            </a:pPr>
            <a:r>
              <a:rPr lang="en-US" sz="1050" b="1" dirty="0">
                <a:solidFill>
                  <a:srgbClr val="6B7280"/>
                </a:solidFill>
                <a:latin typeface="Inter" pitchFamily="34" charset="0"/>
                <a:ea typeface="Inter" pitchFamily="34" charset="-122"/>
                <a:cs typeface="Inter" pitchFamily="34" charset="-120"/>
              </a:rPr>
              <a:t>±0.58</a:t>
            </a:r>
            <a:endParaRPr lang="en-US" sz="1500" dirty="0"/>
          </a:p>
        </p:txBody>
      </p:sp>
      <p:sp>
        <p:nvSpPr>
          <p:cNvPr id="98" name="Text 82"/>
          <p:cNvSpPr txBox="1"/>
          <p:nvPr/>
        </p:nvSpPr>
        <p:spPr>
          <a:xfrm>
            <a:off x="4858207" y="6229807"/>
            <a:ext cx="2048256" cy="152705"/>
          </a:xfrm>
          <a:prstGeom prst="rect">
            <a:avLst/>
          </a:prstGeom>
          <a:noFill/>
          <a:ln/>
        </p:spPr>
        <p:txBody>
          <a:bodyPr wrap="none" lIns="0" tIns="0" rIns="0" bIns="0" rtlCol="0" anchor="ctr"/>
          <a:lstStyle/>
          <a:p>
            <a:pPr algn="l" indent="0" marL="0">
              <a:buNone/>
            </a:pPr>
            <a:r>
              <a:rPr lang="en-US" sz="975" dirty="0">
                <a:solidFill>
                  <a:srgbClr val="D97706"/>
                </a:solidFill>
                <a:latin typeface="Inter" pitchFamily="34" charset="0"/>
                <a:ea typeface="Inter" pitchFamily="34" charset="-122"/>
                <a:cs typeface="Inter" pitchFamily="34" charset="-120"/>
              </a:rPr>
              <a:t>Δ +0.18 nm</a:t>
            </a:r>
            <a:endParaRPr lang="en-US" sz="975" dirty="0"/>
          </a:p>
        </p:txBody>
      </p:sp>
      <p:sp>
        <p:nvSpPr>
          <p:cNvPr id="99" name="Text 83"/>
          <p:cNvSpPr txBox="1"/>
          <p:nvPr/>
        </p:nvSpPr>
        <p:spPr>
          <a:xfrm>
            <a:off x="6953098" y="5962802"/>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15.29 </a:t>
            </a:r>
            <a:pPr algn="l" indent="0" marL="0">
              <a:buNone/>
            </a:pPr>
            <a:r>
              <a:rPr lang="en-US" sz="1050" b="1" dirty="0">
                <a:solidFill>
                  <a:srgbClr val="6B7280"/>
                </a:solidFill>
                <a:latin typeface="Inter" pitchFamily="34" charset="0"/>
                <a:ea typeface="Inter" pitchFamily="34" charset="-122"/>
                <a:cs typeface="Inter" pitchFamily="34" charset="-120"/>
              </a:rPr>
              <a:t>±0.38</a:t>
            </a:r>
            <a:endParaRPr lang="en-US" sz="1500" dirty="0"/>
          </a:p>
        </p:txBody>
      </p:sp>
      <p:sp>
        <p:nvSpPr>
          <p:cNvPr id="100" name="Text 84"/>
          <p:cNvSpPr txBox="1"/>
          <p:nvPr/>
        </p:nvSpPr>
        <p:spPr>
          <a:xfrm>
            <a:off x="6953098" y="6229807"/>
            <a:ext cx="2048256" cy="152705"/>
          </a:xfrm>
          <a:prstGeom prst="rect">
            <a:avLst/>
          </a:prstGeom>
          <a:noFill/>
          <a:ln/>
        </p:spPr>
        <p:txBody>
          <a:bodyPr wrap="none" lIns="0" tIns="0" rIns="0" bIns="0" rtlCol="0" anchor="ctr"/>
          <a:lstStyle/>
          <a:p>
            <a:pPr algn="l" indent="0" marL="0">
              <a:buNone/>
            </a:pPr>
            <a:r>
              <a:rPr lang="en-US" sz="975" dirty="0">
                <a:solidFill>
                  <a:srgbClr val="B91C1C"/>
                </a:solidFill>
                <a:latin typeface="Inter" pitchFamily="34" charset="0"/>
                <a:ea typeface="Inter" pitchFamily="34" charset="-122"/>
                <a:cs typeface="Inter" pitchFamily="34" charset="-120"/>
              </a:rPr>
              <a:t>Δ −0.21 nm</a:t>
            </a:r>
            <a:endParaRPr lang="en-US" sz="975" dirty="0"/>
          </a:p>
        </p:txBody>
      </p:sp>
      <p:sp>
        <p:nvSpPr>
          <p:cNvPr id="101" name="Text 85"/>
          <p:cNvSpPr txBox="1"/>
          <p:nvPr/>
        </p:nvSpPr>
        <p:spPr>
          <a:xfrm>
            <a:off x="9048902" y="5962802"/>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9.48 </a:t>
            </a:r>
            <a:pPr algn="l" indent="0" marL="0">
              <a:buNone/>
            </a:pPr>
            <a:r>
              <a:rPr lang="en-US" sz="1050" b="1" dirty="0">
                <a:solidFill>
                  <a:srgbClr val="6B7280"/>
                </a:solidFill>
                <a:latin typeface="Inter" pitchFamily="34" charset="0"/>
                <a:ea typeface="Inter" pitchFamily="34" charset="-122"/>
                <a:cs typeface="Inter" pitchFamily="34" charset="-120"/>
              </a:rPr>
              <a:t>±0.29</a:t>
            </a:r>
            <a:endParaRPr lang="en-US" sz="1500" dirty="0"/>
          </a:p>
        </p:txBody>
      </p:sp>
      <p:sp>
        <p:nvSpPr>
          <p:cNvPr id="102" name="Text 86"/>
          <p:cNvSpPr txBox="1"/>
          <p:nvPr/>
        </p:nvSpPr>
        <p:spPr>
          <a:xfrm>
            <a:off x="9048902" y="6229807"/>
            <a:ext cx="2048256"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+0.08 nm</a:t>
            </a:r>
            <a:endParaRPr lang="en-US" sz="975" dirty="0"/>
          </a:p>
        </p:txBody>
      </p:sp>
      <p:sp>
        <p:nvSpPr>
          <p:cNvPr id="103" name="Text 87"/>
          <p:cNvSpPr txBox="1"/>
          <p:nvPr/>
        </p:nvSpPr>
        <p:spPr>
          <a:xfrm>
            <a:off x="11144707" y="5962802"/>
            <a:ext cx="1714500"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8.15 </a:t>
            </a:r>
            <a:pPr algn="l" indent="0" marL="0">
              <a:buNone/>
            </a:pPr>
            <a:r>
              <a:rPr lang="en-US" sz="1050" b="1" dirty="0">
                <a:solidFill>
                  <a:srgbClr val="6B7280"/>
                </a:solidFill>
                <a:latin typeface="Inter" pitchFamily="34" charset="0"/>
                <a:ea typeface="Inter" pitchFamily="34" charset="-122"/>
                <a:cs typeface="Inter" pitchFamily="34" charset="-120"/>
              </a:rPr>
              <a:t>±0.24</a:t>
            </a:r>
            <a:endParaRPr lang="en-US" sz="1500" dirty="0"/>
          </a:p>
        </p:txBody>
      </p:sp>
      <p:sp>
        <p:nvSpPr>
          <p:cNvPr id="104" name="Text 88"/>
          <p:cNvSpPr txBox="1"/>
          <p:nvPr/>
        </p:nvSpPr>
        <p:spPr>
          <a:xfrm>
            <a:off x="11144707" y="6229807"/>
            <a:ext cx="1714500"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+0.05 nm</a:t>
            </a:r>
            <a:endParaRPr lang="en-US" sz="975" dirty="0"/>
          </a:p>
        </p:txBody>
      </p:sp>
      <p:sp>
        <p:nvSpPr>
          <p:cNvPr id="105" name="Text 89"/>
          <p:cNvSpPr txBox="1"/>
          <p:nvPr/>
        </p:nvSpPr>
        <p:spPr>
          <a:xfrm>
            <a:off x="1143000" y="6724498"/>
            <a:ext cx="1143000" cy="191110"/>
          </a:xfrm>
          <a:prstGeom prst="rect">
            <a:avLst/>
          </a:prstGeom>
          <a:noFill/>
          <a:ln/>
        </p:spPr>
        <p:txBody>
          <a:bodyPr wrap="none" lIns="0" tIns="0" rIns="0" bIns="0" rtlCol="0" anchor="ctr"/>
          <a:lstStyle/>
          <a:p>
            <a:pPr algn="l" indent="0" marL="0">
              <a:buNone/>
            </a:pPr>
            <a:r>
              <a:rPr lang="en-US" sz="1275" dirty="0">
                <a:solidFill>
                  <a:srgbClr val="6B7280"/>
                </a:solidFill>
                <a:latin typeface="Inter" pitchFamily="34" charset="0"/>
                <a:ea typeface="Inter" pitchFamily="34" charset="-122"/>
                <a:cs typeface="Inter" pitchFamily="34" charset="-120"/>
              </a:rPr>
              <a:t>07</a:t>
            </a:r>
            <a:endParaRPr lang="en-US" sz="1275" dirty="0"/>
          </a:p>
        </p:txBody>
      </p:sp>
      <p:sp>
        <p:nvSpPr>
          <p:cNvPr id="106" name="Text 90"/>
          <p:cNvSpPr txBox="1"/>
          <p:nvPr/>
        </p:nvSpPr>
        <p:spPr>
          <a:xfrm>
            <a:off x="2381098" y="6687007"/>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W07</a:t>
            </a:r>
            <a:endParaRPr lang="en-US" sz="1800" dirty="0"/>
          </a:p>
        </p:txBody>
      </p:sp>
      <p:sp>
        <p:nvSpPr>
          <p:cNvPr id="107" name="Shape 91"/>
          <p:cNvSpPr/>
          <p:nvPr/>
        </p:nvSpPr>
        <p:spPr>
          <a:xfrm>
            <a:off x="3810305" y="6724498"/>
            <a:ext cx="819302" cy="247802"/>
          </a:xfrm>
          <a:prstGeom prst="roundRect">
            <a:avLst>
              <a:gd name="adj" fmla="val 23247"/>
            </a:avLst>
          </a:prstGeom>
          <a:solidFill>
            <a:srgbClr val="ECFDF5"/>
          </a:solidFill>
          <a:ln w="12700">
            <a:solidFill>
              <a:srgbClr val="A7F3D0"/>
            </a:solidFill>
            <a:prstDash val="solid"/>
          </a:ln>
        </p:spPr>
      </p:sp>
      <p:sp>
        <p:nvSpPr>
          <p:cNvPr id="108" name="Text 92"/>
          <p:cNvSpPr txBox="1"/>
          <p:nvPr/>
        </p:nvSpPr>
        <p:spPr>
          <a:xfrm>
            <a:off x="3810305" y="6724498"/>
            <a:ext cx="819302" cy="247802"/>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dirty="0">
                <a:solidFill>
                  <a:srgbClr val="047857"/>
                </a:solidFill>
                <a:latin typeface="Inter" pitchFamily="34" charset="0"/>
                <a:ea typeface="Inter" pitchFamily="34" charset="-122"/>
                <a:cs typeface="Inter" pitchFamily="34" charset="-120"/>
              </a:rPr>
              <a:t>B · MF SiN</a:t>
            </a:r>
            <a:endParaRPr lang="en-US" sz="975" dirty="0"/>
          </a:p>
        </p:txBody>
      </p:sp>
      <p:sp>
        <p:nvSpPr>
          <p:cNvPr id="109" name="Text 93"/>
          <p:cNvSpPr txBox="1"/>
          <p:nvPr/>
        </p:nvSpPr>
        <p:spPr>
          <a:xfrm>
            <a:off x="4858207" y="6610198"/>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25.51 </a:t>
            </a:r>
            <a:pPr algn="l" indent="0" marL="0">
              <a:buNone/>
            </a:pPr>
            <a:r>
              <a:rPr lang="en-US" sz="1050" b="1" dirty="0">
                <a:solidFill>
                  <a:srgbClr val="6B7280"/>
                </a:solidFill>
                <a:latin typeface="Inter" pitchFamily="34" charset="0"/>
                <a:ea typeface="Inter" pitchFamily="34" charset="-122"/>
                <a:cs typeface="Inter" pitchFamily="34" charset="-120"/>
              </a:rPr>
              <a:t>±0.67</a:t>
            </a:r>
            <a:endParaRPr lang="en-US" sz="1500" dirty="0"/>
          </a:p>
        </p:txBody>
      </p:sp>
      <p:sp>
        <p:nvSpPr>
          <p:cNvPr id="110" name="Text 94"/>
          <p:cNvSpPr txBox="1"/>
          <p:nvPr/>
        </p:nvSpPr>
        <p:spPr>
          <a:xfrm>
            <a:off x="4858207" y="6877202"/>
            <a:ext cx="2048256" cy="152705"/>
          </a:xfrm>
          <a:prstGeom prst="rect">
            <a:avLst/>
          </a:prstGeom>
          <a:noFill/>
          <a:ln/>
        </p:spPr>
        <p:txBody>
          <a:bodyPr wrap="none" lIns="0" tIns="0" rIns="0" bIns="0" rtlCol="0" anchor="ctr"/>
          <a:lstStyle/>
          <a:p>
            <a:pPr algn="l" indent="0" marL="0">
              <a:buNone/>
            </a:pPr>
            <a:r>
              <a:rPr lang="en-US" sz="975" dirty="0">
                <a:solidFill>
                  <a:srgbClr val="B91C1C"/>
                </a:solidFill>
                <a:latin typeface="Inter" pitchFamily="34" charset="0"/>
                <a:ea typeface="Inter" pitchFamily="34" charset="-122"/>
                <a:cs typeface="Inter" pitchFamily="34" charset="-120"/>
              </a:rPr>
              <a:t>Δ +0.31 nm</a:t>
            </a:r>
            <a:endParaRPr lang="en-US" sz="975" dirty="0"/>
          </a:p>
        </p:txBody>
      </p:sp>
      <p:sp>
        <p:nvSpPr>
          <p:cNvPr id="111" name="Text 95"/>
          <p:cNvSpPr txBox="1"/>
          <p:nvPr/>
        </p:nvSpPr>
        <p:spPr>
          <a:xfrm>
            <a:off x="6953098" y="6610198"/>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15.41 </a:t>
            </a:r>
            <a:pPr algn="l" indent="0" marL="0">
              <a:buNone/>
            </a:pPr>
            <a:r>
              <a:rPr lang="en-US" sz="1050" b="1" dirty="0">
                <a:solidFill>
                  <a:srgbClr val="6B7280"/>
                </a:solidFill>
                <a:latin typeface="Inter" pitchFamily="34" charset="0"/>
                <a:ea typeface="Inter" pitchFamily="34" charset="-122"/>
                <a:cs typeface="Inter" pitchFamily="34" charset="-120"/>
              </a:rPr>
              <a:t>±0.45</a:t>
            </a:r>
            <a:endParaRPr lang="en-US" sz="1500" dirty="0"/>
          </a:p>
        </p:txBody>
      </p:sp>
      <p:sp>
        <p:nvSpPr>
          <p:cNvPr id="112" name="Text 96"/>
          <p:cNvSpPr txBox="1"/>
          <p:nvPr/>
        </p:nvSpPr>
        <p:spPr>
          <a:xfrm>
            <a:off x="6953098" y="6877202"/>
            <a:ext cx="2048256" cy="152705"/>
          </a:xfrm>
          <a:prstGeom prst="rect">
            <a:avLst/>
          </a:prstGeom>
          <a:noFill/>
          <a:ln/>
        </p:spPr>
        <p:txBody>
          <a:bodyPr wrap="none" lIns="0" tIns="0" rIns="0" bIns="0" rtlCol="0" anchor="ctr"/>
          <a:lstStyle/>
          <a:p>
            <a:pPr algn="l" indent="0" marL="0">
              <a:buNone/>
            </a:pPr>
            <a:r>
              <a:rPr lang="en-US" sz="975" dirty="0">
                <a:solidFill>
                  <a:srgbClr val="D97706"/>
                </a:solidFill>
                <a:latin typeface="Inter" pitchFamily="34" charset="0"/>
                <a:ea typeface="Inter" pitchFamily="34" charset="-122"/>
                <a:cs typeface="Inter" pitchFamily="34" charset="-120"/>
              </a:rPr>
              <a:t>Δ −0.09 nm</a:t>
            </a:r>
            <a:endParaRPr lang="en-US" sz="975" dirty="0"/>
          </a:p>
        </p:txBody>
      </p:sp>
      <p:sp>
        <p:nvSpPr>
          <p:cNvPr id="113" name="Text 97"/>
          <p:cNvSpPr txBox="1"/>
          <p:nvPr/>
        </p:nvSpPr>
        <p:spPr>
          <a:xfrm>
            <a:off x="9048902" y="6610198"/>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9.55 </a:t>
            </a:r>
            <a:pPr algn="l" indent="0" marL="0">
              <a:buNone/>
            </a:pPr>
            <a:r>
              <a:rPr lang="en-US" sz="1050" b="1" dirty="0">
                <a:solidFill>
                  <a:srgbClr val="6B7280"/>
                </a:solidFill>
                <a:latin typeface="Inter" pitchFamily="34" charset="0"/>
                <a:ea typeface="Inter" pitchFamily="34" charset="-122"/>
                <a:cs typeface="Inter" pitchFamily="34" charset="-120"/>
              </a:rPr>
              <a:t>±0.34</a:t>
            </a:r>
            <a:endParaRPr lang="en-US" sz="1500" dirty="0"/>
          </a:p>
        </p:txBody>
      </p:sp>
      <p:sp>
        <p:nvSpPr>
          <p:cNvPr id="114" name="Text 98"/>
          <p:cNvSpPr txBox="1"/>
          <p:nvPr/>
        </p:nvSpPr>
        <p:spPr>
          <a:xfrm>
            <a:off x="9048902" y="6877202"/>
            <a:ext cx="2048256" cy="152705"/>
          </a:xfrm>
          <a:prstGeom prst="rect">
            <a:avLst/>
          </a:prstGeom>
          <a:noFill/>
          <a:ln/>
        </p:spPr>
        <p:txBody>
          <a:bodyPr wrap="none" lIns="0" tIns="0" rIns="0" bIns="0" rtlCol="0" anchor="ctr"/>
          <a:lstStyle/>
          <a:p>
            <a:pPr algn="l" indent="0" marL="0">
              <a:buNone/>
            </a:pPr>
            <a:r>
              <a:rPr lang="en-US" sz="975" dirty="0">
                <a:solidFill>
                  <a:srgbClr val="B91C1C"/>
                </a:solidFill>
                <a:latin typeface="Inter" pitchFamily="34" charset="0"/>
                <a:ea typeface="Inter" pitchFamily="34" charset="-122"/>
                <a:cs typeface="Inter" pitchFamily="34" charset="-120"/>
              </a:rPr>
              <a:t>Δ +0.15 nm</a:t>
            </a:r>
            <a:endParaRPr lang="en-US" sz="975" dirty="0"/>
          </a:p>
        </p:txBody>
      </p:sp>
      <p:sp>
        <p:nvSpPr>
          <p:cNvPr id="115" name="Text 99"/>
          <p:cNvSpPr txBox="1"/>
          <p:nvPr/>
        </p:nvSpPr>
        <p:spPr>
          <a:xfrm>
            <a:off x="11144707" y="6610198"/>
            <a:ext cx="1714500"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8.21 </a:t>
            </a:r>
            <a:pPr algn="l" indent="0" marL="0">
              <a:buNone/>
            </a:pPr>
            <a:r>
              <a:rPr lang="en-US" sz="1050" b="1" dirty="0">
                <a:solidFill>
                  <a:srgbClr val="6B7280"/>
                </a:solidFill>
                <a:latin typeface="Inter" pitchFamily="34" charset="0"/>
                <a:ea typeface="Inter" pitchFamily="34" charset="-122"/>
                <a:cs typeface="Inter" pitchFamily="34" charset="-120"/>
              </a:rPr>
              <a:t>±0.28</a:t>
            </a:r>
            <a:endParaRPr lang="en-US" sz="1500" dirty="0"/>
          </a:p>
        </p:txBody>
      </p:sp>
      <p:sp>
        <p:nvSpPr>
          <p:cNvPr id="116" name="Text 100"/>
          <p:cNvSpPr txBox="1"/>
          <p:nvPr/>
        </p:nvSpPr>
        <p:spPr>
          <a:xfrm>
            <a:off x="11144707" y="6877202"/>
            <a:ext cx="1714500" cy="152705"/>
          </a:xfrm>
          <a:prstGeom prst="rect">
            <a:avLst/>
          </a:prstGeom>
          <a:noFill/>
          <a:ln/>
        </p:spPr>
        <p:txBody>
          <a:bodyPr wrap="none" lIns="0" tIns="0" rIns="0" bIns="0" rtlCol="0" anchor="ctr"/>
          <a:lstStyle/>
          <a:p>
            <a:pPr algn="l" indent="0" marL="0">
              <a:buNone/>
            </a:pPr>
            <a:r>
              <a:rPr lang="en-US" sz="975" dirty="0">
                <a:solidFill>
                  <a:srgbClr val="D97706"/>
                </a:solidFill>
                <a:latin typeface="Inter" pitchFamily="34" charset="0"/>
                <a:ea typeface="Inter" pitchFamily="34" charset="-122"/>
                <a:cs typeface="Inter" pitchFamily="34" charset="-120"/>
              </a:rPr>
              <a:t>Δ +0.11 nm</a:t>
            </a:r>
            <a:endParaRPr lang="en-US" sz="975" dirty="0"/>
          </a:p>
        </p:txBody>
      </p:sp>
      <p:sp>
        <p:nvSpPr>
          <p:cNvPr id="117" name="Text 101"/>
          <p:cNvSpPr txBox="1"/>
          <p:nvPr/>
        </p:nvSpPr>
        <p:spPr>
          <a:xfrm>
            <a:off x="1143000" y="7372807"/>
            <a:ext cx="1143000" cy="191110"/>
          </a:xfrm>
          <a:prstGeom prst="rect">
            <a:avLst/>
          </a:prstGeom>
          <a:noFill/>
          <a:ln/>
        </p:spPr>
        <p:txBody>
          <a:bodyPr wrap="none" lIns="0" tIns="0" rIns="0" bIns="0" rtlCol="0" anchor="ctr"/>
          <a:lstStyle/>
          <a:p>
            <a:pPr algn="l" indent="0" marL="0">
              <a:buNone/>
            </a:pPr>
            <a:r>
              <a:rPr lang="en-US" sz="1275" dirty="0">
                <a:solidFill>
                  <a:srgbClr val="6B7280"/>
                </a:solidFill>
                <a:latin typeface="Inter" pitchFamily="34" charset="0"/>
                <a:ea typeface="Inter" pitchFamily="34" charset="-122"/>
                <a:cs typeface="Inter" pitchFamily="34" charset="-120"/>
              </a:rPr>
              <a:t>08</a:t>
            </a:r>
            <a:endParaRPr lang="en-US" sz="1275" dirty="0"/>
          </a:p>
        </p:txBody>
      </p:sp>
      <p:sp>
        <p:nvSpPr>
          <p:cNvPr id="118" name="Text 102"/>
          <p:cNvSpPr txBox="1"/>
          <p:nvPr/>
        </p:nvSpPr>
        <p:spPr>
          <a:xfrm>
            <a:off x="2381098" y="7334402"/>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W08</a:t>
            </a:r>
            <a:endParaRPr lang="en-US" sz="1800" dirty="0"/>
          </a:p>
        </p:txBody>
      </p:sp>
      <p:sp>
        <p:nvSpPr>
          <p:cNvPr id="119" name="Shape 103"/>
          <p:cNvSpPr/>
          <p:nvPr/>
        </p:nvSpPr>
        <p:spPr>
          <a:xfrm>
            <a:off x="3810305" y="7372807"/>
            <a:ext cx="819302" cy="247802"/>
          </a:xfrm>
          <a:prstGeom prst="roundRect">
            <a:avLst>
              <a:gd name="adj" fmla="val 23247"/>
            </a:avLst>
          </a:prstGeom>
          <a:solidFill>
            <a:srgbClr val="ECFDF5"/>
          </a:solidFill>
          <a:ln w="12700">
            <a:solidFill>
              <a:srgbClr val="A7F3D0"/>
            </a:solidFill>
            <a:prstDash val="solid"/>
          </a:ln>
        </p:spPr>
      </p:sp>
      <p:sp>
        <p:nvSpPr>
          <p:cNvPr id="120" name="Text 104"/>
          <p:cNvSpPr txBox="1"/>
          <p:nvPr/>
        </p:nvSpPr>
        <p:spPr>
          <a:xfrm>
            <a:off x="3810305" y="7372807"/>
            <a:ext cx="819302" cy="247802"/>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dirty="0">
                <a:solidFill>
                  <a:srgbClr val="047857"/>
                </a:solidFill>
                <a:latin typeface="Inter" pitchFamily="34" charset="0"/>
                <a:ea typeface="Inter" pitchFamily="34" charset="-122"/>
                <a:cs typeface="Inter" pitchFamily="34" charset="-120"/>
              </a:rPr>
              <a:t>B · MF SiN</a:t>
            </a:r>
            <a:endParaRPr lang="en-US" sz="975" dirty="0"/>
          </a:p>
        </p:txBody>
      </p:sp>
      <p:sp>
        <p:nvSpPr>
          <p:cNvPr id="121" name="Text 105"/>
          <p:cNvSpPr txBox="1"/>
          <p:nvPr/>
        </p:nvSpPr>
        <p:spPr>
          <a:xfrm>
            <a:off x="4858207" y="7258507"/>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25.42 </a:t>
            </a:r>
            <a:pPr algn="l" indent="0" marL="0">
              <a:buNone/>
            </a:pPr>
            <a:r>
              <a:rPr lang="en-US" sz="1050" b="1" dirty="0">
                <a:solidFill>
                  <a:srgbClr val="6B7280"/>
                </a:solidFill>
                <a:latin typeface="Inter" pitchFamily="34" charset="0"/>
                <a:ea typeface="Inter" pitchFamily="34" charset="-122"/>
                <a:cs typeface="Inter" pitchFamily="34" charset="-120"/>
              </a:rPr>
              <a:t>±0.61</a:t>
            </a:r>
            <a:endParaRPr lang="en-US" sz="1500" dirty="0"/>
          </a:p>
        </p:txBody>
      </p:sp>
      <p:sp>
        <p:nvSpPr>
          <p:cNvPr id="122" name="Text 106"/>
          <p:cNvSpPr txBox="1"/>
          <p:nvPr/>
        </p:nvSpPr>
        <p:spPr>
          <a:xfrm>
            <a:off x="4858207" y="7524598"/>
            <a:ext cx="2048256" cy="152705"/>
          </a:xfrm>
          <a:prstGeom prst="rect">
            <a:avLst/>
          </a:prstGeom>
          <a:noFill/>
          <a:ln/>
        </p:spPr>
        <p:txBody>
          <a:bodyPr wrap="none" lIns="0" tIns="0" rIns="0" bIns="0" rtlCol="0" anchor="ctr"/>
          <a:lstStyle/>
          <a:p>
            <a:pPr algn="l" indent="0" marL="0">
              <a:buNone/>
            </a:pPr>
            <a:r>
              <a:rPr lang="en-US" sz="975" dirty="0">
                <a:solidFill>
                  <a:srgbClr val="D97706"/>
                </a:solidFill>
                <a:latin typeface="Inter" pitchFamily="34" charset="0"/>
                <a:ea typeface="Inter" pitchFamily="34" charset="-122"/>
                <a:cs typeface="Inter" pitchFamily="34" charset="-120"/>
              </a:rPr>
              <a:t>Δ +0.22 nm</a:t>
            </a:r>
            <a:endParaRPr lang="en-US" sz="975" dirty="0"/>
          </a:p>
        </p:txBody>
      </p:sp>
      <p:sp>
        <p:nvSpPr>
          <p:cNvPr id="123" name="Text 107"/>
          <p:cNvSpPr txBox="1"/>
          <p:nvPr/>
        </p:nvSpPr>
        <p:spPr>
          <a:xfrm>
            <a:off x="6953098" y="7258507"/>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15.33 </a:t>
            </a:r>
            <a:pPr algn="l" indent="0" marL="0">
              <a:buNone/>
            </a:pPr>
            <a:r>
              <a:rPr lang="en-US" sz="1050" b="1" dirty="0">
                <a:solidFill>
                  <a:srgbClr val="6B7280"/>
                </a:solidFill>
                <a:latin typeface="Inter" pitchFamily="34" charset="0"/>
                <a:ea typeface="Inter" pitchFamily="34" charset="-122"/>
                <a:cs typeface="Inter" pitchFamily="34" charset="-120"/>
              </a:rPr>
              <a:t>±0.39</a:t>
            </a:r>
            <a:endParaRPr lang="en-US" sz="1500" dirty="0"/>
          </a:p>
        </p:txBody>
      </p:sp>
      <p:sp>
        <p:nvSpPr>
          <p:cNvPr id="124" name="Text 108"/>
          <p:cNvSpPr txBox="1"/>
          <p:nvPr/>
        </p:nvSpPr>
        <p:spPr>
          <a:xfrm>
            <a:off x="6953098" y="7524598"/>
            <a:ext cx="2048256" cy="152705"/>
          </a:xfrm>
          <a:prstGeom prst="rect">
            <a:avLst/>
          </a:prstGeom>
          <a:noFill/>
          <a:ln/>
        </p:spPr>
        <p:txBody>
          <a:bodyPr wrap="none" lIns="0" tIns="0" rIns="0" bIns="0" rtlCol="0" anchor="ctr"/>
          <a:lstStyle/>
          <a:p>
            <a:pPr algn="l" indent="0" marL="0">
              <a:buNone/>
            </a:pPr>
            <a:r>
              <a:rPr lang="en-US" sz="975" dirty="0">
                <a:solidFill>
                  <a:srgbClr val="B91C1C"/>
                </a:solidFill>
                <a:latin typeface="Inter" pitchFamily="34" charset="0"/>
                <a:ea typeface="Inter" pitchFamily="34" charset="-122"/>
                <a:cs typeface="Inter" pitchFamily="34" charset="-120"/>
              </a:rPr>
              <a:t>Δ −0.17 nm</a:t>
            </a:r>
            <a:endParaRPr lang="en-US" sz="975" dirty="0"/>
          </a:p>
        </p:txBody>
      </p:sp>
      <p:sp>
        <p:nvSpPr>
          <p:cNvPr id="125" name="Text 109"/>
          <p:cNvSpPr txBox="1"/>
          <p:nvPr/>
        </p:nvSpPr>
        <p:spPr>
          <a:xfrm>
            <a:off x="9048902" y="7258507"/>
            <a:ext cx="2048256"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9.49 </a:t>
            </a:r>
            <a:pPr algn="l" indent="0" marL="0">
              <a:buNone/>
            </a:pPr>
            <a:r>
              <a:rPr lang="en-US" sz="1050" b="1" dirty="0">
                <a:solidFill>
                  <a:srgbClr val="6B7280"/>
                </a:solidFill>
                <a:latin typeface="Inter" pitchFamily="34" charset="0"/>
                <a:ea typeface="Inter" pitchFamily="34" charset="-122"/>
                <a:cs typeface="Inter" pitchFamily="34" charset="-120"/>
              </a:rPr>
              <a:t>±0.31</a:t>
            </a:r>
            <a:endParaRPr lang="en-US" sz="1500" dirty="0"/>
          </a:p>
        </p:txBody>
      </p:sp>
      <p:sp>
        <p:nvSpPr>
          <p:cNvPr id="126" name="Text 110"/>
          <p:cNvSpPr txBox="1"/>
          <p:nvPr/>
        </p:nvSpPr>
        <p:spPr>
          <a:xfrm>
            <a:off x="9048902" y="7524598"/>
            <a:ext cx="2048256" cy="152705"/>
          </a:xfrm>
          <a:prstGeom prst="rect">
            <a:avLst/>
          </a:prstGeom>
          <a:noFill/>
          <a:ln/>
        </p:spPr>
        <p:txBody>
          <a:bodyPr wrap="none" lIns="0" tIns="0" rIns="0" bIns="0" rtlCol="0" anchor="ctr"/>
          <a:lstStyle/>
          <a:p>
            <a:pPr algn="l" indent="0" marL="0">
              <a:buNone/>
            </a:pPr>
            <a:r>
              <a:rPr lang="en-US" sz="975" dirty="0">
                <a:solidFill>
                  <a:srgbClr val="047857"/>
                </a:solidFill>
                <a:latin typeface="Inter" pitchFamily="34" charset="0"/>
                <a:ea typeface="Inter" pitchFamily="34" charset="-122"/>
                <a:cs typeface="Inter" pitchFamily="34" charset="-120"/>
              </a:rPr>
              <a:t>Δ +0.09 nm</a:t>
            </a:r>
            <a:endParaRPr lang="en-US" sz="975" dirty="0"/>
          </a:p>
        </p:txBody>
      </p:sp>
      <p:sp>
        <p:nvSpPr>
          <p:cNvPr id="127" name="Text 111"/>
          <p:cNvSpPr txBox="1"/>
          <p:nvPr/>
        </p:nvSpPr>
        <p:spPr>
          <a:xfrm>
            <a:off x="11144707" y="7258507"/>
            <a:ext cx="1714500"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8.17 </a:t>
            </a:r>
            <a:pPr algn="l" indent="0" marL="0">
              <a:buNone/>
            </a:pPr>
            <a:r>
              <a:rPr lang="en-US" sz="1050" b="1" dirty="0">
                <a:solidFill>
                  <a:srgbClr val="6B7280"/>
                </a:solidFill>
                <a:latin typeface="Inter" pitchFamily="34" charset="0"/>
                <a:ea typeface="Inter" pitchFamily="34" charset="-122"/>
                <a:cs typeface="Inter" pitchFamily="34" charset="-120"/>
              </a:rPr>
              <a:t>±0.25</a:t>
            </a:r>
            <a:endParaRPr lang="en-US" sz="1500" dirty="0"/>
          </a:p>
        </p:txBody>
      </p:sp>
      <p:sp>
        <p:nvSpPr>
          <p:cNvPr id="128" name="Text 112"/>
          <p:cNvSpPr txBox="1"/>
          <p:nvPr/>
        </p:nvSpPr>
        <p:spPr>
          <a:xfrm>
            <a:off x="11144707" y="7524598"/>
            <a:ext cx="1714500" cy="152705"/>
          </a:xfrm>
          <a:prstGeom prst="rect">
            <a:avLst/>
          </a:prstGeom>
          <a:noFill/>
          <a:ln/>
        </p:spPr>
        <p:txBody>
          <a:bodyPr wrap="none" lIns="0" tIns="0" rIns="0" bIns="0" rtlCol="0" anchor="ctr"/>
          <a:lstStyle/>
          <a:p>
            <a:pPr algn="l" indent="0" marL="0">
              <a:buNone/>
            </a:pPr>
            <a:r>
              <a:rPr lang="en-US" sz="975" dirty="0">
                <a:solidFill>
                  <a:srgbClr val="D97706"/>
                </a:solidFill>
                <a:latin typeface="Inter" pitchFamily="34" charset="0"/>
                <a:ea typeface="Inter" pitchFamily="34" charset="-122"/>
                <a:cs typeface="Inter" pitchFamily="34" charset="-120"/>
              </a:rPr>
              <a:t>Δ +0.07 nm</a:t>
            </a:r>
            <a:endParaRPr lang="en-US" sz="975" dirty="0"/>
          </a:p>
        </p:txBody>
      </p:sp>
      <p:sp>
        <p:nvSpPr>
          <p:cNvPr id="129" name="Text 113"/>
          <p:cNvSpPr txBox="1"/>
          <p:nvPr/>
        </p:nvSpPr>
        <p:spPr>
          <a:xfrm>
            <a:off x="13563295" y="2171700"/>
            <a:ext cx="3620110" cy="200254"/>
          </a:xfrm>
          <a:prstGeom prst="rect">
            <a:avLst/>
          </a:prstGeom>
          <a:noFill/>
          <a:ln/>
        </p:spPr>
        <p:txBody>
          <a:bodyPr wrap="none" lIns="0" tIns="0" rIns="0" bIns="0" rtlCol="0" anchor="ctr"/>
          <a:lstStyle/>
          <a:p>
            <a:pPr algn="l" indent="0" marL="0">
              <a:buNone/>
            </a:pPr>
            <a:r>
              <a:rPr lang="en-US" sz="1125" b="1" dirty="0">
                <a:solidFill>
                  <a:srgbClr val="D1FAE5"/>
                </a:solidFill>
                <a:latin typeface="Inter" pitchFamily="34" charset="0"/>
                <a:ea typeface="Inter" pitchFamily="34" charset="-122"/>
                <a:cs typeface="Inter" pitchFamily="34" charset="-120"/>
              </a:rPr>
              <a:t>split별 평균 Δ</a:t>
            </a:r>
            <a:endParaRPr lang="en-US" sz="1200" dirty="0"/>
          </a:p>
        </p:txBody>
      </p:sp>
      <p:sp>
        <p:nvSpPr>
          <p:cNvPr id="130" name="Text 114"/>
          <p:cNvSpPr txBox="1"/>
          <p:nvPr/>
        </p:nvSpPr>
        <p:spPr>
          <a:xfrm>
            <a:off x="13563295" y="2743200"/>
            <a:ext cx="857707" cy="162763"/>
          </a:xfrm>
          <a:prstGeom prst="rect">
            <a:avLst/>
          </a:prstGeom>
          <a:noFill/>
          <a:ln/>
        </p:spPr>
        <p:txBody>
          <a:bodyPr wrap="none" lIns="0" tIns="0" rIns="0" bIns="0" rtlCol="0" anchor="ctr"/>
          <a:lstStyle/>
          <a:p>
            <a:pPr algn="l" indent="0" marL="0">
              <a:buNone/>
            </a:pPr>
            <a:r>
              <a:rPr lang="en-US" sz="1050" b="1" dirty="0">
                <a:solidFill>
                  <a:srgbClr val="6B7280"/>
                </a:solidFill>
                <a:latin typeface="Inter" pitchFamily="34" charset="0"/>
                <a:ea typeface="Inter" pitchFamily="34" charset="-122"/>
                <a:cs typeface="Inter" pitchFamily="34" charset="-120"/>
              </a:rPr>
              <a:t>AASI</a:t>
            </a:r>
            <a:endParaRPr lang="en-US" sz="1050" dirty="0"/>
          </a:p>
        </p:txBody>
      </p:sp>
      <p:sp>
        <p:nvSpPr>
          <p:cNvPr id="131" name="Shape 115"/>
          <p:cNvSpPr/>
          <p:nvPr/>
        </p:nvSpPr>
        <p:spPr>
          <a:xfrm>
            <a:off x="14496898" y="2757830"/>
            <a:ext cx="57607" cy="133502"/>
          </a:xfrm>
          <a:prstGeom prst="roundRect">
            <a:avLst>
              <a:gd name="adj" fmla="val 33333"/>
            </a:avLst>
          </a:prstGeom>
          <a:solidFill>
            <a:srgbClr val="065F46"/>
          </a:solidFill>
          <a:ln w="12700">
            <a:solidFill>
              <a:srgbClr val="FFFFFF">
                <a:alpha val="0"/>
              </a:srgbClr>
            </a:solidFill>
            <a:prstDash val="solid"/>
          </a:ln>
        </p:spPr>
      </p:sp>
      <p:sp>
        <p:nvSpPr>
          <p:cNvPr id="132" name="Text 116"/>
          <p:cNvSpPr txBox="1"/>
          <p:nvPr/>
        </p:nvSpPr>
        <p:spPr>
          <a:xfrm>
            <a:off x="14611198" y="2743200"/>
            <a:ext cx="569671" cy="162763"/>
          </a:xfrm>
          <a:prstGeom prst="rect">
            <a:avLst/>
          </a:prstGeom>
          <a:noFill/>
          <a:ln/>
        </p:spPr>
        <p:txBody>
          <a:bodyPr wrap="none" lIns="0" tIns="0" rIns="0" bIns="0" rtlCol="0" anchor="ctr"/>
          <a:lstStyle/>
          <a:p>
            <a:pPr algn="l" indent="0" marL="0">
              <a:buNone/>
            </a:pPr>
            <a:r>
              <a:rPr lang="en-US" sz="1050" b="1" dirty="0">
                <a:solidFill>
                  <a:srgbClr val="0B1F18"/>
                </a:solidFill>
                <a:latin typeface="Inter" pitchFamily="34" charset="0"/>
                <a:ea typeface="Inter" pitchFamily="34" charset="-122"/>
                <a:cs typeface="Inter" pitchFamily="34" charset="-120"/>
              </a:rPr>
              <a:t>+0.005</a:t>
            </a:r>
            <a:endParaRPr lang="en-US" sz="1050" dirty="0"/>
          </a:p>
        </p:txBody>
      </p:sp>
      <p:sp>
        <p:nvSpPr>
          <p:cNvPr id="133" name="Shape 117"/>
          <p:cNvSpPr/>
          <p:nvPr/>
        </p:nvSpPr>
        <p:spPr>
          <a:xfrm>
            <a:off x="15300655" y="2747772"/>
            <a:ext cx="75895" cy="152705"/>
          </a:xfrm>
          <a:prstGeom prst="roundRect">
            <a:avLst>
              <a:gd name="adj" fmla="val 25301"/>
            </a:avLst>
          </a:prstGeom>
          <a:solidFill>
            <a:srgbClr val="A7F3D0"/>
          </a:solidFill>
          <a:ln w="12700">
            <a:solidFill>
              <a:srgbClr val="047857"/>
            </a:solidFill>
            <a:prstDash val="solid"/>
          </a:ln>
        </p:spPr>
      </p:sp>
      <p:sp>
        <p:nvSpPr>
          <p:cNvPr id="134" name="Text 118"/>
          <p:cNvSpPr txBox="1"/>
          <p:nvPr/>
        </p:nvSpPr>
        <p:spPr>
          <a:xfrm>
            <a:off x="15434158" y="2743200"/>
            <a:ext cx="569671" cy="162763"/>
          </a:xfrm>
          <a:prstGeom prst="rect">
            <a:avLst/>
          </a:prstGeom>
          <a:noFill/>
          <a:ln/>
        </p:spPr>
        <p:txBody>
          <a:bodyPr wrap="none" lIns="0" tIns="0" rIns="0" bIns="0" rtlCol="0" anchor="ctr"/>
          <a:lstStyle/>
          <a:p>
            <a:pPr algn="l" indent="0" marL="0">
              <a:buNone/>
            </a:pPr>
            <a:r>
              <a:rPr lang="en-US" sz="1050" b="1" dirty="0">
                <a:solidFill>
                  <a:srgbClr val="0B1F18"/>
                </a:solidFill>
                <a:latin typeface="Inter" pitchFamily="34" charset="0"/>
                <a:ea typeface="Inter" pitchFamily="34" charset="-122"/>
                <a:cs typeface="Inter" pitchFamily="34" charset="-120"/>
              </a:rPr>
              <a:t>+0.240</a:t>
            </a:r>
            <a:endParaRPr lang="en-US" sz="1050" dirty="0"/>
          </a:p>
        </p:txBody>
      </p:sp>
      <p:sp>
        <p:nvSpPr>
          <p:cNvPr id="135" name="Text 119"/>
          <p:cNvSpPr txBox="1"/>
          <p:nvPr/>
        </p:nvSpPr>
        <p:spPr>
          <a:xfrm>
            <a:off x="13563295" y="3057754"/>
            <a:ext cx="857707" cy="162763"/>
          </a:xfrm>
          <a:prstGeom prst="rect">
            <a:avLst/>
          </a:prstGeom>
          <a:noFill/>
          <a:ln/>
        </p:spPr>
        <p:txBody>
          <a:bodyPr wrap="none" lIns="0" tIns="0" rIns="0" bIns="0" rtlCol="0" anchor="ctr"/>
          <a:lstStyle/>
          <a:p>
            <a:pPr algn="l" indent="0" marL="0">
              <a:buNone/>
            </a:pPr>
            <a:r>
              <a:rPr lang="en-US" sz="1050" b="1" dirty="0">
                <a:solidFill>
                  <a:srgbClr val="6B7280"/>
                </a:solidFill>
                <a:latin typeface="Inter" pitchFamily="34" charset="0"/>
                <a:ea typeface="Inter" pitchFamily="34" charset="-122"/>
                <a:cs typeface="Inter" pitchFamily="34" charset="-120"/>
              </a:rPr>
              <a:t>ASEI</a:t>
            </a:r>
            <a:endParaRPr lang="en-US" sz="1050" dirty="0"/>
          </a:p>
        </p:txBody>
      </p:sp>
      <p:sp>
        <p:nvSpPr>
          <p:cNvPr id="136" name="Shape 120"/>
          <p:cNvSpPr/>
          <p:nvPr/>
        </p:nvSpPr>
        <p:spPr>
          <a:xfrm>
            <a:off x="14496898" y="3071470"/>
            <a:ext cx="57607" cy="133502"/>
          </a:xfrm>
          <a:prstGeom prst="roundRect">
            <a:avLst>
              <a:gd name="adj" fmla="val 33333"/>
            </a:avLst>
          </a:prstGeom>
          <a:solidFill>
            <a:srgbClr val="065F46"/>
          </a:solidFill>
          <a:ln w="12700">
            <a:solidFill>
              <a:srgbClr val="FFFFFF">
                <a:alpha val="0"/>
              </a:srgbClr>
            </a:solidFill>
            <a:prstDash val="solid"/>
          </a:ln>
        </p:spPr>
      </p:sp>
      <p:sp>
        <p:nvSpPr>
          <p:cNvPr id="137" name="Text 121"/>
          <p:cNvSpPr txBox="1"/>
          <p:nvPr/>
        </p:nvSpPr>
        <p:spPr>
          <a:xfrm>
            <a:off x="14611198" y="3057754"/>
            <a:ext cx="563270" cy="162763"/>
          </a:xfrm>
          <a:prstGeom prst="rect">
            <a:avLst/>
          </a:prstGeom>
          <a:noFill/>
          <a:ln/>
        </p:spPr>
        <p:txBody>
          <a:bodyPr wrap="none" lIns="0" tIns="0" rIns="0" bIns="0" rtlCol="0" anchor="ctr"/>
          <a:lstStyle/>
          <a:p>
            <a:pPr algn="l" indent="0" marL="0">
              <a:buNone/>
            </a:pPr>
            <a:r>
              <a:rPr lang="en-US" sz="1050" b="1" dirty="0">
                <a:solidFill>
                  <a:srgbClr val="0B1F18"/>
                </a:solidFill>
                <a:latin typeface="Inter" pitchFamily="34" charset="0"/>
                <a:ea typeface="Inter" pitchFamily="34" charset="-122"/>
                <a:cs typeface="Inter" pitchFamily="34" charset="-120"/>
              </a:rPr>
              <a:t>+0.015</a:t>
            </a:r>
            <a:endParaRPr lang="en-US" sz="1050" dirty="0"/>
          </a:p>
        </p:txBody>
      </p:sp>
      <p:sp>
        <p:nvSpPr>
          <p:cNvPr id="138" name="Shape 122"/>
          <p:cNvSpPr/>
          <p:nvPr/>
        </p:nvSpPr>
        <p:spPr>
          <a:xfrm>
            <a:off x="15268651" y="3062326"/>
            <a:ext cx="75895" cy="152705"/>
          </a:xfrm>
          <a:prstGeom prst="roundRect">
            <a:avLst>
              <a:gd name="adj" fmla="val 25301"/>
            </a:avLst>
          </a:prstGeom>
          <a:solidFill>
            <a:srgbClr val="A7F3D0"/>
          </a:solidFill>
          <a:ln w="12700">
            <a:solidFill>
              <a:srgbClr val="047857"/>
            </a:solidFill>
            <a:prstDash val="solid"/>
          </a:ln>
        </p:spPr>
      </p:sp>
      <p:sp>
        <p:nvSpPr>
          <p:cNvPr id="139" name="Text 123"/>
          <p:cNvSpPr txBox="1"/>
          <p:nvPr/>
        </p:nvSpPr>
        <p:spPr>
          <a:xfrm>
            <a:off x="15402154" y="3057754"/>
            <a:ext cx="562356" cy="162763"/>
          </a:xfrm>
          <a:prstGeom prst="rect">
            <a:avLst/>
          </a:prstGeom>
          <a:noFill/>
          <a:ln/>
        </p:spPr>
        <p:txBody>
          <a:bodyPr wrap="none" lIns="0" tIns="0" rIns="0" bIns="0" rtlCol="0" anchor="ctr"/>
          <a:lstStyle/>
          <a:p>
            <a:pPr algn="l" indent="0" marL="0">
              <a:buNone/>
            </a:pPr>
            <a:r>
              <a:rPr lang="en-US" sz="1050" b="1" dirty="0">
                <a:solidFill>
                  <a:srgbClr val="0B1F18"/>
                </a:solidFill>
                <a:latin typeface="Inter" pitchFamily="34" charset="0"/>
                <a:ea typeface="Inter" pitchFamily="34" charset="-122"/>
                <a:cs typeface="Inter" pitchFamily="34" charset="-120"/>
              </a:rPr>
              <a:t>−0.153</a:t>
            </a:r>
            <a:endParaRPr lang="en-US" sz="1050" dirty="0"/>
          </a:p>
        </p:txBody>
      </p:sp>
      <p:sp>
        <p:nvSpPr>
          <p:cNvPr id="140" name="Text 124"/>
          <p:cNvSpPr txBox="1"/>
          <p:nvPr/>
        </p:nvSpPr>
        <p:spPr>
          <a:xfrm>
            <a:off x="13563295" y="3372307"/>
            <a:ext cx="857707" cy="162763"/>
          </a:xfrm>
          <a:prstGeom prst="rect">
            <a:avLst/>
          </a:prstGeom>
          <a:noFill/>
          <a:ln/>
        </p:spPr>
        <p:txBody>
          <a:bodyPr wrap="none" lIns="0" tIns="0" rIns="0" bIns="0" rtlCol="0" anchor="ctr"/>
          <a:lstStyle/>
          <a:p>
            <a:pPr algn="l" indent="0" marL="0">
              <a:buNone/>
            </a:pPr>
            <a:r>
              <a:rPr lang="en-US" sz="1050" b="1" dirty="0">
                <a:solidFill>
                  <a:srgbClr val="6B7280"/>
                </a:solidFill>
                <a:latin typeface="Inter" pitchFamily="34" charset="0"/>
                <a:ea typeface="Inter" pitchFamily="34" charset="-122"/>
                <a:cs typeface="Inter" pitchFamily="34" charset="-120"/>
              </a:rPr>
              <a:t>AMI</a:t>
            </a:r>
            <a:endParaRPr lang="en-US" sz="1050" dirty="0"/>
          </a:p>
        </p:txBody>
      </p:sp>
      <p:sp>
        <p:nvSpPr>
          <p:cNvPr id="141" name="Shape 125"/>
          <p:cNvSpPr/>
          <p:nvPr/>
        </p:nvSpPr>
        <p:spPr>
          <a:xfrm>
            <a:off x="14496898" y="3386023"/>
            <a:ext cx="57607" cy="133502"/>
          </a:xfrm>
          <a:prstGeom prst="roundRect">
            <a:avLst>
              <a:gd name="adj" fmla="val 33333"/>
            </a:avLst>
          </a:prstGeom>
          <a:solidFill>
            <a:srgbClr val="065F46"/>
          </a:solidFill>
          <a:ln w="12700">
            <a:solidFill>
              <a:srgbClr val="FFFFFF">
                <a:alpha val="0"/>
              </a:srgbClr>
            </a:solidFill>
            <a:prstDash val="solid"/>
          </a:ln>
        </p:spPr>
      </p:sp>
      <p:sp>
        <p:nvSpPr>
          <p:cNvPr id="142" name="Text 126"/>
          <p:cNvSpPr txBox="1"/>
          <p:nvPr/>
        </p:nvSpPr>
        <p:spPr>
          <a:xfrm>
            <a:off x="14611198" y="3372307"/>
            <a:ext cx="569671" cy="162763"/>
          </a:xfrm>
          <a:prstGeom prst="rect">
            <a:avLst/>
          </a:prstGeom>
          <a:noFill/>
          <a:ln/>
        </p:spPr>
        <p:txBody>
          <a:bodyPr wrap="none" lIns="0" tIns="0" rIns="0" bIns="0" rtlCol="0" anchor="ctr"/>
          <a:lstStyle/>
          <a:p>
            <a:pPr algn="l" indent="0" marL="0">
              <a:buNone/>
            </a:pPr>
            <a:r>
              <a:rPr lang="en-US" sz="1050" b="1" dirty="0">
                <a:solidFill>
                  <a:srgbClr val="0B1F18"/>
                </a:solidFill>
                <a:latin typeface="Inter" pitchFamily="34" charset="0"/>
                <a:ea typeface="Inter" pitchFamily="34" charset="-122"/>
                <a:cs typeface="Inter" pitchFamily="34" charset="-120"/>
              </a:rPr>
              <a:t>+0.003</a:t>
            </a:r>
            <a:endParaRPr lang="en-US" sz="1050" dirty="0"/>
          </a:p>
        </p:txBody>
      </p:sp>
      <p:sp>
        <p:nvSpPr>
          <p:cNvPr id="143" name="Shape 127"/>
          <p:cNvSpPr/>
          <p:nvPr/>
        </p:nvSpPr>
        <p:spPr>
          <a:xfrm>
            <a:off x="15304313" y="3376879"/>
            <a:ext cx="75895" cy="152705"/>
          </a:xfrm>
          <a:prstGeom prst="roundRect">
            <a:avLst>
              <a:gd name="adj" fmla="val 25301"/>
            </a:avLst>
          </a:prstGeom>
          <a:solidFill>
            <a:srgbClr val="A7F3D0"/>
          </a:solidFill>
          <a:ln w="12700">
            <a:solidFill>
              <a:srgbClr val="047857"/>
            </a:solidFill>
            <a:prstDash val="solid"/>
          </a:ln>
        </p:spPr>
      </p:sp>
      <p:sp>
        <p:nvSpPr>
          <p:cNvPr id="144" name="Text 128"/>
          <p:cNvSpPr txBox="1"/>
          <p:nvPr/>
        </p:nvSpPr>
        <p:spPr>
          <a:xfrm>
            <a:off x="15437815" y="3372307"/>
            <a:ext cx="563270" cy="162763"/>
          </a:xfrm>
          <a:prstGeom prst="rect">
            <a:avLst/>
          </a:prstGeom>
          <a:noFill/>
          <a:ln/>
        </p:spPr>
        <p:txBody>
          <a:bodyPr wrap="none" lIns="0" tIns="0" rIns="0" bIns="0" rtlCol="0" anchor="ctr"/>
          <a:lstStyle/>
          <a:p>
            <a:pPr algn="l" indent="0" marL="0">
              <a:buNone/>
            </a:pPr>
            <a:r>
              <a:rPr lang="en-US" sz="1050" b="1" dirty="0">
                <a:solidFill>
                  <a:srgbClr val="0B1F18"/>
                </a:solidFill>
                <a:latin typeface="Inter" pitchFamily="34" charset="0"/>
                <a:ea typeface="Inter" pitchFamily="34" charset="-122"/>
                <a:cs typeface="Inter" pitchFamily="34" charset="-120"/>
              </a:rPr>
              <a:t>+0.108</a:t>
            </a:r>
            <a:endParaRPr lang="en-US" sz="1050" dirty="0"/>
          </a:p>
        </p:txBody>
      </p:sp>
      <p:sp>
        <p:nvSpPr>
          <p:cNvPr id="145" name="Text 129"/>
          <p:cNvSpPr txBox="1"/>
          <p:nvPr/>
        </p:nvSpPr>
        <p:spPr>
          <a:xfrm>
            <a:off x="13563295" y="3685946"/>
            <a:ext cx="857707" cy="162763"/>
          </a:xfrm>
          <a:prstGeom prst="rect">
            <a:avLst/>
          </a:prstGeom>
          <a:noFill/>
          <a:ln/>
        </p:spPr>
        <p:txBody>
          <a:bodyPr wrap="none" lIns="0" tIns="0" rIns="0" bIns="0" rtlCol="0" anchor="ctr"/>
          <a:lstStyle/>
          <a:p>
            <a:pPr algn="l" indent="0" marL="0">
              <a:buNone/>
            </a:pPr>
            <a:r>
              <a:rPr lang="en-US" sz="1050" b="1" dirty="0">
                <a:solidFill>
                  <a:srgbClr val="6B7280"/>
                </a:solidFill>
                <a:latin typeface="Inter" pitchFamily="34" charset="0"/>
                <a:ea typeface="Inter" pitchFamily="34" charset="-122"/>
                <a:cs typeface="Inter" pitchFamily="34" charset="-120"/>
              </a:rPr>
              <a:t>ACI</a:t>
            </a:r>
            <a:endParaRPr lang="en-US" sz="1050" dirty="0"/>
          </a:p>
        </p:txBody>
      </p:sp>
      <p:sp>
        <p:nvSpPr>
          <p:cNvPr id="146" name="Shape 130"/>
          <p:cNvSpPr/>
          <p:nvPr/>
        </p:nvSpPr>
        <p:spPr>
          <a:xfrm>
            <a:off x="14496898" y="3700577"/>
            <a:ext cx="57607" cy="133502"/>
          </a:xfrm>
          <a:prstGeom prst="roundRect">
            <a:avLst>
              <a:gd name="adj" fmla="val 33333"/>
            </a:avLst>
          </a:prstGeom>
          <a:solidFill>
            <a:srgbClr val="065F46"/>
          </a:solidFill>
          <a:ln w="12700">
            <a:solidFill>
              <a:srgbClr val="FFFFFF">
                <a:alpha val="0"/>
              </a:srgbClr>
            </a:solidFill>
            <a:prstDash val="solid"/>
          </a:ln>
        </p:spPr>
      </p:sp>
      <p:sp>
        <p:nvSpPr>
          <p:cNvPr id="147" name="Text 131"/>
          <p:cNvSpPr txBox="1"/>
          <p:nvPr/>
        </p:nvSpPr>
        <p:spPr>
          <a:xfrm>
            <a:off x="14611198" y="3685946"/>
            <a:ext cx="569671" cy="162763"/>
          </a:xfrm>
          <a:prstGeom prst="rect">
            <a:avLst/>
          </a:prstGeom>
          <a:noFill/>
          <a:ln/>
        </p:spPr>
        <p:txBody>
          <a:bodyPr wrap="none" lIns="0" tIns="0" rIns="0" bIns="0" rtlCol="0" anchor="ctr"/>
          <a:lstStyle/>
          <a:p>
            <a:pPr algn="l" indent="0" marL="0">
              <a:buNone/>
            </a:pPr>
            <a:r>
              <a:rPr lang="en-US" sz="1050" b="1" dirty="0">
                <a:solidFill>
                  <a:srgbClr val="0B1F18"/>
                </a:solidFill>
                <a:latin typeface="Inter" pitchFamily="34" charset="0"/>
                <a:ea typeface="Inter" pitchFamily="34" charset="-122"/>
                <a:cs typeface="Inter" pitchFamily="34" charset="-120"/>
              </a:rPr>
              <a:t>−0.020</a:t>
            </a:r>
            <a:endParaRPr lang="en-US" sz="1050" dirty="0"/>
          </a:p>
        </p:txBody>
      </p:sp>
      <p:sp>
        <p:nvSpPr>
          <p:cNvPr id="148" name="Shape 132"/>
          <p:cNvSpPr/>
          <p:nvPr/>
        </p:nvSpPr>
        <p:spPr>
          <a:xfrm>
            <a:off x="15302484" y="3690518"/>
            <a:ext cx="75895" cy="152705"/>
          </a:xfrm>
          <a:prstGeom prst="roundRect">
            <a:avLst>
              <a:gd name="adj" fmla="val 25301"/>
            </a:avLst>
          </a:prstGeom>
          <a:solidFill>
            <a:srgbClr val="A7F3D0"/>
          </a:solidFill>
          <a:ln w="12700">
            <a:solidFill>
              <a:srgbClr val="047857"/>
            </a:solidFill>
            <a:prstDash val="solid"/>
          </a:ln>
        </p:spPr>
      </p:sp>
      <p:sp>
        <p:nvSpPr>
          <p:cNvPr id="149" name="Text 133"/>
          <p:cNvSpPr txBox="1"/>
          <p:nvPr/>
        </p:nvSpPr>
        <p:spPr>
          <a:xfrm>
            <a:off x="15435072" y="3685946"/>
            <a:ext cx="567842" cy="162763"/>
          </a:xfrm>
          <a:prstGeom prst="rect">
            <a:avLst/>
          </a:prstGeom>
          <a:noFill/>
          <a:ln/>
        </p:spPr>
        <p:txBody>
          <a:bodyPr wrap="none" lIns="0" tIns="0" rIns="0" bIns="0" rtlCol="0" anchor="ctr"/>
          <a:lstStyle/>
          <a:p>
            <a:pPr algn="l" indent="0" marL="0">
              <a:buNone/>
            </a:pPr>
            <a:r>
              <a:rPr lang="en-US" sz="1050" b="1" dirty="0">
                <a:solidFill>
                  <a:srgbClr val="0B1F18"/>
                </a:solidFill>
                <a:latin typeface="Inter" pitchFamily="34" charset="0"/>
                <a:ea typeface="Inter" pitchFamily="34" charset="-122"/>
                <a:cs typeface="Inter" pitchFamily="34" charset="-120"/>
              </a:rPr>
              <a:t>+0.078</a:t>
            </a:r>
            <a:endParaRPr lang="en-US" sz="1050" dirty="0"/>
          </a:p>
        </p:txBody>
      </p:sp>
      <p:sp>
        <p:nvSpPr>
          <p:cNvPr id="150" name="Shape 134"/>
          <p:cNvSpPr/>
          <p:nvPr/>
        </p:nvSpPr>
        <p:spPr>
          <a:xfrm>
            <a:off x="13334695" y="4000500"/>
            <a:ext cx="4095598" cy="9144"/>
          </a:xfrm>
          <a:prstGeom prst="rect">
            <a:avLst/>
          </a:prstGeom>
          <a:solidFill>
            <a:srgbClr val="ECFDF5"/>
          </a:solidFill>
          <a:ln w="12700">
            <a:solidFill>
              <a:srgbClr val="ECFDF5">
                <a:alpha val="0"/>
              </a:srgbClr>
            </a:solidFill>
            <a:prstDash val="solid"/>
          </a:ln>
        </p:spPr>
      </p:sp>
      <p:sp>
        <p:nvSpPr>
          <p:cNvPr id="151" name="Text 135"/>
          <p:cNvSpPr txBox="1"/>
          <p:nvPr/>
        </p:nvSpPr>
        <p:spPr>
          <a:xfrm>
            <a:off x="13563295" y="4086454"/>
            <a:ext cx="3639312" cy="181051"/>
          </a:xfrm>
          <a:prstGeom prst="rect">
            <a:avLst/>
          </a:prstGeom>
          <a:noFill/>
          <a:ln/>
        </p:spPr>
        <p:txBody>
          <a:bodyPr wrap="none" lIns="0" tIns="0" rIns="0" bIns="0" rtlCol="0" anchor="ctr"/>
          <a:lstStyle/>
          <a:p>
            <a:pPr algn="l" indent="0" marL="0">
              <a:buNone/>
            </a:pPr>
            <a:r>
              <a:rPr lang="en-US" sz="975" dirty="0">
                <a:solidFill>
                  <a:srgbClr val="4B5563"/>
                </a:solidFill>
                <a:latin typeface="Inter" pitchFamily="34" charset="0"/>
                <a:ea typeface="Inter" pitchFamily="34" charset="-122"/>
                <a:cs typeface="Inter" pitchFamily="34" charset="-120"/>
              </a:rPr>
              <a:t>Split A (TiN) 평균</a:t>
            </a:r>
            <a:endParaRPr lang="en-US" sz="975" dirty="0"/>
          </a:p>
        </p:txBody>
      </p:sp>
      <p:sp>
        <p:nvSpPr>
          <p:cNvPr id="152" name="Text 136"/>
          <p:cNvSpPr txBox="1"/>
          <p:nvPr/>
        </p:nvSpPr>
        <p:spPr>
          <a:xfrm>
            <a:off x="13563295" y="4324198"/>
            <a:ext cx="3639312" cy="181051"/>
          </a:xfrm>
          <a:prstGeom prst="rect">
            <a:avLst/>
          </a:prstGeom>
          <a:noFill/>
          <a:ln/>
        </p:spPr>
        <p:txBody>
          <a:bodyPr wrap="none" lIns="0" tIns="0" rIns="0" bIns="0" rtlCol="0" anchor="ctr"/>
          <a:lstStyle/>
          <a:p>
            <a:pPr algn="l" indent="0" marL="0">
              <a:buNone/>
            </a:pPr>
            <a:r>
              <a:rPr lang="en-US" sz="975" dirty="0">
                <a:solidFill>
                  <a:srgbClr val="4B5563"/>
                </a:solidFill>
                <a:latin typeface="Inter" pitchFamily="34" charset="0"/>
                <a:ea typeface="Inter" pitchFamily="34" charset="-122"/>
                <a:cs typeface="Inter" pitchFamily="34" charset="-120"/>
              </a:rPr>
              <a:t>Split B (MF SiN) 평균</a:t>
            </a:r>
            <a:endParaRPr lang="en-US" sz="975" dirty="0"/>
          </a:p>
        </p:txBody>
      </p:sp>
      <p:sp>
        <p:nvSpPr>
          <p:cNvPr id="153" name="Text 137"/>
          <p:cNvSpPr txBox="1"/>
          <p:nvPr/>
        </p:nvSpPr>
        <p:spPr>
          <a:xfrm>
            <a:off x="13563295" y="6038698"/>
            <a:ext cx="3620110" cy="181051"/>
          </a:xfrm>
          <a:prstGeom prst="rect">
            <a:avLst/>
          </a:prstGeom>
          <a:noFill/>
          <a:ln/>
        </p:spPr>
        <p:txBody>
          <a:bodyPr wrap="none" lIns="0" tIns="0" rIns="0" bIns="0" rtlCol="0" anchor="ctr"/>
          <a:lstStyle/>
          <a:p>
            <a:pPr algn="l" indent="0" marL="0">
              <a:buNone/>
            </a:pPr>
            <a:r>
              <a:rPr lang="en-US" sz="975" b="1" spc="156" kern="0" dirty="0">
                <a:solidFill>
                  <a:srgbClr val="6EE7B7"/>
                </a:solidFill>
                <a:latin typeface="Inter" pitchFamily="34" charset="0"/>
                <a:ea typeface="Inter" pitchFamily="34" charset="-122"/>
                <a:cs typeface="Inter" pitchFamily="34" charset="-120"/>
              </a:rPr>
              <a:t>Tolerance 임계값</a:t>
            </a:r>
            <a:endParaRPr lang="en-US" sz="975" dirty="0"/>
          </a:p>
        </p:txBody>
      </p:sp>
      <p:sp>
        <p:nvSpPr>
          <p:cNvPr id="154" name="Text 138"/>
          <p:cNvSpPr txBox="1"/>
          <p:nvPr/>
        </p:nvSpPr>
        <p:spPr>
          <a:xfrm>
            <a:off x="13563295" y="6391656"/>
            <a:ext cx="3620110" cy="295351"/>
          </a:xfrm>
          <a:prstGeom prst="rect">
            <a:avLst/>
          </a:prstGeom>
          <a:noFill/>
          <a:ln/>
        </p:spPr>
        <p:txBody>
          <a:bodyPr wrap="none" lIns="0" tIns="0" rIns="0" bIns="0" rtlCol="0" anchor="ctr"/>
          <a:lstStyle/>
          <a:p>
            <a:pPr algn="l" indent="0" marL="0">
              <a:buNone/>
            </a:pPr>
            <a:r>
              <a:rPr lang="en-US" sz="1350" dirty="0">
                <a:solidFill>
                  <a:srgbClr val="ECFDF5"/>
                </a:solidFill>
                <a:latin typeface="Inter" pitchFamily="34" charset="0"/>
                <a:ea typeface="Inter" pitchFamily="34" charset="-122"/>
                <a:cs typeface="Inter" pitchFamily="34" charset="-120"/>
              </a:rPr>
              <a:t>· AASI / AMI ±0.20 nm 이내 → safe</a:t>
            </a:r>
            <a:endParaRPr lang="en-US" sz="1350" dirty="0"/>
          </a:p>
        </p:txBody>
      </p:sp>
      <p:sp>
        <p:nvSpPr>
          <p:cNvPr id="155" name="Text 139"/>
          <p:cNvSpPr txBox="1"/>
          <p:nvPr/>
        </p:nvSpPr>
        <p:spPr>
          <a:xfrm>
            <a:off x="13563295" y="6682435"/>
            <a:ext cx="3620110" cy="295351"/>
          </a:xfrm>
          <a:prstGeom prst="rect">
            <a:avLst/>
          </a:prstGeom>
          <a:noFill/>
          <a:ln/>
        </p:spPr>
        <p:txBody>
          <a:bodyPr wrap="none" lIns="0" tIns="0" rIns="0" bIns="0" rtlCol="0" anchor="ctr"/>
          <a:lstStyle/>
          <a:p>
            <a:pPr algn="l" indent="0" marL="0">
              <a:buNone/>
            </a:pPr>
            <a:r>
              <a:rPr lang="en-US" sz="1350" dirty="0">
                <a:solidFill>
                  <a:srgbClr val="ECFDF5"/>
                </a:solidFill>
                <a:latin typeface="Inter" pitchFamily="34" charset="0"/>
                <a:ea typeface="Inter" pitchFamily="34" charset="-122"/>
                <a:cs typeface="Inter" pitchFamily="34" charset="-120"/>
              </a:rPr>
              <a:t>· ASEI / ACI ±0.15 nm 이내 → safe</a:t>
            </a:r>
            <a:endParaRPr lang="en-US" sz="1350" dirty="0"/>
          </a:p>
        </p:txBody>
      </p:sp>
      <p:sp>
        <p:nvSpPr>
          <p:cNvPr id="156" name="Text 140"/>
          <p:cNvSpPr txBox="1"/>
          <p:nvPr/>
        </p:nvSpPr>
        <p:spPr>
          <a:xfrm>
            <a:off x="13563295" y="6974129"/>
            <a:ext cx="3620110" cy="295351"/>
          </a:xfrm>
          <a:prstGeom prst="rect">
            <a:avLst/>
          </a:prstGeom>
          <a:noFill/>
          <a:ln/>
        </p:spPr>
        <p:txBody>
          <a:bodyPr wrap="none" lIns="0" tIns="0" rIns="0" bIns="0" rtlCol="0" anchor="ctr"/>
          <a:lstStyle/>
          <a:p>
            <a:pPr algn="l" indent="0" marL="0">
              <a:buNone/>
            </a:pPr>
            <a:r>
              <a:rPr lang="en-US" sz="1350" dirty="0">
                <a:solidFill>
                  <a:srgbClr val="ECFDF5"/>
                </a:solidFill>
                <a:latin typeface="Inter" pitchFamily="34" charset="0"/>
                <a:ea typeface="Inter" pitchFamily="34" charset="-122"/>
                <a:cs typeface="Inter" pitchFamily="34" charset="-120"/>
              </a:rPr>
              <a:t>· W05/W07 일부 metric 음수 Δ caution</a:t>
            </a:r>
            <a:endParaRPr lang="en-US" sz="1350" dirty="0"/>
          </a:p>
        </p:txBody>
      </p:sp>
      <p:sp>
        <p:nvSpPr>
          <p:cNvPr id="157" name="Text 141"/>
          <p:cNvSpPr txBox="1"/>
          <p:nvPr/>
        </p:nvSpPr>
        <p:spPr>
          <a:xfrm>
            <a:off x="13563295" y="7436815"/>
            <a:ext cx="3620110" cy="324612"/>
          </a:xfrm>
          <a:prstGeom prst="rect">
            <a:avLst/>
          </a:prstGeom>
          <a:noFill/>
          <a:ln/>
        </p:spPr>
        <p:txBody>
          <a:bodyPr wrap="square" lIns="0" tIns="0" rIns="0" bIns="0" rtlCol="0" anchor="ctr"/>
          <a:lstStyle/>
          <a:p>
            <a:pPr algn="l" indent="0" marL="0">
              <a:buNone/>
            </a:pPr>
            <a:r>
              <a:rPr lang="en-US" sz="900" dirty="0">
                <a:solidFill>
                  <a:srgbClr val="9CA3AF"/>
                </a:solidFill>
                <a:latin typeface="Inter" pitchFamily="34" charset="0"/>
                <a:ea typeface="Inter" pitchFamily="34" charset="-122"/>
                <a:cs typeface="Inter" pitchFamily="34" charset="-120"/>
              </a:rPr>
              <a:t>더미 값: 25 sites 평균, 음수 Δ 표시는 양/음 임의 색상. 기준선은 교차평가 4 split 평균값.</a:t>
            </a:r>
            <a:endParaRPr lang="en-US" sz="900" dirty="0"/>
          </a:p>
        </p:txBody>
      </p:sp>
      <p:sp>
        <p:nvSpPr>
          <p:cNvPr id="158" name="Text 142"/>
          <p:cNvSpPr txBox="1"/>
          <p:nvPr/>
        </p:nvSpPr>
        <p:spPr>
          <a:xfrm>
            <a:off x="1143000" y="8382305"/>
            <a:ext cx="16193110" cy="124358"/>
          </a:xfrm>
          <a:prstGeom prst="rect">
            <a:avLst/>
          </a:prstGeom>
          <a:noFill/>
          <a:ln/>
        </p:spPr>
        <p:txBody>
          <a:bodyPr wrap="none" lIns="0" tIns="0" rIns="0" bIns="0" rtlCol="0" anchor="ctr"/>
          <a:lstStyle/>
          <a:p>
            <a:pPr algn="l" indent="0" marL="0">
              <a:buNone/>
            </a:pPr>
            <a:r>
              <a:rPr lang="en-US" sz="975" b="1" spc="176" kern="0" dirty="0">
                <a:solidFill>
                  <a:srgbClr val="047857"/>
                </a:solidFill>
                <a:latin typeface="Inter" pitchFamily="34" charset="0"/>
                <a:ea typeface="Inter" pitchFamily="34" charset="-122"/>
                <a:cs typeface="Inter" pitchFamily="34" charset="-120"/>
              </a:rPr>
              <a:t>KEY TAKEAWAY</a:t>
            </a:r>
            <a:endParaRPr lang="en-US" sz="975" dirty="0"/>
          </a:p>
        </p:txBody>
      </p:sp>
      <p:sp>
        <p:nvSpPr>
          <p:cNvPr id="159" name="Text 143"/>
          <p:cNvSpPr txBox="1"/>
          <p:nvPr/>
        </p:nvSpPr>
        <p:spPr>
          <a:xfrm>
            <a:off x="1143000" y="8563356"/>
            <a:ext cx="16193110" cy="619963"/>
          </a:xfrm>
          <a:prstGeom prst="rect">
            <a:avLst/>
          </a:prstGeom>
          <a:noFill/>
          <a:ln/>
        </p:spPr>
        <p:txBody>
          <a:bodyPr wrap="square" lIns="0" tIns="0" rIns="0" bIns="0" rtlCol="0" anchor="ctr"/>
          <a:lstStyle/>
          <a:p>
            <a:pPr algn="l" indent="0" marL="0">
              <a:lnSpc>
                <a:spcPct val="135000"/>
              </a:lnSpc>
              <a:buNone/>
            </a:pPr>
            <a:r>
              <a:rPr lang="en-US" sz="1800" b="1" dirty="0">
                <a:solidFill>
                  <a:srgbClr val="0B1F18"/>
                </a:solidFill>
                <a:latin typeface="Inter" pitchFamily="34" charset="0"/>
                <a:ea typeface="Inter" pitchFamily="34" charset="-122"/>
                <a:cs typeface="Inter" pitchFamily="34" charset="-120"/>
              </a:rPr>
              <a:t>TiN 분할은 4 metric 모두 tolerance 내, MF SiN 분할은 W05/W07에서 AASI/AMI caution 영역 — dummy 데이터상 두 분할의 평균 Δ 차이는 metric마다 부호가 다름.</a:t>
            </a:r>
            <a:endParaRPr lang="en-US" sz="1800" dirty="0"/>
          </a:p>
        </p:txBody>
      </p:sp>
      <p:sp>
        <p:nvSpPr>
          <p:cNvPr id="160" name="Text 144"/>
          <p:cNvSpPr txBox="1"/>
          <p:nvPr/>
        </p:nvSpPr>
        <p:spPr>
          <a:xfrm>
            <a:off x="857707" y="9924898"/>
            <a:ext cx="16573500" cy="247802"/>
          </a:xfrm>
          <a:prstGeom prst="rect">
            <a:avLst/>
          </a:prstGeom>
          <a:noFill/>
          <a:ln/>
        </p:spPr>
        <p:txBody>
          <a:bodyPr wrap="square" lIns="0" tIns="0" rIns="0" bIns="0" rtlCol="0" anchor="ctr"/>
          <a:lstStyle/>
          <a:p>
            <a:pPr algn="l" indent="0" marL="0">
              <a:buNone/>
            </a:pPr>
            <a:r>
              <a:rPr lang="en-US" sz="1350" dirty="0">
                <a:solidFill>
                  <a:srgbClr val="6B7280"/>
                </a:solidFill>
                <a:latin typeface="Inter" pitchFamily="34" charset="0"/>
                <a:ea typeface="Inter" pitchFamily="34" charset="-122"/>
                <a:cs typeface="Inter" pitchFamily="34" charset="-120"/>
              </a:rPr>
              <a:t>※ 내부 테스트용 더미(가상) 데이터</a:t>
            </a:r>
            <a:pPr algn="l" indent="0" marL="0">
              <a:buNone/>
            </a:pPr>
            <a:r>
              <a:rPr lang="en-US" sz="1350" dirty="0">
                <a:solidFill>
                  <a:srgbClr val="6B7280"/>
                </a:solidFill>
                <a:latin typeface="Inter" pitchFamily="34" charset="0"/>
                <a:ea typeface="Inter" pitchFamily="34" charset="-122"/>
                <a:cs typeface="Inter" pitchFamily="34" charset="-120"/>
              </a:rPr>
              <a:t>05 / 09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gen-dedup-f061e14e8e8dcb4aad73ac20bf0c8aba.png">    </p:cNvPr>
          <p:cNvPicPr>
            <a:picLocks noChangeAspect="1"/>
          </p:cNvPicPr>
          <p:nvPr/>
        </p:nvPicPr>
        <p:blipFill>
          <a:blip r:embed="rId1"/>
          <a:srcRect l="0" r="0" t="0" b="0"/>
          <a:stretch/>
        </p:blipFill>
        <p:spPr>
          <a:xfrm>
            <a:off x="15240305" y="7429500"/>
            <a:ext cx="4572000" cy="4572000"/>
          </a:xfrm>
          <a:prstGeom prst="rect">
            <a:avLst/>
          </a:prstGeom>
        </p:spPr>
      </p:pic>
      <p:sp>
        <p:nvSpPr>
          <p:cNvPr id="4" name="Shape 0"/>
          <p:cNvSpPr/>
          <p:nvPr/>
        </p:nvSpPr>
        <p:spPr>
          <a:xfrm>
            <a:off x="0" y="0"/>
            <a:ext cx="18288000" cy="10287000"/>
          </a:xfrm>
          <a:prstGeom prst="rect">
            <a:avLst/>
          </a:prstGeom>
          <a:solidFill>
            <a:srgbClr val="F4F8F4"/>
          </a:solidFill>
          <a:ln w="12700">
            <a:solidFill>
              <a:srgbClr val="FFFFFF">
                <a:alpha val="0"/>
              </a:srgbClr>
            </a:solidFill>
            <a:prstDash val="solid"/>
          </a:ln>
        </p:spPr>
      </p:sp>
      <p:pic>
        <p:nvPicPr>
          <p:cNvPr id="5" name="Image 1" descr="gen-dedup-b2f9bf232160b5ca00026f1d5dc231ed.png">    </p:cNvPr>
          <p:cNvPicPr>
            <a:picLocks noChangeAspect="1"/>
          </p:cNvPicPr>
          <p:nvPr/>
        </p:nvPicPr>
        <p:blipFill>
          <a:blip r:embed="rId2"/>
          <a:srcRect l="-1" r="-1" t="0" b="0"/>
          <a:stretch/>
        </p:blipFill>
        <p:spPr>
          <a:xfrm>
            <a:off x="857707" y="2018995"/>
            <a:ext cx="5143500" cy="5810098"/>
          </a:xfrm>
          <a:prstGeom prst="rect">
            <a:avLst/>
          </a:prstGeom>
        </p:spPr>
      </p:pic>
      <p:pic>
        <p:nvPicPr>
          <p:cNvPr id="6" name="Image 2" descr="gen-dedup-b2f9bf232160b5ca00026f1d5dc231ed.png">    </p:cNvPr>
          <p:cNvPicPr>
            <a:picLocks noChangeAspect="1"/>
          </p:cNvPicPr>
          <p:nvPr/>
        </p:nvPicPr>
        <p:blipFill>
          <a:blip r:embed="rId3"/>
          <a:srcRect l="-1" r="-1" t="0" b="0"/>
          <a:stretch/>
        </p:blipFill>
        <p:spPr>
          <a:xfrm>
            <a:off x="6191402" y="2018995"/>
            <a:ext cx="5143500" cy="5810098"/>
          </a:xfrm>
          <a:prstGeom prst="rect">
            <a:avLst/>
          </a:prstGeom>
        </p:spPr>
      </p:pic>
      <p:pic>
        <p:nvPicPr>
          <p:cNvPr id="7" name="Image 3" descr="gen-dedup-bea105eba1b0d75ba7db40a4d4808968.png">    </p:cNvPr>
          <p:cNvPicPr>
            <a:picLocks noChangeAspect="1"/>
          </p:cNvPicPr>
          <p:nvPr/>
        </p:nvPicPr>
        <p:blipFill>
          <a:blip r:embed="rId4"/>
          <a:srcRect l="0" r="0" t="-1" b="-1"/>
          <a:stretch/>
        </p:blipFill>
        <p:spPr>
          <a:xfrm>
            <a:off x="11525098" y="2018995"/>
            <a:ext cx="5905195" cy="5810098"/>
          </a:xfrm>
          <a:prstGeom prst="rect">
            <a:avLst/>
          </a:prstGeom>
        </p:spPr>
      </p:pic>
      <p:pic>
        <p:nvPicPr>
          <p:cNvPr id="8" name="Image 4" descr="gen-dedup-2fbcf05202020e5c2fee389890c4e9a4.png">    </p:cNvPr>
          <p:cNvPicPr>
            <a:picLocks noChangeAspect="1"/>
          </p:cNvPicPr>
          <p:nvPr/>
        </p:nvPicPr>
        <p:blipFill>
          <a:blip r:embed="rId5"/>
          <a:srcRect l="0" r="0" t="-31" b="-31"/>
          <a:stretch/>
        </p:blipFill>
        <p:spPr>
          <a:xfrm>
            <a:off x="857707" y="8134502"/>
            <a:ext cx="16621049" cy="743407"/>
          </a:xfrm>
          <a:prstGeom prst="rect">
            <a:avLst/>
          </a:prstGeom>
        </p:spPr>
      </p:pic>
      <p:pic>
        <p:nvPicPr>
          <p:cNvPr id="9" name="Image 5" descr="gen-dedup-67033017f4928fee97bd1a19436c5768.png">    </p:cNvPr>
          <p:cNvPicPr>
            <a:picLocks noChangeAspect="1"/>
          </p:cNvPicPr>
          <p:nvPr/>
        </p:nvPicPr>
        <p:blipFill>
          <a:blip r:embed="rId6"/>
          <a:srcRect l="0" r="0" t="0" b="0"/>
          <a:stretch/>
        </p:blipFill>
        <p:spPr>
          <a:xfrm>
            <a:off x="857707" y="2018995"/>
            <a:ext cx="5143500" cy="571500"/>
          </a:xfrm>
          <a:prstGeom prst="rect">
            <a:avLst/>
          </a:prstGeom>
        </p:spPr>
      </p:pic>
      <p:pic>
        <p:nvPicPr>
          <p:cNvPr id="10" name="Image 6" descr="gen-dedup-90b8581eae661a18ae010a2a677801c4.png">    </p:cNvPr>
          <p:cNvPicPr>
            <a:picLocks noChangeAspect="1"/>
          </p:cNvPicPr>
          <p:nvPr/>
        </p:nvPicPr>
        <p:blipFill>
          <a:blip r:embed="rId7"/>
          <a:srcRect l="-33" r="-33" t="0" b="0"/>
          <a:stretch/>
        </p:blipFill>
        <p:spPr>
          <a:xfrm>
            <a:off x="6191402" y="2018995"/>
            <a:ext cx="5143500" cy="580644"/>
          </a:xfrm>
          <a:prstGeom prst="rect">
            <a:avLst/>
          </a:prstGeom>
        </p:spPr>
      </p:pic>
      <p:pic>
        <p:nvPicPr>
          <p:cNvPr id="11" name="Image 7" descr="gen-dedup-97d9aca356675b188de6714633a6bf9f.png">    </p:cNvPr>
          <p:cNvPicPr>
            <a:picLocks noChangeAspect="1"/>
          </p:cNvPicPr>
          <p:nvPr/>
        </p:nvPicPr>
        <p:blipFill>
          <a:blip r:embed="rId8"/>
          <a:srcRect l="0" r="0" t="-3" b="-3"/>
          <a:stretch/>
        </p:blipFill>
        <p:spPr>
          <a:xfrm>
            <a:off x="11525098" y="2018995"/>
            <a:ext cx="5905195" cy="571500"/>
          </a:xfrm>
          <a:prstGeom prst="rect">
            <a:avLst/>
          </a:prstGeom>
        </p:spPr>
      </p:pic>
      <p:sp>
        <p:nvSpPr>
          <p:cNvPr id="12" name="Shape 1"/>
          <p:cNvSpPr/>
          <p:nvPr/>
        </p:nvSpPr>
        <p:spPr>
          <a:xfrm>
            <a:off x="857707" y="623621"/>
            <a:ext cx="95098" cy="95098"/>
          </a:xfrm>
          <a:prstGeom prst="ellipse">
            <a:avLst/>
          </a:prstGeom>
          <a:solidFill>
            <a:srgbClr val="047857"/>
          </a:solidFill>
          <a:ln w="12700">
            <a:solidFill>
              <a:srgbClr val="FFFFFF">
                <a:alpha val="0"/>
              </a:srgbClr>
            </a:solidFill>
            <a:prstDash val="solid"/>
          </a:ln>
        </p:spPr>
      </p:sp>
      <p:sp>
        <p:nvSpPr>
          <p:cNvPr id="13" name="Text 2"/>
          <p:cNvSpPr txBox="1"/>
          <p:nvPr/>
        </p:nvSpPr>
        <p:spPr>
          <a:xfrm>
            <a:off x="1086307" y="571500"/>
            <a:ext cx="4473245" cy="200254"/>
          </a:xfrm>
          <a:prstGeom prst="rect">
            <a:avLst/>
          </a:prstGeom>
          <a:noFill/>
          <a:ln/>
        </p:spPr>
        <p:txBody>
          <a:bodyPr wrap="none" lIns="0" tIns="0" rIns="0" bIns="0" rtlCol="0" anchor="ctr"/>
          <a:lstStyle/>
          <a:p>
            <a:pPr algn="l" indent="0" marL="0">
              <a:buNone/>
            </a:pPr>
            <a:r>
              <a:rPr lang="en-US" sz="1350" b="1" spc="243" kern="0" dirty="0">
                <a:solidFill>
                  <a:srgbClr val="047857"/>
                </a:solidFill>
                <a:latin typeface="Inter" pitchFamily="34" charset="0"/>
                <a:ea typeface="Inter" pitchFamily="34" charset="-122"/>
                <a:cs typeface="Inter" pitchFamily="34" charset="-120"/>
              </a:rPr>
              <a:t>06 / 09 · Wafer map · Uniformity</a:t>
            </a:r>
            <a:endParaRPr lang="en-US" sz="1350" dirty="0"/>
          </a:p>
        </p:txBody>
      </p:sp>
      <p:sp>
        <p:nvSpPr>
          <p:cNvPr id="14" name="Text 3"/>
          <p:cNvSpPr txBox="1"/>
          <p:nvPr/>
        </p:nvSpPr>
        <p:spPr>
          <a:xfrm>
            <a:off x="857707" y="895198"/>
            <a:ext cx="14287500" cy="486461"/>
          </a:xfrm>
          <a:prstGeom prst="rect">
            <a:avLst/>
          </a:prstGeom>
          <a:noFill/>
          <a:ln/>
        </p:spPr>
        <p:txBody>
          <a:bodyPr wrap="none" lIns="0" tIns="0" rIns="0" bIns="0" rtlCol="0" anchor="ctr"/>
          <a:lstStyle/>
          <a:p>
            <a:pPr algn="l" indent="0" marL="0">
              <a:buNone/>
            </a:pPr>
            <a:r>
              <a:rPr lang="en-US" sz="3450" b="1" spc="-69" kern="0" dirty="0">
                <a:solidFill>
                  <a:srgbClr val="0B1F18"/>
                </a:solidFill>
                <a:latin typeface="Inter" pitchFamily="34" charset="0"/>
                <a:ea typeface="Inter" pitchFamily="34" charset="-122"/>
                <a:cs typeface="Inter" pitchFamily="34" charset="-120"/>
              </a:rPr>
              <a:t>69-point wafer map — 대표 wafer in-wafer Δ 시각화</a:t>
            </a:r>
            <a:endParaRPr lang="en-US" sz="3450" dirty="0"/>
          </a:p>
        </p:txBody>
      </p:sp>
      <p:sp>
        <p:nvSpPr>
          <p:cNvPr id="15" name="Text 4"/>
          <p:cNvSpPr txBox="1"/>
          <p:nvPr/>
        </p:nvSpPr>
        <p:spPr>
          <a:xfrm>
            <a:off x="857707" y="1524305"/>
            <a:ext cx="14287500" cy="257861"/>
          </a:xfrm>
          <a:prstGeom prst="rect">
            <a:avLst/>
          </a:prstGeom>
          <a:noFill/>
          <a:ln/>
        </p:spPr>
        <p:txBody>
          <a:bodyPr wrap="none" lIns="0" tIns="0" rIns="0" bIns="0" rtlCol="0" anchor="ctr"/>
          <a:lstStyle/>
          <a:p>
            <a:pPr algn="l" indent="0" marL="0">
              <a:buNone/>
            </a:pPr>
            <a:r>
              <a:rPr lang="en-US" sz="1350" dirty="0">
                <a:solidFill>
                  <a:srgbClr val="4B5563"/>
                </a:solidFill>
                <a:latin typeface="Inter" pitchFamily="34" charset="0"/>
                <a:ea typeface="Inter" pitchFamily="34" charset="-122"/>
                <a:cs typeface="Inter" pitchFamily="34" charset="-120"/>
              </a:rPr>
              <a:t>좌측 두 wafer는 각 split 대표 sample. 각 점 = 1 site 측정. 색은 target 25.2 nm 대비 |Δ|.</a:t>
            </a:r>
            <a:endParaRPr lang="en-US" sz="1350" dirty="0"/>
          </a:p>
        </p:txBody>
      </p:sp>
      <p:sp>
        <p:nvSpPr>
          <p:cNvPr id="16" name="Text 5"/>
          <p:cNvSpPr txBox="1"/>
          <p:nvPr/>
        </p:nvSpPr>
        <p:spPr>
          <a:xfrm>
            <a:off x="1143000" y="2171700"/>
            <a:ext cx="4572000" cy="228600"/>
          </a:xfrm>
          <a:prstGeom prst="rect">
            <a:avLst/>
          </a:prstGeom>
          <a:noFill/>
          <a:ln/>
        </p:spPr>
        <p:txBody>
          <a:bodyPr wrap="none" lIns="0" tIns="0" rIns="0" bIns="0" rtlCol="0" anchor="ctr"/>
          <a:lstStyle/>
          <a:p>
            <a:pPr algn="l" indent="0" marL="0">
              <a:buNone/>
            </a:pPr>
            <a:r>
              <a:rPr lang="en-US" sz="1050" b="1" dirty="0">
                <a:solidFill>
                  <a:srgbClr val="A7F3D0"/>
                </a:solidFill>
                <a:latin typeface="Inter" pitchFamily="34" charset="0"/>
                <a:ea typeface="Inter" pitchFamily="34" charset="-122"/>
                <a:cs typeface="Inter" pitchFamily="34" charset="-120"/>
              </a:rPr>
              <a:t>69 pt · W02 representative</a:t>
            </a:r>
            <a:pPr algn="l" indent="0" marL="0">
              <a:buNone/>
            </a:pPr>
            <a:r>
              <a:rPr lang="en-US" sz="1500" b="1" dirty="0">
                <a:solidFill>
                  <a:srgbClr val="FFFFFF"/>
                </a:solidFill>
                <a:latin typeface="Inter" pitchFamily="34" charset="0"/>
                <a:ea typeface="Inter" pitchFamily="34" charset="-122"/>
                <a:cs typeface="Inter" pitchFamily="34" charset="-120"/>
              </a:rPr>
              <a:t>Split A · HM TiN</a:t>
            </a:r>
            <a:endParaRPr lang="en-US" sz="1200" dirty="0"/>
          </a:p>
        </p:txBody>
      </p:sp>
      <p:pic>
        <p:nvPicPr>
          <p:cNvPr id="17" name="Image 8" descr="gen-dedup-64ffcdc5ac7ef319cc1f44f7cbbbee9e.png">    </p:cNvPr>
          <p:cNvPicPr>
            <a:picLocks noChangeAspect="1"/>
          </p:cNvPicPr>
          <p:nvPr/>
        </p:nvPicPr>
        <p:blipFill>
          <a:blip r:embed="rId9"/>
          <a:srcRect l="0" r="0" t="0" b="0"/>
          <a:stretch/>
        </p:blipFill>
        <p:spPr>
          <a:xfrm>
            <a:off x="1143000" y="2857500"/>
            <a:ext cx="4572000" cy="4572000"/>
          </a:xfrm>
          <a:prstGeom prst="rect">
            <a:avLst/>
          </a:prstGeom>
        </p:spPr>
      </p:pic>
      <p:sp>
        <p:nvSpPr>
          <p:cNvPr id="18" name="Text 6"/>
          <p:cNvSpPr txBox="1"/>
          <p:nvPr/>
        </p:nvSpPr>
        <p:spPr>
          <a:xfrm>
            <a:off x="1143000" y="7487107"/>
            <a:ext cx="5257800" cy="191110"/>
          </a:xfrm>
          <a:prstGeom prst="rect">
            <a:avLst/>
          </a:prstGeom>
          <a:noFill/>
          <a:ln/>
        </p:spPr>
        <p:txBody>
          <a:bodyPr wrap="none" lIns="0" tIns="0" rIns="0" bIns="0" rtlCol="0" anchor="ctr"/>
          <a:lstStyle/>
          <a:p>
            <a:pPr algn="l" indent="0" marL="0">
              <a:buNone/>
            </a:pPr>
            <a:r>
              <a:rPr lang="en-US" sz="1050" dirty="0">
                <a:solidFill>
                  <a:srgbClr val="6B7280"/>
                </a:solidFill>
                <a:latin typeface="Inter" pitchFamily="34" charset="0"/>
                <a:ea typeface="Inter" pitchFamily="34" charset="-122"/>
                <a:cs typeface="Inter" pitchFamily="34" charset="-120"/>
              </a:rPr>
              <a:t>|Δ| 대부분 &lt;0.10 nm · 25.2 nm target · 1 site amber (0.25 nm 흥)</a:t>
            </a:r>
            <a:endParaRPr lang="en-US" sz="1200" dirty="0"/>
          </a:p>
        </p:txBody>
      </p:sp>
      <p:sp>
        <p:nvSpPr>
          <p:cNvPr id="19" name="Text 7"/>
          <p:cNvSpPr txBox="1"/>
          <p:nvPr/>
        </p:nvSpPr>
        <p:spPr>
          <a:xfrm>
            <a:off x="6476695" y="2171700"/>
            <a:ext cx="4572000" cy="228600"/>
          </a:xfrm>
          <a:prstGeom prst="rect">
            <a:avLst/>
          </a:prstGeom>
          <a:noFill/>
          <a:ln/>
        </p:spPr>
        <p:txBody>
          <a:bodyPr wrap="none" lIns="0" tIns="0" rIns="0" bIns="0" rtlCol="0" anchor="ctr"/>
          <a:lstStyle/>
          <a:p>
            <a:pPr algn="l" indent="0" marL="0">
              <a:buNone/>
            </a:pPr>
            <a:r>
              <a:rPr lang="en-US" sz="1050" b="1" dirty="0">
                <a:solidFill>
                  <a:srgbClr val="047857"/>
                </a:solidFill>
                <a:latin typeface="Inter" pitchFamily="34" charset="0"/>
                <a:ea typeface="Inter" pitchFamily="34" charset="-122"/>
                <a:cs typeface="Inter" pitchFamily="34" charset="-120"/>
              </a:rPr>
              <a:t>69 pt · W07 representative</a:t>
            </a:r>
            <a:pPr algn="l" indent="0" marL="0">
              <a:buNone/>
            </a:pPr>
            <a:r>
              <a:rPr lang="en-US" sz="1500" b="1" dirty="0">
                <a:solidFill>
                  <a:srgbClr val="064E3B"/>
                </a:solidFill>
                <a:latin typeface="Inter" pitchFamily="34" charset="0"/>
                <a:ea typeface="Inter" pitchFamily="34" charset="-122"/>
                <a:cs typeface="Inter" pitchFamily="34" charset="-120"/>
              </a:rPr>
              <a:t>Split B · MF SiN</a:t>
            </a:r>
            <a:endParaRPr lang="en-US" sz="1200" dirty="0"/>
          </a:p>
        </p:txBody>
      </p:sp>
      <p:pic>
        <p:nvPicPr>
          <p:cNvPr id="20" name="Image 9" descr="gen-dedup-00607759104466be83890a260520b734.png">    </p:cNvPr>
          <p:cNvPicPr>
            <a:picLocks noChangeAspect="1"/>
          </p:cNvPicPr>
          <p:nvPr/>
        </p:nvPicPr>
        <p:blipFill>
          <a:blip r:embed="rId10"/>
          <a:srcRect l="0" r="0" t="0" b="0"/>
          <a:stretch/>
        </p:blipFill>
        <p:spPr>
          <a:xfrm>
            <a:off x="6476695" y="2857500"/>
            <a:ext cx="4572000" cy="4572000"/>
          </a:xfrm>
          <a:prstGeom prst="rect">
            <a:avLst/>
          </a:prstGeom>
        </p:spPr>
      </p:pic>
      <p:sp>
        <p:nvSpPr>
          <p:cNvPr id="21" name="Text 8"/>
          <p:cNvSpPr txBox="1"/>
          <p:nvPr/>
        </p:nvSpPr>
        <p:spPr>
          <a:xfrm>
            <a:off x="6476695" y="7487107"/>
            <a:ext cx="5015484" cy="191110"/>
          </a:xfrm>
          <a:prstGeom prst="rect">
            <a:avLst/>
          </a:prstGeom>
          <a:noFill/>
          <a:ln/>
        </p:spPr>
        <p:txBody>
          <a:bodyPr wrap="none" lIns="0" tIns="0" rIns="0" bIns="0" rtlCol="0" anchor="ctr"/>
          <a:lstStyle/>
          <a:p>
            <a:pPr algn="l" indent="0" marL="0">
              <a:buNone/>
            </a:pPr>
            <a:r>
              <a:rPr lang="en-US" sz="1050" dirty="0">
                <a:solidFill>
                  <a:srgbClr val="6B7280"/>
                </a:solidFill>
                <a:latin typeface="Inter" pitchFamily="34" charset="0"/>
                <a:ea typeface="Inter" pitchFamily="34" charset="-122"/>
                <a:cs typeface="Inter" pitchFamily="34" charset="-120"/>
              </a:rPr>
              <a:t>외곽 ring에 amber/red 분포 · 25.2 nm target 대비 변동 상승</a:t>
            </a:r>
            <a:endParaRPr lang="en-US" sz="1200" dirty="0"/>
          </a:p>
        </p:txBody>
      </p:sp>
      <p:sp>
        <p:nvSpPr>
          <p:cNvPr id="22" name="Text 9"/>
          <p:cNvSpPr txBox="1"/>
          <p:nvPr/>
        </p:nvSpPr>
        <p:spPr>
          <a:xfrm>
            <a:off x="11811305" y="2171700"/>
            <a:ext cx="5334610" cy="191110"/>
          </a:xfrm>
          <a:prstGeom prst="rect">
            <a:avLst/>
          </a:prstGeom>
          <a:noFill/>
          <a:ln/>
        </p:spPr>
        <p:txBody>
          <a:bodyPr wrap="none" lIns="0" tIns="0" rIns="0" bIns="0" rtlCol="0" anchor="ctr"/>
          <a:lstStyle/>
          <a:p>
            <a:pPr algn="l" indent="0" marL="0">
              <a:buNone/>
            </a:pPr>
            <a:r>
              <a:rPr lang="en-US" sz="1050" b="1" dirty="0">
                <a:solidFill>
                  <a:srgbClr val="D1FAE5"/>
                </a:solidFill>
                <a:latin typeface="Inter" pitchFamily="34" charset="0"/>
                <a:ea typeface="Inter" pitchFamily="34" charset="-122"/>
                <a:cs typeface="Inter" pitchFamily="34" charset="-120"/>
              </a:rPr>
              <a:t>In-wafer / wafer-to-wafer uniformity</a:t>
            </a:r>
            <a:endParaRPr lang="en-US" sz="1200" dirty="0"/>
          </a:p>
        </p:txBody>
      </p:sp>
      <p:sp>
        <p:nvSpPr>
          <p:cNvPr id="23" name="Text 10"/>
          <p:cNvSpPr txBox="1"/>
          <p:nvPr/>
        </p:nvSpPr>
        <p:spPr>
          <a:xfrm>
            <a:off x="11811305" y="2743200"/>
            <a:ext cx="438912" cy="152705"/>
          </a:xfrm>
          <a:prstGeom prst="rect">
            <a:avLst/>
          </a:prstGeom>
          <a:noFill/>
          <a:ln/>
        </p:spPr>
        <p:txBody>
          <a:bodyPr wrap="none" lIns="0" tIns="0" rIns="0" bIns="0" rtlCol="0" anchor="ctr"/>
          <a:lstStyle/>
          <a:p>
            <a:pPr algn="l" indent="0" marL="0">
              <a:buNone/>
            </a:pPr>
            <a:r>
              <a:rPr lang="en-US" sz="975" dirty="0">
                <a:solidFill>
                  <a:srgbClr val="4B5563"/>
                </a:solidFill>
                <a:latin typeface="Inter" pitchFamily="34" charset="0"/>
                <a:ea typeface="Inter" pitchFamily="34" charset="-122"/>
                <a:cs typeface="Inter" pitchFamily="34" charset="-120"/>
              </a:rPr>
              <a:t>tight</a:t>
            </a:r>
            <a:endParaRPr lang="en-US" sz="975" dirty="0"/>
          </a:p>
        </p:txBody>
      </p:sp>
      <p:sp>
        <p:nvSpPr>
          <p:cNvPr id="24" name="Text 11"/>
          <p:cNvSpPr txBox="1"/>
          <p:nvPr/>
        </p:nvSpPr>
        <p:spPr>
          <a:xfrm>
            <a:off x="12413894" y="2743200"/>
            <a:ext cx="523951" cy="152705"/>
          </a:xfrm>
          <a:prstGeom prst="rect">
            <a:avLst/>
          </a:prstGeom>
          <a:noFill/>
          <a:ln/>
        </p:spPr>
        <p:txBody>
          <a:bodyPr wrap="none" lIns="0" tIns="0" rIns="0" bIns="0" rtlCol="0" anchor="ctr"/>
          <a:lstStyle/>
          <a:p>
            <a:pPr algn="l" indent="0" marL="0">
              <a:buNone/>
            </a:pPr>
            <a:r>
              <a:rPr lang="en-US" sz="975" dirty="0">
                <a:solidFill>
                  <a:srgbClr val="4B5563"/>
                </a:solidFill>
                <a:latin typeface="Inter" pitchFamily="34" charset="0"/>
                <a:ea typeface="Inter" pitchFamily="34" charset="-122"/>
                <a:cs typeface="Inter" pitchFamily="34" charset="-120"/>
              </a:rPr>
              <a:t>within</a:t>
            </a:r>
            <a:endParaRPr lang="en-US" sz="975" dirty="0"/>
          </a:p>
        </p:txBody>
      </p:sp>
      <p:sp>
        <p:nvSpPr>
          <p:cNvPr id="25" name="Text 12"/>
          <p:cNvSpPr txBox="1"/>
          <p:nvPr/>
        </p:nvSpPr>
        <p:spPr>
          <a:xfrm>
            <a:off x="13105181" y="2743200"/>
            <a:ext cx="609905" cy="152705"/>
          </a:xfrm>
          <a:prstGeom prst="rect">
            <a:avLst/>
          </a:prstGeom>
          <a:noFill/>
          <a:ln/>
        </p:spPr>
        <p:txBody>
          <a:bodyPr wrap="none" lIns="0" tIns="0" rIns="0" bIns="0" rtlCol="0" anchor="ctr"/>
          <a:lstStyle/>
          <a:p>
            <a:pPr algn="l" indent="0" marL="0">
              <a:buNone/>
            </a:pPr>
            <a:r>
              <a:rPr lang="en-US" sz="975" dirty="0">
                <a:solidFill>
                  <a:srgbClr val="4B5563"/>
                </a:solidFill>
                <a:latin typeface="Inter" pitchFamily="34" charset="0"/>
                <a:ea typeface="Inter" pitchFamily="34" charset="-122"/>
                <a:cs typeface="Inter" pitchFamily="34" charset="-120"/>
              </a:rPr>
              <a:t>caution</a:t>
            </a:r>
            <a:endParaRPr lang="en-US" sz="975" dirty="0"/>
          </a:p>
        </p:txBody>
      </p:sp>
      <p:sp>
        <p:nvSpPr>
          <p:cNvPr id="26" name="Text 13"/>
          <p:cNvSpPr txBox="1"/>
          <p:nvPr/>
        </p:nvSpPr>
        <p:spPr>
          <a:xfrm>
            <a:off x="13880592" y="2743200"/>
            <a:ext cx="534010" cy="152705"/>
          </a:xfrm>
          <a:prstGeom prst="rect">
            <a:avLst/>
          </a:prstGeom>
          <a:noFill/>
          <a:ln/>
        </p:spPr>
        <p:txBody>
          <a:bodyPr wrap="none" lIns="0" tIns="0" rIns="0" bIns="0" rtlCol="0" anchor="ctr"/>
          <a:lstStyle/>
          <a:p>
            <a:pPr algn="l" indent="0" marL="0">
              <a:buNone/>
            </a:pPr>
            <a:r>
              <a:rPr lang="en-US" sz="975" dirty="0">
                <a:solidFill>
                  <a:srgbClr val="4B5563"/>
                </a:solidFill>
                <a:latin typeface="Inter" pitchFamily="34" charset="0"/>
                <a:ea typeface="Inter" pitchFamily="34" charset="-122"/>
                <a:cs typeface="Inter" pitchFamily="34" charset="-120"/>
              </a:rPr>
              <a:t>off-tol</a:t>
            </a:r>
            <a:endParaRPr lang="en-US" sz="975" dirty="0"/>
          </a:p>
        </p:txBody>
      </p:sp>
      <p:sp>
        <p:nvSpPr>
          <p:cNvPr id="27" name="Shape 14"/>
          <p:cNvSpPr/>
          <p:nvPr/>
        </p:nvSpPr>
        <p:spPr>
          <a:xfrm>
            <a:off x="11811305" y="3448202"/>
            <a:ext cx="5333695" cy="19202"/>
          </a:xfrm>
          <a:prstGeom prst="rect">
            <a:avLst/>
          </a:prstGeom>
          <a:solidFill>
            <a:srgbClr val="064E3B"/>
          </a:solidFill>
          <a:ln w="12700">
            <a:solidFill>
              <a:srgbClr val="064E3B">
                <a:alpha val="0"/>
              </a:srgbClr>
            </a:solidFill>
            <a:prstDash val="solid"/>
          </a:ln>
        </p:spPr>
      </p:sp>
      <p:sp>
        <p:nvSpPr>
          <p:cNvPr id="28" name="Text 15"/>
          <p:cNvSpPr txBox="1"/>
          <p:nvPr/>
        </p:nvSpPr>
        <p:spPr>
          <a:xfrm>
            <a:off x="11811305" y="3219602"/>
            <a:ext cx="1239012" cy="152705"/>
          </a:xfrm>
          <a:prstGeom prst="rect">
            <a:avLst/>
          </a:prstGeom>
          <a:noFill/>
          <a:ln/>
        </p:spPr>
        <p:txBody>
          <a:bodyPr wrap="none" lIns="0" tIns="0" rIns="0" bIns="0" rtlCol="0" anchor="ctr"/>
          <a:lstStyle/>
          <a:p>
            <a:pPr algn="l" indent="0" marL="0">
              <a:buNone/>
            </a:pPr>
            <a:r>
              <a:rPr lang="en-US" sz="975" b="1" spc="98" kern="0" dirty="0">
                <a:solidFill>
                  <a:srgbClr val="047857"/>
                </a:solidFill>
                <a:latin typeface="Inter" pitchFamily="34" charset="0"/>
                <a:ea typeface="Inter" pitchFamily="34" charset="-122"/>
                <a:cs typeface="Inter" pitchFamily="34" charset="-120"/>
              </a:rPr>
              <a:t>METRIC</a:t>
            </a:r>
            <a:endParaRPr lang="en-US" sz="975" dirty="0"/>
          </a:p>
        </p:txBody>
      </p:sp>
      <p:sp>
        <p:nvSpPr>
          <p:cNvPr id="29" name="Text 16"/>
          <p:cNvSpPr txBox="1"/>
          <p:nvPr/>
        </p:nvSpPr>
        <p:spPr>
          <a:xfrm>
            <a:off x="13049402" y="3219602"/>
            <a:ext cx="1047902" cy="152705"/>
          </a:xfrm>
          <a:prstGeom prst="rect">
            <a:avLst/>
          </a:prstGeom>
          <a:noFill/>
          <a:ln/>
        </p:spPr>
        <p:txBody>
          <a:bodyPr wrap="none" lIns="0" tIns="0" rIns="0" bIns="0" rtlCol="0" anchor="ctr"/>
          <a:lstStyle/>
          <a:p>
            <a:pPr algn="l" indent="0" marL="0">
              <a:buNone/>
            </a:pPr>
            <a:r>
              <a:rPr lang="en-US" sz="975" b="1" spc="98" kern="0" dirty="0">
                <a:solidFill>
                  <a:srgbClr val="047857"/>
                </a:solidFill>
                <a:latin typeface="Inter" pitchFamily="34" charset="0"/>
                <a:ea typeface="Inter" pitchFamily="34" charset="-122"/>
                <a:cs typeface="Inter" pitchFamily="34" charset="-120"/>
              </a:rPr>
              <a:t>SPLIT A</a:t>
            </a:r>
            <a:endParaRPr lang="en-US" sz="975" dirty="0"/>
          </a:p>
        </p:txBody>
      </p:sp>
      <p:sp>
        <p:nvSpPr>
          <p:cNvPr id="30" name="Text 17"/>
          <p:cNvSpPr txBox="1"/>
          <p:nvPr/>
        </p:nvSpPr>
        <p:spPr>
          <a:xfrm>
            <a:off x="14097305" y="3219602"/>
            <a:ext cx="1239012" cy="152705"/>
          </a:xfrm>
          <a:prstGeom prst="rect">
            <a:avLst/>
          </a:prstGeom>
          <a:noFill/>
          <a:ln/>
        </p:spPr>
        <p:txBody>
          <a:bodyPr wrap="none" lIns="0" tIns="0" rIns="0" bIns="0" rtlCol="0" anchor="ctr"/>
          <a:lstStyle/>
          <a:p>
            <a:pPr algn="l" indent="0" marL="0">
              <a:buNone/>
            </a:pPr>
            <a:r>
              <a:rPr lang="en-US" sz="975" b="1" spc="98" kern="0" dirty="0">
                <a:solidFill>
                  <a:srgbClr val="047857"/>
                </a:solidFill>
                <a:latin typeface="Inter" pitchFamily="34" charset="0"/>
                <a:ea typeface="Inter" pitchFamily="34" charset="-122"/>
                <a:cs typeface="Inter" pitchFamily="34" charset="-120"/>
              </a:rPr>
              <a:t>SPLIT B</a:t>
            </a:r>
            <a:endParaRPr lang="en-US" sz="975" dirty="0"/>
          </a:p>
        </p:txBody>
      </p:sp>
      <p:sp>
        <p:nvSpPr>
          <p:cNvPr id="31" name="Text 18"/>
          <p:cNvSpPr txBox="1"/>
          <p:nvPr/>
        </p:nvSpPr>
        <p:spPr>
          <a:xfrm>
            <a:off x="15335402" y="3219602"/>
            <a:ext cx="1239012" cy="152705"/>
          </a:xfrm>
          <a:prstGeom prst="rect">
            <a:avLst/>
          </a:prstGeom>
          <a:noFill/>
          <a:ln/>
        </p:spPr>
        <p:txBody>
          <a:bodyPr wrap="none" lIns="0" tIns="0" rIns="0" bIns="0" rtlCol="0" anchor="ctr"/>
          <a:lstStyle/>
          <a:p>
            <a:pPr algn="l" indent="0" marL="0">
              <a:buNone/>
            </a:pPr>
            <a:r>
              <a:rPr lang="en-US" sz="975" b="1" spc="98" kern="0" dirty="0">
                <a:solidFill>
                  <a:srgbClr val="047857"/>
                </a:solidFill>
                <a:latin typeface="Inter" pitchFamily="34" charset="0"/>
                <a:ea typeface="Inter" pitchFamily="34" charset="-122"/>
                <a:cs typeface="Inter" pitchFamily="34" charset="-120"/>
              </a:rPr>
              <a:t>UNIT</a:t>
            </a:r>
            <a:endParaRPr lang="en-US" sz="975" dirty="0"/>
          </a:p>
        </p:txBody>
      </p:sp>
      <p:sp>
        <p:nvSpPr>
          <p:cNvPr id="32" name="Shape 19"/>
          <p:cNvSpPr/>
          <p:nvPr/>
        </p:nvSpPr>
        <p:spPr>
          <a:xfrm>
            <a:off x="11811305" y="3963010"/>
            <a:ext cx="5333695" cy="9144"/>
          </a:xfrm>
          <a:prstGeom prst="rect">
            <a:avLst/>
          </a:prstGeom>
          <a:solidFill>
            <a:srgbClr val="ECFDF5"/>
          </a:solidFill>
          <a:ln w="12700">
            <a:solidFill>
              <a:srgbClr val="ECFDF5">
                <a:alpha val="0"/>
              </a:srgbClr>
            </a:solidFill>
            <a:prstDash val="solid"/>
          </a:ln>
        </p:spPr>
      </p:sp>
      <p:sp>
        <p:nvSpPr>
          <p:cNvPr id="33" name="Text 20"/>
          <p:cNvSpPr txBox="1"/>
          <p:nvPr/>
        </p:nvSpPr>
        <p:spPr>
          <a:xfrm>
            <a:off x="11811305" y="3600907"/>
            <a:ext cx="1239012" cy="228600"/>
          </a:xfrm>
          <a:prstGeom prst="rect">
            <a:avLst/>
          </a:prstGeom>
          <a:noFill/>
          <a:ln/>
        </p:spPr>
        <p:txBody>
          <a:bodyPr wrap="none" lIns="0" tIns="0" rIns="0" bIns="0" rtlCol="0" anchor="ctr"/>
          <a:lstStyle/>
          <a:p>
            <a:pPr algn="l" indent="0" marL="0">
              <a:buNone/>
            </a:pPr>
            <a:r>
              <a:rPr lang="en-US" sz="1200" b="1" dirty="0">
                <a:solidFill>
                  <a:srgbClr val="0B1F18"/>
                </a:solidFill>
                <a:latin typeface="Inter" pitchFamily="34" charset="0"/>
                <a:ea typeface="Inter" pitchFamily="34" charset="-122"/>
                <a:cs typeface="Inter" pitchFamily="34" charset="-120"/>
              </a:rPr>
              <a:t>WIWNU avg</a:t>
            </a:r>
            <a:endParaRPr lang="en-US" sz="1200" dirty="0"/>
          </a:p>
        </p:txBody>
      </p:sp>
      <p:sp>
        <p:nvSpPr>
          <p:cNvPr id="34" name="Text 21"/>
          <p:cNvSpPr txBox="1"/>
          <p:nvPr/>
        </p:nvSpPr>
        <p:spPr>
          <a:xfrm>
            <a:off x="13049402" y="3600907"/>
            <a:ext cx="1047902"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0.96 %</a:t>
            </a:r>
            <a:endParaRPr lang="en-US" sz="1500" dirty="0"/>
          </a:p>
        </p:txBody>
      </p:sp>
      <p:sp>
        <p:nvSpPr>
          <p:cNvPr id="35" name="Text 22"/>
          <p:cNvSpPr txBox="1"/>
          <p:nvPr/>
        </p:nvSpPr>
        <p:spPr>
          <a:xfrm>
            <a:off x="14097305" y="3600907"/>
            <a:ext cx="1239012" cy="228600"/>
          </a:xfrm>
          <a:prstGeom prst="rect">
            <a:avLst/>
          </a:prstGeom>
          <a:noFill/>
          <a:ln/>
        </p:spPr>
        <p:txBody>
          <a:bodyPr wrap="none" lIns="0" tIns="0" rIns="0" bIns="0" rtlCol="0" anchor="ctr"/>
          <a:lstStyle/>
          <a:p>
            <a:pPr algn="l" indent="0" marL="0">
              <a:buNone/>
            </a:pPr>
            <a:r>
              <a:rPr lang="en-US" sz="1500" b="1" dirty="0">
                <a:solidFill>
                  <a:srgbClr val="D97706"/>
                </a:solidFill>
                <a:latin typeface="Inter" pitchFamily="34" charset="0"/>
                <a:ea typeface="Inter" pitchFamily="34" charset="-122"/>
                <a:cs typeface="Inter" pitchFamily="34" charset="-120"/>
              </a:rPr>
              <a:t>1.31 %</a:t>
            </a:r>
            <a:endParaRPr lang="en-US" sz="1500" dirty="0"/>
          </a:p>
        </p:txBody>
      </p:sp>
      <p:sp>
        <p:nvSpPr>
          <p:cNvPr id="36" name="Text 23"/>
          <p:cNvSpPr txBox="1"/>
          <p:nvPr/>
        </p:nvSpPr>
        <p:spPr>
          <a:xfrm>
            <a:off x="15335402" y="3600907"/>
            <a:ext cx="1239012" cy="228600"/>
          </a:xfrm>
          <a:prstGeom prst="rect">
            <a:avLst/>
          </a:prstGeom>
          <a:noFill/>
          <a:ln/>
        </p:spPr>
        <p:txBody>
          <a:bodyPr wrap="square" lIns="0" tIns="0" rIns="0" bIns="0" rtlCol="0" anchor="ctr"/>
          <a:lstStyle/>
          <a:p>
            <a:pPr algn="l" indent="0" marL="0">
              <a:buNone/>
            </a:pPr>
            <a:r>
              <a:rPr lang="en-US" sz="1050" dirty="0">
                <a:solidFill>
                  <a:srgbClr val="6B7280"/>
                </a:solidFill>
                <a:latin typeface="Inter" pitchFamily="34" charset="0"/>
                <a:ea typeface="Inter" pitchFamily="34" charset="-122"/>
                <a:cs typeface="Inter" pitchFamily="34" charset="-120"/>
              </a:rPr>
              <a:t>target ≤ 1.5</a:t>
            </a:r>
            <a:endParaRPr lang="en-US" sz="1050" dirty="0"/>
          </a:p>
        </p:txBody>
      </p:sp>
      <p:sp>
        <p:nvSpPr>
          <p:cNvPr id="37" name="Shape 24"/>
          <p:cNvSpPr/>
          <p:nvPr/>
        </p:nvSpPr>
        <p:spPr>
          <a:xfrm>
            <a:off x="11811305" y="4467758"/>
            <a:ext cx="5333695" cy="9144"/>
          </a:xfrm>
          <a:prstGeom prst="rect">
            <a:avLst/>
          </a:prstGeom>
          <a:solidFill>
            <a:srgbClr val="ECFDF5"/>
          </a:solidFill>
          <a:ln w="12700">
            <a:solidFill>
              <a:srgbClr val="ECFDF5">
                <a:alpha val="0"/>
              </a:srgbClr>
            </a:solidFill>
            <a:prstDash val="solid"/>
          </a:ln>
        </p:spPr>
      </p:sp>
      <p:sp>
        <p:nvSpPr>
          <p:cNvPr id="38" name="Text 25"/>
          <p:cNvSpPr txBox="1"/>
          <p:nvPr/>
        </p:nvSpPr>
        <p:spPr>
          <a:xfrm>
            <a:off x="11811305" y="4105656"/>
            <a:ext cx="1239012" cy="228600"/>
          </a:xfrm>
          <a:prstGeom prst="rect">
            <a:avLst/>
          </a:prstGeom>
          <a:noFill/>
          <a:ln/>
        </p:spPr>
        <p:txBody>
          <a:bodyPr wrap="none" lIns="0" tIns="0" rIns="0" bIns="0" rtlCol="0" anchor="ctr"/>
          <a:lstStyle/>
          <a:p>
            <a:pPr algn="l" indent="0" marL="0">
              <a:buNone/>
            </a:pPr>
            <a:r>
              <a:rPr lang="en-US" sz="1200" b="1" dirty="0">
                <a:solidFill>
                  <a:srgbClr val="0B1F18"/>
                </a:solidFill>
                <a:latin typeface="Inter" pitchFamily="34" charset="0"/>
                <a:ea typeface="Inter" pitchFamily="34" charset="-122"/>
                <a:cs typeface="Inter" pitchFamily="34" charset="-120"/>
              </a:rPr>
              <a:t>WIWNU max</a:t>
            </a:r>
            <a:endParaRPr lang="en-US" sz="1200" dirty="0"/>
          </a:p>
        </p:txBody>
      </p:sp>
      <p:sp>
        <p:nvSpPr>
          <p:cNvPr id="39" name="Text 26"/>
          <p:cNvSpPr txBox="1"/>
          <p:nvPr/>
        </p:nvSpPr>
        <p:spPr>
          <a:xfrm>
            <a:off x="13049402" y="4105656"/>
            <a:ext cx="1047902"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1.04</a:t>
            </a:r>
            <a:endParaRPr lang="en-US" sz="1500" dirty="0"/>
          </a:p>
        </p:txBody>
      </p:sp>
      <p:sp>
        <p:nvSpPr>
          <p:cNvPr id="40" name="Text 27"/>
          <p:cNvSpPr txBox="1"/>
          <p:nvPr/>
        </p:nvSpPr>
        <p:spPr>
          <a:xfrm>
            <a:off x="14097305" y="4105656"/>
            <a:ext cx="1239012" cy="228600"/>
          </a:xfrm>
          <a:prstGeom prst="rect">
            <a:avLst/>
          </a:prstGeom>
          <a:noFill/>
          <a:ln/>
        </p:spPr>
        <p:txBody>
          <a:bodyPr wrap="none" lIns="0" tIns="0" rIns="0" bIns="0" rtlCol="0" anchor="ctr"/>
          <a:lstStyle/>
          <a:p>
            <a:pPr algn="l" indent="0" marL="0">
              <a:buNone/>
            </a:pPr>
            <a:r>
              <a:rPr lang="en-US" sz="1500" b="1" dirty="0">
                <a:solidFill>
                  <a:srgbClr val="B91C1C"/>
                </a:solidFill>
                <a:latin typeface="Inter" pitchFamily="34" charset="0"/>
                <a:ea typeface="Inter" pitchFamily="34" charset="-122"/>
                <a:cs typeface="Inter" pitchFamily="34" charset="-120"/>
              </a:rPr>
              <a:t>1.41</a:t>
            </a:r>
            <a:endParaRPr lang="en-US" sz="1500" dirty="0"/>
          </a:p>
        </p:txBody>
      </p:sp>
      <p:sp>
        <p:nvSpPr>
          <p:cNvPr id="41" name="Text 28"/>
          <p:cNvSpPr txBox="1"/>
          <p:nvPr/>
        </p:nvSpPr>
        <p:spPr>
          <a:xfrm>
            <a:off x="15335402" y="4105656"/>
            <a:ext cx="1239012" cy="228600"/>
          </a:xfrm>
          <a:prstGeom prst="rect">
            <a:avLst/>
          </a:prstGeom>
          <a:noFill/>
          <a:ln/>
        </p:spPr>
        <p:txBody>
          <a:bodyPr wrap="square" lIns="0" tIns="0" rIns="0" bIns="0" rtlCol="0" anchor="ctr"/>
          <a:lstStyle/>
          <a:p>
            <a:pPr algn="l" indent="0" marL="0">
              <a:buNone/>
            </a:pPr>
            <a:r>
              <a:rPr lang="en-US" sz="1050" dirty="0">
                <a:solidFill>
                  <a:srgbClr val="6B7280"/>
                </a:solidFill>
                <a:latin typeface="Inter" pitchFamily="34" charset="0"/>
                <a:ea typeface="Inter" pitchFamily="34" charset="-122"/>
                <a:cs typeface="Inter" pitchFamily="34" charset="-120"/>
              </a:rPr>
              <a:t>%</a:t>
            </a:r>
            <a:endParaRPr lang="en-US" sz="1050" dirty="0"/>
          </a:p>
        </p:txBody>
      </p:sp>
      <p:sp>
        <p:nvSpPr>
          <p:cNvPr id="42" name="Shape 29"/>
          <p:cNvSpPr/>
          <p:nvPr/>
        </p:nvSpPr>
        <p:spPr>
          <a:xfrm>
            <a:off x="11811305" y="4972507"/>
            <a:ext cx="5333695" cy="9144"/>
          </a:xfrm>
          <a:prstGeom prst="rect">
            <a:avLst/>
          </a:prstGeom>
          <a:solidFill>
            <a:srgbClr val="ECFDF5"/>
          </a:solidFill>
          <a:ln w="12700">
            <a:solidFill>
              <a:srgbClr val="ECFDF5">
                <a:alpha val="0"/>
              </a:srgbClr>
            </a:solidFill>
            <a:prstDash val="solid"/>
          </a:ln>
        </p:spPr>
      </p:sp>
      <p:sp>
        <p:nvSpPr>
          <p:cNvPr id="43" name="Text 30"/>
          <p:cNvSpPr txBox="1"/>
          <p:nvPr/>
        </p:nvSpPr>
        <p:spPr>
          <a:xfrm>
            <a:off x="11811305" y="4610405"/>
            <a:ext cx="1239012" cy="228600"/>
          </a:xfrm>
          <a:prstGeom prst="rect">
            <a:avLst/>
          </a:prstGeom>
          <a:noFill/>
          <a:ln/>
        </p:spPr>
        <p:txBody>
          <a:bodyPr wrap="none" lIns="0" tIns="0" rIns="0" bIns="0" rtlCol="0" anchor="ctr"/>
          <a:lstStyle/>
          <a:p>
            <a:pPr algn="l" indent="0" marL="0">
              <a:buNone/>
            </a:pPr>
            <a:r>
              <a:rPr lang="en-US" sz="1200" b="1" dirty="0">
                <a:solidFill>
                  <a:srgbClr val="0B1F18"/>
                </a:solidFill>
                <a:latin typeface="Inter" pitchFamily="34" charset="0"/>
                <a:ea typeface="Inter" pitchFamily="34" charset="-122"/>
                <a:cs typeface="Inter" pitchFamily="34" charset="-120"/>
              </a:rPr>
              <a:t>WIWNU min</a:t>
            </a:r>
            <a:endParaRPr lang="en-US" sz="1200" dirty="0"/>
          </a:p>
        </p:txBody>
      </p:sp>
      <p:sp>
        <p:nvSpPr>
          <p:cNvPr id="44" name="Text 31"/>
          <p:cNvSpPr txBox="1"/>
          <p:nvPr/>
        </p:nvSpPr>
        <p:spPr>
          <a:xfrm>
            <a:off x="13049402" y="4610405"/>
            <a:ext cx="1047902"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0.85</a:t>
            </a:r>
            <a:endParaRPr lang="en-US" sz="1500" dirty="0"/>
          </a:p>
        </p:txBody>
      </p:sp>
      <p:sp>
        <p:nvSpPr>
          <p:cNvPr id="45" name="Text 32"/>
          <p:cNvSpPr txBox="1"/>
          <p:nvPr/>
        </p:nvSpPr>
        <p:spPr>
          <a:xfrm>
            <a:off x="14097305" y="4610405"/>
            <a:ext cx="1239012" cy="228600"/>
          </a:xfrm>
          <a:prstGeom prst="rect">
            <a:avLst/>
          </a:prstGeom>
          <a:noFill/>
          <a:ln/>
        </p:spPr>
        <p:txBody>
          <a:bodyPr wrap="none" lIns="0" tIns="0" rIns="0" bIns="0" rtlCol="0" anchor="ctr"/>
          <a:lstStyle/>
          <a:p>
            <a:pPr algn="l" indent="0" marL="0">
              <a:buNone/>
            </a:pPr>
            <a:r>
              <a:rPr lang="en-US" sz="1500" b="1" dirty="0">
                <a:solidFill>
                  <a:srgbClr val="047857"/>
                </a:solidFill>
                <a:latin typeface="Inter" pitchFamily="34" charset="0"/>
                <a:ea typeface="Inter" pitchFamily="34" charset="-122"/>
                <a:cs typeface="Inter" pitchFamily="34" charset="-120"/>
              </a:rPr>
              <a:t>1.24</a:t>
            </a:r>
            <a:endParaRPr lang="en-US" sz="1500" dirty="0"/>
          </a:p>
        </p:txBody>
      </p:sp>
      <p:sp>
        <p:nvSpPr>
          <p:cNvPr id="46" name="Text 33"/>
          <p:cNvSpPr txBox="1"/>
          <p:nvPr/>
        </p:nvSpPr>
        <p:spPr>
          <a:xfrm>
            <a:off x="15335402" y="4610405"/>
            <a:ext cx="1239012" cy="228600"/>
          </a:xfrm>
          <a:prstGeom prst="rect">
            <a:avLst/>
          </a:prstGeom>
          <a:noFill/>
          <a:ln/>
        </p:spPr>
        <p:txBody>
          <a:bodyPr wrap="square" lIns="0" tIns="0" rIns="0" bIns="0" rtlCol="0" anchor="ctr"/>
          <a:lstStyle/>
          <a:p>
            <a:pPr algn="l" indent="0" marL="0">
              <a:buNone/>
            </a:pPr>
            <a:r>
              <a:rPr lang="en-US" sz="1050" dirty="0">
                <a:solidFill>
                  <a:srgbClr val="6B7280"/>
                </a:solidFill>
                <a:latin typeface="Inter" pitchFamily="34" charset="0"/>
                <a:ea typeface="Inter" pitchFamily="34" charset="-122"/>
                <a:cs typeface="Inter" pitchFamily="34" charset="-120"/>
              </a:rPr>
              <a:t>%</a:t>
            </a:r>
            <a:endParaRPr lang="en-US" sz="1050" dirty="0"/>
          </a:p>
        </p:txBody>
      </p:sp>
      <p:sp>
        <p:nvSpPr>
          <p:cNvPr id="47" name="Shape 34"/>
          <p:cNvSpPr/>
          <p:nvPr/>
        </p:nvSpPr>
        <p:spPr>
          <a:xfrm>
            <a:off x="11811305" y="5477256"/>
            <a:ext cx="5333695" cy="9144"/>
          </a:xfrm>
          <a:prstGeom prst="rect">
            <a:avLst/>
          </a:prstGeom>
          <a:solidFill>
            <a:srgbClr val="ECFDF5"/>
          </a:solidFill>
          <a:ln w="12700">
            <a:solidFill>
              <a:srgbClr val="ECFDF5">
                <a:alpha val="0"/>
              </a:srgbClr>
            </a:solidFill>
            <a:prstDash val="solid"/>
          </a:ln>
        </p:spPr>
      </p:sp>
      <p:sp>
        <p:nvSpPr>
          <p:cNvPr id="48" name="Text 35"/>
          <p:cNvSpPr txBox="1"/>
          <p:nvPr/>
        </p:nvSpPr>
        <p:spPr>
          <a:xfrm>
            <a:off x="11811305" y="5115154"/>
            <a:ext cx="1239012" cy="228600"/>
          </a:xfrm>
          <a:prstGeom prst="rect">
            <a:avLst/>
          </a:prstGeom>
          <a:noFill/>
          <a:ln/>
        </p:spPr>
        <p:txBody>
          <a:bodyPr wrap="none" lIns="0" tIns="0" rIns="0" bIns="0" rtlCol="0" anchor="ctr"/>
          <a:lstStyle/>
          <a:p>
            <a:pPr algn="l" indent="0" marL="0">
              <a:buNone/>
            </a:pPr>
            <a:r>
              <a:rPr lang="en-US" sz="1200" b="1" dirty="0">
                <a:solidFill>
                  <a:srgbClr val="0B1F18"/>
                </a:solidFill>
                <a:latin typeface="Inter" pitchFamily="34" charset="0"/>
                <a:ea typeface="Inter" pitchFamily="34" charset="-122"/>
                <a:cs typeface="Inter" pitchFamily="34" charset="-120"/>
              </a:rPr>
              <a:t>3σ AASI</a:t>
            </a:r>
            <a:endParaRPr lang="en-US" sz="1200" dirty="0"/>
          </a:p>
        </p:txBody>
      </p:sp>
      <p:sp>
        <p:nvSpPr>
          <p:cNvPr id="49" name="Text 36"/>
          <p:cNvSpPr txBox="1"/>
          <p:nvPr/>
        </p:nvSpPr>
        <p:spPr>
          <a:xfrm>
            <a:off x="13049402" y="5115154"/>
            <a:ext cx="1047902"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0.44</a:t>
            </a:r>
            <a:endParaRPr lang="en-US" sz="1500" dirty="0"/>
          </a:p>
        </p:txBody>
      </p:sp>
      <p:sp>
        <p:nvSpPr>
          <p:cNvPr id="50" name="Text 37"/>
          <p:cNvSpPr txBox="1"/>
          <p:nvPr/>
        </p:nvSpPr>
        <p:spPr>
          <a:xfrm>
            <a:off x="14097305" y="5115154"/>
            <a:ext cx="1239012" cy="228600"/>
          </a:xfrm>
          <a:prstGeom prst="rect">
            <a:avLst/>
          </a:prstGeom>
          <a:noFill/>
          <a:ln/>
        </p:spPr>
        <p:txBody>
          <a:bodyPr wrap="none" lIns="0" tIns="0" rIns="0" bIns="0" rtlCol="0" anchor="ctr"/>
          <a:lstStyle/>
          <a:p>
            <a:pPr algn="l" indent="0" marL="0">
              <a:buNone/>
            </a:pPr>
            <a:r>
              <a:rPr lang="en-US" sz="1500" b="1" dirty="0">
                <a:solidFill>
                  <a:srgbClr val="D97706"/>
                </a:solidFill>
                <a:latin typeface="Inter" pitchFamily="34" charset="0"/>
                <a:ea typeface="Inter" pitchFamily="34" charset="-122"/>
                <a:cs typeface="Inter" pitchFamily="34" charset="-120"/>
              </a:rPr>
              <a:t>0.62</a:t>
            </a:r>
            <a:endParaRPr lang="en-US" sz="1500" dirty="0"/>
          </a:p>
        </p:txBody>
      </p:sp>
      <p:sp>
        <p:nvSpPr>
          <p:cNvPr id="51" name="Text 38"/>
          <p:cNvSpPr txBox="1"/>
          <p:nvPr/>
        </p:nvSpPr>
        <p:spPr>
          <a:xfrm>
            <a:off x="15335402" y="5115154"/>
            <a:ext cx="1239012" cy="228600"/>
          </a:xfrm>
          <a:prstGeom prst="rect">
            <a:avLst/>
          </a:prstGeom>
          <a:noFill/>
          <a:ln/>
        </p:spPr>
        <p:txBody>
          <a:bodyPr wrap="square" lIns="0" tIns="0" rIns="0" bIns="0" rtlCol="0" anchor="ctr"/>
          <a:lstStyle/>
          <a:p>
            <a:pPr algn="l" indent="0" marL="0">
              <a:buNone/>
            </a:pPr>
            <a:r>
              <a:rPr lang="en-US" sz="1050" dirty="0">
                <a:solidFill>
                  <a:srgbClr val="6B7280"/>
                </a:solidFill>
                <a:latin typeface="Inter" pitchFamily="34" charset="0"/>
                <a:ea typeface="Inter" pitchFamily="34" charset="-122"/>
                <a:cs typeface="Inter" pitchFamily="34" charset="-120"/>
              </a:rPr>
              <a:t>nm</a:t>
            </a:r>
            <a:endParaRPr lang="en-US" sz="1050" dirty="0"/>
          </a:p>
        </p:txBody>
      </p:sp>
      <p:sp>
        <p:nvSpPr>
          <p:cNvPr id="52" name="Shape 39"/>
          <p:cNvSpPr/>
          <p:nvPr/>
        </p:nvSpPr>
        <p:spPr>
          <a:xfrm>
            <a:off x="11811305" y="5982005"/>
            <a:ext cx="5333695" cy="9144"/>
          </a:xfrm>
          <a:prstGeom prst="rect">
            <a:avLst/>
          </a:prstGeom>
          <a:solidFill>
            <a:srgbClr val="ECFDF5"/>
          </a:solidFill>
          <a:ln w="12700">
            <a:solidFill>
              <a:srgbClr val="ECFDF5">
                <a:alpha val="0"/>
              </a:srgbClr>
            </a:solidFill>
            <a:prstDash val="solid"/>
          </a:ln>
        </p:spPr>
      </p:sp>
      <p:sp>
        <p:nvSpPr>
          <p:cNvPr id="53" name="Text 40"/>
          <p:cNvSpPr txBox="1"/>
          <p:nvPr/>
        </p:nvSpPr>
        <p:spPr>
          <a:xfrm>
            <a:off x="11811305" y="5619902"/>
            <a:ext cx="1239012" cy="228600"/>
          </a:xfrm>
          <a:prstGeom prst="rect">
            <a:avLst/>
          </a:prstGeom>
          <a:noFill/>
          <a:ln/>
        </p:spPr>
        <p:txBody>
          <a:bodyPr wrap="none" lIns="0" tIns="0" rIns="0" bIns="0" rtlCol="0" anchor="ctr"/>
          <a:lstStyle/>
          <a:p>
            <a:pPr algn="l" indent="0" marL="0">
              <a:buNone/>
            </a:pPr>
            <a:r>
              <a:rPr lang="en-US" sz="1200" b="1" dirty="0">
                <a:solidFill>
                  <a:srgbClr val="0B1F18"/>
                </a:solidFill>
                <a:latin typeface="Inter" pitchFamily="34" charset="0"/>
                <a:ea typeface="Inter" pitchFamily="34" charset="-122"/>
                <a:cs typeface="Inter" pitchFamily="34" charset="-120"/>
              </a:rPr>
              <a:t>BVWNU</a:t>
            </a:r>
            <a:endParaRPr lang="en-US" sz="1200" dirty="0"/>
          </a:p>
        </p:txBody>
      </p:sp>
      <p:sp>
        <p:nvSpPr>
          <p:cNvPr id="54" name="Text 41"/>
          <p:cNvSpPr txBox="1"/>
          <p:nvPr/>
        </p:nvSpPr>
        <p:spPr>
          <a:xfrm>
            <a:off x="13049402" y="5619902"/>
            <a:ext cx="1047902" cy="228600"/>
          </a:xfrm>
          <a:prstGeom prst="rect">
            <a:avLst/>
          </a:prstGeom>
          <a:noFill/>
          <a:ln/>
        </p:spPr>
        <p:txBody>
          <a:bodyPr wrap="none" lIns="0" tIns="0" rIns="0" bIns="0" rtlCol="0" anchor="ctr"/>
          <a:lstStyle/>
          <a:p>
            <a:pPr algn="l" indent="0" marL="0">
              <a:buNone/>
            </a:pPr>
            <a:r>
              <a:rPr lang="en-US" sz="1500" b="1" dirty="0">
                <a:solidFill>
                  <a:srgbClr val="047857"/>
                </a:solidFill>
                <a:latin typeface="Inter" pitchFamily="34" charset="0"/>
                <a:ea typeface="Inter" pitchFamily="34" charset="-122"/>
                <a:cs typeface="Inter" pitchFamily="34" charset="-120"/>
              </a:rPr>
              <a:t>0.43</a:t>
            </a:r>
            <a:endParaRPr lang="en-US" sz="1500" dirty="0"/>
          </a:p>
        </p:txBody>
      </p:sp>
      <p:sp>
        <p:nvSpPr>
          <p:cNvPr id="55" name="Text 42"/>
          <p:cNvSpPr txBox="1"/>
          <p:nvPr/>
        </p:nvSpPr>
        <p:spPr>
          <a:xfrm>
            <a:off x="14097305" y="5619902"/>
            <a:ext cx="1239012" cy="228600"/>
          </a:xfrm>
          <a:prstGeom prst="rect">
            <a:avLst/>
          </a:prstGeom>
          <a:noFill/>
          <a:ln/>
        </p:spPr>
        <p:txBody>
          <a:bodyPr wrap="none" lIns="0" tIns="0" rIns="0" bIns="0" rtlCol="0" anchor="ctr"/>
          <a:lstStyle/>
          <a:p>
            <a:pPr algn="l" indent="0" marL="0">
              <a:buNone/>
            </a:pPr>
            <a:r>
              <a:rPr lang="en-US" sz="1500" b="1" dirty="0">
                <a:solidFill>
                  <a:srgbClr val="D97706"/>
                </a:solidFill>
                <a:latin typeface="Inter" pitchFamily="34" charset="0"/>
                <a:ea typeface="Inter" pitchFamily="34" charset="-122"/>
                <a:cs typeface="Inter" pitchFamily="34" charset="-120"/>
              </a:rPr>
              <a:t>0.71</a:t>
            </a:r>
            <a:endParaRPr lang="en-US" sz="1500" dirty="0"/>
          </a:p>
        </p:txBody>
      </p:sp>
      <p:sp>
        <p:nvSpPr>
          <p:cNvPr id="56" name="Text 43"/>
          <p:cNvSpPr txBox="1"/>
          <p:nvPr/>
        </p:nvSpPr>
        <p:spPr>
          <a:xfrm>
            <a:off x="15335402" y="5619902"/>
            <a:ext cx="1239012" cy="228600"/>
          </a:xfrm>
          <a:prstGeom prst="rect">
            <a:avLst/>
          </a:prstGeom>
          <a:noFill/>
          <a:ln/>
        </p:spPr>
        <p:txBody>
          <a:bodyPr wrap="square" lIns="0" tIns="0" rIns="0" bIns="0" rtlCol="0" anchor="ctr"/>
          <a:lstStyle/>
          <a:p>
            <a:pPr algn="l" indent="0" marL="0">
              <a:buNone/>
            </a:pPr>
            <a:r>
              <a:rPr lang="en-US" sz="1050" dirty="0">
                <a:solidFill>
                  <a:srgbClr val="6B7280"/>
                </a:solidFill>
                <a:latin typeface="Inter" pitchFamily="34" charset="0"/>
                <a:ea typeface="Inter" pitchFamily="34" charset="-122"/>
                <a:cs typeface="Inter" pitchFamily="34" charset="-120"/>
              </a:rPr>
              <a:t>%</a:t>
            </a:r>
            <a:endParaRPr lang="en-US" sz="1050" dirty="0"/>
          </a:p>
        </p:txBody>
      </p:sp>
      <p:sp>
        <p:nvSpPr>
          <p:cNvPr id="57" name="Text 44"/>
          <p:cNvSpPr txBox="1"/>
          <p:nvPr/>
        </p:nvSpPr>
        <p:spPr>
          <a:xfrm>
            <a:off x="11811305" y="6124651"/>
            <a:ext cx="1239012" cy="228600"/>
          </a:xfrm>
          <a:prstGeom prst="rect">
            <a:avLst/>
          </a:prstGeom>
          <a:noFill/>
          <a:ln/>
        </p:spPr>
        <p:txBody>
          <a:bodyPr wrap="none" lIns="0" tIns="0" rIns="0" bIns="0" rtlCol="0" anchor="ctr"/>
          <a:lstStyle/>
          <a:p>
            <a:pPr algn="l" indent="0" marL="0">
              <a:buNone/>
            </a:pPr>
            <a:r>
              <a:rPr lang="en-US" sz="1200" b="1" dirty="0">
                <a:solidFill>
                  <a:srgbClr val="0B1F18"/>
                </a:solidFill>
                <a:latin typeface="Inter" pitchFamily="34" charset="0"/>
                <a:ea typeface="Inter" pitchFamily="34" charset="-122"/>
                <a:cs typeface="Inter" pitchFamily="34" charset="-120"/>
              </a:rPr>
              <a:t>range</a:t>
            </a:r>
            <a:endParaRPr lang="en-US" sz="1200" dirty="0"/>
          </a:p>
        </p:txBody>
      </p:sp>
      <p:sp>
        <p:nvSpPr>
          <p:cNvPr id="58" name="Text 45"/>
          <p:cNvSpPr txBox="1"/>
          <p:nvPr/>
        </p:nvSpPr>
        <p:spPr>
          <a:xfrm>
            <a:off x="13049402" y="6124651"/>
            <a:ext cx="1047902"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2.10</a:t>
            </a:r>
            <a:endParaRPr lang="en-US" sz="1500" dirty="0"/>
          </a:p>
        </p:txBody>
      </p:sp>
      <p:sp>
        <p:nvSpPr>
          <p:cNvPr id="59" name="Text 46"/>
          <p:cNvSpPr txBox="1"/>
          <p:nvPr/>
        </p:nvSpPr>
        <p:spPr>
          <a:xfrm>
            <a:off x="14097305" y="6124651"/>
            <a:ext cx="1239012" cy="228600"/>
          </a:xfrm>
          <a:prstGeom prst="rect">
            <a:avLst/>
          </a:prstGeom>
          <a:noFill/>
          <a:ln/>
        </p:spPr>
        <p:txBody>
          <a:bodyPr wrap="none" lIns="0" tIns="0" rIns="0" bIns="0" rtlCol="0" anchor="ctr"/>
          <a:lstStyle/>
          <a:p>
            <a:pPr algn="l" indent="0" marL="0">
              <a:buNone/>
            </a:pPr>
            <a:r>
              <a:rPr lang="en-US" sz="1500" b="1" dirty="0">
                <a:solidFill>
                  <a:srgbClr val="0B1F18"/>
                </a:solidFill>
                <a:latin typeface="Inter" pitchFamily="34" charset="0"/>
                <a:ea typeface="Inter" pitchFamily="34" charset="-122"/>
                <a:cs typeface="Inter" pitchFamily="34" charset="-120"/>
              </a:rPr>
              <a:t>2.60</a:t>
            </a:r>
            <a:endParaRPr lang="en-US" sz="1500" dirty="0"/>
          </a:p>
        </p:txBody>
      </p:sp>
      <p:sp>
        <p:nvSpPr>
          <p:cNvPr id="60" name="Text 47"/>
          <p:cNvSpPr txBox="1"/>
          <p:nvPr/>
        </p:nvSpPr>
        <p:spPr>
          <a:xfrm>
            <a:off x="15335402" y="6124651"/>
            <a:ext cx="1239012" cy="228600"/>
          </a:xfrm>
          <a:prstGeom prst="rect">
            <a:avLst/>
          </a:prstGeom>
          <a:noFill/>
          <a:ln/>
        </p:spPr>
        <p:txBody>
          <a:bodyPr wrap="square" lIns="0" tIns="0" rIns="0" bIns="0" rtlCol="0" anchor="ctr"/>
          <a:lstStyle/>
          <a:p>
            <a:pPr algn="l" indent="0" marL="0">
              <a:buNone/>
            </a:pPr>
            <a:r>
              <a:rPr lang="en-US" sz="1050" dirty="0">
                <a:solidFill>
                  <a:srgbClr val="6B7280"/>
                </a:solidFill>
                <a:latin typeface="Inter" pitchFamily="34" charset="0"/>
                <a:ea typeface="Inter" pitchFamily="34" charset="-122"/>
                <a:cs typeface="Inter" pitchFamily="34" charset="-120"/>
              </a:rPr>
              <a:t>nm</a:t>
            </a:r>
            <a:endParaRPr lang="en-US" sz="1050" dirty="0"/>
          </a:p>
        </p:txBody>
      </p:sp>
      <p:sp>
        <p:nvSpPr>
          <p:cNvPr id="61" name="Text 48"/>
          <p:cNvSpPr txBox="1"/>
          <p:nvPr/>
        </p:nvSpPr>
        <p:spPr>
          <a:xfrm>
            <a:off x="1143000" y="8229600"/>
            <a:ext cx="16193110" cy="124358"/>
          </a:xfrm>
          <a:prstGeom prst="rect">
            <a:avLst/>
          </a:prstGeom>
          <a:noFill/>
          <a:ln/>
        </p:spPr>
        <p:txBody>
          <a:bodyPr wrap="none" lIns="0" tIns="0" rIns="0" bIns="0" rtlCol="0" anchor="ctr"/>
          <a:lstStyle/>
          <a:p>
            <a:pPr algn="l" indent="0" marL="0">
              <a:buNone/>
            </a:pPr>
            <a:r>
              <a:rPr lang="en-US" sz="975" b="1" spc="176" kern="0" dirty="0">
                <a:solidFill>
                  <a:srgbClr val="047857"/>
                </a:solidFill>
                <a:latin typeface="Inter" pitchFamily="34" charset="0"/>
                <a:ea typeface="Inter" pitchFamily="34" charset="-122"/>
                <a:cs typeface="Inter" pitchFamily="34" charset="-120"/>
              </a:rPr>
              <a:t>KEY TAKEAWAY</a:t>
            </a:r>
            <a:endParaRPr lang="en-US" sz="975" dirty="0"/>
          </a:p>
        </p:txBody>
      </p:sp>
      <p:sp>
        <p:nvSpPr>
          <p:cNvPr id="62" name="Text 49"/>
          <p:cNvSpPr txBox="1"/>
          <p:nvPr/>
        </p:nvSpPr>
        <p:spPr>
          <a:xfrm>
            <a:off x="1143000" y="8410651"/>
            <a:ext cx="16878910" cy="314554"/>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Split A는 1 amber site만 caution, Split B는 외곽 ring에 caution/off-tol 다발 — dummy 데이터에서도 외곽 분포 심화 패턴이 동일하게 나타남.</a:t>
            </a:r>
            <a:endParaRPr lang="en-US" sz="1800" dirty="0"/>
          </a:p>
        </p:txBody>
      </p:sp>
      <p:sp>
        <p:nvSpPr>
          <p:cNvPr id="63" name="Text 50"/>
          <p:cNvSpPr txBox="1"/>
          <p:nvPr/>
        </p:nvSpPr>
        <p:spPr>
          <a:xfrm>
            <a:off x="857707" y="9924898"/>
            <a:ext cx="16573500" cy="247802"/>
          </a:xfrm>
          <a:prstGeom prst="rect">
            <a:avLst/>
          </a:prstGeom>
          <a:noFill/>
          <a:ln/>
        </p:spPr>
        <p:txBody>
          <a:bodyPr wrap="square" lIns="0" tIns="0" rIns="0" bIns="0" rtlCol="0" anchor="ctr"/>
          <a:lstStyle/>
          <a:p>
            <a:pPr algn="l" indent="0" marL="0">
              <a:buNone/>
            </a:pPr>
            <a:r>
              <a:rPr lang="en-US" sz="1350" dirty="0">
                <a:solidFill>
                  <a:srgbClr val="6B7280"/>
                </a:solidFill>
                <a:latin typeface="Inter" pitchFamily="34" charset="0"/>
                <a:ea typeface="Inter" pitchFamily="34" charset="-122"/>
                <a:cs typeface="Inter" pitchFamily="34" charset="-120"/>
              </a:rPr>
              <a:t>※ 내부 테스트용 더미(가상) 데이터</a:t>
            </a:r>
            <a:pPr algn="l" indent="0" marL="0">
              <a:buNone/>
            </a:pPr>
            <a:r>
              <a:rPr lang="en-US" sz="1350" dirty="0">
                <a:solidFill>
                  <a:srgbClr val="6B7280"/>
                </a:solidFill>
                <a:latin typeface="Inter" pitchFamily="34" charset="0"/>
                <a:ea typeface="Inter" pitchFamily="34" charset="-122"/>
                <a:cs typeface="Inter" pitchFamily="34" charset="-120"/>
              </a:rPr>
              <a:t>06 / 09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gen-dedup-c1ab0c400e90e2f3a3b428b1ad336421.png">    </p:cNvPr>
          <p:cNvPicPr>
            <a:picLocks noChangeAspect="1"/>
          </p:cNvPicPr>
          <p:nvPr/>
        </p:nvPicPr>
        <p:blipFill>
          <a:blip r:embed="rId1"/>
          <a:srcRect l="0" r="0" t="0" b="0"/>
          <a:stretch/>
        </p:blipFill>
        <p:spPr>
          <a:xfrm>
            <a:off x="16763695" y="4953305"/>
            <a:ext cx="3047695" cy="3047695"/>
          </a:xfrm>
          <a:prstGeom prst="rect">
            <a:avLst/>
          </a:prstGeom>
        </p:spPr>
      </p:pic>
      <p:sp>
        <p:nvSpPr>
          <p:cNvPr id="4" name="Shape 0"/>
          <p:cNvSpPr/>
          <p:nvPr/>
        </p:nvSpPr>
        <p:spPr>
          <a:xfrm>
            <a:off x="0" y="0"/>
            <a:ext cx="18288000" cy="10287000"/>
          </a:xfrm>
          <a:prstGeom prst="rect">
            <a:avLst/>
          </a:prstGeom>
          <a:solidFill>
            <a:srgbClr val="F4F8F4"/>
          </a:solidFill>
          <a:ln w="12700">
            <a:solidFill>
              <a:srgbClr val="FFFFFF">
                <a:alpha val="0"/>
              </a:srgbClr>
            </a:solidFill>
            <a:prstDash val="solid"/>
          </a:ln>
        </p:spPr>
      </p:sp>
      <p:pic>
        <p:nvPicPr>
          <p:cNvPr id="5" name="Image 1" descr="gen-dedup-51ce68c02eb135d817f2134fdec60abf.png">    </p:cNvPr>
          <p:cNvPicPr>
            <a:picLocks noChangeAspect="1"/>
          </p:cNvPicPr>
          <p:nvPr/>
        </p:nvPicPr>
        <p:blipFill>
          <a:blip r:embed="rId2"/>
          <a:srcRect l="-2083" r="-2083" t="0" b="0"/>
          <a:stretch/>
        </p:blipFill>
        <p:spPr>
          <a:xfrm>
            <a:off x="0" y="0"/>
            <a:ext cx="16002000" cy="9144"/>
          </a:xfrm>
          <a:prstGeom prst="rect">
            <a:avLst/>
          </a:prstGeom>
        </p:spPr>
      </p:pic>
      <p:pic>
        <p:nvPicPr>
          <p:cNvPr id="6" name="Image 2" descr="gen-dedup-cc14bea2cd207789f79ef682ebfe583f.png">    </p:cNvPr>
          <p:cNvPicPr>
            <a:picLocks noChangeAspect="1"/>
          </p:cNvPicPr>
          <p:nvPr/>
        </p:nvPicPr>
        <p:blipFill>
          <a:blip r:embed="rId3"/>
          <a:srcRect l="0" r="0" t="0" b="0"/>
          <a:stretch/>
        </p:blipFill>
        <p:spPr>
          <a:xfrm>
            <a:off x="857707" y="1962302"/>
            <a:ext cx="16573500" cy="3314700"/>
          </a:xfrm>
          <a:prstGeom prst="rect">
            <a:avLst/>
          </a:prstGeom>
        </p:spPr>
      </p:pic>
      <p:pic>
        <p:nvPicPr>
          <p:cNvPr id="7" name="Image 3" descr="gen-dedup-3cb43a920c34d50ebf131182354e4175.png">    </p:cNvPr>
          <p:cNvPicPr>
            <a:picLocks noChangeAspect="1"/>
          </p:cNvPicPr>
          <p:nvPr/>
        </p:nvPicPr>
        <p:blipFill>
          <a:blip r:embed="rId4"/>
          <a:srcRect l="0" r="0" t="0" b="0"/>
          <a:stretch/>
        </p:blipFill>
        <p:spPr>
          <a:xfrm>
            <a:off x="857707" y="5467198"/>
            <a:ext cx="16573500" cy="2286000"/>
          </a:xfrm>
          <a:prstGeom prst="rect">
            <a:avLst/>
          </a:prstGeom>
        </p:spPr>
      </p:pic>
      <p:pic>
        <p:nvPicPr>
          <p:cNvPr id="8" name="Image 4" descr="gen-dedup-2fbcf05202020e5c2fee389890c4e9a4.png">    </p:cNvPr>
          <p:cNvPicPr>
            <a:picLocks noChangeAspect="1"/>
          </p:cNvPicPr>
          <p:nvPr/>
        </p:nvPicPr>
        <p:blipFill>
          <a:blip r:embed="rId5"/>
          <a:srcRect l="0" r="0" t="-31" b="-31"/>
          <a:stretch/>
        </p:blipFill>
        <p:spPr>
          <a:xfrm>
            <a:off x="857707" y="7962595"/>
            <a:ext cx="16621049" cy="743407"/>
          </a:xfrm>
          <a:prstGeom prst="rect">
            <a:avLst/>
          </a:prstGeom>
        </p:spPr>
      </p:pic>
      <p:pic>
        <p:nvPicPr>
          <p:cNvPr id="9" name="Image 5" descr="gen-dedup-980084dc5ca4a71360aebffa918e7e11.png">    </p:cNvPr>
          <p:cNvPicPr>
            <a:picLocks noChangeAspect="1"/>
          </p:cNvPicPr>
          <p:nvPr/>
        </p:nvPicPr>
        <p:blipFill>
          <a:blip r:embed="rId6"/>
          <a:srcRect l="0" r="0" t="-44" b="-44"/>
          <a:stretch/>
        </p:blipFill>
        <p:spPr>
          <a:xfrm>
            <a:off x="857707" y="1962302"/>
            <a:ext cx="16573500" cy="514807"/>
          </a:xfrm>
          <a:prstGeom prst="rect">
            <a:avLst/>
          </a:prstGeom>
        </p:spPr>
      </p:pic>
      <p:pic>
        <p:nvPicPr>
          <p:cNvPr id="10" name="Image 6" descr="gen-dedup-a857620ca1e1b121736bb3371e74a4a3.png">    </p:cNvPr>
          <p:cNvPicPr>
            <a:picLocks noChangeAspect="1"/>
          </p:cNvPicPr>
          <p:nvPr/>
        </p:nvPicPr>
        <p:blipFill>
          <a:blip r:embed="rId7"/>
          <a:srcRect l="0" r="0" t="-400" b="-400"/>
          <a:stretch/>
        </p:blipFill>
        <p:spPr>
          <a:xfrm>
            <a:off x="1143000" y="5829300"/>
            <a:ext cx="16002000" cy="19202"/>
          </a:xfrm>
          <a:prstGeom prst="rect">
            <a:avLst/>
          </a:prstGeom>
        </p:spPr>
      </p:pic>
      <p:pic>
        <p:nvPicPr>
          <p:cNvPr id="11" name="Image 7" descr="gen-dedup-51ce68c02eb135d817f2134fdec60abf.png">    </p:cNvPr>
          <p:cNvPicPr>
            <a:picLocks noChangeAspect="1"/>
          </p:cNvPicPr>
          <p:nvPr/>
        </p:nvPicPr>
        <p:blipFill>
          <a:blip r:embed="rId8"/>
          <a:srcRect l="-2083" r="-2083" t="0" b="0"/>
          <a:stretch/>
        </p:blipFill>
        <p:spPr>
          <a:xfrm>
            <a:off x="1143000" y="6172200"/>
            <a:ext cx="16002000" cy="9144"/>
          </a:xfrm>
          <a:prstGeom prst="rect">
            <a:avLst/>
          </a:prstGeom>
        </p:spPr>
      </p:pic>
      <p:pic>
        <p:nvPicPr>
          <p:cNvPr id="12" name="Image 8" descr="gen-dedup-51ce68c02eb135d817f2134fdec60abf.png">    </p:cNvPr>
          <p:cNvPicPr>
            <a:picLocks noChangeAspect="1"/>
          </p:cNvPicPr>
          <p:nvPr/>
        </p:nvPicPr>
        <p:blipFill>
          <a:blip r:embed="rId9"/>
          <a:srcRect l="-2083" r="-2083" t="0" b="0"/>
          <a:stretch/>
        </p:blipFill>
        <p:spPr>
          <a:xfrm>
            <a:off x="1143000" y="6476695"/>
            <a:ext cx="16002000" cy="9144"/>
          </a:xfrm>
          <a:prstGeom prst="rect">
            <a:avLst/>
          </a:prstGeom>
        </p:spPr>
      </p:pic>
      <p:pic>
        <p:nvPicPr>
          <p:cNvPr id="13" name="Image 9" descr="gen-dedup-51ce68c02eb135d817f2134fdec60abf.png">    </p:cNvPr>
          <p:cNvPicPr>
            <a:picLocks noChangeAspect="1"/>
          </p:cNvPicPr>
          <p:nvPr/>
        </p:nvPicPr>
        <p:blipFill>
          <a:blip r:embed="rId10"/>
          <a:srcRect l="-2083" r="-2083" t="0" b="0"/>
          <a:stretch/>
        </p:blipFill>
        <p:spPr>
          <a:xfrm>
            <a:off x="1143000" y="6782105"/>
            <a:ext cx="16002000" cy="9144"/>
          </a:xfrm>
          <a:prstGeom prst="rect">
            <a:avLst/>
          </a:prstGeom>
        </p:spPr>
      </p:pic>
      <p:pic>
        <p:nvPicPr>
          <p:cNvPr id="14" name="Image 10" descr="gen-dedup-51ce68c02eb135d817f2134fdec60abf.png">    </p:cNvPr>
          <p:cNvPicPr>
            <a:picLocks noChangeAspect="1"/>
          </p:cNvPicPr>
          <p:nvPr/>
        </p:nvPicPr>
        <p:blipFill>
          <a:blip r:embed="rId11"/>
          <a:srcRect l="-2083" r="-2083" t="0" b="0"/>
          <a:stretch/>
        </p:blipFill>
        <p:spPr>
          <a:xfrm>
            <a:off x="1143000" y="7086600"/>
            <a:ext cx="16002000" cy="9144"/>
          </a:xfrm>
          <a:prstGeom prst="rect">
            <a:avLst/>
          </a:prstGeom>
        </p:spPr>
      </p:pic>
      <p:pic>
        <p:nvPicPr>
          <p:cNvPr id="15" name="Image 11" descr="gen-dedup-51ce68c02eb135d817f2134fdec60abf.png">    </p:cNvPr>
          <p:cNvPicPr>
            <a:picLocks noChangeAspect="1"/>
          </p:cNvPicPr>
          <p:nvPr/>
        </p:nvPicPr>
        <p:blipFill>
          <a:blip r:embed="rId12"/>
          <a:srcRect l="-2083" r="-2083" t="0" b="0"/>
          <a:stretch/>
        </p:blipFill>
        <p:spPr>
          <a:xfrm>
            <a:off x="1143000" y="7391095"/>
            <a:ext cx="16002000" cy="9144"/>
          </a:xfrm>
          <a:prstGeom prst="rect">
            <a:avLst/>
          </a:prstGeom>
        </p:spPr>
      </p:pic>
      <p:sp>
        <p:nvSpPr>
          <p:cNvPr id="16" name="Shape 1"/>
          <p:cNvSpPr/>
          <p:nvPr/>
        </p:nvSpPr>
        <p:spPr>
          <a:xfrm>
            <a:off x="857707" y="623621"/>
            <a:ext cx="95098" cy="95098"/>
          </a:xfrm>
          <a:prstGeom prst="ellipse">
            <a:avLst/>
          </a:prstGeom>
          <a:solidFill>
            <a:srgbClr val="047857"/>
          </a:solidFill>
          <a:ln w="12700">
            <a:solidFill>
              <a:srgbClr val="FFFFFF">
                <a:alpha val="0"/>
              </a:srgbClr>
            </a:solidFill>
            <a:prstDash val="solid"/>
          </a:ln>
        </p:spPr>
      </p:sp>
      <p:sp>
        <p:nvSpPr>
          <p:cNvPr id="17" name="Text 2"/>
          <p:cNvSpPr txBox="1"/>
          <p:nvPr/>
        </p:nvSpPr>
        <p:spPr>
          <a:xfrm>
            <a:off x="1086307" y="571500"/>
            <a:ext cx="4419295" cy="200254"/>
          </a:xfrm>
          <a:prstGeom prst="rect">
            <a:avLst/>
          </a:prstGeom>
          <a:noFill/>
          <a:ln/>
        </p:spPr>
        <p:txBody>
          <a:bodyPr wrap="none" lIns="0" tIns="0" rIns="0" bIns="0" rtlCol="0" anchor="ctr"/>
          <a:lstStyle/>
          <a:p>
            <a:pPr algn="l" indent="0" marL="0">
              <a:buNone/>
            </a:pPr>
            <a:r>
              <a:rPr lang="en-US" sz="1350" b="1" spc="243" kern="0" dirty="0">
                <a:solidFill>
                  <a:srgbClr val="047857"/>
                </a:solidFill>
                <a:latin typeface="Inter" pitchFamily="34" charset="0"/>
                <a:ea typeface="Inter" pitchFamily="34" charset="-122"/>
                <a:cs typeface="Inter" pitchFamily="34" charset="-120"/>
              </a:rPr>
              <a:t>07 / 09 · TEM · EDS line profile</a:t>
            </a:r>
            <a:endParaRPr lang="en-US" sz="1350" dirty="0"/>
          </a:p>
        </p:txBody>
      </p:sp>
      <p:sp>
        <p:nvSpPr>
          <p:cNvPr id="18" name="Text 3"/>
          <p:cNvSpPr txBox="1"/>
          <p:nvPr/>
        </p:nvSpPr>
        <p:spPr>
          <a:xfrm>
            <a:off x="857707" y="895198"/>
            <a:ext cx="15621610" cy="467258"/>
          </a:xfrm>
          <a:prstGeom prst="rect">
            <a:avLst/>
          </a:prstGeom>
          <a:noFill/>
          <a:ln/>
        </p:spPr>
        <p:txBody>
          <a:bodyPr wrap="none" lIns="0" tIns="0" rIns="0" bIns="0" rtlCol="0" anchor="ctr"/>
          <a:lstStyle/>
          <a:p>
            <a:pPr algn="l" indent="0" marL="0">
              <a:buNone/>
            </a:pPr>
            <a:r>
              <a:rPr lang="en-US" sz="3300" b="1" spc="-66" kern="0" dirty="0">
                <a:solidFill>
                  <a:srgbClr val="0B1F18"/>
                </a:solidFill>
                <a:latin typeface="Inter" pitchFamily="34" charset="0"/>
                <a:ea typeface="Inter" pitchFamily="34" charset="-122"/>
                <a:cs typeface="Inter" pitchFamily="34" charset="-120"/>
              </a:rPr>
              <a:t>TEM-EDS line scan — Cu line → barrier → ILD → cap</a:t>
            </a:r>
            <a:endParaRPr lang="en-US" sz="3300" dirty="0"/>
          </a:p>
        </p:txBody>
      </p:sp>
      <p:sp>
        <p:nvSpPr>
          <p:cNvPr id="19" name="Text 4"/>
          <p:cNvSpPr txBox="1"/>
          <p:nvPr/>
        </p:nvSpPr>
        <p:spPr>
          <a:xfrm>
            <a:off x="857707" y="1447495"/>
            <a:ext cx="15621610" cy="257861"/>
          </a:xfrm>
          <a:prstGeom prst="rect">
            <a:avLst/>
          </a:prstGeom>
          <a:noFill/>
          <a:ln/>
        </p:spPr>
        <p:txBody>
          <a:bodyPr wrap="none" lIns="0" tIns="0" rIns="0" bIns="0" rtlCol="0" anchor="ctr"/>
          <a:lstStyle/>
          <a:p>
            <a:pPr algn="l" indent="0" marL="0">
              <a:buNone/>
            </a:pPr>
            <a:r>
              <a:rPr lang="en-US" sz="1350" dirty="0">
                <a:solidFill>
                  <a:srgbClr val="4B5563"/>
                </a:solidFill>
                <a:latin typeface="Inter" pitchFamily="34" charset="0"/>
                <a:ea typeface="Inter" pitchFamily="34" charset="-122"/>
                <a:cs typeface="Inter" pitchFamily="34" charset="-120"/>
              </a:rPr>
              <a:t>6 point line scan, atom % (정규화 100). 위치 1 = Cu line 중심, 위치 6 = SiN cap 끝단.</a:t>
            </a:r>
            <a:endParaRPr lang="en-US" sz="1350" dirty="0"/>
          </a:p>
        </p:txBody>
      </p:sp>
      <p:sp>
        <p:nvSpPr>
          <p:cNvPr id="20" name="Text 5"/>
          <p:cNvSpPr txBox="1"/>
          <p:nvPr/>
        </p:nvSpPr>
        <p:spPr>
          <a:xfrm>
            <a:off x="1143000" y="2115007"/>
            <a:ext cx="8572500" cy="191110"/>
          </a:xfrm>
          <a:prstGeom prst="rect">
            <a:avLst/>
          </a:prstGeom>
          <a:noFill/>
          <a:ln/>
        </p:spPr>
        <p:txBody>
          <a:bodyPr wrap="none" lIns="0" tIns="0" rIns="0" bIns="0" rtlCol="0" anchor="ctr"/>
          <a:lstStyle/>
          <a:p>
            <a:pPr algn="l" indent="0" marL="0">
              <a:buNone/>
            </a:pPr>
            <a:r>
              <a:rPr lang="en-US" sz="1050" b="1" dirty="0">
                <a:solidFill>
                  <a:srgbClr val="A7F3D0"/>
                </a:solidFill>
                <a:latin typeface="Inter" pitchFamily="34" charset="0"/>
                <a:ea typeface="Inter" pitchFamily="34" charset="-122"/>
                <a:cs typeface="Inter" pitchFamily="34" charset="-120"/>
              </a:rPr>
              <a:t>atom % per element across 6 scan points</a:t>
            </a:r>
            <a:endParaRPr lang="en-US" sz="1200" dirty="0"/>
          </a:p>
        </p:txBody>
      </p:sp>
      <p:sp>
        <p:nvSpPr>
          <p:cNvPr id="21" name="Text 6"/>
          <p:cNvSpPr txBox="1"/>
          <p:nvPr/>
        </p:nvSpPr>
        <p:spPr>
          <a:xfrm>
            <a:off x="14166799" y="2095805"/>
            <a:ext cx="438912" cy="152705"/>
          </a:xfrm>
          <a:prstGeom prst="rect">
            <a:avLst/>
          </a:prstGeom>
          <a:noFill/>
          <a:ln/>
        </p:spPr>
        <p:txBody>
          <a:bodyPr wrap="none" lIns="0" tIns="0" rIns="0" bIns="0" rtlCol="0" anchor="ctr"/>
          <a:lstStyle/>
          <a:p>
            <a:pPr algn="l" indent="0" marL="0">
              <a:buNone/>
            </a:pPr>
            <a:r>
              <a:rPr lang="en-US" sz="975" dirty="0">
                <a:solidFill>
                  <a:srgbClr val="D1FAE5"/>
                </a:solidFill>
                <a:latin typeface="Inter" pitchFamily="34" charset="0"/>
                <a:ea typeface="Inter" pitchFamily="34" charset="-122"/>
                <a:cs typeface="Inter" pitchFamily="34" charset="-120"/>
              </a:rPr>
              <a:t>Cu</a:t>
            </a:r>
            <a:endParaRPr lang="en-US" sz="975" dirty="0"/>
          </a:p>
        </p:txBody>
      </p:sp>
      <p:sp>
        <p:nvSpPr>
          <p:cNvPr id="22" name="Text 7"/>
          <p:cNvSpPr txBox="1"/>
          <p:nvPr/>
        </p:nvSpPr>
        <p:spPr>
          <a:xfrm>
            <a:off x="14768474" y="2095805"/>
            <a:ext cx="409651" cy="152705"/>
          </a:xfrm>
          <a:prstGeom prst="rect">
            <a:avLst/>
          </a:prstGeom>
          <a:noFill/>
          <a:ln/>
        </p:spPr>
        <p:txBody>
          <a:bodyPr wrap="none" lIns="0" tIns="0" rIns="0" bIns="0" rtlCol="0" anchor="ctr"/>
          <a:lstStyle/>
          <a:p>
            <a:pPr algn="l" indent="0" marL="0">
              <a:buNone/>
            </a:pPr>
            <a:r>
              <a:rPr lang="en-US" sz="975" dirty="0">
                <a:solidFill>
                  <a:srgbClr val="D1FAE5"/>
                </a:solidFill>
                <a:latin typeface="Inter" pitchFamily="34" charset="0"/>
                <a:ea typeface="Inter" pitchFamily="34" charset="-122"/>
                <a:cs typeface="Inter" pitchFamily="34" charset="-120"/>
              </a:rPr>
              <a:t>Ta</a:t>
            </a:r>
            <a:endParaRPr lang="en-US" sz="975" dirty="0"/>
          </a:p>
        </p:txBody>
      </p:sp>
      <p:sp>
        <p:nvSpPr>
          <p:cNvPr id="23" name="Text 8"/>
          <p:cNvSpPr txBox="1"/>
          <p:nvPr/>
        </p:nvSpPr>
        <p:spPr>
          <a:xfrm>
            <a:off x="15347290" y="2095805"/>
            <a:ext cx="381305" cy="152705"/>
          </a:xfrm>
          <a:prstGeom prst="rect">
            <a:avLst/>
          </a:prstGeom>
          <a:noFill/>
          <a:ln/>
        </p:spPr>
        <p:txBody>
          <a:bodyPr wrap="none" lIns="0" tIns="0" rIns="0" bIns="0" rtlCol="0" anchor="ctr"/>
          <a:lstStyle/>
          <a:p>
            <a:pPr algn="l" indent="0" marL="0">
              <a:buNone/>
            </a:pPr>
            <a:r>
              <a:rPr lang="en-US" sz="975" dirty="0">
                <a:solidFill>
                  <a:srgbClr val="D1FAE5"/>
                </a:solidFill>
                <a:latin typeface="Inter" pitchFamily="34" charset="0"/>
                <a:ea typeface="Inter" pitchFamily="34" charset="-122"/>
                <a:cs typeface="Inter" pitchFamily="34" charset="-120"/>
              </a:rPr>
              <a:t>Si</a:t>
            </a:r>
            <a:endParaRPr lang="en-US" sz="975" dirty="0"/>
          </a:p>
        </p:txBody>
      </p:sp>
      <p:sp>
        <p:nvSpPr>
          <p:cNvPr id="24" name="Text 9"/>
          <p:cNvSpPr txBox="1"/>
          <p:nvPr/>
        </p:nvSpPr>
        <p:spPr>
          <a:xfrm>
            <a:off x="15895015" y="2095805"/>
            <a:ext cx="362102" cy="152705"/>
          </a:xfrm>
          <a:prstGeom prst="rect">
            <a:avLst/>
          </a:prstGeom>
          <a:noFill/>
          <a:ln/>
        </p:spPr>
        <p:txBody>
          <a:bodyPr wrap="none" lIns="0" tIns="0" rIns="0" bIns="0" rtlCol="0" anchor="ctr"/>
          <a:lstStyle/>
          <a:p>
            <a:pPr algn="l" indent="0" marL="0">
              <a:buNone/>
            </a:pPr>
            <a:r>
              <a:rPr lang="en-US" sz="975" dirty="0">
                <a:solidFill>
                  <a:srgbClr val="D1FAE5"/>
                </a:solidFill>
                <a:latin typeface="Inter" pitchFamily="34" charset="0"/>
                <a:ea typeface="Inter" pitchFamily="34" charset="-122"/>
                <a:cs typeface="Inter" pitchFamily="34" charset="-120"/>
              </a:rPr>
              <a:t>O</a:t>
            </a:r>
            <a:endParaRPr lang="en-US" sz="975" dirty="0"/>
          </a:p>
        </p:txBody>
      </p:sp>
      <p:sp>
        <p:nvSpPr>
          <p:cNvPr id="25" name="Text 10"/>
          <p:cNvSpPr txBox="1"/>
          <p:nvPr/>
        </p:nvSpPr>
        <p:spPr>
          <a:xfrm>
            <a:off x="16428110" y="2095805"/>
            <a:ext cx="362102" cy="152705"/>
          </a:xfrm>
          <a:prstGeom prst="rect">
            <a:avLst/>
          </a:prstGeom>
          <a:noFill/>
          <a:ln/>
        </p:spPr>
        <p:txBody>
          <a:bodyPr wrap="none" lIns="0" tIns="0" rIns="0" bIns="0" rtlCol="0" anchor="ctr"/>
          <a:lstStyle/>
          <a:p>
            <a:pPr algn="l" indent="0" marL="0">
              <a:buNone/>
            </a:pPr>
            <a:r>
              <a:rPr lang="en-US" sz="975" dirty="0">
                <a:solidFill>
                  <a:srgbClr val="D1FAE5"/>
                </a:solidFill>
                <a:latin typeface="Inter" pitchFamily="34" charset="0"/>
                <a:ea typeface="Inter" pitchFamily="34" charset="-122"/>
                <a:cs typeface="Inter" pitchFamily="34" charset="-120"/>
              </a:rPr>
              <a:t>N</a:t>
            </a:r>
            <a:endParaRPr lang="en-US" sz="975" dirty="0"/>
          </a:p>
        </p:txBody>
      </p:sp>
      <p:sp>
        <p:nvSpPr>
          <p:cNvPr id="26" name="Text 11"/>
          <p:cNvSpPr txBox="1"/>
          <p:nvPr/>
        </p:nvSpPr>
        <p:spPr>
          <a:xfrm>
            <a:off x="16959377" y="2095805"/>
            <a:ext cx="381305" cy="152705"/>
          </a:xfrm>
          <a:prstGeom prst="rect">
            <a:avLst/>
          </a:prstGeom>
          <a:noFill/>
          <a:ln/>
        </p:spPr>
        <p:txBody>
          <a:bodyPr wrap="none" lIns="0" tIns="0" rIns="0" bIns="0" rtlCol="0" anchor="ctr"/>
          <a:lstStyle/>
          <a:p>
            <a:pPr algn="l" indent="0" marL="0">
              <a:buNone/>
            </a:pPr>
            <a:r>
              <a:rPr lang="en-US" sz="975" dirty="0">
                <a:solidFill>
                  <a:srgbClr val="D1FAE5"/>
                </a:solidFill>
                <a:latin typeface="Inter" pitchFamily="34" charset="0"/>
                <a:ea typeface="Inter" pitchFamily="34" charset="-122"/>
                <a:cs typeface="Inter" pitchFamily="34" charset="-120"/>
              </a:rPr>
              <a:t>C</a:t>
            </a:r>
            <a:endParaRPr lang="en-US" sz="975" dirty="0"/>
          </a:p>
        </p:txBody>
      </p:sp>
      <p:pic>
        <p:nvPicPr>
          <p:cNvPr id="27" name="Image 12" descr="gen-dedup-aa5d00d4a0e7cf7869a47747a4c73187.png">    </p:cNvPr>
          <p:cNvPicPr>
            <a:picLocks noChangeAspect="1"/>
          </p:cNvPicPr>
          <p:nvPr/>
        </p:nvPicPr>
        <p:blipFill>
          <a:blip r:embed="rId13"/>
          <a:srcRect l="0" r="0" t="-5" b="-5"/>
          <a:stretch/>
        </p:blipFill>
        <p:spPr>
          <a:xfrm>
            <a:off x="1524305" y="2533802"/>
            <a:ext cx="15240305" cy="2667305"/>
          </a:xfrm>
          <a:prstGeom prst="rect">
            <a:avLst/>
          </a:prstGeom>
        </p:spPr>
      </p:pic>
      <p:sp>
        <p:nvSpPr>
          <p:cNvPr id="28" name="Text 12"/>
          <p:cNvSpPr txBox="1"/>
          <p:nvPr/>
        </p:nvSpPr>
        <p:spPr>
          <a:xfrm>
            <a:off x="2000707" y="5544007"/>
            <a:ext cx="2572207" cy="362102"/>
          </a:xfrm>
          <a:prstGeom prst="rect">
            <a:avLst/>
          </a:prstGeom>
          <a:noFill/>
          <a:ln/>
        </p:spPr>
        <p:txBody>
          <a:bodyPr wrap="square" lIns="0" tIns="0" rIns="0" bIns="0" rtlCol="0" anchor="ctr"/>
          <a:lstStyle/>
          <a:p>
            <a:pPr algn="ctr" indent="0" marL="0">
              <a:buNone/>
            </a:pPr>
            <a:r>
              <a:rPr lang="en-US" sz="975" b="1" spc="98" kern="0" dirty="0">
                <a:solidFill>
                  <a:srgbClr val="047857"/>
                </a:solidFill>
                <a:latin typeface="Inter" pitchFamily="34" charset="0"/>
                <a:ea typeface="Inter" pitchFamily="34" charset="-122"/>
                <a:cs typeface="Inter" pitchFamily="34" charset="-120"/>
              </a:rPr>
              <a:t>P1 · Cu centre</a:t>
            </a:r>
            <a:endParaRPr lang="en-US" sz="975" dirty="0"/>
          </a:p>
        </p:txBody>
      </p:sp>
      <p:sp>
        <p:nvSpPr>
          <p:cNvPr id="29" name="Text 13"/>
          <p:cNvSpPr txBox="1"/>
          <p:nvPr/>
        </p:nvSpPr>
        <p:spPr>
          <a:xfrm>
            <a:off x="4572000" y="5544007"/>
            <a:ext cx="2572207" cy="362102"/>
          </a:xfrm>
          <a:prstGeom prst="rect">
            <a:avLst/>
          </a:prstGeom>
          <a:noFill/>
          <a:ln/>
        </p:spPr>
        <p:txBody>
          <a:bodyPr wrap="square" lIns="0" tIns="0" rIns="0" bIns="0" rtlCol="0" anchor="ctr"/>
          <a:lstStyle/>
          <a:p>
            <a:pPr algn="ctr" indent="0" marL="0">
              <a:buNone/>
            </a:pPr>
            <a:r>
              <a:rPr lang="en-US" sz="975" b="1" spc="98" kern="0" dirty="0">
                <a:solidFill>
                  <a:srgbClr val="047857"/>
                </a:solidFill>
                <a:latin typeface="Inter" pitchFamily="34" charset="0"/>
                <a:ea typeface="Inter" pitchFamily="34" charset="-122"/>
                <a:cs typeface="Inter" pitchFamily="34" charset="-120"/>
              </a:rPr>
              <a:t>P2 · Cu/barrier</a:t>
            </a:r>
            <a:endParaRPr lang="en-US" sz="975" dirty="0"/>
          </a:p>
        </p:txBody>
      </p:sp>
      <p:sp>
        <p:nvSpPr>
          <p:cNvPr id="30" name="Text 14"/>
          <p:cNvSpPr txBox="1"/>
          <p:nvPr/>
        </p:nvSpPr>
        <p:spPr>
          <a:xfrm>
            <a:off x="7144207" y="5544007"/>
            <a:ext cx="2572207" cy="362102"/>
          </a:xfrm>
          <a:prstGeom prst="rect">
            <a:avLst/>
          </a:prstGeom>
          <a:noFill/>
          <a:ln/>
        </p:spPr>
        <p:txBody>
          <a:bodyPr wrap="square" lIns="0" tIns="0" rIns="0" bIns="0" rtlCol="0" anchor="ctr"/>
          <a:lstStyle/>
          <a:p>
            <a:pPr algn="ctr" indent="0" marL="0">
              <a:buNone/>
            </a:pPr>
            <a:r>
              <a:rPr lang="en-US" sz="975" b="1" spc="98" kern="0" dirty="0">
                <a:solidFill>
                  <a:srgbClr val="047857"/>
                </a:solidFill>
                <a:latin typeface="Inter" pitchFamily="34" charset="0"/>
                <a:ea typeface="Inter" pitchFamily="34" charset="-122"/>
                <a:cs typeface="Inter" pitchFamily="34" charset="-120"/>
              </a:rPr>
              <a:t>P3 · barrier/ILD</a:t>
            </a:r>
            <a:endParaRPr lang="en-US" sz="975" dirty="0"/>
          </a:p>
        </p:txBody>
      </p:sp>
      <p:sp>
        <p:nvSpPr>
          <p:cNvPr id="31" name="Text 15"/>
          <p:cNvSpPr txBox="1"/>
          <p:nvPr/>
        </p:nvSpPr>
        <p:spPr>
          <a:xfrm>
            <a:off x="9715500" y="5544007"/>
            <a:ext cx="2572207" cy="362102"/>
          </a:xfrm>
          <a:prstGeom prst="rect">
            <a:avLst/>
          </a:prstGeom>
          <a:noFill/>
          <a:ln/>
        </p:spPr>
        <p:txBody>
          <a:bodyPr wrap="square" lIns="0" tIns="0" rIns="0" bIns="0" rtlCol="0" anchor="ctr"/>
          <a:lstStyle/>
          <a:p>
            <a:pPr algn="ctr" indent="0" marL="0">
              <a:buNone/>
            </a:pPr>
            <a:r>
              <a:rPr lang="en-US" sz="975" b="1" spc="98" kern="0" dirty="0">
                <a:solidFill>
                  <a:srgbClr val="047857"/>
                </a:solidFill>
                <a:latin typeface="Inter" pitchFamily="34" charset="0"/>
                <a:ea typeface="Inter" pitchFamily="34" charset="-122"/>
                <a:cs typeface="Inter" pitchFamily="34" charset="-120"/>
              </a:rPr>
              <a:t>P4 · low-k ctr</a:t>
            </a:r>
            <a:endParaRPr lang="en-US" sz="975" dirty="0"/>
          </a:p>
        </p:txBody>
      </p:sp>
      <p:sp>
        <p:nvSpPr>
          <p:cNvPr id="32" name="Text 16"/>
          <p:cNvSpPr txBox="1"/>
          <p:nvPr/>
        </p:nvSpPr>
        <p:spPr>
          <a:xfrm>
            <a:off x="12287707" y="5544007"/>
            <a:ext cx="2572207" cy="362102"/>
          </a:xfrm>
          <a:prstGeom prst="rect">
            <a:avLst/>
          </a:prstGeom>
          <a:noFill/>
          <a:ln/>
        </p:spPr>
        <p:txBody>
          <a:bodyPr wrap="square" lIns="0" tIns="0" rIns="0" bIns="0" rtlCol="0" anchor="ctr"/>
          <a:lstStyle/>
          <a:p>
            <a:pPr algn="ctr" indent="0" marL="0">
              <a:buNone/>
            </a:pPr>
            <a:r>
              <a:rPr lang="en-US" sz="975" b="1" spc="98" kern="0" dirty="0">
                <a:solidFill>
                  <a:srgbClr val="047857"/>
                </a:solidFill>
                <a:latin typeface="Inter" pitchFamily="34" charset="0"/>
                <a:ea typeface="Inter" pitchFamily="34" charset="-122"/>
                <a:cs typeface="Inter" pitchFamily="34" charset="-120"/>
              </a:rPr>
              <a:t>P5 · low-k deep</a:t>
            </a:r>
            <a:endParaRPr lang="en-US" sz="975" dirty="0"/>
          </a:p>
        </p:txBody>
      </p:sp>
      <p:sp>
        <p:nvSpPr>
          <p:cNvPr id="33" name="Text 17"/>
          <p:cNvSpPr txBox="1"/>
          <p:nvPr/>
        </p:nvSpPr>
        <p:spPr>
          <a:xfrm>
            <a:off x="14859000" y="5544007"/>
            <a:ext cx="2572207" cy="362102"/>
          </a:xfrm>
          <a:prstGeom prst="rect">
            <a:avLst/>
          </a:prstGeom>
          <a:noFill/>
          <a:ln/>
        </p:spPr>
        <p:txBody>
          <a:bodyPr wrap="square" lIns="0" tIns="0" rIns="0" bIns="0" rtlCol="0" anchor="ctr"/>
          <a:lstStyle/>
          <a:p>
            <a:pPr algn="ctr" indent="0" marL="0">
              <a:buNone/>
            </a:pPr>
            <a:r>
              <a:rPr lang="en-US" sz="975" b="1" spc="98" kern="0" dirty="0">
                <a:solidFill>
                  <a:srgbClr val="047857"/>
                </a:solidFill>
                <a:latin typeface="Inter" pitchFamily="34" charset="0"/>
                <a:ea typeface="Inter" pitchFamily="34" charset="-122"/>
                <a:cs typeface="Inter" pitchFamily="34" charset="-120"/>
              </a:rPr>
              <a:t>P6 · SiN cap</a:t>
            </a:r>
            <a:endParaRPr lang="en-US" sz="975" dirty="0"/>
          </a:p>
        </p:txBody>
      </p:sp>
      <p:sp>
        <p:nvSpPr>
          <p:cNvPr id="34" name="Text 18"/>
          <p:cNvSpPr txBox="1"/>
          <p:nvPr/>
        </p:nvSpPr>
        <p:spPr>
          <a:xfrm>
            <a:off x="857707" y="5948172"/>
            <a:ext cx="1143000" cy="200254"/>
          </a:xfrm>
          <a:prstGeom prst="rect">
            <a:avLst/>
          </a:prstGeom>
          <a:noFill/>
          <a:ln/>
        </p:spPr>
        <p:txBody>
          <a:bodyPr wrap="none" lIns="0" tIns="0" rIns="0" bIns="0" rtlCol="0" anchor="ctr"/>
          <a:lstStyle/>
          <a:p>
            <a:pPr algn="l" indent="0" marL="0">
              <a:buNone/>
            </a:pPr>
            <a:r>
              <a:rPr lang="en-US" sz="1350" b="1" dirty="0">
                <a:solidFill>
                  <a:srgbClr val="064E3B"/>
                </a:solidFill>
                <a:latin typeface="Inter" pitchFamily="34" charset="0"/>
                <a:ea typeface="Inter" pitchFamily="34" charset="-122"/>
                <a:cs typeface="Inter" pitchFamily="34" charset="-120"/>
              </a:rPr>
              <a:t>Cu</a:t>
            </a:r>
            <a:endParaRPr lang="en-US" sz="1350" dirty="0"/>
          </a:p>
        </p:txBody>
      </p:sp>
      <p:sp>
        <p:nvSpPr>
          <p:cNvPr id="35" name="Text 19"/>
          <p:cNvSpPr txBox="1"/>
          <p:nvPr/>
        </p:nvSpPr>
        <p:spPr>
          <a:xfrm>
            <a:off x="2000707" y="5924398"/>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96.8</a:t>
            </a:r>
            <a:endParaRPr lang="en-US" sz="1650" dirty="0"/>
          </a:p>
        </p:txBody>
      </p:sp>
      <p:sp>
        <p:nvSpPr>
          <p:cNvPr id="36" name="Text 20"/>
          <p:cNvSpPr txBox="1"/>
          <p:nvPr/>
        </p:nvSpPr>
        <p:spPr>
          <a:xfrm>
            <a:off x="4572000" y="5924398"/>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64.2</a:t>
            </a:r>
            <a:endParaRPr lang="en-US" sz="1650" dirty="0"/>
          </a:p>
        </p:txBody>
      </p:sp>
      <p:sp>
        <p:nvSpPr>
          <p:cNvPr id="37" name="Text 21"/>
          <p:cNvSpPr txBox="1"/>
          <p:nvPr/>
        </p:nvSpPr>
        <p:spPr>
          <a:xfrm>
            <a:off x="7144207" y="5934456"/>
            <a:ext cx="2572207" cy="228600"/>
          </a:xfrm>
          <a:prstGeom prst="rect">
            <a:avLst/>
          </a:prstGeom>
          <a:noFill/>
          <a:ln/>
        </p:spPr>
        <p:txBody>
          <a:bodyPr wrap="none" lIns="0" tIns="0" rIns="0" bIns="0" rtlCol="0" anchor="ctr"/>
          <a:lstStyle/>
          <a:p>
            <a:pPr algn="ctr" indent="0" marL="0">
              <a:buNone/>
            </a:pPr>
            <a:r>
              <a:rPr lang="en-US" sz="1500" b="1" dirty="0">
                <a:solidFill>
                  <a:srgbClr val="4B5563"/>
                </a:solidFill>
                <a:latin typeface="Inter" pitchFamily="34" charset="0"/>
                <a:ea typeface="Inter" pitchFamily="34" charset="-122"/>
                <a:cs typeface="Inter" pitchFamily="34" charset="-120"/>
              </a:rPr>
              <a:t>3.0</a:t>
            </a:r>
            <a:endParaRPr lang="en-US" sz="1500" dirty="0"/>
          </a:p>
        </p:txBody>
      </p:sp>
      <p:sp>
        <p:nvSpPr>
          <p:cNvPr id="38" name="Text 22"/>
          <p:cNvSpPr txBox="1"/>
          <p:nvPr/>
        </p:nvSpPr>
        <p:spPr>
          <a:xfrm>
            <a:off x="9715500" y="5948172"/>
            <a:ext cx="2572207" cy="200254"/>
          </a:xfrm>
          <a:prstGeom prst="rect">
            <a:avLst/>
          </a:prstGeom>
          <a:noFill/>
          <a:ln/>
        </p:spPr>
        <p:txBody>
          <a:bodyPr wrap="none" lIns="0" tIns="0" rIns="0" bIns="0" rtlCol="0" anchor="ctr"/>
          <a:lstStyle/>
          <a:p>
            <a:pPr algn="ctr" indent="0" marL="0">
              <a:buNone/>
            </a:pPr>
            <a:r>
              <a:rPr lang="en-US" sz="1350" dirty="0">
                <a:solidFill>
                  <a:srgbClr val="6B7280"/>
                </a:solidFill>
                <a:latin typeface="Inter" pitchFamily="34" charset="0"/>
                <a:ea typeface="Inter" pitchFamily="34" charset="-122"/>
                <a:cs typeface="Inter" pitchFamily="34" charset="-120"/>
              </a:rPr>
              <a:t>0.5</a:t>
            </a:r>
            <a:endParaRPr lang="en-US" sz="1350" dirty="0"/>
          </a:p>
        </p:txBody>
      </p:sp>
      <p:sp>
        <p:nvSpPr>
          <p:cNvPr id="39" name="Text 23"/>
          <p:cNvSpPr txBox="1"/>
          <p:nvPr/>
        </p:nvSpPr>
        <p:spPr>
          <a:xfrm>
            <a:off x="12287707" y="5948172"/>
            <a:ext cx="2572207" cy="200254"/>
          </a:xfrm>
          <a:prstGeom prst="rect">
            <a:avLst/>
          </a:prstGeom>
          <a:noFill/>
          <a:ln/>
        </p:spPr>
        <p:txBody>
          <a:bodyPr wrap="none" lIns="0" tIns="0" rIns="0" bIns="0" rtlCol="0" anchor="ctr"/>
          <a:lstStyle/>
          <a:p>
            <a:pPr algn="ctr" indent="0" marL="0">
              <a:buNone/>
            </a:pPr>
            <a:r>
              <a:rPr lang="en-US" sz="1350" dirty="0">
                <a:solidFill>
                  <a:srgbClr val="6B7280"/>
                </a:solidFill>
                <a:latin typeface="Inter" pitchFamily="34" charset="0"/>
                <a:ea typeface="Inter" pitchFamily="34" charset="-122"/>
                <a:cs typeface="Inter" pitchFamily="34" charset="-120"/>
              </a:rPr>
              <a:t>0.1</a:t>
            </a:r>
            <a:endParaRPr lang="en-US" sz="1350" dirty="0"/>
          </a:p>
        </p:txBody>
      </p:sp>
      <p:sp>
        <p:nvSpPr>
          <p:cNvPr id="40" name="Text 24"/>
          <p:cNvSpPr txBox="1"/>
          <p:nvPr/>
        </p:nvSpPr>
        <p:spPr>
          <a:xfrm>
            <a:off x="14859000" y="5948172"/>
            <a:ext cx="2572207" cy="200254"/>
          </a:xfrm>
          <a:prstGeom prst="rect">
            <a:avLst/>
          </a:prstGeom>
          <a:noFill/>
          <a:ln/>
        </p:spPr>
        <p:txBody>
          <a:bodyPr wrap="none" lIns="0" tIns="0" rIns="0" bIns="0" rtlCol="0" anchor="ctr"/>
          <a:lstStyle/>
          <a:p>
            <a:pPr algn="ctr" indent="0" marL="0">
              <a:buNone/>
            </a:pPr>
            <a:r>
              <a:rPr lang="en-US" sz="1350" dirty="0">
                <a:solidFill>
                  <a:srgbClr val="6B7280"/>
                </a:solidFill>
                <a:latin typeface="Inter" pitchFamily="34" charset="0"/>
                <a:ea typeface="Inter" pitchFamily="34" charset="-122"/>
                <a:cs typeface="Inter" pitchFamily="34" charset="-120"/>
              </a:rPr>
              <a:t>0.9</a:t>
            </a:r>
            <a:endParaRPr lang="en-US" sz="1350" dirty="0"/>
          </a:p>
        </p:txBody>
      </p:sp>
      <p:sp>
        <p:nvSpPr>
          <p:cNvPr id="41" name="Shape 25"/>
          <p:cNvSpPr/>
          <p:nvPr/>
        </p:nvSpPr>
        <p:spPr>
          <a:xfrm>
            <a:off x="857707" y="6191402"/>
            <a:ext cx="16573500" cy="323698"/>
          </a:xfrm>
          <a:prstGeom prst="rect">
            <a:avLst/>
          </a:prstGeom>
          <a:solidFill>
            <a:srgbClr val="F7FAF7"/>
          </a:solidFill>
          <a:ln w="12700">
            <a:solidFill>
              <a:srgbClr val="FFFFFF">
                <a:alpha val="0"/>
              </a:srgbClr>
            </a:solidFill>
            <a:prstDash val="solid"/>
          </a:ln>
        </p:spPr>
      </p:sp>
      <p:sp>
        <p:nvSpPr>
          <p:cNvPr id="42" name="Text 26"/>
          <p:cNvSpPr txBox="1"/>
          <p:nvPr/>
        </p:nvSpPr>
        <p:spPr>
          <a:xfrm>
            <a:off x="857707" y="6253582"/>
            <a:ext cx="1143000" cy="200254"/>
          </a:xfrm>
          <a:prstGeom prst="rect">
            <a:avLst/>
          </a:prstGeom>
          <a:noFill/>
          <a:ln/>
        </p:spPr>
        <p:txBody>
          <a:bodyPr wrap="none" lIns="0" tIns="0" rIns="0" bIns="0" rtlCol="0" anchor="ctr"/>
          <a:lstStyle/>
          <a:p>
            <a:pPr algn="l" indent="0" marL="0">
              <a:buNone/>
            </a:pPr>
            <a:r>
              <a:rPr lang="en-US" sz="1350" b="1" dirty="0">
                <a:solidFill>
                  <a:srgbClr val="047857"/>
                </a:solidFill>
                <a:latin typeface="Inter" pitchFamily="34" charset="0"/>
                <a:ea typeface="Inter" pitchFamily="34" charset="-122"/>
                <a:cs typeface="Inter" pitchFamily="34" charset="-120"/>
              </a:rPr>
              <a:t>Ta</a:t>
            </a:r>
            <a:endParaRPr lang="en-US" sz="1350" dirty="0"/>
          </a:p>
        </p:txBody>
      </p:sp>
      <p:sp>
        <p:nvSpPr>
          <p:cNvPr id="43" name="Text 27"/>
          <p:cNvSpPr txBox="1"/>
          <p:nvPr/>
        </p:nvSpPr>
        <p:spPr>
          <a:xfrm>
            <a:off x="2000707" y="6253582"/>
            <a:ext cx="2572207" cy="200254"/>
          </a:xfrm>
          <a:prstGeom prst="rect">
            <a:avLst/>
          </a:prstGeom>
          <a:noFill/>
          <a:ln/>
        </p:spPr>
        <p:txBody>
          <a:bodyPr wrap="none" lIns="0" tIns="0" rIns="0" bIns="0" rtlCol="0" anchor="ctr"/>
          <a:lstStyle/>
          <a:p>
            <a:pPr algn="ctr" indent="0" marL="0">
              <a:buNone/>
            </a:pPr>
            <a:r>
              <a:rPr lang="en-US" sz="1350" dirty="0">
                <a:solidFill>
                  <a:srgbClr val="6B7280"/>
                </a:solidFill>
                <a:latin typeface="Inter" pitchFamily="34" charset="0"/>
                <a:ea typeface="Inter" pitchFamily="34" charset="-122"/>
                <a:cs typeface="Inter" pitchFamily="34" charset="-120"/>
              </a:rPr>
              <a:t>1.9</a:t>
            </a:r>
            <a:endParaRPr lang="en-US" sz="1350" dirty="0"/>
          </a:p>
        </p:txBody>
      </p:sp>
      <p:sp>
        <p:nvSpPr>
          <p:cNvPr id="44" name="Text 28"/>
          <p:cNvSpPr txBox="1"/>
          <p:nvPr/>
        </p:nvSpPr>
        <p:spPr>
          <a:xfrm>
            <a:off x="4572000" y="6229807"/>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28.4</a:t>
            </a:r>
            <a:endParaRPr lang="en-US" sz="1650" dirty="0"/>
          </a:p>
        </p:txBody>
      </p:sp>
      <p:sp>
        <p:nvSpPr>
          <p:cNvPr id="45" name="Text 29"/>
          <p:cNvSpPr txBox="1"/>
          <p:nvPr/>
        </p:nvSpPr>
        <p:spPr>
          <a:xfrm>
            <a:off x="7144207" y="6229807"/>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32.1</a:t>
            </a:r>
            <a:endParaRPr lang="en-US" sz="1650" dirty="0"/>
          </a:p>
        </p:txBody>
      </p:sp>
      <p:sp>
        <p:nvSpPr>
          <p:cNvPr id="46" name="Text 30"/>
          <p:cNvSpPr txBox="1"/>
          <p:nvPr/>
        </p:nvSpPr>
        <p:spPr>
          <a:xfrm>
            <a:off x="9715500" y="6253582"/>
            <a:ext cx="2572207" cy="200254"/>
          </a:xfrm>
          <a:prstGeom prst="rect">
            <a:avLst/>
          </a:prstGeom>
          <a:noFill/>
          <a:ln/>
        </p:spPr>
        <p:txBody>
          <a:bodyPr wrap="none" lIns="0" tIns="0" rIns="0" bIns="0" rtlCol="0" anchor="ctr"/>
          <a:lstStyle/>
          <a:p>
            <a:pPr algn="ctr" indent="0" marL="0">
              <a:buNone/>
            </a:pPr>
            <a:r>
              <a:rPr lang="en-US" sz="1350" dirty="0">
                <a:solidFill>
                  <a:srgbClr val="9CA3AF"/>
                </a:solidFill>
                <a:latin typeface="Inter" pitchFamily="34" charset="0"/>
                <a:ea typeface="Inter" pitchFamily="34" charset="-122"/>
                <a:cs typeface="Inter" pitchFamily="34" charset="-120"/>
              </a:rPr>
              <a:t>—</a:t>
            </a:r>
            <a:endParaRPr lang="en-US" sz="1350" dirty="0"/>
          </a:p>
        </p:txBody>
      </p:sp>
      <p:sp>
        <p:nvSpPr>
          <p:cNvPr id="47" name="Text 31"/>
          <p:cNvSpPr txBox="1"/>
          <p:nvPr/>
        </p:nvSpPr>
        <p:spPr>
          <a:xfrm>
            <a:off x="12287707" y="6253582"/>
            <a:ext cx="2572207" cy="200254"/>
          </a:xfrm>
          <a:prstGeom prst="rect">
            <a:avLst/>
          </a:prstGeom>
          <a:noFill/>
          <a:ln/>
        </p:spPr>
        <p:txBody>
          <a:bodyPr wrap="none" lIns="0" tIns="0" rIns="0" bIns="0" rtlCol="0" anchor="ctr"/>
          <a:lstStyle/>
          <a:p>
            <a:pPr algn="ctr" indent="0" marL="0">
              <a:buNone/>
            </a:pPr>
            <a:r>
              <a:rPr lang="en-US" sz="1350" dirty="0">
                <a:solidFill>
                  <a:srgbClr val="9CA3AF"/>
                </a:solidFill>
                <a:latin typeface="Inter" pitchFamily="34" charset="0"/>
                <a:ea typeface="Inter" pitchFamily="34" charset="-122"/>
                <a:cs typeface="Inter" pitchFamily="34" charset="-120"/>
              </a:rPr>
              <a:t>—</a:t>
            </a:r>
            <a:endParaRPr lang="en-US" sz="1350" dirty="0"/>
          </a:p>
        </p:txBody>
      </p:sp>
      <p:sp>
        <p:nvSpPr>
          <p:cNvPr id="48" name="Text 32"/>
          <p:cNvSpPr txBox="1"/>
          <p:nvPr/>
        </p:nvSpPr>
        <p:spPr>
          <a:xfrm>
            <a:off x="14859000" y="6253582"/>
            <a:ext cx="2572207" cy="200254"/>
          </a:xfrm>
          <a:prstGeom prst="rect">
            <a:avLst/>
          </a:prstGeom>
          <a:noFill/>
          <a:ln/>
        </p:spPr>
        <p:txBody>
          <a:bodyPr wrap="none" lIns="0" tIns="0" rIns="0" bIns="0" rtlCol="0" anchor="ctr"/>
          <a:lstStyle/>
          <a:p>
            <a:pPr algn="ctr" indent="0" marL="0">
              <a:buNone/>
            </a:pPr>
            <a:r>
              <a:rPr lang="en-US" sz="1350" dirty="0">
                <a:solidFill>
                  <a:srgbClr val="9CA3AF"/>
                </a:solidFill>
                <a:latin typeface="Inter" pitchFamily="34" charset="0"/>
                <a:ea typeface="Inter" pitchFamily="34" charset="-122"/>
                <a:cs typeface="Inter" pitchFamily="34" charset="-120"/>
              </a:rPr>
              <a:t>—</a:t>
            </a:r>
            <a:endParaRPr lang="en-US" sz="1350" dirty="0"/>
          </a:p>
        </p:txBody>
      </p:sp>
      <p:sp>
        <p:nvSpPr>
          <p:cNvPr id="49" name="Text 33"/>
          <p:cNvSpPr txBox="1"/>
          <p:nvPr/>
        </p:nvSpPr>
        <p:spPr>
          <a:xfrm>
            <a:off x="857707" y="6558077"/>
            <a:ext cx="1143000" cy="200254"/>
          </a:xfrm>
          <a:prstGeom prst="rect">
            <a:avLst/>
          </a:prstGeom>
          <a:noFill/>
          <a:ln/>
        </p:spPr>
        <p:txBody>
          <a:bodyPr wrap="none" lIns="0" tIns="0" rIns="0" bIns="0" rtlCol="0" anchor="ctr"/>
          <a:lstStyle/>
          <a:p>
            <a:pPr algn="l" indent="0" marL="0">
              <a:buNone/>
            </a:pPr>
            <a:r>
              <a:rPr lang="en-US" sz="1350" b="1" dirty="0">
                <a:solidFill>
                  <a:srgbClr val="10B981"/>
                </a:solidFill>
                <a:latin typeface="Inter" pitchFamily="34" charset="0"/>
                <a:ea typeface="Inter" pitchFamily="34" charset="-122"/>
                <a:cs typeface="Inter" pitchFamily="34" charset="-120"/>
              </a:rPr>
              <a:t>Si</a:t>
            </a:r>
            <a:endParaRPr lang="en-US" sz="1350" dirty="0"/>
          </a:p>
        </p:txBody>
      </p:sp>
      <p:sp>
        <p:nvSpPr>
          <p:cNvPr id="50" name="Text 34"/>
          <p:cNvSpPr txBox="1"/>
          <p:nvPr/>
        </p:nvSpPr>
        <p:spPr>
          <a:xfrm>
            <a:off x="2000707" y="6558077"/>
            <a:ext cx="2572207" cy="200254"/>
          </a:xfrm>
          <a:prstGeom prst="rect">
            <a:avLst/>
          </a:prstGeom>
          <a:noFill/>
          <a:ln/>
        </p:spPr>
        <p:txBody>
          <a:bodyPr wrap="none" lIns="0" tIns="0" rIns="0" bIns="0" rtlCol="0" anchor="ctr"/>
          <a:lstStyle/>
          <a:p>
            <a:pPr algn="ctr" indent="0" marL="0">
              <a:buNone/>
            </a:pPr>
            <a:r>
              <a:rPr lang="en-US" sz="1350" dirty="0">
                <a:solidFill>
                  <a:srgbClr val="9CA3AF"/>
                </a:solidFill>
                <a:latin typeface="Inter" pitchFamily="34" charset="0"/>
                <a:ea typeface="Inter" pitchFamily="34" charset="-122"/>
                <a:cs typeface="Inter" pitchFamily="34" charset="-120"/>
              </a:rPr>
              <a:t>0.3</a:t>
            </a:r>
            <a:endParaRPr lang="en-US" sz="1350" dirty="0"/>
          </a:p>
        </p:txBody>
      </p:sp>
      <p:sp>
        <p:nvSpPr>
          <p:cNvPr id="51" name="Text 35"/>
          <p:cNvSpPr txBox="1"/>
          <p:nvPr/>
        </p:nvSpPr>
        <p:spPr>
          <a:xfrm>
            <a:off x="4572000" y="6558077"/>
            <a:ext cx="2572207" cy="200254"/>
          </a:xfrm>
          <a:prstGeom prst="rect">
            <a:avLst/>
          </a:prstGeom>
          <a:noFill/>
          <a:ln/>
        </p:spPr>
        <p:txBody>
          <a:bodyPr wrap="none" lIns="0" tIns="0" rIns="0" bIns="0" rtlCol="0" anchor="ctr"/>
          <a:lstStyle/>
          <a:p>
            <a:pPr algn="ctr" indent="0" marL="0">
              <a:buNone/>
            </a:pPr>
            <a:r>
              <a:rPr lang="en-US" sz="1350" dirty="0">
                <a:solidFill>
                  <a:srgbClr val="6B7280"/>
                </a:solidFill>
                <a:latin typeface="Inter" pitchFamily="34" charset="0"/>
                <a:ea typeface="Inter" pitchFamily="34" charset="-122"/>
                <a:cs typeface="Inter" pitchFamily="34" charset="-120"/>
              </a:rPr>
              <a:t>1.2</a:t>
            </a:r>
            <a:endParaRPr lang="en-US" sz="1350" dirty="0"/>
          </a:p>
        </p:txBody>
      </p:sp>
      <p:sp>
        <p:nvSpPr>
          <p:cNvPr id="52" name="Text 36"/>
          <p:cNvSpPr txBox="1"/>
          <p:nvPr/>
        </p:nvSpPr>
        <p:spPr>
          <a:xfrm>
            <a:off x="7144207" y="6534302"/>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24.8</a:t>
            </a:r>
            <a:endParaRPr lang="en-US" sz="1650" dirty="0"/>
          </a:p>
        </p:txBody>
      </p:sp>
      <p:sp>
        <p:nvSpPr>
          <p:cNvPr id="53" name="Text 37"/>
          <p:cNvSpPr txBox="1"/>
          <p:nvPr/>
        </p:nvSpPr>
        <p:spPr>
          <a:xfrm>
            <a:off x="9715500" y="6534302"/>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39.2</a:t>
            </a:r>
            <a:endParaRPr lang="en-US" sz="1650" dirty="0"/>
          </a:p>
        </p:txBody>
      </p:sp>
      <p:sp>
        <p:nvSpPr>
          <p:cNvPr id="54" name="Text 38"/>
          <p:cNvSpPr txBox="1"/>
          <p:nvPr/>
        </p:nvSpPr>
        <p:spPr>
          <a:xfrm>
            <a:off x="12287707" y="6534302"/>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37.8</a:t>
            </a:r>
            <a:endParaRPr lang="en-US" sz="1650" dirty="0"/>
          </a:p>
        </p:txBody>
      </p:sp>
      <p:sp>
        <p:nvSpPr>
          <p:cNvPr id="55" name="Text 39"/>
          <p:cNvSpPr txBox="1"/>
          <p:nvPr/>
        </p:nvSpPr>
        <p:spPr>
          <a:xfrm>
            <a:off x="14859000" y="6534302"/>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51.4</a:t>
            </a:r>
            <a:endParaRPr lang="en-US" sz="1650" dirty="0"/>
          </a:p>
        </p:txBody>
      </p:sp>
      <p:sp>
        <p:nvSpPr>
          <p:cNvPr id="56" name="Shape 40"/>
          <p:cNvSpPr/>
          <p:nvPr/>
        </p:nvSpPr>
        <p:spPr>
          <a:xfrm>
            <a:off x="857707" y="6801307"/>
            <a:ext cx="16573500" cy="323698"/>
          </a:xfrm>
          <a:prstGeom prst="rect">
            <a:avLst/>
          </a:prstGeom>
          <a:solidFill>
            <a:srgbClr val="F7FAF7"/>
          </a:solidFill>
          <a:ln w="12700">
            <a:solidFill>
              <a:srgbClr val="FFFFFF">
                <a:alpha val="0"/>
              </a:srgbClr>
            </a:solidFill>
            <a:prstDash val="solid"/>
          </a:ln>
        </p:spPr>
      </p:sp>
      <p:sp>
        <p:nvSpPr>
          <p:cNvPr id="57" name="Text 41"/>
          <p:cNvSpPr txBox="1"/>
          <p:nvPr/>
        </p:nvSpPr>
        <p:spPr>
          <a:xfrm>
            <a:off x="857707" y="6862572"/>
            <a:ext cx="1143000" cy="200254"/>
          </a:xfrm>
          <a:prstGeom prst="rect">
            <a:avLst/>
          </a:prstGeom>
          <a:noFill/>
          <a:ln/>
        </p:spPr>
        <p:txBody>
          <a:bodyPr wrap="none" lIns="0" tIns="0" rIns="0" bIns="0" rtlCol="0" anchor="ctr"/>
          <a:lstStyle/>
          <a:p>
            <a:pPr algn="l" indent="0" marL="0">
              <a:buNone/>
            </a:pPr>
            <a:r>
              <a:rPr lang="en-US" sz="1350" b="1" dirty="0">
                <a:solidFill>
                  <a:srgbClr val="D97706"/>
                </a:solidFill>
                <a:latin typeface="Inter" pitchFamily="34" charset="0"/>
                <a:ea typeface="Inter" pitchFamily="34" charset="-122"/>
                <a:cs typeface="Inter" pitchFamily="34" charset="-120"/>
              </a:rPr>
              <a:t>O</a:t>
            </a:r>
            <a:endParaRPr lang="en-US" sz="1350" dirty="0"/>
          </a:p>
        </p:txBody>
      </p:sp>
      <p:sp>
        <p:nvSpPr>
          <p:cNvPr id="58" name="Text 42"/>
          <p:cNvSpPr txBox="1"/>
          <p:nvPr/>
        </p:nvSpPr>
        <p:spPr>
          <a:xfrm>
            <a:off x="2000707" y="6862572"/>
            <a:ext cx="2572207" cy="200254"/>
          </a:xfrm>
          <a:prstGeom prst="rect">
            <a:avLst/>
          </a:prstGeom>
          <a:noFill/>
          <a:ln/>
        </p:spPr>
        <p:txBody>
          <a:bodyPr wrap="none" lIns="0" tIns="0" rIns="0" bIns="0" rtlCol="0" anchor="ctr"/>
          <a:lstStyle/>
          <a:p>
            <a:pPr algn="ctr" indent="0" marL="0">
              <a:buNone/>
            </a:pPr>
            <a:r>
              <a:rPr lang="en-US" sz="1350" dirty="0">
                <a:solidFill>
                  <a:srgbClr val="9CA3AF"/>
                </a:solidFill>
                <a:latin typeface="Inter" pitchFamily="34" charset="0"/>
                <a:ea typeface="Inter" pitchFamily="34" charset="-122"/>
                <a:cs typeface="Inter" pitchFamily="34" charset="-120"/>
              </a:rPr>
              <a:t>0.4</a:t>
            </a:r>
            <a:endParaRPr lang="en-US" sz="1350" dirty="0"/>
          </a:p>
        </p:txBody>
      </p:sp>
      <p:sp>
        <p:nvSpPr>
          <p:cNvPr id="59" name="Text 43"/>
          <p:cNvSpPr txBox="1"/>
          <p:nvPr/>
        </p:nvSpPr>
        <p:spPr>
          <a:xfrm>
            <a:off x="4572000" y="6862572"/>
            <a:ext cx="2572207" cy="200254"/>
          </a:xfrm>
          <a:prstGeom prst="rect">
            <a:avLst/>
          </a:prstGeom>
          <a:noFill/>
          <a:ln/>
        </p:spPr>
        <p:txBody>
          <a:bodyPr wrap="none" lIns="0" tIns="0" rIns="0" bIns="0" rtlCol="0" anchor="ctr"/>
          <a:lstStyle/>
          <a:p>
            <a:pPr algn="ctr" indent="0" marL="0">
              <a:buNone/>
            </a:pPr>
            <a:r>
              <a:rPr lang="en-US" sz="1350" dirty="0">
                <a:solidFill>
                  <a:srgbClr val="6B7280"/>
                </a:solidFill>
                <a:latin typeface="Inter" pitchFamily="34" charset="0"/>
                <a:ea typeface="Inter" pitchFamily="34" charset="-122"/>
                <a:cs typeface="Inter" pitchFamily="34" charset="-120"/>
              </a:rPr>
              <a:t>1.5</a:t>
            </a:r>
            <a:endParaRPr lang="en-US" sz="1350" dirty="0"/>
          </a:p>
        </p:txBody>
      </p:sp>
      <p:sp>
        <p:nvSpPr>
          <p:cNvPr id="60" name="Text 44"/>
          <p:cNvSpPr txBox="1"/>
          <p:nvPr/>
        </p:nvSpPr>
        <p:spPr>
          <a:xfrm>
            <a:off x="7144207" y="6838798"/>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18.6</a:t>
            </a:r>
            <a:endParaRPr lang="en-US" sz="1650" dirty="0"/>
          </a:p>
        </p:txBody>
      </p:sp>
      <p:sp>
        <p:nvSpPr>
          <p:cNvPr id="61" name="Text 45"/>
          <p:cNvSpPr txBox="1"/>
          <p:nvPr/>
        </p:nvSpPr>
        <p:spPr>
          <a:xfrm>
            <a:off x="9715500" y="6838798"/>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47.5</a:t>
            </a:r>
            <a:endParaRPr lang="en-US" sz="1650" dirty="0"/>
          </a:p>
        </p:txBody>
      </p:sp>
      <p:sp>
        <p:nvSpPr>
          <p:cNvPr id="62" name="Text 46"/>
          <p:cNvSpPr txBox="1"/>
          <p:nvPr/>
        </p:nvSpPr>
        <p:spPr>
          <a:xfrm>
            <a:off x="12287707" y="6838798"/>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48.6</a:t>
            </a:r>
            <a:endParaRPr lang="en-US" sz="1650" dirty="0"/>
          </a:p>
        </p:txBody>
      </p:sp>
      <p:sp>
        <p:nvSpPr>
          <p:cNvPr id="63" name="Text 47"/>
          <p:cNvSpPr txBox="1"/>
          <p:nvPr/>
        </p:nvSpPr>
        <p:spPr>
          <a:xfrm>
            <a:off x="14859000" y="6838798"/>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7.4</a:t>
            </a:r>
            <a:endParaRPr lang="en-US" sz="1650" dirty="0"/>
          </a:p>
        </p:txBody>
      </p:sp>
      <p:sp>
        <p:nvSpPr>
          <p:cNvPr id="64" name="Text 48"/>
          <p:cNvSpPr txBox="1"/>
          <p:nvPr/>
        </p:nvSpPr>
        <p:spPr>
          <a:xfrm>
            <a:off x="857707" y="7167982"/>
            <a:ext cx="1143000" cy="200254"/>
          </a:xfrm>
          <a:prstGeom prst="rect">
            <a:avLst/>
          </a:prstGeom>
          <a:noFill/>
          <a:ln/>
        </p:spPr>
        <p:txBody>
          <a:bodyPr wrap="none" lIns="0" tIns="0" rIns="0" bIns="0" rtlCol="0" anchor="ctr"/>
          <a:lstStyle/>
          <a:p>
            <a:pPr algn="l" indent="0" marL="0">
              <a:buNone/>
            </a:pPr>
            <a:r>
              <a:rPr lang="en-US" sz="1350" b="1" dirty="0">
                <a:solidFill>
                  <a:srgbClr val="0EA5E9"/>
                </a:solidFill>
                <a:latin typeface="Inter" pitchFamily="34" charset="0"/>
                <a:ea typeface="Inter" pitchFamily="34" charset="-122"/>
                <a:cs typeface="Inter" pitchFamily="34" charset="-120"/>
              </a:rPr>
              <a:t>N</a:t>
            </a:r>
            <a:endParaRPr lang="en-US" sz="1350" dirty="0"/>
          </a:p>
        </p:txBody>
      </p:sp>
      <p:sp>
        <p:nvSpPr>
          <p:cNvPr id="65" name="Text 49"/>
          <p:cNvSpPr txBox="1"/>
          <p:nvPr/>
        </p:nvSpPr>
        <p:spPr>
          <a:xfrm>
            <a:off x="2000707" y="7167982"/>
            <a:ext cx="2572207" cy="200254"/>
          </a:xfrm>
          <a:prstGeom prst="rect">
            <a:avLst/>
          </a:prstGeom>
          <a:noFill/>
          <a:ln/>
        </p:spPr>
        <p:txBody>
          <a:bodyPr wrap="none" lIns="0" tIns="0" rIns="0" bIns="0" rtlCol="0" anchor="ctr"/>
          <a:lstStyle/>
          <a:p>
            <a:pPr algn="ctr" indent="0" marL="0">
              <a:buNone/>
            </a:pPr>
            <a:r>
              <a:rPr lang="en-US" sz="1350" dirty="0">
                <a:solidFill>
                  <a:srgbClr val="9CA3AF"/>
                </a:solidFill>
                <a:latin typeface="Inter" pitchFamily="34" charset="0"/>
                <a:ea typeface="Inter" pitchFamily="34" charset="-122"/>
                <a:cs typeface="Inter" pitchFamily="34" charset="-120"/>
              </a:rPr>
              <a:t>0.6</a:t>
            </a:r>
            <a:endParaRPr lang="en-US" sz="1350" dirty="0"/>
          </a:p>
        </p:txBody>
      </p:sp>
      <p:sp>
        <p:nvSpPr>
          <p:cNvPr id="66" name="Text 50"/>
          <p:cNvSpPr txBox="1"/>
          <p:nvPr/>
        </p:nvSpPr>
        <p:spPr>
          <a:xfrm>
            <a:off x="4572000" y="7167982"/>
            <a:ext cx="2572207" cy="200254"/>
          </a:xfrm>
          <a:prstGeom prst="rect">
            <a:avLst/>
          </a:prstGeom>
          <a:noFill/>
          <a:ln/>
        </p:spPr>
        <p:txBody>
          <a:bodyPr wrap="none" lIns="0" tIns="0" rIns="0" bIns="0" rtlCol="0" anchor="ctr"/>
          <a:lstStyle/>
          <a:p>
            <a:pPr algn="ctr" indent="0" marL="0">
              <a:buNone/>
            </a:pPr>
            <a:r>
              <a:rPr lang="en-US" sz="1350" dirty="0">
                <a:solidFill>
                  <a:srgbClr val="6B7280"/>
                </a:solidFill>
                <a:latin typeface="Inter" pitchFamily="34" charset="0"/>
                <a:ea typeface="Inter" pitchFamily="34" charset="-122"/>
                <a:cs typeface="Inter" pitchFamily="34" charset="-120"/>
              </a:rPr>
              <a:t>4.7</a:t>
            </a:r>
            <a:endParaRPr lang="en-US" sz="1350" dirty="0"/>
          </a:p>
        </p:txBody>
      </p:sp>
      <p:sp>
        <p:nvSpPr>
          <p:cNvPr id="67" name="Text 51"/>
          <p:cNvSpPr txBox="1"/>
          <p:nvPr/>
        </p:nvSpPr>
        <p:spPr>
          <a:xfrm>
            <a:off x="7144207" y="7144207"/>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21.5</a:t>
            </a:r>
            <a:endParaRPr lang="en-US" sz="1650" dirty="0"/>
          </a:p>
        </p:txBody>
      </p:sp>
      <p:sp>
        <p:nvSpPr>
          <p:cNvPr id="68" name="Text 52"/>
          <p:cNvSpPr txBox="1"/>
          <p:nvPr/>
        </p:nvSpPr>
        <p:spPr>
          <a:xfrm>
            <a:off x="9715500" y="7167982"/>
            <a:ext cx="2572207" cy="200254"/>
          </a:xfrm>
          <a:prstGeom prst="rect">
            <a:avLst/>
          </a:prstGeom>
          <a:noFill/>
          <a:ln/>
        </p:spPr>
        <p:txBody>
          <a:bodyPr wrap="none" lIns="0" tIns="0" rIns="0" bIns="0" rtlCol="0" anchor="ctr"/>
          <a:lstStyle/>
          <a:p>
            <a:pPr algn="ctr" indent="0" marL="0">
              <a:buNone/>
            </a:pPr>
            <a:r>
              <a:rPr lang="en-US" sz="1350" dirty="0">
                <a:solidFill>
                  <a:srgbClr val="6B7280"/>
                </a:solidFill>
                <a:latin typeface="Inter" pitchFamily="34" charset="0"/>
                <a:ea typeface="Inter" pitchFamily="34" charset="-122"/>
                <a:cs typeface="Inter" pitchFamily="34" charset="-120"/>
              </a:rPr>
              <a:t>1.5</a:t>
            </a:r>
            <a:endParaRPr lang="en-US" sz="1350" dirty="0"/>
          </a:p>
        </p:txBody>
      </p:sp>
      <p:sp>
        <p:nvSpPr>
          <p:cNvPr id="69" name="Text 53"/>
          <p:cNvSpPr txBox="1"/>
          <p:nvPr/>
        </p:nvSpPr>
        <p:spPr>
          <a:xfrm>
            <a:off x="12287707" y="7167982"/>
            <a:ext cx="2572207" cy="200254"/>
          </a:xfrm>
          <a:prstGeom prst="rect">
            <a:avLst/>
          </a:prstGeom>
          <a:noFill/>
          <a:ln/>
        </p:spPr>
        <p:txBody>
          <a:bodyPr wrap="none" lIns="0" tIns="0" rIns="0" bIns="0" rtlCol="0" anchor="ctr"/>
          <a:lstStyle/>
          <a:p>
            <a:pPr algn="ctr" indent="0" marL="0">
              <a:buNone/>
            </a:pPr>
            <a:r>
              <a:rPr lang="en-US" sz="1350" dirty="0">
                <a:solidFill>
                  <a:srgbClr val="6B7280"/>
                </a:solidFill>
                <a:latin typeface="Inter" pitchFamily="34" charset="0"/>
                <a:ea typeface="Inter" pitchFamily="34" charset="-122"/>
                <a:cs typeface="Inter" pitchFamily="34" charset="-120"/>
              </a:rPr>
              <a:t>1.4</a:t>
            </a:r>
            <a:endParaRPr lang="en-US" sz="1350" dirty="0"/>
          </a:p>
        </p:txBody>
      </p:sp>
      <p:sp>
        <p:nvSpPr>
          <p:cNvPr id="70" name="Text 54"/>
          <p:cNvSpPr txBox="1"/>
          <p:nvPr/>
        </p:nvSpPr>
        <p:spPr>
          <a:xfrm>
            <a:off x="14859000" y="7144207"/>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38.2</a:t>
            </a:r>
            <a:endParaRPr lang="en-US" sz="1650" dirty="0"/>
          </a:p>
        </p:txBody>
      </p:sp>
      <p:sp>
        <p:nvSpPr>
          <p:cNvPr id="71" name="Shape 55"/>
          <p:cNvSpPr/>
          <p:nvPr/>
        </p:nvSpPr>
        <p:spPr>
          <a:xfrm>
            <a:off x="857707" y="7410298"/>
            <a:ext cx="16573500" cy="323698"/>
          </a:xfrm>
          <a:prstGeom prst="rect">
            <a:avLst/>
          </a:prstGeom>
          <a:solidFill>
            <a:srgbClr val="F7FAF7"/>
          </a:solidFill>
          <a:ln w="12700">
            <a:solidFill>
              <a:srgbClr val="FFFFFF">
                <a:alpha val="0"/>
              </a:srgbClr>
            </a:solidFill>
            <a:prstDash val="solid"/>
          </a:ln>
        </p:spPr>
      </p:sp>
      <p:sp>
        <p:nvSpPr>
          <p:cNvPr id="72" name="Text 56"/>
          <p:cNvSpPr txBox="1"/>
          <p:nvPr/>
        </p:nvSpPr>
        <p:spPr>
          <a:xfrm>
            <a:off x="857707" y="7472477"/>
            <a:ext cx="1143000" cy="200254"/>
          </a:xfrm>
          <a:prstGeom prst="rect">
            <a:avLst/>
          </a:prstGeom>
          <a:noFill/>
          <a:ln/>
        </p:spPr>
        <p:txBody>
          <a:bodyPr wrap="none" lIns="0" tIns="0" rIns="0" bIns="0" rtlCol="0" anchor="ctr"/>
          <a:lstStyle/>
          <a:p>
            <a:pPr algn="l" indent="0" marL="0">
              <a:buNone/>
            </a:pPr>
            <a:r>
              <a:rPr lang="en-US" sz="1350" b="1" dirty="0">
                <a:solidFill>
                  <a:srgbClr val="34D399"/>
                </a:solidFill>
                <a:latin typeface="Inter" pitchFamily="34" charset="0"/>
                <a:ea typeface="Inter" pitchFamily="34" charset="-122"/>
                <a:cs typeface="Inter" pitchFamily="34" charset="-120"/>
              </a:rPr>
              <a:t>C</a:t>
            </a:r>
            <a:endParaRPr lang="en-US" sz="1350" dirty="0"/>
          </a:p>
        </p:txBody>
      </p:sp>
      <p:sp>
        <p:nvSpPr>
          <p:cNvPr id="73" name="Text 57"/>
          <p:cNvSpPr txBox="1"/>
          <p:nvPr/>
        </p:nvSpPr>
        <p:spPr>
          <a:xfrm>
            <a:off x="2000707" y="7472477"/>
            <a:ext cx="2572207" cy="200254"/>
          </a:xfrm>
          <a:prstGeom prst="rect">
            <a:avLst/>
          </a:prstGeom>
          <a:noFill/>
          <a:ln/>
        </p:spPr>
        <p:txBody>
          <a:bodyPr wrap="none" lIns="0" tIns="0" rIns="0" bIns="0" rtlCol="0" anchor="ctr"/>
          <a:lstStyle/>
          <a:p>
            <a:pPr algn="ctr" indent="0" marL="0">
              <a:buNone/>
            </a:pPr>
            <a:r>
              <a:rPr lang="en-US" sz="1350" dirty="0">
                <a:solidFill>
                  <a:srgbClr val="9CA3AF"/>
                </a:solidFill>
                <a:latin typeface="Inter" pitchFamily="34" charset="0"/>
                <a:ea typeface="Inter" pitchFamily="34" charset="-122"/>
                <a:cs typeface="Inter" pitchFamily="34" charset="-120"/>
              </a:rPr>
              <a:t>tr.</a:t>
            </a:r>
            <a:endParaRPr lang="en-US" sz="1350" dirty="0"/>
          </a:p>
        </p:txBody>
      </p:sp>
      <p:sp>
        <p:nvSpPr>
          <p:cNvPr id="74" name="Text 58"/>
          <p:cNvSpPr txBox="1"/>
          <p:nvPr/>
        </p:nvSpPr>
        <p:spPr>
          <a:xfrm>
            <a:off x="4572000" y="7472477"/>
            <a:ext cx="2572207" cy="200254"/>
          </a:xfrm>
          <a:prstGeom prst="rect">
            <a:avLst/>
          </a:prstGeom>
          <a:noFill/>
          <a:ln/>
        </p:spPr>
        <p:txBody>
          <a:bodyPr wrap="none" lIns="0" tIns="0" rIns="0" bIns="0" rtlCol="0" anchor="ctr"/>
          <a:lstStyle/>
          <a:p>
            <a:pPr algn="ctr" indent="0" marL="0">
              <a:buNone/>
            </a:pPr>
            <a:r>
              <a:rPr lang="en-US" sz="1350" dirty="0">
                <a:solidFill>
                  <a:srgbClr val="9CA3AF"/>
                </a:solidFill>
                <a:latin typeface="Inter" pitchFamily="34" charset="0"/>
                <a:ea typeface="Inter" pitchFamily="34" charset="-122"/>
                <a:cs typeface="Inter" pitchFamily="34" charset="-120"/>
              </a:rPr>
              <a:t>tr.</a:t>
            </a:r>
            <a:endParaRPr lang="en-US" sz="1350" dirty="0"/>
          </a:p>
        </p:txBody>
      </p:sp>
      <p:sp>
        <p:nvSpPr>
          <p:cNvPr id="75" name="Text 59"/>
          <p:cNvSpPr txBox="1"/>
          <p:nvPr/>
        </p:nvSpPr>
        <p:spPr>
          <a:xfrm>
            <a:off x="7144207" y="7472477"/>
            <a:ext cx="2572207" cy="200254"/>
          </a:xfrm>
          <a:prstGeom prst="rect">
            <a:avLst/>
          </a:prstGeom>
          <a:noFill/>
          <a:ln/>
        </p:spPr>
        <p:txBody>
          <a:bodyPr wrap="none" lIns="0" tIns="0" rIns="0" bIns="0" rtlCol="0" anchor="ctr"/>
          <a:lstStyle/>
          <a:p>
            <a:pPr algn="ctr" indent="0" marL="0">
              <a:buNone/>
            </a:pPr>
            <a:r>
              <a:rPr lang="en-US" sz="1350" dirty="0">
                <a:solidFill>
                  <a:srgbClr val="9CA3AF"/>
                </a:solidFill>
                <a:latin typeface="Inter" pitchFamily="34" charset="0"/>
                <a:ea typeface="Inter" pitchFamily="34" charset="-122"/>
                <a:cs typeface="Inter" pitchFamily="34" charset="-120"/>
              </a:rPr>
              <a:t>tr.</a:t>
            </a:r>
            <a:endParaRPr lang="en-US" sz="1350" dirty="0"/>
          </a:p>
        </p:txBody>
      </p:sp>
      <p:sp>
        <p:nvSpPr>
          <p:cNvPr id="76" name="Text 60"/>
          <p:cNvSpPr txBox="1"/>
          <p:nvPr/>
        </p:nvSpPr>
        <p:spPr>
          <a:xfrm>
            <a:off x="9715500" y="7448702"/>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11.3</a:t>
            </a:r>
            <a:endParaRPr lang="en-US" sz="1650" dirty="0"/>
          </a:p>
        </p:txBody>
      </p:sp>
      <p:sp>
        <p:nvSpPr>
          <p:cNvPr id="77" name="Text 61"/>
          <p:cNvSpPr txBox="1"/>
          <p:nvPr/>
        </p:nvSpPr>
        <p:spPr>
          <a:xfrm>
            <a:off x="12287707" y="7448702"/>
            <a:ext cx="2572207" cy="247802"/>
          </a:xfrm>
          <a:prstGeom prst="rect">
            <a:avLst/>
          </a:prstGeom>
          <a:noFill/>
          <a:ln/>
        </p:spPr>
        <p:txBody>
          <a:bodyPr wrap="none" lIns="0" tIns="0" rIns="0" bIns="0" rtlCol="0" anchor="ctr"/>
          <a:lstStyle/>
          <a:p>
            <a:pPr algn="ctr" indent="0" marL="0">
              <a:buNone/>
            </a:pPr>
            <a:r>
              <a:rPr lang="en-US" sz="1650" b="1" dirty="0">
                <a:solidFill>
                  <a:srgbClr val="0B1F18"/>
                </a:solidFill>
                <a:latin typeface="Inter" pitchFamily="34" charset="0"/>
                <a:ea typeface="Inter" pitchFamily="34" charset="-122"/>
                <a:cs typeface="Inter" pitchFamily="34" charset="-120"/>
              </a:rPr>
              <a:t>12.1</a:t>
            </a:r>
            <a:endParaRPr lang="en-US" sz="1650" dirty="0"/>
          </a:p>
        </p:txBody>
      </p:sp>
      <p:sp>
        <p:nvSpPr>
          <p:cNvPr id="78" name="Text 62"/>
          <p:cNvSpPr txBox="1"/>
          <p:nvPr/>
        </p:nvSpPr>
        <p:spPr>
          <a:xfrm>
            <a:off x="14859000" y="7472477"/>
            <a:ext cx="2572207" cy="200254"/>
          </a:xfrm>
          <a:prstGeom prst="rect">
            <a:avLst/>
          </a:prstGeom>
          <a:noFill/>
          <a:ln/>
        </p:spPr>
        <p:txBody>
          <a:bodyPr wrap="none" lIns="0" tIns="0" rIns="0" bIns="0" rtlCol="0" anchor="ctr"/>
          <a:lstStyle/>
          <a:p>
            <a:pPr algn="ctr" indent="0" marL="0">
              <a:buNone/>
            </a:pPr>
            <a:r>
              <a:rPr lang="en-US" sz="1350" dirty="0">
                <a:solidFill>
                  <a:srgbClr val="6B7280"/>
                </a:solidFill>
                <a:latin typeface="Inter" pitchFamily="34" charset="0"/>
                <a:ea typeface="Inter" pitchFamily="34" charset="-122"/>
                <a:cs typeface="Inter" pitchFamily="34" charset="-120"/>
              </a:rPr>
              <a:t>2.1</a:t>
            </a:r>
            <a:endParaRPr lang="en-US" sz="1350" dirty="0"/>
          </a:p>
        </p:txBody>
      </p:sp>
      <p:sp>
        <p:nvSpPr>
          <p:cNvPr id="79" name="Text 63"/>
          <p:cNvSpPr txBox="1"/>
          <p:nvPr/>
        </p:nvSpPr>
        <p:spPr>
          <a:xfrm>
            <a:off x="1143000" y="8058607"/>
            <a:ext cx="16193110" cy="124358"/>
          </a:xfrm>
          <a:prstGeom prst="rect">
            <a:avLst/>
          </a:prstGeom>
          <a:noFill/>
          <a:ln/>
        </p:spPr>
        <p:txBody>
          <a:bodyPr wrap="none" lIns="0" tIns="0" rIns="0" bIns="0" rtlCol="0" anchor="ctr"/>
          <a:lstStyle/>
          <a:p>
            <a:pPr algn="l" indent="0" marL="0">
              <a:buNone/>
            </a:pPr>
            <a:r>
              <a:rPr lang="en-US" sz="975" b="1" spc="176" kern="0" dirty="0">
                <a:solidFill>
                  <a:srgbClr val="047857"/>
                </a:solidFill>
                <a:latin typeface="Inter" pitchFamily="34" charset="0"/>
                <a:ea typeface="Inter" pitchFamily="34" charset="-122"/>
                <a:cs typeface="Inter" pitchFamily="34" charset="-120"/>
              </a:rPr>
              <a:t>KEY TAKEAWAY</a:t>
            </a:r>
            <a:endParaRPr lang="en-US" sz="975" dirty="0"/>
          </a:p>
        </p:txBody>
      </p:sp>
      <p:sp>
        <p:nvSpPr>
          <p:cNvPr id="80" name="Text 64"/>
          <p:cNvSpPr txBox="1"/>
          <p:nvPr/>
        </p:nvSpPr>
        <p:spPr>
          <a:xfrm>
            <a:off x="1143000" y="8238744"/>
            <a:ext cx="16878910" cy="314554"/>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Cu/Ta 경계(P2→P3)와 ILD 내부(P4→P5)가 주요 transition 구간, N peak는 SiN cap에서 확인 — dummy 정량치이나 trend는 profile-shape 일관.</a:t>
            </a:r>
            <a:endParaRPr lang="en-US" sz="1800" dirty="0"/>
          </a:p>
        </p:txBody>
      </p:sp>
      <p:sp>
        <p:nvSpPr>
          <p:cNvPr id="81" name="Text 65"/>
          <p:cNvSpPr txBox="1"/>
          <p:nvPr/>
        </p:nvSpPr>
        <p:spPr>
          <a:xfrm>
            <a:off x="857707" y="9924898"/>
            <a:ext cx="16573500" cy="247802"/>
          </a:xfrm>
          <a:prstGeom prst="rect">
            <a:avLst/>
          </a:prstGeom>
          <a:noFill/>
          <a:ln/>
        </p:spPr>
        <p:txBody>
          <a:bodyPr wrap="square" lIns="0" tIns="0" rIns="0" bIns="0" rtlCol="0" anchor="ctr"/>
          <a:lstStyle/>
          <a:p>
            <a:pPr algn="l" indent="0" marL="0">
              <a:buNone/>
            </a:pPr>
            <a:r>
              <a:rPr lang="en-US" sz="1350" dirty="0">
                <a:solidFill>
                  <a:srgbClr val="6B7280"/>
                </a:solidFill>
                <a:latin typeface="Inter" pitchFamily="34" charset="0"/>
                <a:ea typeface="Inter" pitchFamily="34" charset="-122"/>
                <a:cs typeface="Inter" pitchFamily="34" charset="-120"/>
              </a:rPr>
              <a:t>※ 내부 테스트용 더미(가상) 데이터</a:t>
            </a:r>
            <a:pPr algn="l" indent="0" marL="0">
              <a:buNone/>
            </a:pPr>
            <a:r>
              <a:rPr lang="en-US" sz="1350" dirty="0">
                <a:solidFill>
                  <a:srgbClr val="6B7280"/>
                </a:solidFill>
                <a:latin typeface="Inter" pitchFamily="34" charset="0"/>
                <a:ea typeface="Inter" pitchFamily="34" charset="-122"/>
                <a:cs typeface="Inter" pitchFamily="34" charset="-120"/>
              </a:rPr>
              <a:t>07 / 09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gen-dedup-26aa377607f240757918b15756e61686.png">    </p:cNvPr>
          <p:cNvPicPr>
            <a:picLocks noChangeAspect="1"/>
          </p:cNvPicPr>
          <p:nvPr/>
        </p:nvPicPr>
        <p:blipFill>
          <a:blip r:embed="rId1"/>
          <a:srcRect l="0" r="0" t="0" b="0"/>
          <a:stretch/>
        </p:blipFill>
        <p:spPr>
          <a:xfrm>
            <a:off x="15430500" y="-1143000"/>
            <a:ext cx="4572000" cy="4572000"/>
          </a:xfrm>
          <a:prstGeom prst="rect">
            <a:avLst/>
          </a:prstGeom>
        </p:spPr>
      </p:pic>
      <p:sp>
        <p:nvSpPr>
          <p:cNvPr id="4" name="Shape 0"/>
          <p:cNvSpPr/>
          <p:nvPr/>
        </p:nvSpPr>
        <p:spPr>
          <a:xfrm>
            <a:off x="0" y="0"/>
            <a:ext cx="18288000" cy="10287000"/>
          </a:xfrm>
          <a:prstGeom prst="rect">
            <a:avLst/>
          </a:prstGeom>
          <a:solidFill>
            <a:srgbClr val="F4F8F4"/>
          </a:solidFill>
          <a:ln w="12700">
            <a:solidFill>
              <a:srgbClr val="FFFFFF">
                <a:alpha val="0"/>
              </a:srgbClr>
            </a:solidFill>
            <a:prstDash val="solid"/>
          </a:ln>
        </p:spPr>
      </p:sp>
      <p:pic>
        <p:nvPicPr>
          <p:cNvPr id="5" name="Image 1" descr="gen-dedup-54eea6deb82a037ab867dd904d755227.png">    </p:cNvPr>
          <p:cNvPicPr>
            <a:picLocks noChangeAspect="1"/>
          </p:cNvPicPr>
          <p:nvPr/>
        </p:nvPicPr>
        <p:blipFill>
          <a:blip r:embed="rId2"/>
          <a:srcRect l="0" r="0" t="0" b="0"/>
          <a:stretch/>
        </p:blipFill>
        <p:spPr>
          <a:xfrm>
            <a:off x="857707" y="2018995"/>
            <a:ext cx="4000500" cy="1714500"/>
          </a:xfrm>
          <a:prstGeom prst="rect">
            <a:avLst/>
          </a:prstGeom>
        </p:spPr>
      </p:pic>
      <p:pic>
        <p:nvPicPr>
          <p:cNvPr id="6" name="Image 2" descr="gen-dedup-54eea6deb82a037ab867dd904d755227.png">    </p:cNvPr>
          <p:cNvPicPr>
            <a:picLocks noChangeAspect="1"/>
          </p:cNvPicPr>
          <p:nvPr/>
        </p:nvPicPr>
        <p:blipFill>
          <a:blip r:embed="rId3"/>
          <a:srcRect l="0" r="0" t="0" b="0"/>
          <a:stretch/>
        </p:blipFill>
        <p:spPr>
          <a:xfrm>
            <a:off x="5048402" y="2018995"/>
            <a:ext cx="4000500" cy="1714500"/>
          </a:xfrm>
          <a:prstGeom prst="rect">
            <a:avLst/>
          </a:prstGeom>
        </p:spPr>
      </p:pic>
      <p:pic>
        <p:nvPicPr>
          <p:cNvPr id="7" name="Image 3" descr="gen-dedup-54eea6deb82a037ab867dd904d755227.png">    </p:cNvPr>
          <p:cNvPicPr>
            <a:picLocks noChangeAspect="1"/>
          </p:cNvPicPr>
          <p:nvPr/>
        </p:nvPicPr>
        <p:blipFill>
          <a:blip r:embed="rId4"/>
          <a:srcRect l="0" r="0" t="0" b="0"/>
          <a:stretch/>
        </p:blipFill>
        <p:spPr>
          <a:xfrm>
            <a:off x="9239098" y="2018995"/>
            <a:ext cx="4000500" cy="1714500"/>
          </a:xfrm>
          <a:prstGeom prst="rect">
            <a:avLst/>
          </a:prstGeom>
        </p:spPr>
      </p:pic>
      <p:pic>
        <p:nvPicPr>
          <p:cNvPr id="8" name="Image 4" descr="gen-dedup-54eea6deb82a037ab867dd904d755227.png">    </p:cNvPr>
          <p:cNvPicPr>
            <a:picLocks noChangeAspect="1"/>
          </p:cNvPicPr>
          <p:nvPr/>
        </p:nvPicPr>
        <p:blipFill>
          <a:blip r:embed="rId5"/>
          <a:srcRect l="0" r="0" t="0" b="0"/>
          <a:stretch/>
        </p:blipFill>
        <p:spPr>
          <a:xfrm>
            <a:off x="13430707" y="2018995"/>
            <a:ext cx="4000500" cy="1714500"/>
          </a:xfrm>
          <a:prstGeom prst="rect">
            <a:avLst/>
          </a:prstGeom>
        </p:spPr>
      </p:pic>
      <p:pic>
        <p:nvPicPr>
          <p:cNvPr id="9" name="Image 5" descr="gen-dedup-ea965e06c1b6b0c56b2f79f1e0b7d4a1.png">    </p:cNvPr>
          <p:cNvPicPr>
            <a:picLocks noChangeAspect="1"/>
          </p:cNvPicPr>
          <p:nvPr/>
        </p:nvPicPr>
        <p:blipFill>
          <a:blip r:embed="rId6"/>
          <a:srcRect l="0" r="0" t="0" b="0"/>
          <a:stretch/>
        </p:blipFill>
        <p:spPr>
          <a:xfrm>
            <a:off x="857707" y="3924605"/>
            <a:ext cx="16573500" cy="4000500"/>
          </a:xfrm>
          <a:prstGeom prst="rect">
            <a:avLst/>
          </a:prstGeom>
        </p:spPr>
      </p:pic>
      <p:pic>
        <p:nvPicPr>
          <p:cNvPr id="10" name="Image 6" descr="gen-dedup-ba8201b105e17f95ac71b3553a06bdb5.png">    </p:cNvPr>
          <p:cNvPicPr>
            <a:picLocks noChangeAspect="1"/>
          </p:cNvPicPr>
          <p:nvPr/>
        </p:nvPicPr>
        <p:blipFill>
          <a:blip r:embed="rId7"/>
          <a:srcRect l="-193" r="-193" t="0" b="0"/>
          <a:stretch/>
        </p:blipFill>
        <p:spPr>
          <a:xfrm>
            <a:off x="14097305" y="5029200"/>
            <a:ext cx="1904695" cy="75895"/>
          </a:xfrm>
          <a:prstGeom prst="rect">
            <a:avLst/>
          </a:prstGeom>
        </p:spPr>
      </p:pic>
      <p:pic>
        <p:nvPicPr>
          <p:cNvPr id="11" name="Image 7" descr="gen-dedup-ba8201b105e17f95ac71b3553a06bdb5.png">    </p:cNvPr>
          <p:cNvPicPr>
            <a:picLocks noChangeAspect="1"/>
          </p:cNvPicPr>
          <p:nvPr/>
        </p:nvPicPr>
        <p:blipFill>
          <a:blip r:embed="rId8"/>
          <a:srcRect l="-193" r="-193" t="0" b="0"/>
          <a:stretch/>
        </p:blipFill>
        <p:spPr>
          <a:xfrm>
            <a:off x="14097305" y="5438851"/>
            <a:ext cx="1904695" cy="75895"/>
          </a:xfrm>
          <a:prstGeom prst="rect">
            <a:avLst/>
          </a:prstGeom>
        </p:spPr>
      </p:pic>
      <p:pic>
        <p:nvPicPr>
          <p:cNvPr id="12" name="Image 8" descr="gen-dedup-ba8201b105e17f95ac71b3553a06bdb5.png">    </p:cNvPr>
          <p:cNvPicPr>
            <a:picLocks noChangeAspect="1"/>
          </p:cNvPicPr>
          <p:nvPr/>
        </p:nvPicPr>
        <p:blipFill>
          <a:blip r:embed="rId9"/>
          <a:srcRect l="-193" r="-193" t="0" b="0"/>
          <a:stretch/>
        </p:blipFill>
        <p:spPr>
          <a:xfrm>
            <a:off x="14097305" y="5848502"/>
            <a:ext cx="1904695" cy="75895"/>
          </a:xfrm>
          <a:prstGeom prst="rect">
            <a:avLst/>
          </a:prstGeom>
        </p:spPr>
      </p:pic>
      <p:pic>
        <p:nvPicPr>
          <p:cNvPr id="13" name="Image 9" descr="gen-dedup-ba8201b105e17f95ac71b3553a06bdb5.png">    </p:cNvPr>
          <p:cNvPicPr>
            <a:picLocks noChangeAspect="1"/>
          </p:cNvPicPr>
          <p:nvPr/>
        </p:nvPicPr>
        <p:blipFill>
          <a:blip r:embed="rId10"/>
          <a:srcRect l="-193" r="-193" t="0" b="0"/>
          <a:stretch/>
        </p:blipFill>
        <p:spPr>
          <a:xfrm>
            <a:off x="14097305" y="6258154"/>
            <a:ext cx="1904695" cy="75895"/>
          </a:xfrm>
          <a:prstGeom prst="rect">
            <a:avLst/>
          </a:prstGeom>
        </p:spPr>
      </p:pic>
      <p:pic>
        <p:nvPicPr>
          <p:cNvPr id="14" name="Image 10" descr="gen-dedup-ba8201b105e17f95ac71b3553a06bdb5.png">    </p:cNvPr>
          <p:cNvPicPr>
            <a:picLocks noChangeAspect="1"/>
          </p:cNvPicPr>
          <p:nvPr/>
        </p:nvPicPr>
        <p:blipFill>
          <a:blip r:embed="rId11"/>
          <a:srcRect l="-193" r="-193" t="0" b="0"/>
          <a:stretch/>
        </p:blipFill>
        <p:spPr>
          <a:xfrm>
            <a:off x="14097305" y="6667805"/>
            <a:ext cx="1904695" cy="75895"/>
          </a:xfrm>
          <a:prstGeom prst="rect">
            <a:avLst/>
          </a:prstGeom>
        </p:spPr>
      </p:pic>
      <p:pic>
        <p:nvPicPr>
          <p:cNvPr id="15" name="Image 11" descr="gen-dedup-ba8201b105e17f95ac71b3553a06bdb5.png">    </p:cNvPr>
          <p:cNvPicPr>
            <a:picLocks noChangeAspect="1"/>
          </p:cNvPicPr>
          <p:nvPr/>
        </p:nvPicPr>
        <p:blipFill>
          <a:blip r:embed="rId12"/>
          <a:srcRect l="-193" r="-193" t="0" b="0"/>
          <a:stretch/>
        </p:blipFill>
        <p:spPr>
          <a:xfrm>
            <a:off x="14097305" y="7077456"/>
            <a:ext cx="1904695" cy="75895"/>
          </a:xfrm>
          <a:prstGeom prst="rect">
            <a:avLst/>
          </a:prstGeom>
        </p:spPr>
      </p:pic>
      <p:pic>
        <p:nvPicPr>
          <p:cNvPr id="16" name="Image 12" descr="gen-dedup-ba8201b105e17f95ac71b3553a06bdb5.png">    </p:cNvPr>
          <p:cNvPicPr>
            <a:picLocks noChangeAspect="1"/>
          </p:cNvPicPr>
          <p:nvPr/>
        </p:nvPicPr>
        <p:blipFill>
          <a:blip r:embed="rId13"/>
          <a:srcRect l="-193" r="-193" t="0" b="0"/>
          <a:stretch/>
        </p:blipFill>
        <p:spPr>
          <a:xfrm>
            <a:off x="14097305" y="7487107"/>
            <a:ext cx="1904695" cy="75895"/>
          </a:xfrm>
          <a:prstGeom prst="rect">
            <a:avLst/>
          </a:prstGeom>
        </p:spPr>
      </p:pic>
      <p:pic>
        <p:nvPicPr>
          <p:cNvPr id="17" name="Image 13" descr="gen-dedup-2fbcf05202020e5c2fee389890c4e9a4.png">    </p:cNvPr>
          <p:cNvPicPr>
            <a:picLocks noChangeAspect="1"/>
          </p:cNvPicPr>
          <p:nvPr/>
        </p:nvPicPr>
        <p:blipFill>
          <a:blip r:embed="rId14"/>
          <a:srcRect l="0" r="0" t="-31" b="-31"/>
          <a:stretch/>
        </p:blipFill>
        <p:spPr>
          <a:xfrm>
            <a:off x="857707" y="8134502"/>
            <a:ext cx="16621049" cy="743407"/>
          </a:xfrm>
          <a:prstGeom prst="rect">
            <a:avLst/>
          </a:prstGeom>
        </p:spPr>
      </p:pic>
      <p:pic>
        <p:nvPicPr>
          <p:cNvPr id="18" name="Image 14" descr="gen-dedup-980084dc5ca4a71360aebffa918e7e11.png">    </p:cNvPr>
          <p:cNvPicPr>
            <a:picLocks noChangeAspect="1"/>
          </p:cNvPicPr>
          <p:nvPr/>
        </p:nvPicPr>
        <p:blipFill>
          <a:blip r:embed="rId15"/>
          <a:srcRect l="0" r="0" t="-44" b="-44"/>
          <a:stretch/>
        </p:blipFill>
        <p:spPr>
          <a:xfrm>
            <a:off x="857707" y="3924605"/>
            <a:ext cx="16573500" cy="514807"/>
          </a:xfrm>
          <a:prstGeom prst="rect">
            <a:avLst/>
          </a:prstGeom>
        </p:spPr>
      </p:pic>
      <p:pic>
        <p:nvPicPr>
          <p:cNvPr id="19" name="Image 15" descr="gen-dedup-51ce68c02eb135d817f2134fdec60abf.png">    </p:cNvPr>
          <p:cNvPicPr>
            <a:picLocks noChangeAspect="1"/>
          </p:cNvPicPr>
          <p:nvPr/>
        </p:nvPicPr>
        <p:blipFill>
          <a:blip r:embed="rId16"/>
          <a:srcRect l="-2083" r="-2083" t="0" b="0"/>
          <a:stretch/>
        </p:blipFill>
        <p:spPr>
          <a:xfrm>
            <a:off x="1143000" y="4876495"/>
            <a:ext cx="16002000" cy="9144"/>
          </a:xfrm>
          <a:prstGeom prst="rect">
            <a:avLst/>
          </a:prstGeom>
        </p:spPr>
      </p:pic>
      <p:pic>
        <p:nvPicPr>
          <p:cNvPr id="20" name="Image 16" descr="gen-dedup-f8acd7704ea80b4dc85b47243710cc1e.png">    </p:cNvPr>
          <p:cNvPicPr>
            <a:picLocks noChangeAspect="1"/>
          </p:cNvPicPr>
          <p:nvPr/>
        </p:nvPicPr>
        <p:blipFill>
          <a:blip r:embed="rId17"/>
          <a:srcRect l="-209" r="-209" t="0" b="0"/>
          <a:stretch/>
        </p:blipFill>
        <p:spPr>
          <a:xfrm>
            <a:off x="14097305" y="5029200"/>
            <a:ext cx="1867205" cy="75895"/>
          </a:xfrm>
          <a:prstGeom prst="rect">
            <a:avLst/>
          </a:prstGeom>
        </p:spPr>
      </p:pic>
      <p:pic>
        <p:nvPicPr>
          <p:cNvPr id="21" name="Image 17" descr="gen-dedup-51ce68c02eb135d817f2134fdec60abf.png">    </p:cNvPr>
          <p:cNvPicPr>
            <a:picLocks noChangeAspect="1"/>
          </p:cNvPicPr>
          <p:nvPr/>
        </p:nvPicPr>
        <p:blipFill>
          <a:blip r:embed="rId18"/>
          <a:srcRect l="-2083" r="-2083" t="0" b="0"/>
          <a:stretch/>
        </p:blipFill>
        <p:spPr>
          <a:xfrm>
            <a:off x="1143000" y="5296205"/>
            <a:ext cx="16002000" cy="9144"/>
          </a:xfrm>
          <a:prstGeom prst="rect">
            <a:avLst/>
          </a:prstGeom>
        </p:spPr>
      </p:pic>
      <p:pic>
        <p:nvPicPr>
          <p:cNvPr id="22" name="Image 18" descr="gen-dedup-e36b73ca47e88154b0aac6dcf44707fd.png">    </p:cNvPr>
          <p:cNvPicPr>
            <a:picLocks noChangeAspect="1"/>
          </p:cNvPicPr>
          <p:nvPr/>
        </p:nvPicPr>
        <p:blipFill>
          <a:blip r:embed="rId19"/>
          <a:srcRect l="-213" r="-213" t="0" b="0"/>
          <a:stretch/>
        </p:blipFill>
        <p:spPr>
          <a:xfrm>
            <a:off x="14097305" y="5438851"/>
            <a:ext cx="1886407" cy="75895"/>
          </a:xfrm>
          <a:prstGeom prst="rect">
            <a:avLst/>
          </a:prstGeom>
        </p:spPr>
      </p:pic>
      <p:pic>
        <p:nvPicPr>
          <p:cNvPr id="23" name="Image 19" descr="gen-dedup-3b4e403b8e9ca1efa6ebcdc1fd56adb8.png">    </p:cNvPr>
          <p:cNvPicPr>
            <a:picLocks noChangeAspect="1"/>
          </p:cNvPicPr>
          <p:nvPr/>
        </p:nvPicPr>
        <p:blipFill>
          <a:blip r:embed="rId20"/>
          <a:srcRect l="-2083" r="-2083" t="0" b="0"/>
          <a:stretch/>
        </p:blipFill>
        <p:spPr>
          <a:xfrm>
            <a:off x="1143000" y="5705856"/>
            <a:ext cx="16002000" cy="9144"/>
          </a:xfrm>
          <a:prstGeom prst="rect">
            <a:avLst/>
          </a:prstGeom>
        </p:spPr>
      </p:pic>
      <p:pic>
        <p:nvPicPr>
          <p:cNvPr id="24" name="Image 20" descr="gen-dedup-f8acd7704ea80b4dc85b47243710cc1e.png">    </p:cNvPr>
          <p:cNvPicPr>
            <a:picLocks noChangeAspect="1"/>
          </p:cNvPicPr>
          <p:nvPr/>
        </p:nvPicPr>
        <p:blipFill>
          <a:blip r:embed="rId21"/>
          <a:srcRect l="-209" r="-209" t="0" b="0"/>
          <a:stretch/>
        </p:blipFill>
        <p:spPr>
          <a:xfrm>
            <a:off x="14097305" y="5848502"/>
            <a:ext cx="1867205" cy="75895"/>
          </a:xfrm>
          <a:prstGeom prst="rect">
            <a:avLst/>
          </a:prstGeom>
        </p:spPr>
      </p:pic>
      <p:pic>
        <p:nvPicPr>
          <p:cNvPr id="25" name="Image 21" descr="gen-dedup-51ce68c02eb135d817f2134fdec60abf.png">    </p:cNvPr>
          <p:cNvPicPr>
            <a:picLocks noChangeAspect="1"/>
          </p:cNvPicPr>
          <p:nvPr/>
        </p:nvPicPr>
        <p:blipFill>
          <a:blip r:embed="rId22"/>
          <a:srcRect l="-2083" r="-2083" t="0" b="0"/>
          <a:stretch/>
        </p:blipFill>
        <p:spPr>
          <a:xfrm>
            <a:off x="1143000" y="6115507"/>
            <a:ext cx="16002000" cy="9144"/>
          </a:xfrm>
          <a:prstGeom prst="rect">
            <a:avLst/>
          </a:prstGeom>
        </p:spPr>
      </p:pic>
      <p:pic>
        <p:nvPicPr>
          <p:cNvPr id="26" name="Image 22" descr="gen-dedup-a4abd43d51e606d9ba8b0720f3e8b65d.png">    </p:cNvPr>
          <p:cNvPicPr>
            <a:picLocks noChangeAspect="1"/>
          </p:cNvPicPr>
          <p:nvPr/>
        </p:nvPicPr>
        <p:blipFill>
          <a:blip r:embed="rId23"/>
          <a:srcRect l="-211" r="-211" t="0" b="0"/>
          <a:stretch/>
        </p:blipFill>
        <p:spPr>
          <a:xfrm>
            <a:off x="14097305" y="6258154"/>
            <a:ext cx="1819656" cy="75895"/>
          </a:xfrm>
          <a:prstGeom prst="rect">
            <a:avLst/>
          </a:prstGeom>
        </p:spPr>
      </p:pic>
      <p:pic>
        <p:nvPicPr>
          <p:cNvPr id="27" name="Image 23" descr="gen-dedup-51ce68c02eb135d817f2134fdec60abf.png">    </p:cNvPr>
          <p:cNvPicPr>
            <a:picLocks noChangeAspect="1"/>
          </p:cNvPicPr>
          <p:nvPr/>
        </p:nvPicPr>
        <p:blipFill>
          <a:blip r:embed="rId24"/>
          <a:srcRect l="-2083" r="-2083" t="0" b="0"/>
          <a:stretch/>
        </p:blipFill>
        <p:spPr>
          <a:xfrm>
            <a:off x="1143000" y="6524244"/>
            <a:ext cx="16002000" cy="9144"/>
          </a:xfrm>
          <a:prstGeom prst="rect">
            <a:avLst/>
          </a:prstGeom>
        </p:spPr>
      </p:pic>
      <p:pic>
        <p:nvPicPr>
          <p:cNvPr id="28" name="Image 24" descr="gen-dedup-19f3468af95f4855747aacab7d1c85a3.png">    </p:cNvPr>
          <p:cNvPicPr>
            <a:picLocks noChangeAspect="1"/>
          </p:cNvPicPr>
          <p:nvPr/>
        </p:nvPicPr>
        <p:blipFill>
          <a:blip r:embed="rId25"/>
          <a:srcRect l="-201" r="-201" t="0" b="0"/>
          <a:stretch/>
        </p:blipFill>
        <p:spPr>
          <a:xfrm>
            <a:off x="14097305" y="6667805"/>
            <a:ext cx="1828800" cy="75895"/>
          </a:xfrm>
          <a:prstGeom prst="rect">
            <a:avLst/>
          </a:prstGeom>
        </p:spPr>
      </p:pic>
      <p:pic>
        <p:nvPicPr>
          <p:cNvPr id="29" name="Image 25" descr="gen-dedup-51ce68c02eb135d817f2134fdec60abf.png">    </p:cNvPr>
          <p:cNvPicPr>
            <a:picLocks noChangeAspect="1"/>
          </p:cNvPicPr>
          <p:nvPr/>
        </p:nvPicPr>
        <p:blipFill>
          <a:blip r:embed="rId26"/>
          <a:srcRect l="-2083" r="-2083" t="0" b="0"/>
          <a:stretch/>
        </p:blipFill>
        <p:spPr>
          <a:xfrm>
            <a:off x="1143000" y="6933895"/>
            <a:ext cx="16002000" cy="9144"/>
          </a:xfrm>
          <a:prstGeom prst="rect">
            <a:avLst/>
          </a:prstGeom>
        </p:spPr>
      </p:pic>
      <p:pic>
        <p:nvPicPr>
          <p:cNvPr id="30" name="Image 26" descr="gen-dedup-a14437f35598577cae2064ff8e2e04a7.png">    </p:cNvPr>
          <p:cNvPicPr>
            <a:picLocks noChangeAspect="1"/>
          </p:cNvPicPr>
          <p:nvPr/>
        </p:nvPicPr>
        <p:blipFill>
          <a:blip r:embed="rId27"/>
          <a:srcRect l="-201" r="-201" t="0" b="0"/>
          <a:stretch/>
        </p:blipFill>
        <p:spPr>
          <a:xfrm>
            <a:off x="14097305" y="7077456"/>
            <a:ext cx="1714500" cy="75895"/>
          </a:xfrm>
          <a:prstGeom prst="rect">
            <a:avLst/>
          </a:prstGeom>
        </p:spPr>
      </p:pic>
      <p:pic>
        <p:nvPicPr>
          <p:cNvPr id="31" name="Image 27" descr="gen-dedup-51ce68c02eb135d817f2134fdec60abf.png">    </p:cNvPr>
          <p:cNvPicPr>
            <a:picLocks noChangeAspect="1"/>
          </p:cNvPicPr>
          <p:nvPr/>
        </p:nvPicPr>
        <p:blipFill>
          <a:blip r:embed="rId28"/>
          <a:srcRect l="-2083" r="-2083" t="0" b="0"/>
          <a:stretch/>
        </p:blipFill>
        <p:spPr>
          <a:xfrm>
            <a:off x="1143000" y="7343546"/>
            <a:ext cx="16002000" cy="9144"/>
          </a:xfrm>
          <a:prstGeom prst="rect">
            <a:avLst/>
          </a:prstGeom>
        </p:spPr>
      </p:pic>
      <p:pic>
        <p:nvPicPr>
          <p:cNvPr id="32" name="Image 28" descr="gen-dedup-a4abd43d51e606d9ba8b0720f3e8b65d.png">    </p:cNvPr>
          <p:cNvPicPr>
            <a:picLocks noChangeAspect="1"/>
          </p:cNvPicPr>
          <p:nvPr/>
        </p:nvPicPr>
        <p:blipFill>
          <a:blip r:embed="rId29"/>
          <a:srcRect l="-211" r="-211" t="0" b="0"/>
          <a:stretch/>
        </p:blipFill>
        <p:spPr>
          <a:xfrm>
            <a:off x="14097305" y="7487107"/>
            <a:ext cx="1819656" cy="75895"/>
          </a:xfrm>
          <a:prstGeom prst="rect">
            <a:avLst/>
          </a:prstGeom>
        </p:spPr>
      </p:pic>
      <p:sp>
        <p:nvSpPr>
          <p:cNvPr id="33" name="Shape 1"/>
          <p:cNvSpPr/>
          <p:nvPr/>
        </p:nvSpPr>
        <p:spPr>
          <a:xfrm>
            <a:off x="857707" y="647395"/>
            <a:ext cx="95098" cy="95098"/>
          </a:xfrm>
          <a:prstGeom prst="ellipse">
            <a:avLst/>
          </a:prstGeom>
          <a:solidFill>
            <a:srgbClr val="047857"/>
          </a:solidFill>
          <a:ln w="12700">
            <a:solidFill>
              <a:srgbClr val="FFFFFF">
                <a:alpha val="0"/>
              </a:srgbClr>
            </a:solidFill>
            <a:prstDash val="solid"/>
          </a:ln>
        </p:spPr>
      </p:sp>
      <p:sp>
        <p:nvSpPr>
          <p:cNvPr id="34" name="Text 2"/>
          <p:cNvSpPr txBox="1"/>
          <p:nvPr/>
        </p:nvSpPr>
        <p:spPr>
          <a:xfrm>
            <a:off x="1086307" y="571500"/>
            <a:ext cx="2232965" cy="247802"/>
          </a:xfrm>
          <a:prstGeom prst="rect">
            <a:avLst/>
          </a:prstGeom>
          <a:noFill/>
          <a:ln/>
        </p:spPr>
        <p:txBody>
          <a:bodyPr wrap="none" lIns="0" tIns="0" rIns="0" bIns="0" rtlCol="0" anchor="ctr"/>
          <a:lstStyle/>
          <a:p>
            <a:pPr algn="l" indent="0" marL="0">
              <a:buNone/>
            </a:pPr>
            <a:r>
              <a:rPr lang="en-US" sz="1350" b="1" spc="243" kern="0" dirty="0">
                <a:solidFill>
                  <a:srgbClr val="047857"/>
                </a:solidFill>
                <a:latin typeface="Inter" pitchFamily="34" charset="0"/>
                <a:ea typeface="Inter" pitchFamily="34" charset="-122"/>
                <a:cs typeface="Inter" pitchFamily="34" charset="-120"/>
              </a:rPr>
              <a:t>08 / 09 · 전기 특성</a:t>
            </a:r>
            <a:endParaRPr lang="en-US" sz="1350" dirty="0"/>
          </a:p>
        </p:txBody>
      </p:sp>
      <p:sp>
        <p:nvSpPr>
          <p:cNvPr id="35" name="Text 3"/>
          <p:cNvSpPr txBox="1"/>
          <p:nvPr/>
        </p:nvSpPr>
        <p:spPr>
          <a:xfrm>
            <a:off x="857707" y="895198"/>
            <a:ext cx="14287500" cy="486461"/>
          </a:xfrm>
          <a:prstGeom prst="rect">
            <a:avLst/>
          </a:prstGeom>
          <a:noFill/>
          <a:ln/>
        </p:spPr>
        <p:txBody>
          <a:bodyPr wrap="none" lIns="0" tIns="0" rIns="0" bIns="0" rtlCol="0" anchor="ctr"/>
          <a:lstStyle/>
          <a:p>
            <a:pPr algn="l" indent="0" marL="0">
              <a:buNone/>
            </a:pPr>
            <a:r>
              <a:rPr lang="en-US" sz="3450" b="1" spc="-69" kern="0" dirty="0">
                <a:solidFill>
                  <a:srgbClr val="0B1F18"/>
                </a:solidFill>
                <a:latin typeface="Inter" pitchFamily="34" charset="0"/>
                <a:ea typeface="Inter" pitchFamily="34" charset="-122"/>
                <a:cs typeface="Inter" pitchFamily="34" charset="-120"/>
              </a:rPr>
              <a:t>전기 4종 — Line Rs · Via Rc · Leakage · Yield</a:t>
            </a:r>
            <a:endParaRPr lang="en-US" sz="3450" dirty="0"/>
          </a:p>
        </p:txBody>
      </p:sp>
      <p:sp>
        <p:nvSpPr>
          <p:cNvPr id="36" name="Text 4"/>
          <p:cNvSpPr txBox="1"/>
          <p:nvPr/>
        </p:nvSpPr>
        <p:spPr>
          <a:xfrm>
            <a:off x="857707" y="1524305"/>
            <a:ext cx="14287500" cy="257861"/>
          </a:xfrm>
          <a:prstGeom prst="rect">
            <a:avLst/>
          </a:prstGeom>
          <a:noFill/>
          <a:ln/>
        </p:spPr>
        <p:txBody>
          <a:bodyPr wrap="none" lIns="0" tIns="0" rIns="0" bIns="0" rtlCol="0" anchor="ctr"/>
          <a:lstStyle/>
          <a:p>
            <a:pPr algn="l" indent="0" marL="0">
              <a:buNone/>
            </a:pPr>
            <a:r>
              <a:rPr lang="en-US" sz="1350" dirty="0">
                <a:solidFill>
                  <a:srgbClr val="4B5563"/>
                </a:solidFill>
                <a:latin typeface="Inter" pitchFamily="34" charset="0"/>
                <a:ea typeface="Inter" pitchFamily="34" charset="-122"/>
                <a:cs typeface="Inter" pitchFamily="34" charset="-120"/>
              </a:rPr>
              <a:t>4종 전기 항목 split A vs split B 평균 비교, 그 아래 wafer별 raw value 4 metric table.</a:t>
            </a:r>
            <a:endParaRPr lang="en-US" sz="1350" dirty="0"/>
          </a:p>
        </p:txBody>
      </p:sp>
      <p:sp>
        <p:nvSpPr>
          <p:cNvPr id="37" name="Text 5"/>
          <p:cNvSpPr txBox="1"/>
          <p:nvPr/>
        </p:nvSpPr>
        <p:spPr>
          <a:xfrm>
            <a:off x="1143000" y="2152498"/>
            <a:ext cx="3620110" cy="152705"/>
          </a:xfrm>
          <a:prstGeom prst="rect">
            <a:avLst/>
          </a:prstGeom>
          <a:noFill/>
          <a:ln/>
        </p:spPr>
        <p:txBody>
          <a:bodyPr wrap="none" lIns="0" tIns="0" rIns="0" bIns="0" rtlCol="0" anchor="ctr"/>
          <a:lstStyle/>
          <a:p>
            <a:pPr algn="l" indent="0" marL="0">
              <a:buNone/>
            </a:pPr>
            <a:r>
              <a:rPr lang="en-US" sz="975" b="1" spc="156" kern="0" dirty="0">
                <a:solidFill>
                  <a:srgbClr val="047857"/>
                </a:solidFill>
                <a:latin typeface="Inter" pitchFamily="34" charset="0"/>
                <a:ea typeface="Inter" pitchFamily="34" charset="-122"/>
                <a:cs typeface="Inter" pitchFamily="34" charset="-120"/>
              </a:rPr>
              <a:t>Line Rs</a:t>
            </a:r>
            <a:endParaRPr lang="en-US" sz="975" dirty="0"/>
          </a:p>
        </p:txBody>
      </p:sp>
      <p:sp>
        <p:nvSpPr>
          <p:cNvPr id="38" name="Text 6"/>
          <p:cNvSpPr txBox="1"/>
          <p:nvPr/>
        </p:nvSpPr>
        <p:spPr>
          <a:xfrm>
            <a:off x="1143000" y="2361895"/>
            <a:ext cx="3620110" cy="191110"/>
          </a:xfrm>
          <a:prstGeom prst="rect">
            <a:avLst/>
          </a:prstGeom>
          <a:noFill/>
          <a:ln/>
        </p:spPr>
        <p:txBody>
          <a:bodyPr wrap="none" lIns="0" tIns="0" rIns="0" bIns="0" rtlCol="0" anchor="ctr"/>
          <a:lstStyle/>
          <a:p>
            <a:pPr algn="l" indent="0" marL="0">
              <a:buNone/>
            </a:pPr>
            <a:r>
              <a:rPr lang="en-US" sz="1050" dirty="0">
                <a:solidFill>
                  <a:srgbClr val="6B7280"/>
                </a:solidFill>
                <a:latin typeface="Inter" pitchFamily="34" charset="0"/>
                <a:ea typeface="Inter" pitchFamily="34" charset="-122"/>
                <a:cs typeface="Inter" pitchFamily="34" charset="-120"/>
              </a:rPr>
              <a:t>target ≤ 0.42 Ω/sq</a:t>
            </a:r>
            <a:endParaRPr lang="en-US" sz="1050" dirty="0"/>
          </a:p>
        </p:txBody>
      </p:sp>
      <p:sp>
        <p:nvSpPr>
          <p:cNvPr id="39" name="Text 7"/>
          <p:cNvSpPr txBox="1"/>
          <p:nvPr/>
        </p:nvSpPr>
        <p:spPr>
          <a:xfrm>
            <a:off x="1143000" y="2553005"/>
            <a:ext cx="1733702" cy="143561"/>
          </a:xfrm>
          <a:prstGeom prst="rect">
            <a:avLst/>
          </a:prstGeom>
          <a:noFill/>
          <a:ln/>
        </p:spPr>
        <p:txBody>
          <a:bodyPr wrap="none" lIns="0" tIns="0" rIns="0" bIns="0" rtlCol="0" anchor="ctr"/>
          <a:lstStyle/>
          <a:p>
            <a:pPr algn="l" indent="0" marL="0">
              <a:buNone/>
            </a:pPr>
            <a:r>
              <a:rPr lang="en-US" sz="900" dirty="0">
                <a:solidFill>
                  <a:srgbClr val="6B7280"/>
                </a:solidFill>
                <a:latin typeface="Inter" pitchFamily="34" charset="0"/>
                <a:ea typeface="Inter" pitchFamily="34" charset="-122"/>
                <a:cs typeface="Inter" pitchFamily="34" charset="-120"/>
              </a:rPr>
              <a:t>Split A avg</a:t>
            </a:r>
            <a:endParaRPr lang="en-US" sz="900" dirty="0"/>
          </a:p>
        </p:txBody>
      </p:sp>
      <p:sp>
        <p:nvSpPr>
          <p:cNvPr id="40" name="Text 8"/>
          <p:cNvSpPr txBox="1"/>
          <p:nvPr/>
        </p:nvSpPr>
        <p:spPr>
          <a:xfrm>
            <a:off x="1143000" y="2714854"/>
            <a:ext cx="1733702" cy="372161"/>
          </a:xfrm>
          <a:prstGeom prst="rect">
            <a:avLst/>
          </a:prstGeom>
          <a:noFill/>
          <a:ln/>
        </p:spPr>
        <p:txBody>
          <a:bodyPr wrap="none" lIns="0" tIns="0" rIns="0" bIns="0" rtlCol="0" anchor="ctr"/>
          <a:lstStyle/>
          <a:p>
            <a:pPr algn="l" indent="0" marL="0">
              <a:buNone/>
            </a:pPr>
            <a:r>
              <a:rPr lang="en-US" sz="2400" b="1" dirty="0">
                <a:solidFill>
                  <a:srgbClr val="0B1F18"/>
                </a:solidFill>
                <a:latin typeface="Inter" pitchFamily="34" charset="0"/>
                <a:ea typeface="Inter" pitchFamily="34" charset="-122"/>
                <a:cs typeface="Inter" pitchFamily="34" charset="-120"/>
              </a:rPr>
              <a:t>0.414</a:t>
            </a:r>
            <a:endParaRPr lang="en-US" sz="2400" dirty="0"/>
          </a:p>
        </p:txBody>
      </p:sp>
      <p:sp>
        <p:nvSpPr>
          <p:cNvPr id="41" name="Text 9"/>
          <p:cNvSpPr txBox="1"/>
          <p:nvPr/>
        </p:nvSpPr>
        <p:spPr>
          <a:xfrm>
            <a:off x="3029407" y="2553005"/>
            <a:ext cx="1733702" cy="143561"/>
          </a:xfrm>
          <a:prstGeom prst="rect">
            <a:avLst/>
          </a:prstGeom>
          <a:noFill/>
          <a:ln/>
        </p:spPr>
        <p:txBody>
          <a:bodyPr wrap="none" lIns="0" tIns="0" rIns="0" bIns="0" rtlCol="0" anchor="ctr"/>
          <a:lstStyle/>
          <a:p>
            <a:pPr algn="l" indent="0" marL="0">
              <a:buNone/>
            </a:pPr>
            <a:r>
              <a:rPr lang="en-US" sz="900" dirty="0">
                <a:solidFill>
                  <a:srgbClr val="6B7280"/>
                </a:solidFill>
                <a:latin typeface="Inter" pitchFamily="34" charset="0"/>
                <a:ea typeface="Inter" pitchFamily="34" charset="-122"/>
                <a:cs typeface="Inter" pitchFamily="34" charset="-120"/>
              </a:rPr>
              <a:t>Split B avg</a:t>
            </a:r>
            <a:endParaRPr lang="en-US" sz="900" dirty="0"/>
          </a:p>
        </p:txBody>
      </p:sp>
      <p:sp>
        <p:nvSpPr>
          <p:cNvPr id="42" name="Text 10"/>
          <p:cNvSpPr txBox="1"/>
          <p:nvPr/>
        </p:nvSpPr>
        <p:spPr>
          <a:xfrm>
            <a:off x="3029407" y="2714854"/>
            <a:ext cx="1733702" cy="372161"/>
          </a:xfrm>
          <a:prstGeom prst="rect">
            <a:avLst/>
          </a:prstGeom>
          <a:noFill/>
          <a:ln/>
        </p:spPr>
        <p:txBody>
          <a:bodyPr wrap="none" lIns="0" tIns="0" rIns="0" bIns="0" rtlCol="0" anchor="ctr"/>
          <a:lstStyle/>
          <a:p>
            <a:pPr algn="l" indent="0" marL="0">
              <a:buNone/>
            </a:pPr>
            <a:r>
              <a:rPr lang="en-US" sz="2400" b="1" dirty="0">
                <a:solidFill>
                  <a:srgbClr val="047857"/>
                </a:solidFill>
                <a:latin typeface="Inter" pitchFamily="34" charset="0"/>
                <a:ea typeface="Inter" pitchFamily="34" charset="-122"/>
                <a:cs typeface="Inter" pitchFamily="34" charset="-120"/>
              </a:rPr>
              <a:t>0.392</a:t>
            </a:r>
            <a:endParaRPr lang="en-US" sz="2400" dirty="0"/>
          </a:p>
        </p:txBody>
      </p:sp>
      <p:sp>
        <p:nvSpPr>
          <p:cNvPr id="43" name="Text 11"/>
          <p:cNvSpPr txBox="1"/>
          <p:nvPr/>
        </p:nvSpPr>
        <p:spPr>
          <a:xfrm>
            <a:off x="1143000" y="3161995"/>
            <a:ext cx="3620110" cy="152705"/>
          </a:xfrm>
          <a:prstGeom prst="rect">
            <a:avLst/>
          </a:prstGeom>
          <a:noFill/>
          <a:ln/>
        </p:spPr>
        <p:txBody>
          <a:bodyPr wrap="none" lIns="0" tIns="0" rIns="0" bIns="0" rtlCol="0" anchor="ctr"/>
          <a:lstStyle/>
          <a:p>
            <a:pPr algn="l" indent="0" marL="0">
              <a:buNone/>
            </a:pPr>
            <a:r>
              <a:rPr lang="en-US" sz="975" b="1" dirty="0">
                <a:solidFill>
                  <a:srgbClr val="047857"/>
                </a:solidFill>
                <a:latin typeface="Inter" pitchFamily="34" charset="0"/>
                <a:ea typeface="Inter" pitchFamily="34" charset="-122"/>
                <a:cs typeface="Inter" pitchFamily="34" charset="-120"/>
              </a:rPr>
              <a:t>winner: B · −5.3%</a:t>
            </a:r>
            <a:endParaRPr lang="en-US" sz="975" dirty="0"/>
          </a:p>
        </p:txBody>
      </p:sp>
      <p:sp>
        <p:nvSpPr>
          <p:cNvPr id="44" name="Text 12"/>
          <p:cNvSpPr txBox="1"/>
          <p:nvPr/>
        </p:nvSpPr>
        <p:spPr>
          <a:xfrm>
            <a:off x="5333695" y="2152498"/>
            <a:ext cx="3620110" cy="152705"/>
          </a:xfrm>
          <a:prstGeom prst="rect">
            <a:avLst/>
          </a:prstGeom>
          <a:noFill/>
          <a:ln/>
        </p:spPr>
        <p:txBody>
          <a:bodyPr wrap="none" lIns="0" tIns="0" rIns="0" bIns="0" rtlCol="0" anchor="ctr"/>
          <a:lstStyle/>
          <a:p>
            <a:pPr algn="l" indent="0" marL="0">
              <a:buNone/>
            </a:pPr>
            <a:r>
              <a:rPr lang="en-US" sz="975" b="1" spc="156" kern="0" dirty="0">
                <a:solidFill>
                  <a:srgbClr val="047857"/>
                </a:solidFill>
                <a:latin typeface="Inter" pitchFamily="34" charset="0"/>
                <a:ea typeface="Inter" pitchFamily="34" charset="-122"/>
                <a:cs typeface="Inter" pitchFamily="34" charset="-120"/>
              </a:rPr>
              <a:t>Via Rc</a:t>
            </a:r>
            <a:endParaRPr lang="en-US" sz="975" dirty="0"/>
          </a:p>
        </p:txBody>
      </p:sp>
      <p:sp>
        <p:nvSpPr>
          <p:cNvPr id="45" name="Text 13"/>
          <p:cNvSpPr txBox="1"/>
          <p:nvPr/>
        </p:nvSpPr>
        <p:spPr>
          <a:xfrm>
            <a:off x="5333695" y="2361895"/>
            <a:ext cx="3620110" cy="191110"/>
          </a:xfrm>
          <a:prstGeom prst="rect">
            <a:avLst/>
          </a:prstGeom>
          <a:noFill/>
          <a:ln/>
        </p:spPr>
        <p:txBody>
          <a:bodyPr wrap="none" lIns="0" tIns="0" rIns="0" bIns="0" rtlCol="0" anchor="ctr"/>
          <a:lstStyle/>
          <a:p>
            <a:pPr algn="l" indent="0" marL="0">
              <a:buNone/>
            </a:pPr>
            <a:r>
              <a:rPr lang="en-US" sz="1050" dirty="0">
                <a:solidFill>
                  <a:srgbClr val="6B7280"/>
                </a:solidFill>
                <a:latin typeface="Inter" pitchFamily="34" charset="0"/>
                <a:ea typeface="Inter" pitchFamily="34" charset="-122"/>
                <a:cs typeface="Inter" pitchFamily="34" charset="-120"/>
              </a:rPr>
              <a:t>target ≤ 2.4 Ω/via</a:t>
            </a:r>
            <a:endParaRPr lang="en-US" sz="1050" dirty="0"/>
          </a:p>
        </p:txBody>
      </p:sp>
      <p:sp>
        <p:nvSpPr>
          <p:cNvPr id="46" name="Text 14"/>
          <p:cNvSpPr txBox="1"/>
          <p:nvPr/>
        </p:nvSpPr>
        <p:spPr>
          <a:xfrm>
            <a:off x="5333695" y="2553005"/>
            <a:ext cx="1733702" cy="143561"/>
          </a:xfrm>
          <a:prstGeom prst="rect">
            <a:avLst/>
          </a:prstGeom>
          <a:noFill/>
          <a:ln/>
        </p:spPr>
        <p:txBody>
          <a:bodyPr wrap="none" lIns="0" tIns="0" rIns="0" bIns="0" rtlCol="0" anchor="ctr"/>
          <a:lstStyle/>
          <a:p>
            <a:pPr algn="l" indent="0" marL="0">
              <a:buNone/>
            </a:pPr>
            <a:r>
              <a:rPr lang="en-US" sz="900" dirty="0">
                <a:solidFill>
                  <a:srgbClr val="6B7280"/>
                </a:solidFill>
                <a:latin typeface="Inter" pitchFamily="34" charset="0"/>
                <a:ea typeface="Inter" pitchFamily="34" charset="-122"/>
                <a:cs typeface="Inter" pitchFamily="34" charset="-120"/>
              </a:rPr>
              <a:t>Split A avg</a:t>
            </a:r>
            <a:endParaRPr lang="en-US" sz="900" dirty="0"/>
          </a:p>
        </p:txBody>
      </p:sp>
      <p:sp>
        <p:nvSpPr>
          <p:cNvPr id="47" name="Text 15"/>
          <p:cNvSpPr txBox="1"/>
          <p:nvPr/>
        </p:nvSpPr>
        <p:spPr>
          <a:xfrm>
            <a:off x="5333695" y="2714854"/>
            <a:ext cx="1733702" cy="372161"/>
          </a:xfrm>
          <a:prstGeom prst="rect">
            <a:avLst/>
          </a:prstGeom>
          <a:noFill/>
          <a:ln/>
        </p:spPr>
        <p:txBody>
          <a:bodyPr wrap="none" lIns="0" tIns="0" rIns="0" bIns="0" rtlCol="0" anchor="ctr"/>
          <a:lstStyle/>
          <a:p>
            <a:pPr algn="l" indent="0" marL="0">
              <a:buNone/>
            </a:pPr>
            <a:r>
              <a:rPr lang="en-US" sz="2400" b="1" dirty="0">
                <a:solidFill>
                  <a:srgbClr val="047857"/>
                </a:solidFill>
                <a:latin typeface="Inter" pitchFamily="34" charset="0"/>
                <a:ea typeface="Inter" pitchFamily="34" charset="-122"/>
                <a:cs typeface="Inter" pitchFamily="34" charset="-120"/>
              </a:rPr>
              <a:t>2.20</a:t>
            </a:r>
            <a:endParaRPr lang="en-US" sz="2400" dirty="0"/>
          </a:p>
        </p:txBody>
      </p:sp>
      <p:sp>
        <p:nvSpPr>
          <p:cNvPr id="48" name="Text 16"/>
          <p:cNvSpPr txBox="1"/>
          <p:nvPr/>
        </p:nvSpPr>
        <p:spPr>
          <a:xfrm>
            <a:off x="7220102" y="2553005"/>
            <a:ext cx="1733702" cy="143561"/>
          </a:xfrm>
          <a:prstGeom prst="rect">
            <a:avLst/>
          </a:prstGeom>
          <a:noFill/>
          <a:ln/>
        </p:spPr>
        <p:txBody>
          <a:bodyPr wrap="none" lIns="0" tIns="0" rIns="0" bIns="0" rtlCol="0" anchor="ctr"/>
          <a:lstStyle/>
          <a:p>
            <a:pPr algn="l" indent="0" marL="0">
              <a:buNone/>
            </a:pPr>
            <a:r>
              <a:rPr lang="en-US" sz="900" dirty="0">
                <a:solidFill>
                  <a:srgbClr val="6B7280"/>
                </a:solidFill>
                <a:latin typeface="Inter" pitchFamily="34" charset="0"/>
                <a:ea typeface="Inter" pitchFamily="34" charset="-122"/>
                <a:cs typeface="Inter" pitchFamily="34" charset="-120"/>
              </a:rPr>
              <a:t>Split B avg</a:t>
            </a:r>
            <a:endParaRPr lang="en-US" sz="900" dirty="0"/>
          </a:p>
        </p:txBody>
      </p:sp>
      <p:sp>
        <p:nvSpPr>
          <p:cNvPr id="49" name="Text 17"/>
          <p:cNvSpPr txBox="1"/>
          <p:nvPr/>
        </p:nvSpPr>
        <p:spPr>
          <a:xfrm>
            <a:off x="7220102" y="2714854"/>
            <a:ext cx="1733702" cy="372161"/>
          </a:xfrm>
          <a:prstGeom prst="rect">
            <a:avLst/>
          </a:prstGeom>
          <a:noFill/>
          <a:ln/>
        </p:spPr>
        <p:txBody>
          <a:bodyPr wrap="none" lIns="0" tIns="0" rIns="0" bIns="0" rtlCol="0" anchor="ctr"/>
          <a:lstStyle/>
          <a:p>
            <a:pPr algn="l" indent="0" marL="0">
              <a:buNone/>
            </a:pPr>
            <a:r>
              <a:rPr lang="en-US" sz="2400" b="1" dirty="0">
                <a:solidFill>
                  <a:srgbClr val="D97706"/>
                </a:solidFill>
                <a:latin typeface="Inter" pitchFamily="34" charset="0"/>
                <a:ea typeface="Inter" pitchFamily="34" charset="-122"/>
                <a:cs typeface="Inter" pitchFamily="34" charset="-120"/>
              </a:rPr>
              <a:t>2.37</a:t>
            </a:r>
            <a:endParaRPr lang="en-US" sz="2400" dirty="0"/>
          </a:p>
        </p:txBody>
      </p:sp>
      <p:sp>
        <p:nvSpPr>
          <p:cNvPr id="50" name="Text 18"/>
          <p:cNvSpPr txBox="1"/>
          <p:nvPr/>
        </p:nvSpPr>
        <p:spPr>
          <a:xfrm>
            <a:off x="5333695" y="3161995"/>
            <a:ext cx="3620110" cy="152705"/>
          </a:xfrm>
          <a:prstGeom prst="rect">
            <a:avLst/>
          </a:prstGeom>
          <a:noFill/>
          <a:ln/>
        </p:spPr>
        <p:txBody>
          <a:bodyPr wrap="none" lIns="0" tIns="0" rIns="0" bIns="0" rtlCol="0" anchor="ctr"/>
          <a:lstStyle/>
          <a:p>
            <a:pPr algn="l" indent="0" marL="0">
              <a:buNone/>
            </a:pPr>
            <a:r>
              <a:rPr lang="en-US" sz="975" b="1" dirty="0">
                <a:solidFill>
                  <a:srgbClr val="047857"/>
                </a:solidFill>
                <a:latin typeface="Inter" pitchFamily="34" charset="0"/>
                <a:ea typeface="Inter" pitchFamily="34" charset="-122"/>
                <a:cs typeface="Inter" pitchFamily="34" charset="-120"/>
              </a:rPr>
              <a:t>winner: A · −7.2%</a:t>
            </a:r>
            <a:endParaRPr lang="en-US" sz="975" dirty="0"/>
          </a:p>
        </p:txBody>
      </p:sp>
      <p:sp>
        <p:nvSpPr>
          <p:cNvPr id="51" name="Text 19"/>
          <p:cNvSpPr txBox="1"/>
          <p:nvPr/>
        </p:nvSpPr>
        <p:spPr>
          <a:xfrm>
            <a:off x="9525305" y="2152498"/>
            <a:ext cx="3620110" cy="152705"/>
          </a:xfrm>
          <a:prstGeom prst="rect">
            <a:avLst/>
          </a:prstGeom>
          <a:noFill/>
          <a:ln/>
        </p:spPr>
        <p:txBody>
          <a:bodyPr wrap="none" lIns="0" tIns="0" rIns="0" bIns="0" rtlCol="0" anchor="ctr"/>
          <a:lstStyle/>
          <a:p>
            <a:pPr algn="l" indent="0" marL="0">
              <a:buNone/>
            </a:pPr>
            <a:r>
              <a:rPr lang="en-US" sz="975" b="1" spc="156" kern="0" dirty="0">
                <a:solidFill>
                  <a:srgbClr val="047857"/>
                </a:solidFill>
                <a:latin typeface="Inter" pitchFamily="34" charset="0"/>
                <a:ea typeface="Inter" pitchFamily="34" charset="-122"/>
                <a:cs typeface="Inter" pitchFamily="34" charset="-120"/>
              </a:rPr>
              <a:t>Line-line leakage</a:t>
            </a:r>
            <a:endParaRPr lang="en-US" sz="975" dirty="0"/>
          </a:p>
        </p:txBody>
      </p:sp>
      <p:sp>
        <p:nvSpPr>
          <p:cNvPr id="52" name="Text 20"/>
          <p:cNvSpPr txBox="1"/>
          <p:nvPr/>
        </p:nvSpPr>
        <p:spPr>
          <a:xfrm>
            <a:off x="9525305" y="2361895"/>
            <a:ext cx="3620110" cy="191110"/>
          </a:xfrm>
          <a:prstGeom prst="rect">
            <a:avLst/>
          </a:prstGeom>
          <a:noFill/>
          <a:ln/>
        </p:spPr>
        <p:txBody>
          <a:bodyPr wrap="none" lIns="0" tIns="0" rIns="0" bIns="0" rtlCol="0" anchor="ctr"/>
          <a:lstStyle/>
          <a:p>
            <a:pPr algn="l" indent="0" marL="0">
              <a:buNone/>
            </a:pPr>
            <a:r>
              <a:rPr lang="en-US" sz="1050" dirty="0">
                <a:solidFill>
                  <a:srgbClr val="6B7280"/>
                </a:solidFill>
                <a:latin typeface="Inter" pitchFamily="34" charset="0"/>
                <a:ea typeface="Inter" pitchFamily="34" charset="-122"/>
                <a:cs typeface="Inter" pitchFamily="34" charset="-120"/>
              </a:rPr>
              <a:t>target ≤ 8.0 fA/µm @ 1 V</a:t>
            </a:r>
            <a:endParaRPr lang="en-US" sz="1050" dirty="0"/>
          </a:p>
        </p:txBody>
      </p:sp>
      <p:sp>
        <p:nvSpPr>
          <p:cNvPr id="53" name="Text 21"/>
          <p:cNvSpPr txBox="1"/>
          <p:nvPr/>
        </p:nvSpPr>
        <p:spPr>
          <a:xfrm>
            <a:off x="9525305" y="2553005"/>
            <a:ext cx="1733702" cy="143561"/>
          </a:xfrm>
          <a:prstGeom prst="rect">
            <a:avLst/>
          </a:prstGeom>
          <a:noFill/>
          <a:ln/>
        </p:spPr>
        <p:txBody>
          <a:bodyPr wrap="none" lIns="0" tIns="0" rIns="0" bIns="0" rtlCol="0" anchor="ctr"/>
          <a:lstStyle/>
          <a:p>
            <a:pPr algn="l" indent="0" marL="0">
              <a:buNone/>
            </a:pPr>
            <a:r>
              <a:rPr lang="en-US" sz="900" dirty="0">
                <a:solidFill>
                  <a:srgbClr val="6B7280"/>
                </a:solidFill>
                <a:latin typeface="Inter" pitchFamily="34" charset="0"/>
                <a:ea typeface="Inter" pitchFamily="34" charset="-122"/>
                <a:cs typeface="Inter" pitchFamily="34" charset="-120"/>
              </a:rPr>
              <a:t>Split A avg</a:t>
            </a:r>
            <a:endParaRPr lang="en-US" sz="900" dirty="0"/>
          </a:p>
        </p:txBody>
      </p:sp>
      <p:sp>
        <p:nvSpPr>
          <p:cNvPr id="54" name="Text 22"/>
          <p:cNvSpPr txBox="1"/>
          <p:nvPr/>
        </p:nvSpPr>
        <p:spPr>
          <a:xfrm>
            <a:off x="9525305" y="2714854"/>
            <a:ext cx="1733702" cy="372161"/>
          </a:xfrm>
          <a:prstGeom prst="rect">
            <a:avLst/>
          </a:prstGeom>
          <a:noFill/>
          <a:ln/>
        </p:spPr>
        <p:txBody>
          <a:bodyPr wrap="none" lIns="0" tIns="0" rIns="0" bIns="0" rtlCol="0" anchor="ctr"/>
          <a:lstStyle/>
          <a:p>
            <a:pPr algn="l" indent="0" marL="0">
              <a:buNone/>
            </a:pPr>
            <a:r>
              <a:rPr lang="en-US" sz="2400" b="1" dirty="0">
                <a:solidFill>
                  <a:srgbClr val="047857"/>
                </a:solidFill>
                <a:latin typeface="Inter" pitchFamily="34" charset="0"/>
                <a:ea typeface="Inter" pitchFamily="34" charset="-122"/>
                <a:cs typeface="Inter" pitchFamily="34" charset="-120"/>
              </a:rPr>
              <a:t>5.48</a:t>
            </a:r>
            <a:endParaRPr lang="en-US" sz="2400" dirty="0"/>
          </a:p>
        </p:txBody>
      </p:sp>
      <p:sp>
        <p:nvSpPr>
          <p:cNvPr id="55" name="Text 23"/>
          <p:cNvSpPr txBox="1"/>
          <p:nvPr/>
        </p:nvSpPr>
        <p:spPr>
          <a:xfrm>
            <a:off x="11410798" y="2553005"/>
            <a:ext cx="1733702" cy="143561"/>
          </a:xfrm>
          <a:prstGeom prst="rect">
            <a:avLst/>
          </a:prstGeom>
          <a:noFill/>
          <a:ln/>
        </p:spPr>
        <p:txBody>
          <a:bodyPr wrap="none" lIns="0" tIns="0" rIns="0" bIns="0" rtlCol="0" anchor="ctr"/>
          <a:lstStyle/>
          <a:p>
            <a:pPr algn="l" indent="0" marL="0">
              <a:buNone/>
            </a:pPr>
            <a:r>
              <a:rPr lang="en-US" sz="900" dirty="0">
                <a:solidFill>
                  <a:srgbClr val="6B7280"/>
                </a:solidFill>
                <a:latin typeface="Inter" pitchFamily="34" charset="0"/>
                <a:ea typeface="Inter" pitchFamily="34" charset="-122"/>
                <a:cs typeface="Inter" pitchFamily="34" charset="-120"/>
              </a:rPr>
              <a:t>Split B avg</a:t>
            </a:r>
            <a:endParaRPr lang="en-US" sz="900" dirty="0"/>
          </a:p>
        </p:txBody>
      </p:sp>
      <p:sp>
        <p:nvSpPr>
          <p:cNvPr id="56" name="Text 24"/>
          <p:cNvSpPr txBox="1"/>
          <p:nvPr/>
        </p:nvSpPr>
        <p:spPr>
          <a:xfrm>
            <a:off x="11410798" y="2714854"/>
            <a:ext cx="1733702" cy="372161"/>
          </a:xfrm>
          <a:prstGeom prst="rect">
            <a:avLst/>
          </a:prstGeom>
          <a:noFill/>
          <a:ln/>
        </p:spPr>
        <p:txBody>
          <a:bodyPr wrap="none" lIns="0" tIns="0" rIns="0" bIns="0" rtlCol="0" anchor="ctr"/>
          <a:lstStyle/>
          <a:p>
            <a:pPr algn="l" indent="0" marL="0">
              <a:buNone/>
            </a:pPr>
            <a:r>
              <a:rPr lang="en-US" sz="2400" b="1" dirty="0">
                <a:solidFill>
                  <a:srgbClr val="D97706"/>
                </a:solidFill>
                <a:latin typeface="Inter" pitchFamily="34" charset="0"/>
                <a:ea typeface="Inter" pitchFamily="34" charset="-122"/>
                <a:cs typeface="Inter" pitchFamily="34" charset="-120"/>
              </a:rPr>
              <a:t>7.08</a:t>
            </a:r>
            <a:endParaRPr lang="en-US" sz="2400" dirty="0"/>
          </a:p>
        </p:txBody>
      </p:sp>
      <p:sp>
        <p:nvSpPr>
          <p:cNvPr id="57" name="Text 25"/>
          <p:cNvSpPr txBox="1"/>
          <p:nvPr/>
        </p:nvSpPr>
        <p:spPr>
          <a:xfrm>
            <a:off x="9525305" y="3161995"/>
            <a:ext cx="3620110" cy="152705"/>
          </a:xfrm>
          <a:prstGeom prst="rect">
            <a:avLst/>
          </a:prstGeom>
          <a:noFill/>
          <a:ln/>
        </p:spPr>
        <p:txBody>
          <a:bodyPr wrap="none" lIns="0" tIns="0" rIns="0" bIns="0" rtlCol="0" anchor="ctr"/>
          <a:lstStyle/>
          <a:p>
            <a:pPr algn="l" indent="0" marL="0">
              <a:buNone/>
            </a:pPr>
            <a:r>
              <a:rPr lang="en-US" sz="975" b="1" dirty="0">
                <a:solidFill>
                  <a:srgbClr val="047857"/>
                </a:solidFill>
                <a:latin typeface="Inter" pitchFamily="34" charset="0"/>
                <a:ea typeface="Inter" pitchFamily="34" charset="-122"/>
                <a:cs typeface="Inter" pitchFamily="34" charset="-120"/>
              </a:rPr>
              <a:t>winner: A · −22.6%</a:t>
            </a:r>
            <a:endParaRPr lang="en-US" sz="975" dirty="0"/>
          </a:p>
        </p:txBody>
      </p:sp>
      <p:sp>
        <p:nvSpPr>
          <p:cNvPr id="58" name="Text 26"/>
          <p:cNvSpPr txBox="1"/>
          <p:nvPr/>
        </p:nvSpPr>
        <p:spPr>
          <a:xfrm>
            <a:off x="13716000" y="2152498"/>
            <a:ext cx="3620110" cy="152705"/>
          </a:xfrm>
          <a:prstGeom prst="rect">
            <a:avLst/>
          </a:prstGeom>
          <a:noFill/>
          <a:ln/>
        </p:spPr>
        <p:txBody>
          <a:bodyPr wrap="none" lIns="0" tIns="0" rIns="0" bIns="0" rtlCol="0" anchor="ctr"/>
          <a:lstStyle/>
          <a:p>
            <a:pPr algn="l" indent="0" marL="0">
              <a:buNone/>
            </a:pPr>
            <a:r>
              <a:rPr lang="en-US" sz="975" b="1" spc="156" kern="0" dirty="0">
                <a:solidFill>
                  <a:srgbClr val="047857"/>
                </a:solidFill>
                <a:latin typeface="Inter" pitchFamily="34" charset="0"/>
                <a:ea typeface="Inter" pitchFamily="34" charset="-122"/>
                <a:cs typeface="Inter" pitchFamily="34" charset="-120"/>
              </a:rPr>
              <a:t>Yield</a:t>
            </a:r>
            <a:endParaRPr lang="en-US" sz="975" dirty="0"/>
          </a:p>
        </p:txBody>
      </p:sp>
      <p:sp>
        <p:nvSpPr>
          <p:cNvPr id="59" name="Text 27"/>
          <p:cNvSpPr txBox="1"/>
          <p:nvPr/>
        </p:nvSpPr>
        <p:spPr>
          <a:xfrm>
            <a:off x="13716000" y="2361895"/>
            <a:ext cx="3620110" cy="191110"/>
          </a:xfrm>
          <a:prstGeom prst="rect">
            <a:avLst/>
          </a:prstGeom>
          <a:noFill/>
          <a:ln/>
        </p:spPr>
        <p:txBody>
          <a:bodyPr wrap="none" lIns="0" tIns="0" rIns="0" bIns="0" rtlCol="0" anchor="ctr"/>
          <a:lstStyle/>
          <a:p>
            <a:pPr algn="l" indent="0" marL="0">
              <a:buNone/>
            </a:pPr>
            <a:r>
              <a:rPr lang="en-US" sz="1050" dirty="0">
                <a:solidFill>
                  <a:srgbClr val="6B7280"/>
                </a:solidFill>
                <a:latin typeface="Inter" pitchFamily="34" charset="0"/>
                <a:ea typeface="Inter" pitchFamily="34" charset="-122"/>
                <a:cs typeface="Inter" pitchFamily="34" charset="-120"/>
              </a:rPr>
              <a:t>target ≥ 95.0 %</a:t>
            </a:r>
            <a:endParaRPr lang="en-US" sz="1050" dirty="0"/>
          </a:p>
        </p:txBody>
      </p:sp>
      <p:sp>
        <p:nvSpPr>
          <p:cNvPr id="60" name="Text 28"/>
          <p:cNvSpPr txBox="1"/>
          <p:nvPr/>
        </p:nvSpPr>
        <p:spPr>
          <a:xfrm>
            <a:off x="13716000" y="2553005"/>
            <a:ext cx="1733702" cy="143561"/>
          </a:xfrm>
          <a:prstGeom prst="rect">
            <a:avLst/>
          </a:prstGeom>
          <a:noFill/>
          <a:ln/>
        </p:spPr>
        <p:txBody>
          <a:bodyPr wrap="none" lIns="0" tIns="0" rIns="0" bIns="0" rtlCol="0" anchor="ctr"/>
          <a:lstStyle/>
          <a:p>
            <a:pPr algn="l" indent="0" marL="0">
              <a:buNone/>
            </a:pPr>
            <a:r>
              <a:rPr lang="en-US" sz="900" dirty="0">
                <a:solidFill>
                  <a:srgbClr val="6B7280"/>
                </a:solidFill>
                <a:latin typeface="Inter" pitchFamily="34" charset="0"/>
                <a:ea typeface="Inter" pitchFamily="34" charset="-122"/>
                <a:cs typeface="Inter" pitchFamily="34" charset="-120"/>
              </a:rPr>
              <a:t>Split A avg</a:t>
            </a:r>
            <a:endParaRPr lang="en-US" sz="900" dirty="0"/>
          </a:p>
        </p:txBody>
      </p:sp>
      <p:sp>
        <p:nvSpPr>
          <p:cNvPr id="61" name="Text 29"/>
          <p:cNvSpPr txBox="1"/>
          <p:nvPr/>
        </p:nvSpPr>
        <p:spPr>
          <a:xfrm>
            <a:off x="13716000" y="2714854"/>
            <a:ext cx="1733702" cy="372161"/>
          </a:xfrm>
          <a:prstGeom prst="rect">
            <a:avLst/>
          </a:prstGeom>
          <a:noFill/>
          <a:ln/>
        </p:spPr>
        <p:txBody>
          <a:bodyPr wrap="none" lIns="0" tIns="0" rIns="0" bIns="0" rtlCol="0" anchor="ctr"/>
          <a:lstStyle/>
          <a:p>
            <a:pPr algn="l" indent="0" marL="0">
              <a:buNone/>
            </a:pPr>
            <a:r>
              <a:rPr lang="en-US" sz="2400" b="1" dirty="0">
                <a:solidFill>
                  <a:srgbClr val="047857"/>
                </a:solidFill>
                <a:latin typeface="Inter" pitchFamily="34" charset="0"/>
                <a:ea typeface="Inter" pitchFamily="34" charset="-122"/>
                <a:cs typeface="Inter" pitchFamily="34" charset="-120"/>
              </a:rPr>
              <a:t>98.3</a:t>
            </a:r>
            <a:endParaRPr lang="en-US" sz="2400" dirty="0"/>
          </a:p>
        </p:txBody>
      </p:sp>
      <p:sp>
        <p:nvSpPr>
          <p:cNvPr id="62" name="Text 30"/>
          <p:cNvSpPr txBox="1"/>
          <p:nvPr/>
        </p:nvSpPr>
        <p:spPr>
          <a:xfrm>
            <a:off x="15602407" y="2553005"/>
            <a:ext cx="1733702" cy="143561"/>
          </a:xfrm>
          <a:prstGeom prst="rect">
            <a:avLst/>
          </a:prstGeom>
          <a:noFill/>
          <a:ln/>
        </p:spPr>
        <p:txBody>
          <a:bodyPr wrap="none" lIns="0" tIns="0" rIns="0" bIns="0" rtlCol="0" anchor="ctr"/>
          <a:lstStyle/>
          <a:p>
            <a:pPr algn="l" indent="0" marL="0">
              <a:buNone/>
            </a:pPr>
            <a:r>
              <a:rPr lang="en-US" sz="900" dirty="0">
                <a:solidFill>
                  <a:srgbClr val="6B7280"/>
                </a:solidFill>
                <a:latin typeface="Inter" pitchFamily="34" charset="0"/>
                <a:ea typeface="Inter" pitchFamily="34" charset="-122"/>
                <a:cs typeface="Inter" pitchFamily="34" charset="-120"/>
              </a:rPr>
              <a:t>Split B avg</a:t>
            </a:r>
            <a:endParaRPr lang="en-US" sz="900" dirty="0"/>
          </a:p>
        </p:txBody>
      </p:sp>
      <p:sp>
        <p:nvSpPr>
          <p:cNvPr id="63" name="Text 31"/>
          <p:cNvSpPr txBox="1"/>
          <p:nvPr/>
        </p:nvSpPr>
        <p:spPr>
          <a:xfrm>
            <a:off x="15602407" y="2714854"/>
            <a:ext cx="1733702" cy="372161"/>
          </a:xfrm>
          <a:prstGeom prst="rect">
            <a:avLst/>
          </a:prstGeom>
          <a:noFill/>
          <a:ln/>
        </p:spPr>
        <p:txBody>
          <a:bodyPr wrap="none" lIns="0" tIns="0" rIns="0" bIns="0" rtlCol="0" anchor="ctr"/>
          <a:lstStyle/>
          <a:p>
            <a:pPr algn="l" indent="0" marL="0">
              <a:buNone/>
            </a:pPr>
            <a:r>
              <a:rPr lang="en-US" sz="2400" b="1" dirty="0">
                <a:solidFill>
                  <a:srgbClr val="D97706"/>
                </a:solidFill>
                <a:latin typeface="Inter" pitchFamily="34" charset="0"/>
                <a:ea typeface="Inter" pitchFamily="34" charset="-122"/>
                <a:cs typeface="Inter" pitchFamily="34" charset="-120"/>
              </a:rPr>
              <a:t>95.6</a:t>
            </a:r>
            <a:endParaRPr lang="en-US" sz="2400" dirty="0"/>
          </a:p>
        </p:txBody>
      </p:sp>
      <p:sp>
        <p:nvSpPr>
          <p:cNvPr id="64" name="Text 32"/>
          <p:cNvSpPr txBox="1"/>
          <p:nvPr/>
        </p:nvSpPr>
        <p:spPr>
          <a:xfrm>
            <a:off x="13716000" y="3161995"/>
            <a:ext cx="3620110" cy="181051"/>
          </a:xfrm>
          <a:prstGeom prst="rect">
            <a:avLst/>
          </a:prstGeom>
          <a:noFill/>
          <a:ln/>
        </p:spPr>
        <p:txBody>
          <a:bodyPr wrap="none" lIns="0" tIns="0" rIns="0" bIns="0" rtlCol="0" anchor="ctr"/>
          <a:lstStyle/>
          <a:p>
            <a:pPr algn="l" indent="0" marL="0">
              <a:buNone/>
            </a:pPr>
            <a:r>
              <a:rPr lang="en-US" sz="975" b="1" dirty="0">
                <a:solidFill>
                  <a:srgbClr val="B91C1C"/>
                </a:solidFill>
                <a:latin typeface="Inter" pitchFamily="34" charset="0"/>
                <a:ea typeface="Inter" pitchFamily="34" charset="-122"/>
                <a:cs typeface="Inter" pitchFamily="34" charset="-120"/>
              </a:rPr>
              <a:t>A +2.7 pp · B 주의</a:t>
            </a:r>
            <a:endParaRPr lang="en-US" sz="975" dirty="0"/>
          </a:p>
        </p:txBody>
      </p:sp>
      <p:sp>
        <p:nvSpPr>
          <p:cNvPr id="65" name="Text 33"/>
          <p:cNvSpPr txBox="1"/>
          <p:nvPr/>
        </p:nvSpPr>
        <p:spPr>
          <a:xfrm>
            <a:off x="1429207" y="4134002"/>
            <a:ext cx="1334110" cy="162763"/>
          </a:xfrm>
          <a:prstGeom prst="rect">
            <a:avLst/>
          </a:prstGeom>
          <a:noFill/>
          <a:ln/>
        </p:spPr>
        <p:txBody>
          <a:bodyPr wrap="none" lIns="0" tIns="0" rIns="0" bIns="0" rtlCol="0" anchor="ctr"/>
          <a:lstStyle/>
          <a:p>
            <a:pPr algn="l" indent="0" marL="0">
              <a:buNone/>
            </a:pPr>
            <a:r>
              <a:rPr lang="en-US" sz="1050" b="1" spc="63" kern="0" dirty="0">
                <a:solidFill>
                  <a:srgbClr val="A7F3D0"/>
                </a:solidFill>
                <a:latin typeface="Inter" pitchFamily="34" charset="0"/>
                <a:ea typeface="Inter" pitchFamily="34" charset="-122"/>
                <a:cs typeface="Inter" pitchFamily="34" charset="-120"/>
              </a:rPr>
              <a:t>Wafer</a:t>
            </a:r>
            <a:endParaRPr lang="en-US" sz="1050" dirty="0"/>
          </a:p>
        </p:txBody>
      </p:sp>
      <p:sp>
        <p:nvSpPr>
          <p:cNvPr id="66" name="Text 34"/>
          <p:cNvSpPr txBox="1"/>
          <p:nvPr/>
        </p:nvSpPr>
        <p:spPr>
          <a:xfrm>
            <a:off x="2857500" y="4134002"/>
            <a:ext cx="1143000" cy="162763"/>
          </a:xfrm>
          <a:prstGeom prst="rect">
            <a:avLst/>
          </a:prstGeom>
          <a:noFill/>
          <a:ln/>
        </p:spPr>
        <p:txBody>
          <a:bodyPr wrap="none" lIns="0" tIns="0" rIns="0" bIns="0" rtlCol="0" anchor="ctr"/>
          <a:lstStyle/>
          <a:p>
            <a:pPr algn="l" indent="0" marL="0">
              <a:buNone/>
            </a:pPr>
            <a:r>
              <a:rPr lang="en-US" sz="1050" b="1" spc="63" kern="0" dirty="0">
                <a:solidFill>
                  <a:srgbClr val="A7F3D0"/>
                </a:solidFill>
                <a:latin typeface="Inter" pitchFamily="34" charset="0"/>
                <a:ea typeface="Inter" pitchFamily="34" charset="-122"/>
                <a:cs typeface="Inter" pitchFamily="34" charset="-120"/>
              </a:rPr>
              <a:t>Split</a:t>
            </a:r>
            <a:endParaRPr lang="en-US" sz="1050" dirty="0"/>
          </a:p>
        </p:txBody>
      </p:sp>
      <p:sp>
        <p:nvSpPr>
          <p:cNvPr id="67" name="Text 35"/>
          <p:cNvSpPr txBox="1"/>
          <p:nvPr/>
        </p:nvSpPr>
        <p:spPr>
          <a:xfrm>
            <a:off x="4286707" y="4134002"/>
            <a:ext cx="2667305" cy="162763"/>
          </a:xfrm>
          <a:prstGeom prst="rect">
            <a:avLst/>
          </a:prstGeom>
          <a:noFill/>
          <a:ln/>
        </p:spPr>
        <p:txBody>
          <a:bodyPr wrap="none" lIns="0" tIns="0" rIns="0" bIns="0" rtlCol="0" anchor="ctr"/>
          <a:lstStyle/>
          <a:p>
            <a:pPr algn="l" indent="0" marL="0">
              <a:buNone/>
            </a:pPr>
            <a:r>
              <a:rPr lang="en-US" sz="1050" b="1" spc="63" kern="0" dirty="0">
                <a:solidFill>
                  <a:srgbClr val="A7F3D0"/>
                </a:solidFill>
                <a:latin typeface="Inter" pitchFamily="34" charset="0"/>
                <a:ea typeface="Inter" pitchFamily="34" charset="-122"/>
                <a:cs typeface="Inter" pitchFamily="34" charset="-120"/>
              </a:rPr>
              <a:t>Line Rs (Ω/sq)</a:t>
            </a:r>
            <a:endParaRPr lang="en-US" sz="1050" dirty="0"/>
          </a:p>
        </p:txBody>
      </p:sp>
      <p:sp>
        <p:nvSpPr>
          <p:cNvPr id="68" name="Text 36"/>
          <p:cNvSpPr txBox="1"/>
          <p:nvPr/>
        </p:nvSpPr>
        <p:spPr>
          <a:xfrm>
            <a:off x="7239305" y="4134002"/>
            <a:ext cx="2667305" cy="162763"/>
          </a:xfrm>
          <a:prstGeom prst="rect">
            <a:avLst/>
          </a:prstGeom>
          <a:noFill/>
          <a:ln/>
        </p:spPr>
        <p:txBody>
          <a:bodyPr wrap="none" lIns="0" tIns="0" rIns="0" bIns="0" rtlCol="0" anchor="ctr"/>
          <a:lstStyle/>
          <a:p>
            <a:pPr algn="l" indent="0" marL="0">
              <a:buNone/>
            </a:pPr>
            <a:r>
              <a:rPr lang="en-US" sz="1050" b="1" spc="63" kern="0" dirty="0">
                <a:solidFill>
                  <a:srgbClr val="A7F3D0"/>
                </a:solidFill>
                <a:latin typeface="Inter" pitchFamily="34" charset="0"/>
                <a:ea typeface="Inter" pitchFamily="34" charset="-122"/>
                <a:cs typeface="Inter" pitchFamily="34" charset="-120"/>
              </a:rPr>
              <a:t>Via Rc (Ω/via)</a:t>
            </a:r>
            <a:endParaRPr lang="en-US" sz="1050" dirty="0"/>
          </a:p>
        </p:txBody>
      </p:sp>
      <p:sp>
        <p:nvSpPr>
          <p:cNvPr id="69" name="Text 37"/>
          <p:cNvSpPr txBox="1"/>
          <p:nvPr/>
        </p:nvSpPr>
        <p:spPr>
          <a:xfrm>
            <a:off x="10191902" y="4134002"/>
            <a:ext cx="2857500" cy="162763"/>
          </a:xfrm>
          <a:prstGeom prst="rect">
            <a:avLst/>
          </a:prstGeom>
          <a:noFill/>
          <a:ln/>
        </p:spPr>
        <p:txBody>
          <a:bodyPr wrap="none" lIns="0" tIns="0" rIns="0" bIns="0" rtlCol="0" anchor="ctr"/>
          <a:lstStyle/>
          <a:p>
            <a:pPr algn="l" indent="0" marL="0">
              <a:buNone/>
            </a:pPr>
            <a:r>
              <a:rPr lang="en-US" sz="1050" b="1" spc="63" kern="0" dirty="0">
                <a:solidFill>
                  <a:srgbClr val="A7F3D0"/>
                </a:solidFill>
                <a:latin typeface="Inter" pitchFamily="34" charset="0"/>
                <a:ea typeface="Inter" pitchFamily="34" charset="-122"/>
                <a:cs typeface="Inter" pitchFamily="34" charset="-120"/>
              </a:rPr>
              <a:t>Leakage (fA/µm)</a:t>
            </a:r>
            <a:endParaRPr lang="en-US" sz="1050" dirty="0"/>
          </a:p>
        </p:txBody>
      </p:sp>
      <p:sp>
        <p:nvSpPr>
          <p:cNvPr id="70" name="Text 38"/>
          <p:cNvSpPr txBox="1"/>
          <p:nvPr/>
        </p:nvSpPr>
        <p:spPr>
          <a:xfrm>
            <a:off x="13334695" y="4134002"/>
            <a:ext cx="3810305" cy="162763"/>
          </a:xfrm>
          <a:prstGeom prst="rect">
            <a:avLst/>
          </a:prstGeom>
          <a:noFill/>
          <a:ln/>
        </p:spPr>
        <p:txBody>
          <a:bodyPr wrap="none" lIns="0" tIns="0" rIns="0" bIns="0" rtlCol="0" anchor="ctr"/>
          <a:lstStyle/>
          <a:p>
            <a:pPr algn="l" indent="0" marL="0">
              <a:buNone/>
            </a:pPr>
            <a:r>
              <a:rPr lang="en-US" sz="1050" b="1" spc="63" kern="0" dirty="0">
                <a:solidFill>
                  <a:srgbClr val="A7F3D0"/>
                </a:solidFill>
                <a:latin typeface="Inter" pitchFamily="34" charset="0"/>
                <a:ea typeface="Inter" pitchFamily="34" charset="-122"/>
                <a:cs typeface="Inter" pitchFamily="34" charset="-120"/>
              </a:rPr>
              <a:t>Yield %</a:t>
            </a:r>
            <a:endParaRPr lang="en-US" sz="1050" dirty="0"/>
          </a:p>
        </p:txBody>
      </p:sp>
      <p:sp>
        <p:nvSpPr>
          <p:cNvPr id="71" name="Text 39"/>
          <p:cNvSpPr txBox="1"/>
          <p:nvPr/>
        </p:nvSpPr>
        <p:spPr>
          <a:xfrm>
            <a:off x="1143000" y="4552798"/>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W01</a:t>
            </a:r>
            <a:endParaRPr lang="en-US" sz="1800" dirty="0"/>
          </a:p>
        </p:txBody>
      </p:sp>
      <p:sp>
        <p:nvSpPr>
          <p:cNvPr id="72" name="Shape 40"/>
          <p:cNvSpPr/>
          <p:nvPr/>
        </p:nvSpPr>
        <p:spPr>
          <a:xfrm>
            <a:off x="2572207" y="4629607"/>
            <a:ext cx="599846" cy="228600"/>
          </a:xfrm>
          <a:prstGeom prst="roundRect">
            <a:avLst>
              <a:gd name="adj" fmla="val 25200"/>
            </a:avLst>
          </a:prstGeom>
          <a:solidFill>
            <a:srgbClr val="065F46"/>
          </a:solidFill>
          <a:ln w="12700">
            <a:solidFill>
              <a:srgbClr val="FFFFFF">
                <a:alpha val="0"/>
              </a:srgbClr>
            </a:solidFill>
            <a:prstDash val="solid"/>
          </a:ln>
        </p:spPr>
      </p:sp>
      <p:sp>
        <p:nvSpPr>
          <p:cNvPr id="73" name="Text 41"/>
          <p:cNvSpPr txBox="1"/>
          <p:nvPr/>
        </p:nvSpPr>
        <p:spPr>
          <a:xfrm>
            <a:off x="2572207" y="4629607"/>
            <a:ext cx="600761" cy="228600"/>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dirty="0">
                <a:solidFill>
                  <a:srgbClr val="ECFDF5"/>
                </a:solidFill>
                <a:latin typeface="Inter" pitchFamily="34" charset="0"/>
                <a:ea typeface="Inter" pitchFamily="34" charset="-122"/>
                <a:cs typeface="Inter" pitchFamily="34" charset="-120"/>
              </a:rPr>
              <a:t>A · TiN</a:t>
            </a:r>
            <a:endParaRPr lang="en-US" sz="975" dirty="0"/>
          </a:p>
        </p:txBody>
      </p:sp>
      <p:sp>
        <p:nvSpPr>
          <p:cNvPr id="74" name="Text 42"/>
          <p:cNvSpPr txBox="1"/>
          <p:nvPr/>
        </p:nvSpPr>
        <p:spPr>
          <a:xfrm>
            <a:off x="4000500" y="4572000"/>
            <a:ext cx="2667305" cy="247802"/>
          </a:xfrm>
          <a:prstGeom prst="rect">
            <a:avLst/>
          </a:prstGeom>
          <a:noFill/>
          <a:ln/>
        </p:spPr>
        <p:txBody>
          <a:bodyPr wrap="none" lIns="0" tIns="0" rIns="0" bIns="0" rtlCol="0" anchor="ctr"/>
          <a:lstStyle/>
          <a:p>
            <a:pPr algn="l" indent="0" marL="0">
              <a:buNone/>
            </a:pPr>
            <a:r>
              <a:rPr lang="en-US" sz="1650" b="1" dirty="0">
                <a:solidFill>
                  <a:srgbClr val="0B1F18"/>
                </a:solidFill>
                <a:latin typeface="Inter" pitchFamily="34" charset="0"/>
                <a:ea typeface="Inter" pitchFamily="34" charset="-122"/>
                <a:cs typeface="Inter" pitchFamily="34" charset="-120"/>
              </a:rPr>
              <a:t>0.412</a:t>
            </a:r>
            <a:endParaRPr lang="en-US" sz="1650" dirty="0"/>
          </a:p>
        </p:txBody>
      </p:sp>
      <p:sp>
        <p:nvSpPr>
          <p:cNvPr id="75" name="Text 43"/>
          <p:cNvSpPr txBox="1"/>
          <p:nvPr/>
        </p:nvSpPr>
        <p:spPr>
          <a:xfrm>
            <a:off x="6953098" y="4572000"/>
            <a:ext cx="2667305" cy="247802"/>
          </a:xfrm>
          <a:prstGeom prst="rect">
            <a:avLst/>
          </a:prstGeom>
          <a:noFill/>
          <a:ln/>
        </p:spPr>
        <p:txBody>
          <a:bodyPr wrap="none" lIns="0" tIns="0" rIns="0" bIns="0" rtlCol="0" anchor="ctr"/>
          <a:lstStyle/>
          <a:p>
            <a:pPr algn="l" indent="0" marL="0">
              <a:buNone/>
            </a:pPr>
            <a:r>
              <a:rPr lang="en-US" sz="1650" b="1" dirty="0">
                <a:solidFill>
                  <a:srgbClr val="0B1F18"/>
                </a:solidFill>
                <a:latin typeface="Inter" pitchFamily="34" charset="0"/>
                <a:ea typeface="Inter" pitchFamily="34" charset="-122"/>
                <a:cs typeface="Inter" pitchFamily="34" charset="-120"/>
              </a:rPr>
              <a:t>2.18</a:t>
            </a:r>
            <a:endParaRPr lang="en-US" sz="1650" dirty="0"/>
          </a:p>
        </p:txBody>
      </p:sp>
      <p:sp>
        <p:nvSpPr>
          <p:cNvPr id="76" name="Text 44"/>
          <p:cNvSpPr txBox="1"/>
          <p:nvPr/>
        </p:nvSpPr>
        <p:spPr>
          <a:xfrm>
            <a:off x="9905695" y="4572000"/>
            <a:ext cx="2857500" cy="247802"/>
          </a:xfrm>
          <a:prstGeom prst="rect">
            <a:avLst/>
          </a:prstGeom>
          <a:noFill/>
          <a:ln/>
        </p:spPr>
        <p:txBody>
          <a:bodyPr wrap="none" lIns="0" tIns="0" rIns="0" bIns="0" rtlCol="0" anchor="ctr"/>
          <a:lstStyle/>
          <a:p>
            <a:pPr algn="l" indent="0" marL="0">
              <a:buNone/>
            </a:pPr>
            <a:r>
              <a:rPr lang="en-US" sz="1650" b="1" dirty="0">
                <a:solidFill>
                  <a:srgbClr val="0B1F18"/>
                </a:solidFill>
                <a:latin typeface="Inter" pitchFamily="34" charset="0"/>
                <a:ea typeface="Inter" pitchFamily="34" charset="-122"/>
                <a:cs typeface="Inter" pitchFamily="34" charset="-120"/>
              </a:rPr>
              <a:t>5.4</a:t>
            </a:r>
            <a:endParaRPr lang="en-US" sz="1650" dirty="0"/>
          </a:p>
        </p:txBody>
      </p:sp>
      <p:sp>
        <p:nvSpPr>
          <p:cNvPr id="77" name="Text 45"/>
          <p:cNvSpPr txBox="1"/>
          <p:nvPr/>
        </p:nvSpPr>
        <p:spPr>
          <a:xfrm>
            <a:off x="13049402" y="4572000"/>
            <a:ext cx="1905610" cy="247802"/>
          </a:xfrm>
          <a:prstGeom prst="rect">
            <a:avLst/>
          </a:prstGeom>
          <a:noFill/>
          <a:ln/>
        </p:spPr>
        <p:txBody>
          <a:bodyPr wrap="none" lIns="0" tIns="0" rIns="0" bIns="0" rtlCol="0" anchor="ctr"/>
          <a:lstStyle/>
          <a:p>
            <a:pPr algn="l" indent="0" marL="0">
              <a:buNone/>
            </a:pPr>
            <a:r>
              <a:rPr lang="en-US" sz="1650" b="1" dirty="0">
                <a:solidFill>
                  <a:srgbClr val="047857"/>
                </a:solidFill>
                <a:latin typeface="Inter" pitchFamily="34" charset="0"/>
                <a:ea typeface="Inter" pitchFamily="34" charset="-122"/>
                <a:cs typeface="Inter" pitchFamily="34" charset="-120"/>
              </a:rPr>
              <a:t>98.4</a:t>
            </a:r>
            <a:endParaRPr lang="en-US" sz="1650" dirty="0"/>
          </a:p>
        </p:txBody>
      </p:sp>
      <p:pic>
        <p:nvPicPr>
          <p:cNvPr id="78" name="Image 29" descr="gen-dedup-ba8201b105e17f95ac71b3553a06bdb5.png">    </p:cNvPr>
          <p:cNvPicPr>
            <a:picLocks noChangeAspect="1"/>
          </p:cNvPicPr>
          <p:nvPr/>
        </p:nvPicPr>
        <p:blipFill>
          <a:blip r:embed="rId30"/>
          <a:srcRect l="-193" r="-193" t="0" b="0"/>
          <a:stretch/>
        </p:blipFill>
        <p:spPr>
          <a:xfrm>
            <a:off x="14954098" y="4629607"/>
            <a:ext cx="1904695" cy="75895"/>
          </a:xfrm>
          <a:prstGeom prst="rect">
            <a:avLst/>
          </a:prstGeom>
        </p:spPr>
      </p:pic>
      <p:pic>
        <p:nvPicPr>
          <p:cNvPr id="79" name="Image 30" descr="gen-dedup-f8acd7704ea80b4dc85b47243710cc1e.png">    </p:cNvPr>
          <p:cNvPicPr>
            <a:picLocks noChangeAspect="1"/>
          </p:cNvPicPr>
          <p:nvPr/>
        </p:nvPicPr>
        <p:blipFill>
          <a:blip r:embed="rId31"/>
          <a:srcRect l="-209" r="-209" t="0" b="0"/>
          <a:stretch/>
        </p:blipFill>
        <p:spPr>
          <a:xfrm>
            <a:off x="14954098" y="4629607"/>
            <a:ext cx="1867205" cy="75895"/>
          </a:xfrm>
          <a:prstGeom prst="rect">
            <a:avLst/>
          </a:prstGeom>
        </p:spPr>
      </p:pic>
      <p:sp>
        <p:nvSpPr>
          <p:cNvPr id="80" name="Text 46"/>
          <p:cNvSpPr txBox="1"/>
          <p:nvPr/>
        </p:nvSpPr>
        <p:spPr>
          <a:xfrm>
            <a:off x="1143000" y="4953305"/>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W02</a:t>
            </a:r>
            <a:endParaRPr lang="en-US" sz="1800" dirty="0"/>
          </a:p>
        </p:txBody>
      </p:sp>
      <p:sp>
        <p:nvSpPr>
          <p:cNvPr id="81" name="Shape 47"/>
          <p:cNvSpPr/>
          <p:nvPr/>
        </p:nvSpPr>
        <p:spPr>
          <a:xfrm>
            <a:off x="2572207" y="5029200"/>
            <a:ext cx="599846" cy="228600"/>
          </a:xfrm>
          <a:prstGeom prst="roundRect">
            <a:avLst>
              <a:gd name="adj" fmla="val 25200"/>
            </a:avLst>
          </a:prstGeom>
          <a:solidFill>
            <a:srgbClr val="065F46"/>
          </a:solidFill>
          <a:ln w="12700">
            <a:solidFill>
              <a:srgbClr val="FFFFFF">
                <a:alpha val="0"/>
              </a:srgbClr>
            </a:solidFill>
            <a:prstDash val="solid"/>
          </a:ln>
        </p:spPr>
      </p:sp>
      <p:sp>
        <p:nvSpPr>
          <p:cNvPr id="82" name="Text 48"/>
          <p:cNvSpPr txBox="1"/>
          <p:nvPr/>
        </p:nvSpPr>
        <p:spPr>
          <a:xfrm>
            <a:off x="2572207" y="5029200"/>
            <a:ext cx="600761" cy="228600"/>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dirty="0">
                <a:solidFill>
                  <a:srgbClr val="ECFDF5"/>
                </a:solidFill>
                <a:latin typeface="Inter" pitchFamily="34" charset="0"/>
                <a:ea typeface="Inter" pitchFamily="34" charset="-122"/>
                <a:cs typeface="Inter" pitchFamily="34" charset="-120"/>
              </a:rPr>
              <a:t>A · TiN</a:t>
            </a:r>
            <a:endParaRPr lang="en-US" sz="975" dirty="0"/>
          </a:p>
        </p:txBody>
      </p:sp>
      <p:sp>
        <p:nvSpPr>
          <p:cNvPr id="83" name="Text 49"/>
          <p:cNvSpPr txBox="1"/>
          <p:nvPr/>
        </p:nvSpPr>
        <p:spPr>
          <a:xfrm>
            <a:off x="4000500" y="4972507"/>
            <a:ext cx="2667305" cy="247802"/>
          </a:xfrm>
          <a:prstGeom prst="rect">
            <a:avLst/>
          </a:prstGeom>
          <a:noFill/>
          <a:ln/>
        </p:spPr>
        <p:txBody>
          <a:bodyPr wrap="none" lIns="0" tIns="0" rIns="0" bIns="0" rtlCol="0" anchor="ctr"/>
          <a:lstStyle/>
          <a:p>
            <a:pPr algn="l" indent="0" marL="0">
              <a:buNone/>
            </a:pPr>
            <a:r>
              <a:rPr lang="en-US" sz="1650" b="1" dirty="0">
                <a:solidFill>
                  <a:srgbClr val="0B1F18"/>
                </a:solidFill>
                <a:latin typeface="Inter" pitchFamily="34" charset="0"/>
                <a:ea typeface="Inter" pitchFamily="34" charset="-122"/>
                <a:cs typeface="Inter" pitchFamily="34" charset="-120"/>
              </a:rPr>
              <a:t>0.418</a:t>
            </a:r>
            <a:endParaRPr lang="en-US" sz="1650" dirty="0"/>
          </a:p>
        </p:txBody>
      </p:sp>
      <p:sp>
        <p:nvSpPr>
          <p:cNvPr id="84" name="Text 50"/>
          <p:cNvSpPr txBox="1"/>
          <p:nvPr/>
        </p:nvSpPr>
        <p:spPr>
          <a:xfrm>
            <a:off x="6953098" y="4972507"/>
            <a:ext cx="2667305" cy="247802"/>
          </a:xfrm>
          <a:prstGeom prst="rect">
            <a:avLst/>
          </a:prstGeom>
          <a:noFill/>
          <a:ln/>
        </p:spPr>
        <p:txBody>
          <a:bodyPr wrap="none" lIns="0" tIns="0" rIns="0" bIns="0" rtlCol="0" anchor="ctr"/>
          <a:lstStyle/>
          <a:p>
            <a:pPr algn="l" indent="0" marL="0">
              <a:buNone/>
            </a:pPr>
            <a:r>
              <a:rPr lang="en-US" sz="1650" b="1" dirty="0">
                <a:solidFill>
                  <a:srgbClr val="0B1F18"/>
                </a:solidFill>
                <a:latin typeface="Inter" pitchFamily="34" charset="0"/>
                <a:ea typeface="Inter" pitchFamily="34" charset="-122"/>
                <a:cs typeface="Inter" pitchFamily="34" charset="-120"/>
              </a:rPr>
              <a:t>2.24</a:t>
            </a:r>
            <a:endParaRPr lang="en-US" sz="1650" dirty="0"/>
          </a:p>
        </p:txBody>
      </p:sp>
      <p:sp>
        <p:nvSpPr>
          <p:cNvPr id="85" name="Text 51"/>
          <p:cNvSpPr txBox="1"/>
          <p:nvPr/>
        </p:nvSpPr>
        <p:spPr>
          <a:xfrm>
            <a:off x="9905695" y="4972507"/>
            <a:ext cx="2857500" cy="247802"/>
          </a:xfrm>
          <a:prstGeom prst="rect">
            <a:avLst/>
          </a:prstGeom>
          <a:noFill/>
          <a:ln/>
        </p:spPr>
        <p:txBody>
          <a:bodyPr wrap="none" lIns="0" tIns="0" rIns="0" bIns="0" rtlCol="0" anchor="ctr"/>
          <a:lstStyle/>
          <a:p>
            <a:pPr algn="l" indent="0" marL="0">
              <a:buNone/>
            </a:pPr>
            <a:r>
              <a:rPr lang="en-US" sz="1650" b="1" dirty="0">
                <a:solidFill>
                  <a:srgbClr val="0B1F18"/>
                </a:solidFill>
                <a:latin typeface="Inter" pitchFamily="34" charset="0"/>
                <a:ea typeface="Inter" pitchFamily="34" charset="-122"/>
                <a:cs typeface="Inter" pitchFamily="34" charset="-120"/>
              </a:rPr>
              <a:t>5.8</a:t>
            </a:r>
            <a:endParaRPr lang="en-US" sz="1650" dirty="0"/>
          </a:p>
        </p:txBody>
      </p:sp>
      <p:sp>
        <p:nvSpPr>
          <p:cNvPr id="86" name="Text 52"/>
          <p:cNvSpPr txBox="1"/>
          <p:nvPr/>
        </p:nvSpPr>
        <p:spPr>
          <a:xfrm>
            <a:off x="13049402" y="4972507"/>
            <a:ext cx="1905610" cy="247802"/>
          </a:xfrm>
          <a:prstGeom prst="rect">
            <a:avLst/>
          </a:prstGeom>
          <a:noFill/>
          <a:ln/>
        </p:spPr>
        <p:txBody>
          <a:bodyPr wrap="none" lIns="0" tIns="0" rIns="0" bIns="0" rtlCol="0" anchor="ctr"/>
          <a:lstStyle/>
          <a:p>
            <a:pPr algn="l" indent="0" marL="0">
              <a:buNone/>
            </a:pPr>
            <a:r>
              <a:rPr lang="en-US" sz="1650" b="1" dirty="0">
                <a:solidFill>
                  <a:srgbClr val="047857"/>
                </a:solidFill>
                <a:latin typeface="Inter" pitchFamily="34" charset="0"/>
                <a:ea typeface="Inter" pitchFamily="34" charset="-122"/>
                <a:cs typeface="Inter" pitchFamily="34" charset="-120"/>
              </a:rPr>
              <a:t>97.8</a:t>
            </a:r>
            <a:endParaRPr lang="en-US" sz="1650" dirty="0"/>
          </a:p>
        </p:txBody>
      </p:sp>
      <p:sp>
        <p:nvSpPr>
          <p:cNvPr id="87" name="Text 53"/>
          <p:cNvSpPr txBox="1"/>
          <p:nvPr/>
        </p:nvSpPr>
        <p:spPr>
          <a:xfrm>
            <a:off x="1143000" y="5362956"/>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W03</a:t>
            </a:r>
            <a:endParaRPr lang="en-US" sz="1800" dirty="0"/>
          </a:p>
        </p:txBody>
      </p:sp>
      <p:sp>
        <p:nvSpPr>
          <p:cNvPr id="88" name="Shape 54"/>
          <p:cNvSpPr/>
          <p:nvPr/>
        </p:nvSpPr>
        <p:spPr>
          <a:xfrm>
            <a:off x="2572207" y="5438851"/>
            <a:ext cx="599846" cy="228600"/>
          </a:xfrm>
          <a:prstGeom prst="roundRect">
            <a:avLst>
              <a:gd name="adj" fmla="val 25200"/>
            </a:avLst>
          </a:prstGeom>
          <a:solidFill>
            <a:srgbClr val="065F46"/>
          </a:solidFill>
          <a:ln w="12700">
            <a:solidFill>
              <a:srgbClr val="FFFFFF">
                <a:alpha val="0"/>
              </a:srgbClr>
            </a:solidFill>
            <a:prstDash val="solid"/>
          </a:ln>
        </p:spPr>
      </p:sp>
      <p:sp>
        <p:nvSpPr>
          <p:cNvPr id="89" name="Text 55"/>
          <p:cNvSpPr txBox="1"/>
          <p:nvPr/>
        </p:nvSpPr>
        <p:spPr>
          <a:xfrm>
            <a:off x="2572207" y="5438851"/>
            <a:ext cx="600761" cy="228600"/>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dirty="0">
                <a:solidFill>
                  <a:srgbClr val="ECFDF5"/>
                </a:solidFill>
                <a:latin typeface="Inter" pitchFamily="34" charset="0"/>
                <a:ea typeface="Inter" pitchFamily="34" charset="-122"/>
                <a:cs typeface="Inter" pitchFamily="34" charset="-120"/>
              </a:rPr>
              <a:t>A · TiN</a:t>
            </a:r>
            <a:endParaRPr lang="en-US" sz="975" dirty="0"/>
          </a:p>
        </p:txBody>
      </p:sp>
      <p:sp>
        <p:nvSpPr>
          <p:cNvPr id="90" name="Text 56"/>
          <p:cNvSpPr txBox="1"/>
          <p:nvPr/>
        </p:nvSpPr>
        <p:spPr>
          <a:xfrm>
            <a:off x="4000500" y="5381244"/>
            <a:ext cx="2667305" cy="247802"/>
          </a:xfrm>
          <a:prstGeom prst="rect">
            <a:avLst/>
          </a:prstGeom>
          <a:noFill/>
          <a:ln/>
        </p:spPr>
        <p:txBody>
          <a:bodyPr wrap="none" lIns="0" tIns="0" rIns="0" bIns="0" rtlCol="0" anchor="ctr"/>
          <a:lstStyle/>
          <a:p>
            <a:pPr algn="l" indent="0" marL="0">
              <a:buNone/>
            </a:pPr>
            <a:r>
              <a:rPr lang="en-US" sz="1650" b="1" dirty="0">
                <a:solidFill>
                  <a:srgbClr val="0B1F18"/>
                </a:solidFill>
                <a:latin typeface="Inter" pitchFamily="34" charset="0"/>
                <a:ea typeface="Inter" pitchFamily="34" charset="-122"/>
                <a:cs typeface="Inter" pitchFamily="34" charset="-120"/>
              </a:rPr>
              <a:t>0.405</a:t>
            </a:r>
            <a:endParaRPr lang="en-US" sz="1650" dirty="0"/>
          </a:p>
        </p:txBody>
      </p:sp>
      <p:sp>
        <p:nvSpPr>
          <p:cNvPr id="91" name="Text 57"/>
          <p:cNvSpPr txBox="1"/>
          <p:nvPr/>
        </p:nvSpPr>
        <p:spPr>
          <a:xfrm>
            <a:off x="6953098" y="5381244"/>
            <a:ext cx="2667305" cy="247802"/>
          </a:xfrm>
          <a:prstGeom prst="rect">
            <a:avLst/>
          </a:prstGeom>
          <a:noFill/>
          <a:ln/>
        </p:spPr>
        <p:txBody>
          <a:bodyPr wrap="none" lIns="0" tIns="0" rIns="0" bIns="0" rtlCol="0" anchor="ctr"/>
          <a:lstStyle/>
          <a:p>
            <a:pPr algn="l" indent="0" marL="0">
              <a:buNone/>
            </a:pPr>
            <a:r>
              <a:rPr lang="en-US" sz="1650" b="1" dirty="0">
                <a:solidFill>
                  <a:srgbClr val="0B1F18"/>
                </a:solidFill>
                <a:latin typeface="Inter" pitchFamily="34" charset="0"/>
                <a:ea typeface="Inter" pitchFamily="34" charset="-122"/>
                <a:cs typeface="Inter" pitchFamily="34" charset="-120"/>
              </a:rPr>
              <a:t>2.15</a:t>
            </a:r>
            <a:endParaRPr lang="en-US" sz="1650" dirty="0"/>
          </a:p>
        </p:txBody>
      </p:sp>
      <p:sp>
        <p:nvSpPr>
          <p:cNvPr id="92" name="Text 58"/>
          <p:cNvSpPr txBox="1"/>
          <p:nvPr/>
        </p:nvSpPr>
        <p:spPr>
          <a:xfrm>
            <a:off x="9905695" y="5381244"/>
            <a:ext cx="2857500" cy="247802"/>
          </a:xfrm>
          <a:prstGeom prst="rect">
            <a:avLst/>
          </a:prstGeom>
          <a:noFill/>
          <a:ln/>
        </p:spPr>
        <p:txBody>
          <a:bodyPr wrap="none" lIns="0" tIns="0" rIns="0" bIns="0" rtlCol="0" anchor="ctr"/>
          <a:lstStyle/>
          <a:p>
            <a:pPr algn="l" indent="0" marL="0">
              <a:buNone/>
            </a:pPr>
            <a:r>
              <a:rPr lang="en-US" sz="1650" b="1" dirty="0">
                <a:solidFill>
                  <a:srgbClr val="0B1F18"/>
                </a:solidFill>
                <a:latin typeface="Inter" pitchFamily="34" charset="0"/>
                <a:ea typeface="Inter" pitchFamily="34" charset="-122"/>
                <a:cs typeface="Inter" pitchFamily="34" charset="-120"/>
              </a:rPr>
              <a:t>5.1</a:t>
            </a:r>
            <a:endParaRPr lang="en-US" sz="1650" dirty="0"/>
          </a:p>
        </p:txBody>
      </p:sp>
      <p:sp>
        <p:nvSpPr>
          <p:cNvPr id="93" name="Text 59"/>
          <p:cNvSpPr txBox="1"/>
          <p:nvPr/>
        </p:nvSpPr>
        <p:spPr>
          <a:xfrm>
            <a:off x="13049402" y="5381244"/>
            <a:ext cx="1905610" cy="247802"/>
          </a:xfrm>
          <a:prstGeom prst="rect">
            <a:avLst/>
          </a:prstGeom>
          <a:noFill/>
          <a:ln/>
        </p:spPr>
        <p:txBody>
          <a:bodyPr wrap="none" lIns="0" tIns="0" rIns="0" bIns="0" rtlCol="0" anchor="ctr"/>
          <a:lstStyle/>
          <a:p>
            <a:pPr algn="l" indent="0" marL="0">
              <a:buNone/>
            </a:pPr>
            <a:r>
              <a:rPr lang="en-US" sz="1650" b="1" dirty="0">
                <a:solidFill>
                  <a:srgbClr val="047857"/>
                </a:solidFill>
                <a:latin typeface="Inter" pitchFamily="34" charset="0"/>
                <a:ea typeface="Inter" pitchFamily="34" charset="-122"/>
                <a:cs typeface="Inter" pitchFamily="34" charset="-120"/>
              </a:rPr>
              <a:t>98.9</a:t>
            </a:r>
            <a:endParaRPr lang="en-US" sz="1650" dirty="0"/>
          </a:p>
        </p:txBody>
      </p:sp>
      <p:sp>
        <p:nvSpPr>
          <p:cNvPr id="94" name="Text 60"/>
          <p:cNvSpPr txBox="1"/>
          <p:nvPr/>
        </p:nvSpPr>
        <p:spPr>
          <a:xfrm>
            <a:off x="1143000" y="5772607"/>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W04</a:t>
            </a:r>
            <a:endParaRPr lang="en-US" sz="1800" dirty="0"/>
          </a:p>
        </p:txBody>
      </p:sp>
      <p:sp>
        <p:nvSpPr>
          <p:cNvPr id="95" name="Shape 61"/>
          <p:cNvSpPr/>
          <p:nvPr/>
        </p:nvSpPr>
        <p:spPr>
          <a:xfrm>
            <a:off x="2572207" y="5848502"/>
            <a:ext cx="599846" cy="228600"/>
          </a:xfrm>
          <a:prstGeom prst="roundRect">
            <a:avLst>
              <a:gd name="adj" fmla="val 25200"/>
            </a:avLst>
          </a:prstGeom>
          <a:solidFill>
            <a:srgbClr val="065F46"/>
          </a:solidFill>
          <a:ln w="12700">
            <a:solidFill>
              <a:srgbClr val="FFFFFF">
                <a:alpha val="0"/>
              </a:srgbClr>
            </a:solidFill>
            <a:prstDash val="solid"/>
          </a:ln>
        </p:spPr>
      </p:sp>
      <p:sp>
        <p:nvSpPr>
          <p:cNvPr id="96" name="Text 62"/>
          <p:cNvSpPr txBox="1"/>
          <p:nvPr/>
        </p:nvSpPr>
        <p:spPr>
          <a:xfrm>
            <a:off x="2572207" y="5848502"/>
            <a:ext cx="600761" cy="228600"/>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dirty="0">
                <a:solidFill>
                  <a:srgbClr val="ECFDF5"/>
                </a:solidFill>
                <a:latin typeface="Inter" pitchFamily="34" charset="0"/>
                <a:ea typeface="Inter" pitchFamily="34" charset="-122"/>
                <a:cs typeface="Inter" pitchFamily="34" charset="-120"/>
              </a:rPr>
              <a:t>A · TiN</a:t>
            </a:r>
            <a:endParaRPr lang="en-US" sz="975" dirty="0"/>
          </a:p>
        </p:txBody>
      </p:sp>
      <p:sp>
        <p:nvSpPr>
          <p:cNvPr id="97" name="Text 63"/>
          <p:cNvSpPr txBox="1"/>
          <p:nvPr/>
        </p:nvSpPr>
        <p:spPr>
          <a:xfrm>
            <a:off x="4000500" y="5790895"/>
            <a:ext cx="2667305" cy="247802"/>
          </a:xfrm>
          <a:prstGeom prst="rect">
            <a:avLst/>
          </a:prstGeom>
          <a:noFill/>
          <a:ln/>
        </p:spPr>
        <p:txBody>
          <a:bodyPr wrap="none" lIns="0" tIns="0" rIns="0" bIns="0" rtlCol="0" anchor="ctr"/>
          <a:lstStyle/>
          <a:p>
            <a:pPr algn="l" indent="0" marL="0">
              <a:buNone/>
            </a:pPr>
            <a:r>
              <a:rPr lang="en-US" sz="1650" b="1" dirty="0">
                <a:solidFill>
                  <a:srgbClr val="D97706"/>
                </a:solidFill>
                <a:latin typeface="Inter" pitchFamily="34" charset="0"/>
                <a:ea typeface="Inter" pitchFamily="34" charset="-122"/>
                <a:cs typeface="Inter" pitchFamily="34" charset="-120"/>
              </a:rPr>
              <a:t>0.422</a:t>
            </a:r>
            <a:endParaRPr lang="en-US" sz="1650" dirty="0"/>
          </a:p>
        </p:txBody>
      </p:sp>
      <p:sp>
        <p:nvSpPr>
          <p:cNvPr id="98" name="Text 64"/>
          <p:cNvSpPr txBox="1"/>
          <p:nvPr/>
        </p:nvSpPr>
        <p:spPr>
          <a:xfrm>
            <a:off x="6953098" y="5790895"/>
            <a:ext cx="2667305" cy="247802"/>
          </a:xfrm>
          <a:prstGeom prst="rect">
            <a:avLst/>
          </a:prstGeom>
          <a:noFill/>
          <a:ln/>
        </p:spPr>
        <p:txBody>
          <a:bodyPr wrap="none" lIns="0" tIns="0" rIns="0" bIns="0" rtlCol="0" anchor="ctr"/>
          <a:lstStyle/>
          <a:p>
            <a:pPr algn="l" indent="0" marL="0">
              <a:buNone/>
            </a:pPr>
            <a:r>
              <a:rPr lang="en-US" sz="1650" b="1" dirty="0">
                <a:solidFill>
                  <a:srgbClr val="0B1F18"/>
                </a:solidFill>
                <a:latin typeface="Inter" pitchFamily="34" charset="0"/>
                <a:ea typeface="Inter" pitchFamily="34" charset="-122"/>
                <a:cs typeface="Inter" pitchFamily="34" charset="-120"/>
              </a:rPr>
              <a:t>2.21</a:t>
            </a:r>
            <a:endParaRPr lang="en-US" sz="1650" dirty="0"/>
          </a:p>
        </p:txBody>
      </p:sp>
      <p:sp>
        <p:nvSpPr>
          <p:cNvPr id="99" name="Text 65"/>
          <p:cNvSpPr txBox="1"/>
          <p:nvPr/>
        </p:nvSpPr>
        <p:spPr>
          <a:xfrm>
            <a:off x="9905695" y="5790895"/>
            <a:ext cx="2857500" cy="247802"/>
          </a:xfrm>
          <a:prstGeom prst="rect">
            <a:avLst/>
          </a:prstGeom>
          <a:noFill/>
          <a:ln/>
        </p:spPr>
        <p:txBody>
          <a:bodyPr wrap="none" lIns="0" tIns="0" rIns="0" bIns="0" rtlCol="0" anchor="ctr"/>
          <a:lstStyle/>
          <a:p>
            <a:pPr algn="l" indent="0" marL="0">
              <a:buNone/>
            </a:pPr>
            <a:r>
              <a:rPr lang="en-US" sz="1650" b="1" dirty="0">
                <a:solidFill>
                  <a:srgbClr val="0B1F18"/>
                </a:solidFill>
                <a:latin typeface="Inter" pitchFamily="34" charset="0"/>
                <a:ea typeface="Inter" pitchFamily="34" charset="-122"/>
                <a:cs typeface="Inter" pitchFamily="34" charset="-120"/>
              </a:rPr>
              <a:t>5.6</a:t>
            </a:r>
            <a:endParaRPr lang="en-US" sz="1650" dirty="0"/>
          </a:p>
        </p:txBody>
      </p:sp>
      <p:sp>
        <p:nvSpPr>
          <p:cNvPr id="100" name="Text 66"/>
          <p:cNvSpPr txBox="1"/>
          <p:nvPr/>
        </p:nvSpPr>
        <p:spPr>
          <a:xfrm>
            <a:off x="13049402" y="5790895"/>
            <a:ext cx="1905610" cy="247802"/>
          </a:xfrm>
          <a:prstGeom prst="rect">
            <a:avLst/>
          </a:prstGeom>
          <a:noFill/>
          <a:ln/>
        </p:spPr>
        <p:txBody>
          <a:bodyPr wrap="none" lIns="0" tIns="0" rIns="0" bIns="0" rtlCol="0" anchor="ctr"/>
          <a:lstStyle/>
          <a:p>
            <a:pPr algn="l" indent="0" marL="0">
              <a:buNone/>
            </a:pPr>
            <a:r>
              <a:rPr lang="en-US" sz="1650" b="1" dirty="0">
                <a:solidFill>
                  <a:srgbClr val="047857"/>
                </a:solidFill>
                <a:latin typeface="Inter" pitchFamily="34" charset="0"/>
                <a:ea typeface="Inter" pitchFamily="34" charset="-122"/>
                <a:cs typeface="Inter" pitchFamily="34" charset="-120"/>
              </a:rPr>
              <a:t>98.2</a:t>
            </a:r>
            <a:endParaRPr lang="en-US" sz="1650" dirty="0"/>
          </a:p>
        </p:txBody>
      </p:sp>
      <p:sp>
        <p:nvSpPr>
          <p:cNvPr id="101" name="Text 67"/>
          <p:cNvSpPr txBox="1"/>
          <p:nvPr/>
        </p:nvSpPr>
        <p:spPr>
          <a:xfrm>
            <a:off x="1143000" y="6181344"/>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W05</a:t>
            </a:r>
            <a:endParaRPr lang="en-US" sz="1800" dirty="0"/>
          </a:p>
        </p:txBody>
      </p:sp>
      <p:sp>
        <p:nvSpPr>
          <p:cNvPr id="102" name="Shape 68"/>
          <p:cNvSpPr/>
          <p:nvPr/>
        </p:nvSpPr>
        <p:spPr>
          <a:xfrm>
            <a:off x="2572207" y="6258154"/>
            <a:ext cx="819302" cy="247802"/>
          </a:xfrm>
          <a:prstGeom prst="roundRect">
            <a:avLst>
              <a:gd name="adj" fmla="val 23247"/>
            </a:avLst>
          </a:prstGeom>
          <a:solidFill>
            <a:srgbClr val="ECFDF5"/>
          </a:solidFill>
          <a:ln w="12700">
            <a:solidFill>
              <a:srgbClr val="A7F3D0"/>
            </a:solidFill>
            <a:prstDash val="solid"/>
          </a:ln>
        </p:spPr>
      </p:sp>
      <p:sp>
        <p:nvSpPr>
          <p:cNvPr id="103" name="Text 69"/>
          <p:cNvSpPr txBox="1"/>
          <p:nvPr/>
        </p:nvSpPr>
        <p:spPr>
          <a:xfrm>
            <a:off x="2572207" y="6258154"/>
            <a:ext cx="819302" cy="247802"/>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dirty="0">
                <a:solidFill>
                  <a:srgbClr val="047857"/>
                </a:solidFill>
                <a:latin typeface="Inter" pitchFamily="34" charset="0"/>
                <a:ea typeface="Inter" pitchFamily="34" charset="-122"/>
                <a:cs typeface="Inter" pitchFamily="34" charset="-120"/>
              </a:rPr>
              <a:t>B · MF SiN</a:t>
            </a:r>
            <a:endParaRPr lang="en-US" sz="975" dirty="0"/>
          </a:p>
        </p:txBody>
      </p:sp>
      <p:sp>
        <p:nvSpPr>
          <p:cNvPr id="104" name="Text 70"/>
          <p:cNvSpPr txBox="1"/>
          <p:nvPr/>
        </p:nvSpPr>
        <p:spPr>
          <a:xfrm>
            <a:off x="4000500" y="6200546"/>
            <a:ext cx="2667305" cy="247802"/>
          </a:xfrm>
          <a:prstGeom prst="rect">
            <a:avLst/>
          </a:prstGeom>
          <a:noFill/>
          <a:ln/>
        </p:spPr>
        <p:txBody>
          <a:bodyPr wrap="none" lIns="0" tIns="0" rIns="0" bIns="0" rtlCol="0" anchor="ctr"/>
          <a:lstStyle/>
          <a:p>
            <a:pPr algn="l" indent="0" marL="0">
              <a:buNone/>
            </a:pPr>
            <a:r>
              <a:rPr lang="en-US" sz="1650" b="1" dirty="0">
                <a:solidFill>
                  <a:srgbClr val="0B1F18"/>
                </a:solidFill>
                <a:latin typeface="Inter" pitchFamily="34" charset="0"/>
                <a:ea typeface="Inter" pitchFamily="34" charset="-122"/>
                <a:cs typeface="Inter" pitchFamily="34" charset="-120"/>
              </a:rPr>
              <a:t>0.391</a:t>
            </a:r>
            <a:endParaRPr lang="en-US" sz="1650" dirty="0"/>
          </a:p>
        </p:txBody>
      </p:sp>
      <p:sp>
        <p:nvSpPr>
          <p:cNvPr id="105" name="Text 71"/>
          <p:cNvSpPr txBox="1"/>
          <p:nvPr/>
        </p:nvSpPr>
        <p:spPr>
          <a:xfrm>
            <a:off x="6953098" y="6200546"/>
            <a:ext cx="2667305" cy="247802"/>
          </a:xfrm>
          <a:prstGeom prst="rect">
            <a:avLst/>
          </a:prstGeom>
          <a:noFill/>
          <a:ln/>
        </p:spPr>
        <p:txBody>
          <a:bodyPr wrap="none" lIns="0" tIns="0" rIns="0" bIns="0" rtlCol="0" anchor="ctr"/>
          <a:lstStyle/>
          <a:p>
            <a:pPr algn="l" indent="0" marL="0">
              <a:buNone/>
            </a:pPr>
            <a:r>
              <a:rPr lang="en-US" sz="1650" b="1" dirty="0">
                <a:solidFill>
                  <a:srgbClr val="D97706"/>
                </a:solidFill>
                <a:latin typeface="Inter" pitchFamily="34" charset="0"/>
                <a:ea typeface="Inter" pitchFamily="34" charset="-122"/>
                <a:cs typeface="Inter" pitchFamily="34" charset="-120"/>
              </a:rPr>
              <a:t>2.36</a:t>
            </a:r>
            <a:endParaRPr lang="en-US" sz="1650" dirty="0"/>
          </a:p>
        </p:txBody>
      </p:sp>
      <p:sp>
        <p:nvSpPr>
          <p:cNvPr id="106" name="Text 72"/>
          <p:cNvSpPr txBox="1"/>
          <p:nvPr/>
        </p:nvSpPr>
        <p:spPr>
          <a:xfrm>
            <a:off x="9905695" y="6200546"/>
            <a:ext cx="2857500" cy="247802"/>
          </a:xfrm>
          <a:prstGeom prst="rect">
            <a:avLst/>
          </a:prstGeom>
          <a:noFill/>
          <a:ln/>
        </p:spPr>
        <p:txBody>
          <a:bodyPr wrap="none" lIns="0" tIns="0" rIns="0" bIns="0" rtlCol="0" anchor="ctr"/>
          <a:lstStyle/>
          <a:p>
            <a:pPr algn="l" indent="0" marL="0">
              <a:buNone/>
            </a:pPr>
            <a:r>
              <a:rPr lang="en-US" sz="1650" b="1" dirty="0">
                <a:solidFill>
                  <a:srgbClr val="D97706"/>
                </a:solidFill>
                <a:latin typeface="Inter" pitchFamily="34" charset="0"/>
                <a:ea typeface="Inter" pitchFamily="34" charset="-122"/>
                <a:cs typeface="Inter" pitchFamily="34" charset="-120"/>
              </a:rPr>
              <a:t>7.1</a:t>
            </a:r>
            <a:endParaRPr lang="en-US" sz="1650" dirty="0"/>
          </a:p>
        </p:txBody>
      </p:sp>
      <p:sp>
        <p:nvSpPr>
          <p:cNvPr id="107" name="Text 73"/>
          <p:cNvSpPr txBox="1"/>
          <p:nvPr/>
        </p:nvSpPr>
        <p:spPr>
          <a:xfrm>
            <a:off x="13049402" y="6200546"/>
            <a:ext cx="1905610" cy="247802"/>
          </a:xfrm>
          <a:prstGeom prst="rect">
            <a:avLst/>
          </a:prstGeom>
          <a:noFill/>
          <a:ln/>
        </p:spPr>
        <p:txBody>
          <a:bodyPr wrap="none" lIns="0" tIns="0" rIns="0" bIns="0" rtlCol="0" anchor="ctr"/>
          <a:lstStyle/>
          <a:p>
            <a:pPr algn="l" indent="0" marL="0">
              <a:buNone/>
            </a:pPr>
            <a:r>
              <a:rPr lang="en-US" sz="1650" b="1" dirty="0">
                <a:solidFill>
                  <a:srgbClr val="047857"/>
                </a:solidFill>
                <a:latin typeface="Inter" pitchFamily="34" charset="0"/>
                <a:ea typeface="Inter" pitchFamily="34" charset="-122"/>
                <a:cs typeface="Inter" pitchFamily="34" charset="-120"/>
              </a:rPr>
              <a:t>95.6</a:t>
            </a:r>
            <a:endParaRPr lang="en-US" sz="1650" dirty="0"/>
          </a:p>
        </p:txBody>
      </p:sp>
      <p:sp>
        <p:nvSpPr>
          <p:cNvPr id="108" name="Text 74"/>
          <p:cNvSpPr txBox="1"/>
          <p:nvPr/>
        </p:nvSpPr>
        <p:spPr>
          <a:xfrm>
            <a:off x="1143000" y="6590995"/>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W06</a:t>
            </a:r>
            <a:endParaRPr lang="en-US" sz="1800" dirty="0"/>
          </a:p>
        </p:txBody>
      </p:sp>
      <p:sp>
        <p:nvSpPr>
          <p:cNvPr id="109" name="Shape 75"/>
          <p:cNvSpPr/>
          <p:nvPr/>
        </p:nvSpPr>
        <p:spPr>
          <a:xfrm>
            <a:off x="2572207" y="6667805"/>
            <a:ext cx="819302" cy="247802"/>
          </a:xfrm>
          <a:prstGeom prst="roundRect">
            <a:avLst>
              <a:gd name="adj" fmla="val 23247"/>
            </a:avLst>
          </a:prstGeom>
          <a:solidFill>
            <a:srgbClr val="ECFDF5"/>
          </a:solidFill>
          <a:ln w="12700">
            <a:solidFill>
              <a:srgbClr val="A7F3D0"/>
            </a:solidFill>
            <a:prstDash val="solid"/>
          </a:ln>
        </p:spPr>
      </p:sp>
      <p:sp>
        <p:nvSpPr>
          <p:cNvPr id="110" name="Text 76"/>
          <p:cNvSpPr txBox="1"/>
          <p:nvPr/>
        </p:nvSpPr>
        <p:spPr>
          <a:xfrm>
            <a:off x="2572207" y="6667805"/>
            <a:ext cx="819302" cy="247802"/>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dirty="0">
                <a:solidFill>
                  <a:srgbClr val="047857"/>
                </a:solidFill>
                <a:latin typeface="Inter" pitchFamily="34" charset="0"/>
                <a:ea typeface="Inter" pitchFamily="34" charset="-122"/>
                <a:cs typeface="Inter" pitchFamily="34" charset="-120"/>
              </a:rPr>
              <a:t>B · MF SiN</a:t>
            </a:r>
            <a:endParaRPr lang="en-US" sz="975" dirty="0"/>
          </a:p>
        </p:txBody>
      </p:sp>
      <p:sp>
        <p:nvSpPr>
          <p:cNvPr id="111" name="Text 77"/>
          <p:cNvSpPr txBox="1"/>
          <p:nvPr/>
        </p:nvSpPr>
        <p:spPr>
          <a:xfrm>
            <a:off x="4000500" y="6610198"/>
            <a:ext cx="2667305" cy="247802"/>
          </a:xfrm>
          <a:prstGeom prst="rect">
            <a:avLst/>
          </a:prstGeom>
          <a:noFill/>
          <a:ln/>
        </p:spPr>
        <p:txBody>
          <a:bodyPr wrap="none" lIns="0" tIns="0" rIns="0" bIns="0" rtlCol="0" anchor="ctr"/>
          <a:lstStyle/>
          <a:p>
            <a:pPr algn="l" indent="0" marL="0">
              <a:buNone/>
            </a:pPr>
            <a:r>
              <a:rPr lang="en-US" sz="1650" b="1" dirty="0">
                <a:solidFill>
                  <a:srgbClr val="047857"/>
                </a:solidFill>
                <a:latin typeface="Inter" pitchFamily="34" charset="0"/>
                <a:ea typeface="Inter" pitchFamily="34" charset="-122"/>
                <a:cs typeface="Inter" pitchFamily="34" charset="-120"/>
              </a:rPr>
              <a:t>0.385</a:t>
            </a:r>
            <a:endParaRPr lang="en-US" sz="1650" dirty="0"/>
          </a:p>
        </p:txBody>
      </p:sp>
      <p:sp>
        <p:nvSpPr>
          <p:cNvPr id="112" name="Text 78"/>
          <p:cNvSpPr txBox="1"/>
          <p:nvPr/>
        </p:nvSpPr>
        <p:spPr>
          <a:xfrm>
            <a:off x="6953098" y="6610198"/>
            <a:ext cx="2667305" cy="247802"/>
          </a:xfrm>
          <a:prstGeom prst="rect">
            <a:avLst/>
          </a:prstGeom>
          <a:noFill/>
          <a:ln/>
        </p:spPr>
        <p:txBody>
          <a:bodyPr wrap="none" lIns="0" tIns="0" rIns="0" bIns="0" rtlCol="0" anchor="ctr"/>
          <a:lstStyle/>
          <a:p>
            <a:pPr algn="l" indent="0" marL="0">
              <a:buNone/>
            </a:pPr>
            <a:r>
              <a:rPr lang="en-US" sz="1650" b="1" dirty="0">
                <a:solidFill>
                  <a:srgbClr val="D97706"/>
                </a:solidFill>
                <a:latin typeface="Inter" pitchFamily="34" charset="0"/>
                <a:ea typeface="Inter" pitchFamily="34" charset="-122"/>
                <a:cs typeface="Inter" pitchFamily="34" charset="-120"/>
              </a:rPr>
              <a:t>2.31</a:t>
            </a:r>
            <a:endParaRPr lang="en-US" sz="1650" dirty="0"/>
          </a:p>
        </p:txBody>
      </p:sp>
      <p:sp>
        <p:nvSpPr>
          <p:cNvPr id="113" name="Text 79"/>
          <p:cNvSpPr txBox="1"/>
          <p:nvPr/>
        </p:nvSpPr>
        <p:spPr>
          <a:xfrm>
            <a:off x="9905695" y="6610198"/>
            <a:ext cx="2857500" cy="247802"/>
          </a:xfrm>
          <a:prstGeom prst="rect">
            <a:avLst/>
          </a:prstGeom>
          <a:noFill/>
          <a:ln/>
        </p:spPr>
        <p:txBody>
          <a:bodyPr wrap="none" lIns="0" tIns="0" rIns="0" bIns="0" rtlCol="0" anchor="ctr"/>
          <a:lstStyle/>
          <a:p>
            <a:pPr algn="l" indent="0" marL="0">
              <a:buNone/>
            </a:pPr>
            <a:r>
              <a:rPr lang="en-US" sz="1650" b="1" dirty="0">
                <a:solidFill>
                  <a:srgbClr val="D97706"/>
                </a:solidFill>
                <a:latin typeface="Inter" pitchFamily="34" charset="0"/>
                <a:ea typeface="Inter" pitchFamily="34" charset="-122"/>
                <a:cs typeface="Inter" pitchFamily="34" charset="-120"/>
              </a:rPr>
              <a:t>6.8</a:t>
            </a:r>
            <a:endParaRPr lang="en-US" sz="1650" dirty="0"/>
          </a:p>
        </p:txBody>
      </p:sp>
      <p:sp>
        <p:nvSpPr>
          <p:cNvPr id="114" name="Text 80"/>
          <p:cNvSpPr txBox="1"/>
          <p:nvPr/>
        </p:nvSpPr>
        <p:spPr>
          <a:xfrm>
            <a:off x="13049402" y="6610198"/>
            <a:ext cx="1905610" cy="247802"/>
          </a:xfrm>
          <a:prstGeom prst="rect">
            <a:avLst/>
          </a:prstGeom>
          <a:noFill/>
          <a:ln/>
        </p:spPr>
        <p:txBody>
          <a:bodyPr wrap="none" lIns="0" tIns="0" rIns="0" bIns="0" rtlCol="0" anchor="ctr"/>
          <a:lstStyle/>
          <a:p>
            <a:pPr algn="l" indent="0" marL="0">
              <a:buNone/>
            </a:pPr>
            <a:r>
              <a:rPr lang="en-US" sz="1650" b="1" dirty="0">
                <a:solidFill>
                  <a:srgbClr val="047857"/>
                </a:solidFill>
                <a:latin typeface="Inter" pitchFamily="34" charset="0"/>
                <a:ea typeface="Inter" pitchFamily="34" charset="-122"/>
                <a:cs typeface="Inter" pitchFamily="34" charset="-120"/>
              </a:rPr>
              <a:t>96.1</a:t>
            </a:r>
            <a:endParaRPr lang="en-US" sz="1650" dirty="0"/>
          </a:p>
        </p:txBody>
      </p:sp>
      <p:sp>
        <p:nvSpPr>
          <p:cNvPr id="115" name="Text 81"/>
          <p:cNvSpPr txBox="1"/>
          <p:nvPr/>
        </p:nvSpPr>
        <p:spPr>
          <a:xfrm>
            <a:off x="1143000" y="7000646"/>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W07</a:t>
            </a:r>
            <a:endParaRPr lang="en-US" sz="1800" dirty="0"/>
          </a:p>
        </p:txBody>
      </p:sp>
      <p:sp>
        <p:nvSpPr>
          <p:cNvPr id="116" name="Shape 82"/>
          <p:cNvSpPr/>
          <p:nvPr/>
        </p:nvSpPr>
        <p:spPr>
          <a:xfrm>
            <a:off x="2572207" y="7077456"/>
            <a:ext cx="819302" cy="247802"/>
          </a:xfrm>
          <a:prstGeom prst="roundRect">
            <a:avLst>
              <a:gd name="adj" fmla="val 23247"/>
            </a:avLst>
          </a:prstGeom>
          <a:solidFill>
            <a:srgbClr val="ECFDF5"/>
          </a:solidFill>
          <a:ln w="12700">
            <a:solidFill>
              <a:srgbClr val="A7F3D0"/>
            </a:solidFill>
            <a:prstDash val="solid"/>
          </a:ln>
        </p:spPr>
      </p:sp>
      <p:sp>
        <p:nvSpPr>
          <p:cNvPr id="117" name="Text 83"/>
          <p:cNvSpPr txBox="1"/>
          <p:nvPr/>
        </p:nvSpPr>
        <p:spPr>
          <a:xfrm>
            <a:off x="2572207" y="7077456"/>
            <a:ext cx="819302" cy="247802"/>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dirty="0">
                <a:solidFill>
                  <a:srgbClr val="047857"/>
                </a:solidFill>
                <a:latin typeface="Inter" pitchFamily="34" charset="0"/>
                <a:ea typeface="Inter" pitchFamily="34" charset="-122"/>
                <a:cs typeface="Inter" pitchFamily="34" charset="-120"/>
              </a:rPr>
              <a:t>B · MF SiN</a:t>
            </a:r>
            <a:endParaRPr lang="en-US" sz="975" dirty="0"/>
          </a:p>
        </p:txBody>
      </p:sp>
      <p:sp>
        <p:nvSpPr>
          <p:cNvPr id="118" name="Text 84"/>
          <p:cNvSpPr txBox="1"/>
          <p:nvPr/>
        </p:nvSpPr>
        <p:spPr>
          <a:xfrm>
            <a:off x="4000500" y="7019849"/>
            <a:ext cx="2667305" cy="247802"/>
          </a:xfrm>
          <a:prstGeom prst="rect">
            <a:avLst/>
          </a:prstGeom>
          <a:noFill/>
          <a:ln/>
        </p:spPr>
        <p:txBody>
          <a:bodyPr wrap="none" lIns="0" tIns="0" rIns="0" bIns="0" rtlCol="0" anchor="ctr"/>
          <a:lstStyle/>
          <a:p>
            <a:pPr algn="l" indent="0" marL="0">
              <a:buNone/>
            </a:pPr>
            <a:r>
              <a:rPr lang="en-US" sz="1650" b="1" dirty="0">
                <a:solidFill>
                  <a:srgbClr val="047857"/>
                </a:solidFill>
                <a:latin typeface="Inter" pitchFamily="34" charset="0"/>
                <a:ea typeface="Inter" pitchFamily="34" charset="-122"/>
                <a:cs typeface="Inter" pitchFamily="34" charset="-120"/>
              </a:rPr>
              <a:t>0.398</a:t>
            </a:r>
            <a:endParaRPr lang="en-US" sz="1650" dirty="0"/>
          </a:p>
        </p:txBody>
      </p:sp>
      <p:sp>
        <p:nvSpPr>
          <p:cNvPr id="119" name="Text 85"/>
          <p:cNvSpPr txBox="1"/>
          <p:nvPr/>
        </p:nvSpPr>
        <p:spPr>
          <a:xfrm>
            <a:off x="6953098" y="7019849"/>
            <a:ext cx="2667305" cy="247802"/>
          </a:xfrm>
          <a:prstGeom prst="rect">
            <a:avLst/>
          </a:prstGeom>
          <a:noFill/>
          <a:ln/>
        </p:spPr>
        <p:txBody>
          <a:bodyPr wrap="none" lIns="0" tIns="0" rIns="0" bIns="0" rtlCol="0" anchor="ctr"/>
          <a:lstStyle/>
          <a:p>
            <a:pPr algn="l" indent="0" marL="0">
              <a:buNone/>
            </a:pPr>
            <a:r>
              <a:rPr lang="en-US" sz="1650" b="1" dirty="0">
                <a:solidFill>
                  <a:srgbClr val="D97706"/>
                </a:solidFill>
                <a:latin typeface="Inter" pitchFamily="34" charset="0"/>
                <a:ea typeface="Inter" pitchFamily="34" charset="-122"/>
                <a:cs typeface="Inter" pitchFamily="34" charset="-120"/>
              </a:rPr>
              <a:t>2.42</a:t>
            </a:r>
            <a:endParaRPr lang="en-US" sz="1650" dirty="0"/>
          </a:p>
        </p:txBody>
      </p:sp>
      <p:sp>
        <p:nvSpPr>
          <p:cNvPr id="120" name="Text 86"/>
          <p:cNvSpPr txBox="1"/>
          <p:nvPr/>
        </p:nvSpPr>
        <p:spPr>
          <a:xfrm>
            <a:off x="9905695" y="7019849"/>
            <a:ext cx="2857500" cy="247802"/>
          </a:xfrm>
          <a:prstGeom prst="rect">
            <a:avLst/>
          </a:prstGeom>
          <a:noFill/>
          <a:ln/>
        </p:spPr>
        <p:txBody>
          <a:bodyPr wrap="none" lIns="0" tIns="0" rIns="0" bIns="0" rtlCol="0" anchor="ctr"/>
          <a:lstStyle/>
          <a:p>
            <a:pPr algn="l" indent="0" marL="0">
              <a:buNone/>
            </a:pPr>
            <a:r>
              <a:rPr lang="en-US" sz="1650" b="1" dirty="0">
                <a:solidFill>
                  <a:srgbClr val="D97706"/>
                </a:solidFill>
                <a:latin typeface="Inter" pitchFamily="34" charset="0"/>
                <a:ea typeface="Inter" pitchFamily="34" charset="-122"/>
                <a:cs typeface="Inter" pitchFamily="34" charset="-120"/>
              </a:rPr>
              <a:t>7.4</a:t>
            </a:r>
            <a:endParaRPr lang="en-US" sz="1650" dirty="0"/>
          </a:p>
        </p:txBody>
      </p:sp>
      <p:sp>
        <p:nvSpPr>
          <p:cNvPr id="121" name="Text 87"/>
          <p:cNvSpPr txBox="1"/>
          <p:nvPr/>
        </p:nvSpPr>
        <p:spPr>
          <a:xfrm>
            <a:off x="13049402" y="7019849"/>
            <a:ext cx="1905610" cy="247802"/>
          </a:xfrm>
          <a:prstGeom prst="rect">
            <a:avLst/>
          </a:prstGeom>
          <a:noFill/>
          <a:ln/>
        </p:spPr>
        <p:txBody>
          <a:bodyPr wrap="none" lIns="0" tIns="0" rIns="0" bIns="0" rtlCol="0" anchor="ctr"/>
          <a:lstStyle/>
          <a:p>
            <a:pPr algn="l" indent="0" marL="0">
              <a:buNone/>
            </a:pPr>
            <a:r>
              <a:rPr lang="en-US" sz="1650" b="1" dirty="0">
                <a:solidFill>
                  <a:srgbClr val="B91C1C"/>
                </a:solidFill>
                <a:latin typeface="Inter" pitchFamily="34" charset="0"/>
                <a:ea typeface="Inter" pitchFamily="34" charset="-122"/>
                <a:cs typeface="Inter" pitchFamily="34" charset="-120"/>
              </a:rPr>
              <a:t>94.9</a:t>
            </a:r>
            <a:endParaRPr lang="en-US" sz="1650" dirty="0"/>
          </a:p>
        </p:txBody>
      </p:sp>
      <p:sp>
        <p:nvSpPr>
          <p:cNvPr id="122" name="Text 88"/>
          <p:cNvSpPr txBox="1"/>
          <p:nvPr/>
        </p:nvSpPr>
        <p:spPr>
          <a:xfrm>
            <a:off x="1143000" y="7410298"/>
            <a:ext cx="1334110" cy="277063"/>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W08</a:t>
            </a:r>
            <a:endParaRPr lang="en-US" sz="1800" dirty="0"/>
          </a:p>
        </p:txBody>
      </p:sp>
      <p:sp>
        <p:nvSpPr>
          <p:cNvPr id="123" name="Shape 89"/>
          <p:cNvSpPr/>
          <p:nvPr/>
        </p:nvSpPr>
        <p:spPr>
          <a:xfrm>
            <a:off x="2572207" y="7487107"/>
            <a:ext cx="819302" cy="247802"/>
          </a:xfrm>
          <a:prstGeom prst="roundRect">
            <a:avLst>
              <a:gd name="adj" fmla="val 23247"/>
            </a:avLst>
          </a:prstGeom>
          <a:solidFill>
            <a:srgbClr val="ECFDF5"/>
          </a:solidFill>
          <a:ln w="12700">
            <a:solidFill>
              <a:srgbClr val="A7F3D0"/>
            </a:solidFill>
            <a:prstDash val="solid"/>
          </a:ln>
        </p:spPr>
      </p:sp>
      <p:sp>
        <p:nvSpPr>
          <p:cNvPr id="124" name="Text 90"/>
          <p:cNvSpPr txBox="1"/>
          <p:nvPr/>
        </p:nvSpPr>
        <p:spPr>
          <a:xfrm>
            <a:off x="2572207" y="7487107"/>
            <a:ext cx="819302" cy="247802"/>
          </a:xfrm>
          <a:prstGeom prst="rect">
            <a:avLst/>
          </a:prstGeom>
          <a:solidFill>
            <a:srgbClr val="FFFFFF">
              <a:alpha val="0"/>
            </a:srgbClr>
          </a:solidFill>
          <a:ln>
            <a:solidFill>
              <a:srgbClr val="FFFFFF">
                <a:alpha val="0"/>
              </a:srgbClr>
            </a:solidFill>
          </a:ln>
        </p:spPr>
        <p:txBody>
          <a:bodyPr wrap="none" lIns="101600" tIns="38100" rIns="101600" bIns="38100" rtlCol="0" anchor="ctr"/>
          <a:lstStyle/>
          <a:p>
            <a:pPr algn="l" indent="0" marL="0">
              <a:buNone/>
            </a:pPr>
            <a:r>
              <a:rPr lang="en-US" sz="975" b="1" dirty="0">
                <a:solidFill>
                  <a:srgbClr val="047857"/>
                </a:solidFill>
                <a:latin typeface="Inter" pitchFamily="34" charset="0"/>
                <a:ea typeface="Inter" pitchFamily="34" charset="-122"/>
                <a:cs typeface="Inter" pitchFamily="34" charset="-120"/>
              </a:rPr>
              <a:t>B · MF SiN</a:t>
            </a:r>
            <a:endParaRPr lang="en-US" sz="975" dirty="0"/>
          </a:p>
        </p:txBody>
      </p:sp>
      <p:sp>
        <p:nvSpPr>
          <p:cNvPr id="125" name="Text 91"/>
          <p:cNvSpPr txBox="1"/>
          <p:nvPr/>
        </p:nvSpPr>
        <p:spPr>
          <a:xfrm>
            <a:off x="4000500" y="7429500"/>
            <a:ext cx="2667305" cy="247802"/>
          </a:xfrm>
          <a:prstGeom prst="rect">
            <a:avLst/>
          </a:prstGeom>
          <a:noFill/>
          <a:ln/>
        </p:spPr>
        <p:txBody>
          <a:bodyPr wrap="none" lIns="0" tIns="0" rIns="0" bIns="0" rtlCol="0" anchor="ctr"/>
          <a:lstStyle/>
          <a:p>
            <a:pPr algn="l" indent="0" marL="0">
              <a:buNone/>
            </a:pPr>
            <a:r>
              <a:rPr lang="en-US" sz="1650" b="1" dirty="0">
                <a:solidFill>
                  <a:srgbClr val="047857"/>
                </a:solidFill>
                <a:latin typeface="Inter" pitchFamily="34" charset="0"/>
                <a:ea typeface="Inter" pitchFamily="34" charset="-122"/>
                <a:cs typeface="Inter" pitchFamily="34" charset="-120"/>
              </a:rPr>
              <a:t>0.393</a:t>
            </a:r>
            <a:endParaRPr lang="en-US" sz="1650" dirty="0"/>
          </a:p>
        </p:txBody>
      </p:sp>
      <p:sp>
        <p:nvSpPr>
          <p:cNvPr id="126" name="Text 92"/>
          <p:cNvSpPr txBox="1"/>
          <p:nvPr/>
        </p:nvSpPr>
        <p:spPr>
          <a:xfrm>
            <a:off x="6953098" y="7429500"/>
            <a:ext cx="2667305" cy="247802"/>
          </a:xfrm>
          <a:prstGeom prst="rect">
            <a:avLst/>
          </a:prstGeom>
          <a:noFill/>
          <a:ln/>
        </p:spPr>
        <p:txBody>
          <a:bodyPr wrap="none" lIns="0" tIns="0" rIns="0" bIns="0" rtlCol="0" anchor="ctr"/>
          <a:lstStyle/>
          <a:p>
            <a:pPr algn="l" indent="0" marL="0">
              <a:buNone/>
            </a:pPr>
            <a:r>
              <a:rPr lang="en-US" sz="1650" b="1" dirty="0">
                <a:solidFill>
                  <a:srgbClr val="D97706"/>
                </a:solidFill>
                <a:latin typeface="Inter" pitchFamily="34" charset="0"/>
                <a:ea typeface="Inter" pitchFamily="34" charset="-122"/>
                <a:cs typeface="Inter" pitchFamily="34" charset="-120"/>
              </a:rPr>
              <a:t>2.39</a:t>
            </a:r>
            <a:endParaRPr lang="en-US" sz="1650" dirty="0"/>
          </a:p>
        </p:txBody>
      </p:sp>
      <p:sp>
        <p:nvSpPr>
          <p:cNvPr id="127" name="Text 93"/>
          <p:cNvSpPr txBox="1"/>
          <p:nvPr/>
        </p:nvSpPr>
        <p:spPr>
          <a:xfrm>
            <a:off x="9905695" y="7429500"/>
            <a:ext cx="2857500" cy="247802"/>
          </a:xfrm>
          <a:prstGeom prst="rect">
            <a:avLst/>
          </a:prstGeom>
          <a:noFill/>
          <a:ln/>
        </p:spPr>
        <p:txBody>
          <a:bodyPr wrap="none" lIns="0" tIns="0" rIns="0" bIns="0" rtlCol="0" anchor="ctr"/>
          <a:lstStyle/>
          <a:p>
            <a:pPr algn="l" indent="0" marL="0">
              <a:buNone/>
            </a:pPr>
            <a:r>
              <a:rPr lang="en-US" sz="1650" b="1" dirty="0">
                <a:solidFill>
                  <a:srgbClr val="D97706"/>
                </a:solidFill>
                <a:latin typeface="Inter" pitchFamily="34" charset="0"/>
                <a:ea typeface="Inter" pitchFamily="34" charset="-122"/>
                <a:cs typeface="Inter" pitchFamily="34" charset="-120"/>
              </a:rPr>
              <a:t>7.0</a:t>
            </a:r>
            <a:endParaRPr lang="en-US" sz="1650" dirty="0"/>
          </a:p>
        </p:txBody>
      </p:sp>
      <p:sp>
        <p:nvSpPr>
          <p:cNvPr id="128" name="Text 94"/>
          <p:cNvSpPr txBox="1"/>
          <p:nvPr/>
        </p:nvSpPr>
        <p:spPr>
          <a:xfrm>
            <a:off x="13049402" y="7429500"/>
            <a:ext cx="1905610" cy="247802"/>
          </a:xfrm>
          <a:prstGeom prst="rect">
            <a:avLst/>
          </a:prstGeom>
          <a:noFill/>
          <a:ln/>
        </p:spPr>
        <p:txBody>
          <a:bodyPr wrap="none" lIns="0" tIns="0" rIns="0" bIns="0" rtlCol="0" anchor="ctr"/>
          <a:lstStyle/>
          <a:p>
            <a:pPr algn="l" indent="0" marL="0">
              <a:buNone/>
            </a:pPr>
            <a:r>
              <a:rPr lang="en-US" sz="1650" b="1" dirty="0">
                <a:solidFill>
                  <a:srgbClr val="D97706"/>
                </a:solidFill>
                <a:latin typeface="Inter" pitchFamily="34" charset="0"/>
                <a:ea typeface="Inter" pitchFamily="34" charset="-122"/>
                <a:cs typeface="Inter" pitchFamily="34" charset="-120"/>
              </a:rPr>
              <a:t>95.8</a:t>
            </a:r>
            <a:endParaRPr lang="en-US" sz="1650" dirty="0"/>
          </a:p>
        </p:txBody>
      </p:sp>
      <p:sp>
        <p:nvSpPr>
          <p:cNvPr id="129" name="Text 95"/>
          <p:cNvSpPr txBox="1"/>
          <p:nvPr/>
        </p:nvSpPr>
        <p:spPr>
          <a:xfrm>
            <a:off x="1143000" y="8229600"/>
            <a:ext cx="16193110" cy="124358"/>
          </a:xfrm>
          <a:prstGeom prst="rect">
            <a:avLst/>
          </a:prstGeom>
          <a:noFill/>
          <a:ln/>
        </p:spPr>
        <p:txBody>
          <a:bodyPr wrap="none" lIns="0" tIns="0" rIns="0" bIns="0" rtlCol="0" anchor="ctr"/>
          <a:lstStyle/>
          <a:p>
            <a:pPr algn="l" indent="0" marL="0">
              <a:buNone/>
            </a:pPr>
            <a:r>
              <a:rPr lang="en-US" sz="975" b="1" spc="176" kern="0" dirty="0">
                <a:solidFill>
                  <a:srgbClr val="047857"/>
                </a:solidFill>
                <a:latin typeface="Inter" pitchFamily="34" charset="0"/>
                <a:ea typeface="Inter" pitchFamily="34" charset="-122"/>
                <a:cs typeface="Inter" pitchFamily="34" charset="-120"/>
              </a:rPr>
              <a:t>KEY TAKEAWAY</a:t>
            </a:r>
            <a:endParaRPr lang="en-US" sz="975" dirty="0"/>
          </a:p>
        </p:txBody>
      </p:sp>
      <p:sp>
        <p:nvSpPr>
          <p:cNvPr id="130" name="Text 96"/>
          <p:cNvSpPr txBox="1"/>
          <p:nvPr/>
        </p:nvSpPr>
        <p:spPr>
          <a:xfrm>
            <a:off x="1143000" y="8410651"/>
            <a:ext cx="16867022" cy="314554"/>
          </a:xfrm>
          <a:prstGeom prst="rect">
            <a:avLst/>
          </a:prstGeom>
          <a:noFill/>
          <a:ln/>
        </p:spPr>
        <p:txBody>
          <a:bodyPr wrap="none" lIns="0" tIns="0" rIns="0" bIns="0" rtlCol="0" anchor="ctr"/>
          <a:lstStyle/>
          <a:p>
            <a:pPr algn="l" indent="0" marL="0">
              <a:buNone/>
            </a:pPr>
            <a:r>
              <a:rPr lang="en-US" sz="1800" b="1" dirty="0">
                <a:solidFill>
                  <a:srgbClr val="0B1F18"/>
                </a:solidFill>
                <a:latin typeface="Inter" pitchFamily="34" charset="0"/>
                <a:ea typeface="Inter" pitchFamily="34" charset="-122"/>
                <a:cs typeface="Inter" pitchFamily="34" charset="-120"/>
              </a:rPr>
              <a:t>Line Rs만 B 우세 (−5.3%), 나머지 3종은 A 우세 · B의 W07만 yield 94.9로 target 미달 — dummy 데이터상 권고안 가중치 산정에 참고할 것.</a:t>
            </a:r>
            <a:endParaRPr lang="en-US" sz="1800" dirty="0"/>
          </a:p>
        </p:txBody>
      </p:sp>
      <p:sp>
        <p:nvSpPr>
          <p:cNvPr id="131" name="Text 97"/>
          <p:cNvSpPr txBox="1"/>
          <p:nvPr/>
        </p:nvSpPr>
        <p:spPr>
          <a:xfrm>
            <a:off x="857707" y="9924898"/>
            <a:ext cx="16573500" cy="247802"/>
          </a:xfrm>
          <a:prstGeom prst="rect">
            <a:avLst/>
          </a:prstGeom>
          <a:noFill/>
          <a:ln/>
        </p:spPr>
        <p:txBody>
          <a:bodyPr wrap="square" lIns="0" tIns="0" rIns="0" bIns="0" rtlCol="0" anchor="ctr"/>
          <a:lstStyle/>
          <a:p>
            <a:pPr algn="l" indent="0" marL="0">
              <a:buNone/>
            </a:pPr>
            <a:r>
              <a:rPr lang="en-US" sz="1350" dirty="0">
                <a:solidFill>
                  <a:srgbClr val="6B7280"/>
                </a:solidFill>
                <a:latin typeface="Inter" pitchFamily="34" charset="0"/>
                <a:ea typeface="Inter" pitchFamily="34" charset="-122"/>
                <a:cs typeface="Inter" pitchFamily="34" charset="-120"/>
              </a:rPr>
              <a:t>※ 내부 테스트용 더미(가상) 데이터</a:t>
            </a:r>
            <a:pPr algn="l" indent="0" marL="0">
              <a:buNone/>
            </a:pPr>
            <a:r>
              <a:rPr lang="en-US" sz="1350" dirty="0">
                <a:solidFill>
                  <a:srgbClr val="6B7280"/>
                </a:solidFill>
                <a:latin typeface="Inter" pitchFamily="34" charset="0"/>
                <a:ea typeface="Inter" pitchFamily="34" charset="-122"/>
                <a:cs typeface="Inter" pitchFamily="34" charset="-120"/>
              </a:rPr>
              <a:t>08 / 09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gen-dedup-e5e9624a79aab40b70128647df0caf8d.png">    </p:cNvPr>
          <p:cNvPicPr>
            <a:picLocks noChangeAspect="1"/>
          </p:cNvPicPr>
          <p:nvPr/>
        </p:nvPicPr>
        <p:blipFill>
          <a:blip r:embed="rId1"/>
          <a:srcRect l="0" r="0" t="0" b="0"/>
          <a:stretch/>
        </p:blipFill>
        <p:spPr>
          <a:xfrm>
            <a:off x="16192195" y="-1524305"/>
            <a:ext cx="3619195" cy="3619195"/>
          </a:xfrm>
          <a:prstGeom prst="rect">
            <a:avLst/>
          </a:prstGeom>
        </p:spPr>
      </p:pic>
      <p:sp>
        <p:nvSpPr>
          <p:cNvPr id="4" name="Shape 0"/>
          <p:cNvSpPr/>
          <p:nvPr/>
        </p:nvSpPr>
        <p:spPr>
          <a:xfrm>
            <a:off x="0" y="0"/>
            <a:ext cx="18288000" cy="10287000"/>
          </a:xfrm>
          <a:prstGeom prst="rect">
            <a:avLst/>
          </a:prstGeom>
          <a:solidFill>
            <a:srgbClr val="F4F8F4"/>
          </a:solidFill>
          <a:ln w="12700">
            <a:solidFill>
              <a:srgbClr val="FFFFFF">
                <a:alpha val="0"/>
              </a:srgbClr>
            </a:solidFill>
            <a:prstDash val="solid"/>
          </a:ln>
        </p:spPr>
      </p:sp>
      <p:pic>
        <p:nvPicPr>
          <p:cNvPr id="5" name="Image 1" descr="gen-dedup-5ea2d4b2c52a069662ead8f63ee46a87.png">    </p:cNvPr>
          <p:cNvPicPr>
            <a:picLocks noChangeAspect="1"/>
          </p:cNvPicPr>
          <p:nvPr/>
        </p:nvPicPr>
        <p:blipFill>
          <a:blip r:embed="rId2"/>
          <a:srcRect l="-4" r="-4" t="0" b="0"/>
          <a:stretch/>
        </p:blipFill>
        <p:spPr>
          <a:xfrm>
            <a:off x="857707" y="2018995"/>
            <a:ext cx="11239805" cy="5905195"/>
          </a:xfrm>
          <a:prstGeom prst="rect">
            <a:avLst/>
          </a:prstGeom>
        </p:spPr>
      </p:pic>
      <p:pic>
        <p:nvPicPr>
          <p:cNvPr id="6" name="Image 2" descr="gen-dedup-46c81048f7a5d921ec60f578da41e71b.png">    </p:cNvPr>
          <p:cNvPicPr>
            <a:picLocks noChangeAspect="1"/>
          </p:cNvPicPr>
          <p:nvPr/>
        </p:nvPicPr>
        <p:blipFill>
          <a:blip r:embed="rId3"/>
          <a:srcRect l="-2" r="-2" t="0" b="0"/>
          <a:stretch/>
        </p:blipFill>
        <p:spPr>
          <a:xfrm>
            <a:off x="12382805" y="2018995"/>
            <a:ext cx="5048402" cy="4000500"/>
          </a:xfrm>
          <a:prstGeom prst="rect">
            <a:avLst/>
          </a:prstGeom>
        </p:spPr>
      </p:pic>
      <p:sp>
        <p:nvSpPr>
          <p:cNvPr id="7" name="Shape 1"/>
          <p:cNvSpPr/>
          <p:nvPr/>
        </p:nvSpPr>
        <p:spPr>
          <a:xfrm>
            <a:off x="12382805" y="6210605"/>
            <a:ext cx="5048402" cy="1714500"/>
          </a:xfrm>
          <a:prstGeom prst="roundRect">
            <a:avLst>
              <a:gd name="adj" fmla="val 7787"/>
            </a:avLst>
          </a:prstGeom>
          <a:solidFill>
            <a:srgbClr val="064E3B"/>
          </a:solidFill>
          <a:ln w="12700">
            <a:solidFill>
              <a:srgbClr val="FFFFFF">
                <a:alpha val="0"/>
              </a:srgbClr>
            </a:solidFill>
            <a:prstDash val="solid"/>
          </a:ln>
        </p:spPr>
      </p:sp>
      <p:pic>
        <p:nvPicPr>
          <p:cNvPr id="8" name="Image 3" descr="gen-dedup-2fbcf05202020e5c2fee389890c4e9a4.png">    </p:cNvPr>
          <p:cNvPicPr>
            <a:picLocks noChangeAspect="1"/>
          </p:cNvPicPr>
          <p:nvPr/>
        </p:nvPicPr>
        <p:blipFill>
          <a:blip r:embed="rId4"/>
          <a:srcRect l="0" r="0" t="-31" b="-31"/>
          <a:stretch/>
        </p:blipFill>
        <p:spPr>
          <a:xfrm>
            <a:off x="857707" y="8134502"/>
            <a:ext cx="16621049" cy="743407"/>
          </a:xfrm>
          <a:prstGeom prst="rect">
            <a:avLst/>
          </a:prstGeom>
        </p:spPr>
      </p:pic>
      <p:pic>
        <p:nvPicPr>
          <p:cNvPr id="9" name="Image 4" descr="gen-dedup-3cbe0112fec4c4c6425cb24f04310441.png">    </p:cNvPr>
          <p:cNvPicPr>
            <a:picLocks noChangeAspect="1"/>
          </p:cNvPicPr>
          <p:nvPr/>
        </p:nvPicPr>
        <p:blipFill>
          <a:blip r:embed="rId5"/>
          <a:srcRect l="-1" r="-1" t="0" b="0"/>
          <a:stretch/>
        </p:blipFill>
        <p:spPr>
          <a:xfrm>
            <a:off x="857707" y="2018995"/>
            <a:ext cx="11239805" cy="571500"/>
          </a:xfrm>
          <a:prstGeom prst="rect">
            <a:avLst/>
          </a:prstGeom>
        </p:spPr>
      </p:pic>
      <p:pic>
        <p:nvPicPr>
          <p:cNvPr id="10" name="Image 5" descr="gen-dedup-7fcd6fbe20211c358b1c9eaf641e4105.png">    </p:cNvPr>
          <p:cNvPicPr>
            <a:picLocks noChangeAspect="1"/>
          </p:cNvPicPr>
          <p:nvPr/>
        </p:nvPicPr>
        <p:blipFill>
          <a:blip r:embed="rId6"/>
          <a:srcRect l="-1" r="-1" t="0" b="0"/>
          <a:stretch/>
        </p:blipFill>
        <p:spPr>
          <a:xfrm>
            <a:off x="12382805" y="2018995"/>
            <a:ext cx="5048402" cy="571500"/>
          </a:xfrm>
          <a:prstGeom prst="rect">
            <a:avLst/>
          </a:prstGeom>
        </p:spPr>
      </p:pic>
      <p:sp>
        <p:nvSpPr>
          <p:cNvPr id="11" name="Shape 2"/>
          <p:cNvSpPr/>
          <p:nvPr/>
        </p:nvSpPr>
        <p:spPr>
          <a:xfrm>
            <a:off x="857707" y="647395"/>
            <a:ext cx="95098" cy="95098"/>
          </a:xfrm>
          <a:prstGeom prst="ellipse">
            <a:avLst/>
          </a:prstGeom>
          <a:solidFill>
            <a:srgbClr val="047857"/>
          </a:solidFill>
          <a:ln w="12700">
            <a:solidFill>
              <a:srgbClr val="FFFFFF">
                <a:alpha val="0"/>
              </a:srgbClr>
            </a:solidFill>
            <a:prstDash val="solid"/>
          </a:ln>
        </p:spPr>
      </p:sp>
      <p:sp>
        <p:nvSpPr>
          <p:cNvPr id="12" name="Text 3"/>
          <p:cNvSpPr txBox="1"/>
          <p:nvPr/>
        </p:nvSpPr>
        <p:spPr>
          <a:xfrm>
            <a:off x="1086307" y="571500"/>
            <a:ext cx="2232965" cy="247802"/>
          </a:xfrm>
          <a:prstGeom prst="rect">
            <a:avLst/>
          </a:prstGeom>
          <a:noFill/>
          <a:ln/>
        </p:spPr>
        <p:txBody>
          <a:bodyPr wrap="none" lIns="0" tIns="0" rIns="0" bIns="0" rtlCol="0" anchor="ctr"/>
          <a:lstStyle/>
          <a:p>
            <a:pPr algn="l" indent="0" marL="0">
              <a:buNone/>
            </a:pPr>
            <a:r>
              <a:rPr lang="en-US" sz="1350" b="1" spc="243" kern="0" dirty="0">
                <a:solidFill>
                  <a:srgbClr val="047857"/>
                </a:solidFill>
                <a:latin typeface="Inter" pitchFamily="34" charset="0"/>
                <a:ea typeface="Inter" pitchFamily="34" charset="-122"/>
                <a:cs typeface="Inter" pitchFamily="34" charset="-120"/>
              </a:rPr>
              <a:t>09 / 09 · 종합 비교</a:t>
            </a:r>
            <a:endParaRPr lang="en-US" sz="1350" dirty="0"/>
          </a:p>
        </p:txBody>
      </p:sp>
      <p:sp>
        <p:nvSpPr>
          <p:cNvPr id="13" name="Text 4"/>
          <p:cNvSpPr txBox="1"/>
          <p:nvPr/>
        </p:nvSpPr>
        <p:spPr>
          <a:xfrm>
            <a:off x="857707" y="895198"/>
            <a:ext cx="15621610" cy="467258"/>
          </a:xfrm>
          <a:prstGeom prst="rect">
            <a:avLst/>
          </a:prstGeom>
          <a:noFill/>
          <a:ln/>
        </p:spPr>
        <p:txBody>
          <a:bodyPr wrap="none" lIns="0" tIns="0" rIns="0" bIns="0" rtlCol="0" anchor="ctr"/>
          <a:lstStyle/>
          <a:p>
            <a:pPr algn="l" indent="0" marL="0">
              <a:buNone/>
            </a:pPr>
            <a:r>
              <a:rPr lang="en-US" sz="3300" b="1" spc="-66" kern="0" dirty="0">
                <a:solidFill>
                  <a:srgbClr val="0B1F18"/>
                </a:solidFill>
                <a:latin typeface="Inter" pitchFamily="34" charset="0"/>
                <a:ea typeface="Inter" pitchFamily="34" charset="-122"/>
                <a:cs typeface="Inter" pitchFamily="34" charset="-120"/>
              </a:rPr>
              <a:t>8 metric × 2 split — 종합 비교 차트와 한 줄 결론</a:t>
            </a:r>
            <a:endParaRPr lang="en-US" sz="3300" dirty="0"/>
          </a:p>
        </p:txBody>
      </p:sp>
      <p:sp>
        <p:nvSpPr>
          <p:cNvPr id="14" name="Text 5"/>
          <p:cNvSpPr txBox="1"/>
          <p:nvPr/>
        </p:nvSpPr>
        <p:spPr>
          <a:xfrm>
            <a:off x="857707" y="1447495"/>
            <a:ext cx="15621610" cy="257861"/>
          </a:xfrm>
          <a:prstGeom prst="rect">
            <a:avLst/>
          </a:prstGeom>
          <a:noFill/>
          <a:ln/>
        </p:spPr>
        <p:txBody>
          <a:bodyPr wrap="none" lIns="0" tIns="0" rIns="0" bIns="0" rtlCol="0" anchor="ctr"/>
          <a:lstStyle/>
          <a:p>
            <a:pPr algn="l" indent="0" marL="0">
              <a:buNone/>
            </a:pPr>
            <a:r>
              <a:rPr lang="en-US" sz="1350" dirty="0">
                <a:solidFill>
                  <a:srgbClr val="4B5563"/>
                </a:solidFill>
                <a:latin typeface="Inter" pitchFamily="34" charset="0"/>
                <a:ea typeface="Inter" pitchFamily="34" charset="-122"/>
                <a:cs typeface="Inter" pitchFamily="34" charset="-120"/>
              </a:rPr>
              <a:t>bar 1개 = 1 metric 평균 · split A vs B를 한 차트에 정리, 우측에 종합 summary 패널.</a:t>
            </a:r>
            <a:endParaRPr lang="en-US" sz="1350" dirty="0"/>
          </a:p>
        </p:txBody>
      </p:sp>
      <p:sp>
        <p:nvSpPr>
          <p:cNvPr id="15" name="Text 6"/>
          <p:cNvSpPr txBox="1"/>
          <p:nvPr/>
        </p:nvSpPr>
        <p:spPr>
          <a:xfrm>
            <a:off x="1143000" y="2171700"/>
            <a:ext cx="6667805" cy="191110"/>
          </a:xfrm>
          <a:prstGeom prst="rect">
            <a:avLst/>
          </a:prstGeom>
          <a:noFill/>
          <a:ln/>
        </p:spPr>
        <p:txBody>
          <a:bodyPr wrap="none" lIns="0" tIns="0" rIns="0" bIns="0" rtlCol="0" anchor="ctr"/>
          <a:lstStyle/>
          <a:p>
            <a:pPr algn="l" indent="0" marL="0">
              <a:buNone/>
            </a:pPr>
            <a:r>
              <a:rPr lang="en-US" sz="1050" b="1" dirty="0">
                <a:solidFill>
                  <a:srgbClr val="A7F3D0"/>
                </a:solidFill>
                <a:latin typeface="Inter" pitchFamily="34" charset="0"/>
                <a:ea typeface="Inter" pitchFamily="34" charset="-122"/>
                <a:cs typeface="Inter" pitchFamily="34" charset="-120"/>
              </a:rPr>
              <a:t>grouped bars · split A vs split B · 7 metrics</a:t>
            </a:r>
            <a:endParaRPr lang="en-US" sz="1200" dirty="0"/>
          </a:p>
        </p:txBody>
      </p:sp>
      <p:sp>
        <p:nvSpPr>
          <p:cNvPr id="16" name="Text 7"/>
          <p:cNvSpPr txBox="1"/>
          <p:nvPr/>
        </p:nvSpPr>
        <p:spPr>
          <a:xfrm>
            <a:off x="8878824" y="2171700"/>
            <a:ext cx="1106424" cy="152705"/>
          </a:xfrm>
          <a:prstGeom prst="rect">
            <a:avLst/>
          </a:prstGeom>
          <a:noFill/>
          <a:ln/>
        </p:spPr>
        <p:txBody>
          <a:bodyPr wrap="none" lIns="0" tIns="0" rIns="0" bIns="0" rtlCol="0" anchor="ctr"/>
          <a:lstStyle/>
          <a:p>
            <a:pPr algn="l" indent="0" marL="0">
              <a:buNone/>
            </a:pPr>
            <a:r>
              <a:rPr lang="en-US" sz="975" dirty="0">
                <a:solidFill>
                  <a:srgbClr val="D1FAE5"/>
                </a:solidFill>
                <a:latin typeface="Inter" pitchFamily="34" charset="0"/>
                <a:ea typeface="Inter" pitchFamily="34" charset="-122"/>
                <a:cs typeface="Inter" pitchFamily="34" charset="-120"/>
              </a:rPr>
              <a:t>Split A (TiN)</a:t>
            </a:r>
            <a:endParaRPr lang="en-US" sz="975" dirty="0"/>
          </a:p>
        </p:txBody>
      </p:sp>
      <p:sp>
        <p:nvSpPr>
          <p:cNvPr id="17" name="Text 8"/>
          <p:cNvSpPr txBox="1"/>
          <p:nvPr/>
        </p:nvSpPr>
        <p:spPr>
          <a:xfrm>
            <a:off x="9945014" y="2171700"/>
            <a:ext cx="1362456" cy="152705"/>
          </a:xfrm>
          <a:prstGeom prst="rect">
            <a:avLst/>
          </a:prstGeom>
          <a:noFill/>
          <a:ln/>
        </p:spPr>
        <p:txBody>
          <a:bodyPr wrap="none" lIns="0" tIns="0" rIns="0" bIns="0" rtlCol="0" anchor="ctr"/>
          <a:lstStyle/>
          <a:p>
            <a:pPr algn="l" indent="0" marL="0">
              <a:buNone/>
            </a:pPr>
            <a:r>
              <a:rPr lang="en-US" sz="975" dirty="0">
                <a:solidFill>
                  <a:srgbClr val="D1FAE5"/>
                </a:solidFill>
                <a:latin typeface="Inter" pitchFamily="34" charset="0"/>
                <a:ea typeface="Inter" pitchFamily="34" charset="-122"/>
                <a:cs typeface="Inter" pitchFamily="34" charset="-120"/>
              </a:rPr>
              <a:t>Split B (MF SiN)</a:t>
            </a:r>
            <a:endParaRPr lang="en-US" sz="975" dirty="0"/>
          </a:p>
        </p:txBody>
      </p:sp>
      <p:sp>
        <p:nvSpPr>
          <p:cNvPr id="18" name="Text 9"/>
          <p:cNvSpPr txBox="1"/>
          <p:nvPr/>
        </p:nvSpPr>
        <p:spPr>
          <a:xfrm>
            <a:off x="11226089" y="2171700"/>
            <a:ext cx="685800" cy="152705"/>
          </a:xfrm>
          <a:prstGeom prst="rect">
            <a:avLst/>
          </a:prstGeom>
          <a:noFill/>
          <a:ln/>
        </p:spPr>
        <p:txBody>
          <a:bodyPr wrap="none" lIns="0" tIns="0" rIns="0" bIns="0" rtlCol="0" anchor="ctr"/>
          <a:lstStyle/>
          <a:p>
            <a:pPr algn="l" indent="0" marL="0">
              <a:buNone/>
            </a:pPr>
            <a:r>
              <a:rPr lang="en-US" sz="975" dirty="0">
                <a:solidFill>
                  <a:srgbClr val="D1FAE5"/>
                </a:solidFill>
                <a:latin typeface="Inter" pitchFamily="34" charset="0"/>
                <a:ea typeface="Inter" pitchFamily="34" charset="-122"/>
                <a:cs typeface="Inter" pitchFamily="34" charset="-120"/>
              </a:rPr>
              <a:t>Caution</a:t>
            </a:r>
            <a:endParaRPr lang="en-US" sz="975" dirty="0"/>
          </a:p>
        </p:txBody>
      </p:sp>
      <p:pic>
        <p:nvPicPr>
          <p:cNvPr id="19" name="Image 6" descr="gen-dedup-76bd99c9ed83011eed07e5ae22c93ea3.png">    </p:cNvPr>
          <p:cNvPicPr>
            <a:picLocks noChangeAspect="1"/>
          </p:cNvPicPr>
          <p:nvPr/>
        </p:nvPicPr>
        <p:blipFill>
          <a:blip r:embed="rId7"/>
          <a:srcRect l="0" r="0" t="-2" b="-2"/>
          <a:stretch/>
        </p:blipFill>
        <p:spPr>
          <a:xfrm>
            <a:off x="1143000" y="2743200"/>
            <a:ext cx="10668305" cy="4953305"/>
          </a:xfrm>
          <a:prstGeom prst="rect">
            <a:avLst/>
          </a:prstGeom>
        </p:spPr>
      </p:pic>
      <p:sp>
        <p:nvSpPr>
          <p:cNvPr id="20" name="Text 10"/>
          <p:cNvSpPr txBox="1"/>
          <p:nvPr/>
        </p:nvSpPr>
        <p:spPr>
          <a:xfrm>
            <a:off x="12668098" y="2171700"/>
            <a:ext cx="4763110" cy="191110"/>
          </a:xfrm>
          <a:prstGeom prst="rect">
            <a:avLst/>
          </a:prstGeom>
          <a:noFill/>
          <a:ln/>
        </p:spPr>
        <p:txBody>
          <a:bodyPr wrap="none" lIns="0" tIns="0" rIns="0" bIns="0" rtlCol="0" anchor="ctr"/>
          <a:lstStyle/>
          <a:p>
            <a:pPr algn="l" indent="0" marL="0">
              <a:buNone/>
            </a:pPr>
            <a:r>
              <a:rPr lang="en-US" sz="1050" b="1" dirty="0">
                <a:solidFill>
                  <a:srgbClr val="D1FAE5"/>
                </a:solidFill>
                <a:latin typeface="Inter" pitchFamily="34" charset="0"/>
                <a:ea typeface="Inter" pitchFamily="34" charset="-122"/>
                <a:cs typeface="Inter" pitchFamily="34" charset="-120"/>
              </a:rPr>
              <a:t>split summary table</a:t>
            </a:r>
            <a:endParaRPr lang="en-US" sz="1200" dirty="0"/>
          </a:p>
        </p:txBody>
      </p:sp>
      <p:sp>
        <p:nvSpPr>
          <p:cNvPr id="21" name="Shape 11"/>
          <p:cNvSpPr/>
          <p:nvPr/>
        </p:nvSpPr>
        <p:spPr>
          <a:xfrm>
            <a:off x="12668098" y="3047695"/>
            <a:ext cx="4572000" cy="19202"/>
          </a:xfrm>
          <a:prstGeom prst="rect">
            <a:avLst/>
          </a:prstGeom>
          <a:solidFill>
            <a:srgbClr val="064E3B"/>
          </a:solidFill>
          <a:ln w="12700">
            <a:solidFill>
              <a:srgbClr val="064E3B">
                <a:alpha val="0"/>
              </a:srgbClr>
            </a:solidFill>
            <a:prstDash val="solid"/>
          </a:ln>
        </p:spPr>
      </p:sp>
      <p:sp>
        <p:nvSpPr>
          <p:cNvPr id="22" name="Text 12"/>
          <p:cNvSpPr txBox="1"/>
          <p:nvPr/>
        </p:nvSpPr>
        <p:spPr>
          <a:xfrm>
            <a:off x="12668098" y="2819095"/>
            <a:ext cx="2095805" cy="152705"/>
          </a:xfrm>
          <a:prstGeom prst="rect">
            <a:avLst/>
          </a:prstGeom>
          <a:noFill/>
          <a:ln/>
        </p:spPr>
        <p:txBody>
          <a:bodyPr wrap="none" lIns="0" tIns="0" rIns="0" bIns="0" rtlCol="0" anchor="ctr"/>
          <a:lstStyle/>
          <a:p>
            <a:pPr algn="l" indent="0" marL="0">
              <a:buNone/>
            </a:pPr>
            <a:r>
              <a:rPr lang="en-US" sz="975" b="1" spc="98" kern="0" dirty="0">
                <a:solidFill>
                  <a:srgbClr val="047857"/>
                </a:solidFill>
                <a:latin typeface="Inter" pitchFamily="34" charset="0"/>
                <a:ea typeface="Inter" pitchFamily="34" charset="-122"/>
                <a:cs typeface="Inter" pitchFamily="34" charset="-120"/>
              </a:rPr>
              <a:t>METRIC</a:t>
            </a:r>
            <a:endParaRPr lang="en-US" sz="975" dirty="0"/>
          </a:p>
        </p:txBody>
      </p:sp>
      <p:sp>
        <p:nvSpPr>
          <p:cNvPr id="23" name="Text 13"/>
          <p:cNvSpPr txBox="1"/>
          <p:nvPr/>
        </p:nvSpPr>
        <p:spPr>
          <a:xfrm>
            <a:off x="14763902" y="2819095"/>
            <a:ext cx="1143000" cy="152705"/>
          </a:xfrm>
          <a:prstGeom prst="rect">
            <a:avLst/>
          </a:prstGeom>
          <a:noFill/>
          <a:ln/>
        </p:spPr>
        <p:txBody>
          <a:bodyPr wrap="none" lIns="0" tIns="0" rIns="0" bIns="0" rtlCol="0" anchor="ctr"/>
          <a:lstStyle/>
          <a:p>
            <a:pPr algn="ctr" indent="0" marL="0">
              <a:buNone/>
            </a:pPr>
            <a:r>
              <a:rPr lang="en-US" sz="975" b="1" spc="98" kern="0" dirty="0">
                <a:solidFill>
                  <a:srgbClr val="047857"/>
                </a:solidFill>
                <a:latin typeface="Inter" pitchFamily="34" charset="0"/>
                <a:ea typeface="Inter" pitchFamily="34" charset="-122"/>
                <a:cs typeface="Inter" pitchFamily="34" charset="-120"/>
              </a:rPr>
              <a:t>SPLIT A</a:t>
            </a:r>
            <a:endParaRPr lang="en-US" sz="975" dirty="0"/>
          </a:p>
        </p:txBody>
      </p:sp>
      <p:sp>
        <p:nvSpPr>
          <p:cNvPr id="24" name="Text 14"/>
          <p:cNvSpPr txBox="1"/>
          <p:nvPr/>
        </p:nvSpPr>
        <p:spPr>
          <a:xfrm>
            <a:off x="15906902" y="2819095"/>
            <a:ext cx="1143000" cy="152705"/>
          </a:xfrm>
          <a:prstGeom prst="rect">
            <a:avLst/>
          </a:prstGeom>
          <a:noFill/>
          <a:ln/>
        </p:spPr>
        <p:txBody>
          <a:bodyPr wrap="none" lIns="0" tIns="0" rIns="0" bIns="0" rtlCol="0" anchor="ctr"/>
          <a:lstStyle/>
          <a:p>
            <a:pPr algn="ctr" indent="0" marL="0">
              <a:buNone/>
            </a:pPr>
            <a:r>
              <a:rPr lang="en-US" sz="975" b="1" spc="98" kern="0" dirty="0">
                <a:solidFill>
                  <a:srgbClr val="047857"/>
                </a:solidFill>
                <a:latin typeface="Inter" pitchFamily="34" charset="0"/>
                <a:ea typeface="Inter" pitchFamily="34" charset="-122"/>
                <a:cs typeface="Inter" pitchFamily="34" charset="-120"/>
              </a:rPr>
              <a:t>SPLIT B</a:t>
            </a:r>
            <a:endParaRPr lang="en-US" sz="975" dirty="0"/>
          </a:p>
        </p:txBody>
      </p:sp>
      <p:sp>
        <p:nvSpPr>
          <p:cNvPr id="25" name="Shape 15"/>
          <p:cNvSpPr/>
          <p:nvPr/>
        </p:nvSpPr>
        <p:spPr>
          <a:xfrm>
            <a:off x="12668098" y="3429000"/>
            <a:ext cx="4572000" cy="9144"/>
          </a:xfrm>
          <a:prstGeom prst="rect">
            <a:avLst/>
          </a:prstGeom>
          <a:solidFill>
            <a:srgbClr val="ECFDF5"/>
          </a:solidFill>
          <a:ln w="12700">
            <a:solidFill>
              <a:srgbClr val="ECFDF5">
                <a:alpha val="0"/>
              </a:srgbClr>
            </a:solidFill>
            <a:prstDash val="solid"/>
          </a:ln>
        </p:spPr>
      </p:sp>
      <p:sp>
        <p:nvSpPr>
          <p:cNvPr id="26" name="Text 16"/>
          <p:cNvSpPr txBox="1"/>
          <p:nvPr/>
        </p:nvSpPr>
        <p:spPr>
          <a:xfrm>
            <a:off x="12668098" y="3152851"/>
            <a:ext cx="2095805" cy="191110"/>
          </a:xfrm>
          <a:prstGeom prst="rect">
            <a:avLst/>
          </a:prstGeom>
          <a:noFill/>
          <a:ln/>
        </p:spPr>
        <p:txBody>
          <a:bodyPr wrap="none" lIns="0" tIns="0" rIns="0" bIns="0" rtlCol="0" anchor="ctr"/>
          <a:lstStyle/>
          <a:p>
            <a:pPr algn="l" indent="0" marL="0">
              <a:buNone/>
            </a:pPr>
            <a:r>
              <a:rPr lang="en-US" sz="1275" b="1" dirty="0">
                <a:solidFill>
                  <a:srgbClr val="0B1F18"/>
                </a:solidFill>
                <a:latin typeface="Inter" pitchFamily="34" charset="0"/>
                <a:ea typeface="Inter" pitchFamily="34" charset="-122"/>
                <a:cs typeface="Inter" pitchFamily="34" charset="-120"/>
              </a:rPr>
              <a:t>AASI Δ mean (nm)</a:t>
            </a:r>
            <a:endParaRPr lang="en-US" sz="1275" dirty="0"/>
          </a:p>
        </p:txBody>
      </p:sp>
      <p:sp>
        <p:nvSpPr>
          <p:cNvPr id="27" name="Text 17"/>
          <p:cNvSpPr txBox="1"/>
          <p:nvPr/>
        </p:nvSpPr>
        <p:spPr>
          <a:xfrm>
            <a:off x="14763902" y="3152851"/>
            <a:ext cx="1143000" cy="191110"/>
          </a:xfrm>
          <a:prstGeom prst="rect">
            <a:avLst/>
          </a:prstGeom>
          <a:noFill/>
          <a:ln/>
        </p:spPr>
        <p:txBody>
          <a:bodyPr wrap="none" lIns="0" tIns="0" rIns="0" bIns="0" rtlCol="0" anchor="ctr"/>
          <a:lstStyle/>
          <a:p>
            <a:pPr algn="ctr" indent="0" marL="0">
              <a:buNone/>
            </a:pPr>
            <a:r>
              <a:rPr lang="en-US" sz="1275" b="1" dirty="0">
                <a:solidFill>
                  <a:srgbClr val="000000"/>
                </a:solidFill>
                <a:latin typeface="Inter" pitchFamily="34" charset="0"/>
                <a:ea typeface="Inter" pitchFamily="34" charset="-122"/>
                <a:cs typeface="Inter" pitchFamily="34" charset="-120"/>
              </a:rPr>
              <a:t>+0.005</a:t>
            </a:r>
            <a:endParaRPr lang="en-US" sz="1275" dirty="0"/>
          </a:p>
        </p:txBody>
      </p:sp>
      <p:sp>
        <p:nvSpPr>
          <p:cNvPr id="28" name="Text 18"/>
          <p:cNvSpPr txBox="1"/>
          <p:nvPr/>
        </p:nvSpPr>
        <p:spPr>
          <a:xfrm>
            <a:off x="15906902" y="3152851"/>
            <a:ext cx="1143000" cy="191110"/>
          </a:xfrm>
          <a:prstGeom prst="rect">
            <a:avLst/>
          </a:prstGeom>
          <a:noFill/>
          <a:ln/>
        </p:spPr>
        <p:txBody>
          <a:bodyPr wrap="none" lIns="0" tIns="0" rIns="0" bIns="0" rtlCol="0" anchor="ctr"/>
          <a:lstStyle/>
          <a:p>
            <a:pPr algn="ctr" indent="0" marL="0">
              <a:buNone/>
            </a:pPr>
            <a:r>
              <a:rPr lang="en-US" sz="1275" b="1" dirty="0">
                <a:solidFill>
                  <a:srgbClr val="D97706"/>
                </a:solidFill>
                <a:latin typeface="Inter" pitchFamily="34" charset="0"/>
                <a:ea typeface="Inter" pitchFamily="34" charset="-122"/>
                <a:cs typeface="Inter" pitchFamily="34" charset="-120"/>
              </a:rPr>
              <a:t>+0.24</a:t>
            </a:r>
            <a:endParaRPr lang="en-US" sz="1275" dirty="0"/>
          </a:p>
        </p:txBody>
      </p:sp>
      <p:sp>
        <p:nvSpPr>
          <p:cNvPr id="29" name="Shape 19"/>
          <p:cNvSpPr/>
          <p:nvPr/>
        </p:nvSpPr>
        <p:spPr>
          <a:xfrm>
            <a:off x="12668098" y="3800246"/>
            <a:ext cx="4572000" cy="9144"/>
          </a:xfrm>
          <a:prstGeom prst="rect">
            <a:avLst/>
          </a:prstGeom>
          <a:solidFill>
            <a:srgbClr val="ECFDF5"/>
          </a:solidFill>
          <a:ln w="12700">
            <a:solidFill>
              <a:srgbClr val="ECFDF5">
                <a:alpha val="0"/>
              </a:srgbClr>
            </a:solidFill>
            <a:prstDash val="solid"/>
          </a:ln>
        </p:spPr>
      </p:sp>
      <p:sp>
        <p:nvSpPr>
          <p:cNvPr id="30" name="Text 20"/>
          <p:cNvSpPr txBox="1"/>
          <p:nvPr/>
        </p:nvSpPr>
        <p:spPr>
          <a:xfrm>
            <a:off x="12668098" y="3524098"/>
            <a:ext cx="2095805" cy="191110"/>
          </a:xfrm>
          <a:prstGeom prst="rect">
            <a:avLst/>
          </a:prstGeom>
          <a:noFill/>
          <a:ln/>
        </p:spPr>
        <p:txBody>
          <a:bodyPr wrap="none" lIns="0" tIns="0" rIns="0" bIns="0" rtlCol="0" anchor="ctr"/>
          <a:lstStyle/>
          <a:p>
            <a:pPr algn="l" indent="0" marL="0">
              <a:buNone/>
            </a:pPr>
            <a:r>
              <a:rPr lang="en-US" sz="1275" b="1" dirty="0">
                <a:solidFill>
                  <a:srgbClr val="0B1F18"/>
                </a:solidFill>
                <a:latin typeface="Inter" pitchFamily="34" charset="0"/>
                <a:ea typeface="Inter" pitchFamily="34" charset="-122"/>
                <a:cs typeface="Inter" pitchFamily="34" charset="-120"/>
              </a:rPr>
              <a:t>ASEI Δ mean (nm)</a:t>
            </a:r>
            <a:endParaRPr lang="en-US" sz="1275" dirty="0"/>
          </a:p>
        </p:txBody>
      </p:sp>
      <p:sp>
        <p:nvSpPr>
          <p:cNvPr id="31" name="Text 21"/>
          <p:cNvSpPr txBox="1"/>
          <p:nvPr/>
        </p:nvSpPr>
        <p:spPr>
          <a:xfrm>
            <a:off x="14763902" y="3524098"/>
            <a:ext cx="1143000" cy="191110"/>
          </a:xfrm>
          <a:prstGeom prst="rect">
            <a:avLst/>
          </a:prstGeom>
          <a:noFill/>
          <a:ln/>
        </p:spPr>
        <p:txBody>
          <a:bodyPr wrap="none" lIns="0" tIns="0" rIns="0" bIns="0" rtlCol="0" anchor="ctr"/>
          <a:lstStyle/>
          <a:p>
            <a:pPr algn="ctr" indent="0" marL="0">
              <a:buNone/>
            </a:pPr>
            <a:r>
              <a:rPr lang="en-US" sz="1275" b="1" dirty="0">
                <a:solidFill>
                  <a:srgbClr val="000000"/>
                </a:solidFill>
                <a:latin typeface="Inter" pitchFamily="34" charset="0"/>
                <a:ea typeface="Inter" pitchFamily="34" charset="-122"/>
                <a:cs typeface="Inter" pitchFamily="34" charset="-120"/>
              </a:rPr>
              <a:t>+0.015</a:t>
            </a:r>
            <a:endParaRPr lang="en-US" sz="1275" dirty="0"/>
          </a:p>
        </p:txBody>
      </p:sp>
      <p:sp>
        <p:nvSpPr>
          <p:cNvPr id="32" name="Text 22"/>
          <p:cNvSpPr txBox="1"/>
          <p:nvPr/>
        </p:nvSpPr>
        <p:spPr>
          <a:xfrm>
            <a:off x="15906902" y="3524098"/>
            <a:ext cx="1143000" cy="191110"/>
          </a:xfrm>
          <a:prstGeom prst="rect">
            <a:avLst/>
          </a:prstGeom>
          <a:noFill/>
          <a:ln/>
        </p:spPr>
        <p:txBody>
          <a:bodyPr wrap="none" lIns="0" tIns="0" rIns="0" bIns="0" rtlCol="0" anchor="ctr"/>
          <a:lstStyle/>
          <a:p>
            <a:pPr algn="ctr" indent="0" marL="0">
              <a:buNone/>
            </a:pPr>
            <a:r>
              <a:rPr lang="en-US" sz="1275" b="1" dirty="0">
                <a:solidFill>
                  <a:srgbClr val="B91C1C"/>
                </a:solidFill>
                <a:latin typeface="Inter" pitchFamily="34" charset="0"/>
                <a:ea typeface="Inter" pitchFamily="34" charset="-122"/>
                <a:cs typeface="Inter" pitchFamily="34" charset="-120"/>
              </a:rPr>
              <a:t>−0.15</a:t>
            </a:r>
            <a:endParaRPr lang="en-US" sz="1275" dirty="0"/>
          </a:p>
        </p:txBody>
      </p:sp>
      <p:sp>
        <p:nvSpPr>
          <p:cNvPr id="33" name="Shape 23"/>
          <p:cNvSpPr/>
          <p:nvPr/>
        </p:nvSpPr>
        <p:spPr>
          <a:xfrm>
            <a:off x="12668098" y="4172407"/>
            <a:ext cx="4572000" cy="9144"/>
          </a:xfrm>
          <a:prstGeom prst="rect">
            <a:avLst/>
          </a:prstGeom>
          <a:solidFill>
            <a:srgbClr val="ECFDF5"/>
          </a:solidFill>
          <a:ln w="12700">
            <a:solidFill>
              <a:srgbClr val="ECFDF5">
                <a:alpha val="0"/>
              </a:srgbClr>
            </a:solidFill>
            <a:prstDash val="solid"/>
          </a:ln>
        </p:spPr>
      </p:sp>
      <p:sp>
        <p:nvSpPr>
          <p:cNvPr id="34" name="Text 24"/>
          <p:cNvSpPr txBox="1"/>
          <p:nvPr/>
        </p:nvSpPr>
        <p:spPr>
          <a:xfrm>
            <a:off x="12668098" y="3895344"/>
            <a:ext cx="2095805" cy="191110"/>
          </a:xfrm>
          <a:prstGeom prst="rect">
            <a:avLst/>
          </a:prstGeom>
          <a:noFill/>
          <a:ln/>
        </p:spPr>
        <p:txBody>
          <a:bodyPr wrap="none" lIns="0" tIns="0" rIns="0" bIns="0" rtlCol="0" anchor="ctr"/>
          <a:lstStyle/>
          <a:p>
            <a:pPr algn="l" indent="0" marL="0">
              <a:buNone/>
            </a:pPr>
            <a:r>
              <a:rPr lang="en-US" sz="1275" b="1" dirty="0">
                <a:solidFill>
                  <a:srgbClr val="0B1F18"/>
                </a:solidFill>
                <a:latin typeface="Inter" pitchFamily="34" charset="0"/>
                <a:ea typeface="Inter" pitchFamily="34" charset="-122"/>
                <a:cs typeface="Inter" pitchFamily="34" charset="-120"/>
              </a:rPr>
              <a:t>AMI Δ mean (nm)</a:t>
            </a:r>
            <a:endParaRPr lang="en-US" sz="1275" dirty="0"/>
          </a:p>
        </p:txBody>
      </p:sp>
      <p:sp>
        <p:nvSpPr>
          <p:cNvPr id="35" name="Text 25"/>
          <p:cNvSpPr txBox="1"/>
          <p:nvPr/>
        </p:nvSpPr>
        <p:spPr>
          <a:xfrm>
            <a:off x="14763902" y="3895344"/>
            <a:ext cx="1143000" cy="191110"/>
          </a:xfrm>
          <a:prstGeom prst="rect">
            <a:avLst/>
          </a:prstGeom>
          <a:noFill/>
          <a:ln/>
        </p:spPr>
        <p:txBody>
          <a:bodyPr wrap="none" lIns="0" tIns="0" rIns="0" bIns="0" rtlCol="0" anchor="ctr"/>
          <a:lstStyle/>
          <a:p>
            <a:pPr algn="ctr" indent="0" marL="0">
              <a:buNone/>
            </a:pPr>
            <a:r>
              <a:rPr lang="en-US" sz="1275" b="1" dirty="0">
                <a:solidFill>
                  <a:srgbClr val="000000"/>
                </a:solidFill>
                <a:latin typeface="Inter" pitchFamily="34" charset="0"/>
                <a:ea typeface="Inter" pitchFamily="34" charset="-122"/>
                <a:cs typeface="Inter" pitchFamily="34" charset="-120"/>
              </a:rPr>
              <a:t>+0.003</a:t>
            </a:r>
            <a:endParaRPr lang="en-US" sz="1275" dirty="0"/>
          </a:p>
        </p:txBody>
      </p:sp>
      <p:sp>
        <p:nvSpPr>
          <p:cNvPr id="36" name="Text 26"/>
          <p:cNvSpPr txBox="1"/>
          <p:nvPr/>
        </p:nvSpPr>
        <p:spPr>
          <a:xfrm>
            <a:off x="15906902" y="3895344"/>
            <a:ext cx="1143000" cy="191110"/>
          </a:xfrm>
          <a:prstGeom prst="rect">
            <a:avLst/>
          </a:prstGeom>
          <a:noFill/>
          <a:ln/>
        </p:spPr>
        <p:txBody>
          <a:bodyPr wrap="none" lIns="0" tIns="0" rIns="0" bIns="0" rtlCol="0" anchor="ctr"/>
          <a:lstStyle/>
          <a:p>
            <a:pPr algn="ctr" indent="0" marL="0">
              <a:buNone/>
            </a:pPr>
            <a:r>
              <a:rPr lang="en-US" sz="1275" b="1" dirty="0">
                <a:solidFill>
                  <a:srgbClr val="D97706"/>
                </a:solidFill>
                <a:latin typeface="Inter" pitchFamily="34" charset="0"/>
                <a:ea typeface="Inter" pitchFamily="34" charset="-122"/>
                <a:cs typeface="Inter" pitchFamily="34" charset="-120"/>
              </a:rPr>
              <a:t>+0.11</a:t>
            </a:r>
            <a:endParaRPr lang="en-US" sz="1275" dirty="0"/>
          </a:p>
        </p:txBody>
      </p:sp>
      <p:sp>
        <p:nvSpPr>
          <p:cNvPr id="37" name="Shape 27"/>
          <p:cNvSpPr/>
          <p:nvPr/>
        </p:nvSpPr>
        <p:spPr>
          <a:xfrm>
            <a:off x="12668098" y="4543654"/>
            <a:ext cx="4572000" cy="9144"/>
          </a:xfrm>
          <a:prstGeom prst="rect">
            <a:avLst/>
          </a:prstGeom>
          <a:solidFill>
            <a:srgbClr val="ECFDF5"/>
          </a:solidFill>
          <a:ln w="12700">
            <a:solidFill>
              <a:srgbClr val="ECFDF5">
                <a:alpha val="0"/>
              </a:srgbClr>
            </a:solidFill>
            <a:prstDash val="solid"/>
          </a:ln>
        </p:spPr>
      </p:sp>
      <p:sp>
        <p:nvSpPr>
          <p:cNvPr id="38" name="Text 28"/>
          <p:cNvSpPr txBox="1"/>
          <p:nvPr/>
        </p:nvSpPr>
        <p:spPr>
          <a:xfrm>
            <a:off x="12668098" y="4267505"/>
            <a:ext cx="2095805" cy="191110"/>
          </a:xfrm>
          <a:prstGeom prst="rect">
            <a:avLst/>
          </a:prstGeom>
          <a:noFill/>
          <a:ln/>
        </p:spPr>
        <p:txBody>
          <a:bodyPr wrap="none" lIns="0" tIns="0" rIns="0" bIns="0" rtlCol="0" anchor="ctr"/>
          <a:lstStyle/>
          <a:p>
            <a:pPr algn="l" indent="0" marL="0">
              <a:buNone/>
            </a:pPr>
            <a:r>
              <a:rPr lang="en-US" sz="1275" b="1" dirty="0">
                <a:solidFill>
                  <a:srgbClr val="0B1F18"/>
                </a:solidFill>
                <a:latin typeface="Inter" pitchFamily="34" charset="0"/>
                <a:ea typeface="Inter" pitchFamily="34" charset="-122"/>
                <a:cs typeface="Inter" pitchFamily="34" charset="-120"/>
              </a:rPr>
              <a:t>ACI Δ mean (nm)</a:t>
            </a:r>
            <a:endParaRPr lang="en-US" sz="1275" dirty="0"/>
          </a:p>
        </p:txBody>
      </p:sp>
      <p:sp>
        <p:nvSpPr>
          <p:cNvPr id="39" name="Text 29"/>
          <p:cNvSpPr txBox="1"/>
          <p:nvPr/>
        </p:nvSpPr>
        <p:spPr>
          <a:xfrm>
            <a:off x="14763902" y="4267505"/>
            <a:ext cx="1143000" cy="191110"/>
          </a:xfrm>
          <a:prstGeom prst="rect">
            <a:avLst/>
          </a:prstGeom>
          <a:noFill/>
          <a:ln/>
        </p:spPr>
        <p:txBody>
          <a:bodyPr wrap="none" lIns="0" tIns="0" rIns="0" bIns="0" rtlCol="0" anchor="ctr"/>
          <a:lstStyle/>
          <a:p>
            <a:pPr algn="ctr" indent="0" marL="0">
              <a:buNone/>
            </a:pPr>
            <a:r>
              <a:rPr lang="en-US" sz="1275" b="1" dirty="0">
                <a:solidFill>
                  <a:srgbClr val="000000"/>
                </a:solidFill>
                <a:latin typeface="Inter" pitchFamily="34" charset="0"/>
                <a:ea typeface="Inter" pitchFamily="34" charset="-122"/>
                <a:cs typeface="Inter" pitchFamily="34" charset="-120"/>
              </a:rPr>
              <a:t>−0.020</a:t>
            </a:r>
            <a:endParaRPr lang="en-US" sz="1275" dirty="0"/>
          </a:p>
        </p:txBody>
      </p:sp>
      <p:sp>
        <p:nvSpPr>
          <p:cNvPr id="40" name="Text 30"/>
          <p:cNvSpPr txBox="1"/>
          <p:nvPr/>
        </p:nvSpPr>
        <p:spPr>
          <a:xfrm>
            <a:off x="15906902" y="4267505"/>
            <a:ext cx="1143000" cy="191110"/>
          </a:xfrm>
          <a:prstGeom prst="rect">
            <a:avLst/>
          </a:prstGeom>
          <a:noFill/>
          <a:ln/>
        </p:spPr>
        <p:txBody>
          <a:bodyPr wrap="none" lIns="0" tIns="0" rIns="0" bIns="0" rtlCol="0" anchor="ctr"/>
          <a:lstStyle/>
          <a:p>
            <a:pPr algn="ctr" indent="0" marL="0">
              <a:buNone/>
            </a:pPr>
            <a:r>
              <a:rPr lang="en-US" sz="1275" b="1" dirty="0">
                <a:solidFill>
                  <a:srgbClr val="047857"/>
                </a:solidFill>
                <a:latin typeface="Inter" pitchFamily="34" charset="0"/>
                <a:ea typeface="Inter" pitchFamily="34" charset="-122"/>
                <a:cs typeface="Inter" pitchFamily="34" charset="-120"/>
              </a:rPr>
              <a:t>+0.08</a:t>
            </a:r>
            <a:endParaRPr lang="en-US" sz="1275" dirty="0"/>
          </a:p>
        </p:txBody>
      </p:sp>
      <p:sp>
        <p:nvSpPr>
          <p:cNvPr id="41" name="Shape 31"/>
          <p:cNvSpPr/>
          <p:nvPr/>
        </p:nvSpPr>
        <p:spPr>
          <a:xfrm>
            <a:off x="12668098" y="4914900"/>
            <a:ext cx="4572000" cy="9144"/>
          </a:xfrm>
          <a:prstGeom prst="rect">
            <a:avLst/>
          </a:prstGeom>
          <a:solidFill>
            <a:srgbClr val="ECFDF5"/>
          </a:solidFill>
          <a:ln w="12700">
            <a:solidFill>
              <a:srgbClr val="ECFDF5">
                <a:alpha val="0"/>
              </a:srgbClr>
            </a:solidFill>
            <a:prstDash val="solid"/>
          </a:ln>
        </p:spPr>
      </p:sp>
      <p:sp>
        <p:nvSpPr>
          <p:cNvPr id="42" name="Text 32"/>
          <p:cNvSpPr txBox="1"/>
          <p:nvPr/>
        </p:nvSpPr>
        <p:spPr>
          <a:xfrm>
            <a:off x="12668098" y="4638751"/>
            <a:ext cx="2095805" cy="191110"/>
          </a:xfrm>
          <a:prstGeom prst="rect">
            <a:avLst/>
          </a:prstGeom>
          <a:noFill/>
          <a:ln/>
        </p:spPr>
        <p:txBody>
          <a:bodyPr wrap="none" lIns="0" tIns="0" rIns="0" bIns="0" rtlCol="0" anchor="ctr"/>
          <a:lstStyle/>
          <a:p>
            <a:pPr algn="l" indent="0" marL="0">
              <a:buNone/>
            </a:pPr>
            <a:r>
              <a:rPr lang="en-US" sz="1275" b="1" dirty="0">
                <a:solidFill>
                  <a:srgbClr val="0B1F18"/>
                </a:solidFill>
                <a:latin typeface="Inter" pitchFamily="34" charset="0"/>
                <a:ea typeface="Inter" pitchFamily="34" charset="-122"/>
                <a:cs typeface="Inter" pitchFamily="34" charset="-120"/>
              </a:rPr>
              <a:t>Line Rs avg</a:t>
            </a:r>
            <a:endParaRPr lang="en-US" sz="1275" dirty="0"/>
          </a:p>
        </p:txBody>
      </p:sp>
      <p:sp>
        <p:nvSpPr>
          <p:cNvPr id="43" name="Text 33"/>
          <p:cNvSpPr txBox="1"/>
          <p:nvPr/>
        </p:nvSpPr>
        <p:spPr>
          <a:xfrm>
            <a:off x="14763902" y="4638751"/>
            <a:ext cx="1143000" cy="191110"/>
          </a:xfrm>
          <a:prstGeom prst="rect">
            <a:avLst/>
          </a:prstGeom>
          <a:noFill/>
          <a:ln/>
        </p:spPr>
        <p:txBody>
          <a:bodyPr wrap="none" lIns="0" tIns="0" rIns="0" bIns="0" rtlCol="0" anchor="ctr"/>
          <a:lstStyle/>
          <a:p>
            <a:pPr algn="ctr" indent="0" marL="0">
              <a:buNone/>
            </a:pPr>
            <a:r>
              <a:rPr lang="en-US" sz="1275" b="1" dirty="0">
                <a:solidFill>
                  <a:srgbClr val="000000"/>
                </a:solidFill>
                <a:latin typeface="Inter" pitchFamily="34" charset="0"/>
                <a:ea typeface="Inter" pitchFamily="34" charset="-122"/>
                <a:cs typeface="Inter" pitchFamily="34" charset="-120"/>
              </a:rPr>
              <a:t>0.414</a:t>
            </a:r>
            <a:endParaRPr lang="en-US" sz="1275" dirty="0"/>
          </a:p>
        </p:txBody>
      </p:sp>
      <p:sp>
        <p:nvSpPr>
          <p:cNvPr id="44" name="Text 34"/>
          <p:cNvSpPr txBox="1"/>
          <p:nvPr/>
        </p:nvSpPr>
        <p:spPr>
          <a:xfrm>
            <a:off x="15906902" y="4638751"/>
            <a:ext cx="1143000" cy="191110"/>
          </a:xfrm>
          <a:prstGeom prst="rect">
            <a:avLst/>
          </a:prstGeom>
          <a:noFill/>
          <a:ln/>
        </p:spPr>
        <p:txBody>
          <a:bodyPr wrap="none" lIns="0" tIns="0" rIns="0" bIns="0" rtlCol="0" anchor="ctr"/>
          <a:lstStyle/>
          <a:p>
            <a:pPr algn="ctr" indent="0" marL="0">
              <a:buNone/>
            </a:pPr>
            <a:r>
              <a:rPr lang="en-US" sz="1275" b="1" dirty="0">
                <a:solidFill>
                  <a:srgbClr val="047857"/>
                </a:solidFill>
                <a:latin typeface="Inter" pitchFamily="34" charset="0"/>
                <a:ea typeface="Inter" pitchFamily="34" charset="-122"/>
                <a:cs typeface="Inter" pitchFamily="34" charset="-120"/>
              </a:rPr>
              <a:t>0.392</a:t>
            </a:r>
            <a:endParaRPr lang="en-US" sz="1275" dirty="0"/>
          </a:p>
        </p:txBody>
      </p:sp>
      <p:sp>
        <p:nvSpPr>
          <p:cNvPr id="45" name="Shape 35"/>
          <p:cNvSpPr/>
          <p:nvPr/>
        </p:nvSpPr>
        <p:spPr>
          <a:xfrm>
            <a:off x="12668098" y="5286146"/>
            <a:ext cx="4572000" cy="9144"/>
          </a:xfrm>
          <a:prstGeom prst="rect">
            <a:avLst/>
          </a:prstGeom>
          <a:solidFill>
            <a:srgbClr val="ECFDF5"/>
          </a:solidFill>
          <a:ln w="12700">
            <a:solidFill>
              <a:srgbClr val="ECFDF5">
                <a:alpha val="0"/>
              </a:srgbClr>
            </a:solidFill>
            <a:prstDash val="solid"/>
          </a:ln>
        </p:spPr>
      </p:sp>
      <p:sp>
        <p:nvSpPr>
          <p:cNvPr id="46" name="Text 36"/>
          <p:cNvSpPr txBox="1"/>
          <p:nvPr/>
        </p:nvSpPr>
        <p:spPr>
          <a:xfrm>
            <a:off x="12668098" y="5009998"/>
            <a:ext cx="2095805" cy="191110"/>
          </a:xfrm>
          <a:prstGeom prst="rect">
            <a:avLst/>
          </a:prstGeom>
          <a:noFill/>
          <a:ln/>
        </p:spPr>
        <p:txBody>
          <a:bodyPr wrap="none" lIns="0" tIns="0" rIns="0" bIns="0" rtlCol="0" anchor="ctr"/>
          <a:lstStyle/>
          <a:p>
            <a:pPr algn="l" indent="0" marL="0">
              <a:buNone/>
            </a:pPr>
            <a:r>
              <a:rPr lang="en-US" sz="1275" b="1" dirty="0">
                <a:solidFill>
                  <a:srgbClr val="0B1F18"/>
                </a:solidFill>
                <a:latin typeface="Inter" pitchFamily="34" charset="0"/>
                <a:ea typeface="Inter" pitchFamily="34" charset="-122"/>
                <a:cs typeface="Inter" pitchFamily="34" charset="-120"/>
              </a:rPr>
              <a:t>Via Rc avg</a:t>
            </a:r>
            <a:endParaRPr lang="en-US" sz="1275" dirty="0"/>
          </a:p>
        </p:txBody>
      </p:sp>
      <p:sp>
        <p:nvSpPr>
          <p:cNvPr id="47" name="Text 37"/>
          <p:cNvSpPr txBox="1"/>
          <p:nvPr/>
        </p:nvSpPr>
        <p:spPr>
          <a:xfrm>
            <a:off x="14763902" y="5009998"/>
            <a:ext cx="1143000" cy="191110"/>
          </a:xfrm>
          <a:prstGeom prst="rect">
            <a:avLst/>
          </a:prstGeom>
          <a:noFill/>
          <a:ln/>
        </p:spPr>
        <p:txBody>
          <a:bodyPr wrap="none" lIns="0" tIns="0" rIns="0" bIns="0" rtlCol="0" anchor="ctr"/>
          <a:lstStyle/>
          <a:p>
            <a:pPr algn="ctr" indent="0" marL="0">
              <a:buNone/>
            </a:pPr>
            <a:r>
              <a:rPr lang="en-US" sz="1275" b="1" dirty="0">
                <a:solidFill>
                  <a:srgbClr val="047857"/>
                </a:solidFill>
                <a:latin typeface="Inter" pitchFamily="34" charset="0"/>
                <a:ea typeface="Inter" pitchFamily="34" charset="-122"/>
                <a:cs typeface="Inter" pitchFamily="34" charset="-120"/>
              </a:rPr>
              <a:t>2.20</a:t>
            </a:r>
            <a:endParaRPr lang="en-US" sz="1275" dirty="0"/>
          </a:p>
        </p:txBody>
      </p:sp>
      <p:sp>
        <p:nvSpPr>
          <p:cNvPr id="48" name="Text 38"/>
          <p:cNvSpPr txBox="1"/>
          <p:nvPr/>
        </p:nvSpPr>
        <p:spPr>
          <a:xfrm>
            <a:off x="15906902" y="5009998"/>
            <a:ext cx="1143000" cy="191110"/>
          </a:xfrm>
          <a:prstGeom prst="rect">
            <a:avLst/>
          </a:prstGeom>
          <a:noFill/>
          <a:ln/>
        </p:spPr>
        <p:txBody>
          <a:bodyPr wrap="none" lIns="0" tIns="0" rIns="0" bIns="0" rtlCol="0" anchor="ctr"/>
          <a:lstStyle/>
          <a:p>
            <a:pPr algn="ctr" indent="0" marL="0">
              <a:buNone/>
            </a:pPr>
            <a:r>
              <a:rPr lang="en-US" sz="1275" b="1" dirty="0">
                <a:solidFill>
                  <a:srgbClr val="D97706"/>
                </a:solidFill>
                <a:latin typeface="Inter" pitchFamily="34" charset="0"/>
                <a:ea typeface="Inter" pitchFamily="34" charset="-122"/>
                <a:cs typeface="Inter" pitchFamily="34" charset="-120"/>
              </a:rPr>
              <a:t>2.37</a:t>
            </a:r>
            <a:endParaRPr lang="en-US" sz="1275" dirty="0"/>
          </a:p>
        </p:txBody>
      </p:sp>
      <p:sp>
        <p:nvSpPr>
          <p:cNvPr id="49" name="Text 39"/>
          <p:cNvSpPr txBox="1"/>
          <p:nvPr/>
        </p:nvSpPr>
        <p:spPr>
          <a:xfrm>
            <a:off x="12668098" y="5381244"/>
            <a:ext cx="2095805" cy="191110"/>
          </a:xfrm>
          <a:prstGeom prst="rect">
            <a:avLst/>
          </a:prstGeom>
          <a:noFill/>
          <a:ln/>
        </p:spPr>
        <p:txBody>
          <a:bodyPr wrap="none" lIns="0" tIns="0" rIns="0" bIns="0" rtlCol="0" anchor="ctr"/>
          <a:lstStyle/>
          <a:p>
            <a:pPr algn="l" indent="0" marL="0">
              <a:buNone/>
            </a:pPr>
            <a:r>
              <a:rPr lang="en-US" sz="1275" b="1" dirty="0">
                <a:solidFill>
                  <a:srgbClr val="0B1F18"/>
                </a:solidFill>
                <a:latin typeface="Inter" pitchFamily="34" charset="0"/>
                <a:ea typeface="Inter" pitchFamily="34" charset="-122"/>
                <a:cs typeface="Inter" pitchFamily="34" charset="-120"/>
              </a:rPr>
              <a:t>Leakage / Yield</a:t>
            </a:r>
            <a:endParaRPr lang="en-US" sz="1275" dirty="0"/>
          </a:p>
        </p:txBody>
      </p:sp>
      <p:sp>
        <p:nvSpPr>
          <p:cNvPr id="50" name="Text 40"/>
          <p:cNvSpPr txBox="1"/>
          <p:nvPr/>
        </p:nvSpPr>
        <p:spPr>
          <a:xfrm>
            <a:off x="14763902" y="5381244"/>
            <a:ext cx="1143000" cy="191110"/>
          </a:xfrm>
          <a:prstGeom prst="rect">
            <a:avLst/>
          </a:prstGeom>
          <a:noFill/>
          <a:ln/>
        </p:spPr>
        <p:txBody>
          <a:bodyPr wrap="none" lIns="0" tIns="0" rIns="0" bIns="0" rtlCol="0" anchor="ctr"/>
          <a:lstStyle/>
          <a:p>
            <a:pPr algn="ctr" indent="0" marL="0">
              <a:buNone/>
            </a:pPr>
            <a:r>
              <a:rPr lang="en-US" sz="1275" b="1" dirty="0">
                <a:solidFill>
                  <a:srgbClr val="000000"/>
                </a:solidFill>
                <a:latin typeface="Inter" pitchFamily="34" charset="0"/>
                <a:ea typeface="Inter" pitchFamily="34" charset="-122"/>
                <a:cs typeface="Inter" pitchFamily="34" charset="-120"/>
              </a:rPr>
              <a:t>5.48 / 98.3</a:t>
            </a:r>
            <a:endParaRPr lang="en-US" sz="1275" dirty="0"/>
          </a:p>
        </p:txBody>
      </p:sp>
      <p:sp>
        <p:nvSpPr>
          <p:cNvPr id="51" name="Text 41"/>
          <p:cNvSpPr txBox="1"/>
          <p:nvPr/>
        </p:nvSpPr>
        <p:spPr>
          <a:xfrm>
            <a:off x="15906902" y="5381244"/>
            <a:ext cx="1143000" cy="191110"/>
          </a:xfrm>
          <a:prstGeom prst="rect">
            <a:avLst/>
          </a:prstGeom>
          <a:noFill/>
          <a:ln/>
        </p:spPr>
        <p:txBody>
          <a:bodyPr wrap="none" lIns="0" tIns="0" rIns="0" bIns="0" rtlCol="0" anchor="ctr"/>
          <a:lstStyle/>
          <a:p>
            <a:pPr algn="ctr" indent="0" marL="0">
              <a:buNone/>
            </a:pPr>
            <a:r>
              <a:rPr lang="en-US" sz="1275" b="1" dirty="0">
                <a:solidFill>
                  <a:srgbClr val="D97706"/>
                </a:solidFill>
                <a:latin typeface="Inter" pitchFamily="34" charset="0"/>
                <a:ea typeface="Inter" pitchFamily="34" charset="-122"/>
                <a:cs typeface="Inter" pitchFamily="34" charset="-120"/>
              </a:rPr>
              <a:t>7.08 / 95.6</a:t>
            </a:r>
            <a:endParaRPr lang="en-US" sz="1275" dirty="0"/>
          </a:p>
        </p:txBody>
      </p:sp>
      <p:sp>
        <p:nvSpPr>
          <p:cNvPr id="52" name="Text 42"/>
          <p:cNvSpPr txBox="1"/>
          <p:nvPr/>
        </p:nvSpPr>
        <p:spPr>
          <a:xfrm>
            <a:off x="12668098" y="6439205"/>
            <a:ext cx="4572000" cy="181051"/>
          </a:xfrm>
          <a:prstGeom prst="rect">
            <a:avLst/>
          </a:prstGeom>
          <a:noFill/>
          <a:ln/>
        </p:spPr>
        <p:txBody>
          <a:bodyPr wrap="none" lIns="0" tIns="0" rIns="0" bIns="0" rtlCol="0" anchor="ctr"/>
          <a:lstStyle/>
          <a:p>
            <a:pPr algn="l" indent="0" marL="0">
              <a:buNone/>
            </a:pPr>
            <a:r>
              <a:rPr lang="en-US" sz="975" b="1" spc="156" kern="0" dirty="0">
                <a:solidFill>
                  <a:srgbClr val="A7F3D0"/>
                </a:solidFill>
                <a:latin typeface="Inter" pitchFamily="34" charset="0"/>
                <a:ea typeface="Inter" pitchFamily="34" charset="-122"/>
                <a:cs typeface="Inter" pitchFamily="34" charset="-120"/>
              </a:rPr>
              <a:t>종합 score (dummy weight 동일 가정)</a:t>
            </a:r>
            <a:endParaRPr lang="en-US" sz="975" dirty="0"/>
          </a:p>
        </p:txBody>
      </p:sp>
      <p:sp>
        <p:nvSpPr>
          <p:cNvPr id="53" name="Text 43"/>
          <p:cNvSpPr txBox="1"/>
          <p:nvPr/>
        </p:nvSpPr>
        <p:spPr>
          <a:xfrm>
            <a:off x="12668098" y="6791249"/>
            <a:ext cx="638251" cy="152705"/>
          </a:xfrm>
          <a:prstGeom prst="rect">
            <a:avLst/>
          </a:prstGeom>
          <a:noFill/>
          <a:ln/>
        </p:spPr>
        <p:txBody>
          <a:bodyPr wrap="none" lIns="0" tIns="0" rIns="0" bIns="0" rtlCol="0" anchor="ctr"/>
          <a:lstStyle/>
          <a:p>
            <a:pPr algn="l" indent="0" marL="0">
              <a:buNone/>
            </a:pPr>
            <a:r>
              <a:rPr lang="en-US" sz="975" dirty="0">
                <a:solidFill>
                  <a:srgbClr val="A7F3D0"/>
                </a:solidFill>
                <a:latin typeface="Inter" pitchFamily="34" charset="0"/>
                <a:ea typeface="Inter" pitchFamily="34" charset="-122"/>
                <a:cs typeface="Inter" pitchFamily="34" charset="-120"/>
              </a:rPr>
              <a:t>Split A</a:t>
            </a:r>
            <a:endParaRPr lang="en-US" sz="975" dirty="0"/>
          </a:p>
        </p:txBody>
      </p:sp>
      <p:sp>
        <p:nvSpPr>
          <p:cNvPr id="54" name="Text 44"/>
          <p:cNvSpPr txBox="1"/>
          <p:nvPr/>
        </p:nvSpPr>
        <p:spPr>
          <a:xfrm>
            <a:off x="12668098" y="6981444"/>
            <a:ext cx="638251" cy="514807"/>
          </a:xfrm>
          <a:prstGeom prst="rect">
            <a:avLst/>
          </a:prstGeom>
          <a:noFill/>
          <a:ln/>
        </p:spPr>
        <p:txBody>
          <a:bodyPr wrap="none" lIns="0" tIns="0" rIns="0" bIns="0" rtlCol="0" anchor="ctr"/>
          <a:lstStyle/>
          <a:p>
            <a:pPr algn="l" indent="0" marL="0">
              <a:buNone/>
            </a:pPr>
            <a:r>
              <a:rPr lang="en-US" sz="4050" b="1" dirty="0">
                <a:solidFill>
                  <a:srgbClr val="FFFFFF"/>
                </a:solidFill>
                <a:latin typeface="Inter" pitchFamily="34" charset="0"/>
                <a:ea typeface="Inter" pitchFamily="34" charset="-122"/>
                <a:cs typeface="Inter" pitchFamily="34" charset="-120"/>
              </a:rPr>
              <a:t>4</a:t>
            </a:r>
            <a:endParaRPr lang="en-US" sz="4050" dirty="0"/>
          </a:p>
        </p:txBody>
      </p:sp>
      <p:sp>
        <p:nvSpPr>
          <p:cNvPr id="55" name="Text 45"/>
          <p:cNvSpPr txBox="1"/>
          <p:nvPr/>
        </p:nvSpPr>
        <p:spPr>
          <a:xfrm>
            <a:off x="12668098" y="7496251"/>
            <a:ext cx="854050" cy="181051"/>
          </a:xfrm>
          <a:prstGeom prst="rect">
            <a:avLst/>
          </a:prstGeom>
          <a:noFill/>
          <a:ln/>
        </p:spPr>
        <p:txBody>
          <a:bodyPr wrap="none" lIns="0" tIns="0" rIns="0" bIns="0" rtlCol="0" anchor="ctr"/>
          <a:lstStyle/>
          <a:p>
            <a:pPr algn="l" indent="0" marL="0">
              <a:buNone/>
            </a:pPr>
            <a:r>
              <a:rPr lang="en-US" sz="975" dirty="0">
                <a:solidFill>
                  <a:srgbClr val="A7F3D0"/>
                </a:solidFill>
                <a:latin typeface="Inter" pitchFamily="34" charset="0"/>
                <a:ea typeface="Inter" pitchFamily="34" charset="-122"/>
                <a:cs typeface="Inter" pitchFamily="34" charset="-120"/>
              </a:rPr>
              <a:t>metric 우세</a:t>
            </a:r>
            <a:endParaRPr lang="en-US" sz="975" dirty="0"/>
          </a:p>
        </p:txBody>
      </p:sp>
      <p:sp>
        <p:nvSpPr>
          <p:cNvPr id="56" name="Text 46"/>
          <p:cNvSpPr txBox="1"/>
          <p:nvPr/>
        </p:nvSpPr>
        <p:spPr>
          <a:xfrm>
            <a:off x="13529462" y="6791249"/>
            <a:ext cx="638251" cy="152705"/>
          </a:xfrm>
          <a:prstGeom prst="rect">
            <a:avLst/>
          </a:prstGeom>
          <a:noFill/>
          <a:ln/>
        </p:spPr>
        <p:txBody>
          <a:bodyPr wrap="none" lIns="0" tIns="0" rIns="0" bIns="0" rtlCol="0" anchor="ctr"/>
          <a:lstStyle/>
          <a:p>
            <a:pPr algn="l" indent="0" marL="0">
              <a:buNone/>
            </a:pPr>
            <a:r>
              <a:rPr lang="en-US" sz="975" dirty="0">
                <a:solidFill>
                  <a:srgbClr val="A7F3D0"/>
                </a:solidFill>
                <a:latin typeface="Inter" pitchFamily="34" charset="0"/>
                <a:ea typeface="Inter" pitchFamily="34" charset="-122"/>
                <a:cs typeface="Inter" pitchFamily="34" charset="-120"/>
              </a:rPr>
              <a:t>Split B</a:t>
            </a:r>
            <a:endParaRPr lang="en-US" sz="975" dirty="0"/>
          </a:p>
        </p:txBody>
      </p:sp>
      <p:sp>
        <p:nvSpPr>
          <p:cNvPr id="57" name="Text 47"/>
          <p:cNvSpPr txBox="1"/>
          <p:nvPr/>
        </p:nvSpPr>
        <p:spPr>
          <a:xfrm>
            <a:off x="13529462" y="6981444"/>
            <a:ext cx="638251" cy="514807"/>
          </a:xfrm>
          <a:prstGeom prst="rect">
            <a:avLst/>
          </a:prstGeom>
          <a:noFill/>
          <a:ln/>
        </p:spPr>
        <p:txBody>
          <a:bodyPr wrap="none" lIns="0" tIns="0" rIns="0" bIns="0" rtlCol="0" anchor="ctr"/>
          <a:lstStyle/>
          <a:p>
            <a:pPr algn="l" indent="0" marL="0">
              <a:buNone/>
            </a:pPr>
            <a:r>
              <a:rPr lang="en-US" sz="4050" b="1" dirty="0">
                <a:solidFill>
                  <a:srgbClr val="FFFFFF"/>
                </a:solidFill>
                <a:latin typeface="Inter" pitchFamily="34" charset="0"/>
                <a:ea typeface="Inter" pitchFamily="34" charset="-122"/>
                <a:cs typeface="Inter" pitchFamily="34" charset="-120"/>
              </a:rPr>
              <a:t>1</a:t>
            </a:r>
            <a:endParaRPr lang="en-US" sz="4050" dirty="0"/>
          </a:p>
        </p:txBody>
      </p:sp>
      <p:sp>
        <p:nvSpPr>
          <p:cNvPr id="58" name="Text 48"/>
          <p:cNvSpPr txBox="1"/>
          <p:nvPr/>
        </p:nvSpPr>
        <p:spPr>
          <a:xfrm>
            <a:off x="13529462" y="7496251"/>
            <a:ext cx="854050" cy="181051"/>
          </a:xfrm>
          <a:prstGeom prst="rect">
            <a:avLst/>
          </a:prstGeom>
          <a:noFill/>
          <a:ln/>
        </p:spPr>
        <p:txBody>
          <a:bodyPr wrap="none" lIns="0" tIns="0" rIns="0" bIns="0" rtlCol="0" anchor="ctr"/>
          <a:lstStyle/>
          <a:p>
            <a:pPr algn="l" indent="0" marL="0">
              <a:buNone/>
            </a:pPr>
            <a:r>
              <a:rPr lang="en-US" sz="975" dirty="0">
                <a:solidFill>
                  <a:srgbClr val="A7F3D0"/>
                </a:solidFill>
                <a:latin typeface="Inter" pitchFamily="34" charset="0"/>
                <a:ea typeface="Inter" pitchFamily="34" charset="-122"/>
                <a:cs typeface="Inter" pitchFamily="34" charset="-120"/>
              </a:rPr>
              <a:t>metric 우세</a:t>
            </a:r>
            <a:endParaRPr lang="en-US" sz="975" dirty="0"/>
          </a:p>
        </p:txBody>
      </p:sp>
      <p:sp>
        <p:nvSpPr>
          <p:cNvPr id="59" name="Text 49"/>
          <p:cNvSpPr txBox="1"/>
          <p:nvPr/>
        </p:nvSpPr>
        <p:spPr>
          <a:xfrm>
            <a:off x="14390827" y="6791249"/>
            <a:ext cx="384962" cy="181051"/>
          </a:xfrm>
          <a:prstGeom prst="rect">
            <a:avLst/>
          </a:prstGeom>
          <a:noFill/>
          <a:ln/>
        </p:spPr>
        <p:txBody>
          <a:bodyPr wrap="none" lIns="0" tIns="0" rIns="0" bIns="0" rtlCol="0" anchor="ctr"/>
          <a:lstStyle/>
          <a:p>
            <a:pPr algn="l" indent="0" marL="0">
              <a:buNone/>
            </a:pPr>
            <a:r>
              <a:rPr lang="en-US" sz="975" dirty="0">
                <a:solidFill>
                  <a:srgbClr val="A7F3D0"/>
                </a:solidFill>
                <a:latin typeface="Inter" pitchFamily="34" charset="0"/>
                <a:ea typeface="Inter" pitchFamily="34" charset="-122"/>
                <a:cs typeface="Inter" pitchFamily="34" charset="-120"/>
              </a:rPr>
              <a:t>무승부</a:t>
            </a:r>
            <a:endParaRPr lang="en-US" sz="975" dirty="0"/>
          </a:p>
        </p:txBody>
      </p:sp>
      <p:sp>
        <p:nvSpPr>
          <p:cNvPr id="60" name="Text 50"/>
          <p:cNvSpPr txBox="1"/>
          <p:nvPr/>
        </p:nvSpPr>
        <p:spPr>
          <a:xfrm>
            <a:off x="14390827" y="7010705"/>
            <a:ext cx="342900" cy="514807"/>
          </a:xfrm>
          <a:prstGeom prst="rect">
            <a:avLst/>
          </a:prstGeom>
          <a:noFill/>
          <a:ln/>
        </p:spPr>
        <p:txBody>
          <a:bodyPr wrap="none" lIns="0" tIns="0" rIns="0" bIns="0" rtlCol="0" anchor="ctr"/>
          <a:lstStyle/>
          <a:p>
            <a:pPr algn="l" indent="0" marL="0">
              <a:buNone/>
            </a:pPr>
            <a:r>
              <a:rPr lang="en-US" sz="4050" b="1" dirty="0">
                <a:solidFill>
                  <a:srgbClr val="6EE7B7"/>
                </a:solidFill>
                <a:latin typeface="Inter" pitchFamily="34" charset="0"/>
                <a:ea typeface="Inter" pitchFamily="34" charset="-122"/>
                <a:cs typeface="Inter" pitchFamily="34" charset="-120"/>
              </a:rPr>
              <a:t>2</a:t>
            </a:r>
            <a:endParaRPr lang="en-US" sz="4050" dirty="0"/>
          </a:p>
        </p:txBody>
      </p:sp>
      <p:sp>
        <p:nvSpPr>
          <p:cNvPr id="61" name="Text 51"/>
          <p:cNvSpPr txBox="1"/>
          <p:nvPr/>
        </p:nvSpPr>
        <p:spPr>
          <a:xfrm>
            <a:off x="14390827" y="7524598"/>
            <a:ext cx="342900" cy="152705"/>
          </a:xfrm>
          <a:prstGeom prst="rect">
            <a:avLst/>
          </a:prstGeom>
          <a:noFill/>
          <a:ln/>
        </p:spPr>
        <p:txBody>
          <a:bodyPr wrap="none" lIns="0" tIns="0" rIns="0" bIns="0" rtlCol="0" anchor="ctr"/>
          <a:lstStyle/>
          <a:p>
            <a:pPr algn="l" indent="0" marL="0">
              <a:buNone/>
            </a:pPr>
            <a:r>
              <a:rPr lang="en-US" sz="975" dirty="0">
                <a:solidFill>
                  <a:srgbClr val="A7F3D0"/>
                </a:solidFill>
                <a:latin typeface="Inter" pitchFamily="34" charset="0"/>
                <a:ea typeface="Inter" pitchFamily="34" charset="-122"/>
                <a:cs typeface="Inter" pitchFamily="34" charset="-120"/>
              </a:rPr>
              <a:t>ties</a:t>
            </a:r>
            <a:endParaRPr lang="en-US" sz="975" dirty="0"/>
          </a:p>
        </p:txBody>
      </p:sp>
      <p:sp>
        <p:nvSpPr>
          <p:cNvPr id="62" name="Text 52"/>
          <p:cNvSpPr txBox="1"/>
          <p:nvPr/>
        </p:nvSpPr>
        <p:spPr>
          <a:xfrm>
            <a:off x="1143000" y="8229600"/>
            <a:ext cx="16193110" cy="124358"/>
          </a:xfrm>
          <a:prstGeom prst="rect">
            <a:avLst/>
          </a:prstGeom>
          <a:noFill/>
          <a:ln/>
        </p:spPr>
        <p:txBody>
          <a:bodyPr wrap="none" lIns="0" tIns="0" rIns="0" bIns="0" rtlCol="0" anchor="ctr"/>
          <a:lstStyle/>
          <a:p>
            <a:pPr algn="l" indent="0" marL="0">
              <a:buNone/>
            </a:pPr>
            <a:r>
              <a:rPr lang="en-US" sz="975" b="1" spc="176" kern="0" dirty="0">
                <a:solidFill>
                  <a:srgbClr val="047857"/>
                </a:solidFill>
                <a:latin typeface="Inter" pitchFamily="34" charset="0"/>
                <a:ea typeface="Inter" pitchFamily="34" charset="-122"/>
                <a:cs typeface="Inter" pitchFamily="34" charset="-120"/>
              </a:rPr>
              <a:t>KEY TAKEAWAY</a:t>
            </a:r>
            <a:endParaRPr lang="en-US" sz="975" dirty="0"/>
          </a:p>
        </p:txBody>
      </p:sp>
      <p:sp>
        <p:nvSpPr>
          <p:cNvPr id="63" name="Text 53"/>
          <p:cNvSpPr txBox="1"/>
          <p:nvPr/>
        </p:nvSpPr>
        <p:spPr>
          <a:xfrm>
            <a:off x="1143000" y="8410651"/>
            <a:ext cx="16193110" cy="619963"/>
          </a:xfrm>
          <a:prstGeom prst="rect">
            <a:avLst/>
          </a:prstGeom>
          <a:noFill/>
          <a:ln/>
        </p:spPr>
        <p:txBody>
          <a:bodyPr wrap="square" lIns="0" tIns="0" rIns="0" bIns="0" rtlCol="0" anchor="ctr"/>
          <a:lstStyle/>
          <a:p>
            <a:pPr algn="l" indent="0" marL="0">
              <a:lnSpc>
                <a:spcPct val="135000"/>
              </a:lnSpc>
              <a:buNone/>
            </a:pPr>
            <a:r>
              <a:rPr lang="en-US" sz="1800" b="1" dirty="0">
                <a:solidFill>
                  <a:srgbClr val="0B1F18"/>
                </a:solidFill>
                <a:latin typeface="Inter" pitchFamily="34" charset="0"/>
                <a:ea typeface="Inter" pitchFamily="34" charset="-122"/>
                <a:cs typeface="Inter" pitchFamily="34" charset="-120"/>
              </a:rPr>
              <a:t>dummy 데이터상 Split A (TiN)는 4 metric 우세, Split B (MF SiN)는 Line Rs 1개 metric 우세 — 동일 가중치 가정 시 A 종합 우세로 기록 (실무 가중치는 별도 협의 필요).</a:t>
            </a:r>
            <a:endParaRPr lang="en-US" sz="1800" dirty="0"/>
          </a:p>
        </p:txBody>
      </p:sp>
      <p:sp>
        <p:nvSpPr>
          <p:cNvPr id="64" name="Text 54"/>
          <p:cNvSpPr txBox="1"/>
          <p:nvPr/>
        </p:nvSpPr>
        <p:spPr>
          <a:xfrm>
            <a:off x="857707" y="9924898"/>
            <a:ext cx="16573500" cy="247802"/>
          </a:xfrm>
          <a:prstGeom prst="rect">
            <a:avLst/>
          </a:prstGeom>
          <a:noFill/>
          <a:ln/>
        </p:spPr>
        <p:txBody>
          <a:bodyPr wrap="square" lIns="0" tIns="0" rIns="0" bIns="0" rtlCol="0" anchor="ctr"/>
          <a:lstStyle/>
          <a:p>
            <a:pPr algn="l" indent="0" marL="0">
              <a:buNone/>
            </a:pPr>
            <a:r>
              <a:rPr lang="en-US" sz="1350" dirty="0">
                <a:solidFill>
                  <a:srgbClr val="6B7280"/>
                </a:solidFill>
                <a:latin typeface="Inter" pitchFamily="34" charset="0"/>
                <a:ea typeface="Inter" pitchFamily="34" charset="-122"/>
                <a:cs typeface="Inter" pitchFamily="34" charset="-120"/>
              </a:rPr>
              <a:t>※ 내부 테스트용 더미(가상) 데이터</a:t>
            </a:r>
            <a:pPr algn="l" indent="0" marL="0">
              <a:buNone/>
            </a:pPr>
            <a:r>
              <a:rPr lang="en-US" sz="1350" dirty="0">
                <a:solidFill>
                  <a:srgbClr val="6B7280"/>
                </a:solidFill>
                <a:latin typeface="Inter" pitchFamily="34" charset="0"/>
                <a:ea typeface="Inter" pitchFamily="34" charset="-122"/>
                <a:cs typeface="Inter" pitchFamily="34" charset="-120"/>
              </a:rPr>
              <a:t>09 / 09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2026-10-03T16:10:07Z</dcterms:created>
  <dcterms:modified xsi:type="dcterms:W3CDTF">2026-10-03T16:10:07Z</dcterms:modified>
</cp:coreProperties>
</file>