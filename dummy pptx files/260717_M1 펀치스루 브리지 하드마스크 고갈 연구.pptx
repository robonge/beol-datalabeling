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15c244d3-ea28-8bb2-be02-fb8edfbae930}">
          <p14:sldIdLst>
            <p14:sldId id="256"/>
            <p14:sldId id="257"/>
            <p14:sldId id="258"/>
            <p14:sldId id="260"/>
            <p14:sldId id="261"/>
          </p14:sldIdLst>
        </p14:section>
        <p14:section name="일정" id="{ac18ba28-288d-3964-3b9a-6fef58b0e6a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Comb 누설 전류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TDDB TTF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image" Target="../media/image-3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고갈 및 식각 손상에 의한 Metal Short · 기전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trench_xsec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174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443356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단면 TEM (기준 / 에어갭 제외 / 포함) — 유사 구조 참고,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799972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마이크로마스킹 잔류물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129156"/>
            <a:ext cx="3367735" cy="304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검증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검증 방법과 결과 · 교차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11277295" cy="914400"/>
        </p:xfrm>
        <a:graphic>
          <a:graphicData uri="http://schemas.openxmlformats.org/drawingml/2006/table">
            <a:tbl>
              <a:tblPr/>
              <a:tblGrid>
                <a:gridCol w="1679753"/>
                <a:gridCol w="3838651"/>
                <a:gridCol w="5758891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 정리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11277295" cy="914400"/>
        </p:xfrm>
        <a:graphic>
          <a:graphicData uri="http://schemas.openxmlformats.org/drawingml/2006/table">
            <a:tbl>
              <a:tblPr/>
              <a:tblGrid>
                <a:gridCol w="3096158"/>
                <a:gridCol w="6633972"/>
                <a:gridCol w="1548079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누설 전류 급증과 TDDB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pic>
        <p:nvPicPr>
          <p:cNvPr id="9" name="Image 0" descr="/tmp/claude-0/-home-claude/e70767da-955c-5cc3-beb4-741bbeefa4c6/scratchpad/img/ru_lines_te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3291840" cy="136761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575673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패터닝된 금속 배선 단면 TEM (AR 2.2–3.8) — 유사 구조 참고, CC BY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4114800" y="4343400"/>
            <a:ext cx="2296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누설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114800" y="4690872"/>
            <a:ext cx="2296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펀치스루 영역 수백 배 급증, Hard Short 시 수율 0%.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776618" y="4343400"/>
            <a:ext cx="2296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TTF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776618" y="4690872"/>
            <a:ext cx="2296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손상 유전막 친수성 경로로 Cu⁺ 드리프트 가속 → 수십 배 단축.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9438437" y="4343400"/>
            <a:ext cx="2296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단면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438437" y="4690872"/>
            <a:ext cx="2296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좁은 패턴일수록 Shoulder 침식, Defect adder 증가.</a:t>
            </a:r>
            <a:endParaRPr lang="en-US" sz="1050" dirty="0"/>
          </a:p>
        </p:txBody>
      </p:sp>
      <p:sp>
        <p:nvSpPr>
          <p:cNvPr id="17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플라즈마 손상 → 펀치스루 → 브릿지, 세 스텝 판독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cu_lines_cosi_xs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119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34095" y="24452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에어갭 영역 CU 배선 단면 (무보호 VS COSI 보호) — 유사 구조 참고, CC BY ELECTRONICS 2019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Low-k 플라즈마 손상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다공성 SiCOH의 Si-CH₃가 O₂·플루오로카본 플라즈마에 노출되면 Si-OH로 전환 — 유전율 급증, 누설 증가. MHM(TiN/TaN)이 이를 막지만 ARDE 과식각 중 모서리에서 침식.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1378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9978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179978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CD 확장과 펀치스루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79978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소실 영역의 Low-k가 직접 노출 → 트렌치 CD 확장, 측벽 거칠기. 미세 피치에서 스페이스 절연막이 완전히 식각되어 이웃 트렌치가 병합.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74157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02757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02757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브릿지 형성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02757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PVD 배리어/시드 + ECP가 병합 구조를 채워 금속 브릿지 → Metal Short. 옥사이드 마스크 마이크로마스킹은 잔류물·금속 섬을 남겨 후속 층과 단락.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771113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5513832"/>
            <a:ext cx="7711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주요 수치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주요 수치와 판독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6B5E"/>
                </a:solidFill>
              </a:rPr>
              <a:t>수백 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Comb 누설 급증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276524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85B6"/>
                </a:solidFill>
              </a:rPr>
              <a:t>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76524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Hard Short 수율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</a:rPr>
              <a:t>수십 배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15171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32 nm~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15171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MHM 적용 세대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2116836"/>
                <a:gridCol w="4536338"/>
                <a:gridCol w="10579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442655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42655" y="2679192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두께 마진 = 최우선 선결 조건.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FTIR/XPS 탄소 고갈층 정량화 병행.</a:t>
            </a:r>
            <a:endParaRPr lang="en-US" sz="1050" dirty="0"/>
          </a:p>
        </p:txBody>
      </p:sp>
      <p:sp>
        <p:nvSpPr>
          <p:cNvPr id="17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Punchthrough Bridge Full Study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