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761695"/>
            <a:ext cx="9334195" cy="7239305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195" y="6286500"/>
            <a:ext cx="3619195" cy="1714500"/>
          </a:xfrm>
          <a:prstGeom prst="rect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87500" y="6286500"/>
            <a:ext cx="3238805" cy="1714500"/>
          </a:xfrm>
          <a:prstGeom prst="rect">
            <a:avLst/>
          </a:prstGeom>
          <a:solidFill>
            <a:srgbClr val="3D5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8382305"/>
            <a:ext cx="3238805" cy="1333195"/>
          </a:xfrm>
          <a:prstGeom prst="rect">
            <a:avLst/>
          </a:prstGeom>
          <a:solidFill>
            <a:srgbClr val="D6CB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90695" y="8382305"/>
            <a:ext cx="2286000" cy="1333195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7805" y="8382305"/>
            <a:ext cx="3619195" cy="1333195"/>
          </a:xfrm>
          <a:prstGeom prst="rect">
            <a:avLst/>
          </a:prstGeom>
          <a:solidFill>
            <a:srgbClr val="8C3F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77195" y="8382305"/>
            <a:ext cx="3657600" cy="1371600"/>
          </a:xfrm>
          <a:prstGeom prst="rect">
            <a:avLst/>
          </a:prstGeom>
          <a:solidFill>
            <a:srgbClr val="ECE3CE"/>
          </a:solidFill>
          <a:ln w="25400">
            <a:solidFill>
              <a:srgbClr val="1B23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87500" y="8382305"/>
            <a:ext cx="3238805" cy="1333195"/>
          </a:xfrm>
          <a:prstGeom prst="rect">
            <a:avLst/>
          </a:prstGeom>
          <a:solidFill>
            <a:srgbClr val="1B23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dd3530a79c92fec47e886b618c28379a.png">    </p:cNvPr>
          <p:cNvPicPr>
            <a:picLocks noChangeAspect="1"/>
          </p:cNvPicPr>
          <p:nvPr/>
        </p:nvPicPr>
        <p:blipFill>
          <a:blip r:embed="rId1"/>
          <a:srcRect l="0" r="0" t="-52" b="-52"/>
          <a:stretch/>
        </p:blipFill>
        <p:spPr>
          <a:xfrm>
            <a:off x="761695" y="1238098"/>
            <a:ext cx="1619402" cy="133502"/>
          </a:xfrm>
          <a:prstGeom prst="rect">
            <a:avLst/>
          </a:prstGeom>
        </p:spPr>
      </p:pic>
      <p:pic>
        <p:nvPicPr>
          <p:cNvPr id="11" name="Image 1" descr="gen-dedup-df5a8e57db585d4570518efdebf26474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1333195" y="6476695"/>
            <a:ext cx="2286000" cy="28346"/>
          </a:xfrm>
          <a:prstGeom prst="rect">
            <a:avLst/>
          </a:prstGeom>
        </p:spPr>
      </p:pic>
      <p:pic>
        <p:nvPicPr>
          <p:cNvPr id="12" name="Image 2" descr="gen-dedup-e41198236861e021776f0cdcfe17d0aa.png">    </p:cNvPr>
          <p:cNvPicPr>
            <a:picLocks noChangeAspect="1"/>
          </p:cNvPicPr>
          <p:nvPr/>
        </p:nvPicPr>
        <p:blipFill>
          <a:blip r:embed="rId3"/>
          <a:srcRect l="-398" r="-398" t="0" b="0"/>
          <a:stretch/>
        </p:blipFill>
        <p:spPr>
          <a:xfrm>
            <a:off x="10287000" y="761695"/>
            <a:ext cx="19202" cy="72393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53305" y="8667598"/>
            <a:ext cx="761695" cy="761695"/>
          </a:xfrm>
          <a:prstGeom prst="ellipse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gen-dedup-69a4cbd1711f0697261a06453683ab7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195" y="761695"/>
            <a:ext cx="7048195" cy="49533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33195" y="2286000"/>
            <a:ext cx="8382305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200" b="1" spc="-108" kern="0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지표로 본</a:t>
            </a:r>
            <a:pPr algn="l" indent="0" marL="0">
              <a:lnSpc>
                <a:spcPct val="106000"/>
              </a:lnSpc>
              <a:buNone/>
            </a:pPr>
            <a:endParaRPr lang="en-US" sz="7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7200" b="1" spc="-108" kern="0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후보군</a:t>
            </a:r>
            <a:endParaRPr lang="en-US" sz="7200" dirty="0"/>
          </a:p>
        </p:txBody>
      </p:sp>
      <p:sp>
        <p:nvSpPr>
          <p:cNvPr id="16" name="Text 10"/>
          <p:cNvSpPr txBox="1"/>
          <p:nvPr/>
        </p:nvSpPr>
        <p:spPr>
          <a:xfrm>
            <a:off x="1333195" y="6715354"/>
            <a:ext cx="83823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D6CBA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0477195" y="5857646"/>
            <a:ext cx="7049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" kern="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— imec, semi-damascene cross-section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761695"/>
            <a:ext cx="16763695" cy="1714500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efe46aef22586bf405d3af8ff700690b.png">    </p:cNvPr>
          <p:cNvPicPr>
            <a:picLocks noChangeAspect="1"/>
          </p:cNvPicPr>
          <p:nvPr/>
        </p:nvPicPr>
        <p:blipFill>
          <a:blip r:embed="rId1"/>
          <a:srcRect l="0" r="0" t="-401" b="-401"/>
          <a:stretch/>
        </p:blipFill>
        <p:spPr>
          <a:xfrm>
            <a:off x="761695" y="7524598"/>
            <a:ext cx="16763695" cy="192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67598" y="2857500"/>
            <a:ext cx="8896198" cy="2324405"/>
          </a:xfrm>
          <a:prstGeom prst="rect">
            <a:avLst/>
          </a:prstGeom>
          <a:solidFill>
            <a:srgbClr val="ECE3CE"/>
          </a:solidFill>
          <a:ln w="25400">
            <a:solidFill>
              <a:srgbClr val="1B232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67598" y="5333695"/>
            <a:ext cx="8858707" cy="1619402"/>
          </a:xfrm>
          <a:prstGeom prst="rect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7715707"/>
            <a:ext cx="2190902" cy="1904695"/>
          </a:xfrm>
          <a:prstGeom prst="rect">
            <a:avLst/>
          </a:prstGeom>
          <a:solidFill>
            <a:srgbClr val="3D5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143707" y="8096098"/>
            <a:ext cx="2190902" cy="1524305"/>
          </a:xfrm>
          <a:prstGeom prst="rect">
            <a:avLst/>
          </a:prstGeom>
          <a:solidFill>
            <a:srgbClr val="D6CB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24805" y="7905902"/>
            <a:ext cx="2190902" cy="1714500"/>
          </a:xfrm>
          <a:prstGeom prst="rect">
            <a:avLst/>
          </a:prstGeom>
          <a:solidFill>
            <a:srgbClr val="D6CB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05902" y="7715707"/>
            <a:ext cx="2190902" cy="1904695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87000" y="7524598"/>
            <a:ext cx="2190902" cy="2095805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68098" y="7334402"/>
            <a:ext cx="2190902" cy="2286000"/>
          </a:xfrm>
          <a:prstGeom prst="rect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049195" y="7715707"/>
            <a:ext cx="2514600" cy="1943100"/>
          </a:xfrm>
          <a:prstGeom prst="rect">
            <a:avLst/>
          </a:prstGeom>
          <a:solidFill>
            <a:srgbClr val="ECE3CE"/>
          </a:solidFill>
          <a:ln w="25400">
            <a:solidFill>
              <a:srgbClr val="1B23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002000" y="2048256"/>
            <a:ext cx="1238098" cy="209398"/>
          </a:xfrm>
          <a:prstGeom prst="rect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07dd9094c2c87c6df8445a371fbd37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2857500"/>
            <a:ext cx="7524598" cy="409559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33195" y="1143000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패터닝·집적: 다마신을 버리고 금속을 직접 긎는다</a:t>
            </a:r>
            <a:endParaRPr lang="en-US" sz="405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7048195"/>
            <a:ext cx="7525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" kern="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— imec, 18 nm pitch semi-damascene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048902" y="3143707"/>
            <a:ext cx="8192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Cu 다마신 선의 AR은 대략 1.6, semi-damascene은 1세대 2 → 2세대 3 → 이후 4, 5, 6으로 올리는 5세대 로드맵입니다.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9048902" y="5619902"/>
            <a:ext cx="87828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imec은 AR=6 Ru 선이 AR=3 대비 선 저항을 약 40% 낮춘다고 보고했습니다.</a:t>
            </a:r>
            <a:endParaRPr lang="en-US" sz="195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7905902"/>
            <a:ext cx="21909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CBA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다마신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61695" y="8334756"/>
            <a:ext cx="219090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1.6</a:t>
            </a:r>
            <a:endParaRPr lang="en-US" sz="4050" dirty="0"/>
          </a:p>
        </p:txBody>
      </p:sp>
      <p:sp>
        <p:nvSpPr>
          <p:cNvPr id="21" name="Text 17"/>
          <p:cNvSpPr txBox="1"/>
          <p:nvPr/>
        </p:nvSpPr>
        <p:spPr>
          <a:xfrm>
            <a:off x="3143707" y="8287207"/>
            <a:ext cx="21909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1세대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3143707" y="8677656"/>
            <a:ext cx="21909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A32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3750" dirty="0"/>
          </a:p>
        </p:txBody>
      </p:sp>
      <p:sp>
        <p:nvSpPr>
          <p:cNvPr id="23" name="Text 19"/>
          <p:cNvSpPr txBox="1"/>
          <p:nvPr/>
        </p:nvSpPr>
        <p:spPr>
          <a:xfrm>
            <a:off x="5524805" y="8143646"/>
            <a:ext cx="21909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2세대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524805" y="8534095"/>
            <a:ext cx="21909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A32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3750" dirty="0"/>
          </a:p>
        </p:txBody>
      </p:sp>
      <p:sp>
        <p:nvSpPr>
          <p:cNvPr id="25" name="Text 21"/>
          <p:cNvSpPr txBox="1"/>
          <p:nvPr/>
        </p:nvSpPr>
        <p:spPr>
          <a:xfrm>
            <a:off x="7905902" y="8001000"/>
            <a:ext cx="21909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CBA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이후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7905902" y="8391449"/>
            <a:ext cx="21909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3750" dirty="0"/>
          </a:p>
        </p:txBody>
      </p:sp>
      <p:sp>
        <p:nvSpPr>
          <p:cNvPr id="27" name="Text 23"/>
          <p:cNvSpPr txBox="1"/>
          <p:nvPr/>
        </p:nvSpPr>
        <p:spPr>
          <a:xfrm>
            <a:off x="10287000" y="8287207"/>
            <a:ext cx="219090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4050" dirty="0"/>
          </a:p>
        </p:txBody>
      </p:sp>
      <p:sp>
        <p:nvSpPr>
          <p:cNvPr id="28" name="Text 24"/>
          <p:cNvSpPr txBox="1"/>
          <p:nvPr/>
        </p:nvSpPr>
        <p:spPr>
          <a:xfrm>
            <a:off x="12668098" y="8287207"/>
            <a:ext cx="219090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4500" dirty="0"/>
          </a:p>
        </p:txBody>
      </p:sp>
      <p:sp>
        <p:nvSpPr>
          <p:cNvPr id="29" name="Text 25"/>
          <p:cNvSpPr txBox="1"/>
          <p:nvPr/>
        </p:nvSpPr>
        <p:spPr>
          <a:xfrm>
            <a:off x="15049195" y="7905902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5세대</a:t>
            </a:r>
            <a:endParaRPr lang="en-US" sz="1650" dirty="0"/>
          </a:p>
        </p:txBody>
      </p:sp>
      <p:sp>
        <p:nvSpPr>
          <p:cNvPr id="30" name="Text 26"/>
          <p:cNvSpPr txBox="1"/>
          <p:nvPr/>
        </p:nvSpPr>
        <p:spPr>
          <a:xfrm>
            <a:off x="15049195" y="8254289"/>
            <a:ext cx="2477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로드맵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3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6096305"/>
            <a:ext cx="8001000" cy="3429000"/>
          </a:xfrm>
          <a:prstGeom prst="rect">
            <a:avLst/>
          </a:prstGeom>
          <a:solidFill>
            <a:srgbClr val="2A32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761695"/>
            <a:ext cx="8382305" cy="3238805"/>
          </a:xfrm>
          <a:prstGeom prst="rect">
            <a:avLst/>
          </a:prstGeom>
          <a:solidFill>
            <a:srgbClr val="3D5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190695"/>
            <a:ext cx="8419795" cy="2133295"/>
          </a:xfrm>
          <a:prstGeom prst="rect">
            <a:avLst/>
          </a:prstGeom>
          <a:solidFill>
            <a:srgbClr val="ECE3CE"/>
          </a:solidFill>
          <a:ln w="25400">
            <a:solidFill>
              <a:srgbClr val="1B2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49195" y="6476695"/>
            <a:ext cx="2476195" cy="1524305"/>
          </a:xfrm>
          <a:prstGeom prst="rect">
            <a:avLst/>
          </a:prstGeom>
          <a:solidFill>
            <a:srgbClr val="B55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49195" y="8191195"/>
            <a:ext cx="2476195" cy="1333195"/>
          </a:xfrm>
          <a:prstGeom prst="rect">
            <a:avLst/>
          </a:prstGeom>
          <a:solidFill>
            <a:srgbClr val="8C3F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4f1572574d2a2f80da2b2266ee608bb.png">    </p:cNvPr>
          <p:cNvPicPr>
            <a:picLocks noChangeAspect="1"/>
          </p:cNvPicPr>
          <p:nvPr/>
        </p:nvPicPr>
        <p:blipFill>
          <a:blip r:embed="rId1"/>
          <a:srcRect l="-411" r="-411" t="0" b="0"/>
          <a:stretch/>
        </p:blipFill>
        <p:spPr>
          <a:xfrm>
            <a:off x="1143000" y="6476695"/>
            <a:ext cx="2095805" cy="28346"/>
          </a:xfrm>
          <a:prstGeom prst="rect">
            <a:avLst/>
          </a:prstGeom>
        </p:spPr>
      </p:pic>
      <p:pic>
        <p:nvPicPr>
          <p:cNvPr id="8" name="Image 1" descr="gen-dedup-2a3c4fd01bc5995f651f65213cfb2229.png">    </p:cNvPr>
          <p:cNvPicPr>
            <a:picLocks noChangeAspect="1"/>
          </p:cNvPicPr>
          <p:nvPr/>
        </p:nvPicPr>
        <p:blipFill>
          <a:blip r:embed="rId2"/>
          <a:srcRect l="-402" r="-402" t="0" b="0"/>
          <a:stretch/>
        </p:blipFill>
        <p:spPr>
          <a:xfrm>
            <a:off x="8953805" y="761695"/>
            <a:ext cx="19202" cy="8762695"/>
          </a:xfrm>
          <a:prstGeom prst="rect">
            <a:avLst/>
          </a:prstGeom>
        </p:spPr>
      </p:pic>
      <p:pic>
        <p:nvPicPr>
          <p:cNvPr id="9" name="Image 2" descr="gen-dedup-4ff9f41be96f95ad968517bf64f91b2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761695"/>
            <a:ext cx="8001000" cy="4572000"/>
          </a:xfrm>
          <a:prstGeom prst="rect">
            <a:avLst/>
          </a:prstGeom>
        </p:spPr>
      </p:pic>
      <p:pic>
        <p:nvPicPr>
          <p:cNvPr id="10" name="Image 3" descr="gen-dedup-4c37bdd18399f9c2ec78f6306cf743b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476695"/>
            <a:ext cx="5715000" cy="3047695"/>
          </a:xfrm>
          <a:prstGeom prst="rect">
            <a:avLst/>
          </a:prstGeom>
        </p:spPr>
      </p:pic>
      <p:pic>
        <p:nvPicPr>
          <p:cNvPr id="11" name="Image 4" descr="gen-dedup-11f310549fe566f89ed1e1cf36da6941.png">    </p:cNvPr>
          <p:cNvPicPr>
            <a:picLocks noChangeAspect="1"/>
          </p:cNvPicPr>
          <p:nvPr/>
        </p:nvPicPr>
        <p:blipFill>
          <a:blip r:embed="rId5"/>
          <a:srcRect l="0" r="0" t="-52" b="-52"/>
          <a:stretch/>
        </p:blipFill>
        <p:spPr>
          <a:xfrm>
            <a:off x="761695" y="571500"/>
            <a:ext cx="1619402" cy="1335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61695" y="5429707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" kern="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— Cu interconnect, 28 nm pitch (Semantic Scholar)</a:t>
            </a:r>
            <a:endParaRPr lang="en-US" sz="13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6762902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 2소재 완전 자기정렬 비아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7348118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CBA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(Murdoch, VLSI 2022)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9525305" y="1238098"/>
            <a:ext cx="901415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E3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없습니다.</a:t>
            </a:r>
            <a:endParaRPr lang="en-US" sz="2250" dirty="0"/>
          </a:p>
        </p:txBody>
      </p:sp>
      <p:sp>
        <p:nvSpPr>
          <p:cNvPr id="16" name="Text 9"/>
          <p:cNvSpPr txBox="1"/>
          <p:nvPr/>
        </p:nvSpPr>
        <p:spPr>
          <a:xfrm>
            <a:off x="9525305" y="4572000"/>
            <a:ext cx="7620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실제로 300 mm 웨이퍼에서 돌아간 건 Ru, Mo, 그리고 Al 기반 금속간화합물뿐입니다.</a:t>
            </a:r>
            <a:endParaRPr lang="en-US" sz="2100" dirty="0"/>
          </a:p>
        </p:txBody>
      </p:sp>
      <p:sp>
        <p:nvSpPr>
          <p:cNvPr id="17" name="Text 10"/>
          <p:cNvSpPr txBox="1"/>
          <p:nvPr/>
        </p:nvSpPr>
        <p:spPr>
          <a:xfrm>
            <a:off x="9144000" y="9620402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" kern="0" dirty="0">
                <a:solidFill>
                  <a:srgbClr val="1B232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— Yoon-Lee et al., large grain Ru SEM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2026-10-03T16:48:32Z</dcterms:created>
  <dcterms:modified xsi:type="dcterms:W3CDTF">2026-10-03T16:48:32Z</dcterms:modified>
</cp:coreProperties>
</file>