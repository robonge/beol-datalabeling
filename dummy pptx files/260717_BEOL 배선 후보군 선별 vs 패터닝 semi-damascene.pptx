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eg"/><Relationship Id="rId5" Type="http://schemas.openxmlformats.org/officeDocument/2006/relationships/image" Target="../media/image-3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ECE2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ea02e599439f2eaf9d3835785a89c05a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838505" y="933602"/>
            <a:ext cx="571500" cy="38405"/>
          </a:xfrm>
          <a:prstGeom prst="rect">
            <a:avLst/>
          </a:prstGeom>
        </p:spPr>
      </p:pic>
      <p:pic>
        <p:nvPicPr>
          <p:cNvPr id="4" name="Image 1" descr="gen-dedup-60498eecd04b7729fdd25555486432bc.png">    </p:cNvPr>
          <p:cNvPicPr>
            <a:picLocks noChangeAspect="1"/>
          </p:cNvPicPr>
          <p:nvPr/>
        </p:nvPicPr>
        <p:blipFill>
          <a:blip r:embed="rId2">
            <a:alphaModFix amt="18000"/>
          </a:blip>
          <a:srcRect l="0" r="0" t="-2083" b="-2083"/>
          <a:stretch/>
        </p:blipFill>
        <p:spPr>
          <a:xfrm>
            <a:off x="8934602" y="2743200"/>
            <a:ext cx="9144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506102" y="2743200"/>
            <a:ext cx="8191195" cy="5524805"/>
          </a:xfrm>
          <a:prstGeom prst="rect">
            <a:avLst/>
          </a:prstGeom>
          <a:solidFill>
            <a:srgbClr val="F4EC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2" descr="gen-dedup-61e2dc9a4623162f72d9fba392d07a8f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6102" y="2743200"/>
            <a:ext cx="8191195" cy="552480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524305" y="800100"/>
            <a:ext cx="8572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spc="230" kern="0" dirty="0">
                <a:solidFill>
                  <a:srgbClr val="847A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BEOL 배선 후보군 — 선별 vs 패터닝</a:t>
            </a:r>
            <a:endParaRPr lang="en-US" sz="1275" dirty="0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14287500" cy="695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100" b="1" spc="-25" kern="0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스크리닝 지표로 본 후보군</a:t>
            </a:r>
            <a:endParaRPr lang="en-US" sz="5100" dirty="0"/>
          </a:p>
        </p:txBody>
      </p:sp>
      <p:sp>
        <p:nvSpPr>
          <p:cNvPr id="9" name="Text 4"/>
          <p:cNvSpPr txBox="1"/>
          <p:nvPr/>
        </p:nvSpPr>
        <p:spPr>
          <a:xfrm>
            <a:off x="838505" y="2933395"/>
            <a:ext cx="7810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B04A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선별 결과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38505" y="3295498"/>
            <a:ext cx="78108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계산값은 MAX가 가장 낮지만,</a:t>
            </a:r>
            <a:pPr algn="l" indent="0" marL="0">
              <a:lnSpc>
                <a:spcPct val="120000"/>
              </a:lnSpc>
              <a:buNone/>
            </a:pPr>
            <a:endParaRPr lang="en-US" sz="25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증착·에칭 실증은 아직 없습니다.</a:t>
            </a:r>
            <a:endParaRPr lang="en-US" sz="2550" dirty="0"/>
          </a:p>
        </p:txBody>
      </p:sp>
      <p:sp>
        <p:nvSpPr>
          <p:cNvPr id="11" name="Text 6"/>
          <p:cNvSpPr txBox="1"/>
          <p:nvPr/>
        </p:nvSpPr>
        <p:spPr>
          <a:xfrm>
            <a:off x="838505" y="4647895"/>
            <a:ext cx="7810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74"/>
              </a:lnSpc>
              <a:buNone/>
            </a:pPr>
            <a:r>
              <a:rPr lang="en-US" sz="1725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MAX 상이 계산상 가장 낮지만 아직 증착·에칭 실증이 없습니다. 실제로 300 mm 웨이퍼에서 돌아간 건 Ru, Mo, 그리고 Al 기반 금속간화합물뿐입니다.</a:t>
            </a:r>
            <a:endParaRPr lang="en-US" sz="1725" dirty="0"/>
          </a:p>
        </p:txBody>
      </p:sp>
      <p:pic>
        <p:nvPicPr>
          <p:cNvPr id="12" name="Image 3" descr="gen-dedup-3712d037e614a063f98aef137f3f3bf4.png">    </p:cNvPr>
          <p:cNvPicPr>
            <a:picLocks noChangeAspect="1"/>
          </p:cNvPicPr>
          <p:nvPr/>
        </p:nvPicPr>
        <p:blipFill>
          <a:blip r:embed="rId4"/>
          <a:srcRect l="0" r="0" t="-342" b="-342"/>
          <a:stretch/>
        </p:blipFill>
        <p:spPr>
          <a:xfrm>
            <a:off x="838505" y="6553505"/>
            <a:ext cx="400507" cy="1920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38505" y="6743700"/>
            <a:ext cx="7810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기존 Cu 다마신 선의 AR은 대략 1.6</a:t>
            </a:r>
            <a:endParaRPr lang="en-US" sz="1575" dirty="0"/>
          </a:p>
        </p:txBody>
      </p:sp>
      <p:sp>
        <p:nvSpPr>
          <p:cNvPr id="14" name="Text 8"/>
          <p:cNvSpPr txBox="1"/>
          <p:nvPr/>
        </p:nvSpPr>
        <p:spPr>
          <a:xfrm>
            <a:off x="838505" y="7119518"/>
            <a:ext cx="84966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semi-damascene은 1세대 2 → 2세대 3 → 이후 4, 5, 6으로 올리는 5세대 로드맵입니다.</a:t>
            </a:r>
            <a:endParaRPr lang="en-US" sz="1575" dirty="0"/>
          </a:p>
        </p:txBody>
      </p:sp>
      <p:sp>
        <p:nvSpPr>
          <p:cNvPr id="15" name="Text 9"/>
          <p:cNvSpPr txBox="1"/>
          <p:nvPr/>
        </p:nvSpPr>
        <p:spPr>
          <a:xfrm>
            <a:off x="838505" y="8839505"/>
            <a:ext cx="7810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847A6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Soulié et al., J. Appl. Phys. 136, 171101 (2024) Table II·III와 Sankaran et al., Phys. Rev. Mater. 5, 056002 (2021)의 계산값을 합쳐 재작도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9506102" y="8382305"/>
            <a:ext cx="8192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847A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eeNews Europe · Ruthenium interconnect, SEM cross-section</a:t>
            </a:r>
            <a:endParaRPr lang="en-US" sz="975" dirty="0"/>
          </a:p>
        </p:txBody>
      </p:sp>
      <p:sp>
        <p:nvSpPr>
          <p:cNvPr id="17" name="Text 11"/>
          <p:cNvSpPr txBox="1"/>
          <p:nvPr/>
        </p:nvSpPr>
        <p:spPr>
          <a:xfrm>
            <a:off x="9506102" y="8839505"/>
            <a:ext cx="2830982" cy="1028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0" b="1" spc="-450" kern="0" dirty="0">
                <a:solidFill>
                  <a:srgbClr val="B04A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</a:t>
            </a:r>
            <a:pPr algn="l" indent="0" marL="0">
              <a:buNone/>
            </a:pPr>
            <a:r>
              <a:rPr lang="en-US" sz="3300" b="1" spc="-450" kern="0" dirty="0">
                <a:solidFill>
                  <a:srgbClr val="B04A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9000" dirty="0"/>
          </a:p>
        </p:txBody>
      </p:sp>
      <p:sp>
        <p:nvSpPr>
          <p:cNvPr id="18" name="Text 12"/>
          <p:cNvSpPr txBox="1"/>
          <p:nvPr/>
        </p:nvSpPr>
        <p:spPr>
          <a:xfrm>
            <a:off x="11906402" y="8953805"/>
            <a:ext cx="57918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imec은 AR=6 Ru 선이 AR=3 대비 선 저항을 약 40% 낮춘다고 보고했습니다.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1906402" y="9620402"/>
            <a:ext cx="57918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47A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nm 피치 2소재 완전 자기정렬 비아(Murdoch, VLSI 2022)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ECE2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c0af6b6d86457dfa7df4f23313d91511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838505" y="819302"/>
            <a:ext cx="571500" cy="38405"/>
          </a:xfrm>
          <a:prstGeom prst="rect">
            <a:avLst/>
          </a:prstGeom>
        </p:spPr>
      </p:pic>
      <p:pic>
        <p:nvPicPr>
          <p:cNvPr id="4" name="Image 1" descr="gen-dedup-f399e369407d98020db5822d39a2e8e0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17582998" y="933602"/>
            <a:ext cx="19202" cy="1143000"/>
          </a:xfrm>
          <a:prstGeom prst="rect">
            <a:avLst/>
          </a:prstGeom>
        </p:spPr>
      </p:pic>
      <p:pic>
        <p:nvPicPr>
          <p:cNvPr id="5" name="Image 2" descr="gen-dedup-6b990b4fb74cc869c4d4f26da6a8a962.png">    </p:cNvPr>
          <p:cNvPicPr>
            <a:picLocks noChangeAspect="1"/>
          </p:cNvPicPr>
          <p:nvPr/>
        </p:nvPicPr>
        <p:blipFill>
          <a:blip r:embed="rId3"/>
          <a:srcRect l="0" r="0" t="-2083" b="-2083"/>
          <a:stretch/>
        </p:blipFill>
        <p:spPr>
          <a:xfrm>
            <a:off x="10362895" y="2361895"/>
            <a:ext cx="9144" cy="704819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10554005" y="4600346"/>
            <a:ext cx="7429500" cy="2190902"/>
          </a:xfrm>
          <a:prstGeom prst="rect">
            <a:avLst/>
          </a:prstGeom>
          <a:solidFill>
            <a:srgbClr val="F4EC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3" descr="gen-dedup-bec1ed2cf5c42b32400cb2ecaa340ee7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4005" y="4600346"/>
            <a:ext cx="7429500" cy="2190902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524305" y="685800"/>
            <a:ext cx="5715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spc="230" kern="0" dirty="0">
                <a:solidFill>
                  <a:srgbClr val="847A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신뢰성 — 통계와 잡음</a:t>
            </a:r>
            <a:endParaRPr lang="en-US" sz="1275" dirty="0"/>
          </a:p>
        </p:txBody>
      </p:sp>
      <p:sp>
        <p:nvSpPr>
          <p:cNvPr id="9" name="Text 3"/>
          <p:cNvSpPr txBox="1"/>
          <p:nvPr/>
        </p:nvSpPr>
        <p:spPr>
          <a:xfrm>
            <a:off x="838505" y="1104595"/>
            <a:ext cx="1676461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22" kern="0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TDDB</a:t>
            </a:r>
            <a:pPr algn="l" indent="0" marL="0">
              <a:buNone/>
            </a:pPr>
            <a:r>
              <a:rPr lang="en-US" sz="4500" b="1" spc="-22" kern="0" dirty="0">
                <a:solidFill>
                  <a:srgbClr val="847A6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— </a:t>
            </a:r>
            <a:pPr algn="l" indent="0" marL="0">
              <a:buNone/>
            </a:pPr>
            <a:r>
              <a:rPr lang="en-US" sz="4500" b="1" spc="-22" kern="0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임계값이 아니라 퍼콜레이션 경로의 통계</a:t>
            </a:r>
            <a:endParaRPr lang="en-US" sz="4500" dirty="0"/>
          </a:p>
        </p:txBody>
      </p:sp>
      <p:sp>
        <p:nvSpPr>
          <p:cNvPr id="10" name="Text 4"/>
          <p:cNvSpPr txBox="1"/>
          <p:nvPr/>
        </p:nvSpPr>
        <p:spPr>
          <a:xfrm>
            <a:off x="838505" y="2266798"/>
            <a:ext cx="857707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0" b="1" spc="-252" kern="0" dirty="0">
                <a:solidFill>
                  <a:srgbClr val="B04A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endParaRPr lang="en-US" sz="6300" dirty="0"/>
          </a:p>
        </p:txBody>
      </p:sp>
      <p:sp>
        <p:nvSpPr>
          <p:cNvPr id="11" name="Text 5"/>
          <p:cNvSpPr txBox="1"/>
          <p:nvPr/>
        </p:nvSpPr>
        <p:spPr>
          <a:xfrm>
            <a:off x="1981505" y="2324405"/>
            <a:ext cx="79059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847A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통계로 읽는 수명</a:t>
            </a:r>
            <a:endParaRPr lang="en-US" sz="1125" dirty="0"/>
          </a:p>
        </p:txBody>
      </p:sp>
      <p:sp>
        <p:nvSpPr>
          <p:cNvPr id="12" name="Text 6"/>
          <p:cNvSpPr txBox="1"/>
          <p:nvPr/>
        </p:nvSpPr>
        <p:spPr>
          <a:xfrm>
            <a:off x="1981505" y="2600554"/>
            <a:ext cx="79059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수명은 간격에 반비례 —</a:t>
            </a:r>
            <a:pPr algn="l" indent="0" marL="0">
              <a:lnSpc>
                <a:spcPct val="120000"/>
              </a:lnSpc>
              <a:buNone/>
            </a:pPr>
            <a:endParaRPr lang="en-US" sz="2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 선택이 결과를 100배 가른다</a:t>
            </a:r>
            <a:endParaRPr lang="en-US" sz="2250" dirty="0"/>
          </a:p>
        </p:txBody>
      </p:sp>
      <p:sp>
        <p:nvSpPr>
          <p:cNvPr id="13" name="Text 7"/>
          <p:cNvSpPr txBox="1"/>
          <p:nvPr/>
        </p:nvSpPr>
        <p:spPr>
          <a:xfrm>
            <a:off x="838505" y="3696005"/>
            <a:ext cx="8763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2A4E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Croes · 2015</a:t>
            </a:r>
            <a:endParaRPr lang="en-US" sz="1050" dirty="0"/>
          </a:p>
        </p:txBody>
      </p:sp>
      <p:sp>
        <p:nvSpPr>
          <p:cNvPr id="14" name="Text 8"/>
          <p:cNvSpPr txBox="1"/>
          <p:nvPr/>
        </p:nvSpPr>
        <p:spPr>
          <a:xfrm>
            <a:off x="838505" y="3924605"/>
            <a:ext cx="87636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Croes의 2015년 종합은 넓은 전계 범위에서 impact damage 모델과 멱법칙(power law)이 데이터를 가장 잘 설명한다고 결론지었습니다. 수명이 간격에 반비례한다는 가정이 깔려 있습니다.</a:t>
            </a:r>
            <a:endParaRPr lang="en-US" sz="1575" dirty="0"/>
          </a:p>
        </p:txBody>
      </p:sp>
      <p:sp>
        <p:nvSpPr>
          <p:cNvPr id="15" name="Text 9"/>
          <p:cNvSpPr txBox="1"/>
          <p:nvPr/>
        </p:nvSpPr>
        <p:spPr>
          <a:xfrm>
            <a:off x="838505" y="5410505"/>
            <a:ext cx="8763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2A4E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Fang · 2025</a:t>
            </a:r>
            <a:endParaRPr lang="en-US" sz="1050" dirty="0"/>
          </a:p>
        </p:txBody>
      </p:sp>
      <p:sp>
        <p:nvSpPr>
          <p:cNvPr id="16" name="Text 10"/>
          <p:cNvSpPr txBox="1"/>
          <p:nvPr/>
        </p:nvSpPr>
        <p:spPr>
          <a:xfrm>
            <a:off x="838505" y="5639105"/>
            <a:ext cx="8763610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Fang은 2025년에 이를 3차원으로 확장해, 각 위치에서 가장 짧은 금속–금속 퍼콜레이션 경로를 뽑아 고장확률을 구한 뒤 최약고리 통계로 합치는 2단계 모델을 제안했습니다. 비아 오정렬, tip-to-tip 변동, LER, 다이간 간격 변동을 모두 넣고 10년 수명 기준 변동 스펙을 도출했으며, 결론은 선–선 간격 7 nm는 EUV 패터닝으로, 5 nm는 FSAV 공정으로 달성 가능하다는 것입니다.</a:t>
            </a:r>
            <a:endParaRPr lang="en-US" sz="1575" dirty="0"/>
          </a:p>
        </p:txBody>
      </p:sp>
      <p:sp>
        <p:nvSpPr>
          <p:cNvPr id="17" name="Text 11"/>
          <p:cNvSpPr txBox="1"/>
          <p:nvPr/>
        </p:nvSpPr>
        <p:spPr>
          <a:xfrm>
            <a:off x="838505" y="7981798"/>
            <a:ext cx="5334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04A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Kocaay · LER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838505" y="8210398"/>
            <a:ext cx="5334610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16 nm 하프피치(명목 간격 16 nm) 기준으로 다이간 간격 편차 1σ = 0.6 nm, LER 1σ = 1 nm를 넣으면 수명이 이상적인 직선 대비 멱법칙 가정에서 약 3자릿수, √E 가정에서 약 1자릿수 떨어집니다.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6553505" y="7886700"/>
            <a:ext cx="38313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B04A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4500" dirty="0"/>
          </a:p>
        </p:txBody>
      </p:sp>
      <p:sp>
        <p:nvSpPr>
          <p:cNvPr id="20" name="Text 14"/>
          <p:cNvSpPr txBox="1"/>
          <p:nvPr/>
        </p:nvSpPr>
        <p:spPr>
          <a:xfrm>
            <a:off x="7071970" y="8037576"/>
            <a:ext cx="27249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75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자릿수</a:t>
            </a:r>
            <a:pPr algn="l" indent="0" marL="0">
              <a:lnSpc>
                <a:spcPct val="130000"/>
              </a:lnSpc>
              <a:buNone/>
            </a:pPr>
            <a:endParaRPr lang="en-US" sz="12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47A6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멱법칙</a:t>
            </a:r>
            <a:endParaRPr lang="en-US" sz="1275" dirty="0"/>
          </a:p>
        </p:txBody>
      </p:sp>
      <p:sp>
        <p:nvSpPr>
          <p:cNvPr id="21" name="Text 15"/>
          <p:cNvSpPr txBox="1"/>
          <p:nvPr/>
        </p:nvSpPr>
        <p:spPr>
          <a:xfrm>
            <a:off x="6553505" y="8572500"/>
            <a:ext cx="37581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4E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4500" dirty="0"/>
          </a:p>
        </p:txBody>
      </p:sp>
      <p:sp>
        <p:nvSpPr>
          <p:cNvPr id="22" name="Text 16"/>
          <p:cNvSpPr txBox="1"/>
          <p:nvPr/>
        </p:nvSpPr>
        <p:spPr>
          <a:xfrm>
            <a:off x="6983273" y="8723376"/>
            <a:ext cx="28099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75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자릿수</a:t>
            </a:r>
            <a:pPr algn="l" indent="0" marL="0">
              <a:lnSpc>
                <a:spcPct val="130000"/>
              </a:lnSpc>
              <a:buNone/>
            </a:pPr>
            <a:endParaRPr lang="en-US" sz="1275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47A6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√E 가정</a:t>
            </a:r>
            <a:endParaRPr lang="en-US" sz="1275" dirty="0"/>
          </a:p>
        </p:txBody>
      </p:sp>
      <p:sp>
        <p:nvSpPr>
          <p:cNvPr id="23" name="Text 17"/>
          <p:cNvSpPr txBox="1"/>
          <p:nvPr/>
        </p:nvSpPr>
        <p:spPr>
          <a:xfrm>
            <a:off x="10554005" y="2266798"/>
            <a:ext cx="857707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0" b="1" spc="-252" kern="0" dirty="0">
                <a:solidFill>
                  <a:srgbClr val="2A4E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</a:t>
            </a:r>
            <a:endParaRPr lang="en-US" sz="6300" dirty="0"/>
          </a:p>
        </p:txBody>
      </p:sp>
      <p:sp>
        <p:nvSpPr>
          <p:cNvPr id="24" name="Text 18"/>
          <p:cNvSpPr txBox="1"/>
          <p:nvPr/>
        </p:nvSpPr>
        <p:spPr>
          <a:xfrm>
            <a:off x="11697005" y="2324405"/>
            <a:ext cx="6286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847A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유전체 잡음</a:t>
            </a:r>
            <a:endParaRPr lang="en-US" sz="1125" dirty="0"/>
          </a:p>
        </p:txBody>
      </p:sp>
      <p:sp>
        <p:nvSpPr>
          <p:cNvPr id="25" name="Text 19"/>
          <p:cNvSpPr txBox="1"/>
          <p:nvPr/>
        </p:nvSpPr>
        <p:spPr>
          <a:xfrm>
            <a:off x="11697005" y="2600554"/>
            <a:ext cx="62865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저주파 잡음으로 본 MIM</a:t>
            </a:r>
            <a:pPr algn="l" indent="0" marL="0">
              <a:lnSpc>
                <a:spcPct val="120000"/>
              </a:lnSpc>
              <a:buNone/>
            </a:pPr>
            <a:endParaRPr lang="en-US" sz="19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— 재료마다 기구가 다르다</a:t>
            </a:r>
            <a:endParaRPr lang="en-US" sz="1950" dirty="0"/>
          </a:p>
        </p:txBody>
      </p:sp>
      <p:sp>
        <p:nvSpPr>
          <p:cNvPr id="26" name="Text 20"/>
          <p:cNvSpPr txBox="1"/>
          <p:nvPr/>
        </p:nvSpPr>
        <p:spPr>
          <a:xfrm>
            <a:off x="10554005" y="3409798"/>
            <a:ext cx="7429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Giusi는 TiN 전극 사이의 SiO₂ 6 nm(εᵣ 4.2), Al₂O₃ 5 nm(8.9), OSG3.0 12 nm(3.0, 기공률 7%) MIM을 25–200 °C, 최대 ~12 MV/cm에서 비교했습니다. 전도 기구가 재료마다 다릅니다.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10554005" y="6886346"/>
            <a:ext cx="7429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847A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Semiconductor Engineering · Reducing BEOL parasitic capacitance using air gaps</a:t>
            </a:r>
            <a:endParaRPr lang="en-US" sz="97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54005" y="7267651"/>
          <a:ext cx="7429500" cy="2200961"/>
        </p:xfrm>
        <a:graphic>
          <a:graphicData uri="http://schemas.openxmlformats.org/drawingml/2006/table">
            <a:tbl>
              <a:tblPr/>
              <a:tblGrid>
                <a:gridCol w="1782861"/>
                <a:gridCol w="2229033"/>
                <a:gridCol w="3417607"/>
              </a:tblGrid>
              <a:tr h="550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ECD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유전체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8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ECD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지배 기구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8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ECD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트랩 준위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815"/>
                    </a:solidFill>
                  </a:tcPr>
                </a:tc>
              </a:tr>
              <a:tr h="550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815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SiO₂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815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Poole-Frenkel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B181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φ_T = 0.77 ± 0.01 eV</a:t>
                      </a:r>
                      <a:endParaRPr lang="en-US" sz="11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5000"/>
                      </a:srgbClr>
                    </a:solidFill>
                  </a:tcPr>
                </a:tc>
              </a:tr>
              <a:tr h="550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815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OSG3.0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815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호핑 / 비정상 PF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81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φ_T = 0.44 ± 0.01 eV,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81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호핑거리 0.6 nm, E_a 0.47 eV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0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815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Al₂O₃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4A20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815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FN 트랩보조 터널링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4A20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81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Φ 1.36 eV(상부) /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81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1.33 eV(하부)</a:t>
                      </a:r>
                      <a:endParaRPr lang="en-US" sz="1200" dirty="0"/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B18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4A20">
                        <a:alpha val="7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9" name="Text 22"/>
          <p:cNvSpPr txBox="1"/>
          <p:nvPr/>
        </p:nvSpPr>
        <p:spPr>
          <a:xfrm>
            <a:off x="838505" y="9601200"/>
            <a:ext cx="95253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거칠기가 작을 때는 간격 변동이, LER 1σ가 0.6 nm를 넘어서면 LER이 지배적입니다. 즉 어떤 전계 가속 모델을 고르느냐가 수명 예측을 100배 가른다는 뜻입니다.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10554005" y="9506102"/>
            <a:ext cx="7429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결론은 간단합니다. 누설·잡음 모두 SiO₂가 최고, Al₂O₃는 누설이 가장 크고, OSG3.0은 잡음이 가장 나쁜 데다 수많은 비정상 RTS 이벤트로 전기적 불안정성을 드러냅니다. 저유전율 도입의 대가가 정전용량만의 문제가 아니라는 증거입니다.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ECE2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24a4598c0e22d3e0964aec8819a5ab61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838505" y="838505"/>
            <a:ext cx="571500" cy="38405"/>
          </a:xfrm>
          <a:prstGeom prst="rect">
            <a:avLst/>
          </a:prstGeom>
        </p:spPr>
      </p:pic>
      <p:pic>
        <p:nvPicPr>
          <p:cNvPr id="4" name="Image 1" descr="gen-dedup-b58af8c18f46f6fef8e2761968f1b3fc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rcRect l="-2083" r="-2083" t="0" b="0"/>
          <a:stretch/>
        </p:blipFill>
        <p:spPr>
          <a:xfrm>
            <a:off x="838505" y="2361895"/>
            <a:ext cx="16763695" cy="9144"/>
          </a:xfrm>
          <a:prstGeom prst="rect">
            <a:avLst/>
          </a:prstGeom>
        </p:spPr>
      </p:pic>
      <p:pic>
        <p:nvPicPr>
          <p:cNvPr id="5" name="Image 2" descr="gen-dedup-10ed2cf44c8a9e8e556422f0dec03e28.png">    </p:cNvPr>
          <p:cNvPicPr>
            <a:picLocks noChangeAspect="1"/>
          </p:cNvPicPr>
          <p:nvPr/>
        </p:nvPicPr>
        <p:blipFill>
          <a:blip r:embed="rId3"/>
          <a:srcRect l="0" r="0" t="-2089" b="-2089"/>
          <a:stretch/>
        </p:blipFill>
        <p:spPr>
          <a:xfrm>
            <a:off x="7981798" y="2743200"/>
            <a:ext cx="9144" cy="552480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838505" y="8458200"/>
            <a:ext cx="16782898" cy="1733702"/>
          </a:xfrm>
          <a:prstGeom prst="rect">
            <a:avLst/>
          </a:prstGeom>
          <a:solidFill>
            <a:srgbClr val="F4ECD8"/>
          </a:solidFill>
          <a:ln w="12700">
            <a:solidFill>
              <a:srgbClr val="1B1815">
                <a:alpha val="1800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8458200" y="4401007"/>
            <a:ext cx="9525305" cy="1752905"/>
          </a:xfrm>
          <a:prstGeom prst="rect">
            <a:avLst/>
          </a:prstGeom>
          <a:solidFill>
            <a:srgbClr val="F4EC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3" descr="gen-dedup-eba709c7bbd2f6a5eb6931edc146798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4401007"/>
            <a:ext cx="9525305" cy="1752905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990295" y="8630107"/>
            <a:ext cx="2286000" cy="1371600"/>
          </a:xfrm>
          <a:prstGeom prst="rect">
            <a:avLst/>
          </a:prstGeom>
          <a:solidFill>
            <a:srgbClr val="F4EC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4" descr="gen-dedup-fd543ce3b6e02137776118bcb9105f7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295" y="8630107"/>
            <a:ext cx="2286000" cy="137160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524305" y="705002"/>
            <a:ext cx="8572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spc="230" kern="0" dirty="0">
                <a:solidFill>
                  <a:srgbClr val="847A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정리 — 세 가지 구조 · 열 · 기계</a:t>
            </a:r>
            <a:endParaRPr lang="en-US" sz="1275" dirty="0"/>
          </a:p>
        </p:txBody>
      </p:sp>
      <p:sp>
        <p:nvSpPr>
          <p:cNvPr id="12" name="Text 5"/>
          <p:cNvSpPr txBox="1"/>
          <p:nvPr/>
        </p:nvSpPr>
        <p:spPr>
          <a:xfrm>
            <a:off x="838505" y="1104595"/>
            <a:ext cx="167646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20" kern="0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세 가지 배선 구조를 같은 척도로 놓으면</a:t>
            </a:r>
            <a:endParaRPr lang="en-US" sz="4050" dirty="0"/>
          </a:p>
        </p:txBody>
      </p:sp>
      <p:sp>
        <p:nvSpPr>
          <p:cNvPr id="13" name="Text 6"/>
          <p:cNvSpPr txBox="1"/>
          <p:nvPr/>
        </p:nvSpPr>
        <p:spPr>
          <a:xfrm>
            <a:off x="838505" y="1962302"/>
            <a:ext cx="14287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47A6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배선 구조 단면 비교 · 세 방식, 치수는 Murdoch VLSI 2022·Montero Alvarez IITC 2022 본문값</a:t>
            </a:r>
            <a:endParaRPr lang="en-US" sz="1350" dirty="0"/>
          </a:p>
        </p:txBody>
      </p:sp>
      <p:sp>
        <p:nvSpPr>
          <p:cNvPr id="14" name="Text 7"/>
          <p:cNvSpPr txBox="1"/>
          <p:nvPr/>
        </p:nvSpPr>
        <p:spPr>
          <a:xfrm>
            <a:off x="838505" y="2743200"/>
            <a:ext cx="69540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세 구조가 해결하는 문제가 각각 다릅니다.</a:t>
            </a:r>
            <a:endParaRPr lang="en-US" sz="2250" dirty="0"/>
          </a:p>
        </p:txBody>
      </p:sp>
      <p:sp>
        <p:nvSpPr>
          <p:cNvPr id="15" name="Text 8"/>
          <p:cNvSpPr txBox="1"/>
          <p:nvPr/>
        </p:nvSpPr>
        <p:spPr>
          <a:xfrm>
            <a:off x="838505" y="3219602"/>
            <a:ext cx="69540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47A6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 ② ③ — 각각 AR, 배리어 유무, 경로 방식으로 갈라집니다.</a:t>
            </a:r>
            <a:endParaRPr lang="en-US" sz="1350" dirty="0"/>
          </a:p>
        </p:txBody>
      </p:sp>
      <p:sp>
        <p:nvSpPr>
          <p:cNvPr id="16" name="Text 9"/>
          <p:cNvSpPr txBox="1"/>
          <p:nvPr/>
        </p:nvSpPr>
        <p:spPr>
          <a:xfrm>
            <a:off x="838505" y="4172407"/>
            <a:ext cx="6099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B04A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①</a:t>
            </a:r>
            <a:endParaRPr lang="en-US" sz="4050" dirty="0"/>
          </a:p>
        </p:txBody>
      </p:sp>
      <p:sp>
        <p:nvSpPr>
          <p:cNvPr id="17" name="Text 10"/>
          <p:cNvSpPr txBox="1"/>
          <p:nvPr/>
        </p:nvSpPr>
        <p:spPr>
          <a:xfrm>
            <a:off x="1657807" y="4172407"/>
            <a:ext cx="61347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①은 배리어 때문에 선폭에서 직니다.</a:t>
            </a:r>
            <a:endParaRPr lang="en-US" sz="1575" dirty="0"/>
          </a:p>
        </p:txBody>
      </p:sp>
      <p:sp>
        <p:nvSpPr>
          <p:cNvPr id="18" name="Text 11"/>
          <p:cNvSpPr txBox="1"/>
          <p:nvPr/>
        </p:nvSpPr>
        <p:spPr>
          <a:xfrm>
            <a:off x="838505" y="5219395"/>
            <a:ext cx="6099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2A4E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②</a:t>
            </a:r>
            <a:endParaRPr lang="en-US" sz="4050" dirty="0"/>
          </a:p>
        </p:txBody>
      </p:sp>
      <p:sp>
        <p:nvSpPr>
          <p:cNvPr id="19" name="Text 12"/>
          <p:cNvSpPr txBox="1"/>
          <p:nvPr/>
        </p:nvSpPr>
        <p:spPr>
          <a:xfrm>
            <a:off x="1657807" y="5219395"/>
            <a:ext cx="61347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②은 배리어를 없애고 높이로 단면적을 벌지만 정전용량과 자기발열을 떠안습니다.</a:t>
            </a:r>
            <a:endParaRPr lang="en-US" sz="1575" dirty="0"/>
          </a:p>
        </p:txBody>
      </p:sp>
      <p:sp>
        <p:nvSpPr>
          <p:cNvPr id="20" name="Text 13"/>
          <p:cNvSpPr txBox="1"/>
          <p:nvPr/>
        </p:nvSpPr>
        <p:spPr>
          <a:xfrm>
            <a:off x="838505" y="6362395"/>
            <a:ext cx="6099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B18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③</a:t>
            </a:r>
            <a:endParaRPr lang="en-US" sz="4050" dirty="0"/>
          </a:p>
        </p:txBody>
      </p:sp>
      <p:sp>
        <p:nvSpPr>
          <p:cNvPr id="21" name="Text 14"/>
          <p:cNvSpPr txBox="1"/>
          <p:nvPr/>
        </p:nvSpPr>
        <p:spPr>
          <a:xfrm>
            <a:off x="1657807" y="6362395"/>
            <a:ext cx="61347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③는 연결 경로 자체를 줄여 저항과 면적을 동시에 벌지만, AR 7.7 에칭과 충진이라는 공정 난이도를 새로 집니다.</a:t>
            </a:r>
            <a:endParaRPr lang="en-US" sz="1575" dirty="0"/>
          </a:p>
        </p:txBody>
      </p:sp>
      <p:sp>
        <p:nvSpPr>
          <p:cNvPr id="22" name="Text 15"/>
          <p:cNvSpPr txBox="1"/>
          <p:nvPr/>
        </p:nvSpPr>
        <p:spPr>
          <a:xfrm>
            <a:off x="8458200" y="2743200"/>
            <a:ext cx="9525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2A4E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열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8458200" y="2991002"/>
            <a:ext cx="9525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BSPDN은 정말 열적으로 유리한가</a:t>
            </a:r>
            <a:endParaRPr lang="en-US" sz="2100" dirty="0"/>
          </a:p>
        </p:txBody>
      </p:sp>
      <p:sp>
        <p:nvSpPr>
          <p:cNvPr id="24" name="Text 17"/>
          <p:cNvSpPr txBox="1"/>
          <p:nvPr/>
        </p:nvSpPr>
        <p:spPr>
          <a:xfrm>
            <a:off x="8458200" y="3419856"/>
            <a:ext cx="9525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후면 전력공급(BSPDN)은 전기적으로는 명확합니다. nTSV 깊이 320 nm, 착지 피치 200 nm 기준으로 전면 PDN 대비 주파수 +6%, 코어 면적 −16%, 에너지 패널티 없음. Ru nTSV는 W 대비 IR 강하를 23% 줄입니다.</a:t>
            </a:r>
            <a:endParaRPr lang="en-US" sz="1275" dirty="0"/>
          </a:p>
        </p:txBody>
      </p:sp>
      <p:sp>
        <p:nvSpPr>
          <p:cNvPr id="25" name="Text 18"/>
          <p:cNvSpPr txBox="1"/>
          <p:nvPr/>
        </p:nvSpPr>
        <p:spPr>
          <a:xfrm>
            <a:off x="8458200" y="6229807"/>
            <a:ext cx="9525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847A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imec · Backside power delivery cross-section</a:t>
            </a:r>
            <a:endParaRPr lang="en-US" sz="975" dirty="0"/>
          </a:p>
        </p:txBody>
      </p:sp>
      <p:sp>
        <p:nvSpPr>
          <p:cNvPr id="26" name="Text 19"/>
          <p:cNvSpPr txBox="1"/>
          <p:nvPr/>
        </p:nvSpPr>
        <p:spPr>
          <a:xfrm>
            <a:off x="8458200" y="6534302"/>
            <a:ext cx="28767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B04A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+6</a:t>
            </a:r>
            <a:pPr algn="l" indent="0" marL="0">
              <a:buNone/>
            </a:pPr>
            <a:r>
              <a:rPr lang="en-US" sz="1350" b="1" dirty="0">
                <a:solidFill>
                  <a:srgbClr val="B04A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2700" dirty="0"/>
          </a:p>
        </p:txBody>
      </p:sp>
      <p:sp>
        <p:nvSpPr>
          <p:cNvPr id="27" name="Text 20"/>
          <p:cNvSpPr txBox="1"/>
          <p:nvPr/>
        </p:nvSpPr>
        <p:spPr>
          <a:xfrm>
            <a:off x="8458200" y="6933895"/>
            <a:ext cx="28767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47A6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주파수</a:t>
            </a:r>
            <a:endParaRPr lang="en-US" sz="975" dirty="0"/>
          </a:p>
        </p:txBody>
      </p:sp>
      <p:sp>
        <p:nvSpPr>
          <p:cNvPr id="28" name="Text 21"/>
          <p:cNvSpPr txBox="1"/>
          <p:nvPr/>
        </p:nvSpPr>
        <p:spPr>
          <a:xfrm>
            <a:off x="11785702" y="6534302"/>
            <a:ext cx="28767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B04A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−16</a:t>
            </a:r>
            <a:pPr algn="l" indent="0" marL="0">
              <a:buNone/>
            </a:pPr>
            <a:r>
              <a:rPr lang="en-US" sz="1350" b="1" dirty="0">
                <a:solidFill>
                  <a:srgbClr val="B04A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2700" dirty="0"/>
          </a:p>
        </p:txBody>
      </p:sp>
      <p:sp>
        <p:nvSpPr>
          <p:cNvPr id="29" name="Text 22"/>
          <p:cNvSpPr txBox="1"/>
          <p:nvPr/>
        </p:nvSpPr>
        <p:spPr>
          <a:xfrm>
            <a:off x="11785702" y="6933895"/>
            <a:ext cx="28767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47A6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코어 면적</a:t>
            </a:r>
            <a:endParaRPr lang="en-US" sz="975" dirty="0"/>
          </a:p>
        </p:txBody>
      </p:sp>
      <p:sp>
        <p:nvSpPr>
          <p:cNvPr id="30" name="Text 23"/>
          <p:cNvSpPr txBox="1"/>
          <p:nvPr/>
        </p:nvSpPr>
        <p:spPr>
          <a:xfrm>
            <a:off x="15113203" y="6534302"/>
            <a:ext cx="28767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4E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−23</a:t>
            </a:r>
            <a:pPr algn="l" indent="0" marL="0">
              <a:buNone/>
            </a:pPr>
            <a:r>
              <a:rPr lang="en-US" sz="1350" b="1" dirty="0">
                <a:solidFill>
                  <a:srgbClr val="2A4E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2700" dirty="0"/>
          </a:p>
        </p:txBody>
      </p:sp>
      <p:sp>
        <p:nvSpPr>
          <p:cNvPr id="31" name="Text 24"/>
          <p:cNvSpPr txBox="1"/>
          <p:nvPr/>
        </p:nvSpPr>
        <p:spPr>
          <a:xfrm>
            <a:off x="15113203" y="6933895"/>
            <a:ext cx="28767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47A6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 nTSV IR 강하</a:t>
            </a:r>
            <a:endParaRPr lang="en-US" sz="975" dirty="0"/>
          </a:p>
        </p:txBody>
      </p:sp>
      <p:sp>
        <p:nvSpPr>
          <p:cNvPr id="32" name="Text 25"/>
          <p:cNvSpPr txBox="1"/>
          <p:nvPr/>
        </p:nvSpPr>
        <p:spPr>
          <a:xfrm>
            <a:off x="8458200" y="7410298"/>
            <a:ext cx="9525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847A6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이유는 열전도도 135 W/m·K의 실리콘을 71 W/m·K의 BSPDN 층이 대체하면서 측방향 열확산이 죽기 때문입니다. 설계 시점의 균일 전력 가정이 결론을 반대로 뒤집어버린다는 지적입니다.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3504895" y="8630107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B04A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기계</a:t>
            </a:r>
            <a:endParaRPr lang="en-US" sz="975" dirty="0"/>
          </a:p>
        </p:txBody>
      </p:sp>
      <p:sp>
        <p:nvSpPr>
          <p:cNvPr id="34" name="Text 27"/>
          <p:cNvSpPr txBox="1"/>
          <p:nvPr/>
        </p:nvSpPr>
        <p:spPr>
          <a:xfrm>
            <a:off x="3504895" y="8867851"/>
            <a:ext cx="36201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금속층 위가 아니라</a:t>
            </a:r>
            <a:pPr algn="l" indent="0" marL="0">
              <a:lnSpc>
                <a:spcPct val="128000"/>
              </a:lnSpc>
              <a:buNone/>
            </a:pP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금속층을 관통해</a:t>
            </a:r>
            <a:pPr algn="l" indent="0" marL="0">
              <a:lnSpc>
                <a:spcPct val="128000"/>
              </a:lnSpc>
              <a:buNone/>
            </a:pP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금이 간다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3504895" y="9694469"/>
            <a:ext cx="3620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36" kern="0" dirty="0">
                <a:solidFill>
                  <a:srgbClr val="847A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Oxford Instruments · Micro-cantilever bending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7410298" y="8630107"/>
            <a:ext cx="100017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그러나 열은 다릅니다. imec 자체 오픈 논문(Chen, 2025)은 균일 전력 가정에서는 BSPDN이 우위로 보이지만, 5 µm 해상도의 현실적 비균일 전력 분포를 넣으면 BSPDN의 최고온도가 전면 PDN보다 일관되게 높다고 보고합니다.</a:t>
            </a:r>
            <a:endParaRPr lang="en-US" sz="1125" dirty="0"/>
          </a:p>
        </p:txBody>
      </p:sp>
      <p:sp>
        <p:nvSpPr>
          <p:cNvPr id="37" name="Text 30"/>
          <p:cNvSpPr txBox="1"/>
          <p:nvPr/>
        </p:nvSpPr>
        <p:spPr>
          <a:xfrm>
            <a:off x="7410298" y="9153144"/>
            <a:ext cx="100017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B181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Vanstreels는 FIB로 깎은 BEOL 마이크로빔을 SEM 안에서 굽히며 균열 발생·전파·계면 박리를 직접 관찰했습니다. 길이와 폭이 다른 빔 네 개를 200–750 µN/s로 가압했고, k &lt; 2.0 Cu/low-k 스택에서 균열이 금속층 위를 따라 달리다 금속층을 관통해 지나기도 했습니다. 이는 강화 대상이 저유전율막이 아니라 금속 상부 계면이라는 뜻입니다.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2026-10-03T16:44:57Z</dcterms:created>
  <dcterms:modified xsi:type="dcterms:W3CDTF">2026-10-03T16:44:57Z</dcterms:modified>
</cp:coreProperties>
</file>