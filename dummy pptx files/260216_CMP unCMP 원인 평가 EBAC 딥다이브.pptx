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CMP" id="{d5c133d2-e52a-af11-2bf8-6df62d298b3a}">
          <p14:sldIdLst>
            <p14:sldId id="256"/>
            <p14:sldId id="257"/>
          </p14:sldIdLst>
        </p14:section>
        <p14:section name="overCMP" id="{f0b5e2bf-a88b-bee1-2023-df107cd0f09e}">
          <p14:sldIdLst>
            <p14:sldId id="258"/>
            <p14:sldId id="259"/>
            <p14:sldId id="260"/>
          </p14:sldIdLst>
        </p14:section>
        <p14:section name="일정" id="{66668937-630e-d423-672e-d4ea82d92cec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00A8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Dishing (nm)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원인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발생 원인 — ECP 과잉층부터 패턴 밀도까지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311957"/>
                <a:gridCol w="248351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A8D8"/>
                </a:solidFill>
              </a:rPr>
              <a:t>100–300 nm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64208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흄드 실리카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993392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</a:rPr>
              <a:t>pA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37744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정상 선간 전류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98064"/>
            <a:ext cx="3367735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BTA 둔화층과 패드 기계력의 균형이 핵심.</a:t>
            </a:r>
            <a:endParaRPr lang="en-US" sz="105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평가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평가 — E-Test → EBAC → AFM/TEM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655978"/>
                <a:gridCol w="2483510"/>
                <a:gridCol w="3450031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결과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unCMP 단락 방지와 overCMP 저항 증가 사이의 상충 — CMP는 매우 좁은 공정 창에서 제어되어야 함.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원인 · 영향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— Dishing/Erosion 메커니즘과 영향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331366"/>
                <a:gridCol w="1464869"/>
                <a:gridCol w="3461918"/>
                <a:gridCol w="133136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변형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발생 위치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의존 변수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Dishing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넓은 Cu 배선·패드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무른 Cu + 폴리우레탄 패드 돌기(Asperity)가 트렌치로 휘어 들어감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 시간, 선폭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Dielectric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고밀도 L/S 영역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유전막 핀 지지력 약화 → 국부 압력↑ → Preston 식에 따라 연마율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패턴 밀도, 압력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영향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표면 평탄도 훼손 → 상위 층 포토 DOF 불량.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 FILL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Dummy Fill 상충 관계 (표 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38782"/>
                <a:gridCol w="3110789"/>
                <a:gridCol w="2916936"/>
                <a:gridCol w="311078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Dummy Fill 방식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CMP 평탄도 (Dishing/Erosion)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기생 정전용량·RC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크로스토크·전자기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미적용 (희소 패턴)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불균형 → 심각한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신호선 낮은 C 유지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간섭 위험 낮음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플로팅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밀도 균일화 → 평탄도 크게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능동선과 커플링 → C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노이즈 매개 안테나 → 간섭 증폭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접지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제어·평탄도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Ground 결합 → 총 C 변동 폭 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차폐 효과 → 크로스토크 억제, 열 분산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플로팅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평탄도 개선, C 증가, 안테나 효과.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접지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차폐·열 분산, 총 C 변동 폭 큼.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시뮬레이터 결합 알고리즘.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저항 판정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Dishing 깊이 vs 저항 증가와 평가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128016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+10% = Failure.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783080"/>
            <a:ext cx="5608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093976"/>
          <a:ext cx="5608015" cy="914400"/>
        </p:xfrm>
        <a:graphic>
          <a:graphicData uri="http://schemas.openxmlformats.org/drawingml/2006/table">
            <a:tbl>
              <a:tblPr/>
              <a:tblGrid>
                <a:gridCol w="801014"/>
                <a:gridCol w="2403043"/>
                <a:gridCol w="240304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SEM / AFM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두께 소실 깊이 (Recess)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Cross-bridge 저항 패턴, 4-point probe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면저항 Rs, CD 변동량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초기 기준치 대비 R +10% 초과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동작 마진 이탈 →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시뮬레이션 → 레이아웃 피드백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더미 크기·밀도·경계선 길이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26480" y="5212080"/>
            <a:ext cx="560801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26480" y="5285232"/>
            <a:ext cx="560801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CMP 공정 창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 공정 창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 첨가제 레시피 고정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패드 컨디셔너 교체 후 베이스라인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Down-force 3수준 × BTA 2수준 split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W02–W03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WAT 선간 저항·브릿지 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단락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AFM 잔류물 두께·조성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단면 SEM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Cross-bridge Rs + 4-pt probe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밀도 시뮬레이션 피드백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Deep Dive Residue Dishing Dummy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