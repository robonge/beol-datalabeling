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평가 목적과 메트릭 정의를 3개 축 — (1) CD 변동, (2) 면내 균일도, (3) 전기적 신뢰성 — 으로 분해하여 보여준다.
M3 메탈 레이어에서 18nm 피치를 동일 조건으로 두고 Cu DD 2장과 Ru SD 2장, 총 4매 wafer에 대해 직접 비교한다.
Cu 진영은 확산 방지막(TaN/TiN 2nm) 점유와 표면/입계 산란에 의한 RC 지연이 누적되며, Ru 진영은 barrier-less로 동일 피치 내 전도 단면적을 확보한다.
본 평가는 의사결정자가 "Ru SD 후보의 양산 라인 진입 가능성"을 한 번에 판단할 수 있도록 metric 단위로 보고하도록 설계되었다.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분할은 Cu DD 2장(W1=Cu+TaN+LE³, W2=Cu+TiN+LE⁴)과 Ru SD 2장(W3=EUV SADP, W4=EUV SADP)으로 구성된다.
M3 레이어의 pitch는 4 wafer 모두 18nm, 두께는 30nm으로 통일했다. 어닐 온도는 Cu는 350°C, Ru는 420°C로 분리한다.
동일 die 좌표에서 wafer 당 49 사이트를 측정해 split 간 직접 비교가 가능하도록 설계했다.
공정 split은 "metal · barrier · patterning · anneal" 네 변수만 분리해 다른 변수에서 들어오는 노이즈를 차단한다.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공정 패밀리의 핵심 단계를 단계별로 정리한다. Cu DD는 트렌치와 비아를 동시 식각 후 TaN/TiN 배리어를 입히고 Cu로 채우는 전통적 흐름이다.
Ru Semi-Damascene는 TiN 접착 후 Ru 30nm를 PVD로 입히고 420°C 어닐로 결정성을 안정화한다. 그 위로 SiN 하드마스크를 얹고 EUV SADP spacer로 18nm 피치를 묘사한다.
이어 subtractive RIE로 Ru 라인을 식각하고, 절연막 충전 후 SiN 선택 식각으로 FSAV 비아를 형성한다. 오버레이 오차가 발생해도 비아가 라인 폭을 벗어나지 않도록 자가정렬된다.
핵심 물리적 차이는 동일 18nm 피치에서 Cu DD는 2-3nm barrier가 양쪽 벽을 점유해 전도 단면이 좁아지고, Ru SD는 barrier 없이 100% Ru 단면을 확보한다는 점이다.
본 슬라이드의 단계 표기는 dummy 데이터 셋에 한정한 단순화된 공정 순서이며, 양산 흐름의 모든 단계를 반영하지는 않는다.
takeaway는 다른 슬라이드와 동일한 full-width band 형식으로 통일했다.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좌측 사진은 Cu Dual-Damascene 시편의 단면 SEM으로, 트렌치 벽면에 TaN 2nm 배리어가 명확히 박혀 있고 그 위로 Cu 벌크가 채워진 모습이다.
우측 사진은 IMEC가 발표한 Ru Semi-Damascene + FSAV 두 금속 레벨 모듈 단면으로, 비아가 하단 라인 폭을 벗어나지 않고 자가정렬되어 있다.
같은 18nm 피치임에도 좌·우 사진의 wall 두께감, 라인 profile, 비아-라인 정렬 상태가 시각적으로 큰 차이를 보인다.
본 사진들은 test dummy data set에 첨부된 참조 사진이며, M3 평가 결과의 정성적 시각화로 활용된다.
출처 표기는 각각 1줄로 제한했고 별도 reference list는 작성하지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IMEC가 18nm 피치에서 발표한 Semi-Damascene + FSAV 단면을 hero image로 사용한다. 상단과 하단의 Ru 라인이 동일 피치로 형성되어 있고,
그 사이 비아가 하단 라인 폭을 벗어나지 않고 정확히 안착된 모습이 관찰된다. 오버레이 오차가 발생해도 비아가 자가정렬되는 게 핵심 특징이다.
EDS 맵핑에서 금속 잔류물이 없는 점, 라인 사이에서 누설 경로가 시각적으로 식별되지 않는 점이 dummy data set과 함께 정성적 근거로 사용된다.
우측 메타 카드는 raw 사진에서 확인 가능한 관찰 항목을 4가지 정리한다.
출처 표기는 imec의 공식 발표 페이지 1줄로만 기재한다.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top-view SEM 사진은 imec가 공개한 high-NA EUV single patterning demonstration 자료에서 발췌한 20nm half-pitch reference shot이다.
본 평가는 더 빡빡한 18nm 피치에서 수행되므로, 후속 슬라이드의 CD 변동과 균일도 결과는 reference 대비 보수적으로 해석된다.
우측 메타 영역에 18 vs 20nm 면적 환산 비율을 간단히 표기해 청자가 reference와 평가의 차이를 빠르게 인지하도록 한다.
출처 표기는 1줄로 제한하고 reference list 슬라이드는 별도로 두지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AASI(트렌치 상부 평균 CD, target 24.9 nm)와 ASEI(비아 하부 CD, target 16.0 nm)에 대해 wafer 별 mean, 3σ, range, target 대비 Δ를 보고한다.
Ru SD 진영(W3·W4)은 3σ가 0.7~1.1nm 수준으로 Cu DD(W1·W2)의 1.2~1.8nm 대비 30~50% 감소한다. range도 좁아진다.
target 차이는 Cu 쪽으로 +0.5~+0.2nm over-etched, Ru 쪽은 −0.1~0.0nm로 target에 더 가깝게 떨어진다.
dummy 데이터 기반이며, 본 평가는 target에서 ±1nm 이내에 들어오는 wafer의 비율을 보여주는 단순 평균 표이다. 셀 내 색 코드는 Cu는 copper, Ru는 slate로 row-level을 tagging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라인 단부 metallization 영역에 대한 AMI(target 9.7 nm)와 ACI(target 10.0 nm) 변동 표다.
Ru SD는 single-pass subtractive etch로 AMI/ACI 둘 다 일관되게 3σ가 0.4~0.6 nm 수준, Cu DD는 0.9~1.1 nm로 약 2배 수준이다.
W4 wafer는 ACI 10.0 nm에 정확히 hit + 3σ 0.4 nm로 wafer 중 가장 좁은 분산이다. M3 평가에서 line-end CD metrology가 매우 안정적이라는 신호다.
W1은 over-target 방향으로 +0.6~0.7 nm 발생, dummy 데이터이지만 어느 정도 barrierness 영향으로 해석될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상단 표는 AASI 기준 wafer 별 mean CD, 전체 3σ, 면내 3σ(WIW 3σ), max-min range를 보여준다.
하단 4장의 wafer map은 7x7 = 49 사이트 측정값을 deviation 절대값에 따라 4단계 색 농도로 매핑한 결과다.
Cu DD(W1·W2)는 copper 계열 중간-고 분포 점이 사방으로 흩어져 있고, Ru SD(W3·W4)는 slate 우세 + 간헐적 warm 점으로 안정적이다.
WIW 3σ는 W4가 0.8 nm로 가장 작아, 양산 margin 추정치가 가장 크다. color legend는 우측 상단에 4단계로 표시한다.
takeaway는 슬라이드 하단에 짧게 배치해, 위 4 map과 자연스럽게 연결되도록 했다.
본 데이터 셋은 dummy이며, calibration sweep이 아닌 49pt snapshot 형태의 placeholder 값이다.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와이어 단위 길이당 저항(R/μm), M3 누설 전류(@ 1V, pA/μm), M3-M2 단일 비아 Kelvin 저항(Ω), 비아 체인 수율, 100°C·4MV/cm 가혹 TDDB 시점(T63 hr)을 한 표로 통합한다.
Ru SD(W4)는 wire R 9.4 Ω/μm, leakage 1.9 pA/μm, via chain yield 90%, T63 1,380 hr로 wafer 중 가장 안정적이다.
Cu DD(W1·W2)와 비교 시 wire resistance 약 24% 감소, 누설 전류 약 70% 감소, 체인 수율 +14%p, TDDB 약 2.7배 향상으로 해석된다.
본 수치는 더미 테스트 셋이며, 절대값은 양산 라인의 reference가 아닌 의사결정 direction을 잡기 위한 placeholder다.
색 강조는 best wafer(W4) 기준 Cu row는 copper, Ru row는 slate로 일관 적용한다.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7.png"/><Relationship Id="rId8" Type="http://schemas.openxmlformats.org/officeDocument/2006/relationships/image" Target="../media/image-2-4.png"/><Relationship Id="rId9" Type="http://schemas.openxmlformats.org/officeDocument/2006/relationships/image" Target="../media/image-2-7.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jpeg"/><Relationship Id="rId6" Type="http://schemas.openxmlformats.org/officeDocument/2006/relationships/image" Target="../media/image-4-6.jpe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jpe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5.jpe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jpeg"/><Relationship Id="rId4" Type="http://schemas.openxmlformats.org/officeDocument/2006/relationships/image" Target="../media/image-9-4.jpeg"/><Relationship Id="rId5" Type="http://schemas.openxmlformats.org/officeDocument/2006/relationships/image" Target="../media/image-9-5.jpeg"/><Relationship Id="rId6" Type="http://schemas.openxmlformats.org/officeDocument/2006/relationships/image" Target="../media/image-9-6.jpe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495398"/>
            <a:ext cx="1524305" cy="28346"/>
          </a:xfrm>
          <a:prstGeom prst="rect">
            <a:avLst/>
          </a:prstGeom>
        </p:spPr>
      </p:pic>
      <p:sp>
        <p:nvSpPr>
          <p:cNvPr id="5" name="Shape 0"/>
          <p:cNvSpPr/>
          <p:nvPr/>
        </p:nvSpPr>
        <p:spPr>
          <a:xfrm>
            <a:off x="9334195" y="3372307"/>
            <a:ext cx="3905402" cy="1638605"/>
          </a:xfrm>
          <a:prstGeom prst="rect">
            <a:avLst/>
          </a:prstGeom>
          <a:solidFill>
            <a:srgbClr val="F2EFE7"/>
          </a:solidFill>
          <a:ln/>
        </p:spPr>
      </p:sp>
      <p:sp>
        <p:nvSpPr>
          <p:cNvPr id="6" name="Shape 1"/>
          <p:cNvSpPr/>
          <p:nvPr/>
        </p:nvSpPr>
        <p:spPr>
          <a:xfrm>
            <a:off x="9334195" y="3372307"/>
            <a:ext cx="3905402" cy="19202"/>
          </a:xfrm>
          <a:prstGeom prst="rect">
            <a:avLst/>
          </a:prstGeom>
          <a:solidFill>
            <a:srgbClr val="2D5466"/>
          </a:solidFill>
          <a:ln w="12700">
            <a:solidFill>
              <a:srgbClr val="2D5466">
                <a:alpha val="0"/>
              </a:srgbClr>
            </a:solidFill>
            <a:prstDash val="solid"/>
          </a:ln>
        </p:spPr>
      </p:sp>
      <p:sp>
        <p:nvSpPr>
          <p:cNvPr id="7" name="Shape 2"/>
          <p:cNvSpPr/>
          <p:nvPr/>
        </p:nvSpPr>
        <p:spPr>
          <a:xfrm>
            <a:off x="13430707" y="3372307"/>
            <a:ext cx="3905402" cy="1638605"/>
          </a:xfrm>
          <a:prstGeom prst="rect">
            <a:avLst/>
          </a:prstGeom>
          <a:solidFill>
            <a:srgbClr val="F2EFE7"/>
          </a:solidFill>
          <a:ln/>
        </p:spPr>
      </p:sp>
      <p:sp>
        <p:nvSpPr>
          <p:cNvPr id="8" name="Shape 3"/>
          <p:cNvSpPr/>
          <p:nvPr/>
        </p:nvSpPr>
        <p:spPr>
          <a:xfrm>
            <a:off x="13430707" y="3372307"/>
            <a:ext cx="3905402" cy="19202"/>
          </a:xfrm>
          <a:prstGeom prst="rect">
            <a:avLst/>
          </a:prstGeom>
          <a:solidFill>
            <a:srgbClr val="2D5466"/>
          </a:solidFill>
          <a:ln w="12700">
            <a:solidFill>
              <a:srgbClr val="2D5466">
                <a:alpha val="0"/>
              </a:srgbClr>
            </a:solidFill>
            <a:prstDash val="solid"/>
          </a:ln>
        </p:spPr>
      </p:sp>
      <p:sp>
        <p:nvSpPr>
          <p:cNvPr id="9" name="Shape 4"/>
          <p:cNvSpPr/>
          <p:nvPr/>
        </p:nvSpPr>
        <p:spPr>
          <a:xfrm>
            <a:off x="9334195" y="5181905"/>
            <a:ext cx="3905402" cy="1638605"/>
          </a:xfrm>
          <a:prstGeom prst="rect">
            <a:avLst/>
          </a:prstGeom>
          <a:solidFill>
            <a:srgbClr val="F2EFE7"/>
          </a:solidFill>
          <a:ln/>
        </p:spPr>
      </p:sp>
      <p:sp>
        <p:nvSpPr>
          <p:cNvPr id="10" name="Shape 5"/>
          <p:cNvSpPr/>
          <p:nvPr/>
        </p:nvSpPr>
        <p:spPr>
          <a:xfrm>
            <a:off x="9334195" y="5181905"/>
            <a:ext cx="3905402" cy="19202"/>
          </a:xfrm>
          <a:prstGeom prst="rect">
            <a:avLst/>
          </a:prstGeom>
          <a:solidFill>
            <a:srgbClr val="2D5466"/>
          </a:solidFill>
          <a:ln w="12700">
            <a:solidFill>
              <a:srgbClr val="2D5466">
                <a:alpha val="0"/>
              </a:srgbClr>
            </a:solidFill>
            <a:prstDash val="solid"/>
          </a:ln>
        </p:spPr>
      </p:sp>
      <p:sp>
        <p:nvSpPr>
          <p:cNvPr id="11" name="Shape 6"/>
          <p:cNvSpPr/>
          <p:nvPr/>
        </p:nvSpPr>
        <p:spPr>
          <a:xfrm>
            <a:off x="13430707" y="5181905"/>
            <a:ext cx="3905402" cy="1638605"/>
          </a:xfrm>
          <a:prstGeom prst="rect">
            <a:avLst/>
          </a:prstGeom>
          <a:solidFill>
            <a:srgbClr val="F2EFE7"/>
          </a:solidFill>
          <a:ln/>
        </p:spPr>
      </p:sp>
      <p:sp>
        <p:nvSpPr>
          <p:cNvPr id="12" name="Shape 7"/>
          <p:cNvSpPr/>
          <p:nvPr/>
        </p:nvSpPr>
        <p:spPr>
          <a:xfrm>
            <a:off x="13430707" y="5181905"/>
            <a:ext cx="3905402" cy="19202"/>
          </a:xfrm>
          <a:prstGeom prst="rect">
            <a:avLst/>
          </a:prstGeom>
          <a:solidFill>
            <a:srgbClr val="2D5466"/>
          </a:solidFill>
          <a:ln w="12700">
            <a:solidFill>
              <a:srgbClr val="2D5466">
                <a:alpha val="0"/>
              </a:srgbClr>
            </a:solidFill>
            <a:prstDash val="solid"/>
          </a:ln>
        </p:spPr>
      </p:sp>
      <p:sp>
        <p:nvSpPr>
          <p:cNvPr id="13" name="Shape 8"/>
          <p:cNvSpPr/>
          <p:nvPr/>
        </p:nvSpPr>
        <p:spPr>
          <a:xfrm>
            <a:off x="761695" y="8001000"/>
            <a:ext cx="16763695" cy="1047902"/>
          </a:xfrm>
          <a:prstGeom prst="rect">
            <a:avLst/>
          </a:prstGeom>
          <a:solidFill>
            <a:srgbClr val="2D5466"/>
          </a:solidFill>
          <a:ln w="12700">
            <a:solidFill>
              <a:srgbClr val="FFFFFF">
                <a:alpha val="0"/>
              </a:srgbClr>
            </a:solidFill>
            <a:prstDash val="solid"/>
          </a:ln>
        </p:spPr>
      </p:sp>
      <p:sp>
        <p:nvSpPr>
          <p:cNvPr id="14" name="Text 9"/>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M3 LAYER</a:t>
            </a:r>
            <a:endParaRPr lang="en-US" sz="900" dirty="0"/>
          </a:p>
        </p:txBody>
      </p:sp>
      <p:sp>
        <p:nvSpPr>
          <p:cNvPr id="15" name="Text 10"/>
          <p:cNvSpPr txBox="1"/>
          <p:nvPr/>
        </p:nvSpPr>
        <p:spPr>
          <a:xfrm>
            <a:off x="761695" y="1028700"/>
            <a:ext cx="12382805" cy="505663"/>
          </a:xfrm>
          <a:prstGeom prst="rect">
            <a:avLst/>
          </a:prstGeom>
          <a:noFill/>
          <a:ln/>
        </p:spPr>
        <p:txBody>
          <a:bodyPr wrap="none" lIns="0" tIns="0" rIns="0" bIns="0" rtlCol="0" anchor="ctr"/>
          <a:lstStyle/>
          <a:p>
            <a:pPr algn="l" indent="0" marL="0">
              <a:buNone/>
            </a:pPr>
            <a:r>
              <a:rPr lang="en-US" sz="3600" b="1" spc="-36" kern="0" dirty="0">
                <a:solidFill>
                  <a:srgbClr val="1A1D22"/>
                </a:solidFill>
                <a:latin typeface="Pretendard" pitchFamily="34" charset="0"/>
                <a:ea typeface="Pretendard" pitchFamily="34" charset="-122"/>
                <a:cs typeface="Pretendard" pitchFamily="34" charset="-120"/>
              </a:rPr>
              <a:t>평가 목적 및 메트릭 정의</a:t>
            </a:r>
            <a:endParaRPr lang="en-US" sz="3600" dirty="0"/>
          </a:p>
        </p:txBody>
      </p:sp>
      <p:sp>
        <p:nvSpPr>
          <p:cNvPr id="16" name="Text 11"/>
          <p:cNvSpPr txBox="1"/>
          <p:nvPr/>
        </p:nvSpPr>
        <p:spPr>
          <a:xfrm>
            <a:off x="761695" y="1665122"/>
            <a:ext cx="12382805"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금속층 M3 영역 · Cu Dual-Damascene vs Ru Semi-Damascene 공정 비교 평가</a:t>
            </a:r>
            <a:endParaRPr lang="en-US" sz="1500" dirty="0"/>
          </a:p>
        </p:txBody>
      </p:sp>
      <p:sp>
        <p:nvSpPr>
          <p:cNvPr id="17" name="Text 12"/>
          <p:cNvSpPr txBox="1"/>
          <p:nvPr/>
        </p:nvSpPr>
        <p:spPr>
          <a:xfrm>
            <a:off x="761695" y="2971800"/>
            <a:ext cx="7810805" cy="181051"/>
          </a:xfrm>
          <a:prstGeom prst="rect">
            <a:avLst/>
          </a:prstGeom>
          <a:noFill/>
          <a:ln/>
        </p:spPr>
        <p:txBody>
          <a:bodyPr wrap="none" lIns="0" tIns="0" rIns="0" bIns="0" rtlCol="0" anchor="ctr"/>
          <a:lstStyle/>
          <a:p>
            <a:pPr algn="l" indent="0" marL="0">
              <a:buNone/>
            </a:pPr>
            <a:r>
              <a:rPr lang="en-US" sz="975" b="1" spc="215" kern="0" dirty="0">
                <a:solidFill>
                  <a:srgbClr val="2D5466"/>
                </a:solidFill>
                <a:latin typeface="Pretendard" pitchFamily="34" charset="0"/>
                <a:ea typeface="Pretendard" pitchFamily="34" charset="-122"/>
                <a:cs typeface="Pretendard" pitchFamily="34" charset="-120"/>
              </a:rPr>
              <a:t>PURPOSE</a:t>
            </a:r>
            <a:endParaRPr lang="en-US" sz="975" dirty="0"/>
          </a:p>
        </p:txBody>
      </p:sp>
      <p:sp>
        <p:nvSpPr>
          <p:cNvPr id="18" name="Text 13"/>
          <p:cNvSpPr txBox="1"/>
          <p:nvPr/>
        </p:nvSpPr>
        <p:spPr>
          <a:xfrm>
            <a:off x="761695" y="3323844"/>
            <a:ext cx="7810805" cy="1086307"/>
          </a:xfrm>
          <a:prstGeom prst="rect">
            <a:avLst/>
          </a:prstGeom>
          <a:noFill/>
          <a:ln/>
        </p:spPr>
        <p:txBody>
          <a:bodyPr wrap="square" lIns="0" tIns="0" rIns="0" bIns="0" rtlCol="0" anchor="ctr"/>
          <a:lstStyle/>
          <a:p>
            <a:pPr algn="l" indent="0" marL="0">
              <a:lnSpc>
                <a:spcPts val="2828"/>
              </a:lnSpc>
              <a:buNone/>
            </a:pPr>
            <a:r>
              <a:rPr lang="en-US" sz="1950" dirty="0">
                <a:solidFill>
                  <a:srgbClr val="1A1D22"/>
                </a:solidFill>
                <a:latin typeface="Pretendard" pitchFamily="34" charset="0"/>
                <a:ea typeface="Pretendard" pitchFamily="34" charset="-122"/>
                <a:cs typeface="Pretendard" pitchFamily="34" charset="-120"/>
              </a:rPr>
              <a:t>18nm 피치 이하에서 구리 배선이 겪는 확산 방지막 점유와 표면 산란에 의한 RC 지연 문제를, Barrier-less 루테늄 세미-다마신으로 대체 가능한지 M3 메탈 레벨에서 직접 평가한다.</a:t>
            </a:r>
            <a:endParaRPr lang="en-US" sz="1950" dirty="0"/>
          </a:p>
        </p:txBody>
      </p:sp>
      <p:sp>
        <p:nvSpPr>
          <p:cNvPr id="19" name="Text 14"/>
          <p:cNvSpPr txBox="1"/>
          <p:nvPr/>
        </p:nvSpPr>
        <p:spPr>
          <a:xfrm>
            <a:off x="761695" y="4610405"/>
            <a:ext cx="7810805" cy="590702"/>
          </a:xfrm>
          <a:prstGeom prst="rect">
            <a:avLst/>
          </a:prstGeom>
          <a:noFill/>
          <a:ln/>
        </p:spPr>
        <p:txBody>
          <a:bodyPr wrap="square" lIns="0" tIns="0" rIns="0" bIns="0" rtlCol="0" anchor="ctr"/>
          <a:lstStyle/>
          <a:p>
            <a:pPr algn="l" indent="0" marL="0">
              <a:lnSpc>
                <a:spcPts val="2325"/>
              </a:lnSpc>
              <a:buNone/>
            </a:pPr>
            <a:r>
              <a:rPr lang="en-US" sz="1500" dirty="0">
                <a:solidFill>
                  <a:srgbClr val="3E434A"/>
                </a:solidFill>
                <a:latin typeface="Pretendard" pitchFamily="34" charset="0"/>
                <a:ea typeface="Pretendard" pitchFamily="34" charset="-122"/>
                <a:cs typeface="Pretendard" pitchFamily="34" charset="-120"/>
              </a:rPr>
              <a:t>평가 데이터는 CD 변동, 면내 균일도, 전기적 신뢰성 3개 축으로 분해하여, 의사결정 단위가 되는 wafer 단위 / metric 단위 수치로 보고한다.</a:t>
            </a:r>
            <a:endParaRPr lang="en-US" sz="1500" dirty="0"/>
          </a:p>
        </p:txBody>
      </p:sp>
      <p:sp>
        <p:nvSpPr>
          <p:cNvPr id="20" name="Text 15"/>
          <p:cNvSpPr txBox="1"/>
          <p:nvPr/>
        </p:nvSpPr>
        <p:spPr>
          <a:xfrm>
            <a:off x="9334195" y="2971800"/>
            <a:ext cx="8001000" cy="181051"/>
          </a:xfrm>
          <a:prstGeom prst="rect">
            <a:avLst/>
          </a:prstGeom>
          <a:noFill/>
          <a:ln/>
        </p:spPr>
        <p:txBody>
          <a:bodyPr wrap="none" lIns="0" tIns="0" rIns="0" bIns="0" rtlCol="0" anchor="ctr"/>
          <a:lstStyle/>
          <a:p>
            <a:pPr algn="l" indent="0" marL="0">
              <a:buNone/>
            </a:pPr>
            <a:r>
              <a:rPr lang="en-US" sz="975" b="1" spc="215" kern="0" dirty="0">
                <a:solidFill>
                  <a:srgbClr val="2D5466"/>
                </a:solidFill>
                <a:latin typeface="Pretendard" pitchFamily="34" charset="0"/>
                <a:ea typeface="Pretendard" pitchFamily="34" charset="-122"/>
                <a:cs typeface="Pretendard" pitchFamily="34" charset="-120"/>
              </a:rPr>
              <a:t>EVALUATION METRICS</a:t>
            </a:r>
            <a:endParaRPr lang="en-US" sz="975" dirty="0"/>
          </a:p>
        </p:txBody>
      </p:sp>
      <p:sp>
        <p:nvSpPr>
          <p:cNvPr id="21" name="Text 16"/>
          <p:cNvSpPr txBox="1"/>
          <p:nvPr/>
        </p:nvSpPr>
        <p:spPr>
          <a:xfrm>
            <a:off x="9562795" y="3562502"/>
            <a:ext cx="3525012" cy="228600"/>
          </a:xfrm>
          <a:prstGeom prst="rect">
            <a:avLst/>
          </a:prstGeom>
          <a:noFill/>
          <a:ln/>
        </p:spPr>
        <p:txBody>
          <a:bodyPr wrap="none" lIns="0" tIns="0" rIns="0" bIns="0" rtlCol="0" anchor="ctr"/>
          <a:lstStyle/>
          <a:p>
            <a:pPr algn="l" indent="0" marL="0">
              <a:buNone/>
            </a:pPr>
            <a:r>
              <a:rPr lang="en-US" sz="1200" spc="192" kern="0" dirty="0">
                <a:solidFill>
                  <a:srgbClr val="6B6F76"/>
                </a:solidFill>
                <a:latin typeface="Pretendard" pitchFamily="34" charset="0"/>
                <a:ea typeface="Pretendard" pitchFamily="34" charset="-122"/>
                <a:cs typeface="Pretendard" pitchFamily="34" charset="-120"/>
              </a:rPr>
              <a:t>01 · CD VARIATION</a:t>
            </a:r>
            <a:endParaRPr lang="en-US" sz="1200" dirty="0"/>
          </a:p>
        </p:txBody>
      </p:sp>
      <p:sp>
        <p:nvSpPr>
          <p:cNvPr id="22" name="Text 17"/>
          <p:cNvSpPr txBox="1"/>
          <p:nvPr/>
        </p:nvSpPr>
        <p:spPr>
          <a:xfrm>
            <a:off x="9562795" y="3924605"/>
            <a:ext cx="3525012"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AASI · ASEI · AMI · ACI</a:t>
            </a:r>
            <a:endParaRPr lang="en-US" sz="1800" dirty="0"/>
          </a:p>
        </p:txBody>
      </p:sp>
      <p:sp>
        <p:nvSpPr>
          <p:cNvPr id="23" name="Text 18"/>
          <p:cNvSpPr txBox="1"/>
          <p:nvPr/>
        </p:nvSpPr>
        <p:spPr>
          <a:xfrm>
            <a:off x="9562795" y="4352544"/>
            <a:ext cx="4167835" cy="257861"/>
          </a:xfrm>
          <a:prstGeom prst="rect">
            <a:avLst/>
          </a:prstGeom>
          <a:noFill/>
          <a:ln/>
        </p:spPr>
        <p:txBody>
          <a:bodyPr wrap="none" lIns="0" tIns="0" rIns="0" bIns="0" rtlCol="0" anchor="ctr"/>
          <a:lstStyle/>
          <a:p>
            <a:pPr algn="l" indent="0" marL="0">
              <a:buNone/>
            </a:pPr>
            <a:r>
              <a:rPr lang="en-US" sz="1350" dirty="0">
                <a:solidFill>
                  <a:srgbClr val="3E434A"/>
                </a:solidFill>
                <a:latin typeface="Pretendard" pitchFamily="34" charset="0"/>
                <a:ea typeface="Pretendard" pitchFamily="34" charset="-122"/>
                <a:cs typeface="Pretendard" pitchFamily="34" charset="-120"/>
              </a:rPr>
              <a:t>wafer 별 mean / 3σ / range / Δ-to-target</a:t>
            </a:r>
            <a:endParaRPr lang="en-US" sz="1350" dirty="0"/>
          </a:p>
        </p:txBody>
      </p:sp>
      <p:sp>
        <p:nvSpPr>
          <p:cNvPr id="24" name="Text 19"/>
          <p:cNvSpPr txBox="1"/>
          <p:nvPr/>
        </p:nvSpPr>
        <p:spPr>
          <a:xfrm>
            <a:off x="13659307" y="3562502"/>
            <a:ext cx="3525012" cy="228600"/>
          </a:xfrm>
          <a:prstGeom prst="rect">
            <a:avLst/>
          </a:prstGeom>
          <a:noFill/>
          <a:ln/>
        </p:spPr>
        <p:txBody>
          <a:bodyPr wrap="none" lIns="0" tIns="0" rIns="0" bIns="0" rtlCol="0" anchor="ctr"/>
          <a:lstStyle/>
          <a:p>
            <a:pPr algn="l" indent="0" marL="0">
              <a:buNone/>
            </a:pPr>
            <a:r>
              <a:rPr lang="en-US" sz="1200" spc="192" kern="0" dirty="0">
                <a:solidFill>
                  <a:srgbClr val="6B6F76"/>
                </a:solidFill>
                <a:latin typeface="Pretendard" pitchFamily="34" charset="0"/>
                <a:ea typeface="Pretendard" pitchFamily="34" charset="-122"/>
                <a:cs typeface="Pretendard" pitchFamily="34" charset="-120"/>
              </a:rPr>
              <a:t>02 · WITHIN-WAFER</a:t>
            </a:r>
            <a:endParaRPr lang="en-US" sz="1200" dirty="0"/>
          </a:p>
        </p:txBody>
      </p:sp>
      <p:sp>
        <p:nvSpPr>
          <p:cNvPr id="25" name="Text 20"/>
          <p:cNvSpPr txBox="1"/>
          <p:nvPr/>
        </p:nvSpPr>
        <p:spPr>
          <a:xfrm>
            <a:off x="13659307" y="3924605"/>
            <a:ext cx="3525012"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In-wafer 균일도</a:t>
            </a:r>
            <a:endParaRPr lang="en-US" sz="1800" dirty="0"/>
          </a:p>
        </p:txBody>
      </p:sp>
      <p:sp>
        <p:nvSpPr>
          <p:cNvPr id="26" name="Text 21"/>
          <p:cNvSpPr txBox="1"/>
          <p:nvPr/>
        </p:nvSpPr>
        <p:spPr>
          <a:xfrm>
            <a:off x="13659307" y="4352544"/>
            <a:ext cx="4023360" cy="257861"/>
          </a:xfrm>
          <a:prstGeom prst="rect">
            <a:avLst/>
          </a:prstGeom>
          <a:noFill/>
          <a:ln/>
        </p:spPr>
        <p:txBody>
          <a:bodyPr wrap="none" lIns="0" tIns="0" rIns="0" bIns="0" rtlCol="0" anchor="ctr"/>
          <a:lstStyle/>
          <a:p>
            <a:pPr algn="l" indent="0" marL="0">
              <a:buNone/>
            </a:pPr>
            <a:r>
              <a:rPr lang="en-US" sz="1350" dirty="0">
                <a:solidFill>
                  <a:srgbClr val="3E434A"/>
                </a:solidFill>
                <a:latin typeface="Pretendard" pitchFamily="34" charset="0"/>
                <a:ea typeface="Pretendard" pitchFamily="34" charset="-122"/>
                <a:cs typeface="Pretendard" pitchFamily="34" charset="-120"/>
              </a:rPr>
              <a:t>49pt wafer map + mean / 3σ / WIW range</a:t>
            </a:r>
            <a:endParaRPr lang="en-US" sz="1350" dirty="0"/>
          </a:p>
        </p:txBody>
      </p:sp>
      <p:sp>
        <p:nvSpPr>
          <p:cNvPr id="27" name="Text 22"/>
          <p:cNvSpPr txBox="1"/>
          <p:nvPr/>
        </p:nvSpPr>
        <p:spPr>
          <a:xfrm>
            <a:off x="9562795" y="5372100"/>
            <a:ext cx="3525012" cy="228600"/>
          </a:xfrm>
          <a:prstGeom prst="rect">
            <a:avLst/>
          </a:prstGeom>
          <a:noFill/>
          <a:ln/>
        </p:spPr>
        <p:txBody>
          <a:bodyPr wrap="none" lIns="0" tIns="0" rIns="0" bIns="0" rtlCol="0" anchor="ctr"/>
          <a:lstStyle/>
          <a:p>
            <a:pPr algn="l" indent="0" marL="0">
              <a:buNone/>
            </a:pPr>
            <a:r>
              <a:rPr lang="en-US" sz="1200" spc="192" kern="0" dirty="0">
                <a:solidFill>
                  <a:srgbClr val="6B6F76"/>
                </a:solidFill>
                <a:latin typeface="Pretendard" pitchFamily="34" charset="0"/>
                <a:ea typeface="Pretendard" pitchFamily="34" charset="-122"/>
                <a:cs typeface="Pretendard" pitchFamily="34" charset="-120"/>
              </a:rPr>
              <a:t>03 · ELECTRICAL</a:t>
            </a:r>
            <a:endParaRPr lang="en-US" sz="1200" dirty="0"/>
          </a:p>
        </p:txBody>
      </p:sp>
      <p:sp>
        <p:nvSpPr>
          <p:cNvPr id="28" name="Text 23"/>
          <p:cNvSpPr txBox="1"/>
          <p:nvPr/>
        </p:nvSpPr>
        <p:spPr>
          <a:xfrm>
            <a:off x="9562795" y="5734202"/>
            <a:ext cx="3525012"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저항 / 누설 전류</a:t>
            </a:r>
            <a:endParaRPr lang="en-US" sz="1800" dirty="0"/>
          </a:p>
        </p:txBody>
      </p:sp>
      <p:sp>
        <p:nvSpPr>
          <p:cNvPr id="29" name="Text 24"/>
          <p:cNvSpPr txBox="1"/>
          <p:nvPr/>
        </p:nvSpPr>
        <p:spPr>
          <a:xfrm>
            <a:off x="9562795" y="6163056"/>
            <a:ext cx="4120286" cy="257861"/>
          </a:xfrm>
          <a:prstGeom prst="rect">
            <a:avLst/>
          </a:prstGeom>
          <a:noFill/>
          <a:ln/>
        </p:spPr>
        <p:txBody>
          <a:bodyPr wrap="none" lIns="0" tIns="0" rIns="0" bIns="0" rtlCol="0" anchor="ctr"/>
          <a:lstStyle/>
          <a:p>
            <a:pPr algn="l" indent="0" marL="0">
              <a:buNone/>
            </a:pPr>
            <a:r>
              <a:rPr lang="en-US" sz="1350" dirty="0">
                <a:solidFill>
                  <a:srgbClr val="3E434A"/>
                </a:solidFill>
                <a:latin typeface="Pretendard" pitchFamily="34" charset="0"/>
                <a:ea typeface="Pretendard" pitchFamily="34" charset="-122"/>
                <a:cs typeface="Pretendard" pitchFamily="34" charset="-120"/>
              </a:rPr>
              <a:t>와이어 저항 · 라인-라인 누설 · 비아 체인 수율</a:t>
            </a:r>
            <a:endParaRPr lang="en-US" sz="1350" dirty="0"/>
          </a:p>
        </p:txBody>
      </p:sp>
      <p:sp>
        <p:nvSpPr>
          <p:cNvPr id="30" name="Text 25"/>
          <p:cNvSpPr txBox="1"/>
          <p:nvPr/>
        </p:nvSpPr>
        <p:spPr>
          <a:xfrm>
            <a:off x="13659307" y="5372100"/>
            <a:ext cx="3525012" cy="228600"/>
          </a:xfrm>
          <a:prstGeom prst="rect">
            <a:avLst/>
          </a:prstGeom>
          <a:noFill/>
          <a:ln/>
        </p:spPr>
        <p:txBody>
          <a:bodyPr wrap="none" lIns="0" tIns="0" rIns="0" bIns="0" rtlCol="0" anchor="ctr"/>
          <a:lstStyle/>
          <a:p>
            <a:pPr algn="l" indent="0" marL="0">
              <a:buNone/>
            </a:pPr>
            <a:r>
              <a:rPr lang="en-US" sz="1200" spc="192" kern="0" dirty="0">
                <a:solidFill>
                  <a:srgbClr val="6B6F76"/>
                </a:solidFill>
                <a:latin typeface="Pretendard" pitchFamily="34" charset="0"/>
                <a:ea typeface="Pretendard" pitchFamily="34" charset="-122"/>
                <a:cs typeface="Pretendard" pitchFamily="34" charset="-120"/>
              </a:rPr>
              <a:t>04 · RELIABILITY</a:t>
            </a:r>
            <a:endParaRPr lang="en-US" sz="1200" dirty="0"/>
          </a:p>
        </p:txBody>
      </p:sp>
      <p:sp>
        <p:nvSpPr>
          <p:cNvPr id="31" name="Text 26"/>
          <p:cNvSpPr txBox="1"/>
          <p:nvPr/>
        </p:nvSpPr>
        <p:spPr>
          <a:xfrm>
            <a:off x="13659307" y="5734202"/>
            <a:ext cx="3525012"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TDDB T63%</a:t>
            </a:r>
            <a:endParaRPr lang="en-US" sz="1800" dirty="0"/>
          </a:p>
        </p:txBody>
      </p:sp>
      <p:sp>
        <p:nvSpPr>
          <p:cNvPr id="32" name="Text 27"/>
          <p:cNvSpPr txBox="1"/>
          <p:nvPr/>
        </p:nvSpPr>
        <p:spPr>
          <a:xfrm>
            <a:off x="13659307" y="6163056"/>
            <a:ext cx="3776472" cy="257861"/>
          </a:xfrm>
          <a:prstGeom prst="rect">
            <a:avLst/>
          </a:prstGeom>
          <a:noFill/>
          <a:ln/>
        </p:spPr>
        <p:txBody>
          <a:bodyPr wrap="none" lIns="0" tIns="0" rIns="0" bIns="0" rtlCol="0" anchor="ctr"/>
          <a:lstStyle/>
          <a:p>
            <a:pPr algn="l" indent="0" marL="0">
              <a:buNone/>
            </a:pPr>
            <a:r>
              <a:rPr lang="en-US" sz="1350" dirty="0">
                <a:solidFill>
                  <a:srgbClr val="3E434A"/>
                </a:solidFill>
                <a:latin typeface="Pretendard" pitchFamily="34" charset="0"/>
                <a:ea typeface="Pretendard" pitchFamily="34" charset="-122"/>
                <a:cs typeface="Pretendard" pitchFamily="34" charset="-120"/>
              </a:rPr>
              <a:t>100°C 가혹 조건 · 4 MV·cm⁻¹ · T63 누적</a:t>
            </a:r>
            <a:endParaRPr lang="en-US" sz="1350" dirty="0"/>
          </a:p>
        </p:txBody>
      </p:sp>
      <p:sp>
        <p:nvSpPr>
          <p:cNvPr id="33" name="Text 28"/>
          <p:cNvSpPr txBox="1"/>
          <p:nvPr/>
        </p:nvSpPr>
        <p:spPr>
          <a:xfrm>
            <a:off x="761695" y="5810098"/>
            <a:ext cx="7810805" cy="181051"/>
          </a:xfrm>
          <a:prstGeom prst="rect">
            <a:avLst/>
          </a:prstGeom>
          <a:noFill/>
          <a:ln/>
        </p:spPr>
        <p:txBody>
          <a:bodyPr wrap="none" lIns="0" tIns="0" rIns="0" bIns="0" rtlCol="0" anchor="ctr"/>
          <a:lstStyle/>
          <a:p>
            <a:pPr algn="l" indent="0" marL="0">
              <a:buNone/>
            </a:pPr>
            <a:r>
              <a:rPr lang="en-US" sz="975" spc="215" kern="0" dirty="0">
                <a:solidFill>
                  <a:srgbClr val="6B6F76"/>
                </a:solidFill>
                <a:latin typeface="Pretendard" pitchFamily="34" charset="0"/>
                <a:ea typeface="Pretendard" pitchFamily="34" charset="-122"/>
                <a:cs typeface="Pretendard" pitchFamily="34" charset="-120"/>
              </a:rPr>
              <a:t>EVALUATION SCOPE</a:t>
            </a:r>
            <a:endParaRPr lang="en-US" sz="975" dirty="0"/>
          </a:p>
        </p:txBody>
      </p:sp>
      <p:sp>
        <p:nvSpPr>
          <p:cNvPr id="34" name="Text 29"/>
          <p:cNvSpPr txBox="1"/>
          <p:nvPr/>
        </p:nvSpPr>
        <p:spPr>
          <a:xfrm>
            <a:off x="761695" y="6105449"/>
            <a:ext cx="1505102" cy="495605"/>
          </a:xfrm>
          <a:prstGeom prst="rect">
            <a:avLst/>
          </a:prstGeom>
          <a:solidFill>
            <a:srgbClr val="FFFFFF"/>
          </a:solidFill>
          <a:ln w="12700">
            <a:solidFill>
              <a:srgbClr val="DDDAD2"/>
            </a:solidFill>
          </a:ln>
        </p:spPr>
        <p:txBody>
          <a:bodyPr wrap="none" lIns="139700" tIns="63500" rIns="139700" bIns="63500" rtlCol="0" anchor="ctr"/>
          <a:lstStyle/>
          <a:p>
            <a:pPr algn="l" indent="0" marL="0">
              <a:lnSpc>
                <a:spcPts val="2790"/>
              </a:lnSpc>
              <a:buNone/>
            </a:pPr>
            <a:r>
              <a:rPr lang="en-US" sz="1800" dirty="0">
                <a:solidFill>
                  <a:srgbClr val="2D5466"/>
                </a:solidFill>
                <a:latin typeface="Pretendard" pitchFamily="34" charset="0"/>
                <a:ea typeface="Pretendard" pitchFamily="34" charset="-122"/>
                <a:cs typeface="Pretendard" pitchFamily="34" charset="-120"/>
              </a:rPr>
              <a:t>18nm pitch</a:t>
            </a:r>
            <a:endParaRPr lang="en-US" sz="1800" dirty="0"/>
          </a:p>
        </p:txBody>
      </p:sp>
      <p:sp>
        <p:nvSpPr>
          <p:cNvPr id="35" name="Text 30"/>
          <p:cNvSpPr txBox="1"/>
          <p:nvPr/>
        </p:nvSpPr>
        <p:spPr>
          <a:xfrm>
            <a:off x="2353666" y="6105449"/>
            <a:ext cx="1867205" cy="495605"/>
          </a:xfrm>
          <a:prstGeom prst="rect">
            <a:avLst/>
          </a:prstGeom>
          <a:solidFill>
            <a:srgbClr val="FFFFFF"/>
          </a:solidFill>
          <a:ln w="12700">
            <a:solidFill>
              <a:srgbClr val="DDDAD2"/>
            </a:solidFill>
          </a:ln>
        </p:spPr>
        <p:txBody>
          <a:bodyPr wrap="none" lIns="139700" tIns="63500" rIns="139700" bIns="63500" rtlCol="0" anchor="ctr"/>
          <a:lstStyle/>
          <a:p>
            <a:pPr algn="l" indent="0" marL="0">
              <a:lnSpc>
                <a:spcPts val="2790"/>
              </a:lnSpc>
              <a:buNone/>
            </a:pPr>
            <a:r>
              <a:rPr lang="en-US" sz="1800" dirty="0">
                <a:solidFill>
                  <a:srgbClr val="2D5466"/>
                </a:solidFill>
                <a:latin typeface="Pretendard" pitchFamily="34" charset="0"/>
                <a:ea typeface="Pretendard" pitchFamily="34" charset="-122"/>
                <a:cs typeface="Pretendard" pitchFamily="34" charset="-120"/>
              </a:rPr>
              <a:t>M3 metal layer</a:t>
            </a:r>
            <a:endParaRPr lang="en-US" sz="1800" dirty="0"/>
          </a:p>
        </p:txBody>
      </p:sp>
      <p:sp>
        <p:nvSpPr>
          <p:cNvPr id="36" name="Text 31"/>
          <p:cNvSpPr txBox="1"/>
          <p:nvPr/>
        </p:nvSpPr>
        <p:spPr>
          <a:xfrm>
            <a:off x="4310482" y="6105449"/>
            <a:ext cx="1600200" cy="495605"/>
          </a:xfrm>
          <a:prstGeom prst="rect">
            <a:avLst/>
          </a:prstGeom>
          <a:solidFill>
            <a:srgbClr val="FFFFFF"/>
          </a:solidFill>
          <a:ln w="12700">
            <a:solidFill>
              <a:srgbClr val="DDDAD2"/>
            </a:solidFill>
          </a:ln>
        </p:spPr>
        <p:txBody>
          <a:bodyPr wrap="none" lIns="139700" tIns="63500" rIns="139700" bIns="63500" rtlCol="0" anchor="ctr"/>
          <a:lstStyle/>
          <a:p>
            <a:pPr algn="l" indent="0" marL="0">
              <a:lnSpc>
                <a:spcPts val="2790"/>
              </a:lnSpc>
              <a:buNone/>
            </a:pPr>
            <a:r>
              <a:rPr lang="en-US" sz="1800" dirty="0">
                <a:solidFill>
                  <a:srgbClr val="2D5466"/>
                </a:solidFill>
                <a:latin typeface="Pretendard" pitchFamily="34" charset="0"/>
                <a:ea typeface="Pretendard" pitchFamily="34" charset="-122"/>
                <a:cs typeface="Pretendard" pitchFamily="34" charset="-120"/>
              </a:rPr>
              <a:t>4 wafer split</a:t>
            </a:r>
            <a:endParaRPr lang="en-US" sz="1800" dirty="0"/>
          </a:p>
        </p:txBody>
      </p:sp>
      <p:sp>
        <p:nvSpPr>
          <p:cNvPr id="37" name="Text 32"/>
          <p:cNvSpPr txBox="1"/>
          <p:nvPr/>
        </p:nvSpPr>
        <p:spPr>
          <a:xfrm>
            <a:off x="761695" y="6688836"/>
            <a:ext cx="4924958" cy="495605"/>
          </a:xfrm>
          <a:prstGeom prst="rect">
            <a:avLst/>
          </a:prstGeom>
          <a:solidFill>
            <a:srgbClr val="FFFFFF"/>
          </a:solidFill>
          <a:ln w="12700">
            <a:solidFill>
              <a:srgbClr val="DDDAD2"/>
            </a:solidFill>
          </a:ln>
        </p:spPr>
        <p:txBody>
          <a:bodyPr wrap="none" lIns="139700" tIns="63500" rIns="139700" bIns="63500" rtlCol="0" anchor="ctr"/>
          <a:lstStyle/>
          <a:p>
            <a:pPr algn="l" indent="0" marL="0">
              <a:lnSpc>
                <a:spcPts val="2790"/>
              </a:lnSpc>
              <a:buNone/>
            </a:pPr>
            <a:r>
              <a:rPr lang="en-US" sz="1800" dirty="0">
                <a:solidFill>
                  <a:srgbClr val="2D5466"/>
                </a:solidFill>
                <a:latin typeface="Pretendard" pitchFamily="34" charset="0"/>
                <a:ea typeface="Pretendard" pitchFamily="34" charset="-122"/>
                <a:cs typeface="Pretendard" pitchFamily="34" charset="-120"/>
              </a:rPr>
              <a:t>Cu dual-damascene × Ru semi-damascene</a:t>
            </a:r>
            <a:endParaRPr lang="en-US" sz="1800" dirty="0"/>
          </a:p>
        </p:txBody>
      </p:sp>
      <p:sp>
        <p:nvSpPr>
          <p:cNvPr id="38" name="Text 33"/>
          <p:cNvSpPr txBox="1"/>
          <p:nvPr/>
        </p:nvSpPr>
        <p:spPr>
          <a:xfrm>
            <a:off x="5776265" y="6688836"/>
            <a:ext cx="1752905" cy="495605"/>
          </a:xfrm>
          <a:prstGeom prst="rect">
            <a:avLst/>
          </a:prstGeom>
          <a:solidFill>
            <a:srgbClr val="FFFFFF"/>
          </a:solidFill>
          <a:ln w="12700">
            <a:solidFill>
              <a:srgbClr val="DDDAD2"/>
            </a:solidFill>
          </a:ln>
        </p:spPr>
        <p:txBody>
          <a:bodyPr wrap="none" lIns="139700" tIns="63500" rIns="139700" bIns="63500" rtlCol="0" anchor="ctr"/>
          <a:lstStyle/>
          <a:p>
            <a:pPr algn="l" indent="0" marL="0">
              <a:lnSpc>
                <a:spcPts val="2790"/>
              </a:lnSpc>
              <a:buNone/>
            </a:pPr>
            <a:r>
              <a:rPr lang="en-US" sz="1800" dirty="0">
                <a:solidFill>
                  <a:srgbClr val="2D5466"/>
                </a:solidFill>
                <a:latin typeface="Pretendard" pitchFamily="34" charset="0"/>
                <a:ea typeface="Pretendard" pitchFamily="34" charset="-122"/>
                <a:cs typeface="Pretendard" pitchFamily="34" charset="-120"/>
              </a:rPr>
              <a:t>300mm wafer</a:t>
            </a:r>
            <a:endParaRPr lang="en-US" sz="1800" dirty="0"/>
          </a:p>
        </p:txBody>
      </p:sp>
      <p:sp>
        <p:nvSpPr>
          <p:cNvPr id="39" name="Text 34"/>
          <p:cNvSpPr txBox="1"/>
          <p:nvPr/>
        </p:nvSpPr>
        <p:spPr>
          <a:xfrm>
            <a:off x="1143000" y="8229600"/>
            <a:ext cx="2286000" cy="181051"/>
          </a:xfrm>
          <a:prstGeom prst="rect">
            <a:avLst/>
          </a:prstGeom>
          <a:noFill/>
          <a:ln/>
        </p:spPr>
        <p:txBody>
          <a:bodyPr wrap="none" lIns="0" tIns="0" rIns="0" bIns="0" rtlCol="0" anchor="ctr"/>
          <a:lstStyle/>
          <a:p>
            <a:pPr algn="l" indent="0" marL="0">
              <a:buNone/>
            </a:pPr>
            <a:r>
              <a:rPr lang="en-US" sz="975" spc="273" kern="0" dirty="0">
                <a:solidFill>
                  <a:srgbClr val="9CC1CC"/>
                </a:solidFill>
                <a:latin typeface="Pretendard" pitchFamily="34" charset="0"/>
                <a:ea typeface="Pretendard" pitchFamily="34" charset="-122"/>
                <a:cs typeface="Pretendard" pitchFamily="34" charset="-120"/>
              </a:rPr>
              <a:t>KEY TAKEAWAY</a:t>
            </a:r>
            <a:endParaRPr lang="en-US" sz="975" dirty="0"/>
          </a:p>
        </p:txBody>
      </p:sp>
      <p:sp>
        <p:nvSpPr>
          <p:cNvPr id="40" name="Text 35"/>
          <p:cNvSpPr txBox="1"/>
          <p:nvPr/>
        </p:nvSpPr>
        <p:spPr>
          <a:xfrm>
            <a:off x="1143000" y="8553298"/>
            <a:ext cx="16002000" cy="324612"/>
          </a:xfrm>
          <a:prstGeom prst="rect">
            <a:avLst/>
          </a:prstGeom>
          <a:noFill/>
          <a:ln/>
        </p:spPr>
        <p:txBody>
          <a:bodyPr wrap="none" lIns="0" tIns="0" rIns="0" bIns="0" rtlCol="0" anchor="ctr"/>
          <a:lstStyle/>
          <a:p>
            <a:pPr algn="l" indent="0" marL="0">
              <a:buNone/>
            </a:pPr>
            <a:r>
              <a:rPr lang="en-US" sz="1800" dirty="0">
                <a:solidFill>
                  <a:srgbClr val="FFFFFF"/>
                </a:solidFill>
                <a:latin typeface="Pretendard" pitchFamily="34" charset="0"/>
                <a:ea typeface="Pretendard" pitchFamily="34" charset="-122"/>
                <a:cs typeface="Pretendard" pitchFamily="34" charset="-120"/>
              </a:rPr>
              <a:t>CD 변동 · 면내 균일도 · 전기적 신뢰성 3개 축으로 평가해 Ru Semi-Damascene 후보의 양산 라인 진입 가능성을 정량화한다.</a:t>
            </a:r>
            <a:endParaRPr lang="en-US" sz="1800" dirty="0"/>
          </a:p>
        </p:txBody>
      </p:sp>
      <p:sp>
        <p:nvSpPr>
          <p:cNvPr id="41" name="Text 36"/>
          <p:cNvSpPr txBox="1"/>
          <p:nvPr/>
        </p:nvSpPr>
        <p:spPr>
          <a:xfrm>
            <a:off x="761695" y="9696298"/>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495398"/>
            <a:ext cx="1524305" cy="28346"/>
          </a:xfrm>
          <a:prstGeom prst="rect">
            <a:avLst/>
          </a:prstGeom>
        </p:spPr>
      </p:pic>
      <p:sp>
        <p:nvSpPr>
          <p:cNvPr id="5" name="Shape 0"/>
          <p:cNvSpPr/>
          <p:nvPr/>
        </p:nvSpPr>
        <p:spPr>
          <a:xfrm>
            <a:off x="761695" y="3238805"/>
            <a:ext cx="10477195" cy="418795"/>
          </a:xfrm>
          <a:prstGeom prst="rect">
            <a:avLst/>
          </a:prstGeom>
          <a:solidFill>
            <a:srgbClr val="F2EFE7"/>
          </a:solidFill>
          <a:ln w="12700">
            <a:solidFill>
              <a:srgbClr val="FFFFFF">
                <a:alpha val="0"/>
              </a:srgbClr>
            </a:solidFill>
            <a:prstDash val="solid"/>
          </a:ln>
        </p:spPr>
      </p:sp>
      <p:pic>
        <p:nvPicPr>
          <p:cNvPr id="6" name="Image 2" descr="gen-dedup-14eb3060d2359b1b52011025613e770a.png">    </p:cNvPr>
          <p:cNvPicPr>
            <a:picLocks noChangeAspect="1"/>
          </p:cNvPicPr>
          <p:nvPr/>
        </p:nvPicPr>
        <p:blipFill>
          <a:blip r:embed="rId3"/>
          <a:srcRect l="-355" r="-355" t="0" b="0"/>
          <a:stretch/>
        </p:blipFill>
        <p:spPr>
          <a:xfrm>
            <a:off x="761695" y="3676802"/>
            <a:ext cx="57607" cy="514807"/>
          </a:xfrm>
          <a:prstGeom prst="rect">
            <a:avLst/>
          </a:prstGeom>
        </p:spPr>
      </p:pic>
      <p:pic>
        <p:nvPicPr>
          <p:cNvPr id="7" name="Image 3" descr="gen-dedup-0b68d1949a475e4cce922d74cc84dbc8.png">    </p:cNvPr>
          <p:cNvPicPr>
            <a:picLocks noChangeAspect="1"/>
          </p:cNvPicPr>
          <p:nvPr/>
        </p:nvPicPr>
        <p:blipFill>
          <a:blip r:embed="rId4"/>
          <a:srcRect l="-2083" r="-2083" t="0" b="0"/>
          <a:stretch/>
        </p:blipFill>
        <p:spPr>
          <a:xfrm>
            <a:off x="761695" y="4153205"/>
            <a:ext cx="10477195" cy="9144"/>
          </a:xfrm>
          <a:prstGeom prst="rect">
            <a:avLst/>
          </a:prstGeom>
        </p:spPr>
      </p:pic>
      <p:pic>
        <p:nvPicPr>
          <p:cNvPr id="8" name="Image 4" descr="gen-dedup-14eb3060d2359b1b52011025613e770a.png">    </p:cNvPr>
          <p:cNvPicPr>
            <a:picLocks noChangeAspect="1"/>
          </p:cNvPicPr>
          <p:nvPr/>
        </p:nvPicPr>
        <p:blipFill>
          <a:blip r:embed="rId5"/>
          <a:srcRect l="-355" r="-355" t="0" b="0"/>
          <a:stretch/>
        </p:blipFill>
        <p:spPr>
          <a:xfrm>
            <a:off x="761695" y="4190695"/>
            <a:ext cx="57607" cy="514807"/>
          </a:xfrm>
          <a:prstGeom prst="rect">
            <a:avLst/>
          </a:prstGeom>
        </p:spPr>
      </p:pic>
      <p:pic>
        <p:nvPicPr>
          <p:cNvPr id="9" name="Image 5" descr="gen-dedup-0b68d1949a475e4cce922d74cc84dbc8.png">    </p:cNvPr>
          <p:cNvPicPr>
            <a:picLocks noChangeAspect="1"/>
          </p:cNvPicPr>
          <p:nvPr/>
        </p:nvPicPr>
        <p:blipFill>
          <a:blip r:embed="rId6"/>
          <a:srcRect l="-2083" r="-2083" t="0" b="0"/>
          <a:stretch/>
        </p:blipFill>
        <p:spPr>
          <a:xfrm>
            <a:off x="761695" y="4667098"/>
            <a:ext cx="10477195" cy="9144"/>
          </a:xfrm>
          <a:prstGeom prst="rect">
            <a:avLst/>
          </a:prstGeom>
        </p:spPr>
      </p:pic>
      <p:pic>
        <p:nvPicPr>
          <p:cNvPr id="10" name="Image 6" descr="gen-dedup-5a2583c512d2024e6455bee1ea334d89.png">    </p:cNvPr>
          <p:cNvPicPr>
            <a:picLocks noChangeAspect="1"/>
          </p:cNvPicPr>
          <p:nvPr/>
        </p:nvPicPr>
        <p:blipFill>
          <a:blip r:embed="rId7"/>
          <a:srcRect l="-355" r="-355" t="0" b="0"/>
          <a:stretch/>
        </p:blipFill>
        <p:spPr>
          <a:xfrm>
            <a:off x="761695" y="4705502"/>
            <a:ext cx="57607" cy="514807"/>
          </a:xfrm>
          <a:prstGeom prst="rect">
            <a:avLst/>
          </a:prstGeom>
        </p:spPr>
      </p:pic>
      <p:pic>
        <p:nvPicPr>
          <p:cNvPr id="11" name="Image 7" descr="gen-dedup-0b68d1949a475e4cce922d74cc84dbc8.png">    </p:cNvPr>
          <p:cNvPicPr>
            <a:picLocks noChangeAspect="1"/>
          </p:cNvPicPr>
          <p:nvPr/>
        </p:nvPicPr>
        <p:blipFill>
          <a:blip r:embed="rId8"/>
          <a:srcRect l="-2083" r="-2083" t="0" b="0"/>
          <a:stretch/>
        </p:blipFill>
        <p:spPr>
          <a:xfrm>
            <a:off x="761695" y="5181905"/>
            <a:ext cx="10477195" cy="9144"/>
          </a:xfrm>
          <a:prstGeom prst="rect">
            <a:avLst/>
          </a:prstGeom>
        </p:spPr>
      </p:pic>
      <p:pic>
        <p:nvPicPr>
          <p:cNvPr id="12" name="Image 8" descr="gen-dedup-5a2583c512d2024e6455bee1ea334d89.png">    </p:cNvPr>
          <p:cNvPicPr>
            <a:picLocks noChangeAspect="1"/>
          </p:cNvPicPr>
          <p:nvPr/>
        </p:nvPicPr>
        <p:blipFill>
          <a:blip r:embed="rId9"/>
          <a:srcRect l="-355" r="-355" t="0" b="0"/>
          <a:stretch/>
        </p:blipFill>
        <p:spPr>
          <a:xfrm>
            <a:off x="761695" y="5219395"/>
            <a:ext cx="57607" cy="514807"/>
          </a:xfrm>
          <a:prstGeom prst="rect">
            <a:avLst/>
          </a:prstGeom>
        </p:spPr>
      </p:pic>
      <p:pic>
        <p:nvPicPr>
          <p:cNvPr id="13" name="Image 9" descr="gen-dedup-74bba481c3a82187084554d5d365aa11.png">    </p:cNvPr>
          <p:cNvPicPr>
            <a:picLocks noChangeAspect="1"/>
          </p:cNvPicPr>
          <p:nvPr/>
        </p:nvPicPr>
        <p:blipFill>
          <a:blip r:embed="rId10"/>
          <a:srcRect l="-2083" r="-2083" t="0" b="0"/>
          <a:stretch/>
        </p:blipFill>
        <p:spPr>
          <a:xfrm>
            <a:off x="761695" y="5715000"/>
            <a:ext cx="10477195" cy="9144"/>
          </a:xfrm>
          <a:prstGeom prst="rect">
            <a:avLst/>
          </a:prstGeom>
        </p:spPr>
      </p:pic>
      <p:sp>
        <p:nvSpPr>
          <p:cNvPr id="14" name="Shape 1"/>
          <p:cNvSpPr/>
          <p:nvPr/>
        </p:nvSpPr>
        <p:spPr>
          <a:xfrm>
            <a:off x="11811305" y="3238805"/>
            <a:ext cx="5715000" cy="2476195"/>
          </a:xfrm>
          <a:prstGeom prst="rect">
            <a:avLst/>
          </a:prstGeom>
          <a:solidFill>
            <a:srgbClr val="F2EFE7"/>
          </a:solidFill>
          <a:ln w="12700">
            <a:solidFill>
              <a:srgbClr val="FFFFFF">
                <a:alpha val="0"/>
              </a:srgbClr>
            </a:solidFill>
            <a:prstDash val="solid"/>
          </a:ln>
        </p:spPr>
      </p:sp>
      <p:sp>
        <p:nvSpPr>
          <p:cNvPr id="15" name="Shape 2"/>
          <p:cNvSpPr/>
          <p:nvPr/>
        </p:nvSpPr>
        <p:spPr>
          <a:xfrm>
            <a:off x="761695" y="8001000"/>
            <a:ext cx="16763695" cy="1047902"/>
          </a:xfrm>
          <a:prstGeom prst="rect">
            <a:avLst/>
          </a:prstGeom>
          <a:solidFill>
            <a:srgbClr val="2D5466"/>
          </a:solidFill>
          <a:ln w="12700">
            <a:solidFill>
              <a:srgbClr val="FFFFFF">
                <a:alpha val="0"/>
              </a:srgbClr>
            </a:solidFill>
            <a:prstDash val="solid"/>
          </a:ln>
        </p:spPr>
      </p:sp>
      <p:sp>
        <p:nvSpPr>
          <p:cNvPr id="16" name="Text 3"/>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CONDITIONS</a:t>
            </a:r>
            <a:endParaRPr lang="en-US" sz="900" dirty="0"/>
          </a:p>
        </p:txBody>
      </p:sp>
      <p:sp>
        <p:nvSpPr>
          <p:cNvPr id="17" name="Text 4"/>
          <p:cNvSpPr txBox="1"/>
          <p:nvPr/>
        </p:nvSpPr>
        <p:spPr>
          <a:xfrm>
            <a:off x="761695" y="1028700"/>
            <a:ext cx="14287500" cy="486461"/>
          </a:xfrm>
          <a:prstGeom prst="rect">
            <a:avLst/>
          </a:prstGeom>
          <a:noFill/>
          <a:ln/>
        </p:spPr>
        <p:txBody>
          <a:bodyPr wrap="none" lIns="0" tIns="0" rIns="0" bIns="0" rtlCol="0" anchor="ctr"/>
          <a:lstStyle/>
          <a:p>
            <a:pPr algn="l" indent="0" marL="0">
              <a:buNone/>
            </a:pPr>
            <a:r>
              <a:rPr lang="en-US" sz="3450" b="1" spc="-34" kern="0" dirty="0">
                <a:solidFill>
                  <a:srgbClr val="1A1D22"/>
                </a:solidFill>
                <a:latin typeface="Pretendard" pitchFamily="34" charset="0"/>
                <a:ea typeface="Pretendard" pitchFamily="34" charset="-122"/>
                <a:cs typeface="Pretendard" pitchFamily="34" charset="-120"/>
              </a:rPr>
              <a:t>웨이퍼 분할 및 공정 조건</a:t>
            </a:r>
            <a:endParaRPr lang="en-US" sz="3450" dirty="0"/>
          </a:p>
        </p:txBody>
      </p:sp>
      <p:sp>
        <p:nvSpPr>
          <p:cNvPr id="18" name="Text 5"/>
          <p:cNvSpPr txBox="1"/>
          <p:nvPr/>
        </p:nvSpPr>
        <p:spPr>
          <a:xfrm>
            <a:off x="761695" y="1644091"/>
            <a:ext cx="14287500"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Metal layer M3 · 4 wafer split · Cu dual-damascene × Ru semi-damascene</a:t>
            </a:r>
            <a:endParaRPr lang="en-US" sz="1500" dirty="0"/>
          </a:p>
        </p:txBody>
      </p:sp>
      <p:sp>
        <p:nvSpPr>
          <p:cNvPr id="19" name="Text 6"/>
          <p:cNvSpPr txBox="1"/>
          <p:nvPr/>
        </p:nvSpPr>
        <p:spPr>
          <a:xfrm>
            <a:off x="761695" y="2857500"/>
            <a:ext cx="1143000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WAFER SPLIT TABLE</a:t>
            </a:r>
            <a:endParaRPr lang="en-US" sz="975" dirty="0"/>
          </a:p>
        </p:txBody>
      </p:sp>
      <p:sp>
        <p:nvSpPr>
          <p:cNvPr id="20" name="Text 7"/>
          <p:cNvSpPr txBox="1"/>
          <p:nvPr/>
        </p:nvSpPr>
        <p:spPr>
          <a:xfrm>
            <a:off x="914400" y="3372307"/>
            <a:ext cx="1143000" cy="200254"/>
          </a:xfrm>
          <a:prstGeom prst="rect">
            <a:avLst/>
          </a:prstGeom>
          <a:noFill/>
          <a:ln/>
        </p:spPr>
        <p:txBody>
          <a:bodyPr wrap="none" lIns="0" tIns="0" rIns="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Wafer</a:t>
            </a:r>
            <a:endParaRPr lang="en-US" sz="1125" dirty="0"/>
          </a:p>
        </p:txBody>
      </p:sp>
      <p:sp>
        <p:nvSpPr>
          <p:cNvPr id="21" name="Text 8"/>
          <p:cNvSpPr txBox="1"/>
          <p:nvPr/>
        </p:nvSpPr>
        <p:spPr>
          <a:xfrm>
            <a:off x="2057400" y="3372307"/>
            <a:ext cx="1239012" cy="200254"/>
          </a:xfrm>
          <a:prstGeom prst="rect">
            <a:avLst/>
          </a:prstGeom>
          <a:noFill/>
          <a:ln/>
        </p:spPr>
        <p:txBody>
          <a:bodyPr wrap="none" lIns="0" tIns="0" rIns="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Split</a:t>
            </a:r>
            <a:endParaRPr lang="en-US" sz="1125" dirty="0"/>
          </a:p>
        </p:txBody>
      </p:sp>
      <p:sp>
        <p:nvSpPr>
          <p:cNvPr id="22" name="Text 9"/>
          <p:cNvSpPr txBox="1"/>
          <p:nvPr/>
        </p:nvSpPr>
        <p:spPr>
          <a:xfrm>
            <a:off x="3295498" y="3372307"/>
            <a:ext cx="1619402" cy="200254"/>
          </a:xfrm>
          <a:prstGeom prst="rect">
            <a:avLst/>
          </a:prstGeom>
          <a:noFill/>
          <a:ln/>
        </p:spPr>
        <p:txBody>
          <a:bodyPr wrap="none" lIns="0" tIns="0" rIns="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Metal</a:t>
            </a:r>
            <a:endParaRPr lang="en-US" sz="1125" dirty="0"/>
          </a:p>
        </p:txBody>
      </p:sp>
      <p:sp>
        <p:nvSpPr>
          <p:cNvPr id="23" name="Text 10"/>
          <p:cNvSpPr txBox="1"/>
          <p:nvPr/>
        </p:nvSpPr>
        <p:spPr>
          <a:xfrm>
            <a:off x="4914900" y="3372307"/>
            <a:ext cx="1619402" cy="200254"/>
          </a:xfrm>
          <a:prstGeom prst="rect">
            <a:avLst/>
          </a:prstGeom>
          <a:noFill/>
          <a:ln/>
        </p:spPr>
        <p:txBody>
          <a:bodyPr wrap="none" lIns="0" tIns="0" rIns="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Barrier</a:t>
            </a:r>
            <a:endParaRPr lang="en-US" sz="1125" dirty="0"/>
          </a:p>
        </p:txBody>
      </p:sp>
      <p:sp>
        <p:nvSpPr>
          <p:cNvPr id="24" name="Text 11"/>
          <p:cNvSpPr txBox="1"/>
          <p:nvPr/>
        </p:nvSpPr>
        <p:spPr>
          <a:xfrm>
            <a:off x="6534302" y="3372307"/>
            <a:ext cx="2190902" cy="200254"/>
          </a:xfrm>
          <a:prstGeom prst="rect">
            <a:avLst/>
          </a:prstGeom>
          <a:noFill/>
          <a:ln/>
        </p:spPr>
        <p:txBody>
          <a:bodyPr wrap="none" lIns="0" tIns="0" rIns="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Patterning</a:t>
            </a:r>
            <a:endParaRPr lang="en-US" sz="1125" dirty="0"/>
          </a:p>
        </p:txBody>
      </p:sp>
      <p:sp>
        <p:nvSpPr>
          <p:cNvPr id="25" name="Text 12"/>
          <p:cNvSpPr txBox="1"/>
          <p:nvPr/>
        </p:nvSpPr>
        <p:spPr>
          <a:xfrm>
            <a:off x="8725205" y="3372307"/>
            <a:ext cx="1239012" cy="200254"/>
          </a:xfrm>
          <a:prstGeom prst="rect">
            <a:avLst/>
          </a:prstGeom>
          <a:noFill/>
          <a:ln/>
        </p:spPr>
        <p:txBody>
          <a:bodyPr wrap="none" lIns="0" tIns="0" rIns="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Pitch</a:t>
            </a:r>
            <a:endParaRPr lang="en-US" sz="1125" dirty="0"/>
          </a:p>
        </p:txBody>
      </p:sp>
      <p:sp>
        <p:nvSpPr>
          <p:cNvPr id="26" name="Text 13"/>
          <p:cNvSpPr txBox="1"/>
          <p:nvPr/>
        </p:nvSpPr>
        <p:spPr>
          <a:xfrm>
            <a:off x="9963302" y="3372307"/>
            <a:ext cx="1239012" cy="200254"/>
          </a:xfrm>
          <a:prstGeom prst="rect">
            <a:avLst/>
          </a:prstGeom>
          <a:noFill/>
          <a:ln/>
        </p:spPr>
        <p:txBody>
          <a:bodyPr wrap="none" lIns="0" tIns="0" rIns="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M3 두께</a:t>
            </a:r>
            <a:endParaRPr lang="en-US" sz="1125" dirty="0"/>
          </a:p>
        </p:txBody>
      </p:sp>
      <p:sp>
        <p:nvSpPr>
          <p:cNvPr id="27" name="Text 14"/>
          <p:cNvSpPr txBox="1"/>
          <p:nvPr/>
        </p:nvSpPr>
        <p:spPr>
          <a:xfrm>
            <a:off x="914400" y="3810305"/>
            <a:ext cx="1143000"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W1</a:t>
            </a:r>
            <a:endParaRPr lang="en-US" sz="1800" dirty="0"/>
          </a:p>
        </p:txBody>
      </p:sp>
      <p:sp>
        <p:nvSpPr>
          <p:cNvPr id="28" name="Text 15"/>
          <p:cNvSpPr txBox="1"/>
          <p:nvPr/>
        </p:nvSpPr>
        <p:spPr>
          <a:xfrm>
            <a:off x="2057400" y="3819449"/>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Cu DD</a:t>
            </a:r>
            <a:endParaRPr lang="en-US" sz="1350" dirty="0"/>
          </a:p>
        </p:txBody>
      </p:sp>
      <p:sp>
        <p:nvSpPr>
          <p:cNvPr id="29" name="Text 16"/>
          <p:cNvSpPr txBox="1"/>
          <p:nvPr/>
        </p:nvSpPr>
        <p:spPr>
          <a:xfrm>
            <a:off x="3295498" y="3819449"/>
            <a:ext cx="16194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Cu bulk</a:t>
            </a:r>
            <a:endParaRPr lang="en-US" sz="1350" dirty="0"/>
          </a:p>
        </p:txBody>
      </p:sp>
      <p:sp>
        <p:nvSpPr>
          <p:cNvPr id="30" name="Text 17"/>
          <p:cNvSpPr txBox="1"/>
          <p:nvPr/>
        </p:nvSpPr>
        <p:spPr>
          <a:xfrm>
            <a:off x="4914900" y="3819449"/>
            <a:ext cx="16194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TaN 2nm</a:t>
            </a:r>
            <a:endParaRPr lang="en-US" sz="1350" dirty="0"/>
          </a:p>
        </p:txBody>
      </p:sp>
      <p:sp>
        <p:nvSpPr>
          <p:cNvPr id="31" name="Text 18"/>
          <p:cNvSpPr txBox="1"/>
          <p:nvPr/>
        </p:nvSpPr>
        <p:spPr>
          <a:xfrm>
            <a:off x="6534302" y="3819449"/>
            <a:ext cx="21909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0.33 NA EUV · LE³</a:t>
            </a:r>
            <a:endParaRPr lang="en-US" sz="1350" dirty="0"/>
          </a:p>
        </p:txBody>
      </p:sp>
      <p:sp>
        <p:nvSpPr>
          <p:cNvPr id="32" name="Text 19"/>
          <p:cNvSpPr txBox="1"/>
          <p:nvPr/>
        </p:nvSpPr>
        <p:spPr>
          <a:xfrm>
            <a:off x="8725205" y="3819449"/>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18nm</a:t>
            </a:r>
            <a:endParaRPr lang="en-US" sz="1350" dirty="0"/>
          </a:p>
        </p:txBody>
      </p:sp>
      <p:sp>
        <p:nvSpPr>
          <p:cNvPr id="33" name="Text 20"/>
          <p:cNvSpPr txBox="1"/>
          <p:nvPr/>
        </p:nvSpPr>
        <p:spPr>
          <a:xfrm>
            <a:off x="9963302" y="3819449"/>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30nm</a:t>
            </a:r>
            <a:endParaRPr lang="en-US" sz="1350" dirty="0"/>
          </a:p>
        </p:txBody>
      </p:sp>
      <p:sp>
        <p:nvSpPr>
          <p:cNvPr id="34" name="Text 21"/>
          <p:cNvSpPr txBox="1"/>
          <p:nvPr/>
        </p:nvSpPr>
        <p:spPr>
          <a:xfrm>
            <a:off x="914400" y="4324198"/>
            <a:ext cx="1143000"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W2</a:t>
            </a:r>
            <a:endParaRPr lang="en-US" sz="1800" dirty="0"/>
          </a:p>
        </p:txBody>
      </p:sp>
      <p:sp>
        <p:nvSpPr>
          <p:cNvPr id="35" name="Text 22"/>
          <p:cNvSpPr txBox="1"/>
          <p:nvPr/>
        </p:nvSpPr>
        <p:spPr>
          <a:xfrm>
            <a:off x="2057400" y="4334256"/>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Cu DD</a:t>
            </a:r>
            <a:endParaRPr lang="en-US" sz="1350" dirty="0"/>
          </a:p>
        </p:txBody>
      </p:sp>
      <p:sp>
        <p:nvSpPr>
          <p:cNvPr id="36" name="Text 23"/>
          <p:cNvSpPr txBox="1"/>
          <p:nvPr/>
        </p:nvSpPr>
        <p:spPr>
          <a:xfrm>
            <a:off x="3295498" y="4334256"/>
            <a:ext cx="16194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Cu bulk</a:t>
            </a:r>
            <a:endParaRPr lang="en-US" sz="1350" dirty="0"/>
          </a:p>
        </p:txBody>
      </p:sp>
      <p:sp>
        <p:nvSpPr>
          <p:cNvPr id="37" name="Text 24"/>
          <p:cNvSpPr txBox="1"/>
          <p:nvPr/>
        </p:nvSpPr>
        <p:spPr>
          <a:xfrm>
            <a:off x="4914900" y="4334256"/>
            <a:ext cx="16194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TiN 2nm</a:t>
            </a:r>
            <a:endParaRPr lang="en-US" sz="1350" dirty="0"/>
          </a:p>
        </p:txBody>
      </p:sp>
      <p:sp>
        <p:nvSpPr>
          <p:cNvPr id="38" name="Text 25"/>
          <p:cNvSpPr txBox="1"/>
          <p:nvPr/>
        </p:nvSpPr>
        <p:spPr>
          <a:xfrm>
            <a:off x="6534302" y="4334256"/>
            <a:ext cx="21909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0.33 NA EUV · LE⁴</a:t>
            </a:r>
            <a:endParaRPr lang="en-US" sz="1350" dirty="0"/>
          </a:p>
        </p:txBody>
      </p:sp>
      <p:sp>
        <p:nvSpPr>
          <p:cNvPr id="39" name="Text 26"/>
          <p:cNvSpPr txBox="1"/>
          <p:nvPr/>
        </p:nvSpPr>
        <p:spPr>
          <a:xfrm>
            <a:off x="8725205" y="4334256"/>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18nm</a:t>
            </a:r>
            <a:endParaRPr lang="en-US" sz="1350" dirty="0"/>
          </a:p>
        </p:txBody>
      </p:sp>
      <p:sp>
        <p:nvSpPr>
          <p:cNvPr id="40" name="Text 27"/>
          <p:cNvSpPr txBox="1"/>
          <p:nvPr/>
        </p:nvSpPr>
        <p:spPr>
          <a:xfrm>
            <a:off x="9963302" y="4334256"/>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30nm</a:t>
            </a:r>
            <a:endParaRPr lang="en-US" sz="1350" dirty="0"/>
          </a:p>
        </p:txBody>
      </p:sp>
      <p:sp>
        <p:nvSpPr>
          <p:cNvPr id="41" name="Text 28"/>
          <p:cNvSpPr txBox="1"/>
          <p:nvPr/>
        </p:nvSpPr>
        <p:spPr>
          <a:xfrm>
            <a:off x="914400" y="4839005"/>
            <a:ext cx="1143000"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W3</a:t>
            </a:r>
            <a:endParaRPr lang="en-US" sz="1800" dirty="0"/>
          </a:p>
        </p:txBody>
      </p:sp>
      <p:sp>
        <p:nvSpPr>
          <p:cNvPr id="42" name="Text 29"/>
          <p:cNvSpPr txBox="1"/>
          <p:nvPr/>
        </p:nvSpPr>
        <p:spPr>
          <a:xfrm>
            <a:off x="2057400" y="4848149"/>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Ru SD</a:t>
            </a:r>
            <a:endParaRPr lang="en-US" sz="1350" dirty="0"/>
          </a:p>
        </p:txBody>
      </p:sp>
      <p:sp>
        <p:nvSpPr>
          <p:cNvPr id="43" name="Text 30"/>
          <p:cNvSpPr txBox="1"/>
          <p:nvPr/>
        </p:nvSpPr>
        <p:spPr>
          <a:xfrm>
            <a:off x="3295498" y="4848149"/>
            <a:ext cx="16194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Ru 99.99%</a:t>
            </a:r>
            <a:endParaRPr lang="en-US" sz="1350" dirty="0"/>
          </a:p>
        </p:txBody>
      </p:sp>
      <p:sp>
        <p:nvSpPr>
          <p:cNvPr id="44" name="Text 31"/>
          <p:cNvSpPr txBox="1"/>
          <p:nvPr/>
        </p:nvSpPr>
        <p:spPr>
          <a:xfrm>
            <a:off x="4914900" y="4848149"/>
            <a:ext cx="16194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barrier-less</a:t>
            </a:r>
            <a:endParaRPr lang="en-US" sz="1350" dirty="0"/>
          </a:p>
        </p:txBody>
      </p:sp>
      <p:sp>
        <p:nvSpPr>
          <p:cNvPr id="45" name="Text 32"/>
          <p:cNvSpPr txBox="1"/>
          <p:nvPr/>
        </p:nvSpPr>
        <p:spPr>
          <a:xfrm>
            <a:off x="6534302" y="4848149"/>
            <a:ext cx="21909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EUV SADP · spacer</a:t>
            </a:r>
            <a:endParaRPr lang="en-US" sz="1350" dirty="0"/>
          </a:p>
        </p:txBody>
      </p:sp>
      <p:sp>
        <p:nvSpPr>
          <p:cNvPr id="46" name="Text 33"/>
          <p:cNvSpPr txBox="1"/>
          <p:nvPr/>
        </p:nvSpPr>
        <p:spPr>
          <a:xfrm>
            <a:off x="8725205" y="4848149"/>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18nm</a:t>
            </a:r>
            <a:endParaRPr lang="en-US" sz="1350" dirty="0"/>
          </a:p>
        </p:txBody>
      </p:sp>
      <p:sp>
        <p:nvSpPr>
          <p:cNvPr id="47" name="Text 34"/>
          <p:cNvSpPr txBox="1"/>
          <p:nvPr/>
        </p:nvSpPr>
        <p:spPr>
          <a:xfrm>
            <a:off x="9963302" y="4848149"/>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30nm</a:t>
            </a:r>
            <a:endParaRPr lang="en-US" sz="1350" dirty="0"/>
          </a:p>
        </p:txBody>
      </p:sp>
      <p:sp>
        <p:nvSpPr>
          <p:cNvPr id="48" name="Text 35"/>
          <p:cNvSpPr txBox="1"/>
          <p:nvPr/>
        </p:nvSpPr>
        <p:spPr>
          <a:xfrm>
            <a:off x="914400" y="5352898"/>
            <a:ext cx="1143000"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W4</a:t>
            </a:r>
            <a:endParaRPr lang="en-US" sz="1800" dirty="0"/>
          </a:p>
        </p:txBody>
      </p:sp>
      <p:sp>
        <p:nvSpPr>
          <p:cNvPr id="49" name="Text 36"/>
          <p:cNvSpPr txBox="1"/>
          <p:nvPr/>
        </p:nvSpPr>
        <p:spPr>
          <a:xfrm>
            <a:off x="2057400" y="5362956"/>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Ru SD</a:t>
            </a:r>
            <a:endParaRPr lang="en-US" sz="1350" dirty="0"/>
          </a:p>
        </p:txBody>
      </p:sp>
      <p:sp>
        <p:nvSpPr>
          <p:cNvPr id="50" name="Text 37"/>
          <p:cNvSpPr txBox="1"/>
          <p:nvPr/>
        </p:nvSpPr>
        <p:spPr>
          <a:xfrm>
            <a:off x="3295498" y="5362956"/>
            <a:ext cx="16194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Ru 99.99%</a:t>
            </a:r>
            <a:endParaRPr lang="en-US" sz="1350" dirty="0"/>
          </a:p>
        </p:txBody>
      </p:sp>
      <p:sp>
        <p:nvSpPr>
          <p:cNvPr id="51" name="Text 38"/>
          <p:cNvSpPr txBox="1"/>
          <p:nvPr/>
        </p:nvSpPr>
        <p:spPr>
          <a:xfrm>
            <a:off x="4914900" y="5362956"/>
            <a:ext cx="16194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barrier-less</a:t>
            </a:r>
            <a:endParaRPr lang="en-US" sz="1350" dirty="0"/>
          </a:p>
        </p:txBody>
      </p:sp>
      <p:sp>
        <p:nvSpPr>
          <p:cNvPr id="52" name="Text 39"/>
          <p:cNvSpPr txBox="1"/>
          <p:nvPr/>
        </p:nvSpPr>
        <p:spPr>
          <a:xfrm>
            <a:off x="6534302" y="5362956"/>
            <a:ext cx="219090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EUV SADP · spacer</a:t>
            </a:r>
            <a:endParaRPr lang="en-US" sz="1350" dirty="0"/>
          </a:p>
        </p:txBody>
      </p:sp>
      <p:sp>
        <p:nvSpPr>
          <p:cNvPr id="53" name="Text 40"/>
          <p:cNvSpPr txBox="1"/>
          <p:nvPr/>
        </p:nvSpPr>
        <p:spPr>
          <a:xfrm>
            <a:off x="8725205" y="5362956"/>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18nm</a:t>
            </a:r>
            <a:endParaRPr lang="en-US" sz="1350" dirty="0"/>
          </a:p>
        </p:txBody>
      </p:sp>
      <p:sp>
        <p:nvSpPr>
          <p:cNvPr id="54" name="Text 41"/>
          <p:cNvSpPr txBox="1"/>
          <p:nvPr/>
        </p:nvSpPr>
        <p:spPr>
          <a:xfrm>
            <a:off x="9963302" y="5362956"/>
            <a:ext cx="1239012" cy="247802"/>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30nm</a:t>
            </a:r>
            <a:endParaRPr lang="en-US" sz="1350" dirty="0"/>
          </a:p>
        </p:txBody>
      </p:sp>
      <p:sp>
        <p:nvSpPr>
          <p:cNvPr id="55" name="Shape 42"/>
          <p:cNvSpPr/>
          <p:nvPr/>
        </p:nvSpPr>
        <p:spPr>
          <a:xfrm>
            <a:off x="761695" y="5959145"/>
            <a:ext cx="133502" cy="133502"/>
          </a:xfrm>
          <a:prstGeom prst="rect">
            <a:avLst/>
          </a:prstGeom>
          <a:solidFill>
            <a:srgbClr val="B45F2D"/>
          </a:solidFill>
          <a:ln w="12700">
            <a:solidFill>
              <a:srgbClr val="FFFFFF">
                <a:alpha val="0"/>
              </a:srgbClr>
            </a:solidFill>
            <a:prstDash val="solid"/>
          </a:ln>
        </p:spPr>
      </p:sp>
      <p:sp>
        <p:nvSpPr>
          <p:cNvPr id="56" name="Text 43"/>
          <p:cNvSpPr txBox="1"/>
          <p:nvPr/>
        </p:nvSpPr>
        <p:spPr>
          <a:xfrm>
            <a:off x="972007" y="5911596"/>
            <a:ext cx="1791310" cy="228600"/>
          </a:xfrm>
          <a:prstGeom prst="rect">
            <a:avLst/>
          </a:prstGeom>
          <a:noFill/>
          <a:ln/>
        </p:spPr>
        <p:txBody>
          <a:bodyPr wrap="none" lIns="0" tIns="0" rIns="0" bIns="0" rtlCol="0" anchor="ctr"/>
          <a:lstStyle/>
          <a:p>
            <a:pPr algn="l" indent="0" marL="0">
              <a:buNone/>
            </a:pPr>
            <a:r>
              <a:rPr lang="en-US" sz="1200" dirty="0">
                <a:solidFill>
                  <a:srgbClr val="3E434A"/>
                </a:solidFill>
                <a:latin typeface="Pretendard" pitchFamily="34" charset="0"/>
                <a:ea typeface="Pretendard" pitchFamily="34" charset="-122"/>
                <a:cs typeface="Pretendard" pitchFamily="34" charset="-120"/>
              </a:rPr>
              <a:t>Cu DD split (W1 · W2)</a:t>
            </a:r>
            <a:endParaRPr lang="en-US" sz="1200" dirty="0"/>
          </a:p>
        </p:txBody>
      </p:sp>
      <p:sp>
        <p:nvSpPr>
          <p:cNvPr id="57" name="Shape 44"/>
          <p:cNvSpPr/>
          <p:nvPr/>
        </p:nvSpPr>
        <p:spPr>
          <a:xfrm>
            <a:off x="2816352" y="5959145"/>
            <a:ext cx="133502" cy="133502"/>
          </a:xfrm>
          <a:prstGeom prst="rect">
            <a:avLst/>
          </a:prstGeom>
          <a:solidFill>
            <a:srgbClr val="355A6B"/>
          </a:solidFill>
          <a:ln w="12700">
            <a:solidFill>
              <a:srgbClr val="FFFFFF">
                <a:alpha val="0"/>
              </a:srgbClr>
            </a:solidFill>
            <a:prstDash val="solid"/>
          </a:ln>
        </p:spPr>
      </p:sp>
      <p:sp>
        <p:nvSpPr>
          <p:cNvPr id="58" name="Text 45"/>
          <p:cNvSpPr txBox="1"/>
          <p:nvPr/>
        </p:nvSpPr>
        <p:spPr>
          <a:xfrm>
            <a:off x="3025750" y="5911596"/>
            <a:ext cx="1780337" cy="228600"/>
          </a:xfrm>
          <a:prstGeom prst="rect">
            <a:avLst/>
          </a:prstGeom>
          <a:noFill/>
          <a:ln/>
        </p:spPr>
        <p:txBody>
          <a:bodyPr wrap="none" lIns="0" tIns="0" rIns="0" bIns="0" rtlCol="0" anchor="ctr"/>
          <a:lstStyle/>
          <a:p>
            <a:pPr algn="l" indent="0" marL="0">
              <a:buNone/>
            </a:pPr>
            <a:r>
              <a:rPr lang="en-US" sz="1200" dirty="0">
                <a:solidFill>
                  <a:srgbClr val="3E434A"/>
                </a:solidFill>
                <a:latin typeface="Pretendard" pitchFamily="34" charset="0"/>
                <a:ea typeface="Pretendard" pitchFamily="34" charset="-122"/>
                <a:cs typeface="Pretendard" pitchFamily="34" charset="-120"/>
              </a:rPr>
              <a:t>Ru SD split (W3 · W4)</a:t>
            </a:r>
            <a:endParaRPr lang="en-US" sz="1200" dirty="0"/>
          </a:p>
        </p:txBody>
      </p:sp>
      <p:sp>
        <p:nvSpPr>
          <p:cNvPr id="59" name="Text 46"/>
          <p:cNvSpPr txBox="1"/>
          <p:nvPr/>
        </p:nvSpPr>
        <p:spPr>
          <a:xfrm>
            <a:off x="12039905" y="3448202"/>
            <a:ext cx="533461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COMMON CONDITIONS</a:t>
            </a:r>
            <a:endParaRPr lang="en-US" sz="975" dirty="0"/>
          </a:p>
        </p:txBody>
      </p:sp>
      <p:sp>
        <p:nvSpPr>
          <p:cNvPr id="60" name="Text 47"/>
          <p:cNvSpPr txBox="1"/>
          <p:nvPr/>
        </p:nvSpPr>
        <p:spPr>
          <a:xfrm>
            <a:off x="12039905" y="3829507"/>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기판 · 300mm Si (001)</a:t>
            </a:r>
            <a:endParaRPr lang="en-US" sz="1350" dirty="0"/>
          </a:p>
        </p:txBody>
      </p:sp>
      <p:sp>
        <p:nvSpPr>
          <p:cNvPr id="61" name="Text 48"/>
          <p:cNvSpPr txBox="1"/>
          <p:nvPr/>
        </p:nvSpPr>
        <p:spPr>
          <a:xfrm>
            <a:off x="12039905" y="4120286"/>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유전체 · 저-k SiOC ( k ≈ 3.0)</a:t>
            </a:r>
            <a:endParaRPr lang="en-US" sz="1350" dirty="0"/>
          </a:p>
        </p:txBody>
      </p:sp>
      <p:sp>
        <p:nvSpPr>
          <p:cNvPr id="62" name="Text 49"/>
          <p:cNvSpPr txBox="1"/>
          <p:nvPr/>
        </p:nvSpPr>
        <p:spPr>
          <a:xfrm>
            <a:off x="12039905" y="4411980"/>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EUV · 0.33 NA scanner · SADP spacer 공통 적용</a:t>
            </a:r>
            <a:endParaRPr lang="en-US" sz="1350" dirty="0"/>
          </a:p>
        </p:txBody>
      </p:sp>
      <p:sp>
        <p:nvSpPr>
          <p:cNvPr id="63" name="Text 50"/>
          <p:cNvSpPr txBox="1"/>
          <p:nvPr/>
        </p:nvSpPr>
        <p:spPr>
          <a:xfrm>
            <a:off x="12039905" y="4703674"/>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Cu DD 어닐 · 350°C / 30 min · N₂ ambient</a:t>
            </a:r>
            <a:endParaRPr lang="en-US" sz="1350" dirty="0"/>
          </a:p>
        </p:txBody>
      </p:sp>
      <p:sp>
        <p:nvSpPr>
          <p:cNvPr id="64" name="Text 51"/>
          <p:cNvSpPr txBox="1"/>
          <p:nvPr/>
        </p:nvSpPr>
        <p:spPr>
          <a:xfrm>
            <a:off x="12039905" y="4994453"/>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Ru SD 어닐 · 420°C / 30 min · N₂ ambient</a:t>
            </a:r>
            <a:endParaRPr lang="en-US" sz="1350" dirty="0"/>
          </a:p>
        </p:txBody>
      </p:sp>
      <p:sp>
        <p:nvSpPr>
          <p:cNvPr id="65" name="Text 52"/>
          <p:cNvSpPr txBox="1"/>
          <p:nvPr/>
        </p:nvSpPr>
        <p:spPr>
          <a:xfrm>
            <a:off x="12039905" y="5286146"/>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에치 · Ru : Cl/F/O 기반 RIE · Cu : 폴리싱 CMP</a:t>
            </a:r>
            <a:endParaRPr lang="en-US" sz="1350" dirty="0"/>
          </a:p>
        </p:txBody>
      </p:sp>
      <p:sp>
        <p:nvSpPr>
          <p:cNvPr id="66" name="Text 53"/>
          <p:cNvSpPr txBox="1"/>
          <p:nvPr/>
        </p:nvSpPr>
        <p:spPr>
          <a:xfrm>
            <a:off x="761695" y="6476695"/>
            <a:ext cx="1676461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ANNEAL &amp; METROLOGY</a:t>
            </a:r>
            <a:endParaRPr lang="en-US" sz="975" dirty="0"/>
          </a:p>
        </p:txBody>
      </p:sp>
      <p:sp>
        <p:nvSpPr>
          <p:cNvPr id="67" name="Text 54"/>
          <p:cNvSpPr txBox="1"/>
          <p:nvPr/>
        </p:nvSpPr>
        <p:spPr>
          <a:xfrm>
            <a:off x="761695" y="6734556"/>
            <a:ext cx="17450410" cy="295351"/>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어닐 처리 조건을 제외한 사전 CMOS 적층, 유전체, EUV 공정은 4 wafer 모두 동일하게 진행되었다. CD-SEM 측정 사이트는 die 당 9 사이트, wafer 당 49 사이트로 구성하며 동일 die 좌표로 통일한다.</a:t>
            </a:r>
            <a:endParaRPr lang="en-US" sz="1500" dirty="0"/>
          </a:p>
        </p:txBody>
      </p:sp>
      <p:sp>
        <p:nvSpPr>
          <p:cNvPr id="68" name="Text 55"/>
          <p:cNvSpPr txBox="1"/>
          <p:nvPr/>
        </p:nvSpPr>
        <p:spPr>
          <a:xfrm>
            <a:off x="1143000" y="8229600"/>
            <a:ext cx="2286000" cy="181051"/>
          </a:xfrm>
          <a:prstGeom prst="rect">
            <a:avLst/>
          </a:prstGeom>
          <a:noFill/>
          <a:ln/>
        </p:spPr>
        <p:txBody>
          <a:bodyPr wrap="none" lIns="0" tIns="0" rIns="0" bIns="0" rtlCol="0" anchor="ctr"/>
          <a:lstStyle/>
          <a:p>
            <a:pPr algn="l" indent="0" marL="0">
              <a:buNone/>
            </a:pPr>
            <a:r>
              <a:rPr lang="en-US" sz="975" spc="273" kern="0" dirty="0">
                <a:solidFill>
                  <a:srgbClr val="9CC1CC"/>
                </a:solidFill>
                <a:latin typeface="Pretendard" pitchFamily="34" charset="0"/>
                <a:ea typeface="Pretendard" pitchFamily="34" charset="-122"/>
                <a:cs typeface="Pretendard" pitchFamily="34" charset="-120"/>
              </a:rPr>
              <a:t>KEY TAKEAWAY</a:t>
            </a:r>
            <a:endParaRPr lang="en-US" sz="975" dirty="0"/>
          </a:p>
        </p:txBody>
      </p:sp>
      <p:sp>
        <p:nvSpPr>
          <p:cNvPr id="69" name="Text 56"/>
          <p:cNvSpPr txBox="1"/>
          <p:nvPr/>
        </p:nvSpPr>
        <p:spPr>
          <a:xfrm>
            <a:off x="1143000" y="8553298"/>
            <a:ext cx="16002000" cy="324612"/>
          </a:xfrm>
          <a:prstGeom prst="rect">
            <a:avLst/>
          </a:prstGeom>
          <a:noFill/>
          <a:ln/>
        </p:spPr>
        <p:txBody>
          <a:bodyPr wrap="none" lIns="0" tIns="0" rIns="0" bIns="0" rtlCol="0" anchor="ctr"/>
          <a:lstStyle/>
          <a:p>
            <a:pPr algn="l" indent="0" marL="0">
              <a:buNone/>
            </a:pPr>
            <a:r>
              <a:rPr lang="en-US" sz="1800" dirty="0">
                <a:solidFill>
                  <a:srgbClr val="FFFFFF"/>
                </a:solidFill>
                <a:latin typeface="Pretendard" pitchFamily="34" charset="0"/>
                <a:ea typeface="Pretendard" pitchFamily="34" charset="-122"/>
                <a:cs typeface="Pretendard" pitchFamily="34" charset="-120"/>
              </a:rPr>
              <a:t>4 wafer는 18nm 피치 · M3 30nm 두께 · 동일한 측정 사이트로 묶고, 금속·배리어·어닐만 분리해 공정 효과만 분리해 본다.</a:t>
            </a:r>
            <a:endParaRPr lang="en-US" sz="1800" dirty="0"/>
          </a:p>
        </p:txBody>
      </p:sp>
      <p:sp>
        <p:nvSpPr>
          <p:cNvPr id="70" name="Text 57"/>
          <p:cNvSpPr txBox="1"/>
          <p:nvPr/>
        </p:nvSpPr>
        <p:spPr>
          <a:xfrm>
            <a:off x="761695" y="9696298"/>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495398"/>
            <a:ext cx="1524305" cy="28346"/>
          </a:xfrm>
          <a:prstGeom prst="rect">
            <a:avLst/>
          </a:prstGeom>
        </p:spPr>
      </p:pic>
      <p:sp>
        <p:nvSpPr>
          <p:cNvPr id="5" name="Shape 0"/>
          <p:cNvSpPr/>
          <p:nvPr/>
        </p:nvSpPr>
        <p:spPr>
          <a:xfrm>
            <a:off x="761695" y="2971800"/>
            <a:ext cx="8020202" cy="4591202"/>
          </a:xfrm>
          <a:prstGeom prst="rect">
            <a:avLst/>
          </a:prstGeom>
          <a:solidFill>
            <a:srgbClr val="FFFFFF"/>
          </a:solidFill>
          <a:ln w="12700">
            <a:solidFill>
              <a:srgbClr val="E2DED5"/>
            </a:solidFill>
            <a:prstDash val="solid"/>
          </a:ln>
        </p:spPr>
      </p:sp>
      <p:pic>
        <p:nvPicPr>
          <p:cNvPr id="6" name="Image 2" descr="gen-dedup-340e62e8b9dd60d525d26daf9aa09dfe.png">    </p:cNvPr>
          <p:cNvPicPr>
            <a:picLocks noChangeAspect="1"/>
          </p:cNvPicPr>
          <p:nvPr/>
        </p:nvPicPr>
        <p:blipFill>
          <a:blip r:embed="rId3"/>
          <a:srcRect l="-400" r="-400" t="0" b="0"/>
          <a:stretch/>
        </p:blipFill>
        <p:spPr>
          <a:xfrm>
            <a:off x="761695" y="2971800"/>
            <a:ext cx="57607" cy="4572000"/>
          </a:xfrm>
          <a:prstGeom prst="rect">
            <a:avLst/>
          </a:prstGeom>
        </p:spPr>
      </p:pic>
      <p:sp>
        <p:nvSpPr>
          <p:cNvPr id="7" name="Shape 1"/>
          <p:cNvSpPr/>
          <p:nvPr/>
        </p:nvSpPr>
        <p:spPr>
          <a:xfrm>
            <a:off x="9525305" y="2971800"/>
            <a:ext cx="8020202" cy="4591202"/>
          </a:xfrm>
          <a:prstGeom prst="rect">
            <a:avLst/>
          </a:prstGeom>
          <a:solidFill>
            <a:srgbClr val="FFFFFF"/>
          </a:solidFill>
          <a:ln w="12700">
            <a:solidFill>
              <a:srgbClr val="E2DED5"/>
            </a:solidFill>
            <a:prstDash val="solid"/>
          </a:ln>
        </p:spPr>
      </p:sp>
      <p:pic>
        <p:nvPicPr>
          <p:cNvPr id="8" name="Image 3" descr="gen-dedup-a01ab4015992d2d3d280f7fbfda90051.png">    </p:cNvPr>
          <p:cNvPicPr>
            <a:picLocks noChangeAspect="1"/>
          </p:cNvPicPr>
          <p:nvPr/>
        </p:nvPicPr>
        <p:blipFill>
          <a:blip r:embed="rId4"/>
          <a:srcRect l="-400" r="-400" t="0" b="0"/>
          <a:stretch/>
        </p:blipFill>
        <p:spPr>
          <a:xfrm>
            <a:off x="9525305" y="2971800"/>
            <a:ext cx="57607" cy="4572000"/>
          </a:xfrm>
          <a:prstGeom prst="rect">
            <a:avLst/>
          </a:prstGeom>
        </p:spPr>
      </p:pic>
      <p:sp>
        <p:nvSpPr>
          <p:cNvPr id="9" name="Shape 2"/>
          <p:cNvSpPr/>
          <p:nvPr/>
        </p:nvSpPr>
        <p:spPr>
          <a:xfrm>
            <a:off x="761695" y="8001000"/>
            <a:ext cx="16763695" cy="1047902"/>
          </a:xfrm>
          <a:prstGeom prst="rect">
            <a:avLst/>
          </a:prstGeom>
          <a:solidFill>
            <a:srgbClr val="2D5466"/>
          </a:solidFill>
          <a:ln w="12700">
            <a:solidFill>
              <a:srgbClr val="FFFFFF">
                <a:alpha val="0"/>
              </a:srgbClr>
            </a:solidFill>
            <a:prstDash val="solid"/>
          </a:ln>
        </p:spPr>
      </p:sp>
      <p:sp>
        <p:nvSpPr>
          <p:cNvPr id="10" name="Text 3"/>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PROCESS SPLIT</a:t>
            </a:r>
            <a:endParaRPr lang="en-US" sz="900" dirty="0"/>
          </a:p>
        </p:txBody>
      </p:sp>
      <p:sp>
        <p:nvSpPr>
          <p:cNvPr id="11" name="Text 4"/>
          <p:cNvSpPr txBox="1"/>
          <p:nvPr/>
        </p:nvSpPr>
        <p:spPr>
          <a:xfrm>
            <a:off x="761695" y="1028700"/>
            <a:ext cx="16193110" cy="486461"/>
          </a:xfrm>
          <a:prstGeom prst="rect">
            <a:avLst/>
          </a:prstGeom>
          <a:noFill/>
          <a:ln/>
        </p:spPr>
        <p:txBody>
          <a:bodyPr wrap="none" lIns="0" tIns="0" rIns="0" bIns="0" rtlCol="0" anchor="ctr"/>
          <a:lstStyle/>
          <a:p>
            <a:pPr algn="l" indent="0" marL="0">
              <a:buNone/>
            </a:pPr>
            <a:r>
              <a:rPr lang="en-US" sz="3450" b="1" spc="-34" kern="0" dirty="0">
                <a:solidFill>
                  <a:srgbClr val="1A1D22"/>
                </a:solidFill>
                <a:latin typeface="Pretendard" pitchFamily="34" charset="0"/>
                <a:ea typeface="Pretendard" pitchFamily="34" charset="-122"/>
                <a:cs typeface="Pretendard" pitchFamily="34" charset="-120"/>
              </a:rPr>
              <a:t>Cu Dual-Damascene vs Ru Semi-Damascene</a:t>
            </a:r>
            <a:endParaRPr lang="en-US" sz="3450" dirty="0"/>
          </a:p>
        </p:txBody>
      </p:sp>
      <p:sp>
        <p:nvSpPr>
          <p:cNvPr id="12" name="Text 5"/>
          <p:cNvSpPr txBox="1"/>
          <p:nvPr/>
        </p:nvSpPr>
        <p:spPr>
          <a:xfrm>
            <a:off x="761695" y="1644091"/>
            <a:ext cx="16193110"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동일 18nm 피치에서 두 공정 패밀리의 핵심 단계와 본질적 차이점을 단계별로 분리한다.</a:t>
            </a:r>
            <a:endParaRPr lang="en-US" sz="1500" dirty="0"/>
          </a:p>
        </p:txBody>
      </p:sp>
      <p:sp>
        <p:nvSpPr>
          <p:cNvPr id="13" name="Text 6"/>
          <p:cNvSpPr txBox="1"/>
          <p:nvPr/>
        </p:nvSpPr>
        <p:spPr>
          <a:xfrm>
            <a:off x="1123798" y="3238805"/>
            <a:ext cx="7429500" cy="181051"/>
          </a:xfrm>
          <a:prstGeom prst="rect">
            <a:avLst/>
          </a:prstGeom>
          <a:noFill/>
          <a:ln/>
        </p:spPr>
        <p:txBody>
          <a:bodyPr wrap="none" lIns="0" tIns="0" rIns="0" bIns="0" rtlCol="0" anchor="ctr"/>
          <a:lstStyle/>
          <a:p>
            <a:pPr algn="l" indent="0" marL="0">
              <a:buNone/>
            </a:pPr>
            <a:r>
              <a:rPr lang="en-US" sz="975" spc="215" kern="0" dirty="0">
                <a:solidFill>
                  <a:srgbClr val="B45F2D"/>
                </a:solidFill>
                <a:latin typeface="Pretendard" pitchFamily="34" charset="0"/>
                <a:ea typeface="Pretendard" pitchFamily="34" charset="-122"/>
                <a:cs typeface="Pretendard" pitchFamily="34" charset="-120"/>
              </a:rPr>
              <a:t>A · TRADITIONAL</a:t>
            </a:r>
            <a:endParaRPr lang="en-US" sz="975" dirty="0"/>
          </a:p>
        </p:txBody>
      </p:sp>
      <p:sp>
        <p:nvSpPr>
          <p:cNvPr id="14" name="Text 7"/>
          <p:cNvSpPr txBox="1"/>
          <p:nvPr/>
        </p:nvSpPr>
        <p:spPr>
          <a:xfrm>
            <a:off x="1123798" y="3514954"/>
            <a:ext cx="7429500" cy="438912"/>
          </a:xfrm>
          <a:prstGeom prst="rect">
            <a:avLst/>
          </a:prstGeom>
          <a:noFill/>
          <a:ln/>
        </p:spPr>
        <p:txBody>
          <a:bodyPr wrap="none" lIns="0" tIns="0" rIns="0" bIns="0" rtlCol="0" anchor="ctr"/>
          <a:lstStyle/>
          <a:p>
            <a:pPr algn="l" indent="0" marL="0">
              <a:buNone/>
            </a:pPr>
            <a:r>
              <a:rPr lang="en-US" sz="2400" b="1" dirty="0">
                <a:solidFill>
                  <a:srgbClr val="1A1D22"/>
                </a:solidFill>
                <a:latin typeface="Pretendard" pitchFamily="34" charset="0"/>
                <a:ea typeface="Pretendard" pitchFamily="34" charset="-122"/>
                <a:cs typeface="Pretendard" pitchFamily="34" charset="-120"/>
              </a:rPr>
              <a:t>Cu Dual-Damascene</a:t>
            </a:r>
            <a:endParaRPr lang="en-US" sz="2400" dirty="0"/>
          </a:p>
        </p:txBody>
      </p:sp>
      <p:sp>
        <p:nvSpPr>
          <p:cNvPr id="15" name="Text 8"/>
          <p:cNvSpPr txBox="1"/>
          <p:nvPr/>
        </p:nvSpPr>
        <p:spPr>
          <a:xfrm>
            <a:off x="1123798" y="4095598"/>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1. 저-k SiOC 증착 (300mm)</a:t>
            </a:r>
            <a:endParaRPr lang="en-US" sz="1500" dirty="0"/>
          </a:p>
        </p:txBody>
      </p:sp>
      <p:sp>
        <p:nvSpPr>
          <p:cNvPr id="16" name="Text 9"/>
          <p:cNvSpPr txBox="1"/>
          <p:nvPr/>
        </p:nvSpPr>
        <p:spPr>
          <a:xfrm>
            <a:off x="1123798" y="4448556"/>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2. 트렌치 + 비아 동시 식각 (RIE)</a:t>
            </a:r>
            <a:endParaRPr lang="en-US" sz="1500" dirty="0"/>
          </a:p>
        </p:txBody>
      </p:sp>
      <p:sp>
        <p:nvSpPr>
          <p:cNvPr id="17" name="Text 10"/>
          <p:cNvSpPr txBox="1"/>
          <p:nvPr/>
        </p:nvSpPr>
        <p:spPr>
          <a:xfrm>
            <a:off x="1123798" y="4800600"/>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3. 확산 방지막 PVD (TaN 또는 TiN 2nm)</a:t>
            </a:r>
            <a:endParaRPr lang="en-US" sz="1500" dirty="0"/>
          </a:p>
        </p:txBody>
      </p:sp>
      <p:sp>
        <p:nvSpPr>
          <p:cNvPr id="18" name="Text 11"/>
          <p:cNvSpPr txBox="1"/>
          <p:nvPr/>
        </p:nvSpPr>
        <p:spPr>
          <a:xfrm>
            <a:off x="1123798" y="5152644"/>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4. Cu 시드층 + 전기도금(ECD) 충전</a:t>
            </a:r>
            <a:endParaRPr lang="en-US" sz="1500" dirty="0"/>
          </a:p>
        </p:txBody>
      </p:sp>
      <p:sp>
        <p:nvSpPr>
          <p:cNvPr id="19" name="Text 12"/>
          <p:cNvSpPr txBox="1"/>
          <p:nvPr/>
        </p:nvSpPr>
        <p:spPr>
          <a:xfrm>
            <a:off x="1123798" y="5505602"/>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5. CMP 평탄화 (Cu 벌크 노출)</a:t>
            </a:r>
            <a:endParaRPr lang="en-US" sz="1500" dirty="0"/>
          </a:p>
        </p:txBody>
      </p:sp>
      <p:sp>
        <p:nvSpPr>
          <p:cNvPr id="20" name="Text 13"/>
          <p:cNvSpPr txBox="1"/>
          <p:nvPr/>
        </p:nvSpPr>
        <p:spPr>
          <a:xfrm>
            <a:off x="9887407" y="3238805"/>
            <a:ext cx="7429500" cy="181051"/>
          </a:xfrm>
          <a:prstGeom prst="rect">
            <a:avLst/>
          </a:prstGeom>
          <a:noFill/>
          <a:ln/>
        </p:spPr>
        <p:txBody>
          <a:bodyPr wrap="none" lIns="0" tIns="0" rIns="0" bIns="0" rtlCol="0" anchor="ctr"/>
          <a:lstStyle/>
          <a:p>
            <a:pPr algn="l" indent="0" marL="0">
              <a:buNone/>
            </a:pPr>
            <a:r>
              <a:rPr lang="en-US" sz="975" spc="215" kern="0" dirty="0">
                <a:solidFill>
                  <a:srgbClr val="355A6B"/>
                </a:solidFill>
                <a:latin typeface="Pretendard" pitchFamily="34" charset="0"/>
                <a:ea typeface="Pretendard" pitchFamily="34" charset="-122"/>
                <a:cs typeface="Pretendard" pitchFamily="34" charset="-120"/>
              </a:rPr>
              <a:t>B · ALTERNATIVE</a:t>
            </a:r>
            <a:endParaRPr lang="en-US" sz="975" dirty="0"/>
          </a:p>
        </p:txBody>
      </p:sp>
      <p:sp>
        <p:nvSpPr>
          <p:cNvPr id="21" name="Text 14"/>
          <p:cNvSpPr txBox="1"/>
          <p:nvPr/>
        </p:nvSpPr>
        <p:spPr>
          <a:xfrm>
            <a:off x="9887407" y="3514954"/>
            <a:ext cx="7429500" cy="438912"/>
          </a:xfrm>
          <a:prstGeom prst="rect">
            <a:avLst/>
          </a:prstGeom>
          <a:noFill/>
          <a:ln/>
        </p:spPr>
        <p:txBody>
          <a:bodyPr wrap="none" lIns="0" tIns="0" rIns="0" bIns="0" rtlCol="0" anchor="ctr"/>
          <a:lstStyle/>
          <a:p>
            <a:pPr algn="l" indent="0" marL="0">
              <a:buNone/>
            </a:pPr>
            <a:r>
              <a:rPr lang="en-US" sz="2400" b="1" dirty="0">
                <a:solidFill>
                  <a:srgbClr val="1A1D22"/>
                </a:solidFill>
                <a:latin typeface="Pretendard" pitchFamily="34" charset="0"/>
                <a:ea typeface="Pretendard" pitchFamily="34" charset="-122"/>
                <a:cs typeface="Pretendard" pitchFamily="34" charset="-120"/>
              </a:rPr>
              <a:t>Ru Semi-Damascene + FSAV</a:t>
            </a:r>
            <a:endParaRPr lang="en-US" sz="2400" dirty="0"/>
          </a:p>
        </p:txBody>
      </p:sp>
      <p:sp>
        <p:nvSpPr>
          <p:cNvPr id="22" name="Text 15"/>
          <p:cNvSpPr txBox="1"/>
          <p:nvPr/>
        </p:nvSpPr>
        <p:spPr>
          <a:xfrm>
            <a:off x="9887407" y="4095598"/>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1. TiN 접착 + Ru 30nm PVD</a:t>
            </a:r>
            <a:endParaRPr lang="en-US" sz="1500" dirty="0"/>
          </a:p>
        </p:txBody>
      </p:sp>
      <p:sp>
        <p:nvSpPr>
          <p:cNvPr id="23" name="Text 16"/>
          <p:cNvSpPr txBox="1"/>
          <p:nvPr/>
        </p:nvSpPr>
        <p:spPr>
          <a:xfrm>
            <a:off x="9887407" y="4448556"/>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2. 420°C 어닐 (결정성 안정화)</a:t>
            </a:r>
            <a:endParaRPr lang="en-US" sz="1500" dirty="0"/>
          </a:p>
        </p:txBody>
      </p:sp>
      <p:sp>
        <p:nvSpPr>
          <p:cNvPr id="24" name="Text 17"/>
          <p:cNvSpPr txBox="1"/>
          <p:nvPr/>
        </p:nvSpPr>
        <p:spPr>
          <a:xfrm>
            <a:off x="9887407" y="4800600"/>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3. SiN 비희생 하드마스크 증착</a:t>
            </a:r>
            <a:endParaRPr lang="en-US" sz="1500" dirty="0"/>
          </a:p>
        </p:txBody>
      </p:sp>
      <p:sp>
        <p:nvSpPr>
          <p:cNvPr id="25" name="Text 18"/>
          <p:cNvSpPr txBox="1"/>
          <p:nvPr/>
        </p:nvSpPr>
        <p:spPr>
          <a:xfrm>
            <a:off x="9887407" y="5152644"/>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4. EUV SADP 패턴 (spacer)</a:t>
            </a:r>
            <a:endParaRPr lang="en-US" sz="1500" dirty="0"/>
          </a:p>
        </p:txBody>
      </p:sp>
      <p:sp>
        <p:nvSpPr>
          <p:cNvPr id="26" name="Text 19"/>
          <p:cNvSpPr txBox="1"/>
          <p:nvPr/>
        </p:nvSpPr>
        <p:spPr>
          <a:xfrm>
            <a:off x="9887407" y="5505602"/>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5. Subtractive RIE 식각 (Cl/F/O)</a:t>
            </a:r>
            <a:endParaRPr lang="en-US" sz="1500" dirty="0"/>
          </a:p>
        </p:txBody>
      </p:sp>
      <p:sp>
        <p:nvSpPr>
          <p:cNvPr id="27" name="Text 20"/>
          <p:cNvSpPr txBox="1"/>
          <p:nvPr/>
        </p:nvSpPr>
        <p:spPr>
          <a:xfrm>
            <a:off x="9887407" y="5857646"/>
            <a:ext cx="7429500" cy="352958"/>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6. FSAV 비아 형성 + 두 번째 Ru CVD</a:t>
            </a:r>
            <a:endParaRPr lang="en-US" sz="1500" dirty="0"/>
          </a:p>
        </p:txBody>
      </p:sp>
      <p:sp>
        <p:nvSpPr>
          <p:cNvPr id="28" name="Text 21"/>
          <p:cNvSpPr txBox="1"/>
          <p:nvPr/>
        </p:nvSpPr>
        <p:spPr>
          <a:xfrm>
            <a:off x="1143000" y="8229600"/>
            <a:ext cx="2286000" cy="181051"/>
          </a:xfrm>
          <a:prstGeom prst="rect">
            <a:avLst/>
          </a:prstGeom>
          <a:noFill/>
          <a:ln/>
        </p:spPr>
        <p:txBody>
          <a:bodyPr wrap="none" lIns="0" tIns="0" rIns="0" bIns="0" rtlCol="0" anchor="ctr"/>
          <a:lstStyle/>
          <a:p>
            <a:pPr algn="l" indent="0" marL="0">
              <a:buNone/>
            </a:pPr>
            <a:r>
              <a:rPr lang="en-US" sz="975" spc="273" kern="0" dirty="0">
                <a:solidFill>
                  <a:srgbClr val="FFFFFF"/>
                </a:solidFill>
                <a:latin typeface="Pretendard" pitchFamily="34" charset="0"/>
                <a:ea typeface="Pretendard" pitchFamily="34" charset="-122"/>
                <a:cs typeface="Pretendard" pitchFamily="34" charset="-120"/>
              </a:rPr>
              <a:t>KEY TAKEAWAY</a:t>
            </a:r>
            <a:endParaRPr lang="en-US" sz="975" dirty="0"/>
          </a:p>
        </p:txBody>
      </p:sp>
      <p:sp>
        <p:nvSpPr>
          <p:cNvPr id="29" name="Text 22"/>
          <p:cNvSpPr txBox="1"/>
          <p:nvPr/>
        </p:nvSpPr>
        <p:spPr>
          <a:xfrm>
            <a:off x="1143000" y="8553298"/>
            <a:ext cx="16002000" cy="324612"/>
          </a:xfrm>
          <a:prstGeom prst="rect">
            <a:avLst/>
          </a:prstGeom>
          <a:noFill/>
          <a:ln/>
        </p:spPr>
        <p:txBody>
          <a:bodyPr wrap="none" lIns="0" tIns="0" rIns="0" bIns="0" rtlCol="0" anchor="ctr"/>
          <a:lstStyle/>
          <a:p>
            <a:pPr algn="l" indent="0" marL="0">
              <a:buNone/>
            </a:pPr>
            <a:r>
              <a:rPr lang="en-US" sz="1800" dirty="0">
                <a:solidFill>
                  <a:srgbClr val="FFFFFF"/>
                </a:solidFill>
                <a:latin typeface="Pretendard" pitchFamily="34" charset="0"/>
                <a:ea typeface="Pretendard" pitchFamily="34" charset="-122"/>
                <a:cs typeface="Pretendard" pitchFamily="34" charset="-120"/>
              </a:rPr>
              <a:t>Cu DD는 단계가 짧지만 18nm 피치에서 barrier 점유와 산란이 누적되고, </a:t>
            </a:r>
            <a:pPr algn="l" indent="0" marL="0">
              <a:buNone/>
            </a:pPr>
            <a:r>
              <a:rPr lang="en-US" sz="1800" b="1" dirty="0">
                <a:solidFill>
                  <a:srgbClr val="E9C58A"/>
                </a:solidFill>
                <a:latin typeface="Pretendard" pitchFamily="34" charset="0"/>
                <a:ea typeface="Pretendard" pitchFamily="34" charset="-122"/>
                <a:cs typeface="Pretendard" pitchFamily="34" charset="-120"/>
              </a:rPr>
              <a:t>Ru SD는 step이 늘어나도</a:t>
            </a:r>
            <a:pPr algn="l" indent="0" marL="0">
              <a:buNone/>
            </a:pPr>
            <a:r>
              <a:rPr lang="en-US" sz="1800" dirty="0">
                <a:solidFill>
                  <a:srgbClr val="FFFFFF"/>
                </a:solidFill>
                <a:latin typeface="Pretendard" pitchFamily="34" charset="0"/>
                <a:ea typeface="Pretendard" pitchFamily="34" charset="-122"/>
                <a:cs typeface="Pretendard" pitchFamily="34" charset="-120"/>
              </a:rPr>
              <a:t> 동일 피치 내 100% 전도 단면을 확보한다.</a:t>
            </a:r>
            <a:endParaRPr lang="en-US" sz="1800" dirty="0"/>
          </a:p>
        </p:txBody>
      </p:sp>
      <p:sp>
        <p:nvSpPr>
          <p:cNvPr id="30" name="Text 23"/>
          <p:cNvSpPr txBox="1"/>
          <p:nvPr/>
        </p:nvSpPr>
        <p:spPr>
          <a:xfrm>
            <a:off x="761695" y="9696298"/>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495398"/>
            <a:ext cx="1524305" cy="28346"/>
          </a:xfrm>
          <a:prstGeom prst="rect">
            <a:avLst/>
          </a:prstGeom>
        </p:spPr>
      </p:pic>
      <p:sp>
        <p:nvSpPr>
          <p:cNvPr id="5" name="Shape 0"/>
          <p:cNvSpPr/>
          <p:nvPr/>
        </p:nvSpPr>
        <p:spPr>
          <a:xfrm>
            <a:off x="761695" y="2819095"/>
            <a:ext cx="7830007" cy="4972507"/>
          </a:xfrm>
          <a:prstGeom prst="rect">
            <a:avLst/>
          </a:prstGeom>
          <a:solidFill>
            <a:srgbClr val="FFFFFF"/>
          </a:solidFill>
          <a:ln w="12700">
            <a:solidFill>
              <a:srgbClr val="E2DED5"/>
            </a:solidFill>
            <a:prstDash val="solid"/>
          </a:ln>
        </p:spPr>
      </p:sp>
      <p:pic>
        <p:nvPicPr>
          <p:cNvPr id="6" name="Image 2" descr="gen-dedup-cf517483d4db5666e1ed331be322628e.png">    </p:cNvPr>
          <p:cNvPicPr>
            <a:picLocks noChangeAspect="1"/>
          </p:cNvPicPr>
          <p:nvPr/>
        </p:nvPicPr>
        <p:blipFill>
          <a:blip r:embed="rId3"/>
          <a:srcRect l="0" r="0" t="-400" b="-400"/>
          <a:stretch/>
        </p:blipFill>
        <p:spPr>
          <a:xfrm>
            <a:off x="990295" y="3276295"/>
            <a:ext cx="571500" cy="19202"/>
          </a:xfrm>
          <a:prstGeom prst="rect">
            <a:avLst/>
          </a:prstGeom>
        </p:spPr>
      </p:pic>
      <p:sp>
        <p:nvSpPr>
          <p:cNvPr id="7" name="Shape 1"/>
          <p:cNvSpPr/>
          <p:nvPr/>
        </p:nvSpPr>
        <p:spPr>
          <a:xfrm>
            <a:off x="8953805" y="2819095"/>
            <a:ext cx="8591702" cy="4972507"/>
          </a:xfrm>
          <a:prstGeom prst="rect">
            <a:avLst/>
          </a:prstGeom>
          <a:solidFill>
            <a:srgbClr val="FFFFFF"/>
          </a:solidFill>
          <a:ln w="12700">
            <a:solidFill>
              <a:srgbClr val="E2DED5"/>
            </a:solidFill>
            <a:prstDash val="solid"/>
          </a:ln>
        </p:spPr>
      </p:sp>
      <p:pic>
        <p:nvPicPr>
          <p:cNvPr id="8" name="Image 3" descr="gen-dedup-a1c2de41f1c58f91b8a7fb7634133635.png">    </p:cNvPr>
          <p:cNvPicPr>
            <a:picLocks noChangeAspect="1"/>
          </p:cNvPicPr>
          <p:nvPr/>
        </p:nvPicPr>
        <p:blipFill>
          <a:blip r:embed="rId4"/>
          <a:srcRect l="0" r="0" t="-400" b="-400"/>
          <a:stretch/>
        </p:blipFill>
        <p:spPr>
          <a:xfrm>
            <a:off x="9182405" y="3276295"/>
            <a:ext cx="571500" cy="19202"/>
          </a:xfrm>
          <a:prstGeom prst="rect">
            <a:avLst/>
          </a:prstGeom>
        </p:spPr>
      </p:pic>
      <p:sp>
        <p:nvSpPr>
          <p:cNvPr id="9" name="Shape 2"/>
          <p:cNvSpPr/>
          <p:nvPr/>
        </p:nvSpPr>
        <p:spPr>
          <a:xfrm>
            <a:off x="761695" y="8191195"/>
            <a:ext cx="16763695" cy="1047902"/>
          </a:xfrm>
          <a:prstGeom prst="rect">
            <a:avLst/>
          </a:prstGeom>
          <a:solidFill>
            <a:srgbClr val="2D5466"/>
          </a:solidFill>
          <a:ln w="12700">
            <a:solidFill>
              <a:srgbClr val="FFFFFF">
                <a:alpha val="0"/>
              </a:srgbClr>
            </a:solidFill>
            <a:prstDash val="solid"/>
          </a:ln>
        </p:spPr>
      </p:sp>
      <p:pic>
        <p:nvPicPr>
          <p:cNvPr id="10" name="Image 4" descr="gen-dedup-ae764351e486c43bf09e0a7556064e07.jpg">    </p:cNvPr>
          <p:cNvPicPr>
            <a:picLocks noChangeAspect="1"/>
          </p:cNvPicPr>
          <p:nvPr/>
        </p:nvPicPr>
        <p:blipFill>
          <a:blip r:embed="rId5"/>
          <a:stretch>
            <a:fillRect/>
          </a:stretch>
        </p:blipFill>
        <p:spPr>
          <a:xfrm>
            <a:off x="1943100" y="3847795"/>
            <a:ext cx="4114800" cy="4724705"/>
          </a:xfrm>
          <a:prstGeom prst="rect">
            <a:avLst/>
          </a:prstGeom>
        </p:spPr>
      </p:pic>
      <p:pic>
        <p:nvPicPr>
          <p:cNvPr id="11" name="Image 5" descr="gen-dedup-687d8b3a7adacea84d6d0c46edcf3d5b.jpg">    </p:cNvPr>
          <p:cNvPicPr>
            <a:picLocks noChangeAspect="1"/>
          </p:cNvPicPr>
          <p:nvPr/>
        </p:nvPicPr>
        <p:blipFill>
          <a:blip r:embed="rId6"/>
          <a:stretch>
            <a:fillRect/>
          </a:stretch>
        </p:blipFill>
        <p:spPr>
          <a:xfrm>
            <a:off x="9620402" y="3847795"/>
            <a:ext cx="7239305" cy="3200400"/>
          </a:xfrm>
          <a:prstGeom prst="rect">
            <a:avLst/>
          </a:prstGeom>
        </p:spPr>
      </p:pic>
      <p:sp>
        <p:nvSpPr>
          <p:cNvPr id="12" name="Text 3"/>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PHOTO A</a:t>
            </a:r>
            <a:endParaRPr lang="en-US" sz="900" dirty="0"/>
          </a:p>
        </p:txBody>
      </p:sp>
      <p:sp>
        <p:nvSpPr>
          <p:cNvPr id="13" name="Text 4"/>
          <p:cNvSpPr txBox="1"/>
          <p:nvPr/>
        </p:nvSpPr>
        <p:spPr>
          <a:xfrm>
            <a:off x="761695" y="1028700"/>
            <a:ext cx="16193110" cy="486461"/>
          </a:xfrm>
          <a:prstGeom prst="rect">
            <a:avLst/>
          </a:prstGeom>
          <a:noFill/>
          <a:ln/>
        </p:spPr>
        <p:txBody>
          <a:bodyPr wrap="none" lIns="0" tIns="0" rIns="0" bIns="0" rtlCol="0" anchor="ctr"/>
          <a:lstStyle/>
          <a:p>
            <a:pPr algn="l" indent="0" marL="0">
              <a:buNone/>
            </a:pPr>
            <a:r>
              <a:rPr lang="en-US" sz="3450" b="1" spc="-34" kern="0" dirty="0">
                <a:solidFill>
                  <a:srgbClr val="1A1D22"/>
                </a:solidFill>
                <a:latin typeface="Pretendard" pitchFamily="34" charset="0"/>
                <a:ea typeface="Pretendard" pitchFamily="34" charset="-122"/>
                <a:cs typeface="Pretendard" pitchFamily="34" charset="-120"/>
              </a:rPr>
              <a:t>단면 SEM/TEM — Cu DD vs Ru SD</a:t>
            </a:r>
            <a:endParaRPr lang="en-US" sz="3450" dirty="0"/>
          </a:p>
        </p:txBody>
      </p:sp>
      <p:sp>
        <p:nvSpPr>
          <p:cNvPr id="14" name="Text 5"/>
          <p:cNvSpPr txBox="1"/>
          <p:nvPr/>
        </p:nvSpPr>
        <p:spPr>
          <a:xfrm>
            <a:off x="761695" y="1644091"/>
            <a:ext cx="16193110"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동일 18nm 피치 시편의 실제 단면 전자현미경 사진 — Cu(W1)와 Ru(W3) 직접 비교</a:t>
            </a:r>
            <a:endParaRPr lang="en-US" sz="1500" dirty="0"/>
          </a:p>
        </p:txBody>
      </p:sp>
      <p:sp>
        <p:nvSpPr>
          <p:cNvPr id="15" name="Text 6"/>
          <p:cNvSpPr txBox="1"/>
          <p:nvPr/>
        </p:nvSpPr>
        <p:spPr>
          <a:xfrm>
            <a:off x="990295" y="3010205"/>
            <a:ext cx="2857500" cy="181051"/>
          </a:xfrm>
          <a:prstGeom prst="rect">
            <a:avLst/>
          </a:prstGeom>
          <a:noFill/>
          <a:ln/>
        </p:spPr>
        <p:txBody>
          <a:bodyPr wrap="none" lIns="0" tIns="0" rIns="0" bIns="0" rtlCol="0" anchor="ctr"/>
          <a:lstStyle/>
          <a:p>
            <a:pPr algn="l" indent="0" marL="0">
              <a:buNone/>
            </a:pPr>
            <a:r>
              <a:rPr lang="en-US" sz="975" spc="215" kern="0" dirty="0">
                <a:solidFill>
                  <a:srgbClr val="B45F2D"/>
                </a:solidFill>
                <a:latin typeface="Pretendard" pitchFamily="34" charset="0"/>
                <a:ea typeface="Pretendard" pitchFamily="34" charset="-122"/>
                <a:cs typeface="Pretendard" pitchFamily="34" charset="-120"/>
              </a:rPr>
              <a:t>SPECIMEN · W1</a:t>
            </a:r>
            <a:endParaRPr lang="en-US" sz="975" dirty="0"/>
          </a:p>
        </p:txBody>
      </p:sp>
      <p:sp>
        <p:nvSpPr>
          <p:cNvPr id="16" name="Text 7"/>
          <p:cNvSpPr txBox="1"/>
          <p:nvPr/>
        </p:nvSpPr>
        <p:spPr>
          <a:xfrm>
            <a:off x="990295" y="3448202"/>
            <a:ext cx="5715000"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Cu Dual-Damascene</a:t>
            </a:r>
            <a:endParaRPr lang="en-US" sz="1800" dirty="0"/>
          </a:p>
        </p:txBody>
      </p:sp>
      <p:sp>
        <p:nvSpPr>
          <p:cNvPr id="17" name="Text 8"/>
          <p:cNvSpPr txBox="1"/>
          <p:nvPr/>
        </p:nvSpPr>
        <p:spPr>
          <a:xfrm>
            <a:off x="6286500" y="3847795"/>
            <a:ext cx="2095805" cy="181051"/>
          </a:xfrm>
          <a:prstGeom prst="rect">
            <a:avLst/>
          </a:prstGeom>
          <a:noFill/>
          <a:ln/>
        </p:spPr>
        <p:txBody>
          <a:bodyPr wrap="none" lIns="0" tIns="0" rIns="0" bIns="0" rtlCol="0" anchor="ctr"/>
          <a:lstStyle/>
          <a:p>
            <a:pPr algn="l" indent="0" marL="0">
              <a:buNone/>
            </a:pPr>
            <a:r>
              <a:rPr lang="en-US" sz="975" spc="176" kern="0" dirty="0">
                <a:solidFill>
                  <a:srgbClr val="2D5466"/>
                </a:solidFill>
                <a:latin typeface="Pretendard" pitchFamily="34" charset="0"/>
                <a:ea typeface="Pretendard" pitchFamily="34" charset="-122"/>
                <a:cs typeface="Pretendard" pitchFamily="34" charset="-120"/>
              </a:rPr>
              <a:t>METADATA</a:t>
            </a:r>
            <a:endParaRPr lang="en-US" sz="975" dirty="0"/>
          </a:p>
        </p:txBody>
      </p:sp>
      <p:sp>
        <p:nvSpPr>
          <p:cNvPr id="18" name="Text 9"/>
          <p:cNvSpPr txBox="1"/>
          <p:nvPr/>
        </p:nvSpPr>
        <p:spPr>
          <a:xfrm>
            <a:off x="6286500" y="4162349"/>
            <a:ext cx="2095805" cy="277063"/>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공정 · Cu DD</a:t>
            </a:r>
            <a:endParaRPr lang="en-US" sz="1350" dirty="0"/>
          </a:p>
        </p:txBody>
      </p:sp>
      <p:sp>
        <p:nvSpPr>
          <p:cNvPr id="19" name="Text 10"/>
          <p:cNvSpPr txBox="1"/>
          <p:nvPr/>
        </p:nvSpPr>
        <p:spPr>
          <a:xfrm>
            <a:off x="6286500" y="4436669"/>
            <a:ext cx="2095805" cy="277063"/>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배리어 · TaN 2nm</a:t>
            </a:r>
            <a:endParaRPr lang="en-US" sz="1350" dirty="0"/>
          </a:p>
        </p:txBody>
      </p:sp>
      <p:sp>
        <p:nvSpPr>
          <p:cNvPr id="20" name="Text 11"/>
          <p:cNvSpPr txBox="1"/>
          <p:nvPr/>
        </p:nvSpPr>
        <p:spPr>
          <a:xfrm>
            <a:off x="6286500" y="4710989"/>
            <a:ext cx="2095805" cy="277063"/>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피치 · 18nm</a:t>
            </a:r>
            <a:endParaRPr lang="en-US" sz="1350" dirty="0"/>
          </a:p>
        </p:txBody>
      </p:sp>
      <p:sp>
        <p:nvSpPr>
          <p:cNvPr id="21" name="Text 12"/>
          <p:cNvSpPr txBox="1"/>
          <p:nvPr/>
        </p:nvSpPr>
        <p:spPr>
          <a:xfrm>
            <a:off x="6286500" y="4985309"/>
            <a:ext cx="2533802" cy="277063"/>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Cu 벌크 노출 영역 확인 가능</a:t>
            </a:r>
            <a:endParaRPr lang="en-US" sz="1350" dirty="0"/>
          </a:p>
        </p:txBody>
      </p:sp>
      <p:sp>
        <p:nvSpPr>
          <p:cNvPr id="22" name="Text 13"/>
          <p:cNvSpPr txBox="1"/>
          <p:nvPr/>
        </p:nvSpPr>
        <p:spPr>
          <a:xfrm>
            <a:off x="990295" y="7258507"/>
            <a:ext cx="7049110" cy="219456"/>
          </a:xfrm>
          <a:prstGeom prst="rect">
            <a:avLst/>
          </a:prstGeom>
          <a:noFill/>
          <a:ln/>
        </p:spPr>
        <p:txBody>
          <a:bodyPr wrap="none" lIns="0" tIns="0" rIns="0" bIns="0" rtlCol="0" anchor="ctr"/>
          <a:lstStyle/>
          <a:p>
            <a:pPr algn="l" indent="0" marL="0">
              <a:buNone/>
            </a:pPr>
            <a:r>
              <a:rPr lang="en-US" sz="1125" dirty="0">
                <a:solidFill>
                  <a:srgbClr val="3E434A"/>
                </a:solidFill>
                <a:latin typeface="Pretendard" pitchFamily="34" charset="0"/>
                <a:ea typeface="Pretendard" pitchFamily="34" charset="-122"/>
                <a:cs typeface="Pretendard" pitchFamily="34" charset="-120"/>
              </a:rPr>
              <a:t>출처: 3D InCites, Copper Dual Damascene for Wafer-Level Packaging (2025)</a:t>
            </a:r>
            <a:endParaRPr lang="en-US" sz="1125" dirty="0"/>
          </a:p>
        </p:txBody>
      </p:sp>
      <p:sp>
        <p:nvSpPr>
          <p:cNvPr id="23" name="Text 14"/>
          <p:cNvSpPr txBox="1"/>
          <p:nvPr/>
        </p:nvSpPr>
        <p:spPr>
          <a:xfrm>
            <a:off x="9182405" y="3010205"/>
            <a:ext cx="2857500" cy="181051"/>
          </a:xfrm>
          <a:prstGeom prst="rect">
            <a:avLst/>
          </a:prstGeom>
          <a:noFill/>
          <a:ln/>
        </p:spPr>
        <p:txBody>
          <a:bodyPr wrap="none" lIns="0" tIns="0" rIns="0" bIns="0" rtlCol="0" anchor="ctr"/>
          <a:lstStyle/>
          <a:p>
            <a:pPr algn="l" indent="0" marL="0">
              <a:buNone/>
            </a:pPr>
            <a:r>
              <a:rPr lang="en-US" sz="975" spc="215" kern="0" dirty="0">
                <a:solidFill>
                  <a:srgbClr val="355A6B"/>
                </a:solidFill>
                <a:latin typeface="Pretendard" pitchFamily="34" charset="0"/>
                <a:ea typeface="Pretendard" pitchFamily="34" charset="-122"/>
                <a:cs typeface="Pretendard" pitchFamily="34" charset="-120"/>
              </a:rPr>
              <a:t>SPECIMEN · W3</a:t>
            </a:r>
            <a:endParaRPr lang="en-US" sz="975" dirty="0"/>
          </a:p>
        </p:txBody>
      </p:sp>
      <p:sp>
        <p:nvSpPr>
          <p:cNvPr id="24" name="Text 15"/>
          <p:cNvSpPr txBox="1"/>
          <p:nvPr/>
        </p:nvSpPr>
        <p:spPr>
          <a:xfrm>
            <a:off x="9182405" y="3448202"/>
            <a:ext cx="7620610"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Ru Semi-Damascene + FSAV</a:t>
            </a:r>
            <a:endParaRPr lang="en-US" sz="1800" dirty="0"/>
          </a:p>
        </p:txBody>
      </p:sp>
      <p:sp>
        <p:nvSpPr>
          <p:cNvPr id="25" name="Text 16"/>
          <p:cNvSpPr txBox="1"/>
          <p:nvPr/>
        </p:nvSpPr>
        <p:spPr>
          <a:xfrm>
            <a:off x="9182405" y="7181698"/>
            <a:ext cx="8192110" cy="286207"/>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공정 · Ru SD 2ML 모듈 · M3 비아가 M2 라인 폭 안쪽으로 자가정렬</a:t>
            </a:r>
            <a:endParaRPr lang="en-US" sz="1500" dirty="0"/>
          </a:p>
        </p:txBody>
      </p:sp>
      <p:sp>
        <p:nvSpPr>
          <p:cNvPr id="26" name="Text 17"/>
          <p:cNvSpPr txBox="1"/>
          <p:nvPr/>
        </p:nvSpPr>
        <p:spPr>
          <a:xfrm>
            <a:off x="9182405" y="7524598"/>
            <a:ext cx="8192110" cy="219456"/>
          </a:xfrm>
          <a:prstGeom prst="rect">
            <a:avLst/>
          </a:prstGeom>
          <a:noFill/>
          <a:ln/>
        </p:spPr>
        <p:txBody>
          <a:bodyPr wrap="none" lIns="0" tIns="0" rIns="0" bIns="0" rtlCol="0" anchor="ctr"/>
          <a:lstStyle/>
          <a:p>
            <a:pPr algn="l" indent="0" marL="0">
              <a:buNone/>
            </a:pPr>
            <a:r>
              <a:rPr lang="en-US" sz="1125" dirty="0">
                <a:solidFill>
                  <a:srgbClr val="3E434A"/>
                </a:solidFill>
                <a:latin typeface="Pretendard" pitchFamily="34" charset="0"/>
                <a:ea typeface="Pretendard" pitchFamily="34" charset="-122"/>
                <a:cs typeface="Pretendard" pitchFamily="34" charset="-120"/>
              </a:rPr>
              <a:t>출처: imec / Silicon Semiconductor — first fully self-aligned 2ML semi-damascene module</a:t>
            </a:r>
            <a:endParaRPr lang="en-US" sz="1125" dirty="0"/>
          </a:p>
        </p:txBody>
      </p:sp>
      <p:sp>
        <p:nvSpPr>
          <p:cNvPr id="27" name="Text 18"/>
          <p:cNvSpPr txBox="1"/>
          <p:nvPr/>
        </p:nvSpPr>
        <p:spPr>
          <a:xfrm>
            <a:off x="1143000" y="8419795"/>
            <a:ext cx="2286000" cy="181051"/>
          </a:xfrm>
          <a:prstGeom prst="rect">
            <a:avLst/>
          </a:prstGeom>
          <a:noFill/>
          <a:ln/>
        </p:spPr>
        <p:txBody>
          <a:bodyPr wrap="none" lIns="0" tIns="0" rIns="0" bIns="0" rtlCol="0" anchor="ctr"/>
          <a:lstStyle/>
          <a:p>
            <a:pPr algn="l" indent="0" marL="0">
              <a:buNone/>
            </a:pPr>
            <a:r>
              <a:rPr lang="en-US" sz="975" spc="273" kern="0" dirty="0">
                <a:solidFill>
                  <a:srgbClr val="9CC1CC"/>
                </a:solidFill>
                <a:latin typeface="Pretendard" pitchFamily="34" charset="0"/>
                <a:ea typeface="Pretendard" pitchFamily="34" charset="-122"/>
                <a:cs typeface="Pretendard" pitchFamily="34" charset="-120"/>
              </a:rPr>
              <a:t>KEY TAKEAWAY</a:t>
            </a:r>
            <a:endParaRPr lang="en-US" sz="975" dirty="0"/>
          </a:p>
        </p:txBody>
      </p:sp>
      <p:sp>
        <p:nvSpPr>
          <p:cNvPr id="28" name="Text 19"/>
          <p:cNvSpPr txBox="1"/>
          <p:nvPr/>
        </p:nvSpPr>
        <p:spPr>
          <a:xfrm>
            <a:off x="1143000" y="8744407"/>
            <a:ext cx="16436340" cy="324612"/>
          </a:xfrm>
          <a:prstGeom prst="rect">
            <a:avLst/>
          </a:prstGeom>
          <a:noFill/>
          <a:ln/>
        </p:spPr>
        <p:txBody>
          <a:bodyPr wrap="none" lIns="0" tIns="0" rIns="0" bIns="0" rtlCol="0" anchor="ctr"/>
          <a:lstStyle/>
          <a:p>
            <a:pPr algn="l" indent="0" marL="0">
              <a:buNone/>
            </a:pPr>
            <a:r>
              <a:rPr lang="en-US" sz="1800" dirty="0">
                <a:solidFill>
                  <a:srgbClr val="FFFFFF"/>
                </a:solidFill>
                <a:latin typeface="Pretendard" pitchFamily="34" charset="0"/>
                <a:ea typeface="Pretendard" pitchFamily="34" charset="-122"/>
                <a:cs typeface="Pretendard" pitchFamily="34" charset="-120"/>
              </a:rPr>
              <a:t>동일 18nm 피치 단면에서 Ru 웨이퍼는 Cu보다 슬림한 wall profile과 빈틈없는 FSAV 비아 정렬을 보이며, barrier-less 구조 가설을 뒷받침한다.</a:t>
            </a:r>
            <a:endParaRPr lang="en-US" sz="1800" dirty="0"/>
          </a:p>
        </p:txBody>
      </p:sp>
      <p:sp>
        <p:nvSpPr>
          <p:cNvPr id="29" name="Text 20"/>
          <p:cNvSpPr txBox="1"/>
          <p:nvPr/>
        </p:nvSpPr>
        <p:spPr>
          <a:xfrm>
            <a:off x="761695" y="9696298"/>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495398"/>
            <a:ext cx="1524305" cy="28346"/>
          </a:xfrm>
          <a:prstGeom prst="rect">
            <a:avLst/>
          </a:prstGeom>
        </p:spPr>
      </p:pic>
      <p:sp>
        <p:nvSpPr>
          <p:cNvPr id="5" name="Shape 0"/>
          <p:cNvSpPr/>
          <p:nvPr/>
        </p:nvSpPr>
        <p:spPr>
          <a:xfrm>
            <a:off x="761695" y="2857500"/>
            <a:ext cx="12592202" cy="4972507"/>
          </a:xfrm>
          <a:prstGeom prst="rect">
            <a:avLst/>
          </a:prstGeom>
          <a:solidFill>
            <a:srgbClr val="FFFFFF"/>
          </a:solidFill>
          <a:ln w="12700">
            <a:solidFill>
              <a:srgbClr val="E2DED5"/>
            </a:solidFill>
            <a:prstDash val="solid"/>
          </a:ln>
        </p:spPr>
      </p:sp>
      <p:sp>
        <p:nvSpPr>
          <p:cNvPr id="6" name="Shape 1"/>
          <p:cNvSpPr/>
          <p:nvPr/>
        </p:nvSpPr>
        <p:spPr>
          <a:xfrm>
            <a:off x="13620902" y="2857500"/>
            <a:ext cx="3905402" cy="4953305"/>
          </a:xfrm>
          <a:prstGeom prst="rect">
            <a:avLst/>
          </a:prstGeom>
          <a:solidFill>
            <a:srgbClr val="F2EFE7"/>
          </a:solidFill>
          <a:ln w="12700">
            <a:solidFill>
              <a:srgbClr val="FFFFFF">
                <a:alpha val="0"/>
              </a:srgbClr>
            </a:solidFill>
            <a:prstDash val="solid"/>
          </a:ln>
        </p:spPr>
      </p:sp>
      <p:pic>
        <p:nvPicPr>
          <p:cNvPr id="7" name="Image 2" descr="gen-dedup-69ea10c29572e882e7467321d9edbe60.png">    </p:cNvPr>
          <p:cNvPicPr>
            <a:picLocks noChangeAspect="1"/>
          </p:cNvPicPr>
          <p:nvPr/>
        </p:nvPicPr>
        <p:blipFill>
          <a:blip r:embed="rId3"/>
          <a:srcRect l="0" r="0" t="-384" b="-384"/>
          <a:stretch/>
        </p:blipFill>
        <p:spPr>
          <a:xfrm>
            <a:off x="13849502" y="3409798"/>
            <a:ext cx="476402" cy="19202"/>
          </a:xfrm>
          <a:prstGeom prst="rect">
            <a:avLst/>
          </a:prstGeom>
        </p:spPr>
      </p:pic>
      <p:sp>
        <p:nvSpPr>
          <p:cNvPr id="8" name="Shape 2"/>
          <p:cNvSpPr/>
          <p:nvPr/>
        </p:nvSpPr>
        <p:spPr>
          <a:xfrm>
            <a:off x="761695" y="8191195"/>
            <a:ext cx="16763695" cy="1047902"/>
          </a:xfrm>
          <a:prstGeom prst="rect">
            <a:avLst/>
          </a:prstGeom>
          <a:solidFill>
            <a:srgbClr val="2D5466"/>
          </a:solidFill>
          <a:ln w="12700">
            <a:solidFill>
              <a:srgbClr val="FFFFFF">
                <a:alpha val="0"/>
              </a:srgbClr>
            </a:solidFill>
            <a:prstDash val="solid"/>
          </a:ln>
        </p:spPr>
      </p:sp>
      <p:pic>
        <p:nvPicPr>
          <p:cNvPr id="9" name="Image 3" descr="gen-dedup-477c4a52666a00247cfaf791275a1731.jpg">    </p:cNvPr>
          <p:cNvPicPr>
            <a:picLocks noChangeAspect="1"/>
          </p:cNvPicPr>
          <p:nvPr/>
        </p:nvPicPr>
        <p:blipFill>
          <a:blip r:embed="rId4"/>
          <a:stretch>
            <a:fillRect/>
          </a:stretch>
        </p:blipFill>
        <p:spPr>
          <a:xfrm>
            <a:off x="1143000" y="3143707"/>
            <a:ext cx="11811305" cy="4381805"/>
          </a:xfrm>
          <a:prstGeom prst="rect">
            <a:avLst/>
          </a:prstGeom>
        </p:spPr>
      </p:pic>
      <p:sp>
        <p:nvSpPr>
          <p:cNvPr id="10" name="Text 3"/>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PHOTO B</a:t>
            </a:r>
            <a:endParaRPr lang="en-US" sz="900" dirty="0"/>
          </a:p>
        </p:txBody>
      </p:sp>
      <p:sp>
        <p:nvSpPr>
          <p:cNvPr id="11" name="Text 4"/>
          <p:cNvSpPr txBox="1"/>
          <p:nvPr/>
        </p:nvSpPr>
        <p:spPr>
          <a:xfrm>
            <a:off x="761695" y="1028700"/>
            <a:ext cx="14287500" cy="486461"/>
          </a:xfrm>
          <a:prstGeom prst="rect">
            <a:avLst/>
          </a:prstGeom>
          <a:noFill/>
          <a:ln/>
        </p:spPr>
        <p:txBody>
          <a:bodyPr wrap="none" lIns="0" tIns="0" rIns="0" bIns="0" rtlCol="0" anchor="ctr"/>
          <a:lstStyle/>
          <a:p>
            <a:pPr algn="l" indent="0" marL="0">
              <a:buNone/>
            </a:pPr>
            <a:r>
              <a:rPr lang="en-US" sz="3450" b="1" spc="-34" kern="0" dirty="0">
                <a:solidFill>
                  <a:srgbClr val="1A1D22"/>
                </a:solidFill>
                <a:latin typeface="Pretendard" pitchFamily="34" charset="0"/>
                <a:ea typeface="Pretendard" pitchFamily="34" charset="-122"/>
                <a:cs typeface="Pretendard" pitchFamily="34" charset="-120"/>
              </a:rPr>
              <a:t>TEM 단면 — Ru Semi-Damascene</a:t>
            </a:r>
            <a:endParaRPr lang="en-US" sz="3450" dirty="0"/>
          </a:p>
        </p:txBody>
      </p:sp>
      <p:sp>
        <p:nvSpPr>
          <p:cNvPr id="12" name="Text 5"/>
          <p:cNvSpPr txBox="1"/>
          <p:nvPr/>
        </p:nvSpPr>
        <p:spPr>
          <a:xfrm>
            <a:off x="761695" y="1644091"/>
            <a:ext cx="14287500"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18nm 피치 · 2-ML 통합 모듈의 단면 전자현미경 분석</a:t>
            </a:r>
            <a:endParaRPr lang="en-US" sz="1500" dirty="0"/>
          </a:p>
        </p:txBody>
      </p:sp>
      <p:sp>
        <p:nvSpPr>
          <p:cNvPr id="13" name="Text 6"/>
          <p:cNvSpPr txBox="1"/>
          <p:nvPr/>
        </p:nvSpPr>
        <p:spPr>
          <a:xfrm>
            <a:off x="13849502" y="3143707"/>
            <a:ext cx="3525012" cy="181051"/>
          </a:xfrm>
          <a:prstGeom prst="rect">
            <a:avLst/>
          </a:prstGeom>
          <a:noFill/>
          <a:ln/>
        </p:spPr>
        <p:txBody>
          <a:bodyPr wrap="none" lIns="0" tIns="0" rIns="0" bIns="0" rtlCol="0" anchor="ctr"/>
          <a:lstStyle/>
          <a:p>
            <a:pPr algn="l" indent="0" marL="0">
              <a:buNone/>
            </a:pPr>
            <a:r>
              <a:rPr lang="en-US" sz="975" spc="215" kern="0" dirty="0">
                <a:solidFill>
                  <a:srgbClr val="355A6B"/>
                </a:solidFill>
                <a:latin typeface="Pretendard" pitchFamily="34" charset="0"/>
                <a:ea typeface="Pretendard" pitchFamily="34" charset="-122"/>
                <a:cs typeface="Pretendard" pitchFamily="34" charset="-120"/>
              </a:rPr>
              <a:t>OBSERVATIONS</a:t>
            </a:r>
            <a:endParaRPr lang="en-US" sz="975" dirty="0"/>
          </a:p>
        </p:txBody>
      </p:sp>
      <p:sp>
        <p:nvSpPr>
          <p:cNvPr id="14" name="Text 7"/>
          <p:cNvSpPr txBox="1"/>
          <p:nvPr/>
        </p:nvSpPr>
        <p:spPr>
          <a:xfrm>
            <a:off x="13849502" y="3619195"/>
            <a:ext cx="3525012"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 상/하단 라인이 동일 피치로 정렬</a:t>
            </a:r>
            <a:endParaRPr lang="en-US" sz="1350" dirty="0"/>
          </a:p>
        </p:txBody>
      </p:sp>
      <p:sp>
        <p:nvSpPr>
          <p:cNvPr id="15" name="Text 8"/>
          <p:cNvSpPr txBox="1"/>
          <p:nvPr/>
        </p:nvSpPr>
        <p:spPr>
          <a:xfrm>
            <a:off x="13849502" y="3910889"/>
            <a:ext cx="3525012"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 비아가 라인 폭 안쪽에 정확히 안착</a:t>
            </a:r>
            <a:endParaRPr lang="en-US" sz="1350" dirty="0"/>
          </a:p>
        </p:txBody>
      </p:sp>
      <p:sp>
        <p:nvSpPr>
          <p:cNvPr id="16" name="Text 9"/>
          <p:cNvSpPr txBox="1"/>
          <p:nvPr/>
        </p:nvSpPr>
        <p:spPr>
          <a:xfrm>
            <a:off x="13849502" y="4202582"/>
            <a:ext cx="3525012"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 EDS 매핑상 금속 잔류물 없음</a:t>
            </a:r>
            <a:endParaRPr lang="en-US" sz="1350" dirty="0"/>
          </a:p>
        </p:txBody>
      </p:sp>
      <p:sp>
        <p:nvSpPr>
          <p:cNvPr id="17" name="Text 10"/>
          <p:cNvSpPr txBox="1"/>
          <p:nvPr/>
        </p:nvSpPr>
        <p:spPr>
          <a:xfrm>
            <a:off x="13849502" y="4493362"/>
            <a:ext cx="3525012"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 누설 경로가 시각적으로 식별되지 않음</a:t>
            </a:r>
            <a:endParaRPr lang="en-US" sz="1350" dirty="0"/>
          </a:p>
        </p:txBody>
      </p:sp>
      <p:sp>
        <p:nvSpPr>
          <p:cNvPr id="18" name="Text 11"/>
          <p:cNvSpPr txBox="1"/>
          <p:nvPr/>
        </p:nvSpPr>
        <p:spPr>
          <a:xfrm>
            <a:off x="13849502" y="5619902"/>
            <a:ext cx="3525012" cy="553212"/>
          </a:xfrm>
          <a:prstGeom prst="rect">
            <a:avLst/>
          </a:prstGeom>
          <a:noFill/>
          <a:ln/>
        </p:spPr>
        <p:txBody>
          <a:bodyPr wrap="square" lIns="0" tIns="0" rIns="0" bIns="0" rtlCol="0" anchor="ctr"/>
          <a:lstStyle/>
          <a:p>
            <a:pPr algn="l" indent="0" marL="0">
              <a:lnSpc>
                <a:spcPts val="2160"/>
              </a:lnSpc>
              <a:buNone/>
            </a:pPr>
            <a:r>
              <a:rPr lang="en-US" sz="1350" dirty="0">
                <a:solidFill>
                  <a:srgbClr val="1A1D22"/>
                </a:solidFill>
                <a:latin typeface="Pretendard" pitchFamily="34" charset="0"/>
                <a:ea typeface="Pretendard" pitchFamily="34" charset="-122"/>
                <a:cs typeface="Pretendard" pitchFamily="34" charset="-120"/>
              </a:rPr>
              <a:t>하단 M(x)이 Ru로 직접 식각되고, 그 위에 완전 자가정렬 비아(FSAV) 방식으로 M(x+1)이 적층된다.</a:t>
            </a:r>
            <a:endParaRPr lang="en-US" sz="1350" dirty="0"/>
          </a:p>
        </p:txBody>
      </p:sp>
      <p:sp>
        <p:nvSpPr>
          <p:cNvPr id="19" name="Text 12"/>
          <p:cNvSpPr txBox="1"/>
          <p:nvPr/>
        </p:nvSpPr>
        <p:spPr>
          <a:xfrm>
            <a:off x="13849502" y="6339535"/>
            <a:ext cx="3525012" cy="400507"/>
          </a:xfrm>
          <a:prstGeom prst="rect">
            <a:avLst/>
          </a:prstGeom>
          <a:noFill/>
          <a:ln/>
        </p:spPr>
        <p:txBody>
          <a:bodyPr wrap="square" lIns="0" tIns="0" rIns="0" bIns="0" rtlCol="0" anchor="ctr"/>
          <a:lstStyle/>
          <a:p>
            <a:pPr algn="l" indent="0" marL="0">
              <a:lnSpc>
                <a:spcPts val="1575"/>
              </a:lnSpc>
              <a:buNone/>
            </a:pPr>
            <a:r>
              <a:rPr lang="en-US" sz="1050" dirty="0">
                <a:solidFill>
                  <a:srgbClr val="5A6068"/>
                </a:solidFill>
                <a:latin typeface="Pretendard" pitchFamily="34" charset="0"/>
                <a:ea typeface="Pretendard" pitchFamily="34" charset="-122"/>
                <a:cs typeface="Pretendard" pitchFamily="34" charset="-120"/>
              </a:rPr>
              <a:t>출처: imec — Semi-damascene interconnects with fully self-aligned vias at 18nm metal pitch</a:t>
            </a:r>
            <a:endParaRPr lang="en-US" sz="1050" dirty="0"/>
          </a:p>
        </p:txBody>
      </p:sp>
      <p:sp>
        <p:nvSpPr>
          <p:cNvPr id="20" name="Text 13"/>
          <p:cNvSpPr txBox="1"/>
          <p:nvPr/>
        </p:nvSpPr>
        <p:spPr>
          <a:xfrm>
            <a:off x="761695" y="7867498"/>
            <a:ext cx="12573000" cy="25786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M3 평가는 본 참조 단면의 pitch 조건에서 수행되며, 두 금속 레벨 사이 정렬 신뢰성을 cross-check 한다.</a:t>
            </a:r>
            <a:endParaRPr lang="en-US" sz="1350" dirty="0"/>
          </a:p>
        </p:txBody>
      </p:sp>
      <p:sp>
        <p:nvSpPr>
          <p:cNvPr id="21" name="Text 14"/>
          <p:cNvSpPr txBox="1"/>
          <p:nvPr/>
        </p:nvSpPr>
        <p:spPr>
          <a:xfrm>
            <a:off x="1143000" y="8419795"/>
            <a:ext cx="2286000" cy="181051"/>
          </a:xfrm>
          <a:prstGeom prst="rect">
            <a:avLst/>
          </a:prstGeom>
          <a:noFill/>
          <a:ln/>
        </p:spPr>
        <p:txBody>
          <a:bodyPr wrap="none" lIns="0" tIns="0" rIns="0" bIns="0" rtlCol="0" anchor="ctr"/>
          <a:lstStyle/>
          <a:p>
            <a:pPr algn="l" indent="0" marL="0">
              <a:buNone/>
            </a:pPr>
            <a:r>
              <a:rPr lang="en-US" sz="975" spc="273" kern="0" dirty="0">
                <a:solidFill>
                  <a:srgbClr val="9CC1CC"/>
                </a:solidFill>
                <a:latin typeface="Pretendard" pitchFamily="34" charset="0"/>
                <a:ea typeface="Pretendard" pitchFamily="34" charset="-122"/>
                <a:cs typeface="Pretendard" pitchFamily="34" charset="-120"/>
              </a:rPr>
              <a:t>KEY TAKEAWAY</a:t>
            </a:r>
            <a:endParaRPr lang="en-US" sz="975" dirty="0"/>
          </a:p>
        </p:txBody>
      </p:sp>
      <p:sp>
        <p:nvSpPr>
          <p:cNvPr id="22" name="Text 15"/>
          <p:cNvSpPr txBox="1"/>
          <p:nvPr/>
        </p:nvSpPr>
        <p:spPr>
          <a:xfrm>
            <a:off x="1143000" y="8744407"/>
            <a:ext cx="16002000" cy="324612"/>
          </a:xfrm>
          <a:prstGeom prst="rect">
            <a:avLst/>
          </a:prstGeom>
          <a:noFill/>
          <a:ln/>
        </p:spPr>
        <p:txBody>
          <a:bodyPr wrap="none" lIns="0" tIns="0" rIns="0" bIns="0" rtlCol="0" anchor="ctr"/>
          <a:lstStyle/>
          <a:p>
            <a:pPr algn="l" indent="0" marL="0">
              <a:buNone/>
            </a:pPr>
            <a:r>
              <a:rPr lang="en-US" sz="1800" dirty="0">
                <a:solidFill>
                  <a:srgbClr val="FFFFFF"/>
                </a:solidFill>
                <a:latin typeface="Pretendard" pitchFamily="34" charset="0"/>
                <a:ea typeface="Pretendard" pitchFamily="34" charset="-122"/>
                <a:cs typeface="Pretendard" pitchFamily="34" charset="-120"/>
              </a:rPr>
              <a:t>FSAV 비아가 라인 폭 경계 안쪽으로 자가정렬되어 오버레이 변동 흡수가 확인되며, 이를 M3 49pt 균일도와 전기 측정에 cross-check 한다.</a:t>
            </a:r>
            <a:endParaRPr lang="en-US" sz="1800" dirty="0"/>
          </a:p>
        </p:txBody>
      </p:sp>
      <p:sp>
        <p:nvSpPr>
          <p:cNvPr id="23" name="Text 16"/>
          <p:cNvSpPr txBox="1"/>
          <p:nvPr/>
        </p:nvSpPr>
        <p:spPr>
          <a:xfrm>
            <a:off x="761695" y="9696298"/>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495398"/>
            <a:ext cx="1524305" cy="28346"/>
          </a:xfrm>
          <a:prstGeom prst="rect">
            <a:avLst/>
          </a:prstGeom>
        </p:spPr>
      </p:pic>
      <p:sp>
        <p:nvSpPr>
          <p:cNvPr id="5" name="Shape 0"/>
          <p:cNvSpPr/>
          <p:nvPr/>
        </p:nvSpPr>
        <p:spPr>
          <a:xfrm>
            <a:off x="761695" y="2819095"/>
            <a:ext cx="7448702" cy="4972507"/>
          </a:xfrm>
          <a:prstGeom prst="rect">
            <a:avLst/>
          </a:prstGeom>
          <a:solidFill>
            <a:srgbClr val="FFFFFF"/>
          </a:solidFill>
          <a:ln w="12700">
            <a:solidFill>
              <a:srgbClr val="E2DED5"/>
            </a:solidFill>
            <a:prstDash val="solid"/>
          </a:ln>
        </p:spPr>
      </p:sp>
      <p:pic>
        <p:nvPicPr>
          <p:cNvPr id="6" name="Image 2" descr="gen-dedup-1b2769e783ad72b8029bf22b4e2b28e2.png">    </p:cNvPr>
          <p:cNvPicPr>
            <a:picLocks noChangeAspect="1"/>
          </p:cNvPicPr>
          <p:nvPr/>
        </p:nvPicPr>
        <p:blipFill>
          <a:blip r:embed="rId3"/>
          <a:srcRect l="0" r="0" t="-400" b="-400"/>
          <a:stretch/>
        </p:blipFill>
        <p:spPr>
          <a:xfrm>
            <a:off x="990295" y="3276295"/>
            <a:ext cx="571500" cy="19202"/>
          </a:xfrm>
          <a:prstGeom prst="rect">
            <a:avLst/>
          </a:prstGeom>
        </p:spPr>
      </p:pic>
      <p:sp>
        <p:nvSpPr>
          <p:cNvPr id="7" name="Shape 1"/>
          <p:cNvSpPr/>
          <p:nvPr/>
        </p:nvSpPr>
        <p:spPr>
          <a:xfrm>
            <a:off x="8572500" y="2819095"/>
            <a:ext cx="8953805" cy="4953305"/>
          </a:xfrm>
          <a:prstGeom prst="rect">
            <a:avLst/>
          </a:prstGeom>
          <a:solidFill>
            <a:srgbClr val="F2EFE7"/>
          </a:solidFill>
          <a:ln w="12700">
            <a:solidFill>
              <a:srgbClr val="FFFFFF">
                <a:alpha val="0"/>
              </a:srgbClr>
            </a:solidFill>
            <a:prstDash val="solid"/>
          </a:ln>
        </p:spPr>
      </p:sp>
      <p:pic>
        <p:nvPicPr>
          <p:cNvPr id="8" name="Image 3" descr="gen-dedup-1b2769e783ad72b8029bf22b4e2b28e2.png">    </p:cNvPr>
          <p:cNvPicPr>
            <a:picLocks noChangeAspect="1"/>
          </p:cNvPicPr>
          <p:nvPr/>
        </p:nvPicPr>
        <p:blipFill>
          <a:blip r:embed="rId4"/>
          <a:srcRect l="0" r="0" t="-400" b="-400"/>
          <a:stretch/>
        </p:blipFill>
        <p:spPr>
          <a:xfrm>
            <a:off x="8801100" y="3276295"/>
            <a:ext cx="571500" cy="19202"/>
          </a:xfrm>
          <a:prstGeom prst="rect">
            <a:avLst/>
          </a:prstGeom>
        </p:spPr>
      </p:pic>
      <p:sp>
        <p:nvSpPr>
          <p:cNvPr id="9" name="Shape 2"/>
          <p:cNvSpPr/>
          <p:nvPr/>
        </p:nvSpPr>
        <p:spPr>
          <a:xfrm>
            <a:off x="761695" y="8191195"/>
            <a:ext cx="16763695" cy="1047902"/>
          </a:xfrm>
          <a:prstGeom prst="rect">
            <a:avLst/>
          </a:prstGeom>
          <a:solidFill>
            <a:srgbClr val="2D5466"/>
          </a:solidFill>
          <a:ln w="12700">
            <a:solidFill>
              <a:srgbClr val="FFFFFF">
                <a:alpha val="0"/>
              </a:srgbClr>
            </a:solidFill>
            <a:prstDash val="solid"/>
          </a:ln>
        </p:spPr>
      </p:sp>
      <p:pic>
        <p:nvPicPr>
          <p:cNvPr id="10" name="Image 4" descr="gen-dedup-ace1dd39bbbc6b70ccf1fbeb4337f58f.jpg">    </p:cNvPr>
          <p:cNvPicPr>
            <a:picLocks noChangeAspect="1"/>
          </p:cNvPicPr>
          <p:nvPr/>
        </p:nvPicPr>
        <p:blipFill>
          <a:blip r:embed="rId5"/>
          <a:stretch>
            <a:fillRect/>
          </a:stretch>
        </p:blipFill>
        <p:spPr>
          <a:xfrm>
            <a:off x="1524305" y="3905402"/>
            <a:ext cx="4572000" cy="3810305"/>
          </a:xfrm>
          <a:prstGeom prst="rect">
            <a:avLst/>
          </a:prstGeom>
        </p:spPr>
      </p:pic>
      <p:sp>
        <p:nvSpPr>
          <p:cNvPr id="11" name="Text 3"/>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PHOTO C</a:t>
            </a:r>
            <a:endParaRPr lang="en-US" sz="900" dirty="0"/>
          </a:p>
        </p:txBody>
      </p:sp>
      <p:sp>
        <p:nvSpPr>
          <p:cNvPr id="12" name="Text 4"/>
          <p:cNvSpPr txBox="1"/>
          <p:nvPr/>
        </p:nvSpPr>
        <p:spPr>
          <a:xfrm>
            <a:off x="761695" y="1028700"/>
            <a:ext cx="15240305" cy="486461"/>
          </a:xfrm>
          <a:prstGeom prst="rect">
            <a:avLst/>
          </a:prstGeom>
          <a:noFill/>
          <a:ln/>
        </p:spPr>
        <p:txBody>
          <a:bodyPr wrap="none" lIns="0" tIns="0" rIns="0" bIns="0" rtlCol="0" anchor="ctr"/>
          <a:lstStyle/>
          <a:p>
            <a:pPr algn="l" indent="0" marL="0">
              <a:buNone/>
            </a:pPr>
            <a:r>
              <a:rPr lang="en-US" sz="3450" b="1" spc="-34" kern="0" dirty="0">
                <a:solidFill>
                  <a:srgbClr val="1A1D22"/>
                </a:solidFill>
                <a:latin typeface="Pretendard" pitchFamily="34" charset="0"/>
                <a:ea typeface="Pretendard" pitchFamily="34" charset="-122"/>
                <a:cs typeface="Pretendard" pitchFamily="34" charset="-120"/>
              </a:rPr>
              <a:t>Top-view SEM — 20nm 피치 금속 라인</a:t>
            </a:r>
            <a:endParaRPr lang="en-US" sz="3450" dirty="0"/>
          </a:p>
        </p:txBody>
      </p:sp>
      <p:sp>
        <p:nvSpPr>
          <p:cNvPr id="13" name="Text 5"/>
          <p:cNvSpPr txBox="1"/>
          <p:nvPr/>
        </p:nvSpPr>
        <p:spPr>
          <a:xfrm>
            <a:off x="761695" y="1644091"/>
            <a:ext cx="15240305"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평가 동일 라인 조건의 reference top-view 사진 — M3 평가는 더 가혹한 18nm 피치에서 수행된다.</a:t>
            </a:r>
            <a:endParaRPr lang="en-US" sz="1500" dirty="0"/>
          </a:p>
        </p:txBody>
      </p:sp>
      <p:sp>
        <p:nvSpPr>
          <p:cNvPr id="14" name="Text 6"/>
          <p:cNvSpPr txBox="1"/>
          <p:nvPr/>
        </p:nvSpPr>
        <p:spPr>
          <a:xfrm>
            <a:off x="990295" y="3010205"/>
            <a:ext cx="285750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TOP-DOWN SEM</a:t>
            </a:r>
            <a:endParaRPr lang="en-US" sz="975" dirty="0"/>
          </a:p>
        </p:txBody>
      </p:sp>
      <p:sp>
        <p:nvSpPr>
          <p:cNvPr id="15" name="Text 7"/>
          <p:cNvSpPr txBox="1"/>
          <p:nvPr/>
        </p:nvSpPr>
        <p:spPr>
          <a:xfrm>
            <a:off x="990295" y="3448202"/>
            <a:ext cx="5715000" cy="333756"/>
          </a:xfrm>
          <a:prstGeom prst="rect">
            <a:avLst/>
          </a:prstGeom>
          <a:noFill/>
          <a:ln/>
        </p:spPr>
        <p:txBody>
          <a:bodyPr wrap="none" lIns="0" tIns="0" rIns="0" bIns="0" rtlCol="0" anchor="ctr"/>
          <a:lstStyle/>
          <a:p>
            <a:pPr algn="l" indent="0" marL="0">
              <a:buNone/>
            </a:pPr>
            <a:r>
              <a:rPr lang="en-US" sz="1800" b="1" dirty="0">
                <a:solidFill>
                  <a:srgbClr val="1A1D22"/>
                </a:solidFill>
                <a:latin typeface="Pretendard" pitchFamily="34" charset="0"/>
                <a:ea typeface="Pretendard" pitchFamily="34" charset="-122"/>
                <a:cs typeface="Pretendard" pitchFamily="34" charset="-120"/>
              </a:rPr>
              <a:t>20nm half-pitch reference</a:t>
            </a:r>
            <a:endParaRPr lang="en-US" sz="1800" dirty="0"/>
          </a:p>
        </p:txBody>
      </p:sp>
      <p:sp>
        <p:nvSpPr>
          <p:cNvPr id="16" name="Text 8"/>
          <p:cNvSpPr txBox="1"/>
          <p:nvPr/>
        </p:nvSpPr>
        <p:spPr>
          <a:xfrm>
            <a:off x="8801100" y="3010205"/>
            <a:ext cx="1481328"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RELATIVE NOTE</a:t>
            </a:r>
            <a:endParaRPr lang="en-US" sz="975" dirty="0"/>
          </a:p>
        </p:txBody>
      </p:sp>
      <p:sp>
        <p:nvSpPr>
          <p:cNvPr id="17" name="Text 9"/>
          <p:cNvSpPr txBox="1"/>
          <p:nvPr/>
        </p:nvSpPr>
        <p:spPr>
          <a:xfrm>
            <a:off x="8801100" y="3619195"/>
            <a:ext cx="8382305" cy="342900"/>
          </a:xfrm>
          <a:prstGeom prst="rect">
            <a:avLst/>
          </a:prstGeom>
          <a:noFill/>
          <a:ln/>
        </p:spPr>
        <p:txBody>
          <a:bodyPr wrap="none" lIns="0" tIns="0" rIns="0" bIns="0" rtlCol="0" anchor="ctr"/>
          <a:lstStyle/>
          <a:p>
            <a:pPr algn="l" indent="0" marL="0">
              <a:buNone/>
            </a:pPr>
            <a:r>
              <a:rPr lang="en-US" sz="1650" dirty="0">
                <a:solidFill>
                  <a:srgbClr val="1A1D22"/>
                </a:solidFill>
                <a:latin typeface="Pretendard" pitchFamily="34" charset="0"/>
                <a:ea typeface="Pretendard" pitchFamily="34" charset="-122"/>
                <a:cs typeface="Pretendard" pitchFamily="34" charset="-120"/>
              </a:rPr>
              <a:t>· 본 사진은 20nm half-pitch reference shot이다.</a:t>
            </a:r>
            <a:endParaRPr lang="en-US" sz="1650" dirty="0"/>
          </a:p>
        </p:txBody>
      </p:sp>
      <p:sp>
        <p:nvSpPr>
          <p:cNvPr id="18" name="Text 10"/>
          <p:cNvSpPr txBox="1"/>
          <p:nvPr/>
        </p:nvSpPr>
        <p:spPr>
          <a:xfrm>
            <a:off x="8801100" y="3954780"/>
            <a:ext cx="9067190" cy="342900"/>
          </a:xfrm>
          <a:prstGeom prst="rect">
            <a:avLst/>
          </a:prstGeom>
          <a:noFill/>
          <a:ln/>
        </p:spPr>
        <p:txBody>
          <a:bodyPr wrap="none" lIns="0" tIns="0" rIns="0" bIns="0" rtlCol="0" anchor="ctr"/>
          <a:lstStyle/>
          <a:p>
            <a:pPr algn="l" indent="0" marL="0">
              <a:buNone/>
            </a:pPr>
            <a:r>
              <a:rPr lang="en-US" sz="1650" dirty="0">
                <a:solidFill>
                  <a:srgbClr val="1A1D22"/>
                </a:solidFill>
                <a:latin typeface="Pretendard" pitchFamily="34" charset="0"/>
                <a:ea typeface="Pretendard" pitchFamily="34" charset="-122"/>
                <a:cs typeface="Pretendard" pitchFamily="34" charset="-120"/>
              </a:rPr>
              <a:t>· M3 평가는 더 빡빡한 18nm 피치에서 실행되므로 위 결과 대비 보수적 수치로 해석한다.</a:t>
            </a:r>
            <a:endParaRPr lang="en-US" sz="1650" dirty="0"/>
          </a:p>
        </p:txBody>
      </p:sp>
      <p:sp>
        <p:nvSpPr>
          <p:cNvPr id="19" name="Text 11"/>
          <p:cNvSpPr txBox="1"/>
          <p:nvPr/>
        </p:nvSpPr>
        <p:spPr>
          <a:xfrm>
            <a:off x="8801100" y="4290365"/>
            <a:ext cx="9016898" cy="342900"/>
          </a:xfrm>
          <a:prstGeom prst="rect">
            <a:avLst/>
          </a:prstGeom>
          <a:noFill/>
          <a:ln/>
        </p:spPr>
        <p:txBody>
          <a:bodyPr wrap="none" lIns="0" tIns="0" rIns="0" bIns="0" rtlCol="0" anchor="ctr"/>
          <a:lstStyle/>
          <a:p>
            <a:pPr algn="l" indent="0" marL="0">
              <a:buNone/>
            </a:pPr>
            <a:r>
              <a:rPr lang="en-US" sz="1650" dirty="0">
                <a:solidFill>
                  <a:srgbClr val="1A1D22"/>
                </a:solidFill>
                <a:latin typeface="Pretendard" pitchFamily="34" charset="0"/>
                <a:ea typeface="Pretendard" pitchFamily="34" charset="-122"/>
                <a:cs typeface="Pretendard" pitchFamily="34" charset="-120"/>
              </a:rPr>
              <a:t>· 평가에는 dummy data가 사용되었으며, 49pt wafer map과 별도 통계표로 정량화한다.</a:t>
            </a:r>
            <a:endParaRPr lang="en-US" sz="1650" dirty="0"/>
          </a:p>
        </p:txBody>
      </p:sp>
      <p:sp>
        <p:nvSpPr>
          <p:cNvPr id="20" name="Text 12"/>
          <p:cNvSpPr txBox="1"/>
          <p:nvPr/>
        </p:nvSpPr>
        <p:spPr>
          <a:xfrm>
            <a:off x="8801100" y="5715000"/>
            <a:ext cx="8382305" cy="352958"/>
          </a:xfrm>
          <a:prstGeom prst="rect">
            <a:avLst/>
          </a:prstGeom>
          <a:noFill/>
          <a:ln/>
        </p:spPr>
        <p:txBody>
          <a:bodyPr wrap="none" lIns="0" tIns="0" rIns="0" bIns="0" rtlCol="0" anchor="ctr"/>
          <a:lstStyle/>
          <a:p>
            <a:pPr algn="l" indent="0" marL="0">
              <a:buNone/>
            </a:pPr>
            <a:r>
              <a:rPr lang="en-US" sz="1950" b="1" dirty="0">
                <a:solidFill>
                  <a:srgbClr val="2D5466"/>
                </a:solidFill>
                <a:latin typeface="Pretendard" pitchFamily="34" charset="0"/>
                <a:ea typeface="Pretendard" pitchFamily="34" charset="-122"/>
                <a:cs typeface="Pretendard" pitchFamily="34" charset="-120"/>
              </a:rPr>
              <a:t>18 → 20 nm 피치 보정 계수</a:t>
            </a:r>
            <a:endParaRPr lang="en-US" sz="1950" dirty="0"/>
          </a:p>
        </p:txBody>
      </p:sp>
      <p:sp>
        <p:nvSpPr>
          <p:cNvPr id="21" name="Text 13"/>
          <p:cNvSpPr txBox="1"/>
          <p:nvPr/>
        </p:nvSpPr>
        <p:spPr>
          <a:xfrm>
            <a:off x="8801100" y="6238951"/>
            <a:ext cx="8382305" cy="400507"/>
          </a:xfrm>
          <a:prstGeom prst="rect">
            <a:avLst/>
          </a:prstGeom>
          <a:noFill/>
          <a:ln/>
        </p:spPr>
        <p:txBody>
          <a:bodyPr wrap="none" lIns="0" tIns="0" rIns="0" bIns="0" rtlCol="0" anchor="ctr"/>
          <a:lstStyle/>
          <a:p>
            <a:pPr algn="l" indent="0" marL="0">
              <a:buNone/>
            </a:pPr>
            <a:r>
              <a:rPr lang="en-US" sz="3150" b="1" dirty="0">
                <a:solidFill>
                  <a:srgbClr val="1A1D22"/>
                </a:solidFill>
                <a:latin typeface="Pretendard" pitchFamily="34" charset="0"/>
                <a:ea typeface="Pretendard" pitchFamily="34" charset="-122"/>
                <a:cs typeface="Pretendard" pitchFamily="34" charset="-120"/>
              </a:rPr>
              <a:t>× 0.81</a:t>
            </a:r>
            <a:endParaRPr lang="en-US" sz="3150" dirty="0"/>
          </a:p>
        </p:txBody>
      </p:sp>
      <p:sp>
        <p:nvSpPr>
          <p:cNvPr id="22" name="Text 14"/>
          <p:cNvSpPr txBox="1"/>
          <p:nvPr/>
        </p:nvSpPr>
        <p:spPr>
          <a:xfrm>
            <a:off x="8801100" y="6734556"/>
            <a:ext cx="8382305" cy="228600"/>
          </a:xfrm>
          <a:prstGeom prst="rect">
            <a:avLst/>
          </a:prstGeom>
          <a:noFill/>
          <a:ln/>
        </p:spPr>
        <p:txBody>
          <a:bodyPr wrap="none" lIns="0" tIns="0" rIns="0" bIns="0" rtlCol="0" anchor="ctr"/>
          <a:lstStyle/>
          <a:p>
            <a:pPr algn="l" indent="0" marL="0">
              <a:buNone/>
            </a:pPr>
            <a:r>
              <a:rPr lang="en-US" sz="1200" dirty="0">
                <a:solidFill>
                  <a:srgbClr val="5A6068"/>
                </a:solidFill>
                <a:latin typeface="Pretendard" pitchFamily="34" charset="0"/>
                <a:ea typeface="Pretendard" pitchFamily="34" charset="-122"/>
                <a:cs typeface="Pretendard" pitchFamily="34" charset="-120"/>
              </a:rPr>
              <a:t>면적 환산 시 reference 대비 81% — 동일 전도 면적 가정 하</a:t>
            </a:r>
            <a:endParaRPr lang="en-US" sz="1200" dirty="0"/>
          </a:p>
        </p:txBody>
      </p:sp>
      <p:sp>
        <p:nvSpPr>
          <p:cNvPr id="23" name="Text 15"/>
          <p:cNvSpPr txBox="1"/>
          <p:nvPr/>
        </p:nvSpPr>
        <p:spPr>
          <a:xfrm>
            <a:off x="990295" y="7239305"/>
            <a:ext cx="6858000" cy="200254"/>
          </a:xfrm>
          <a:prstGeom prst="rect">
            <a:avLst/>
          </a:prstGeom>
          <a:noFill/>
          <a:ln/>
        </p:spPr>
        <p:txBody>
          <a:bodyPr wrap="none" lIns="0" tIns="0" rIns="0" bIns="0" rtlCol="0" anchor="ctr"/>
          <a:lstStyle/>
          <a:p>
            <a:pPr algn="l" indent="0" marL="0">
              <a:buNone/>
            </a:pPr>
            <a:r>
              <a:rPr lang="en-US" sz="1050" dirty="0">
                <a:solidFill>
                  <a:srgbClr val="5A6068"/>
                </a:solidFill>
                <a:latin typeface="Pretendard" pitchFamily="34" charset="0"/>
                <a:ea typeface="Pretendard" pitchFamily="34" charset="-122"/>
                <a:cs typeface="Pretendard" pitchFamily="34" charset="-120"/>
              </a:rPr>
              <a:t>출처: imec, electrical yield for 20nm pitch metal lines (High-NA EUV demonstration)</a:t>
            </a:r>
            <a:endParaRPr lang="en-US" sz="1050" dirty="0"/>
          </a:p>
        </p:txBody>
      </p:sp>
      <p:sp>
        <p:nvSpPr>
          <p:cNvPr id="24" name="Text 16"/>
          <p:cNvSpPr txBox="1"/>
          <p:nvPr/>
        </p:nvSpPr>
        <p:spPr>
          <a:xfrm>
            <a:off x="1143000" y="8419795"/>
            <a:ext cx="2286000" cy="181051"/>
          </a:xfrm>
          <a:prstGeom prst="rect">
            <a:avLst/>
          </a:prstGeom>
          <a:noFill/>
          <a:ln/>
        </p:spPr>
        <p:txBody>
          <a:bodyPr wrap="none" lIns="0" tIns="0" rIns="0" bIns="0" rtlCol="0" anchor="ctr"/>
          <a:lstStyle/>
          <a:p>
            <a:pPr algn="l" indent="0" marL="0">
              <a:buNone/>
            </a:pPr>
            <a:r>
              <a:rPr lang="en-US" sz="975" spc="273" kern="0" dirty="0">
                <a:solidFill>
                  <a:srgbClr val="9CC1CC"/>
                </a:solidFill>
                <a:latin typeface="Pretendard" pitchFamily="34" charset="0"/>
                <a:ea typeface="Pretendard" pitchFamily="34" charset="-122"/>
                <a:cs typeface="Pretendard" pitchFamily="34" charset="-120"/>
              </a:rPr>
              <a:t>KEY TAKEAWAY</a:t>
            </a:r>
            <a:endParaRPr lang="en-US" sz="975" dirty="0"/>
          </a:p>
        </p:txBody>
      </p:sp>
      <p:sp>
        <p:nvSpPr>
          <p:cNvPr id="25" name="Text 17"/>
          <p:cNvSpPr txBox="1"/>
          <p:nvPr/>
        </p:nvSpPr>
        <p:spPr>
          <a:xfrm>
            <a:off x="1143000" y="8744407"/>
            <a:ext cx="16002000" cy="324612"/>
          </a:xfrm>
          <a:prstGeom prst="rect">
            <a:avLst/>
          </a:prstGeom>
          <a:noFill/>
          <a:ln/>
        </p:spPr>
        <p:txBody>
          <a:bodyPr wrap="none" lIns="0" tIns="0" rIns="0" bIns="0" rtlCol="0" anchor="ctr"/>
          <a:lstStyle/>
          <a:p>
            <a:pPr algn="l" indent="0" marL="0">
              <a:buNone/>
            </a:pPr>
            <a:r>
              <a:rPr lang="en-US" sz="1800" dirty="0">
                <a:solidFill>
                  <a:srgbClr val="FFFFFF"/>
                </a:solidFill>
                <a:latin typeface="Pretendard" pitchFamily="34" charset="0"/>
                <a:ea typeface="Pretendard" pitchFamily="34" charset="-122"/>
                <a:cs typeface="Pretendard" pitchFamily="34" charset="-120"/>
              </a:rPr>
              <a:t>평가 target 18nm은 reference 20nm 대비 라인 1개당 면적이 ~81% 수준에 불과하므로, CD 변동과 면내 균일도 결과는 보수적으로 해석한다.</a:t>
            </a:r>
            <a:endParaRPr lang="en-US" sz="1800" dirty="0"/>
          </a:p>
        </p:txBody>
      </p:sp>
      <p:sp>
        <p:nvSpPr>
          <p:cNvPr id="26" name="Text 18"/>
          <p:cNvSpPr txBox="1"/>
          <p:nvPr/>
        </p:nvSpPr>
        <p:spPr>
          <a:xfrm>
            <a:off x="761695" y="9696298"/>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495398"/>
            <a:ext cx="1524305" cy="28346"/>
          </a:xfrm>
          <a:prstGeom prst="rect">
            <a:avLst/>
          </a:prstGeom>
        </p:spPr>
      </p:pic>
      <p:sp>
        <p:nvSpPr>
          <p:cNvPr id="5" name="Shape 0"/>
          <p:cNvSpPr/>
          <p:nvPr/>
        </p:nvSpPr>
        <p:spPr>
          <a:xfrm>
            <a:off x="761695" y="8191195"/>
            <a:ext cx="16763695" cy="1047902"/>
          </a:xfrm>
          <a:prstGeom prst="rect">
            <a:avLst/>
          </a:prstGeom>
          <a:solidFill>
            <a:srgbClr val="2D5466"/>
          </a:solidFill>
          <a:ln w="12700">
            <a:solidFill>
              <a:srgbClr val="FFFFFF">
                <a:alpha val="0"/>
              </a:srgbClr>
            </a:solidFill>
            <a:prstDash val="solid"/>
          </a:ln>
        </p:spPr>
      </p:sp>
      <p:sp>
        <p:nvSpPr>
          <p:cNvPr id="6" name="Text 1"/>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CD T/V</a:t>
            </a:r>
            <a:endParaRPr lang="en-US" sz="900" dirty="0"/>
          </a:p>
        </p:txBody>
      </p:sp>
      <p:sp>
        <p:nvSpPr>
          <p:cNvPr id="7" name="Text 2"/>
          <p:cNvSpPr txBox="1"/>
          <p:nvPr/>
        </p:nvSpPr>
        <p:spPr>
          <a:xfrm>
            <a:off x="761695" y="1028700"/>
            <a:ext cx="15240305" cy="486461"/>
          </a:xfrm>
          <a:prstGeom prst="rect">
            <a:avLst/>
          </a:prstGeom>
          <a:noFill/>
          <a:ln/>
        </p:spPr>
        <p:txBody>
          <a:bodyPr wrap="none" lIns="0" tIns="0" rIns="0" bIns="0" rtlCol="0" anchor="ctr"/>
          <a:lstStyle/>
          <a:p>
            <a:pPr algn="l" indent="0" marL="0">
              <a:buNone/>
            </a:pPr>
            <a:r>
              <a:rPr lang="en-US" sz="3450" b="1" spc="-34" kern="0" dirty="0">
                <a:solidFill>
                  <a:srgbClr val="1A1D22"/>
                </a:solidFill>
                <a:latin typeface="Pretendard" pitchFamily="34" charset="0"/>
                <a:ea typeface="Pretendard" pitchFamily="34" charset="-122"/>
                <a:cs typeface="Pretendard" pitchFamily="34" charset="-120"/>
              </a:rPr>
              <a:t>CD 변동 — AASI · ASEI</a:t>
            </a:r>
            <a:endParaRPr lang="en-US" sz="3450" dirty="0"/>
          </a:p>
        </p:txBody>
      </p:sp>
      <p:sp>
        <p:nvSpPr>
          <p:cNvPr id="8" name="Text 3"/>
          <p:cNvSpPr txBox="1"/>
          <p:nvPr/>
        </p:nvSpPr>
        <p:spPr>
          <a:xfrm>
            <a:off x="761695" y="1644091"/>
            <a:ext cx="15240305"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트렌치 · 비아 영역 CD 변동 · wafer 별 mean · 3σ · range · Δ-to-target (49 site 평균)</a:t>
            </a:r>
            <a:endParaRPr lang="en-US" sz="1500" dirty="0"/>
          </a:p>
        </p:txBody>
      </p:sp>
      <p:sp>
        <p:nvSpPr>
          <p:cNvPr id="9" name="Text 4"/>
          <p:cNvSpPr txBox="1"/>
          <p:nvPr/>
        </p:nvSpPr>
        <p:spPr>
          <a:xfrm>
            <a:off x="761695" y="2819095"/>
            <a:ext cx="742950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METRIC · AASI</a:t>
            </a:r>
            <a:endParaRPr lang="en-US" sz="975" dirty="0"/>
          </a:p>
        </p:txBody>
      </p:sp>
      <p:sp>
        <p:nvSpPr>
          <p:cNvPr id="10" name="Text 5"/>
          <p:cNvSpPr txBox="1"/>
          <p:nvPr/>
        </p:nvSpPr>
        <p:spPr>
          <a:xfrm>
            <a:off x="761695" y="3124505"/>
            <a:ext cx="7429500" cy="277063"/>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Target CD </a:t>
            </a:r>
            <a:pPr algn="l" indent="0" marL="0">
              <a:buNone/>
            </a:pPr>
            <a:r>
              <a:rPr lang="en-US" sz="1500" b="1" dirty="0">
                <a:solidFill>
                  <a:srgbClr val="1A1D22"/>
                </a:solidFill>
                <a:latin typeface="Pretendard" pitchFamily="34" charset="0"/>
                <a:ea typeface="Pretendard" pitchFamily="34" charset="-122"/>
                <a:cs typeface="Pretendard" pitchFamily="34" charset="-120"/>
              </a:rPr>
              <a:t>24.9 nm</a:t>
            </a:r>
            <a:pPr algn="l" indent="0" marL="0">
              <a:buNone/>
            </a:pPr>
            <a:r>
              <a:rPr lang="en-US" sz="1500" dirty="0">
                <a:solidFill>
                  <a:srgbClr val="6B6F76"/>
                </a:solidFill>
                <a:latin typeface="Pretendard" pitchFamily="34" charset="0"/>
                <a:ea typeface="Pretendard" pitchFamily="34" charset="-122"/>
                <a:cs typeface="Pretendard" pitchFamily="34" charset="-120"/>
              </a:rPr>
              <a:t>(트렌치 상부 평균 CD)</a:t>
            </a:r>
            <a:endParaRPr lang="en-US" sz="1500" dirty="0"/>
          </a:p>
        </p:txBody>
      </p:sp>
      <p:sp>
        <p:nvSpPr>
          <p:cNvPr id="11" name="Shape 6"/>
          <p:cNvSpPr/>
          <p:nvPr/>
        </p:nvSpPr>
        <p:spPr>
          <a:xfrm>
            <a:off x="761695" y="3619195"/>
            <a:ext cx="1733702" cy="476402"/>
          </a:xfrm>
          <a:prstGeom prst="rect">
            <a:avLst/>
          </a:prstGeom>
          <a:solidFill>
            <a:srgbClr val="F2EFE7"/>
          </a:solidFill>
          <a:ln/>
        </p:spPr>
      </p:sp>
      <p:sp>
        <p:nvSpPr>
          <p:cNvPr id="12" name="Shape 7"/>
          <p:cNvSpPr/>
          <p:nvPr/>
        </p:nvSpPr>
        <p:spPr>
          <a:xfrm>
            <a:off x="761695" y="4086454"/>
            <a:ext cx="1733702" cy="9144"/>
          </a:xfrm>
          <a:prstGeom prst="rect">
            <a:avLst/>
          </a:prstGeom>
          <a:solidFill>
            <a:srgbClr val="1A1D22"/>
          </a:solidFill>
          <a:ln w="12700">
            <a:solidFill>
              <a:srgbClr val="1A1D22">
                <a:alpha val="0"/>
              </a:srgbClr>
            </a:solidFill>
            <a:prstDash val="solid"/>
          </a:ln>
        </p:spPr>
      </p:sp>
      <p:sp>
        <p:nvSpPr>
          <p:cNvPr id="13" name="Text 8"/>
          <p:cNvSpPr txBox="1"/>
          <p:nvPr/>
        </p:nvSpPr>
        <p:spPr>
          <a:xfrm>
            <a:off x="761695" y="3619195"/>
            <a:ext cx="1733702"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Wafer</a:t>
            </a:r>
            <a:endParaRPr lang="en-US" sz="1125" dirty="0"/>
          </a:p>
        </p:txBody>
      </p:sp>
      <p:sp>
        <p:nvSpPr>
          <p:cNvPr id="14" name="Shape 9"/>
          <p:cNvSpPr/>
          <p:nvPr/>
        </p:nvSpPr>
        <p:spPr>
          <a:xfrm>
            <a:off x="2495398" y="3619195"/>
            <a:ext cx="1343254" cy="476402"/>
          </a:xfrm>
          <a:prstGeom prst="rect">
            <a:avLst/>
          </a:prstGeom>
          <a:solidFill>
            <a:srgbClr val="F2EFE7"/>
          </a:solidFill>
          <a:ln/>
        </p:spPr>
      </p:sp>
      <p:sp>
        <p:nvSpPr>
          <p:cNvPr id="15" name="Shape 10"/>
          <p:cNvSpPr/>
          <p:nvPr/>
        </p:nvSpPr>
        <p:spPr>
          <a:xfrm>
            <a:off x="2495398" y="4086454"/>
            <a:ext cx="1343254" cy="9144"/>
          </a:xfrm>
          <a:prstGeom prst="rect">
            <a:avLst/>
          </a:prstGeom>
          <a:solidFill>
            <a:srgbClr val="1A1D22"/>
          </a:solidFill>
          <a:ln w="12700">
            <a:solidFill>
              <a:srgbClr val="1A1D22">
                <a:alpha val="0"/>
              </a:srgbClr>
            </a:solidFill>
            <a:prstDash val="solid"/>
          </a:ln>
        </p:spPr>
      </p:sp>
      <p:sp>
        <p:nvSpPr>
          <p:cNvPr id="16" name="Text 11"/>
          <p:cNvSpPr txBox="1"/>
          <p:nvPr/>
        </p:nvSpPr>
        <p:spPr>
          <a:xfrm>
            <a:off x="2495398" y="3619195"/>
            <a:ext cx="1343254"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Mean (nm)</a:t>
            </a:r>
            <a:endParaRPr lang="en-US" sz="1125" dirty="0"/>
          </a:p>
        </p:txBody>
      </p:sp>
      <p:sp>
        <p:nvSpPr>
          <p:cNvPr id="17" name="Shape 12"/>
          <p:cNvSpPr/>
          <p:nvPr/>
        </p:nvSpPr>
        <p:spPr>
          <a:xfrm>
            <a:off x="3837737" y="3619195"/>
            <a:ext cx="1086307" cy="476402"/>
          </a:xfrm>
          <a:prstGeom prst="rect">
            <a:avLst/>
          </a:prstGeom>
          <a:solidFill>
            <a:srgbClr val="F2EFE7"/>
          </a:solidFill>
          <a:ln/>
        </p:spPr>
      </p:sp>
      <p:sp>
        <p:nvSpPr>
          <p:cNvPr id="18" name="Shape 13"/>
          <p:cNvSpPr/>
          <p:nvPr/>
        </p:nvSpPr>
        <p:spPr>
          <a:xfrm>
            <a:off x="3837737" y="4086454"/>
            <a:ext cx="1086307" cy="9144"/>
          </a:xfrm>
          <a:prstGeom prst="rect">
            <a:avLst/>
          </a:prstGeom>
          <a:solidFill>
            <a:srgbClr val="1A1D22"/>
          </a:solidFill>
          <a:ln w="12700">
            <a:solidFill>
              <a:srgbClr val="1A1D22">
                <a:alpha val="0"/>
              </a:srgbClr>
            </a:solidFill>
            <a:prstDash val="solid"/>
          </a:ln>
        </p:spPr>
      </p:sp>
      <p:sp>
        <p:nvSpPr>
          <p:cNvPr id="19" name="Text 14"/>
          <p:cNvSpPr txBox="1"/>
          <p:nvPr/>
        </p:nvSpPr>
        <p:spPr>
          <a:xfrm>
            <a:off x="3837737" y="3619195"/>
            <a:ext cx="1086307"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3σ (nm)</a:t>
            </a:r>
            <a:endParaRPr lang="en-US" sz="1125" dirty="0"/>
          </a:p>
        </p:txBody>
      </p:sp>
      <p:sp>
        <p:nvSpPr>
          <p:cNvPr id="20" name="Shape 15"/>
          <p:cNvSpPr/>
          <p:nvPr/>
        </p:nvSpPr>
        <p:spPr>
          <a:xfrm>
            <a:off x="4922215" y="3619195"/>
            <a:ext cx="1429207" cy="476402"/>
          </a:xfrm>
          <a:prstGeom prst="rect">
            <a:avLst/>
          </a:prstGeom>
          <a:solidFill>
            <a:srgbClr val="F2EFE7"/>
          </a:solidFill>
          <a:ln/>
        </p:spPr>
      </p:sp>
      <p:sp>
        <p:nvSpPr>
          <p:cNvPr id="21" name="Shape 16"/>
          <p:cNvSpPr/>
          <p:nvPr/>
        </p:nvSpPr>
        <p:spPr>
          <a:xfrm>
            <a:off x="4922215" y="4086454"/>
            <a:ext cx="1429207" cy="9144"/>
          </a:xfrm>
          <a:prstGeom prst="rect">
            <a:avLst/>
          </a:prstGeom>
          <a:solidFill>
            <a:srgbClr val="1A1D22"/>
          </a:solidFill>
          <a:ln w="12700">
            <a:solidFill>
              <a:srgbClr val="1A1D22">
                <a:alpha val="0"/>
              </a:srgbClr>
            </a:solidFill>
            <a:prstDash val="solid"/>
          </a:ln>
        </p:spPr>
      </p:sp>
      <p:sp>
        <p:nvSpPr>
          <p:cNvPr id="22" name="Text 17"/>
          <p:cNvSpPr txBox="1"/>
          <p:nvPr/>
        </p:nvSpPr>
        <p:spPr>
          <a:xfrm>
            <a:off x="4922215" y="3619195"/>
            <a:ext cx="1429207"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Range (nm)</a:t>
            </a:r>
            <a:endParaRPr lang="en-US" sz="1125" dirty="0"/>
          </a:p>
        </p:txBody>
      </p:sp>
      <p:sp>
        <p:nvSpPr>
          <p:cNvPr id="23" name="Shape 18"/>
          <p:cNvSpPr/>
          <p:nvPr/>
        </p:nvSpPr>
        <p:spPr>
          <a:xfrm>
            <a:off x="6343193" y="3619195"/>
            <a:ext cx="1857146" cy="476402"/>
          </a:xfrm>
          <a:prstGeom prst="rect">
            <a:avLst/>
          </a:prstGeom>
          <a:solidFill>
            <a:srgbClr val="F2EFE7"/>
          </a:solidFill>
          <a:ln/>
        </p:spPr>
      </p:sp>
      <p:sp>
        <p:nvSpPr>
          <p:cNvPr id="24" name="Shape 19"/>
          <p:cNvSpPr/>
          <p:nvPr/>
        </p:nvSpPr>
        <p:spPr>
          <a:xfrm>
            <a:off x="6343193" y="4086454"/>
            <a:ext cx="1857146" cy="9144"/>
          </a:xfrm>
          <a:prstGeom prst="rect">
            <a:avLst/>
          </a:prstGeom>
          <a:solidFill>
            <a:srgbClr val="1A1D22"/>
          </a:solidFill>
          <a:ln w="12700">
            <a:solidFill>
              <a:srgbClr val="1A1D22">
                <a:alpha val="0"/>
              </a:srgbClr>
            </a:solidFill>
            <a:prstDash val="solid"/>
          </a:ln>
        </p:spPr>
      </p:sp>
      <p:sp>
        <p:nvSpPr>
          <p:cNvPr id="25" name="Text 20"/>
          <p:cNvSpPr txBox="1"/>
          <p:nvPr/>
        </p:nvSpPr>
        <p:spPr>
          <a:xfrm>
            <a:off x="6343193" y="3619195"/>
            <a:ext cx="1858061"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Δ to target (nm)</a:t>
            </a:r>
            <a:endParaRPr lang="en-US" sz="1125" dirty="0"/>
          </a:p>
        </p:txBody>
      </p:sp>
      <p:sp>
        <p:nvSpPr>
          <p:cNvPr id="26" name="Shape 21"/>
          <p:cNvSpPr/>
          <p:nvPr/>
        </p:nvSpPr>
        <p:spPr>
          <a:xfrm>
            <a:off x="761695" y="4720133"/>
            <a:ext cx="1733702" cy="9144"/>
          </a:xfrm>
          <a:prstGeom prst="rect">
            <a:avLst/>
          </a:prstGeom>
          <a:solidFill>
            <a:srgbClr val="E2DED5"/>
          </a:solidFill>
          <a:ln w="12700">
            <a:solidFill>
              <a:srgbClr val="E2DED5">
                <a:alpha val="0"/>
              </a:srgbClr>
            </a:solidFill>
            <a:prstDash val="solid"/>
          </a:ln>
        </p:spPr>
      </p:sp>
      <p:sp>
        <p:nvSpPr>
          <p:cNvPr id="27" name="Text 22"/>
          <p:cNvSpPr txBox="1"/>
          <p:nvPr/>
        </p:nvSpPr>
        <p:spPr>
          <a:xfrm>
            <a:off x="1123798" y="4091026"/>
            <a:ext cx="1371600"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W1 · Cu TaN</a:t>
            </a:r>
            <a:endParaRPr lang="en-US" sz="1500" dirty="0"/>
          </a:p>
        </p:txBody>
      </p:sp>
      <p:sp>
        <p:nvSpPr>
          <p:cNvPr id="28" name="Shape 23"/>
          <p:cNvSpPr/>
          <p:nvPr/>
        </p:nvSpPr>
        <p:spPr>
          <a:xfrm>
            <a:off x="2495398" y="4720133"/>
            <a:ext cx="1343254" cy="9144"/>
          </a:xfrm>
          <a:prstGeom prst="rect">
            <a:avLst/>
          </a:prstGeom>
          <a:solidFill>
            <a:srgbClr val="E2DED5"/>
          </a:solidFill>
          <a:ln w="12700">
            <a:solidFill>
              <a:srgbClr val="E2DED5">
                <a:alpha val="0"/>
              </a:srgbClr>
            </a:solidFill>
            <a:prstDash val="solid"/>
          </a:ln>
        </p:spPr>
      </p:sp>
      <p:sp>
        <p:nvSpPr>
          <p:cNvPr id="29" name="Text 24"/>
          <p:cNvSpPr txBox="1"/>
          <p:nvPr/>
        </p:nvSpPr>
        <p:spPr>
          <a:xfrm>
            <a:off x="2495398" y="4091026"/>
            <a:ext cx="1343254"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25.4</a:t>
            </a:r>
            <a:endParaRPr lang="en-US" sz="1500" dirty="0"/>
          </a:p>
        </p:txBody>
      </p:sp>
      <p:sp>
        <p:nvSpPr>
          <p:cNvPr id="30" name="Shape 25"/>
          <p:cNvSpPr/>
          <p:nvPr/>
        </p:nvSpPr>
        <p:spPr>
          <a:xfrm>
            <a:off x="3837737" y="4720133"/>
            <a:ext cx="1086307" cy="9144"/>
          </a:xfrm>
          <a:prstGeom prst="rect">
            <a:avLst/>
          </a:prstGeom>
          <a:solidFill>
            <a:srgbClr val="E2DED5"/>
          </a:solidFill>
          <a:ln w="12700">
            <a:solidFill>
              <a:srgbClr val="E2DED5">
                <a:alpha val="0"/>
              </a:srgbClr>
            </a:solidFill>
            <a:prstDash val="solid"/>
          </a:ln>
        </p:spPr>
      </p:sp>
      <p:sp>
        <p:nvSpPr>
          <p:cNvPr id="31" name="Text 26"/>
          <p:cNvSpPr txBox="1"/>
          <p:nvPr/>
        </p:nvSpPr>
        <p:spPr>
          <a:xfrm>
            <a:off x="3837737" y="4091026"/>
            <a:ext cx="1086307"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1.8</a:t>
            </a:r>
            <a:endParaRPr lang="en-US" sz="1500" dirty="0"/>
          </a:p>
        </p:txBody>
      </p:sp>
      <p:sp>
        <p:nvSpPr>
          <p:cNvPr id="32" name="Shape 27"/>
          <p:cNvSpPr/>
          <p:nvPr/>
        </p:nvSpPr>
        <p:spPr>
          <a:xfrm>
            <a:off x="4922215" y="4720133"/>
            <a:ext cx="1429207" cy="9144"/>
          </a:xfrm>
          <a:prstGeom prst="rect">
            <a:avLst/>
          </a:prstGeom>
          <a:solidFill>
            <a:srgbClr val="E2DED5"/>
          </a:solidFill>
          <a:ln w="12700">
            <a:solidFill>
              <a:srgbClr val="E2DED5">
                <a:alpha val="0"/>
              </a:srgbClr>
            </a:solidFill>
            <a:prstDash val="solid"/>
          </a:ln>
        </p:spPr>
      </p:sp>
      <p:sp>
        <p:nvSpPr>
          <p:cNvPr id="33" name="Text 28"/>
          <p:cNvSpPr txBox="1"/>
          <p:nvPr/>
        </p:nvSpPr>
        <p:spPr>
          <a:xfrm>
            <a:off x="4922215" y="4091026"/>
            <a:ext cx="1429207"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5.2</a:t>
            </a:r>
            <a:endParaRPr lang="en-US" sz="1500" dirty="0"/>
          </a:p>
        </p:txBody>
      </p:sp>
      <p:sp>
        <p:nvSpPr>
          <p:cNvPr id="34" name="Shape 29"/>
          <p:cNvSpPr/>
          <p:nvPr/>
        </p:nvSpPr>
        <p:spPr>
          <a:xfrm>
            <a:off x="6343193" y="4720133"/>
            <a:ext cx="1857146" cy="9144"/>
          </a:xfrm>
          <a:prstGeom prst="rect">
            <a:avLst/>
          </a:prstGeom>
          <a:solidFill>
            <a:srgbClr val="E2DED5"/>
          </a:solidFill>
          <a:ln w="12700">
            <a:solidFill>
              <a:srgbClr val="E2DED5">
                <a:alpha val="0"/>
              </a:srgbClr>
            </a:solidFill>
            <a:prstDash val="solid"/>
          </a:ln>
        </p:spPr>
      </p:sp>
      <p:sp>
        <p:nvSpPr>
          <p:cNvPr id="35" name="Text 30"/>
          <p:cNvSpPr txBox="1"/>
          <p:nvPr/>
        </p:nvSpPr>
        <p:spPr>
          <a:xfrm>
            <a:off x="6343193" y="4091026"/>
            <a:ext cx="18580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+0.5</a:t>
            </a:r>
            <a:endParaRPr lang="en-US" sz="1500" dirty="0"/>
          </a:p>
        </p:txBody>
      </p:sp>
      <p:sp>
        <p:nvSpPr>
          <p:cNvPr id="36" name="Shape 31"/>
          <p:cNvSpPr/>
          <p:nvPr/>
        </p:nvSpPr>
        <p:spPr>
          <a:xfrm>
            <a:off x="761695" y="5353812"/>
            <a:ext cx="1733702" cy="9144"/>
          </a:xfrm>
          <a:prstGeom prst="rect">
            <a:avLst/>
          </a:prstGeom>
          <a:solidFill>
            <a:srgbClr val="E2DED5"/>
          </a:solidFill>
          <a:ln w="12700">
            <a:solidFill>
              <a:srgbClr val="E2DED5">
                <a:alpha val="0"/>
              </a:srgbClr>
            </a:solidFill>
            <a:prstDash val="solid"/>
          </a:ln>
        </p:spPr>
      </p:sp>
      <p:sp>
        <p:nvSpPr>
          <p:cNvPr id="37" name="Text 32"/>
          <p:cNvSpPr txBox="1"/>
          <p:nvPr/>
        </p:nvSpPr>
        <p:spPr>
          <a:xfrm>
            <a:off x="1123798" y="4724705"/>
            <a:ext cx="1371600"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W2 · Cu TiN</a:t>
            </a:r>
            <a:endParaRPr lang="en-US" sz="1500" dirty="0"/>
          </a:p>
        </p:txBody>
      </p:sp>
      <p:sp>
        <p:nvSpPr>
          <p:cNvPr id="38" name="Shape 33"/>
          <p:cNvSpPr/>
          <p:nvPr/>
        </p:nvSpPr>
        <p:spPr>
          <a:xfrm>
            <a:off x="2495398" y="5353812"/>
            <a:ext cx="1343254" cy="9144"/>
          </a:xfrm>
          <a:prstGeom prst="rect">
            <a:avLst/>
          </a:prstGeom>
          <a:solidFill>
            <a:srgbClr val="E2DED5"/>
          </a:solidFill>
          <a:ln w="12700">
            <a:solidFill>
              <a:srgbClr val="E2DED5">
                <a:alpha val="0"/>
              </a:srgbClr>
            </a:solidFill>
            <a:prstDash val="solid"/>
          </a:ln>
        </p:spPr>
      </p:sp>
      <p:sp>
        <p:nvSpPr>
          <p:cNvPr id="39" name="Text 34"/>
          <p:cNvSpPr txBox="1"/>
          <p:nvPr/>
        </p:nvSpPr>
        <p:spPr>
          <a:xfrm>
            <a:off x="2495398" y="4724705"/>
            <a:ext cx="1343254"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25.1</a:t>
            </a:r>
            <a:endParaRPr lang="en-US" sz="1500" dirty="0"/>
          </a:p>
        </p:txBody>
      </p:sp>
      <p:sp>
        <p:nvSpPr>
          <p:cNvPr id="40" name="Shape 35"/>
          <p:cNvSpPr/>
          <p:nvPr/>
        </p:nvSpPr>
        <p:spPr>
          <a:xfrm>
            <a:off x="3837737" y="5353812"/>
            <a:ext cx="1086307" cy="9144"/>
          </a:xfrm>
          <a:prstGeom prst="rect">
            <a:avLst/>
          </a:prstGeom>
          <a:solidFill>
            <a:srgbClr val="E2DED5"/>
          </a:solidFill>
          <a:ln w="12700">
            <a:solidFill>
              <a:srgbClr val="E2DED5">
                <a:alpha val="0"/>
              </a:srgbClr>
            </a:solidFill>
            <a:prstDash val="solid"/>
          </a:ln>
        </p:spPr>
      </p:sp>
      <p:sp>
        <p:nvSpPr>
          <p:cNvPr id="41" name="Text 36"/>
          <p:cNvSpPr txBox="1"/>
          <p:nvPr/>
        </p:nvSpPr>
        <p:spPr>
          <a:xfrm>
            <a:off x="3837737" y="4724705"/>
            <a:ext cx="1086307"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1.6</a:t>
            </a:r>
            <a:endParaRPr lang="en-US" sz="1500" dirty="0"/>
          </a:p>
        </p:txBody>
      </p:sp>
      <p:sp>
        <p:nvSpPr>
          <p:cNvPr id="42" name="Shape 37"/>
          <p:cNvSpPr/>
          <p:nvPr/>
        </p:nvSpPr>
        <p:spPr>
          <a:xfrm>
            <a:off x="4922215" y="5353812"/>
            <a:ext cx="1429207" cy="9144"/>
          </a:xfrm>
          <a:prstGeom prst="rect">
            <a:avLst/>
          </a:prstGeom>
          <a:solidFill>
            <a:srgbClr val="E2DED5"/>
          </a:solidFill>
          <a:ln w="12700">
            <a:solidFill>
              <a:srgbClr val="E2DED5">
                <a:alpha val="0"/>
              </a:srgbClr>
            </a:solidFill>
            <a:prstDash val="solid"/>
          </a:ln>
        </p:spPr>
      </p:sp>
      <p:sp>
        <p:nvSpPr>
          <p:cNvPr id="43" name="Text 38"/>
          <p:cNvSpPr txBox="1"/>
          <p:nvPr/>
        </p:nvSpPr>
        <p:spPr>
          <a:xfrm>
            <a:off x="4922215" y="4724705"/>
            <a:ext cx="1429207"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4.7</a:t>
            </a:r>
            <a:endParaRPr lang="en-US" sz="1500" dirty="0"/>
          </a:p>
        </p:txBody>
      </p:sp>
      <p:sp>
        <p:nvSpPr>
          <p:cNvPr id="44" name="Shape 39"/>
          <p:cNvSpPr/>
          <p:nvPr/>
        </p:nvSpPr>
        <p:spPr>
          <a:xfrm>
            <a:off x="6343193" y="5353812"/>
            <a:ext cx="1857146" cy="9144"/>
          </a:xfrm>
          <a:prstGeom prst="rect">
            <a:avLst/>
          </a:prstGeom>
          <a:solidFill>
            <a:srgbClr val="E2DED5"/>
          </a:solidFill>
          <a:ln w="12700">
            <a:solidFill>
              <a:srgbClr val="E2DED5">
                <a:alpha val="0"/>
              </a:srgbClr>
            </a:solidFill>
            <a:prstDash val="solid"/>
          </a:ln>
        </p:spPr>
      </p:sp>
      <p:sp>
        <p:nvSpPr>
          <p:cNvPr id="45" name="Text 40"/>
          <p:cNvSpPr txBox="1"/>
          <p:nvPr/>
        </p:nvSpPr>
        <p:spPr>
          <a:xfrm>
            <a:off x="6343193" y="4724705"/>
            <a:ext cx="18580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+0.2</a:t>
            </a:r>
            <a:endParaRPr lang="en-US" sz="1500" dirty="0"/>
          </a:p>
        </p:txBody>
      </p:sp>
      <p:sp>
        <p:nvSpPr>
          <p:cNvPr id="46" name="Shape 41"/>
          <p:cNvSpPr/>
          <p:nvPr/>
        </p:nvSpPr>
        <p:spPr>
          <a:xfrm>
            <a:off x="761695" y="6264554"/>
            <a:ext cx="1733702" cy="9144"/>
          </a:xfrm>
          <a:prstGeom prst="rect">
            <a:avLst/>
          </a:prstGeom>
          <a:solidFill>
            <a:srgbClr val="E2DED5"/>
          </a:solidFill>
          <a:ln w="12700">
            <a:solidFill>
              <a:srgbClr val="E2DED5">
                <a:alpha val="0"/>
              </a:srgbClr>
            </a:solidFill>
            <a:prstDash val="solid"/>
          </a:ln>
        </p:spPr>
      </p:sp>
      <p:sp>
        <p:nvSpPr>
          <p:cNvPr id="47" name="Text 42"/>
          <p:cNvSpPr txBox="1"/>
          <p:nvPr/>
        </p:nvSpPr>
        <p:spPr>
          <a:xfrm>
            <a:off x="1123798" y="5359298"/>
            <a:ext cx="1371600" cy="733349"/>
          </a:xfrm>
          <a:prstGeom prst="rect">
            <a:avLst/>
          </a:prstGeom>
          <a:solidFill>
            <a:srgbClr val="FFFFFF">
              <a:alpha val="0"/>
            </a:srgbClr>
          </a:solidFill>
          <a:ln>
            <a:solidFill>
              <a:srgbClr val="FFFFFF">
                <a:alpha val="0"/>
              </a:srgbClr>
            </a:solidFill>
          </a:ln>
        </p:spPr>
        <p:txBody>
          <a:bodyPr wrap="squar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W3 · Ru SADP</a:t>
            </a:r>
            <a:endParaRPr lang="en-US" sz="1500" dirty="0"/>
          </a:p>
        </p:txBody>
      </p:sp>
      <p:sp>
        <p:nvSpPr>
          <p:cNvPr id="48" name="Shape 43"/>
          <p:cNvSpPr/>
          <p:nvPr/>
        </p:nvSpPr>
        <p:spPr>
          <a:xfrm>
            <a:off x="2495398" y="6264554"/>
            <a:ext cx="1343254" cy="9144"/>
          </a:xfrm>
          <a:prstGeom prst="rect">
            <a:avLst/>
          </a:prstGeom>
          <a:solidFill>
            <a:srgbClr val="E2DED5"/>
          </a:solidFill>
          <a:ln w="12700">
            <a:solidFill>
              <a:srgbClr val="E2DED5">
                <a:alpha val="0"/>
              </a:srgbClr>
            </a:solidFill>
            <a:prstDash val="solid"/>
          </a:ln>
        </p:spPr>
      </p:sp>
      <p:sp>
        <p:nvSpPr>
          <p:cNvPr id="49" name="Text 44"/>
          <p:cNvSpPr txBox="1"/>
          <p:nvPr/>
        </p:nvSpPr>
        <p:spPr>
          <a:xfrm>
            <a:off x="2495398" y="5359298"/>
            <a:ext cx="1343254" cy="733349"/>
          </a:xfrm>
          <a:prstGeom prst="rect">
            <a:avLst/>
          </a:prstGeom>
          <a:solidFill>
            <a:srgbClr val="FFFFFF">
              <a:alpha val="0"/>
            </a:srgbClr>
          </a:solidFill>
          <a:ln>
            <a:solidFill>
              <a:srgbClr val="FFFFFF">
                <a:alpha val="0"/>
              </a:srgbClr>
            </a:solidFill>
          </a:ln>
        </p:spPr>
        <p:txBody>
          <a:bodyPr wrap="squar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24.8</a:t>
            </a:r>
            <a:endParaRPr lang="en-US" sz="1500" dirty="0"/>
          </a:p>
        </p:txBody>
      </p:sp>
      <p:sp>
        <p:nvSpPr>
          <p:cNvPr id="50" name="Shape 45"/>
          <p:cNvSpPr/>
          <p:nvPr/>
        </p:nvSpPr>
        <p:spPr>
          <a:xfrm>
            <a:off x="3837737" y="6264554"/>
            <a:ext cx="1086307" cy="9144"/>
          </a:xfrm>
          <a:prstGeom prst="rect">
            <a:avLst/>
          </a:prstGeom>
          <a:solidFill>
            <a:srgbClr val="E2DED5"/>
          </a:solidFill>
          <a:ln w="12700">
            <a:solidFill>
              <a:srgbClr val="E2DED5">
                <a:alpha val="0"/>
              </a:srgbClr>
            </a:solidFill>
            <a:prstDash val="solid"/>
          </a:ln>
        </p:spPr>
      </p:sp>
      <p:sp>
        <p:nvSpPr>
          <p:cNvPr id="51" name="Text 46"/>
          <p:cNvSpPr txBox="1"/>
          <p:nvPr/>
        </p:nvSpPr>
        <p:spPr>
          <a:xfrm>
            <a:off x="3837737" y="5359298"/>
            <a:ext cx="1086307" cy="733349"/>
          </a:xfrm>
          <a:prstGeom prst="rect">
            <a:avLst/>
          </a:prstGeom>
          <a:solidFill>
            <a:srgbClr val="FFFFFF">
              <a:alpha val="0"/>
            </a:srgbClr>
          </a:solidFill>
          <a:ln>
            <a:solidFill>
              <a:srgbClr val="FFFFFF">
                <a:alpha val="0"/>
              </a:srgbClr>
            </a:solidFill>
          </a:ln>
        </p:spPr>
        <p:txBody>
          <a:bodyPr wrap="squar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1.1</a:t>
            </a:r>
            <a:endParaRPr lang="en-US" sz="1500" dirty="0"/>
          </a:p>
        </p:txBody>
      </p:sp>
      <p:sp>
        <p:nvSpPr>
          <p:cNvPr id="52" name="Shape 47"/>
          <p:cNvSpPr/>
          <p:nvPr/>
        </p:nvSpPr>
        <p:spPr>
          <a:xfrm>
            <a:off x="4922215" y="6264554"/>
            <a:ext cx="1429207" cy="9144"/>
          </a:xfrm>
          <a:prstGeom prst="rect">
            <a:avLst/>
          </a:prstGeom>
          <a:solidFill>
            <a:srgbClr val="E2DED5"/>
          </a:solidFill>
          <a:ln w="12700">
            <a:solidFill>
              <a:srgbClr val="E2DED5">
                <a:alpha val="0"/>
              </a:srgbClr>
            </a:solidFill>
            <a:prstDash val="solid"/>
          </a:ln>
        </p:spPr>
      </p:sp>
      <p:sp>
        <p:nvSpPr>
          <p:cNvPr id="53" name="Text 48"/>
          <p:cNvSpPr txBox="1"/>
          <p:nvPr/>
        </p:nvSpPr>
        <p:spPr>
          <a:xfrm>
            <a:off x="4922215" y="5359298"/>
            <a:ext cx="1429207" cy="733349"/>
          </a:xfrm>
          <a:prstGeom prst="rect">
            <a:avLst/>
          </a:prstGeom>
          <a:solidFill>
            <a:srgbClr val="FFFFFF">
              <a:alpha val="0"/>
            </a:srgbClr>
          </a:solidFill>
          <a:ln>
            <a:solidFill>
              <a:srgbClr val="FFFFFF">
                <a:alpha val="0"/>
              </a:srgbClr>
            </a:solidFill>
          </a:ln>
        </p:spPr>
        <p:txBody>
          <a:bodyPr wrap="squar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3.2</a:t>
            </a:r>
            <a:endParaRPr lang="en-US" sz="1500" dirty="0"/>
          </a:p>
        </p:txBody>
      </p:sp>
      <p:sp>
        <p:nvSpPr>
          <p:cNvPr id="54" name="Shape 49"/>
          <p:cNvSpPr/>
          <p:nvPr/>
        </p:nvSpPr>
        <p:spPr>
          <a:xfrm>
            <a:off x="6343193" y="6264554"/>
            <a:ext cx="1857146" cy="9144"/>
          </a:xfrm>
          <a:prstGeom prst="rect">
            <a:avLst/>
          </a:prstGeom>
          <a:solidFill>
            <a:srgbClr val="E2DED5"/>
          </a:solidFill>
          <a:ln w="12700">
            <a:solidFill>
              <a:srgbClr val="E2DED5">
                <a:alpha val="0"/>
              </a:srgbClr>
            </a:solidFill>
            <a:prstDash val="solid"/>
          </a:ln>
        </p:spPr>
      </p:sp>
      <p:sp>
        <p:nvSpPr>
          <p:cNvPr id="55" name="Text 50"/>
          <p:cNvSpPr txBox="1"/>
          <p:nvPr/>
        </p:nvSpPr>
        <p:spPr>
          <a:xfrm>
            <a:off x="6343193" y="5359298"/>
            <a:ext cx="1858061" cy="733349"/>
          </a:xfrm>
          <a:prstGeom prst="rect">
            <a:avLst/>
          </a:prstGeom>
          <a:solidFill>
            <a:srgbClr val="FFFFFF">
              <a:alpha val="0"/>
            </a:srgbClr>
          </a:solidFill>
          <a:ln>
            <a:solidFill>
              <a:srgbClr val="FFFFFF">
                <a:alpha val="0"/>
              </a:srgbClr>
            </a:solidFill>
          </a:ln>
        </p:spPr>
        <p:txBody>
          <a:bodyPr wrap="square" lIns="152400" tIns="177800" rIns="15240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−0.1</a:t>
            </a:r>
            <a:endParaRPr lang="en-US" sz="1500" dirty="0"/>
          </a:p>
        </p:txBody>
      </p:sp>
      <p:sp>
        <p:nvSpPr>
          <p:cNvPr id="56" name="Text 51"/>
          <p:cNvSpPr txBox="1"/>
          <p:nvPr/>
        </p:nvSpPr>
        <p:spPr>
          <a:xfrm>
            <a:off x="1123798" y="6269126"/>
            <a:ext cx="1371600" cy="914400"/>
          </a:xfrm>
          <a:prstGeom prst="rect">
            <a:avLst/>
          </a:prstGeom>
          <a:noFill/>
          <a:ln/>
        </p:spPr>
        <p:txBody>
          <a:bodyPr wrap="square" lIns="0" tIns="0" rIns="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W4 · Ru SADP</a:t>
            </a:r>
            <a:endParaRPr lang="en-US" sz="1500" dirty="0"/>
          </a:p>
        </p:txBody>
      </p:sp>
      <p:sp>
        <p:nvSpPr>
          <p:cNvPr id="57" name="Text 52"/>
          <p:cNvSpPr txBox="1"/>
          <p:nvPr/>
        </p:nvSpPr>
        <p:spPr>
          <a:xfrm>
            <a:off x="2495398" y="6269126"/>
            <a:ext cx="1343254" cy="914400"/>
          </a:xfrm>
          <a:prstGeom prst="rect">
            <a:avLst/>
          </a:prstGeom>
          <a:noFill/>
          <a:ln/>
        </p:spPr>
        <p:txBody>
          <a:bodyPr wrap="squar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24.9</a:t>
            </a:r>
            <a:endParaRPr lang="en-US" sz="1500" dirty="0"/>
          </a:p>
        </p:txBody>
      </p:sp>
      <p:sp>
        <p:nvSpPr>
          <p:cNvPr id="58" name="Text 53"/>
          <p:cNvSpPr txBox="1"/>
          <p:nvPr/>
        </p:nvSpPr>
        <p:spPr>
          <a:xfrm>
            <a:off x="3837737" y="6269126"/>
            <a:ext cx="1086307" cy="914400"/>
          </a:xfrm>
          <a:prstGeom prst="rect">
            <a:avLst/>
          </a:prstGeom>
          <a:noFill/>
          <a:ln/>
        </p:spPr>
        <p:txBody>
          <a:bodyPr wrap="squar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0.9</a:t>
            </a:r>
            <a:endParaRPr lang="en-US" sz="1500" dirty="0"/>
          </a:p>
        </p:txBody>
      </p:sp>
      <p:sp>
        <p:nvSpPr>
          <p:cNvPr id="59" name="Text 54"/>
          <p:cNvSpPr txBox="1"/>
          <p:nvPr/>
        </p:nvSpPr>
        <p:spPr>
          <a:xfrm>
            <a:off x="4922215" y="6269126"/>
            <a:ext cx="1429207" cy="914400"/>
          </a:xfrm>
          <a:prstGeom prst="rect">
            <a:avLst/>
          </a:prstGeom>
          <a:noFill/>
          <a:ln/>
        </p:spPr>
        <p:txBody>
          <a:bodyPr wrap="squar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2.8</a:t>
            </a:r>
            <a:endParaRPr lang="en-US" sz="1500" dirty="0"/>
          </a:p>
        </p:txBody>
      </p:sp>
      <p:sp>
        <p:nvSpPr>
          <p:cNvPr id="60" name="Text 55"/>
          <p:cNvSpPr txBox="1"/>
          <p:nvPr/>
        </p:nvSpPr>
        <p:spPr>
          <a:xfrm>
            <a:off x="6343193" y="6269126"/>
            <a:ext cx="1858061" cy="914400"/>
          </a:xfrm>
          <a:prstGeom prst="rect">
            <a:avLst/>
          </a:prstGeom>
          <a:noFill/>
          <a:ln/>
        </p:spPr>
        <p:txBody>
          <a:bodyPr wrap="square" lIns="0" tIns="0" rIns="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0.0</a:t>
            </a:r>
            <a:endParaRPr lang="en-US" sz="1500" dirty="0"/>
          </a:p>
        </p:txBody>
      </p:sp>
      <p:sp>
        <p:nvSpPr>
          <p:cNvPr id="61" name="Shape 56"/>
          <p:cNvSpPr/>
          <p:nvPr/>
        </p:nvSpPr>
        <p:spPr>
          <a:xfrm>
            <a:off x="914400" y="4320540"/>
            <a:ext cx="75895" cy="228600"/>
          </a:xfrm>
          <a:prstGeom prst="rect">
            <a:avLst/>
          </a:prstGeom>
          <a:solidFill>
            <a:srgbClr val="B45F2D"/>
          </a:solidFill>
          <a:ln w="12700">
            <a:solidFill>
              <a:srgbClr val="FFFFFF">
                <a:alpha val="0"/>
              </a:srgbClr>
            </a:solidFill>
            <a:prstDash val="solid"/>
          </a:ln>
        </p:spPr>
      </p:sp>
      <p:sp>
        <p:nvSpPr>
          <p:cNvPr id="62" name="Shape 57"/>
          <p:cNvSpPr/>
          <p:nvPr/>
        </p:nvSpPr>
        <p:spPr>
          <a:xfrm>
            <a:off x="914400" y="4954219"/>
            <a:ext cx="75895" cy="228600"/>
          </a:xfrm>
          <a:prstGeom prst="rect">
            <a:avLst/>
          </a:prstGeom>
          <a:solidFill>
            <a:srgbClr val="B45F2D"/>
          </a:solidFill>
          <a:ln w="12700">
            <a:solidFill>
              <a:srgbClr val="FFFFFF">
                <a:alpha val="0"/>
              </a:srgbClr>
            </a:solidFill>
            <a:prstDash val="solid"/>
          </a:ln>
        </p:spPr>
      </p:sp>
      <p:sp>
        <p:nvSpPr>
          <p:cNvPr id="63" name="Shape 58"/>
          <p:cNvSpPr/>
          <p:nvPr/>
        </p:nvSpPr>
        <p:spPr>
          <a:xfrm>
            <a:off x="914400" y="5587898"/>
            <a:ext cx="75895" cy="228600"/>
          </a:xfrm>
          <a:prstGeom prst="rect">
            <a:avLst/>
          </a:prstGeom>
          <a:solidFill>
            <a:srgbClr val="355A6B"/>
          </a:solidFill>
          <a:ln w="12700">
            <a:solidFill>
              <a:srgbClr val="FFFFFF">
                <a:alpha val="0"/>
              </a:srgbClr>
            </a:solidFill>
            <a:prstDash val="solid"/>
          </a:ln>
        </p:spPr>
      </p:sp>
      <p:sp>
        <p:nvSpPr>
          <p:cNvPr id="64" name="Shape 59"/>
          <p:cNvSpPr/>
          <p:nvPr/>
        </p:nvSpPr>
        <p:spPr>
          <a:xfrm>
            <a:off x="914400" y="6498641"/>
            <a:ext cx="75895" cy="228600"/>
          </a:xfrm>
          <a:prstGeom prst="rect">
            <a:avLst/>
          </a:prstGeom>
          <a:solidFill>
            <a:srgbClr val="355A6B"/>
          </a:solidFill>
          <a:ln w="12700">
            <a:solidFill>
              <a:srgbClr val="FFFFFF">
                <a:alpha val="0"/>
              </a:srgbClr>
            </a:solidFill>
            <a:prstDash val="solid"/>
          </a:ln>
        </p:spPr>
      </p:sp>
      <p:sp>
        <p:nvSpPr>
          <p:cNvPr id="65" name="Text 60"/>
          <p:cNvSpPr txBox="1"/>
          <p:nvPr/>
        </p:nvSpPr>
        <p:spPr>
          <a:xfrm>
            <a:off x="8953805" y="2819095"/>
            <a:ext cx="742950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METRIC · ASEI</a:t>
            </a:r>
            <a:endParaRPr lang="en-US" sz="975" dirty="0"/>
          </a:p>
        </p:txBody>
      </p:sp>
      <p:sp>
        <p:nvSpPr>
          <p:cNvPr id="66" name="Text 61"/>
          <p:cNvSpPr txBox="1"/>
          <p:nvPr/>
        </p:nvSpPr>
        <p:spPr>
          <a:xfrm>
            <a:off x="8953805" y="3124505"/>
            <a:ext cx="7429500" cy="277063"/>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Target CD </a:t>
            </a:r>
            <a:pPr algn="l" indent="0" marL="0">
              <a:buNone/>
            </a:pPr>
            <a:r>
              <a:rPr lang="en-US" sz="1500" b="1" dirty="0">
                <a:solidFill>
                  <a:srgbClr val="1A1D22"/>
                </a:solidFill>
                <a:latin typeface="Pretendard" pitchFamily="34" charset="0"/>
                <a:ea typeface="Pretendard" pitchFamily="34" charset="-122"/>
                <a:cs typeface="Pretendard" pitchFamily="34" charset="-120"/>
              </a:rPr>
              <a:t>16.0 nm</a:t>
            </a:r>
            <a:pPr algn="l" indent="0" marL="0">
              <a:buNone/>
            </a:pPr>
            <a:r>
              <a:rPr lang="en-US" sz="1500" dirty="0">
                <a:solidFill>
                  <a:srgbClr val="6B6F76"/>
                </a:solidFill>
                <a:latin typeface="Pretendard" pitchFamily="34" charset="0"/>
                <a:ea typeface="Pretendard" pitchFamily="34" charset="-122"/>
                <a:cs typeface="Pretendard" pitchFamily="34" charset="-120"/>
              </a:rPr>
              <a:t>(비아 하부 CD)</a:t>
            </a:r>
            <a:endParaRPr lang="en-US" sz="1500" dirty="0"/>
          </a:p>
        </p:txBody>
      </p:sp>
      <p:sp>
        <p:nvSpPr>
          <p:cNvPr id="67" name="Shape 62"/>
          <p:cNvSpPr/>
          <p:nvPr/>
        </p:nvSpPr>
        <p:spPr>
          <a:xfrm>
            <a:off x="8953805" y="3619195"/>
            <a:ext cx="2009851" cy="476402"/>
          </a:xfrm>
          <a:prstGeom prst="rect">
            <a:avLst/>
          </a:prstGeom>
          <a:solidFill>
            <a:srgbClr val="F2EFE7"/>
          </a:solidFill>
          <a:ln/>
        </p:spPr>
      </p:sp>
      <p:sp>
        <p:nvSpPr>
          <p:cNvPr id="68" name="Shape 63"/>
          <p:cNvSpPr/>
          <p:nvPr/>
        </p:nvSpPr>
        <p:spPr>
          <a:xfrm>
            <a:off x="8953805" y="4086454"/>
            <a:ext cx="2009851" cy="9144"/>
          </a:xfrm>
          <a:prstGeom prst="rect">
            <a:avLst/>
          </a:prstGeom>
          <a:solidFill>
            <a:srgbClr val="1A1D22"/>
          </a:solidFill>
          <a:ln w="12700">
            <a:solidFill>
              <a:srgbClr val="1A1D22">
                <a:alpha val="0"/>
              </a:srgbClr>
            </a:solidFill>
            <a:prstDash val="solid"/>
          </a:ln>
        </p:spPr>
      </p:sp>
      <p:sp>
        <p:nvSpPr>
          <p:cNvPr id="69" name="Text 64"/>
          <p:cNvSpPr txBox="1"/>
          <p:nvPr/>
        </p:nvSpPr>
        <p:spPr>
          <a:xfrm>
            <a:off x="8953805" y="3619195"/>
            <a:ext cx="2009851"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Wafer</a:t>
            </a:r>
            <a:endParaRPr lang="en-US" sz="1125" dirty="0"/>
          </a:p>
        </p:txBody>
      </p:sp>
      <p:sp>
        <p:nvSpPr>
          <p:cNvPr id="70" name="Shape 65"/>
          <p:cNvSpPr/>
          <p:nvPr/>
        </p:nvSpPr>
        <p:spPr>
          <a:xfrm>
            <a:off x="10954512" y="3619195"/>
            <a:ext cx="1285646" cy="476402"/>
          </a:xfrm>
          <a:prstGeom prst="rect">
            <a:avLst/>
          </a:prstGeom>
          <a:solidFill>
            <a:srgbClr val="F2EFE7"/>
          </a:solidFill>
          <a:ln/>
        </p:spPr>
      </p:sp>
      <p:sp>
        <p:nvSpPr>
          <p:cNvPr id="71" name="Shape 66"/>
          <p:cNvSpPr/>
          <p:nvPr/>
        </p:nvSpPr>
        <p:spPr>
          <a:xfrm>
            <a:off x="10954512" y="4086454"/>
            <a:ext cx="1285646" cy="9144"/>
          </a:xfrm>
          <a:prstGeom prst="rect">
            <a:avLst/>
          </a:prstGeom>
          <a:solidFill>
            <a:srgbClr val="1A1D22"/>
          </a:solidFill>
          <a:ln w="12700">
            <a:solidFill>
              <a:srgbClr val="1A1D22">
                <a:alpha val="0"/>
              </a:srgbClr>
            </a:solidFill>
            <a:prstDash val="solid"/>
          </a:ln>
        </p:spPr>
      </p:sp>
      <p:sp>
        <p:nvSpPr>
          <p:cNvPr id="72" name="Text 67"/>
          <p:cNvSpPr txBox="1"/>
          <p:nvPr/>
        </p:nvSpPr>
        <p:spPr>
          <a:xfrm>
            <a:off x="10954512" y="3619195"/>
            <a:ext cx="1286561"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Mean (nm)</a:t>
            </a:r>
            <a:endParaRPr lang="en-US" sz="1125" dirty="0"/>
          </a:p>
        </p:txBody>
      </p:sp>
      <p:sp>
        <p:nvSpPr>
          <p:cNvPr id="73" name="Shape 68"/>
          <p:cNvSpPr/>
          <p:nvPr/>
        </p:nvSpPr>
        <p:spPr>
          <a:xfrm>
            <a:off x="12234672" y="3619195"/>
            <a:ext cx="1037844" cy="476402"/>
          </a:xfrm>
          <a:prstGeom prst="rect">
            <a:avLst/>
          </a:prstGeom>
          <a:solidFill>
            <a:srgbClr val="F2EFE7"/>
          </a:solidFill>
          <a:ln/>
        </p:spPr>
      </p:sp>
      <p:sp>
        <p:nvSpPr>
          <p:cNvPr id="74" name="Shape 69"/>
          <p:cNvSpPr/>
          <p:nvPr/>
        </p:nvSpPr>
        <p:spPr>
          <a:xfrm>
            <a:off x="12234672" y="4086454"/>
            <a:ext cx="1037844" cy="9144"/>
          </a:xfrm>
          <a:prstGeom prst="rect">
            <a:avLst/>
          </a:prstGeom>
          <a:solidFill>
            <a:srgbClr val="1A1D22"/>
          </a:solidFill>
          <a:ln w="12700">
            <a:solidFill>
              <a:srgbClr val="1A1D22">
                <a:alpha val="0"/>
              </a:srgbClr>
            </a:solidFill>
            <a:prstDash val="solid"/>
          </a:ln>
        </p:spPr>
      </p:sp>
      <p:sp>
        <p:nvSpPr>
          <p:cNvPr id="75" name="Text 70"/>
          <p:cNvSpPr txBox="1"/>
          <p:nvPr/>
        </p:nvSpPr>
        <p:spPr>
          <a:xfrm>
            <a:off x="12234672" y="3619195"/>
            <a:ext cx="1038758"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3σ (nm)</a:t>
            </a:r>
            <a:endParaRPr lang="en-US" sz="1125" dirty="0"/>
          </a:p>
        </p:txBody>
      </p:sp>
      <p:sp>
        <p:nvSpPr>
          <p:cNvPr id="76" name="Shape 71"/>
          <p:cNvSpPr/>
          <p:nvPr/>
        </p:nvSpPr>
        <p:spPr>
          <a:xfrm>
            <a:off x="13267944" y="3619195"/>
            <a:ext cx="1362456" cy="476402"/>
          </a:xfrm>
          <a:prstGeom prst="rect">
            <a:avLst/>
          </a:prstGeom>
          <a:solidFill>
            <a:srgbClr val="F2EFE7"/>
          </a:solidFill>
          <a:ln/>
        </p:spPr>
      </p:sp>
      <p:sp>
        <p:nvSpPr>
          <p:cNvPr id="77" name="Shape 72"/>
          <p:cNvSpPr/>
          <p:nvPr/>
        </p:nvSpPr>
        <p:spPr>
          <a:xfrm>
            <a:off x="13267944" y="4086454"/>
            <a:ext cx="1362456" cy="9144"/>
          </a:xfrm>
          <a:prstGeom prst="rect">
            <a:avLst/>
          </a:prstGeom>
          <a:solidFill>
            <a:srgbClr val="1A1D22"/>
          </a:solidFill>
          <a:ln w="12700">
            <a:solidFill>
              <a:srgbClr val="1A1D22">
                <a:alpha val="0"/>
              </a:srgbClr>
            </a:solidFill>
            <a:prstDash val="solid"/>
          </a:ln>
        </p:spPr>
      </p:sp>
      <p:sp>
        <p:nvSpPr>
          <p:cNvPr id="78" name="Text 73"/>
          <p:cNvSpPr txBox="1"/>
          <p:nvPr/>
        </p:nvSpPr>
        <p:spPr>
          <a:xfrm>
            <a:off x="13267944" y="3619195"/>
            <a:ext cx="1362456"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Range (nm)</a:t>
            </a:r>
            <a:endParaRPr lang="en-US" sz="1125" dirty="0"/>
          </a:p>
        </p:txBody>
      </p:sp>
      <p:sp>
        <p:nvSpPr>
          <p:cNvPr id="79" name="Shape 74"/>
          <p:cNvSpPr/>
          <p:nvPr/>
        </p:nvSpPr>
        <p:spPr>
          <a:xfrm>
            <a:off x="14621256" y="3619195"/>
            <a:ext cx="1762049" cy="476402"/>
          </a:xfrm>
          <a:prstGeom prst="rect">
            <a:avLst/>
          </a:prstGeom>
          <a:solidFill>
            <a:srgbClr val="F2EFE7"/>
          </a:solidFill>
          <a:ln/>
        </p:spPr>
      </p:sp>
      <p:sp>
        <p:nvSpPr>
          <p:cNvPr id="80" name="Shape 75"/>
          <p:cNvSpPr/>
          <p:nvPr/>
        </p:nvSpPr>
        <p:spPr>
          <a:xfrm>
            <a:off x="14621256" y="4086454"/>
            <a:ext cx="1762049" cy="9144"/>
          </a:xfrm>
          <a:prstGeom prst="rect">
            <a:avLst/>
          </a:prstGeom>
          <a:solidFill>
            <a:srgbClr val="1A1D22"/>
          </a:solidFill>
          <a:ln w="12700">
            <a:solidFill>
              <a:srgbClr val="1A1D22">
                <a:alpha val="0"/>
              </a:srgbClr>
            </a:solidFill>
            <a:prstDash val="solid"/>
          </a:ln>
        </p:spPr>
      </p:sp>
      <p:sp>
        <p:nvSpPr>
          <p:cNvPr id="81" name="Text 76"/>
          <p:cNvSpPr txBox="1"/>
          <p:nvPr/>
        </p:nvSpPr>
        <p:spPr>
          <a:xfrm>
            <a:off x="14621256" y="3619195"/>
            <a:ext cx="1762963"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Δ to target (nm)</a:t>
            </a:r>
            <a:endParaRPr lang="en-US" sz="1125" dirty="0"/>
          </a:p>
        </p:txBody>
      </p:sp>
      <p:sp>
        <p:nvSpPr>
          <p:cNvPr id="82" name="Shape 77"/>
          <p:cNvSpPr/>
          <p:nvPr/>
        </p:nvSpPr>
        <p:spPr>
          <a:xfrm>
            <a:off x="8953805" y="4720133"/>
            <a:ext cx="2009851" cy="9144"/>
          </a:xfrm>
          <a:prstGeom prst="rect">
            <a:avLst/>
          </a:prstGeom>
          <a:solidFill>
            <a:srgbClr val="E2DED5"/>
          </a:solidFill>
          <a:ln w="12700">
            <a:solidFill>
              <a:srgbClr val="E2DED5">
                <a:alpha val="0"/>
              </a:srgbClr>
            </a:solidFill>
            <a:prstDash val="solid"/>
          </a:ln>
        </p:spPr>
      </p:sp>
      <p:sp>
        <p:nvSpPr>
          <p:cNvPr id="83" name="Text 78"/>
          <p:cNvSpPr txBox="1"/>
          <p:nvPr/>
        </p:nvSpPr>
        <p:spPr>
          <a:xfrm>
            <a:off x="9315907" y="4091026"/>
            <a:ext cx="1647749"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W1 · Cu TaN</a:t>
            </a:r>
            <a:endParaRPr lang="en-US" sz="1500" dirty="0"/>
          </a:p>
        </p:txBody>
      </p:sp>
      <p:sp>
        <p:nvSpPr>
          <p:cNvPr id="84" name="Shape 79"/>
          <p:cNvSpPr/>
          <p:nvPr/>
        </p:nvSpPr>
        <p:spPr>
          <a:xfrm>
            <a:off x="10954512" y="4720133"/>
            <a:ext cx="1285646" cy="9144"/>
          </a:xfrm>
          <a:prstGeom prst="rect">
            <a:avLst/>
          </a:prstGeom>
          <a:solidFill>
            <a:srgbClr val="E2DED5"/>
          </a:solidFill>
          <a:ln w="12700">
            <a:solidFill>
              <a:srgbClr val="E2DED5">
                <a:alpha val="0"/>
              </a:srgbClr>
            </a:solidFill>
            <a:prstDash val="solid"/>
          </a:ln>
        </p:spPr>
      </p:sp>
      <p:sp>
        <p:nvSpPr>
          <p:cNvPr id="85" name="Text 80"/>
          <p:cNvSpPr txBox="1"/>
          <p:nvPr/>
        </p:nvSpPr>
        <p:spPr>
          <a:xfrm>
            <a:off x="10954512" y="4091026"/>
            <a:ext cx="12865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16.5</a:t>
            </a:r>
            <a:endParaRPr lang="en-US" sz="1500" dirty="0"/>
          </a:p>
        </p:txBody>
      </p:sp>
      <p:sp>
        <p:nvSpPr>
          <p:cNvPr id="86" name="Shape 81"/>
          <p:cNvSpPr/>
          <p:nvPr/>
        </p:nvSpPr>
        <p:spPr>
          <a:xfrm>
            <a:off x="12234672" y="4720133"/>
            <a:ext cx="1037844" cy="9144"/>
          </a:xfrm>
          <a:prstGeom prst="rect">
            <a:avLst/>
          </a:prstGeom>
          <a:solidFill>
            <a:srgbClr val="E2DED5"/>
          </a:solidFill>
          <a:ln w="12700">
            <a:solidFill>
              <a:srgbClr val="E2DED5">
                <a:alpha val="0"/>
              </a:srgbClr>
            </a:solidFill>
            <a:prstDash val="solid"/>
          </a:ln>
        </p:spPr>
      </p:sp>
      <p:sp>
        <p:nvSpPr>
          <p:cNvPr id="87" name="Text 82"/>
          <p:cNvSpPr txBox="1"/>
          <p:nvPr/>
        </p:nvSpPr>
        <p:spPr>
          <a:xfrm>
            <a:off x="12234672" y="4091026"/>
            <a:ext cx="1038758"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1.3</a:t>
            </a:r>
            <a:endParaRPr lang="en-US" sz="1500" dirty="0"/>
          </a:p>
        </p:txBody>
      </p:sp>
      <p:sp>
        <p:nvSpPr>
          <p:cNvPr id="88" name="Shape 83"/>
          <p:cNvSpPr/>
          <p:nvPr/>
        </p:nvSpPr>
        <p:spPr>
          <a:xfrm>
            <a:off x="13267944" y="4720133"/>
            <a:ext cx="1362456" cy="9144"/>
          </a:xfrm>
          <a:prstGeom prst="rect">
            <a:avLst/>
          </a:prstGeom>
          <a:solidFill>
            <a:srgbClr val="E2DED5"/>
          </a:solidFill>
          <a:ln w="12700">
            <a:solidFill>
              <a:srgbClr val="E2DED5">
                <a:alpha val="0"/>
              </a:srgbClr>
            </a:solidFill>
            <a:prstDash val="solid"/>
          </a:ln>
        </p:spPr>
      </p:sp>
      <p:sp>
        <p:nvSpPr>
          <p:cNvPr id="89" name="Text 84"/>
          <p:cNvSpPr txBox="1"/>
          <p:nvPr/>
        </p:nvSpPr>
        <p:spPr>
          <a:xfrm>
            <a:off x="13267944" y="4091026"/>
            <a:ext cx="1362456"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3.8</a:t>
            </a:r>
            <a:endParaRPr lang="en-US" sz="1500" dirty="0"/>
          </a:p>
        </p:txBody>
      </p:sp>
      <p:sp>
        <p:nvSpPr>
          <p:cNvPr id="90" name="Shape 85"/>
          <p:cNvSpPr/>
          <p:nvPr/>
        </p:nvSpPr>
        <p:spPr>
          <a:xfrm>
            <a:off x="14621256" y="4720133"/>
            <a:ext cx="1762049" cy="9144"/>
          </a:xfrm>
          <a:prstGeom prst="rect">
            <a:avLst/>
          </a:prstGeom>
          <a:solidFill>
            <a:srgbClr val="E2DED5"/>
          </a:solidFill>
          <a:ln w="12700">
            <a:solidFill>
              <a:srgbClr val="E2DED5">
                <a:alpha val="0"/>
              </a:srgbClr>
            </a:solidFill>
            <a:prstDash val="solid"/>
          </a:ln>
        </p:spPr>
      </p:sp>
      <p:sp>
        <p:nvSpPr>
          <p:cNvPr id="91" name="Text 86"/>
          <p:cNvSpPr txBox="1"/>
          <p:nvPr/>
        </p:nvSpPr>
        <p:spPr>
          <a:xfrm>
            <a:off x="14621256" y="4091026"/>
            <a:ext cx="1762963"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+0.5</a:t>
            </a:r>
            <a:endParaRPr lang="en-US" sz="1500" dirty="0"/>
          </a:p>
        </p:txBody>
      </p:sp>
      <p:sp>
        <p:nvSpPr>
          <p:cNvPr id="92" name="Shape 87"/>
          <p:cNvSpPr/>
          <p:nvPr/>
        </p:nvSpPr>
        <p:spPr>
          <a:xfrm>
            <a:off x="8953805" y="5353812"/>
            <a:ext cx="2009851" cy="9144"/>
          </a:xfrm>
          <a:prstGeom prst="rect">
            <a:avLst/>
          </a:prstGeom>
          <a:solidFill>
            <a:srgbClr val="E2DED5"/>
          </a:solidFill>
          <a:ln w="12700">
            <a:solidFill>
              <a:srgbClr val="E2DED5">
                <a:alpha val="0"/>
              </a:srgbClr>
            </a:solidFill>
            <a:prstDash val="solid"/>
          </a:ln>
        </p:spPr>
      </p:sp>
      <p:sp>
        <p:nvSpPr>
          <p:cNvPr id="93" name="Text 88"/>
          <p:cNvSpPr txBox="1"/>
          <p:nvPr/>
        </p:nvSpPr>
        <p:spPr>
          <a:xfrm>
            <a:off x="9315907" y="4724705"/>
            <a:ext cx="1647749"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W2 · Cu TiN</a:t>
            </a:r>
            <a:endParaRPr lang="en-US" sz="1500" dirty="0"/>
          </a:p>
        </p:txBody>
      </p:sp>
      <p:sp>
        <p:nvSpPr>
          <p:cNvPr id="94" name="Shape 89"/>
          <p:cNvSpPr/>
          <p:nvPr/>
        </p:nvSpPr>
        <p:spPr>
          <a:xfrm>
            <a:off x="10954512" y="5353812"/>
            <a:ext cx="1285646" cy="9144"/>
          </a:xfrm>
          <a:prstGeom prst="rect">
            <a:avLst/>
          </a:prstGeom>
          <a:solidFill>
            <a:srgbClr val="E2DED5"/>
          </a:solidFill>
          <a:ln w="12700">
            <a:solidFill>
              <a:srgbClr val="E2DED5">
                <a:alpha val="0"/>
              </a:srgbClr>
            </a:solidFill>
            <a:prstDash val="solid"/>
          </a:ln>
        </p:spPr>
      </p:sp>
      <p:sp>
        <p:nvSpPr>
          <p:cNvPr id="95" name="Text 90"/>
          <p:cNvSpPr txBox="1"/>
          <p:nvPr/>
        </p:nvSpPr>
        <p:spPr>
          <a:xfrm>
            <a:off x="10954512" y="4724705"/>
            <a:ext cx="12865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16.3</a:t>
            </a:r>
            <a:endParaRPr lang="en-US" sz="1500" dirty="0"/>
          </a:p>
        </p:txBody>
      </p:sp>
      <p:sp>
        <p:nvSpPr>
          <p:cNvPr id="96" name="Shape 91"/>
          <p:cNvSpPr/>
          <p:nvPr/>
        </p:nvSpPr>
        <p:spPr>
          <a:xfrm>
            <a:off x="12234672" y="5353812"/>
            <a:ext cx="1037844" cy="9144"/>
          </a:xfrm>
          <a:prstGeom prst="rect">
            <a:avLst/>
          </a:prstGeom>
          <a:solidFill>
            <a:srgbClr val="E2DED5"/>
          </a:solidFill>
          <a:ln w="12700">
            <a:solidFill>
              <a:srgbClr val="E2DED5">
                <a:alpha val="0"/>
              </a:srgbClr>
            </a:solidFill>
            <a:prstDash val="solid"/>
          </a:ln>
        </p:spPr>
      </p:sp>
      <p:sp>
        <p:nvSpPr>
          <p:cNvPr id="97" name="Text 92"/>
          <p:cNvSpPr txBox="1"/>
          <p:nvPr/>
        </p:nvSpPr>
        <p:spPr>
          <a:xfrm>
            <a:off x="12234672" y="4724705"/>
            <a:ext cx="1038758"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1.2</a:t>
            </a:r>
            <a:endParaRPr lang="en-US" sz="1500" dirty="0"/>
          </a:p>
        </p:txBody>
      </p:sp>
      <p:sp>
        <p:nvSpPr>
          <p:cNvPr id="98" name="Shape 93"/>
          <p:cNvSpPr/>
          <p:nvPr/>
        </p:nvSpPr>
        <p:spPr>
          <a:xfrm>
            <a:off x="13267944" y="5353812"/>
            <a:ext cx="1362456" cy="9144"/>
          </a:xfrm>
          <a:prstGeom prst="rect">
            <a:avLst/>
          </a:prstGeom>
          <a:solidFill>
            <a:srgbClr val="E2DED5"/>
          </a:solidFill>
          <a:ln w="12700">
            <a:solidFill>
              <a:srgbClr val="E2DED5">
                <a:alpha val="0"/>
              </a:srgbClr>
            </a:solidFill>
            <a:prstDash val="solid"/>
          </a:ln>
        </p:spPr>
      </p:sp>
      <p:sp>
        <p:nvSpPr>
          <p:cNvPr id="99" name="Text 94"/>
          <p:cNvSpPr txBox="1"/>
          <p:nvPr/>
        </p:nvSpPr>
        <p:spPr>
          <a:xfrm>
            <a:off x="13267944" y="4724705"/>
            <a:ext cx="1362456"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3.4</a:t>
            </a:r>
            <a:endParaRPr lang="en-US" sz="1500" dirty="0"/>
          </a:p>
        </p:txBody>
      </p:sp>
      <p:sp>
        <p:nvSpPr>
          <p:cNvPr id="100" name="Shape 95"/>
          <p:cNvSpPr/>
          <p:nvPr/>
        </p:nvSpPr>
        <p:spPr>
          <a:xfrm>
            <a:off x="14621256" y="5353812"/>
            <a:ext cx="1762049" cy="9144"/>
          </a:xfrm>
          <a:prstGeom prst="rect">
            <a:avLst/>
          </a:prstGeom>
          <a:solidFill>
            <a:srgbClr val="E2DED5"/>
          </a:solidFill>
          <a:ln w="12700">
            <a:solidFill>
              <a:srgbClr val="E2DED5">
                <a:alpha val="0"/>
              </a:srgbClr>
            </a:solidFill>
            <a:prstDash val="solid"/>
          </a:ln>
        </p:spPr>
      </p:sp>
      <p:sp>
        <p:nvSpPr>
          <p:cNvPr id="101" name="Text 96"/>
          <p:cNvSpPr txBox="1"/>
          <p:nvPr/>
        </p:nvSpPr>
        <p:spPr>
          <a:xfrm>
            <a:off x="14621256" y="4724705"/>
            <a:ext cx="1762963"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+0.3</a:t>
            </a:r>
            <a:endParaRPr lang="en-US" sz="1500" dirty="0"/>
          </a:p>
        </p:txBody>
      </p:sp>
      <p:sp>
        <p:nvSpPr>
          <p:cNvPr id="102" name="Shape 97"/>
          <p:cNvSpPr/>
          <p:nvPr/>
        </p:nvSpPr>
        <p:spPr>
          <a:xfrm>
            <a:off x="8953805" y="5988406"/>
            <a:ext cx="2009851" cy="9144"/>
          </a:xfrm>
          <a:prstGeom prst="rect">
            <a:avLst/>
          </a:prstGeom>
          <a:solidFill>
            <a:srgbClr val="E2DED5"/>
          </a:solidFill>
          <a:ln w="12700">
            <a:solidFill>
              <a:srgbClr val="E2DED5">
                <a:alpha val="0"/>
              </a:srgbClr>
            </a:solidFill>
            <a:prstDash val="solid"/>
          </a:ln>
        </p:spPr>
      </p:sp>
      <p:sp>
        <p:nvSpPr>
          <p:cNvPr id="103" name="Text 98"/>
          <p:cNvSpPr txBox="1"/>
          <p:nvPr/>
        </p:nvSpPr>
        <p:spPr>
          <a:xfrm>
            <a:off x="9315907" y="5359298"/>
            <a:ext cx="1647749"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W3 · Ru SADP</a:t>
            </a:r>
            <a:endParaRPr lang="en-US" sz="1500" dirty="0"/>
          </a:p>
        </p:txBody>
      </p:sp>
      <p:sp>
        <p:nvSpPr>
          <p:cNvPr id="104" name="Shape 99"/>
          <p:cNvSpPr/>
          <p:nvPr/>
        </p:nvSpPr>
        <p:spPr>
          <a:xfrm>
            <a:off x="10954512" y="5988406"/>
            <a:ext cx="1285646" cy="9144"/>
          </a:xfrm>
          <a:prstGeom prst="rect">
            <a:avLst/>
          </a:prstGeom>
          <a:solidFill>
            <a:srgbClr val="E2DED5"/>
          </a:solidFill>
          <a:ln w="12700">
            <a:solidFill>
              <a:srgbClr val="E2DED5">
                <a:alpha val="0"/>
              </a:srgbClr>
            </a:solidFill>
            <a:prstDash val="solid"/>
          </a:ln>
        </p:spPr>
      </p:sp>
      <p:sp>
        <p:nvSpPr>
          <p:cNvPr id="105" name="Text 100"/>
          <p:cNvSpPr txBox="1"/>
          <p:nvPr/>
        </p:nvSpPr>
        <p:spPr>
          <a:xfrm>
            <a:off x="10954512" y="5359298"/>
            <a:ext cx="12865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16.0</a:t>
            </a:r>
            <a:endParaRPr lang="en-US" sz="1500" dirty="0"/>
          </a:p>
        </p:txBody>
      </p:sp>
      <p:sp>
        <p:nvSpPr>
          <p:cNvPr id="106" name="Shape 101"/>
          <p:cNvSpPr/>
          <p:nvPr/>
        </p:nvSpPr>
        <p:spPr>
          <a:xfrm>
            <a:off x="12234672" y="5988406"/>
            <a:ext cx="1037844" cy="9144"/>
          </a:xfrm>
          <a:prstGeom prst="rect">
            <a:avLst/>
          </a:prstGeom>
          <a:solidFill>
            <a:srgbClr val="E2DED5"/>
          </a:solidFill>
          <a:ln w="12700">
            <a:solidFill>
              <a:srgbClr val="E2DED5">
                <a:alpha val="0"/>
              </a:srgbClr>
            </a:solidFill>
            <a:prstDash val="solid"/>
          </a:ln>
        </p:spPr>
      </p:sp>
      <p:sp>
        <p:nvSpPr>
          <p:cNvPr id="107" name="Text 102"/>
          <p:cNvSpPr txBox="1"/>
          <p:nvPr/>
        </p:nvSpPr>
        <p:spPr>
          <a:xfrm>
            <a:off x="12234672" y="5359298"/>
            <a:ext cx="1038758"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0.8</a:t>
            </a:r>
            <a:endParaRPr lang="en-US" sz="1500" dirty="0"/>
          </a:p>
        </p:txBody>
      </p:sp>
      <p:sp>
        <p:nvSpPr>
          <p:cNvPr id="108" name="Shape 103"/>
          <p:cNvSpPr/>
          <p:nvPr/>
        </p:nvSpPr>
        <p:spPr>
          <a:xfrm>
            <a:off x="13267944" y="5988406"/>
            <a:ext cx="1362456" cy="9144"/>
          </a:xfrm>
          <a:prstGeom prst="rect">
            <a:avLst/>
          </a:prstGeom>
          <a:solidFill>
            <a:srgbClr val="E2DED5"/>
          </a:solidFill>
          <a:ln w="12700">
            <a:solidFill>
              <a:srgbClr val="E2DED5">
                <a:alpha val="0"/>
              </a:srgbClr>
            </a:solidFill>
            <a:prstDash val="solid"/>
          </a:ln>
        </p:spPr>
      </p:sp>
      <p:sp>
        <p:nvSpPr>
          <p:cNvPr id="109" name="Text 104"/>
          <p:cNvSpPr txBox="1"/>
          <p:nvPr/>
        </p:nvSpPr>
        <p:spPr>
          <a:xfrm>
            <a:off x="13267944" y="5359298"/>
            <a:ext cx="1362456"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2.4</a:t>
            </a:r>
            <a:endParaRPr lang="en-US" sz="1500" dirty="0"/>
          </a:p>
        </p:txBody>
      </p:sp>
      <p:sp>
        <p:nvSpPr>
          <p:cNvPr id="110" name="Shape 105"/>
          <p:cNvSpPr/>
          <p:nvPr/>
        </p:nvSpPr>
        <p:spPr>
          <a:xfrm>
            <a:off x="14621256" y="5988406"/>
            <a:ext cx="1762049" cy="9144"/>
          </a:xfrm>
          <a:prstGeom prst="rect">
            <a:avLst/>
          </a:prstGeom>
          <a:solidFill>
            <a:srgbClr val="E2DED5"/>
          </a:solidFill>
          <a:ln w="12700">
            <a:solidFill>
              <a:srgbClr val="E2DED5">
                <a:alpha val="0"/>
              </a:srgbClr>
            </a:solidFill>
            <a:prstDash val="solid"/>
          </a:ln>
        </p:spPr>
      </p:sp>
      <p:sp>
        <p:nvSpPr>
          <p:cNvPr id="111" name="Text 106"/>
          <p:cNvSpPr txBox="1"/>
          <p:nvPr/>
        </p:nvSpPr>
        <p:spPr>
          <a:xfrm>
            <a:off x="14621256" y="5359298"/>
            <a:ext cx="1762963"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0.0</a:t>
            </a:r>
            <a:endParaRPr lang="en-US" sz="1500" dirty="0"/>
          </a:p>
        </p:txBody>
      </p:sp>
      <p:sp>
        <p:nvSpPr>
          <p:cNvPr id="112" name="Text 107"/>
          <p:cNvSpPr txBox="1"/>
          <p:nvPr/>
        </p:nvSpPr>
        <p:spPr>
          <a:xfrm>
            <a:off x="9315907" y="5992978"/>
            <a:ext cx="1647749" cy="638251"/>
          </a:xfrm>
          <a:prstGeom prst="rect">
            <a:avLst/>
          </a:prstGeom>
          <a:noFill/>
          <a:ln/>
        </p:spPr>
        <p:txBody>
          <a:bodyPr wrap="none" lIns="0" tIns="0" rIns="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W4 · Ru SADP</a:t>
            </a:r>
            <a:endParaRPr lang="en-US" sz="1500" dirty="0"/>
          </a:p>
        </p:txBody>
      </p:sp>
      <p:sp>
        <p:nvSpPr>
          <p:cNvPr id="113" name="Text 108"/>
          <p:cNvSpPr txBox="1"/>
          <p:nvPr/>
        </p:nvSpPr>
        <p:spPr>
          <a:xfrm>
            <a:off x="10954512" y="5992978"/>
            <a:ext cx="1286561" cy="638251"/>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15.9</a:t>
            </a:r>
            <a:endParaRPr lang="en-US" sz="1500" dirty="0"/>
          </a:p>
        </p:txBody>
      </p:sp>
      <p:sp>
        <p:nvSpPr>
          <p:cNvPr id="114" name="Text 109"/>
          <p:cNvSpPr txBox="1"/>
          <p:nvPr/>
        </p:nvSpPr>
        <p:spPr>
          <a:xfrm>
            <a:off x="12234672" y="5992978"/>
            <a:ext cx="1038758" cy="638251"/>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0.7</a:t>
            </a:r>
            <a:endParaRPr lang="en-US" sz="1500" dirty="0"/>
          </a:p>
        </p:txBody>
      </p:sp>
      <p:sp>
        <p:nvSpPr>
          <p:cNvPr id="115" name="Text 110"/>
          <p:cNvSpPr txBox="1"/>
          <p:nvPr/>
        </p:nvSpPr>
        <p:spPr>
          <a:xfrm>
            <a:off x="13267944" y="5992978"/>
            <a:ext cx="1362456" cy="638251"/>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2.1</a:t>
            </a:r>
            <a:endParaRPr lang="en-US" sz="1500" dirty="0"/>
          </a:p>
        </p:txBody>
      </p:sp>
      <p:sp>
        <p:nvSpPr>
          <p:cNvPr id="116" name="Text 111"/>
          <p:cNvSpPr txBox="1"/>
          <p:nvPr/>
        </p:nvSpPr>
        <p:spPr>
          <a:xfrm>
            <a:off x="14621256" y="5992978"/>
            <a:ext cx="1762963" cy="638251"/>
          </a:xfrm>
          <a:prstGeom prst="rect">
            <a:avLst/>
          </a:prstGeom>
          <a:noFill/>
          <a:ln/>
        </p:spPr>
        <p:txBody>
          <a:bodyPr wrap="none" lIns="0" tIns="0" rIns="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−0.1</a:t>
            </a:r>
            <a:endParaRPr lang="en-US" sz="1500" dirty="0"/>
          </a:p>
        </p:txBody>
      </p:sp>
      <p:sp>
        <p:nvSpPr>
          <p:cNvPr id="117" name="Shape 112"/>
          <p:cNvSpPr/>
          <p:nvPr/>
        </p:nvSpPr>
        <p:spPr>
          <a:xfrm>
            <a:off x="9105595" y="4320540"/>
            <a:ext cx="75895" cy="228600"/>
          </a:xfrm>
          <a:prstGeom prst="rect">
            <a:avLst/>
          </a:prstGeom>
          <a:solidFill>
            <a:srgbClr val="B45F2D"/>
          </a:solidFill>
          <a:ln w="12700">
            <a:solidFill>
              <a:srgbClr val="FFFFFF">
                <a:alpha val="0"/>
              </a:srgbClr>
            </a:solidFill>
            <a:prstDash val="solid"/>
          </a:ln>
        </p:spPr>
      </p:sp>
      <p:sp>
        <p:nvSpPr>
          <p:cNvPr id="118" name="Shape 113"/>
          <p:cNvSpPr/>
          <p:nvPr/>
        </p:nvSpPr>
        <p:spPr>
          <a:xfrm>
            <a:off x="9105595" y="4954219"/>
            <a:ext cx="75895" cy="228600"/>
          </a:xfrm>
          <a:prstGeom prst="rect">
            <a:avLst/>
          </a:prstGeom>
          <a:solidFill>
            <a:srgbClr val="B45F2D"/>
          </a:solidFill>
          <a:ln w="12700">
            <a:solidFill>
              <a:srgbClr val="FFFFFF">
                <a:alpha val="0"/>
              </a:srgbClr>
            </a:solidFill>
            <a:prstDash val="solid"/>
          </a:ln>
        </p:spPr>
      </p:sp>
      <p:sp>
        <p:nvSpPr>
          <p:cNvPr id="119" name="Shape 114"/>
          <p:cNvSpPr/>
          <p:nvPr/>
        </p:nvSpPr>
        <p:spPr>
          <a:xfrm>
            <a:off x="9105595" y="5587898"/>
            <a:ext cx="75895" cy="228600"/>
          </a:xfrm>
          <a:prstGeom prst="rect">
            <a:avLst/>
          </a:prstGeom>
          <a:solidFill>
            <a:srgbClr val="355A6B"/>
          </a:solidFill>
          <a:ln w="12700">
            <a:solidFill>
              <a:srgbClr val="FFFFFF">
                <a:alpha val="0"/>
              </a:srgbClr>
            </a:solidFill>
            <a:prstDash val="solid"/>
          </a:ln>
        </p:spPr>
      </p:sp>
      <p:sp>
        <p:nvSpPr>
          <p:cNvPr id="120" name="Shape 115"/>
          <p:cNvSpPr/>
          <p:nvPr/>
        </p:nvSpPr>
        <p:spPr>
          <a:xfrm>
            <a:off x="9105595" y="6222492"/>
            <a:ext cx="75895" cy="228600"/>
          </a:xfrm>
          <a:prstGeom prst="rect">
            <a:avLst/>
          </a:prstGeom>
          <a:solidFill>
            <a:srgbClr val="355A6B"/>
          </a:solidFill>
          <a:ln w="12700">
            <a:solidFill>
              <a:srgbClr val="FFFFFF">
                <a:alpha val="0"/>
              </a:srgbClr>
            </a:solidFill>
            <a:prstDash val="solid"/>
          </a:ln>
        </p:spPr>
      </p:sp>
      <p:sp>
        <p:nvSpPr>
          <p:cNvPr id="121" name="Text 116"/>
          <p:cNvSpPr txBox="1"/>
          <p:nvPr/>
        </p:nvSpPr>
        <p:spPr>
          <a:xfrm>
            <a:off x="1143000" y="8419795"/>
            <a:ext cx="2286000" cy="181051"/>
          </a:xfrm>
          <a:prstGeom prst="rect">
            <a:avLst/>
          </a:prstGeom>
          <a:noFill/>
          <a:ln/>
        </p:spPr>
        <p:txBody>
          <a:bodyPr wrap="none" lIns="0" tIns="0" rIns="0" bIns="0" rtlCol="0" anchor="ctr"/>
          <a:lstStyle/>
          <a:p>
            <a:pPr algn="l" indent="0" marL="0">
              <a:buNone/>
            </a:pPr>
            <a:r>
              <a:rPr lang="en-US" sz="975" spc="273" kern="0" dirty="0">
                <a:solidFill>
                  <a:srgbClr val="9CC1CC"/>
                </a:solidFill>
                <a:latin typeface="Pretendard" pitchFamily="34" charset="0"/>
                <a:ea typeface="Pretendard" pitchFamily="34" charset="-122"/>
                <a:cs typeface="Pretendard" pitchFamily="34" charset="-120"/>
              </a:rPr>
              <a:t>KEY TAKEAWAY</a:t>
            </a:r>
            <a:endParaRPr lang="en-US" sz="975" dirty="0"/>
          </a:p>
        </p:txBody>
      </p:sp>
      <p:sp>
        <p:nvSpPr>
          <p:cNvPr id="122" name="Text 117"/>
          <p:cNvSpPr txBox="1"/>
          <p:nvPr/>
        </p:nvSpPr>
        <p:spPr>
          <a:xfrm>
            <a:off x="1143000" y="8744407"/>
            <a:ext cx="16002000" cy="324612"/>
          </a:xfrm>
          <a:prstGeom prst="rect">
            <a:avLst/>
          </a:prstGeom>
          <a:noFill/>
          <a:ln/>
        </p:spPr>
        <p:txBody>
          <a:bodyPr wrap="none" lIns="0" tIns="0" rIns="0" bIns="0" rtlCol="0" anchor="ctr"/>
          <a:lstStyle/>
          <a:p>
            <a:pPr algn="l" indent="0" marL="0">
              <a:buNone/>
            </a:pPr>
            <a:r>
              <a:rPr lang="en-US" sz="1800" dirty="0">
                <a:solidFill>
                  <a:srgbClr val="FFFFFF"/>
                </a:solidFill>
                <a:latin typeface="Pretendard" pitchFamily="34" charset="0"/>
                <a:ea typeface="Pretendard" pitchFamily="34" charset="-122"/>
                <a:cs typeface="Pretendard" pitchFamily="34" charset="-120"/>
              </a:rPr>
              <a:t>Ru SD(W3·W4)는 AASI/ASEI 양쪽에서 3σ가 Cu DD 대비 30~50% 수준으로 작아, target hit 정확도와 변동 폭 모두 우세하다.</a:t>
            </a:r>
            <a:endParaRPr lang="en-US" sz="1800" dirty="0"/>
          </a:p>
        </p:txBody>
      </p:sp>
      <p:sp>
        <p:nvSpPr>
          <p:cNvPr id="123" name="Text 118"/>
          <p:cNvSpPr txBox="1"/>
          <p:nvPr/>
        </p:nvSpPr>
        <p:spPr>
          <a:xfrm>
            <a:off x="761695" y="9696298"/>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495398"/>
            <a:ext cx="1524305" cy="28346"/>
          </a:xfrm>
          <a:prstGeom prst="rect">
            <a:avLst/>
          </a:prstGeom>
        </p:spPr>
      </p:pic>
      <p:sp>
        <p:nvSpPr>
          <p:cNvPr id="5" name="Shape 0"/>
          <p:cNvSpPr/>
          <p:nvPr/>
        </p:nvSpPr>
        <p:spPr>
          <a:xfrm>
            <a:off x="761695" y="8191195"/>
            <a:ext cx="16763695" cy="1047902"/>
          </a:xfrm>
          <a:prstGeom prst="rect">
            <a:avLst/>
          </a:prstGeom>
          <a:solidFill>
            <a:srgbClr val="2D5466"/>
          </a:solidFill>
          <a:ln w="12700">
            <a:solidFill>
              <a:srgbClr val="FFFFFF">
                <a:alpha val="0"/>
              </a:srgbClr>
            </a:solidFill>
            <a:prstDash val="solid"/>
          </a:ln>
        </p:spPr>
      </p:sp>
      <p:sp>
        <p:nvSpPr>
          <p:cNvPr id="6" name="Text 1"/>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CD AMI/ACI</a:t>
            </a:r>
            <a:endParaRPr lang="en-US" sz="900" dirty="0"/>
          </a:p>
        </p:txBody>
      </p:sp>
      <p:sp>
        <p:nvSpPr>
          <p:cNvPr id="7" name="Text 2"/>
          <p:cNvSpPr txBox="1"/>
          <p:nvPr/>
        </p:nvSpPr>
        <p:spPr>
          <a:xfrm>
            <a:off x="761695" y="1028700"/>
            <a:ext cx="15240305" cy="486461"/>
          </a:xfrm>
          <a:prstGeom prst="rect">
            <a:avLst/>
          </a:prstGeom>
          <a:noFill/>
          <a:ln/>
        </p:spPr>
        <p:txBody>
          <a:bodyPr wrap="none" lIns="0" tIns="0" rIns="0" bIns="0" rtlCol="0" anchor="ctr"/>
          <a:lstStyle/>
          <a:p>
            <a:pPr algn="l" indent="0" marL="0">
              <a:buNone/>
            </a:pPr>
            <a:r>
              <a:rPr lang="en-US" sz="3450" b="1" spc="-34" kern="0" dirty="0">
                <a:solidFill>
                  <a:srgbClr val="1A1D22"/>
                </a:solidFill>
                <a:latin typeface="Pretendard" pitchFamily="34" charset="0"/>
                <a:ea typeface="Pretendard" pitchFamily="34" charset="-122"/>
                <a:cs typeface="Pretendard" pitchFamily="34" charset="-120"/>
              </a:rPr>
              <a:t>CD 변동 — AMI · ACI</a:t>
            </a:r>
            <a:endParaRPr lang="en-US" sz="3450" dirty="0"/>
          </a:p>
        </p:txBody>
      </p:sp>
      <p:sp>
        <p:nvSpPr>
          <p:cNvPr id="8" name="Text 3"/>
          <p:cNvSpPr txBox="1"/>
          <p:nvPr/>
        </p:nvSpPr>
        <p:spPr>
          <a:xfrm>
            <a:off x="761695" y="1644091"/>
            <a:ext cx="15240305"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라인 단부 metallization 영역 CD 변동 · wafer 별 mean · 3σ · range · Δ-to-target</a:t>
            </a:r>
            <a:endParaRPr lang="en-US" sz="1500" dirty="0"/>
          </a:p>
        </p:txBody>
      </p:sp>
      <p:sp>
        <p:nvSpPr>
          <p:cNvPr id="9" name="Text 4"/>
          <p:cNvSpPr txBox="1"/>
          <p:nvPr/>
        </p:nvSpPr>
        <p:spPr>
          <a:xfrm>
            <a:off x="761695" y="2819095"/>
            <a:ext cx="742950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METRIC · AMI</a:t>
            </a:r>
            <a:endParaRPr lang="en-US" sz="975" dirty="0"/>
          </a:p>
        </p:txBody>
      </p:sp>
      <p:sp>
        <p:nvSpPr>
          <p:cNvPr id="10" name="Text 5"/>
          <p:cNvSpPr txBox="1"/>
          <p:nvPr/>
        </p:nvSpPr>
        <p:spPr>
          <a:xfrm>
            <a:off x="761695" y="3124505"/>
            <a:ext cx="7429500" cy="277063"/>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Target CD </a:t>
            </a:r>
            <a:pPr algn="l" indent="0" marL="0">
              <a:buNone/>
            </a:pPr>
            <a:r>
              <a:rPr lang="en-US" sz="1500" b="1" dirty="0">
                <a:solidFill>
                  <a:srgbClr val="1A1D22"/>
                </a:solidFill>
                <a:latin typeface="Pretendard" pitchFamily="34" charset="0"/>
                <a:ea typeface="Pretendard" pitchFamily="34" charset="-122"/>
                <a:cs typeface="Pretendard" pitchFamily="34" charset="-120"/>
              </a:rPr>
              <a:t>9.7 nm</a:t>
            </a:r>
            <a:pPr algn="l" indent="0" marL="0">
              <a:buNone/>
            </a:pPr>
            <a:r>
              <a:rPr lang="en-US" sz="1500" dirty="0">
                <a:solidFill>
                  <a:srgbClr val="6B6F76"/>
                </a:solidFill>
                <a:latin typeface="Pretendard" pitchFamily="34" charset="0"/>
                <a:ea typeface="Pretendard" pitchFamily="34" charset="-122"/>
                <a:cs typeface="Pretendard" pitchFamily="34" charset="-120"/>
              </a:rPr>
              <a:t>(라인 단부 metallization 두께)</a:t>
            </a:r>
            <a:endParaRPr lang="en-US" sz="1500" dirty="0"/>
          </a:p>
        </p:txBody>
      </p:sp>
      <p:sp>
        <p:nvSpPr>
          <p:cNvPr id="11" name="Shape 6"/>
          <p:cNvSpPr/>
          <p:nvPr/>
        </p:nvSpPr>
        <p:spPr>
          <a:xfrm>
            <a:off x="761695" y="3619195"/>
            <a:ext cx="2009851" cy="476402"/>
          </a:xfrm>
          <a:prstGeom prst="rect">
            <a:avLst/>
          </a:prstGeom>
          <a:solidFill>
            <a:srgbClr val="F2EFE7"/>
          </a:solidFill>
          <a:ln/>
        </p:spPr>
      </p:sp>
      <p:sp>
        <p:nvSpPr>
          <p:cNvPr id="12" name="Shape 7"/>
          <p:cNvSpPr/>
          <p:nvPr/>
        </p:nvSpPr>
        <p:spPr>
          <a:xfrm>
            <a:off x="761695" y="4086454"/>
            <a:ext cx="2009851" cy="9144"/>
          </a:xfrm>
          <a:prstGeom prst="rect">
            <a:avLst/>
          </a:prstGeom>
          <a:solidFill>
            <a:srgbClr val="1A1D22"/>
          </a:solidFill>
          <a:ln w="12700">
            <a:solidFill>
              <a:srgbClr val="1A1D22">
                <a:alpha val="0"/>
              </a:srgbClr>
            </a:solidFill>
            <a:prstDash val="solid"/>
          </a:ln>
        </p:spPr>
      </p:sp>
      <p:sp>
        <p:nvSpPr>
          <p:cNvPr id="13" name="Text 8"/>
          <p:cNvSpPr txBox="1"/>
          <p:nvPr/>
        </p:nvSpPr>
        <p:spPr>
          <a:xfrm>
            <a:off x="761695" y="3619195"/>
            <a:ext cx="2009851"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Wafer</a:t>
            </a:r>
            <a:endParaRPr lang="en-US" sz="1125" dirty="0"/>
          </a:p>
        </p:txBody>
      </p:sp>
      <p:sp>
        <p:nvSpPr>
          <p:cNvPr id="14" name="Shape 9"/>
          <p:cNvSpPr/>
          <p:nvPr/>
        </p:nvSpPr>
        <p:spPr>
          <a:xfrm>
            <a:off x="2763317" y="3619195"/>
            <a:ext cx="1285646" cy="476402"/>
          </a:xfrm>
          <a:prstGeom prst="rect">
            <a:avLst/>
          </a:prstGeom>
          <a:solidFill>
            <a:srgbClr val="F2EFE7"/>
          </a:solidFill>
          <a:ln/>
        </p:spPr>
      </p:sp>
      <p:sp>
        <p:nvSpPr>
          <p:cNvPr id="15" name="Shape 10"/>
          <p:cNvSpPr/>
          <p:nvPr/>
        </p:nvSpPr>
        <p:spPr>
          <a:xfrm>
            <a:off x="2763317" y="4086454"/>
            <a:ext cx="1285646" cy="9144"/>
          </a:xfrm>
          <a:prstGeom prst="rect">
            <a:avLst/>
          </a:prstGeom>
          <a:solidFill>
            <a:srgbClr val="1A1D22"/>
          </a:solidFill>
          <a:ln w="12700">
            <a:solidFill>
              <a:srgbClr val="1A1D22">
                <a:alpha val="0"/>
              </a:srgbClr>
            </a:solidFill>
            <a:prstDash val="solid"/>
          </a:ln>
        </p:spPr>
      </p:sp>
      <p:sp>
        <p:nvSpPr>
          <p:cNvPr id="16" name="Text 11"/>
          <p:cNvSpPr txBox="1"/>
          <p:nvPr/>
        </p:nvSpPr>
        <p:spPr>
          <a:xfrm>
            <a:off x="2763317" y="3619195"/>
            <a:ext cx="1286561"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Mean (nm)</a:t>
            </a:r>
            <a:endParaRPr lang="en-US" sz="1125" dirty="0"/>
          </a:p>
        </p:txBody>
      </p:sp>
      <p:sp>
        <p:nvSpPr>
          <p:cNvPr id="17" name="Shape 12"/>
          <p:cNvSpPr/>
          <p:nvPr/>
        </p:nvSpPr>
        <p:spPr>
          <a:xfrm>
            <a:off x="4042562" y="3619195"/>
            <a:ext cx="1037844" cy="476402"/>
          </a:xfrm>
          <a:prstGeom prst="rect">
            <a:avLst/>
          </a:prstGeom>
          <a:solidFill>
            <a:srgbClr val="F2EFE7"/>
          </a:solidFill>
          <a:ln/>
        </p:spPr>
      </p:sp>
      <p:sp>
        <p:nvSpPr>
          <p:cNvPr id="18" name="Shape 13"/>
          <p:cNvSpPr/>
          <p:nvPr/>
        </p:nvSpPr>
        <p:spPr>
          <a:xfrm>
            <a:off x="4042562" y="4086454"/>
            <a:ext cx="1037844" cy="9144"/>
          </a:xfrm>
          <a:prstGeom prst="rect">
            <a:avLst/>
          </a:prstGeom>
          <a:solidFill>
            <a:srgbClr val="1A1D22"/>
          </a:solidFill>
          <a:ln w="12700">
            <a:solidFill>
              <a:srgbClr val="1A1D22">
                <a:alpha val="0"/>
              </a:srgbClr>
            </a:solidFill>
            <a:prstDash val="solid"/>
          </a:ln>
        </p:spPr>
      </p:sp>
      <p:sp>
        <p:nvSpPr>
          <p:cNvPr id="19" name="Text 14"/>
          <p:cNvSpPr txBox="1"/>
          <p:nvPr/>
        </p:nvSpPr>
        <p:spPr>
          <a:xfrm>
            <a:off x="4042562" y="3619195"/>
            <a:ext cx="1038758"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3σ (nm)</a:t>
            </a:r>
            <a:endParaRPr lang="en-US" sz="1125" dirty="0"/>
          </a:p>
        </p:txBody>
      </p:sp>
      <p:sp>
        <p:nvSpPr>
          <p:cNvPr id="20" name="Shape 15"/>
          <p:cNvSpPr/>
          <p:nvPr/>
        </p:nvSpPr>
        <p:spPr>
          <a:xfrm>
            <a:off x="5075834" y="3619195"/>
            <a:ext cx="1362456" cy="476402"/>
          </a:xfrm>
          <a:prstGeom prst="rect">
            <a:avLst/>
          </a:prstGeom>
          <a:solidFill>
            <a:srgbClr val="F2EFE7"/>
          </a:solidFill>
          <a:ln/>
        </p:spPr>
      </p:sp>
      <p:sp>
        <p:nvSpPr>
          <p:cNvPr id="21" name="Shape 16"/>
          <p:cNvSpPr/>
          <p:nvPr/>
        </p:nvSpPr>
        <p:spPr>
          <a:xfrm>
            <a:off x="5075834" y="4086454"/>
            <a:ext cx="1362456" cy="9144"/>
          </a:xfrm>
          <a:prstGeom prst="rect">
            <a:avLst/>
          </a:prstGeom>
          <a:solidFill>
            <a:srgbClr val="1A1D22"/>
          </a:solidFill>
          <a:ln w="12700">
            <a:solidFill>
              <a:srgbClr val="1A1D22">
                <a:alpha val="0"/>
              </a:srgbClr>
            </a:solidFill>
            <a:prstDash val="solid"/>
          </a:ln>
        </p:spPr>
      </p:sp>
      <p:sp>
        <p:nvSpPr>
          <p:cNvPr id="22" name="Text 17"/>
          <p:cNvSpPr txBox="1"/>
          <p:nvPr/>
        </p:nvSpPr>
        <p:spPr>
          <a:xfrm>
            <a:off x="5075834" y="3619195"/>
            <a:ext cx="1362456"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Range (nm)</a:t>
            </a:r>
            <a:endParaRPr lang="en-US" sz="1125" dirty="0"/>
          </a:p>
        </p:txBody>
      </p:sp>
      <p:sp>
        <p:nvSpPr>
          <p:cNvPr id="23" name="Shape 18"/>
          <p:cNvSpPr/>
          <p:nvPr/>
        </p:nvSpPr>
        <p:spPr>
          <a:xfrm>
            <a:off x="6430061" y="3619195"/>
            <a:ext cx="1762049" cy="476402"/>
          </a:xfrm>
          <a:prstGeom prst="rect">
            <a:avLst/>
          </a:prstGeom>
          <a:solidFill>
            <a:srgbClr val="F2EFE7"/>
          </a:solidFill>
          <a:ln/>
        </p:spPr>
      </p:sp>
      <p:sp>
        <p:nvSpPr>
          <p:cNvPr id="24" name="Shape 19"/>
          <p:cNvSpPr/>
          <p:nvPr/>
        </p:nvSpPr>
        <p:spPr>
          <a:xfrm>
            <a:off x="6430061" y="4086454"/>
            <a:ext cx="1762049" cy="9144"/>
          </a:xfrm>
          <a:prstGeom prst="rect">
            <a:avLst/>
          </a:prstGeom>
          <a:solidFill>
            <a:srgbClr val="1A1D22"/>
          </a:solidFill>
          <a:ln w="12700">
            <a:solidFill>
              <a:srgbClr val="1A1D22">
                <a:alpha val="0"/>
              </a:srgbClr>
            </a:solidFill>
            <a:prstDash val="solid"/>
          </a:ln>
        </p:spPr>
      </p:sp>
      <p:sp>
        <p:nvSpPr>
          <p:cNvPr id="25" name="Text 20"/>
          <p:cNvSpPr txBox="1"/>
          <p:nvPr/>
        </p:nvSpPr>
        <p:spPr>
          <a:xfrm>
            <a:off x="6430061" y="3619195"/>
            <a:ext cx="1762963"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Δ to target (nm)</a:t>
            </a:r>
            <a:endParaRPr lang="en-US" sz="1125" dirty="0"/>
          </a:p>
        </p:txBody>
      </p:sp>
      <p:sp>
        <p:nvSpPr>
          <p:cNvPr id="26" name="Shape 21"/>
          <p:cNvSpPr/>
          <p:nvPr/>
        </p:nvSpPr>
        <p:spPr>
          <a:xfrm>
            <a:off x="761695" y="4720133"/>
            <a:ext cx="2009851" cy="9144"/>
          </a:xfrm>
          <a:prstGeom prst="rect">
            <a:avLst/>
          </a:prstGeom>
          <a:solidFill>
            <a:srgbClr val="E2DED5"/>
          </a:solidFill>
          <a:ln w="12700">
            <a:solidFill>
              <a:srgbClr val="E2DED5">
                <a:alpha val="0"/>
              </a:srgbClr>
            </a:solidFill>
            <a:prstDash val="solid"/>
          </a:ln>
        </p:spPr>
      </p:sp>
      <p:sp>
        <p:nvSpPr>
          <p:cNvPr id="27" name="Text 22"/>
          <p:cNvSpPr txBox="1"/>
          <p:nvPr/>
        </p:nvSpPr>
        <p:spPr>
          <a:xfrm>
            <a:off x="1123798" y="4091026"/>
            <a:ext cx="1647749"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W1 · Cu TaN</a:t>
            </a:r>
            <a:endParaRPr lang="en-US" sz="1500" dirty="0"/>
          </a:p>
        </p:txBody>
      </p:sp>
      <p:sp>
        <p:nvSpPr>
          <p:cNvPr id="28" name="Shape 23"/>
          <p:cNvSpPr/>
          <p:nvPr/>
        </p:nvSpPr>
        <p:spPr>
          <a:xfrm>
            <a:off x="2763317" y="4720133"/>
            <a:ext cx="1285646" cy="9144"/>
          </a:xfrm>
          <a:prstGeom prst="rect">
            <a:avLst/>
          </a:prstGeom>
          <a:solidFill>
            <a:srgbClr val="E2DED5"/>
          </a:solidFill>
          <a:ln w="12700">
            <a:solidFill>
              <a:srgbClr val="E2DED5">
                <a:alpha val="0"/>
              </a:srgbClr>
            </a:solidFill>
            <a:prstDash val="solid"/>
          </a:ln>
        </p:spPr>
      </p:sp>
      <p:sp>
        <p:nvSpPr>
          <p:cNvPr id="29" name="Text 24"/>
          <p:cNvSpPr txBox="1"/>
          <p:nvPr/>
        </p:nvSpPr>
        <p:spPr>
          <a:xfrm>
            <a:off x="2763317" y="4091026"/>
            <a:ext cx="12865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10.4</a:t>
            </a:r>
            <a:endParaRPr lang="en-US" sz="1500" dirty="0"/>
          </a:p>
        </p:txBody>
      </p:sp>
      <p:sp>
        <p:nvSpPr>
          <p:cNvPr id="30" name="Shape 25"/>
          <p:cNvSpPr/>
          <p:nvPr/>
        </p:nvSpPr>
        <p:spPr>
          <a:xfrm>
            <a:off x="4042562" y="4720133"/>
            <a:ext cx="1037844" cy="9144"/>
          </a:xfrm>
          <a:prstGeom prst="rect">
            <a:avLst/>
          </a:prstGeom>
          <a:solidFill>
            <a:srgbClr val="E2DED5"/>
          </a:solidFill>
          <a:ln w="12700">
            <a:solidFill>
              <a:srgbClr val="E2DED5">
                <a:alpha val="0"/>
              </a:srgbClr>
            </a:solidFill>
            <a:prstDash val="solid"/>
          </a:ln>
        </p:spPr>
      </p:sp>
      <p:sp>
        <p:nvSpPr>
          <p:cNvPr id="31" name="Text 26"/>
          <p:cNvSpPr txBox="1"/>
          <p:nvPr/>
        </p:nvSpPr>
        <p:spPr>
          <a:xfrm>
            <a:off x="4042562" y="4091026"/>
            <a:ext cx="1038758"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1.1</a:t>
            </a:r>
            <a:endParaRPr lang="en-US" sz="1500" dirty="0"/>
          </a:p>
        </p:txBody>
      </p:sp>
      <p:sp>
        <p:nvSpPr>
          <p:cNvPr id="32" name="Shape 27"/>
          <p:cNvSpPr/>
          <p:nvPr/>
        </p:nvSpPr>
        <p:spPr>
          <a:xfrm>
            <a:off x="5075834" y="4720133"/>
            <a:ext cx="1362456" cy="9144"/>
          </a:xfrm>
          <a:prstGeom prst="rect">
            <a:avLst/>
          </a:prstGeom>
          <a:solidFill>
            <a:srgbClr val="E2DED5"/>
          </a:solidFill>
          <a:ln w="12700">
            <a:solidFill>
              <a:srgbClr val="E2DED5">
                <a:alpha val="0"/>
              </a:srgbClr>
            </a:solidFill>
            <a:prstDash val="solid"/>
          </a:ln>
        </p:spPr>
      </p:sp>
      <p:sp>
        <p:nvSpPr>
          <p:cNvPr id="33" name="Text 28"/>
          <p:cNvSpPr txBox="1"/>
          <p:nvPr/>
        </p:nvSpPr>
        <p:spPr>
          <a:xfrm>
            <a:off x="5075834" y="4091026"/>
            <a:ext cx="1362456"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3.1</a:t>
            </a:r>
            <a:endParaRPr lang="en-US" sz="1500" dirty="0"/>
          </a:p>
        </p:txBody>
      </p:sp>
      <p:sp>
        <p:nvSpPr>
          <p:cNvPr id="34" name="Shape 29"/>
          <p:cNvSpPr/>
          <p:nvPr/>
        </p:nvSpPr>
        <p:spPr>
          <a:xfrm>
            <a:off x="6430061" y="4720133"/>
            <a:ext cx="1762049" cy="9144"/>
          </a:xfrm>
          <a:prstGeom prst="rect">
            <a:avLst/>
          </a:prstGeom>
          <a:solidFill>
            <a:srgbClr val="E2DED5"/>
          </a:solidFill>
          <a:ln w="12700">
            <a:solidFill>
              <a:srgbClr val="E2DED5">
                <a:alpha val="0"/>
              </a:srgbClr>
            </a:solidFill>
            <a:prstDash val="solid"/>
          </a:ln>
        </p:spPr>
      </p:sp>
      <p:sp>
        <p:nvSpPr>
          <p:cNvPr id="35" name="Text 30"/>
          <p:cNvSpPr txBox="1"/>
          <p:nvPr/>
        </p:nvSpPr>
        <p:spPr>
          <a:xfrm>
            <a:off x="6430061" y="4091026"/>
            <a:ext cx="1762963"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+0.7</a:t>
            </a:r>
            <a:endParaRPr lang="en-US" sz="1500" dirty="0"/>
          </a:p>
        </p:txBody>
      </p:sp>
      <p:sp>
        <p:nvSpPr>
          <p:cNvPr id="36" name="Shape 31"/>
          <p:cNvSpPr/>
          <p:nvPr/>
        </p:nvSpPr>
        <p:spPr>
          <a:xfrm>
            <a:off x="761695" y="5353812"/>
            <a:ext cx="2009851" cy="9144"/>
          </a:xfrm>
          <a:prstGeom prst="rect">
            <a:avLst/>
          </a:prstGeom>
          <a:solidFill>
            <a:srgbClr val="E2DED5"/>
          </a:solidFill>
          <a:ln w="12700">
            <a:solidFill>
              <a:srgbClr val="E2DED5">
                <a:alpha val="0"/>
              </a:srgbClr>
            </a:solidFill>
            <a:prstDash val="solid"/>
          </a:ln>
        </p:spPr>
      </p:sp>
      <p:sp>
        <p:nvSpPr>
          <p:cNvPr id="37" name="Text 32"/>
          <p:cNvSpPr txBox="1"/>
          <p:nvPr/>
        </p:nvSpPr>
        <p:spPr>
          <a:xfrm>
            <a:off x="1123798" y="4724705"/>
            <a:ext cx="1647749"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W2 · Cu TiN</a:t>
            </a:r>
            <a:endParaRPr lang="en-US" sz="1500" dirty="0"/>
          </a:p>
        </p:txBody>
      </p:sp>
      <p:sp>
        <p:nvSpPr>
          <p:cNvPr id="38" name="Shape 33"/>
          <p:cNvSpPr/>
          <p:nvPr/>
        </p:nvSpPr>
        <p:spPr>
          <a:xfrm>
            <a:off x="2763317" y="5353812"/>
            <a:ext cx="1285646" cy="9144"/>
          </a:xfrm>
          <a:prstGeom prst="rect">
            <a:avLst/>
          </a:prstGeom>
          <a:solidFill>
            <a:srgbClr val="E2DED5"/>
          </a:solidFill>
          <a:ln w="12700">
            <a:solidFill>
              <a:srgbClr val="E2DED5">
                <a:alpha val="0"/>
              </a:srgbClr>
            </a:solidFill>
            <a:prstDash val="solid"/>
          </a:ln>
        </p:spPr>
      </p:sp>
      <p:sp>
        <p:nvSpPr>
          <p:cNvPr id="39" name="Text 34"/>
          <p:cNvSpPr txBox="1"/>
          <p:nvPr/>
        </p:nvSpPr>
        <p:spPr>
          <a:xfrm>
            <a:off x="2763317" y="4724705"/>
            <a:ext cx="12865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10.2</a:t>
            </a:r>
            <a:endParaRPr lang="en-US" sz="1500" dirty="0"/>
          </a:p>
        </p:txBody>
      </p:sp>
      <p:sp>
        <p:nvSpPr>
          <p:cNvPr id="40" name="Shape 35"/>
          <p:cNvSpPr/>
          <p:nvPr/>
        </p:nvSpPr>
        <p:spPr>
          <a:xfrm>
            <a:off x="4042562" y="5353812"/>
            <a:ext cx="1037844" cy="9144"/>
          </a:xfrm>
          <a:prstGeom prst="rect">
            <a:avLst/>
          </a:prstGeom>
          <a:solidFill>
            <a:srgbClr val="E2DED5"/>
          </a:solidFill>
          <a:ln w="12700">
            <a:solidFill>
              <a:srgbClr val="E2DED5">
                <a:alpha val="0"/>
              </a:srgbClr>
            </a:solidFill>
            <a:prstDash val="solid"/>
          </a:ln>
        </p:spPr>
      </p:sp>
      <p:sp>
        <p:nvSpPr>
          <p:cNvPr id="41" name="Text 36"/>
          <p:cNvSpPr txBox="1"/>
          <p:nvPr/>
        </p:nvSpPr>
        <p:spPr>
          <a:xfrm>
            <a:off x="4042562" y="4724705"/>
            <a:ext cx="1038758"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1.0</a:t>
            </a:r>
            <a:endParaRPr lang="en-US" sz="1500" dirty="0"/>
          </a:p>
        </p:txBody>
      </p:sp>
      <p:sp>
        <p:nvSpPr>
          <p:cNvPr id="42" name="Shape 37"/>
          <p:cNvSpPr/>
          <p:nvPr/>
        </p:nvSpPr>
        <p:spPr>
          <a:xfrm>
            <a:off x="5075834" y="5353812"/>
            <a:ext cx="1362456" cy="9144"/>
          </a:xfrm>
          <a:prstGeom prst="rect">
            <a:avLst/>
          </a:prstGeom>
          <a:solidFill>
            <a:srgbClr val="E2DED5"/>
          </a:solidFill>
          <a:ln w="12700">
            <a:solidFill>
              <a:srgbClr val="E2DED5">
                <a:alpha val="0"/>
              </a:srgbClr>
            </a:solidFill>
            <a:prstDash val="solid"/>
          </a:ln>
        </p:spPr>
      </p:sp>
      <p:sp>
        <p:nvSpPr>
          <p:cNvPr id="43" name="Text 38"/>
          <p:cNvSpPr txBox="1"/>
          <p:nvPr/>
        </p:nvSpPr>
        <p:spPr>
          <a:xfrm>
            <a:off x="5075834" y="4724705"/>
            <a:ext cx="1362456"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2.9</a:t>
            </a:r>
            <a:endParaRPr lang="en-US" sz="1500" dirty="0"/>
          </a:p>
        </p:txBody>
      </p:sp>
      <p:sp>
        <p:nvSpPr>
          <p:cNvPr id="44" name="Shape 39"/>
          <p:cNvSpPr/>
          <p:nvPr/>
        </p:nvSpPr>
        <p:spPr>
          <a:xfrm>
            <a:off x="6430061" y="5353812"/>
            <a:ext cx="1762049" cy="9144"/>
          </a:xfrm>
          <a:prstGeom prst="rect">
            <a:avLst/>
          </a:prstGeom>
          <a:solidFill>
            <a:srgbClr val="E2DED5"/>
          </a:solidFill>
          <a:ln w="12700">
            <a:solidFill>
              <a:srgbClr val="E2DED5">
                <a:alpha val="0"/>
              </a:srgbClr>
            </a:solidFill>
            <a:prstDash val="solid"/>
          </a:ln>
        </p:spPr>
      </p:sp>
      <p:sp>
        <p:nvSpPr>
          <p:cNvPr id="45" name="Text 40"/>
          <p:cNvSpPr txBox="1"/>
          <p:nvPr/>
        </p:nvSpPr>
        <p:spPr>
          <a:xfrm>
            <a:off x="6430061" y="4724705"/>
            <a:ext cx="1762963"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+0.5</a:t>
            </a:r>
            <a:endParaRPr lang="en-US" sz="1500" dirty="0"/>
          </a:p>
        </p:txBody>
      </p:sp>
      <p:sp>
        <p:nvSpPr>
          <p:cNvPr id="46" name="Shape 41"/>
          <p:cNvSpPr/>
          <p:nvPr/>
        </p:nvSpPr>
        <p:spPr>
          <a:xfrm>
            <a:off x="761695" y="5988406"/>
            <a:ext cx="2009851" cy="9144"/>
          </a:xfrm>
          <a:prstGeom prst="rect">
            <a:avLst/>
          </a:prstGeom>
          <a:solidFill>
            <a:srgbClr val="E2DED5"/>
          </a:solidFill>
          <a:ln w="12700">
            <a:solidFill>
              <a:srgbClr val="E2DED5">
                <a:alpha val="0"/>
              </a:srgbClr>
            </a:solidFill>
            <a:prstDash val="solid"/>
          </a:ln>
        </p:spPr>
      </p:sp>
      <p:sp>
        <p:nvSpPr>
          <p:cNvPr id="47" name="Text 42"/>
          <p:cNvSpPr txBox="1"/>
          <p:nvPr/>
        </p:nvSpPr>
        <p:spPr>
          <a:xfrm>
            <a:off x="1123798" y="5359298"/>
            <a:ext cx="1647749"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W3 · Ru SADP</a:t>
            </a:r>
            <a:endParaRPr lang="en-US" sz="1500" dirty="0"/>
          </a:p>
        </p:txBody>
      </p:sp>
      <p:sp>
        <p:nvSpPr>
          <p:cNvPr id="48" name="Shape 43"/>
          <p:cNvSpPr/>
          <p:nvPr/>
        </p:nvSpPr>
        <p:spPr>
          <a:xfrm>
            <a:off x="2763317" y="5988406"/>
            <a:ext cx="1285646" cy="9144"/>
          </a:xfrm>
          <a:prstGeom prst="rect">
            <a:avLst/>
          </a:prstGeom>
          <a:solidFill>
            <a:srgbClr val="E2DED5"/>
          </a:solidFill>
          <a:ln w="12700">
            <a:solidFill>
              <a:srgbClr val="E2DED5">
                <a:alpha val="0"/>
              </a:srgbClr>
            </a:solidFill>
            <a:prstDash val="solid"/>
          </a:ln>
        </p:spPr>
      </p:sp>
      <p:sp>
        <p:nvSpPr>
          <p:cNvPr id="49" name="Text 44"/>
          <p:cNvSpPr txBox="1"/>
          <p:nvPr/>
        </p:nvSpPr>
        <p:spPr>
          <a:xfrm>
            <a:off x="2763317" y="5359298"/>
            <a:ext cx="12865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9.7</a:t>
            </a:r>
            <a:endParaRPr lang="en-US" sz="1500" dirty="0"/>
          </a:p>
        </p:txBody>
      </p:sp>
      <p:sp>
        <p:nvSpPr>
          <p:cNvPr id="50" name="Shape 45"/>
          <p:cNvSpPr/>
          <p:nvPr/>
        </p:nvSpPr>
        <p:spPr>
          <a:xfrm>
            <a:off x="4042562" y="5988406"/>
            <a:ext cx="1037844" cy="9144"/>
          </a:xfrm>
          <a:prstGeom prst="rect">
            <a:avLst/>
          </a:prstGeom>
          <a:solidFill>
            <a:srgbClr val="E2DED5"/>
          </a:solidFill>
          <a:ln w="12700">
            <a:solidFill>
              <a:srgbClr val="E2DED5">
                <a:alpha val="0"/>
              </a:srgbClr>
            </a:solidFill>
            <a:prstDash val="solid"/>
          </a:ln>
        </p:spPr>
      </p:sp>
      <p:sp>
        <p:nvSpPr>
          <p:cNvPr id="51" name="Text 46"/>
          <p:cNvSpPr txBox="1"/>
          <p:nvPr/>
        </p:nvSpPr>
        <p:spPr>
          <a:xfrm>
            <a:off x="4042562" y="5359298"/>
            <a:ext cx="1038758"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0.6</a:t>
            </a:r>
            <a:endParaRPr lang="en-US" sz="1500" dirty="0"/>
          </a:p>
        </p:txBody>
      </p:sp>
      <p:sp>
        <p:nvSpPr>
          <p:cNvPr id="52" name="Shape 47"/>
          <p:cNvSpPr/>
          <p:nvPr/>
        </p:nvSpPr>
        <p:spPr>
          <a:xfrm>
            <a:off x="5075834" y="5988406"/>
            <a:ext cx="1362456" cy="9144"/>
          </a:xfrm>
          <a:prstGeom prst="rect">
            <a:avLst/>
          </a:prstGeom>
          <a:solidFill>
            <a:srgbClr val="E2DED5"/>
          </a:solidFill>
          <a:ln w="12700">
            <a:solidFill>
              <a:srgbClr val="E2DED5">
                <a:alpha val="0"/>
              </a:srgbClr>
            </a:solidFill>
            <a:prstDash val="solid"/>
          </a:ln>
        </p:spPr>
      </p:sp>
      <p:sp>
        <p:nvSpPr>
          <p:cNvPr id="53" name="Text 48"/>
          <p:cNvSpPr txBox="1"/>
          <p:nvPr/>
        </p:nvSpPr>
        <p:spPr>
          <a:xfrm>
            <a:off x="5075834" y="5359298"/>
            <a:ext cx="1362456"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1.8</a:t>
            </a:r>
            <a:endParaRPr lang="en-US" sz="1500" dirty="0"/>
          </a:p>
        </p:txBody>
      </p:sp>
      <p:sp>
        <p:nvSpPr>
          <p:cNvPr id="54" name="Shape 49"/>
          <p:cNvSpPr/>
          <p:nvPr/>
        </p:nvSpPr>
        <p:spPr>
          <a:xfrm>
            <a:off x="6430061" y="5988406"/>
            <a:ext cx="1762049" cy="9144"/>
          </a:xfrm>
          <a:prstGeom prst="rect">
            <a:avLst/>
          </a:prstGeom>
          <a:solidFill>
            <a:srgbClr val="E2DED5"/>
          </a:solidFill>
          <a:ln w="12700">
            <a:solidFill>
              <a:srgbClr val="E2DED5">
                <a:alpha val="0"/>
              </a:srgbClr>
            </a:solidFill>
            <a:prstDash val="solid"/>
          </a:ln>
        </p:spPr>
      </p:sp>
      <p:sp>
        <p:nvSpPr>
          <p:cNvPr id="55" name="Text 50"/>
          <p:cNvSpPr txBox="1"/>
          <p:nvPr/>
        </p:nvSpPr>
        <p:spPr>
          <a:xfrm>
            <a:off x="6430061" y="5359298"/>
            <a:ext cx="1762963"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0.0</a:t>
            </a:r>
            <a:endParaRPr lang="en-US" sz="1500" dirty="0"/>
          </a:p>
        </p:txBody>
      </p:sp>
      <p:sp>
        <p:nvSpPr>
          <p:cNvPr id="56" name="Text 51"/>
          <p:cNvSpPr txBox="1"/>
          <p:nvPr/>
        </p:nvSpPr>
        <p:spPr>
          <a:xfrm>
            <a:off x="1123798" y="5992978"/>
            <a:ext cx="1647749" cy="638251"/>
          </a:xfrm>
          <a:prstGeom prst="rect">
            <a:avLst/>
          </a:prstGeom>
          <a:noFill/>
          <a:ln/>
        </p:spPr>
        <p:txBody>
          <a:bodyPr wrap="none" lIns="0" tIns="0" rIns="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W4 · Ru SADP</a:t>
            </a:r>
            <a:endParaRPr lang="en-US" sz="1500" dirty="0"/>
          </a:p>
        </p:txBody>
      </p:sp>
      <p:sp>
        <p:nvSpPr>
          <p:cNvPr id="57" name="Text 52"/>
          <p:cNvSpPr txBox="1"/>
          <p:nvPr/>
        </p:nvSpPr>
        <p:spPr>
          <a:xfrm>
            <a:off x="2763317" y="5992978"/>
            <a:ext cx="1286561" cy="638251"/>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9.6</a:t>
            </a:r>
            <a:endParaRPr lang="en-US" sz="1500" dirty="0"/>
          </a:p>
        </p:txBody>
      </p:sp>
      <p:sp>
        <p:nvSpPr>
          <p:cNvPr id="58" name="Text 53"/>
          <p:cNvSpPr txBox="1"/>
          <p:nvPr/>
        </p:nvSpPr>
        <p:spPr>
          <a:xfrm>
            <a:off x="4042562" y="5992978"/>
            <a:ext cx="1038758" cy="638251"/>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0.5</a:t>
            </a:r>
            <a:endParaRPr lang="en-US" sz="1500" dirty="0"/>
          </a:p>
        </p:txBody>
      </p:sp>
      <p:sp>
        <p:nvSpPr>
          <p:cNvPr id="59" name="Text 54"/>
          <p:cNvSpPr txBox="1"/>
          <p:nvPr/>
        </p:nvSpPr>
        <p:spPr>
          <a:xfrm>
            <a:off x="5075834" y="5992978"/>
            <a:ext cx="1362456" cy="638251"/>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1.6</a:t>
            </a:r>
            <a:endParaRPr lang="en-US" sz="1500" dirty="0"/>
          </a:p>
        </p:txBody>
      </p:sp>
      <p:sp>
        <p:nvSpPr>
          <p:cNvPr id="60" name="Text 55"/>
          <p:cNvSpPr txBox="1"/>
          <p:nvPr/>
        </p:nvSpPr>
        <p:spPr>
          <a:xfrm>
            <a:off x="6430061" y="5992978"/>
            <a:ext cx="1762963" cy="638251"/>
          </a:xfrm>
          <a:prstGeom prst="rect">
            <a:avLst/>
          </a:prstGeom>
          <a:noFill/>
          <a:ln/>
        </p:spPr>
        <p:txBody>
          <a:bodyPr wrap="none" lIns="0" tIns="0" rIns="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−0.1</a:t>
            </a:r>
            <a:endParaRPr lang="en-US" sz="1500" dirty="0"/>
          </a:p>
        </p:txBody>
      </p:sp>
      <p:sp>
        <p:nvSpPr>
          <p:cNvPr id="61" name="Shape 56"/>
          <p:cNvSpPr/>
          <p:nvPr/>
        </p:nvSpPr>
        <p:spPr>
          <a:xfrm>
            <a:off x="914400" y="4320540"/>
            <a:ext cx="75895" cy="228600"/>
          </a:xfrm>
          <a:prstGeom prst="rect">
            <a:avLst/>
          </a:prstGeom>
          <a:solidFill>
            <a:srgbClr val="B45F2D"/>
          </a:solidFill>
          <a:ln w="12700">
            <a:solidFill>
              <a:srgbClr val="FFFFFF">
                <a:alpha val="0"/>
              </a:srgbClr>
            </a:solidFill>
            <a:prstDash val="solid"/>
          </a:ln>
        </p:spPr>
      </p:sp>
      <p:sp>
        <p:nvSpPr>
          <p:cNvPr id="62" name="Shape 57"/>
          <p:cNvSpPr/>
          <p:nvPr/>
        </p:nvSpPr>
        <p:spPr>
          <a:xfrm>
            <a:off x="914400" y="4954219"/>
            <a:ext cx="75895" cy="228600"/>
          </a:xfrm>
          <a:prstGeom prst="rect">
            <a:avLst/>
          </a:prstGeom>
          <a:solidFill>
            <a:srgbClr val="B45F2D"/>
          </a:solidFill>
          <a:ln w="12700">
            <a:solidFill>
              <a:srgbClr val="FFFFFF">
                <a:alpha val="0"/>
              </a:srgbClr>
            </a:solidFill>
            <a:prstDash val="solid"/>
          </a:ln>
        </p:spPr>
      </p:sp>
      <p:sp>
        <p:nvSpPr>
          <p:cNvPr id="63" name="Shape 58"/>
          <p:cNvSpPr/>
          <p:nvPr/>
        </p:nvSpPr>
        <p:spPr>
          <a:xfrm>
            <a:off x="914400" y="5587898"/>
            <a:ext cx="75895" cy="228600"/>
          </a:xfrm>
          <a:prstGeom prst="rect">
            <a:avLst/>
          </a:prstGeom>
          <a:solidFill>
            <a:srgbClr val="355A6B"/>
          </a:solidFill>
          <a:ln w="12700">
            <a:solidFill>
              <a:srgbClr val="FFFFFF">
                <a:alpha val="0"/>
              </a:srgbClr>
            </a:solidFill>
            <a:prstDash val="solid"/>
          </a:ln>
        </p:spPr>
      </p:sp>
      <p:sp>
        <p:nvSpPr>
          <p:cNvPr id="64" name="Shape 59"/>
          <p:cNvSpPr/>
          <p:nvPr/>
        </p:nvSpPr>
        <p:spPr>
          <a:xfrm>
            <a:off x="914400" y="6222492"/>
            <a:ext cx="75895" cy="228600"/>
          </a:xfrm>
          <a:prstGeom prst="rect">
            <a:avLst/>
          </a:prstGeom>
          <a:solidFill>
            <a:srgbClr val="355A6B"/>
          </a:solidFill>
          <a:ln w="12700">
            <a:solidFill>
              <a:srgbClr val="FFFFFF">
                <a:alpha val="0"/>
              </a:srgbClr>
            </a:solidFill>
            <a:prstDash val="solid"/>
          </a:ln>
        </p:spPr>
      </p:sp>
      <p:sp>
        <p:nvSpPr>
          <p:cNvPr id="65" name="Text 60"/>
          <p:cNvSpPr txBox="1"/>
          <p:nvPr/>
        </p:nvSpPr>
        <p:spPr>
          <a:xfrm>
            <a:off x="8953805" y="2819095"/>
            <a:ext cx="742950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METRIC · ACI</a:t>
            </a:r>
            <a:endParaRPr lang="en-US" sz="975" dirty="0"/>
          </a:p>
        </p:txBody>
      </p:sp>
      <p:sp>
        <p:nvSpPr>
          <p:cNvPr id="66" name="Text 61"/>
          <p:cNvSpPr txBox="1"/>
          <p:nvPr/>
        </p:nvSpPr>
        <p:spPr>
          <a:xfrm>
            <a:off x="8953805" y="3124505"/>
            <a:ext cx="7429500" cy="277063"/>
          </a:xfrm>
          <a:prstGeom prst="rect">
            <a:avLst/>
          </a:prstGeom>
          <a:noFill/>
          <a:ln/>
        </p:spPr>
        <p:txBody>
          <a:bodyPr wrap="none" lIns="0" tIns="0" rIns="0" bIns="0" rtlCol="0" anchor="ctr"/>
          <a:lstStyle/>
          <a:p>
            <a:pPr algn="l" indent="0" marL="0">
              <a:buNone/>
            </a:pPr>
            <a:r>
              <a:rPr lang="en-US" sz="1500" dirty="0">
                <a:solidFill>
                  <a:srgbClr val="1A1D22"/>
                </a:solidFill>
                <a:latin typeface="Pretendard" pitchFamily="34" charset="0"/>
                <a:ea typeface="Pretendard" pitchFamily="34" charset="-122"/>
                <a:cs typeface="Pretendard" pitchFamily="34" charset="-120"/>
              </a:rPr>
              <a:t>Target CD </a:t>
            </a:r>
            <a:pPr algn="l" indent="0" marL="0">
              <a:buNone/>
            </a:pPr>
            <a:r>
              <a:rPr lang="en-US" sz="1500" b="1" dirty="0">
                <a:solidFill>
                  <a:srgbClr val="1A1D22"/>
                </a:solidFill>
                <a:latin typeface="Pretendard" pitchFamily="34" charset="0"/>
                <a:ea typeface="Pretendard" pitchFamily="34" charset="-122"/>
                <a:cs typeface="Pretendard" pitchFamily="34" charset="-120"/>
              </a:rPr>
              <a:t>10.0 nm</a:t>
            </a:r>
            <a:pPr algn="l" indent="0" marL="0">
              <a:buNone/>
            </a:pPr>
            <a:r>
              <a:rPr lang="en-US" sz="1500" dirty="0">
                <a:solidFill>
                  <a:srgbClr val="6B6F76"/>
                </a:solidFill>
                <a:latin typeface="Pretendard" pitchFamily="34" charset="0"/>
                <a:ea typeface="Pretendard" pitchFamily="34" charset="-122"/>
                <a:cs typeface="Pretendard" pitchFamily="34" charset="-120"/>
              </a:rPr>
              <a:t>(라인-라인 spacing at line-end)</a:t>
            </a:r>
            <a:endParaRPr lang="en-US" sz="1500" dirty="0"/>
          </a:p>
        </p:txBody>
      </p:sp>
      <p:sp>
        <p:nvSpPr>
          <p:cNvPr id="67" name="Shape 62"/>
          <p:cNvSpPr/>
          <p:nvPr/>
        </p:nvSpPr>
        <p:spPr>
          <a:xfrm>
            <a:off x="8953805" y="3619195"/>
            <a:ext cx="2009851" cy="476402"/>
          </a:xfrm>
          <a:prstGeom prst="rect">
            <a:avLst/>
          </a:prstGeom>
          <a:solidFill>
            <a:srgbClr val="F2EFE7"/>
          </a:solidFill>
          <a:ln/>
        </p:spPr>
      </p:sp>
      <p:sp>
        <p:nvSpPr>
          <p:cNvPr id="68" name="Shape 63"/>
          <p:cNvSpPr/>
          <p:nvPr/>
        </p:nvSpPr>
        <p:spPr>
          <a:xfrm>
            <a:off x="8953805" y="4086454"/>
            <a:ext cx="2009851" cy="9144"/>
          </a:xfrm>
          <a:prstGeom prst="rect">
            <a:avLst/>
          </a:prstGeom>
          <a:solidFill>
            <a:srgbClr val="1A1D22"/>
          </a:solidFill>
          <a:ln w="12700">
            <a:solidFill>
              <a:srgbClr val="1A1D22">
                <a:alpha val="0"/>
              </a:srgbClr>
            </a:solidFill>
            <a:prstDash val="solid"/>
          </a:ln>
        </p:spPr>
      </p:sp>
      <p:sp>
        <p:nvSpPr>
          <p:cNvPr id="69" name="Text 64"/>
          <p:cNvSpPr txBox="1"/>
          <p:nvPr/>
        </p:nvSpPr>
        <p:spPr>
          <a:xfrm>
            <a:off x="8953805" y="3619195"/>
            <a:ext cx="2009851"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Wafer</a:t>
            </a:r>
            <a:endParaRPr lang="en-US" sz="1125" dirty="0"/>
          </a:p>
        </p:txBody>
      </p:sp>
      <p:sp>
        <p:nvSpPr>
          <p:cNvPr id="70" name="Shape 65"/>
          <p:cNvSpPr/>
          <p:nvPr/>
        </p:nvSpPr>
        <p:spPr>
          <a:xfrm>
            <a:off x="10954512" y="3619195"/>
            <a:ext cx="1285646" cy="476402"/>
          </a:xfrm>
          <a:prstGeom prst="rect">
            <a:avLst/>
          </a:prstGeom>
          <a:solidFill>
            <a:srgbClr val="F2EFE7"/>
          </a:solidFill>
          <a:ln/>
        </p:spPr>
      </p:sp>
      <p:sp>
        <p:nvSpPr>
          <p:cNvPr id="71" name="Shape 66"/>
          <p:cNvSpPr/>
          <p:nvPr/>
        </p:nvSpPr>
        <p:spPr>
          <a:xfrm>
            <a:off x="10954512" y="4086454"/>
            <a:ext cx="1285646" cy="9144"/>
          </a:xfrm>
          <a:prstGeom prst="rect">
            <a:avLst/>
          </a:prstGeom>
          <a:solidFill>
            <a:srgbClr val="1A1D22"/>
          </a:solidFill>
          <a:ln w="12700">
            <a:solidFill>
              <a:srgbClr val="1A1D22">
                <a:alpha val="0"/>
              </a:srgbClr>
            </a:solidFill>
            <a:prstDash val="solid"/>
          </a:ln>
        </p:spPr>
      </p:sp>
      <p:sp>
        <p:nvSpPr>
          <p:cNvPr id="72" name="Text 67"/>
          <p:cNvSpPr txBox="1"/>
          <p:nvPr/>
        </p:nvSpPr>
        <p:spPr>
          <a:xfrm>
            <a:off x="10954512" y="3619195"/>
            <a:ext cx="1286561"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Mean (nm)</a:t>
            </a:r>
            <a:endParaRPr lang="en-US" sz="1125" dirty="0"/>
          </a:p>
        </p:txBody>
      </p:sp>
      <p:sp>
        <p:nvSpPr>
          <p:cNvPr id="73" name="Shape 68"/>
          <p:cNvSpPr/>
          <p:nvPr/>
        </p:nvSpPr>
        <p:spPr>
          <a:xfrm>
            <a:off x="12234672" y="3619195"/>
            <a:ext cx="1037844" cy="476402"/>
          </a:xfrm>
          <a:prstGeom prst="rect">
            <a:avLst/>
          </a:prstGeom>
          <a:solidFill>
            <a:srgbClr val="F2EFE7"/>
          </a:solidFill>
          <a:ln/>
        </p:spPr>
      </p:sp>
      <p:sp>
        <p:nvSpPr>
          <p:cNvPr id="74" name="Shape 69"/>
          <p:cNvSpPr/>
          <p:nvPr/>
        </p:nvSpPr>
        <p:spPr>
          <a:xfrm>
            <a:off x="12234672" y="4086454"/>
            <a:ext cx="1037844" cy="9144"/>
          </a:xfrm>
          <a:prstGeom prst="rect">
            <a:avLst/>
          </a:prstGeom>
          <a:solidFill>
            <a:srgbClr val="1A1D22"/>
          </a:solidFill>
          <a:ln w="12700">
            <a:solidFill>
              <a:srgbClr val="1A1D22">
                <a:alpha val="0"/>
              </a:srgbClr>
            </a:solidFill>
            <a:prstDash val="solid"/>
          </a:ln>
        </p:spPr>
      </p:sp>
      <p:sp>
        <p:nvSpPr>
          <p:cNvPr id="75" name="Text 70"/>
          <p:cNvSpPr txBox="1"/>
          <p:nvPr/>
        </p:nvSpPr>
        <p:spPr>
          <a:xfrm>
            <a:off x="12234672" y="3619195"/>
            <a:ext cx="1038758"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3σ (nm)</a:t>
            </a:r>
            <a:endParaRPr lang="en-US" sz="1125" dirty="0"/>
          </a:p>
        </p:txBody>
      </p:sp>
      <p:sp>
        <p:nvSpPr>
          <p:cNvPr id="76" name="Shape 71"/>
          <p:cNvSpPr/>
          <p:nvPr/>
        </p:nvSpPr>
        <p:spPr>
          <a:xfrm>
            <a:off x="13267944" y="3619195"/>
            <a:ext cx="1362456" cy="476402"/>
          </a:xfrm>
          <a:prstGeom prst="rect">
            <a:avLst/>
          </a:prstGeom>
          <a:solidFill>
            <a:srgbClr val="F2EFE7"/>
          </a:solidFill>
          <a:ln/>
        </p:spPr>
      </p:sp>
      <p:sp>
        <p:nvSpPr>
          <p:cNvPr id="77" name="Shape 72"/>
          <p:cNvSpPr/>
          <p:nvPr/>
        </p:nvSpPr>
        <p:spPr>
          <a:xfrm>
            <a:off x="13267944" y="4086454"/>
            <a:ext cx="1362456" cy="9144"/>
          </a:xfrm>
          <a:prstGeom prst="rect">
            <a:avLst/>
          </a:prstGeom>
          <a:solidFill>
            <a:srgbClr val="1A1D22"/>
          </a:solidFill>
          <a:ln w="12700">
            <a:solidFill>
              <a:srgbClr val="1A1D22">
                <a:alpha val="0"/>
              </a:srgbClr>
            </a:solidFill>
            <a:prstDash val="solid"/>
          </a:ln>
        </p:spPr>
      </p:sp>
      <p:sp>
        <p:nvSpPr>
          <p:cNvPr id="78" name="Text 73"/>
          <p:cNvSpPr txBox="1"/>
          <p:nvPr/>
        </p:nvSpPr>
        <p:spPr>
          <a:xfrm>
            <a:off x="13267944" y="3619195"/>
            <a:ext cx="1362456"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Range (nm)</a:t>
            </a:r>
            <a:endParaRPr lang="en-US" sz="1125" dirty="0"/>
          </a:p>
        </p:txBody>
      </p:sp>
      <p:sp>
        <p:nvSpPr>
          <p:cNvPr id="79" name="Shape 74"/>
          <p:cNvSpPr/>
          <p:nvPr/>
        </p:nvSpPr>
        <p:spPr>
          <a:xfrm>
            <a:off x="14621256" y="3619195"/>
            <a:ext cx="1762049" cy="476402"/>
          </a:xfrm>
          <a:prstGeom prst="rect">
            <a:avLst/>
          </a:prstGeom>
          <a:solidFill>
            <a:srgbClr val="F2EFE7"/>
          </a:solidFill>
          <a:ln/>
        </p:spPr>
      </p:sp>
      <p:sp>
        <p:nvSpPr>
          <p:cNvPr id="80" name="Shape 75"/>
          <p:cNvSpPr/>
          <p:nvPr/>
        </p:nvSpPr>
        <p:spPr>
          <a:xfrm>
            <a:off x="14621256" y="4086454"/>
            <a:ext cx="1762049" cy="9144"/>
          </a:xfrm>
          <a:prstGeom prst="rect">
            <a:avLst/>
          </a:prstGeom>
          <a:solidFill>
            <a:srgbClr val="1A1D22"/>
          </a:solidFill>
          <a:ln w="12700">
            <a:solidFill>
              <a:srgbClr val="1A1D22">
                <a:alpha val="0"/>
              </a:srgbClr>
            </a:solidFill>
            <a:prstDash val="solid"/>
          </a:ln>
        </p:spPr>
      </p:sp>
      <p:sp>
        <p:nvSpPr>
          <p:cNvPr id="81" name="Text 76"/>
          <p:cNvSpPr txBox="1"/>
          <p:nvPr/>
        </p:nvSpPr>
        <p:spPr>
          <a:xfrm>
            <a:off x="14621256" y="3619195"/>
            <a:ext cx="1762963"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Δ to target (nm)</a:t>
            </a:r>
            <a:endParaRPr lang="en-US" sz="1125" dirty="0"/>
          </a:p>
        </p:txBody>
      </p:sp>
      <p:sp>
        <p:nvSpPr>
          <p:cNvPr id="82" name="Shape 77"/>
          <p:cNvSpPr/>
          <p:nvPr/>
        </p:nvSpPr>
        <p:spPr>
          <a:xfrm>
            <a:off x="8953805" y="4720133"/>
            <a:ext cx="2009851" cy="9144"/>
          </a:xfrm>
          <a:prstGeom prst="rect">
            <a:avLst/>
          </a:prstGeom>
          <a:solidFill>
            <a:srgbClr val="E2DED5"/>
          </a:solidFill>
          <a:ln w="12700">
            <a:solidFill>
              <a:srgbClr val="E2DED5">
                <a:alpha val="0"/>
              </a:srgbClr>
            </a:solidFill>
            <a:prstDash val="solid"/>
          </a:ln>
        </p:spPr>
      </p:sp>
      <p:sp>
        <p:nvSpPr>
          <p:cNvPr id="83" name="Text 78"/>
          <p:cNvSpPr txBox="1"/>
          <p:nvPr/>
        </p:nvSpPr>
        <p:spPr>
          <a:xfrm>
            <a:off x="9315907" y="4091026"/>
            <a:ext cx="1647749"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W1 · Cu TaN</a:t>
            </a:r>
            <a:endParaRPr lang="en-US" sz="1500" dirty="0"/>
          </a:p>
        </p:txBody>
      </p:sp>
      <p:sp>
        <p:nvSpPr>
          <p:cNvPr id="84" name="Shape 79"/>
          <p:cNvSpPr/>
          <p:nvPr/>
        </p:nvSpPr>
        <p:spPr>
          <a:xfrm>
            <a:off x="10954512" y="4720133"/>
            <a:ext cx="1285646" cy="9144"/>
          </a:xfrm>
          <a:prstGeom prst="rect">
            <a:avLst/>
          </a:prstGeom>
          <a:solidFill>
            <a:srgbClr val="E2DED5"/>
          </a:solidFill>
          <a:ln w="12700">
            <a:solidFill>
              <a:srgbClr val="E2DED5">
                <a:alpha val="0"/>
              </a:srgbClr>
            </a:solidFill>
            <a:prstDash val="solid"/>
          </a:ln>
        </p:spPr>
      </p:sp>
      <p:sp>
        <p:nvSpPr>
          <p:cNvPr id="85" name="Text 80"/>
          <p:cNvSpPr txBox="1"/>
          <p:nvPr/>
        </p:nvSpPr>
        <p:spPr>
          <a:xfrm>
            <a:off x="10954512" y="4091026"/>
            <a:ext cx="12865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10.6</a:t>
            </a:r>
            <a:endParaRPr lang="en-US" sz="1500" dirty="0"/>
          </a:p>
        </p:txBody>
      </p:sp>
      <p:sp>
        <p:nvSpPr>
          <p:cNvPr id="86" name="Shape 81"/>
          <p:cNvSpPr/>
          <p:nvPr/>
        </p:nvSpPr>
        <p:spPr>
          <a:xfrm>
            <a:off x="12234672" y="4720133"/>
            <a:ext cx="1037844" cy="9144"/>
          </a:xfrm>
          <a:prstGeom prst="rect">
            <a:avLst/>
          </a:prstGeom>
          <a:solidFill>
            <a:srgbClr val="E2DED5"/>
          </a:solidFill>
          <a:ln w="12700">
            <a:solidFill>
              <a:srgbClr val="E2DED5">
                <a:alpha val="0"/>
              </a:srgbClr>
            </a:solidFill>
            <a:prstDash val="solid"/>
          </a:ln>
        </p:spPr>
      </p:sp>
      <p:sp>
        <p:nvSpPr>
          <p:cNvPr id="87" name="Text 82"/>
          <p:cNvSpPr txBox="1"/>
          <p:nvPr/>
        </p:nvSpPr>
        <p:spPr>
          <a:xfrm>
            <a:off x="12234672" y="4091026"/>
            <a:ext cx="1038758"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1.0</a:t>
            </a:r>
            <a:endParaRPr lang="en-US" sz="1500" dirty="0"/>
          </a:p>
        </p:txBody>
      </p:sp>
      <p:sp>
        <p:nvSpPr>
          <p:cNvPr id="88" name="Shape 83"/>
          <p:cNvSpPr/>
          <p:nvPr/>
        </p:nvSpPr>
        <p:spPr>
          <a:xfrm>
            <a:off x="13267944" y="4720133"/>
            <a:ext cx="1362456" cy="9144"/>
          </a:xfrm>
          <a:prstGeom prst="rect">
            <a:avLst/>
          </a:prstGeom>
          <a:solidFill>
            <a:srgbClr val="E2DED5"/>
          </a:solidFill>
          <a:ln w="12700">
            <a:solidFill>
              <a:srgbClr val="E2DED5">
                <a:alpha val="0"/>
              </a:srgbClr>
            </a:solidFill>
            <a:prstDash val="solid"/>
          </a:ln>
        </p:spPr>
      </p:sp>
      <p:sp>
        <p:nvSpPr>
          <p:cNvPr id="89" name="Text 84"/>
          <p:cNvSpPr txBox="1"/>
          <p:nvPr/>
        </p:nvSpPr>
        <p:spPr>
          <a:xfrm>
            <a:off x="13267944" y="4091026"/>
            <a:ext cx="1362456"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2.9</a:t>
            </a:r>
            <a:endParaRPr lang="en-US" sz="1500" dirty="0"/>
          </a:p>
        </p:txBody>
      </p:sp>
      <p:sp>
        <p:nvSpPr>
          <p:cNvPr id="90" name="Shape 85"/>
          <p:cNvSpPr/>
          <p:nvPr/>
        </p:nvSpPr>
        <p:spPr>
          <a:xfrm>
            <a:off x="14621256" y="4720133"/>
            <a:ext cx="1762049" cy="9144"/>
          </a:xfrm>
          <a:prstGeom prst="rect">
            <a:avLst/>
          </a:prstGeom>
          <a:solidFill>
            <a:srgbClr val="E2DED5"/>
          </a:solidFill>
          <a:ln w="12700">
            <a:solidFill>
              <a:srgbClr val="E2DED5">
                <a:alpha val="0"/>
              </a:srgbClr>
            </a:solidFill>
            <a:prstDash val="solid"/>
          </a:ln>
        </p:spPr>
      </p:sp>
      <p:sp>
        <p:nvSpPr>
          <p:cNvPr id="91" name="Text 86"/>
          <p:cNvSpPr txBox="1"/>
          <p:nvPr/>
        </p:nvSpPr>
        <p:spPr>
          <a:xfrm>
            <a:off x="14621256" y="4091026"/>
            <a:ext cx="1762963"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+0.6</a:t>
            </a:r>
            <a:endParaRPr lang="en-US" sz="1500" dirty="0"/>
          </a:p>
        </p:txBody>
      </p:sp>
      <p:sp>
        <p:nvSpPr>
          <p:cNvPr id="92" name="Shape 87"/>
          <p:cNvSpPr/>
          <p:nvPr/>
        </p:nvSpPr>
        <p:spPr>
          <a:xfrm>
            <a:off x="8953805" y="5353812"/>
            <a:ext cx="2009851" cy="9144"/>
          </a:xfrm>
          <a:prstGeom prst="rect">
            <a:avLst/>
          </a:prstGeom>
          <a:solidFill>
            <a:srgbClr val="E2DED5"/>
          </a:solidFill>
          <a:ln w="12700">
            <a:solidFill>
              <a:srgbClr val="E2DED5">
                <a:alpha val="0"/>
              </a:srgbClr>
            </a:solidFill>
            <a:prstDash val="solid"/>
          </a:ln>
        </p:spPr>
      </p:sp>
      <p:sp>
        <p:nvSpPr>
          <p:cNvPr id="93" name="Text 88"/>
          <p:cNvSpPr txBox="1"/>
          <p:nvPr/>
        </p:nvSpPr>
        <p:spPr>
          <a:xfrm>
            <a:off x="9315907" y="4724705"/>
            <a:ext cx="1647749"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W2 · Cu TiN</a:t>
            </a:r>
            <a:endParaRPr lang="en-US" sz="1500" dirty="0"/>
          </a:p>
        </p:txBody>
      </p:sp>
      <p:sp>
        <p:nvSpPr>
          <p:cNvPr id="94" name="Shape 89"/>
          <p:cNvSpPr/>
          <p:nvPr/>
        </p:nvSpPr>
        <p:spPr>
          <a:xfrm>
            <a:off x="10954512" y="5353812"/>
            <a:ext cx="1285646" cy="9144"/>
          </a:xfrm>
          <a:prstGeom prst="rect">
            <a:avLst/>
          </a:prstGeom>
          <a:solidFill>
            <a:srgbClr val="E2DED5"/>
          </a:solidFill>
          <a:ln w="12700">
            <a:solidFill>
              <a:srgbClr val="E2DED5">
                <a:alpha val="0"/>
              </a:srgbClr>
            </a:solidFill>
            <a:prstDash val="solid"/>
          </a:ln>
        </p:spPr>
      </p:sp>
      <p:sp>
        <p:nvSpPr>
          <p:cNvPr id="95" name="Text 90"/>
          <p:cNvSpPr txBox="1"/>
          <p:nvPr/>
        </p:nvSpPr>
        <p:spPr>
          <a:xfrm>
            <a:off x="10954512" y="4724705"/>
            <a:ext cx="12865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10.5</a:t>
            </a:r>
            <a:endParaRPr lang="en-US" sz="1500" dirty="0"/>
          </a:p>
        </p:txBody>
      </p:sp>
      <p:sp>
        <p:nvSpPr>
          <p:cNvPr id="96" name="Shape 91"/>
          <p:cNvSpPr/>
          <p:nvPr/>
        </p:nvSpPr>
        <p:spPr>
          <a:xfrm>
            <a:off x="12234672" y="5353812"/>
            <a:ext cx="1037844" cy="9144"/>
          </a:xfrm>
          <a:prstGeom prst="rect">
            <a:avLst/>
          </a:prstGeom>
          <a:solidFill>
            <a:srgbClr val="E2DED5"/>
          </a:solidFill>
          <a:ln w="12700">
            <a:solidFill>
              <a:srgbClr val="E2DED5">
                <a:alpha val="0"/>
              </a:srgbClr>
            </a:solidFill>
            <a:prstDash val="solid"/>
          </a:ln>
        </p:spPr>
      </p:sp>
      <p:sp>
        <p:nvSpPr>
          <p:cNvPr id="97" name="Text 92"/>
          <p:cNvSpPr txBox="1"/>
          <p:nvPr/>
        </p:nvSpPr>
        <p:spPr>
          <a:xfrm>
            <a:off x="12234672" y="4724705"/>
            <a:ext cx="1038758"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0.9</a:t>
            </a:r>
            <a:endParaRPr lang="en-US" sz="1500" dirty="0"/>
          </a:p>
        </p:txBody>
      </p:sp>
      <p:sp>
        <p:nvSpPr>
          <p:cNvPr id="98" name="Shape 93"/>
          <p:cNvSpPr/>
          <p:nvPr/>
        </p:nvSpPr>
        <p:spPr>
          <a:xfrm>
            <a:off x="13267944" y="5353812"/>
            <a:ext cx="1362456" cy="9144"/>
          </a:xfrm>
          <a:prstGeom prst="rect">
            <a:avLst/>
          </a:prstGeom>
          <a:solidFill>
            <a:srgbClr val="E2DED5"/>
          </a:solidFill>
          <a:ln w="12700">
            <a:solidFill>
              <a:srgbClr val="E2DED5">
                <a:alpha val="0"/>
              </a:srgbClr>
            </a:solidFill>
            <a:prstDash val="solid"/>
          </a:ln>
        </p:spPr>
      </p:sp>
      <p:sp>
        <p:nvSpPr>
          <p:cNvPr id="99" name="Text 94"/>
          <p:cNvSpPr txBox="1"/>
          <p:nvPr/>
        </p:nvSpPr>
        <p:spPr>
          <a:xfrm>
            <a:off x="13267944" y="4724705"/>
            <a:ext cx="1362456"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2.6</a:t>
            </a:r>
            <a:endParaRPr lang="en-US" sz="1500" dirty="0"/>
          </a:p>
        </p:txBody>
      </p:sp>
      <p:sp>
        <p:nvSpPr>
          <p:cNvPr id="100" name="Shape 95"/>
          <p:cNvSpPr/>
          <p:nvPr/>
        </p:nvSpPr>
        <p:spPr>
          <a:xfrm>
            <a:off x="14621256" y="5353812"/>
            <a:ext cx="1762049" cy="9144"/>
          </a:xfrm>
          <a:prstGeom prst="rect">
            <a:avLst/>
          </a:prstGeom>
          <a:solidFill>
            <a:srgbClr val="E2DED5"/>
          </a:solidFill>
          <a:ln w="12700">
            <a:solidFill>
              <a:srgbClr val="E2DED5">
                <a:alpha val="0"/>
              </a:srgbClr>
            </a:solidFill>
            <a:prstDash val="solid"/>
          </a:ln>
        </p:spPr>
      </p:sp>
      <p:sp>
        <p:nvSpPr>
          <p:cNvPr id="101" name="Text 96"/>
          <p:cNvSpPr txBox="1"/>
          <p:nvPr/>
        </p:nvSpPr>
        <p:spPr>
          <a:xfrm>
            <a:off x="14621256" y="4724705"/>
            <a:ext cx="1762963"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+0.5</a:t>
            </a:r>
            <a:endParaRPr lang="en-US" sz="1500" dirty="0"/>
          </a:p>
        </p:txBody>
      </p:sp>
      <p:sp>
        <p:nvSpPr>
          <p:cNvPr id="102" name="Shape 97"/>
          <p:cNvSpPr/>
          <p:nvPr/>
        </p:nvSpPr>
        <p:spPr>
          <a:xfrm>
            <a:off x="8953805" y="5988406"/>
            <a:ext cx="2009851" cy="9144"/>
          </a:xfrm>
          <a:prstGeom prst="rect">
            <a:avLst/>
          </a:prstGeom>
          <a:solidFill>
            <a:srgbClr val="E2DED5"/>
          </a:solidFill>
          <a:ln w="12700">
            <a:solidFill>
              <a:srgbClr val="E2DED5">
                <a:alpha val="0"/>
              </a:srgbClr>
            </a:solidFill>
            <a:prstDash val="solid"/>
          </a:ln>
        </p:spPr>
      </p:sp>
      <p:sp>
        <p:nvSpPr>
          <p:cNvPr id="103" name="Text 98"/>
          <p:cNvSpPr txBox="1"/>
          <p:nvPr/>
        </p:nvSpPr>
        <p:spPr>
          <a:xfrm>
            <a:off x="9315907" y="5359298"/>
            <a:ext cx="1647749"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W3 · Ru SADP</a:t>
            </a:r>
            <a:endParaRPr lang="en-US" sz="1500" dirty="0"/>
          </a:p>
        </p:txBody>
      </p:sp>
      <p:sp>
        <p:nvSpPr>
          <p:cNvPr id="104" name="Shape 99"/>
          <p:cNvSpPr/>
          <p:nvPr/>
        </p:nvSpPr>
        <p:spPr>
          <a:xfrm>
            <a:off x="10954512" y="5988406"/>
            <a:ext cx="1285646" cy="9144"/>
          </a:xfrm>
          <a:prstGeom prst="rect">
            <a:avLst/>
          </a:prstGeom>
          <a:solidFill>
            <a:srgbClr val="E2DED5"/>
          </a:solidFill>
          <a:ln w="12700">
            <a:solidFill>
              <a:srgbClr val="E2DED5">
                <a:alpha val="0"/>
              </a:srgbClr>
            </a:solidFill>
            <a:prstDash val="solid"/>
          </a:ln>
        </p:spPr>
      </p:sp>
      <p:sp>
        <p:nvSpPr>
          <p:cNvPr id="105" name="Text 100"/>
          <p:cNvSpPr txBox="1"/>
          <p:nvPr/>
        </p:nvSpPr>
        <p:spPr>
          <a:xfrm>
            <a:off x="10954512" y="5359298"/>
            <a:ext cx="1286561"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9.9</a:t>
            </a:r>
            <a:endParaRPr lang="en-US" sz="1500" dirty="0"/>
          </a:p>
        </p:txBody>
      </p:sp>
      <p:sp>
        <p:nvSpPr>
          <p:cNvPr id="106" name="Shape 101"/>
          <p:cNvSpPr/>
          <p:nvPr/>
        </p:nvSpPr>
        <p:spPr>
          <a:xfrm>
            <a:off x="12234672" y="5988406"/>
            <a:ext cx="1037844" cy="9144"/>
          </a:xfrm>
          <a:prstGeom prst="rect">
            <a:avLst/>
          </a:prstGeom>
          <a:solidFill>
            <a:srgbClr val="E2DED5"/>
          </a:solidFill>
          <a:ln w="12700">
            <a:solidFill>
              <a:srgbClr val="E2DED5">
                <a:alpha val="0"/>
              </a:srgbClr>
            </a:solidFill>
            <a:prstDash val="solid"/>
          </a:ln>
        </p:spPr>
      </p:sp>
      <p:sp>
        <p:nvSpPr>
          <p:cNvPr id="107" name="Text 102"/>
          <p:cNvSpPr txBox="1"/>
          <p:nvPr/>
        </p:nvSpPr>
        <p:spPr>
          <a:xfrm>
            <a:off x="12234672" y="5359298"/>
            <a:ext cx="1038758"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0.5</a:t>
            </a:r>
            <a:endParaRPr lang="en-US" sz="1500" dirty="0"/>
          </a:p>
        </p:txBody>
      </p:sp>
      <p:sp>
        <p:nvSpPr>
          <p:cNvPr id="108" name="Shape 103"/>
          <p:cNvSpPr/>
          <p:nvPr/>
        </p:nvSpPr>
        <p:spPr>
          <a:xfrm>
            <a:off x="13267944" y="5988406"/>
            <a:ext cx="1362456" cy="9144"/>
          </a:xfrm>
          <a:prstGeom prst="rect">
            <a:avLst/>
          </a:prstGeom>
          <a:solidFill>
            <a:srgbClr val="E2DED5"/>
          </a:solidFill>
          <a:ln w="12700">
            <a:solidFill>
              <a:srgbClr val="E2DED5">
                <a:alpha val="0"/>
              </a:srgbClr>
            </a:solidFill>
            <a:prstDash val="solid"/>
          </a:ln>
        </p:spPr>
      </p:sp>
      <p:sp>
        <p:nvSpPr>
          <p:cNvPr id="109" name="Text 104"/>
          <p:cNvSpPr txBox="1"/>
          <p:nvPr/>
        </p:nvSpPr>
        <p:spPr>
          <a:xfrm>
            <a:off x="13267944" y="5359298"/>
            <a:ext cx="1362456"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1.5</a:t>
            </a:r>
            <a:endParaRPr lang="en-US" sz="1500" dirty="0"/>
          </a:p>
        </p:txBody>
      </p:sp>
      <p:sp>
        <p:nvSpPr>
          <p:cNvPr id="110" name="Shape 105"/>
          <p:cNvSpPr/>
          <p:nvPr/>
        </p:nvSpPr>
        <p:spPr>
          <a:xfrm>
            <a:off x="14621256" y="5988406"/>
            <a:ext cx="1762049" cy="9144"/>
          </a:xfrm>
          <a:prstGeom prst="rect">
            <a:avLst/>
          </a:prstGeom>
          <a:solidFill>
            <a:srgbClr val="E2DED5"/>
          </a:solidFill>
          <a:ln w="12700">
            <a:solidFill>
              <a:srgbClr val="E2DED5">
                <a:alpha val="0"/>
              </a:srgbClr>
            </a:solidFill>
            <a:prstDash val="solid"/>
          </a:ln>
        </p:spPr>
      </p:sp>
      <p:sp>
        <p:nvSpPr>
          <p:cNvPr id="111" name="Text 106"/>
          <p:cNvSpPr txBox="1"/>
          <p:nvPr/>
        </p:nvSpPr>
        <p:spPr>
          <a:xfrm>
            <a:off x="14621256" y="5359298"/>
            <a:ext cx="1762963" cy="457200"/>
          </a:xfrm>
          <a:prstGeom prst="rect">
            <a:avLst/>
          </a:prstGeom>
          <a:solidFill>
            <a:srgbClr val="FFFFFF">
              <a:alpha val="0"/>
            </a:srgbClr>
          </a:solidFill>
          <a:ln>
            <a:solidFill>
              <a:srgbClr val="FFFFFF">
                <a:alpha val="0"/>
              </a:srgbClr>
            </a:solidFill>
          </a:ln>
        </p:spPr>
        <p:txBody>
          <a:bodyPr wrap="none" lIns="152400" tIns="177800" rIns="15240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−0.1</a:t>
            </a:r>
            <a:endParaRPr lang="en-US" sz="1500" dirty="0"/>
          </a:p>
        </p:txBody>
      </p:sp>
      <p:sp>
        <p:nvSpPr>
          <p:cNvPr id="112" name="Text 107"/>
          <p:cNvSpPr txBox="1"/>
          <p:nvPr/>
        </p:nvSpPr>
        <p:spPr>
          <a:xfrm>
            <a:off x="9315907" y="5992978"/>
            <a:ext cx="1647749" cy="638251"/>
          </a:xfrm>
          <a:prstGeom prst="rect">
            <a:avLst/>
          </a:prstGeom>
          <a:noFill/>
          <a:ln/>
        </p:spPr>
        <p:txBody>
          <a:bodyPr wrap="none" lIns="0" tIns="0" rIns="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W4 · Ru SADP</a:t>
            </a:r>
            <a:endParaRPr lang="en-US" sz="1500" dirty="0"/>
          </a:p>
        </p:txBody>
      </p:sp>
      <p:sp>
        <p:nvSpPr>
          <p:cNvPr id="113" name="Text 108"/>
          <p:cNvSpPr txBox="1"/>
          <p:nvPr/>
        </p:nvSpPr>
        <p:spPr>
          <a:xfrm>
            <a:off x="10954512" y="5992978"/>
            <a:ext cx="1286561" cy="638251"/>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10.0</a:t>
            </a:r>
            <a:endParaRPr lang="en-US" sz="1500" dirty="0"/>
          </a:p>
        </p:txBody>
      </p:sp>
      <p:sp>
        <p:nvSpPr>
          <p:cNvPr id="114" name="Text 109"/>
          <p:cNvSpPr txBox="1"/>
          <p:nvPr/>
        </p:nvSpPr>
        <p:spPr>
          <a:xfrm>
            <a:off x="12234672" y="5992978"/>
            <a:ext cx="1038758" cy="638251"/>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0.4</a:t>
            </a:r>
            <a:endParaRPr lang="en-US" sz="1500" dirty="0"/>
          </a:p>
        </p:txBody>
      </p:sp>
      <p:sp>
        <p:nvSpPr>
          <p:cNvPr id="115" name="Text 110"/>
          <p:cNvSpPr txBox="1"/>
          <p:nvPr/>
        </p:nvSpPr>
        <p:spPr>
          <a:xfrm>
            <a:off x="13267944" y="5992978"/>
            <a:ext cx="1362456" cy="638251"/>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1.3</a:t>
            </a:r>
            <a:endParaRPr lang="en-US" sz="1500" dirty="0"/>
          </a:p>
        </p:txBody>
      </p:sp>
      <p:sp>
        <p:nvSpPr>
          <p:cNvPr id="116" name="Text 111"/>
          <p:cNvSpPr txBox="1"/>
          <p:nvPr/>
        </p:nvSpPr>
        <p:spPr>
          <a:xfrm>
            <a:off x="14621256" y="5992978"/>
            <a:ext cx="1762963" cy="638251"/>
          </a:xfrm>
          <a:prstGeom prst="rect">
            <a:avLst/>
          </a:prstGeom>
          <a:noFill/>
          <a:ln/>
        </p:spPr>
        <p:txBody>
          <a:bodyPr wrap="none" lIns="0" tIns="0" rIns="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0.0</a:t>
            </a:r>
            <a:endParaRPr lang="en-US" sz="1500" dirty="0"/>
          </a:p>
        </p:txBody>
      </p:sp>
      <p:sp>
        <p:nvSpPr>
          <p:cNvPr id="117" name="Shape 112"/>
          <p:cNvSpPr/>
          <p:nvPr/>
        </p:nvSpPr>
        <p:spPr>
          <a:xfrm>
            <a:off x="9105595" y="4320540"/>
            <a:ext cx="75895" cy="228600"/>
          </a:xfrm>
          <a:prstGeom prst="rect">
            <a:avLst/>
          </a:prstGeom>
          <a:solidFill>
            <a:srgbClr val="B45F2D"/>
          </a:solidFill>
          <a:ln w="12700">
            <a:solidFill>
              <a:srgbClr val="FFFFFF">
                <a:alpha val="0"/>
              </a:srgbClr>
            </a:solidFill>
            <a:prstDash val="solid"/>
          </a:ln>
        </p:spPr>
      </p:sp>
      <p:sp>
        <p:nvSpPr>
          <p:cNvPr id="118" name="Shape 113"/>
          <p:cNvSpPr/>
          <p:nvPr/>
        </p:nvSpPr>
        <p:spPr>
          <a:xfrm>
            <a:off x="9105595" y="4954219"/>
            <a:ext cx="75895" cy="228600"/>
          </a:xfrm>
          <a:prstGeom prst="rect">
            <a:avLst/>
          </a:prstGeom>
          <a:solidFill>
            <a:srgbClr val="B45F2D"/>
          </a:solidFill>
          <a:ln w="12700">
            <a:solidFill>
              <a:srgbClr val="FFFFFF">
                <a:alpha val="0"/>
              </a:srgbClr>
            </a:solidFill>
            <a:prstDash val="solid"/>
          </a:ln>
        </p:spPr>
      </p:sp>
      <p:sp>
        <p:nvSpPr>
          <p:cNvPr id="119" name="Shape 114"/>
          <p:cNvSpPr/>
          <p:nvPr/>
        </p:nvSpPr>
        <p:spPr>
          <a:xfrm>
            <a:off x="9105595" y="5587898"/>
            <a:ext cx="75895" cy="228600"/>
          </a:xfrm>
          <a:prstGeom prst="rect">
            <a:avLst/>
          </a:prstGeom>
          <a:solidFill>
            <a:srgbClr val="355A6B"/>
          </a:solidFill>
          <a:ln w="12700">
            <a:solidFill>
              <a:srgbClr val="FFFFFF">
                <a:alpha val="0"/>
              </a:srgbClr>
            </a:solidFill>
            <a:prstDash val="solid"/>
          </a:ln>
        </p:spPr>
      </p:sp>
      <p:sp>
        <p:nvSpPr>
          <p:cNvPr id="120" name="Shape 115"/>
          <p:cNvSpPr/>
          <p:nvPr/>
        </p:nvSpPr>
        <p:spPr>
          <a:xfrm>
            <a:off x="9105595" y="6222492"/>
            <a:ext cx="75895" cy="228600"/>
          </a:xfrm>
          <a:prstGeom prst="rect">
            <a:avLst/>
          </a:prstGeom>
          <a:solidFill>
            <a:srgbClr val="355A6B"/>
          </a:solidFill>
          <a:ln w="12700">
            <a:solidFill>
              <a:srgbClr val="FFFFFF">
                <a:alpha val="0"/>
              </a:srgbClr>
            </a:solidFill>
            <a:prstDash val="solid"/>
          </a:ln>
        </p:spPr>
      </p:sp>
      <p:sp>
        <p:nvSpPr>
          <p:cNvPr id="121" name="Text 116"/>
          <p:cNvSpPr txBox="1"/>
          <p:nvPr/>
        </p:nvSpPr>
        <p:spPr>
          <a:xfrm>
            <a:off x="1143000" y="8419795"/>
            <a:ext cx="2286000" cy="181051"/>
          </a:xfrm>
          <a:prstGeom prst="rect">
            <a:avLst/>
          </a:prstGeom>
          <a:noFill/>
          <a:ln/>
        </p:spPr>
        <p:txBody>
          <a:bodyPr wrap="none" lIns="0" tIns="0" rIns="0" bIns="0" rtlCol="0" anchor="ctr"/>
          <a:lstStyle/>
          <a:p>
            <a:pPr algn="l" indent="0" marL="0">
              <a:buNone/>
            </a:pPr>
            <a:r>
              <a:rPr lang="en-US" sz="975" spc="273" kern="0" dirty="0">
                <a:solidFill>
                  <a:srgbClr val="9CC1CC"/>
                </a:solidFill>
                <a:latin typeface="Pretendard" pitchFamily="34" charset="0"/>
                <a:ea typeface="Pretendard" pitchFamily="34" charset="-122"/>
                <a:cs typeface="Pretendard" pitchFamily="34" charset="-120"/>
              </a:rPr>
              <a:t>KEY TAKEAWAY</a:t>
            </a:r>
            <a:endParaRPr lang="en-US" sz="975" dirty="0"/>
          </a:p>
        </p:txBody>
      </p:sp>
      <p:sp>
        <p:nvSpPr>
          <p:cNvPr id="122" name="Text 117"/>
          <p:cNvSpPr txBox="1"/>
          <p:nvPr/>
        </p:nvSpPr>
        <p:spPr>
          <a:xfrm>
            <a:off x="1143000" y="8744407"/>
            <a:ext cx="16002000" cy="324612"/>
          </a:xfrm>
          <a:prstGeom prst="rect">
            <a:avLst/>
          </a:prstGeom>
          <a:noFill/>
          <a:ln/>
        </p:spPr>
        <p:txBody>
          <a:bodyPr wrap="none" lIns="0" tIns="0" rIns="0" bIns="0" rtlCol="0" anchor="ctr"/>
          <a:lstStyle/>
          <a:p>
            <a:pPr algn="l" indent="0" marL="0">
              <a:buNone/>
            </a:pPr>
            <a:r>
              <a:rPr lang="en-US" sz="1800" dirty="0">
                <a:solidFill>
                  <a:srgbClr val="FFFFFF"/>
                </a:solidFill>
                <a:latin typeface="Pretendard" pitchFamily="34" charset="0"/>
                <a:ea typeface="Pretendard" pitchFamily="34" charset="-122"/>
                <a:cs typeface="Pretendard" pitchFamily="34" charset="-120"/>
              </a:rPr>
              <a:t>라인 단부 AMI/ACI에서도 Ru SD가 안정적, 특히 W4는 ACI 10.0 nm target에 정확히 hit + 3σ 0.4nm로 wafer 중 가장 좁은 변동.</a:t>
            </a:r>
            <a:endParaRPr lang="en-US" sz="1800" dirty="0"/>
          </a:p>
        </p:txBody>
      </p:sp>
      <p:sp>
        <p:nvSpPr>
          <p:cNvPr id="123" name="Text 118"/>
          <p:cNvSpPr txBox="1"/>
          <p:nvPr/>
        </p:nvSpPr>
        <p:spPr>
          <a:xfrm>
            <a:off x="761695" y="9696298"/>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247595"/>
            <a:ext cx="1524305" cy="28346"/>
          </a:xfrm>
          <a:prstGeom prst="rect">
            <a:avLst/>
          </a:prstGeom>
        </p:spPr>
      </p:pic>
      <p:sp>
        <p:nvSpPr>
          <p:cNvPr id="5" name="Shape 0"/>
          <p:cNvSpPr/>
          <p:nvPr/>
        </p:nvSpPr>
        <p:spPr>
          <a:xfrm>
            <a:off x="11811305" y="2857500"/>
            <a:ext cx="5715000" cy="2095805"/>
          </a:xfrm>
          <a:prstGeom prst="rect">
            <a:avLst/>
          </a:prstGeom>
          <a:solidFill>
            <a:srgbClr val="F2EFE7"/>
          </a:solidFill>
          <a:ln w="12700">
            <a:solidFill>
              <a:srgbClr val="FFFFFF">
                <a:alpha val="0"/>
              </a:srgbClr>
            </a:solidFill>
            <a:prstDash val="solid"/>
          </a:ln>
        </p:spPr>
      </p:sp>
      <p:sp>
        <p:nvSpPr>
          <p:cNvPr id="6" name="Shape 1"/>
          <p:cNvSpPr/>
          <p:nvPr/>
        </p:nvSpPr>
        <p:spPr>
          <a:xfrm>
            <a:off x="15430500" y="5715000"/>
            <a:ext cx="171907" cy="171907"/>
          </a:xfrm>
          <a:prstGeom prst="rect">
            <a:avLst/>
          </a:prstGeom>
          <a:solidFill>
            <a:srgbClr val="7A9099"/>
          </a:solidFill>
          <a:ln w="12700">
            <a:solidFill>
              <a:srgbClr val="FFFFFF">
                <a:alpha val="0"/>
              </a:srgbClr>
            </a:solidFill>
            <a:prstDash val="solid"/>
          </a:ln>
        </p:spPr>
      </p:sp>
      <p:sp>
        <p:nvSpPr>
          <p:cNvPr id="7" name="Shape 2"/>
          <p:cNvSpPr/>
          <p:nvPr/>
        </p:nvSpPr>
        <p:spPr>
          <a:xfrm>
            <a:off x="15430500" y="6019495"/>
            <a:ext cx="171907" cy="171907"/>
          </a:xfrm>
          <a:prstGeom prst="rect">
            <a:avLst/>
          </a:prstGeom>
          <a:solidFill>
            <a:srgbClr val="B49067"/>
          </a:solidFill>
          <a:ln w="12700">
            <a:solidFill>
              <a:srgbClr val="FFFFFF">
                <a:alpha val="0"/>
              </a:srgbClr>
            </a:solidFill>
            <a:prstDash val="solid"/>
          </a:ln>
        </p:spPr>
      </p:sp>
      <p:sp>
        <p:nvSpPr>
          <p:cNvPr id="8" name="Shape 3"/>
          <p:cNvSpPr/>
          <p:nvPr/>
        </p:nvSpPr>
        <p:spPr>
          <a:xfrm>
            <a:off x="15430500" y="6324905"/>
            <a:ext cx="171907" cy="171907"/>
          </a:xfrm>
          <a:prstGeom prst="rect">
            <a:avLst/>
          </a:prstGeom>
          <a:solidFill>
            <a:srgbClr val="B45F2D"/>
          </a:solidFill>
          <a:ln w="12700">
            <a:solidFill>
              <a:srgbClr val="FFFFFF">
                <a:alpha val="0"/>
              </a:srgbClr>
            </a:solidFill>
            <a:prstDash val="solid"/>
          </a:ln>
        </p:spPr>
      </p:sp>
      <p:sp>
        <p:nvSpPr>
          <p:cNvPr id="9" name="Shape 4"/>
          <p:cNvSpPr/>
          <p:nvPr/>
        </p:nvSpPr>
        <p:spPr>
          <a:xfrm>
            <a:off x="15430500" y="6629400"/>
            <a:ext cx="171907" cy="171907"/>
          </a:xfrm>
          <a:prstGeom prst="rect">
            <a:avLst/>
          </a:prstGeom>
          <a:solidFill>
            <a:srgbClr val="7E3F1F"/>
          </a:solidFill>
          <a:ln w="12700">
            <a:solidFill>
              <a:srgbClr val="FFFFFF">
                <a:alpha val="0"/>
              </a:srgbClr>
            </a:solidFill>
            <a:prstDash val="solid"/>
          </a:ln>
        </p:spPr>
      </p:sp>
      <p:sp>
        <p:nvSpPr>
          <p:cNvPr id="10" name="Shape 5"/>
          <p:cNvSpPr/>
          <p:nvPr/>
        </p:nvSpPr>
        <p:spPr>
          <a:xfrm>
            <a:off x="761695" y="9105595"/>
            <a:ext cx="16763695" cy="552298"/>
          </a:xfrm>
          <a:prstGeom prst="rect">
            <a:avLst/>
          </a:prstGeom>
          <a:solidFill>
            <a:srgbClr val="2D5466"/>
          </a:solidFill>
          <a:ln w="12700">
            <a:solidFill>
              <a:srgbClr val="FFFFFF">
                <a:alpha val="0"/>
              </a:srgbClr>
            </a:solidFill>
            <a:prstDash val="solid"/>
          </a:ln>
        </p:spPr>
      </p:sp>
      <p:pic>
        <p:nvPicPr>
          <p:cNvPr id="11" name="Image 2" descr="gen-dedup-ea0a96c0e4cbca16d4c73e47a73fc862.jpg">    </p:cNvPr>
          <p:cNvPicPr>
            <a:picLocks noChangeAspect="1"/>
          </p:cNvPicPr>
          <p:nvPr/>
        </p:nvPicPr>
        <p:blipFill>
          <a:blip r:embed="rId3"/>
          <a:stretch>
            <a:fillRect/>
          </a:stretch>
        </p:blipFill>
        <p:spPr>
          <a:xfrm>
            <a:off x="1904695" y="5619902"/>
            <a:ext cx="3047695" cy="3047695"/>
          </a:xfrm>
          <a:prstGeom prst="rect">
            <a:avLst/>
          </a:prstGeom>
        </p:spPr>
      </p:pic>
      <p:pic>
        <p:nvPicPr>
          <p:cNvPr id="12" name="Image 3" descr="gen-dedup-223cce14c43fbb82250aa205b774cadc.jpg">    </p:cNvPr>
          <p:cNvPicPr>
            <a:picLocks noChangeAspect="1"/>
          </p:cNvPicPr>
          <p:nvPr/>
        </p:nvPicPr>
        <p:blipFill>
          <a:blip r:embed="rId4"/>
          <a:stretch>
            <a:fillRect/>
          </a:stretch>
        </p:blipFill>
        <p:spPr>
          <a:xfrm>
            <a:off x="5333695" y="5619902"/>
            <a:ext cx="3047695" cy="3047695"/>
          </a:xfrm>
          <a:prstGeom prst="rect">
            <a:avLst/>
          </a:prstGeom>
        </p:spPr>
      </p:pic>
      <p:pic>
        <p:nvPicPr>
          <p:cNvPr id="13" name="Image 4" descr="gen-dedup-c81d1126128eb98521f8b984dce19a47.jpg">    </p:cNvPr>
          <p:cNvPicPr>
            <a:picLocks noChangeAspect="1"/>
          </p:cNvPicPr>
          <p:nvPr/>
        </p:nvPicPr>
        <p:blipFill>
          <a:blip r:embed="rId5"/>
          <a:stretch>
            <a:fillRect/>
          </a:stretch>
        </p:blipFill>
        <p:spPr>
          <a:xfrm>
            <a:off x="8762695" y="5619902"/>
            <a:ext cx="3047695" cy="3047695"/>
          </a:xfrm>
          <a:prstGeom prst="rect">
            <a:avLst/>
          </a:prstGeom>
        </p:spPr>
      </p:pic>
      <p:pic>
        <p:nvPicPr>
          <p:cNvPr id="14" name="Image 5" descr="gen-dedup-2f326a0805809c78e1cb3218287796b9.jpg">    </p:cNvPr>
          <p:cNvPicPr>
            <a:picLocks noChangeAspect="1"/>
          </p:cNvPicPr>
          <p:nvPr/>
        </p:nvPicPr>
        <p:blipFill>
          <a:blip r:embed="rId6"/>
          <a:stretch>
            <a:fillRect/>
          </a:stretch>
        </p:blipFill>
        <p:spPr>
          <a:xfrm>
            <a:off x="12191695" y="5619902"/>
            <a:ext cx="3047695" cy="3047695"/>
          </a:xfrm>
          <a:prstGeom prst="rect">
            <a:avLst/>
          </a:prstGeom>
        </p:spPr>
      </p:pic>
      <p:sp>
        <p:nvSpPr>
          <p:cNvPr id="15" name="Text 6"/>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WIW UNIFORMITY</a:t>
            </a:r>
            <a:endParaRPr lang="en-US" sz="900" dirty="0"/>
          </a:p>
        </p:txBody>
      </p:sp>
      <p:sp>
        <p:nvSpPr>
          <p:cNvPr id="16" name="Text 7"/>
          <p:cNvSpPr txBox="1"/>
          <p:nvPr/>
        </p:nvSpPr>
        <p:spPr>
          <a:xfrm>
            <a:off x="761695" y="1028700"/>
            <a:ext cx="15240305" cy="486461"/>
          </a:xfrm>
          <a:prstGeom prst="rect">
            <a:avLst/>
          </a:prstGeom>
          <a:noFill/>
          <a:ln/>
        </p:spPr>
        <p:txBody>
          <a:bodyPr wrap="none" lIns="0" tIns="0" rIns="0" bIns="0" rtlCol="0" anchor="ctr"/>
          <a:lstStyle/>
          <a:p>
            <a:pPr algn="l" indent="0" marL="0">
              <a:buNone/>
            </a:pPr>
            <a:r>
              <a:rPr lang="en-US" sz="3450" b="1" spc="-34" kern="0" dirty="0">
                <a:solidFill>
                  <a:srgbClr val="1A1D22"/>
                </a:solidFill>
                <a:latin typeface="Pretendard" pitchFamily="34" charset="0"/>
                <a:ea typeface="Pretendard" pitchFamily="34" charset="-122"/>
                <a:cs typeface="Pretendard" pitchFamily="34" charset="-120"/>
              </a:rPr>
              <a:t>In-wafer 균일도 &amp; 49pt wafer map</a:t>
            </a:r>
            <a:endParaRPr lang="en-US" sz="3450" dirty="0"/>
          </a:p>
        </p:txBody>
      </p:sp>
      <p:sp>
        <p:nvSpPr>
          <p:cNvPr id="17" name="Text 8"/>
          <p:cNvSpPr txBox="1"/>
          <p:nvPr/>
        </p:nvSpPr>
        <p:spPr>
          <a:xfrm>
            <a:off x="761695" y="1644091"/>
            <a:ext cx="15240305"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49 site 측정 기반 면내 통계 · wafer 별 mean · WIW 3σ · max-min range</a:t>
            </a:r>
            <a:endParaRPr lang="en-US" sz="1500" dirty="0"/>
          </a:p>
        </p:txBody>
      </p:sp>
      <p:sp>
        <p:nvSpPr>
          <p:cNvPr id="18" name="Text 9"/>
          <p:cNvSpPr txBox="1"/>
          <p:nvPr/>
        </p:nvSpPr>
        <p:spPr>
          <a:xfrm>
            <a:off x="761695" y="2514600"/>
            <a:ext cx="1047811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WITHIN-WAFER UNIFORMITY · 49 SITE AVG</a:t>
            </a:r>
            <a:endParaRPr lang="en-US" sz="975" dirty="0"/>
          </a:p>
        </p:txBody>
      </p:sp>
      <p:sp>
        <p:nvSpPr>
          <p:cNvPr id="19" name="Shape 10"/>
          <p:cNvSpPr/>
          <p:nvPr/>
        </p:nvSpPr>
        <p:spPr>
          <a:xfrm>
            <a:off x="761695" y="2857500"/>
            <a:ext cx="2848356" cy="476402"/>
          </a:xfrm>
          <a:prstGeom prst="rect">
            <a:avLst/>
          </a:prstGeom>
          <a:solidFill>
            <a:srgbClr val="F2EFE7"/>
          </a:solidFill>
          <a:ln/>
        </p:spPr>
      </p:sp>
      <p:sp>
        <p:nvSpPr>
          <p:cNvPr id="20" name="Shape 11"/>
          <p:cNvSpPr/>
          <p:nvPr/>
        </p:nvSpPr>
        <p:spPr>
          <a:xfrm>
            <a:off x="761695" y="3324758"/>
            <a:ext cx="2848356" cy="9144"/>
          </a:xfrm>
          <a:prstGeom prst="rect">
            <a:avLst/>
          </a:prstGeom>
          <a:solidFill>
            <a:srgbClr val="1A1D22"/>
          </a:solidFill>
          <a:ln w="12700">
            <a:solidFill>
              <a:srgbClr val="1A1D22">
                <a:alpha val="0"/>
              </a:srgbClr>
            </a:solidFill>
            <a:prstDash val="solid"/>
          </a:ln>
        </p:spPr>
      </p:sp>
      <p:sp>
        <p:nvSpPr>
          <p:cNvPr id="21" name="Text 12"/>
          <p:cNvSpPr txBox="1"/>
          <p:nvPr/>
        </p:nvSpPr>
        <p:spPr>
          <a:xfrm>
            <a:off x="761695" y="2857500"/>
            <a:ext cx="2848356"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l" indent="0" marL="0">
              <a:buNone/>
            </a:pPr>
            <a:r>
              <a:rPr lang="en-US" sz="1125" b="1" spc="135" kern="0" dirty="0">
                <a:solidFill>
                  <a:srgbClr val="1A1D22"/>
                </a:solidFill>
                <a:latin typeface="Pretendard" pitchFamily="34" charset="0"/>
                <a:ea typeface="Pretendard" pitchFamily="34" charset="-122"/>
                <a:cs typeface="Pretendard" pitchFamily="34" charset="-120"/>
              </a:rPr>
              <a:t>Wafer</a:t>
            </a:r>
            <a:endParaRPr lang="en-US" sz="1125" dirty="0"/>
          </a:p>
        </p:txBody>
      </p:sp>
      <p:sp>
        <p:nvSpPr>
          <p:cNvPr id="22" name="Shape 13"/>
          <p:cNvSpPr/>
          <p:nvPr/>
        </p:nvSpPr>
        <p:spPr>
          <a:xfrm>
            <a:off x="3608222" y="2857500"/>
            <a:ext cx="2247595" cy="476402"/>
          </a:xfrm>
          <a:prstGeom prst="rect">
            <a:avLst/>
          </a:prstGeom>
          <a:solidFill>
            <a:srgbClr val="F2EFE7"/>
          </a:solidFill>
          <a:ln/>
        </p:spPr>
      </p:sp>
      <p:sp>
        <p:nvSpPr>
          <p:cNvPr id="23" name="Shape 14"/>
          <p:cNvSpPr/>
          <p:nvPr/>
        </p:nvSpPr>
        <p:spPr>
          <a:xfrm>
            <a:off x="3608222" y="3324758"/>
            <a:ext cx="2247595" cy="9144"/>
          </a:xfrm>
          <a:prstGeom prst="rect">
            <a:avLst/>
          </a:prstGeom>
          <a:solidFill>
            <a:srgbClr val="1A1D22"/>
          </a:solidFill>
          <a:ln w="12700">
            <a:solidFill>
              <a:srgbClr val="1A1D22">
                <a:alpha val="0"/>
              </a:srgbClr>
            </a:solidFill>
            <a:prstDash val="solid"/>
          </a:ln>
        </p:spPr>
      </p:sp>
      <p:sp>
        <p:nvSpPr>
          <p:cNvPr id="24" name="Text 15"/>
          <p:cNvSpPr txBox="1"/>
          <p:nvPr/>
        </p:nvSpPr>
        <p:spPr>
          <a:xfrm>
            <a:off x="3608222" y="2857500"/>
            <a:ext cx="2248510"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Mean CD (nm)</a:t>
            </a:r>
            <a:endParaRPr lang="en-US" sz="1125" dirty="0"/>
          </a:p>
        </p:txBody>
      </p:sp>
      <p:sp>
        <p:nvSpPr>
          <p:cNvPr id="25" name="Shape 16"/>
          <p:cNvSpPr/>
          <p:nvPr/>
        </p:nvSpPr>
        <p:spPr>
          <a:xfrm>
            <a:off x="5846674" y="2857500"/>
            <a:ext cx="1781251" cy="476402"/>
          </a:xfrm>
          <a:prstGeom prst="rect">
            <a:avLst/>
          </a:prstGeom>
          <a:solidFill>
            <a:srgbClr val="F2EFE7"/>
          </a:solidFill>
          <a:ln/>
        </p:spPr>
      </p:sp>
      <p:sp>
        <p:nvSpPr>
          <p:cNvPr id="26" name="Shape 17"/>
          <p:cNvSpPr/>
          <p:nvPr/>
        </p:nvSpPr>
        <p:spPr>
          <a:xfrm>
            <a:off x="5846674" y="3324758"/>
            <a:ext cx="1781251" cy="9144"/>
          </a:xfrm>
          <a:prstGeom prst="rect">
            <a:avLst/>
          </a:prstGeom>
          <a:solidFill>
            <a:srgbClr val="1A1D22"/>
          </a:solidFill>
          <a:ln w="12700">
            <a:solidFill>
              <a:srgbClr val="1A1D22">
                <a:alpha val="0"/>
              </a:srgbClr>
            </a:solidFill>
            <a:prstDash val="solid"/>
          </a:ln>
        </p:spPr>
      </p:sp>
      <p:sp>
        <p:nvSpPr>
          <p:cNvPr id="27" name="Text 18"/>
          <p:cNvSpPr txBox="1"/>
          <p:nvPr/>
        </p:nvSpPr>
        <p:spPr>
          <a:xfrm>
            <a:off x="5846674" y="2857500"/>
            <a:ext cx="1781251"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Overall 3σ</a:t>
            </a:r>
            <a:endParaRPr lang="en-US" sz="1125" dirty="0"/>
          </a:p>
        </p:txBody>
      </p:sp>
      <p:sp>
        <p:nvSpPr>
          <p:cNvPr id="28" name="Shape 19"/>
          <p:cNvSpPr/>
          <p:nvPr/>
        </p:nvSpPr>
        <p:spPr>
          <a:xfrm>
            <a:off x="7622438" y="2857500"/>
            <a:ext cx="1419149" cy="476402"/>
          </a:xfrm>
          <a:prstGeom prst="rect">
            <a:avLst/>
          </a:prstGeom>
          <a:solidFill>
            <a:srgbClr val="F2EFE7"/>
          </a:solidFill>
          <a:ln/>
        </p:spPr>
      </p:sp>
      <p:sp>
        <p:nvSpPr>
          <p:cNvPr id="29" name="Shape 20"/>
          <p:cNvSpPr/>
          <p:nvPr/>
        </p:nvSpPr>
        <p:spPr>
          <a:xfrm>
            <a:off x="7622438" y="3324758"/>
            <a:ext cx="1419149" cy="9144"/>
          </a:xfrm>
          <a:prstGeom prst="rect">
            <a:avLst/>
          </a:prstGeom>
          <a:solidFill>
            <a:srgbClr val="1A1D22"/>
          </a:solidFill>
          <a:ln w="12700">
            <a:solidFill>
              <a:srgbClr val="1A1D22">
                <a:alpha val="0"/>
              </a:srgbClr>
            </a:solidFill>
            <a:prstDash val="solid"/>
          </a:ln>
        </p:spPr>
      </p:sp>
      <p:sp>
        <p:nvSpPr>
          <p:cNvPr id="30" name="Text 21"/>
          <p:cNvSpPr txBox="1"/>
          <p:nvPr/>
        </p:nvSpPr>
        <p:spPr>
          <a:xfrm>
            <a:off x="7622438" y="2857500"/>
            <a:ext cx="1420063"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WIW 3σ</a:t>
            </a:r>
            <a:endParaRPr lang="en-US" sz="1125" dirty="0"/>
          </a:p>
        </p:txBody>
      </p:sp>
      <p:sp>
        <p:nvSpPr>
          <p:cNvPr id="31" name="Shape 22"/>
          <p:cNvSpPr/>
          <p:nvPr/>
        </p:nvSpPr>
        <p:spPr>
          <a:xfrm>
            <a:off x="9033358" y="2857500"/>
            <a:ext cx="2210105" cy="476402"/>
          </a:xfrm>
          <a:prstGeom prst="rect">
            <a:avLst/>
          </a:prstGeom>
          <a:solidFill>
            <a:srgbClr val="F2EFE7"/>
          </a:solidFill>
          <a:ln/>
        </p:spPr>
      </p:sp>
      <p:sp>
        <p:nvSpPr>
          <p:cNvPr id="32" name="Shape 23"/>
          <p:cNvSpPr/>
          <p:nvPr/>
        </p:nvSpPr>
        <p:spPr>
          <a:xfrm>
            <a:off x="9033358" y="3324758"/>
            <a:ext cx="2210105" cy="9144"/>
          </a:xfrm>
          <a:prstGeom prst="rect">
            <a:avLst/>
          </a:prstGeom>
          <a:solidFill>
            <a:srgbClr val="1A1D22"/>
          </a:solidFill>
          <a:ln w="12700">
            <a:solidFill>
              <a:srgbClr val="1A1D22">
                <a:alpha val="0"/>
              </a:srgbClr>
            </a:solidFill>
            <a:prstDash val="solid"/>
          </a:ln>
        </p:spPr>
      </p:sp>
      <p:sp>
        <p:nvSpPr>
          <p:cNvPr id="33" name="Text 24"/>
          <p:cNvSpPr txBox="1"/>
          <p:nvPr/>
        </p:nvSpPr>
        <p:spPr>
          <a:xfrm>
            <a:off x="9033358" y="2857500"/>
            <a:ext cx="2210105" cy="333756"/>
          </a:xfrm>
          <a:prstGeom prst="rect">
            <a:avLst/>
          </a:prstGeom>
          <a:solidFill>
            <a:srgbClr val="FFFFFF">
              <a:alpha val="0"/>
            </a:srgbClr>
          </a:solidFill>
          <a:ln>
            <a:solidFill>
              <a:srgbClr val="FFFFFF">
                <a:alpha val="0"/>
              </a:srgbClr>
            </a:solidFill>
          </a:ln>
        </p:spPr>
        <p:txBody>
          <a:bodyPr wrap="none" lIns="152400" tIns="139700" rIns="152400" bIns="0" rtlCol="0" anchor="ctr"/>
          <a:lstStyle/>
          <a:p>
            <a:pPr algn="r" indent="0" marL="0">
              <a:buNone/>
            </a:pPr>
            <a:r>
              <a:rPr lang="en-US" sz="1125" b="1" spc="68" kern="0" dirty="0">
                <a:solidFill>
                  <a:srgbClr val="1A1D22"/>
                </a:solidFill>
                <a:latin typeface="Pretendard" pitchFamily="34" charset="0"/>
                <a:ea typeface="Pretendard" pitchFamily="34" charset="-122"/>
                <a:cs typeface="Pretendard" pitchFamily="34" charset="-120"/>
              </a:rPr>
              <a:t>Max-Min (nm)</a:t>
            </a:r>
            <a:endParaRPr lang="en-US" sz="1125" dirty="0"/>
          </a:p>
        </p:txBody>
      </p:sp>
      <p:sp>
        <p:nvSpPr>
          <p:cNvPr id="34" name="Shape 25"/>
          <p:cNvSpPr/>
          <p:nvPr/>
        </p:nvSpPr>
        <p:spPr>
          <a:xfrm>
            <a:off x="761695" y="3910889"/>
            <a:ext cx="2848356" cy="9144"/>
          </a:xfrm>
          <a:prstGeom prst="rect">
            <a:avLst/>
          </a:prstGeom>
          <a:solidFill>
            <a:srgbClr val="E2DED5"/>
          </a:solidFill>
          <a:ln w="12700">
            <a:solidFill>
              <a:srgbClr val="E2DED5">
                <a:alpha val="0"/>
              </a:srgbClr>
            </a:solidFill>
            <a:prstDash val="solid"/>
          </a:ln>
        </p:spPr>
      </p:sp>
      <p:sp>
        <p:nvSpPr>
          <p:cNvPr id="35" name="Text 26"/>
          <p:cNvSpPr txBox="1"/>
          <p:nvPr/>
        </p:nvSpPr>
        <p:spPr>
          <a:xfrm>
            <a:off x="1123798" y="3329330"/>
            <a:ext cx="2486254"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W1 · Cu TaN</a:t>
            </a:r>
            <a:endParaRPr lang="en-US" sz="1500" dirty="0"/>
          </a:p>
        </p:txBody>
      </p:sp>
      <p:sp>
        <p:nvSpPr>
          <p:cNvPr id="36" name="Shape 27"/>
          <p:cNvSpPr/>
          <p:nvPr/>
        </p:nvSpPr>
        <p:spPr>
          <a:xfrm>
            <a:off x="3608222" y="3910889"/>
            <a:ext cx="2247595" cy="9144"/>
          </a:xfrm>
          <a:prstGeom prst="rect">
            <a:avLst/>
          </a:prstGeom>
          <a:solidFill>
            <a:srgbClr val="E2DED5"/>
          </a:solidFill>
          <a:ln w="12700">
            <a:solidFill>
              <a:srgbClr val="E2DED5">
                <a:alpha val="0"/>
              </a:srgbClr>
            </a:solidFill>
            <a:prstDash val="solid"/>
          </a:ln>
        </p:spPr>
      </p:sp>
      <p:sp>
        <p:nvSpPr>
          <p:cNvPr id="37" name="Text 28"/>
          <p:cNvSpPr txBox="1"/>
          <p:nvPr/>
        </p:nvSpPr>
        <p:spPr>
          <a:xfrm>
            <a:off x="3608222" y="3329330"/>
            <a:ext cx="2248510"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25.4</a:t>
            </a:r>
            <a:endParaRPr lang="en-US" sz="1500" dirty="0"/>
          </a:p>
        </p:txBody>
      </p:sp>
      <p:sp>
        <p:nvSpPr>
          <p:cNvPr id="38" name="Shape 29"/>
          <p:cNvSpPr/>
          <p:nvPr/>
        </p:nvSpPr>
        <p:spPr>
          <a:xfrm>
            <a:off x="5846674" y="3910889"/>
            <a:ext cx="1781251" cy="9144"/>
          </a:xfrm>
          <a:prstGeom prst="rect">
            <a:avLst/>
          </a:prstGeom>
          <a:solidFill>
            <a:srgbClr val="E2DED5"/>
          </a:solidFill>
          <a:ln w="12700">
            <a:solidFill>
              <a:srgbClr val="E2DED5">
                <a:alpha val="0"/>
              </a:srgbClr>
            </a:solidFill>
            <a:prstDash val="solid"/>
          </a:ln>
        </p:spPr>
      </p:sp>
      <p:sp>
        <p:nvSpPr>
          <p:cNvPr id="39" name="Text 30"/>
          <p:cNvSpPr txBox="1"/>
          <p:nvPr/>
        </p:nvSpPr>
        <p:spPr>
          <a:xfrm>
            <a:off x="5846674" y="3329330"/>
            <a:ext cx="1781251"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1.8</a:t>
            </a:r>
            <a:endParaRPr lang="en-US" sz="1500" dirty="0"/>
          </a:p>
        </p:txBody>
      </p:sp>
      <p:sp>
        <p:nvSpPr>
          <p:cNvPr id="40" name="Shape 31"/>
          <p:cNvSpPr/>
          <p:nvPr/>
        </p:nvSpPr>
        <p:spPr>
          <a:xfrm>
            <a:off x="7622438" y="3910889"/>
            <a:ext cx="1419149" cy="9144"/>
          </a:xfrm>
          <a:prstGeom prst="rect">
            <a:avLst/>
          </a:prstGeom>
          <a:solidFill>
            <a:srgbClr val="E2DED5"/>
          </a:solidFill>
          <a:ln w="12700">
            <a:solidFill>
              <a:srgbClr val="E2DED5">
                <a:alpha val="0"/>
              </a:srgbClr>
            </a:solidFill>
            <a:prstDash val="solid"/>
          </a:ln>
        </p:spPr>
      </p:sp>
      <p:sp>
        <p:nvSpPr>
          <p:cNvPr id="41" name="Text 32"/>
          <p:cNvSpPr txBox="1"/>
          <p:nvPr/>
        </p:nvSpPr>
        <p:spPr>
          <a:xfrm>
            <a:off x="7622438" y="3329330"/>
            <a:ext cx="1420063"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1.6</a:t>
            </a:r>
            <a:endParaRPr lang="en-US" sz="1500" dirty="0"/>
          </a:p>
        </p:txBody>
      </p:sp>
      <p:sp>
        <p:nvSpPr>
          <p:cNvPr id="42" name="Shape 33"/>
          <p:cNvSpPr/>
          <p:nvPr/>
        </p:nvSpPr>
        <p:spPr>
          <a:xfrm>
            <a:off x="9033358" y="3910889"/>
            <a:ext cx="2210105" cy="9144"/>
          </a:xfrm>
          <a:prstGeom prst="rect">
            <a:avLst/>
          </a:prstGeom>
          <a:solidFill>
            <a:srgbClr val="E2DED5"/>
          </a:solidFill>
          <a:ln w="12700">
            <a:solidFill>
              <a:srgbClr val="E2DED5">
                <a:alpha val="0"/>
              </a:srgbClr>
            </a:solidFill>
            <a:prstDash val="solid"/>
          </a:ln>
        </p:spPr>
      </p:sp>
      <p:sp>
        <p:nvSpPr>
          <p:cNvPr id="43" name="Text 34"/>
          <p:cNvSpPr txBox="1"/>
          <p:nvPr/>
        </p:nvSpPr>
        <p:spPr>
          <a:xfrm>
            <a:off x="9033358" y="3329330"/>
            <a:ext cx="2210105"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5.6</a:t>
            </a:r>
            <a:endParaRPr lang="en-US" sz="1500" dirty="0"/>
          </a:p>
        </p:txBody>
      </p:sp>
      <p:sp>
        <p:nvSpPr>
          <p:cNvPr id="44" name="Shape 35"/>
          <p:cNvSpPr/>
          <p:nvPr/>
        </p:nvSpPr>
        <p:spPr>
          <a:xfrm>
            <a:off x="761695" y="4500677"/>
            <a:ext cx="2848356" cy="9144"/>
          </a:xfrm>
          <a:prstGeom prst="rect">
            <a:avLst/>
          </a:prstGeom>
          <a:solidFill>
            <a:srgbClr val="E2DED5"/>
          </a:solidFill>
          <a:ln w="12700">
            <a:solidFill>
              <a:srgbClr val="E2DED5">
                <a:alpha val="0"/>
              </a:srgbClr>
            </a:solidFill>
            <a:prstDash val="solid"/>
          </a:ln>
        </p:spPr>
      </p:sp>
      <p:sp>
        <p:nvSpPr>
          <p:cNvPr id="45" name="Text 36"/>
          <p:cNvSpPr txBox="1"/>
          <p:nvPr/>
        </p:nvSpPr>
        <p:spPr>
          <a:xfrm>
            <a:off x="1123798" y="3919118"/>
            <a:ext cx="2486254"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W2 · Cu TiN</a:t>
            </a:r>
            <a:endParaRPr lang="en-US" sz="1500" dirty="0"/>
          </a:p>
        </p:txBody>
      </p:sp>
      <p:sp>
        <p:nvSpPr>
          <p:cNvPr id="46" name="Shape 37"/>
          <p:cNvSpPr/>
          <p:nvPr/>
        </p:nvSpPr>
        <p:spPr>
          <a:xfrm>
            <a:off x="3608222" y="4500677"/>
            <a:ext cx="2247595" cy="9144"/>
          </a:xfrm>
          <a:prstGeom prst="rect">
            <a:avLst/>
          </a:prstGeom>
          <a:solidFill>
            <a:srgbClr val="E2DED5"/>
          </a:solidFill>
          <a:ln w="12700">
            <a:solidFill>
              <a:srgbClr val="E2DED5">
                <a:alpha val="0"/>
              </a:srgbClr>
            </a:solidFill>
            <a:prstDash val="solid"/>
          </a:ln>
        </p:spPr>
      </p:sp>
      <p:sp>
        <p:nvSpPr>
          <p:cNvPr id="47" name="Text 38"/>
          <p:cNvSpPr txBox="1"/>
          <p:nvPr/>
        </p:nvSpPr>
        <p:spPr>
          <a:xfrm>
            <a:off x="3608222" y="3919118"/>
            <a:ext cx="2248510"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25.1</a:t>
            </a:r>
            <a:endParaRPr lang="en-US" sz="1500" dirty="0"/>
          </a:p>
        </p:txBody>
      </p:sp>
      <p:sp>
        <p:nvSpPr>
          <p:cNvPr id="48" name="Shape 39"/>
          <p:cNvSpPr/>
          <p:nvPr/>
        </p:nvSpPr>
        <p:spPr>
          <a:xfrm>
            <a:off x="5846674" y="4500677"/>
            <a:ext cx="1781251" cy="9144"/>
          </a:xfrm>
          <a:prstGeom prst="rect">
            <a:avLst/>
          </a:prstGeom>
          <a:solidFill>
            <a:srgbClr val="E2DED5"/>
          </a:solidFill>
          <a:ln w="12700">
            <a:solidFill>
              <a:srgbClr val="E2DED5">
                <a:alpha val="0"/>
              </a:srgbClr>
            </a:solidFill>
            <a:prstDash val="solid"/>
          </a:ln>
        </p:spPr>
      </p:sp>
      <p:sp>
        <p:nvSpPr>
          <p:cNvPr id="49" name="Text 40"/>
          <p:cNvSpPr txBox="1"/>
          <p:nvPr/>
        </p:nvSpPr>
        <p:spPr>
          <a:xfrm>
            <a:off x="5846674" y="3919118"/>
            <a:ext cx="1781251"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1.6</a:t>
            </a:r>
            <a:endParaRPr lang="en-US" sz="1500" dirty="0"/>
          </a:p>
        </p:txBody>
      </p:sp>
      <p:sp>
        <p:nvSpPr>
          <p:cNvPr id="50" name="Shape 41"/>
          <p:cNvSpPr/>
          <p:nvPr/>
        </p:nvSpPr>
        <p:spPr>
          <a:xfrm>
            <a:off x="7622438" y="4500677"/>
            <a:ext cx="1419149" cy="9144"/>
          </a:xfrm>
          <a:prstGeom prst="rect">
            <a:avLst/>
          </a:prstGeom>
          <a:solidFill>
            <a:srgbClr val="E2DED5"/>
          </a:solidFill>
          <a:ln w="12700">
            <a:solidFill>
              <a:srgbClr val="E2DED5">
                <a:alpha val="0"/>
              </a:srgbClr>
            </a:solidFill>
            <a:prstDash val="solid"/>
          </a:ln>
        </p:spPr>
      </p:sp>
      <p:sp>
        <p:nvSpPr>
          <p:cNvPr id="51" name="Text 42"/>
          <p:cNvSpPr txBox="1"/>
          <p:nvPr/>
        </p:nvSpPr>
        <p:spPr>
          <a:xfrm>
            <a:off x="7622438" y="3919118"/>
            <a:ext cx="1420063"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b="1" dirty="0">
                <a:solidFill>
                  <a:srgbClr val="B45F2D"/>
                </a:solidFill>
                <a:latin typeface="Pretendard" pitchFamily="34" charset="0"/>
                <a:ea typeface="Pretendard" pitchFamily="34" charset="-122"/>
                <a:cs typeface="Pretendard" pitchFamily="34" charset="-120"/>
              </a:rPr>
              <a:t>1.5</a:t>
            </a:r>
            <a:endParaRPr lang="en-US" sz="1500" dirty="0"/>
          </a:p>
        </p:txBody>
      </p:sp>
      <p:sp>
        <p:nvSpPr>
          <p:cNvPr id="52" name="Shape 43"/>
          <p:cNvSpPr/>
          <p:nvPr/>
        </p:nvSpPr>
        <p:spPr>
          <a:xfrm>
            <a:off x="9033358" y="4500677"/>
            <a:ext cx="2210105" cy="9144"/>
          </a:xfrm>
          <a:prstGeom prst="rect">
            <a:avLst/>
          </a:prstGeom>
          <a:solidFill>
            <a:srgbClr val="E2DED5"/>
          </a:solidFill>
          <a:ln w="12700">
            <a:solidFill>
              <a:srgbClr val="E2DED5">
                <a:alpha val="0"/>
              </a:srgbClr>
            </a:solidFill>
            <a:prstDash val="solid"/>
          </a:ln>
        </p:spPr>
      </p:sp>
      <p:sp>
        <p:nvSpPr>
          <p:cNvPr id="53" name="Text 44"/>
          <p:cNvSpPr txBox="1"/>
          <p:nvPr/>
        </p:nvSpPr>
        <p:spPr>
          <a:xfrm>
            <a:off x="9033358" y="3919118"/>
            <a:ext cx="2210105"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5.0</a:t>
            </a:r>
            <a:endParaRPr lang="en-US" sz="1500" dirty="0"/>
          </a:p>
        </p:txBody>
      </p:sp>
      <p:sp>
        <p:nvSpPr>
          <p:cNvPr id="54" name="Shape 45"/>
          <p:cNvSpPr/>
          <p:nvPr/>
        </p:nvSpPr>
        <p:spPr>
          <a:xfrm>
            <a:off x="761695" y="5091379"/>
            <a:ext cx="2848356" cy="9144"/>
          </a:xfrm>
          <a:prstGeom prst="rect">
            <a:avLst/>
          </a:prstGeom>
          <a:solidFill>
            <a:srgbClr val="E2DED5"/>
          </a:solidFill>
          <a:ln w="12700">
            <a:solidFill>
              <a:srgbClr val="E2DED5">
                <a:alpha val="0"/>
              </a:srgbClr>
            </a:solidFill>
            <a:prstDash val="solid"/>
          </a:ln>
        </p:spPr>
      </p:sp>
      <p:sp>
        <p:nvSpPr>
          <p:cNvPr id="55" name="Text 46"/>
          <p:cNvSpPr txBox="1"/>
          <p:nvPr/>
        </p:nvSpPr>
        <p:spPr>
          <a:xfrm>
            <a:off x="1123798" y="4509821"/>
            <a:ext cx="2486254"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W3 · Ru SADP</a:t>
            </a:r>
            <a:endParaRPr lang="en-US" sz="1500" dirty="0"/>
          </a:p>
        </p:txBody>
      </p:sp>
      <p:sp>
        <p:nvSpPr>
          <p:cNvPr id="56" name="Shape 47"/>
          <p:cNvSpPr/>
          <p:nvPr/>
        </p:nvSpPr>
        <p:spPr>
          <a:xfrm>
            <a:off x="3608222" y="5091379"/>
            <a:ext cx="2247595" cy="9144"/>
          </a:xfrm>
          <a:prstGeom prst="rect">
            <a:avLst/>
          </a:prstGeom>
          <a:solidFill>
            <a:srgbClr val="E2DED5"/>
          </a:solidFill>
          <a:ln w="12700">
            <a:solidFill>
              <a:srgbClr val="E2DED5">
                <a:alpha val="0"/>
              </a:srgbClr>
            </a:solidFill>
            <a:prstDash val="solid"/>
          </a:ln>
        </p:spPr>
      </p:sp>
      <p:sp>
        <p:nvSpPr>
          <p:cNvPr id="57" name="Text 48"/>
          <p:cNvSpPr txBox="1"/>
          <p:nvPr/>
        </p:nvSpPr>
        <p:spPr>
          <a:xfrm>
            <a:off x="3608222" y="4509821"/>
            <a:ext cx="2248510"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24.8</a:t>
            </a:r>
            <a:endParaRPr lang="en-US" sz="1500" dirty="0"/>
          </a:p>
        </p:txBody>
      </p:sp>
      <p:sp>
        <p:nvSpPr>
          <p:cNvPr id="58" name="Shape 49"/>
          <p:cNvSpPr/>
          <p:nvPr/>
        </p:nvSpPr>
        <p:spPr>
          <a:xfrm>
            <a:off x="5846674" y="5091379"/>
            <a:ext cx="1781251" cy="9144"/>
          </a:xfrm>
          <a:prstGeom prst="rect">
            <a:avLst/>
          </a:prstGeom>
          <a:solidFill>
            <a:srgbClr val="E2DED5"/>
          </a:solidFill>
          <a:ln w="12700">
            <a:solidFill>
              <a:srgbClr val="E2DED5">
                <a:alpha val="0"/>
              </a:srgbClr>
            </a:solidFill>
            <a:prstDash val="solid"/>
          </a:ln>
        </p:spPr>
      </p:sp>
      <p:sp>
        <p:nvSpPr>
          <p:cNvPr id="59" name="Text 50"/>
          <p:cNvSpPr txBox="1"/>
          <p:nvPr/>
        </p:nvSpPr>
        <p:spPr>
          <a:xfrm>
            <a:off x="5846674" y="4509821"/>
            <a:ext cx="1781251"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1.1</a:t>
            </a:r>
            <a:endParaRPr lang="en-US" sz="1500" dirty="0"/>
          </a:p>
        </p:txBody>
      </p:sp>
      <p:sp>
        <p:nvSpPr>
          <p:cNvPr id="60" name="Shape 51"/>
          <p:cNvSpPr/>
          <p:nvPr/>
        </p:nvSpPr>
        <p:spPr>
          <a:xfrm>
            <a:off x="7622438" y="5091379"/>
            <a:ext cx="1419149" cy="9144"/>
          </a:xfrm>
          <a:prstGeom prst="rect">
            <a:avLst/>
          </a:prstGeom>
          <a:solidFill>
            <a:srgbClr val="E2DED5"/>
          </a:solidFill>
          <a:ln w="12700">
            <a:solidFill>
              <a:srgbClr val="E2DED5">
                <a:alpha val="0"/>
              </a:srgbClr>
            </a:solidFill>
            <a:prstDash val="solid"/>
          </a:ln>
        </p:spPr>
      </p:sp>
      <p:sp>
        <p:nvSpPr>
          <p:cNvPr id="61" name="Text 52"/>
          <p:cNvSpPr txBox="1"/>
          <p:nvPr/>
        </p:nvSpPr>
        <p:spPr>
          <a:xfrm>
            <a:off x="7622438" y="4509821"/>
            <a:ext cx="1420063"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0.9</a:t>
            </a:r>
            <a:endParaRPr lang="en-US" sz="1500" dirty="0"/>
          </a:p>
        </p:txBody>
      </p:sp>
      <p:sp>
        <p:nvSpPr>
          <p:cNvPr id="62" name="Shape 53"/>
          <p:cNvSpPr/>
          <p:nvPr/>
        </p:nvSpPr>
        <p:spPr>
          <a:xfrm>
            <a:off x="9033358" y="5091379"/>
            <a:ext cx="2210105" cy="9144"/>
          </a:xfrm>
          <a:prstGeom prst="rect">
            <a:avLst/>
          </a:prstGeom>
          <a:solidFill>
            <a:srgbClr val="E2DED5"/>
          </a:solidFill>
          <a:ln w="12700">
            <a:solidFill>
              <a:srgbClr val="E2DED5">
                <a:alpha val="0"/>
              </a:srgbClr>
            </a:solidFill>
            <a:prstDash val="solid"/>
          </a:ln>
        </p:spPr>
      </p:sp>
      <p:sp>
        <p:nvSpPr>
          <p:cNvPr id="63" name="Text 54"/>
          <p:cNvSpPr txBox="1"/>
          <p:nvPr/>
        </p:nvSpPr>
        <p:spPr>
          <a:xfrm>
            <a:off x="9033358" y="4509821"/>
            <a:ext cx="2210105" cy="428854"/>
          </a:xfrm>
          <a:prstGeom prst="rect">
            <a:avLst/>
          </a:prstGeom>
          <a:solidFill>
            <a:srgbClr val="FFFFFF">
              <a:alpha val="0"/>
            </a:srgbClr>
          </a:solidFill>
          <a:ln>
            <a:solidFill>
              <a:srgbClr val="FFFFFF">
                <a:alpha val="0"/>
              </a:srgbClr>
            </a:solidFill>
          </a:ln>
        </p:spPr>
        <p:txBody>
          <a:bodyPr wrap="none" lIns="152400" tIns="152400" rIns="15240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3.4</a:t>
            </a:r>
            <a:endParaRPr lang="en-US" sz="1500" dirty="0"/>
          </a:p>
        </p:txBody>
      </p:sp>
      <p:sp>
        <p:nvSpPr>
          <p:cNvPr id="64" name="Text 55"/>
          <p:cNvSpPr txBox="1"/>
          <p:nvPr/>
        </p:nvSpPr>
        <p:spPr>
          <a:xfrm>
            <a:off x="1123798" y="5100523"/>
            <a:ext cx="2486254" cy="590702"/>
          </a:xfrm>
          <a:prstGeom prst="rect">
            <a:avLst/>
          </a:prstGeom>
          <a:noFill/>
          <a:ln/>
        </p:spPr>
        <p:txBody>
          <a:bodyPr wrap="none" lIns="0" tIns="0" rIns="0" bIns="0" rtlCol="0" anchor="ctr"/>
          <a:lstStyle/>
          <a:p>
            <a:pPr algn="l" indent="0" marL="0">
              <a:buNone/>
            </a:pPr>
            <a:r>
              <a:rPr lang="en-US" sz="1500" b="1" dirty="0">
                <a:solidFill>
                  <a:srgbClr val="1A1D22"/>
                </a:solidFill>
                <a:latin typeface="Pretendard" pitchFamily="34" charset="0"/>
                <a:ea typeface="Pretendard" pitchFamily="34" charset="-122"/>
                <a:cs typeface="Pretendard" pitchFamily="34" charset="-120"/>
              </a:rPr>
              <a:t>W4 · Ru SADP</a:t>
            </a:r>
            <a:endParaRPr lang="en-US" sz="1500" dirty="0"/>
          </a:p>
        </p:txBody>
      </p:sp>
      <p:sp>
        <p:nvSpPr>
          <p:cNvPr id="65" name="Text 56"/>
          <p:cNvSpPr txBox="1"/>
          <p:nvPr/>
        </p:nvSpPr>
        <p:spPr>
          <a:xfrm>
            <a:off x="3608222" y="5100523"/>
            <a:ext cx="2248510" cy="590702"/>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24.9</a:t>
            </a:r>
            <a:endParaRPr lang="en-US" sz="1500" dirty="0"/>
          </a:p>
        </p:txBody>
      </p:sp>
      <p:sp>
        <p:nvSpPr>
          <p:cNvPr id="66" name="Text 57"/>
          <p:cNvSpPr txBox="1"/>
          <p:nvPr/>
        </p:nvSpPr>
        <p:spPr>
          <a:xfrm>
            <a:off x="5846674" y="5100523"/>
            <a:ext cx="1781251" cy="590702"/>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0.9</a:t>
            </a:r>
            <a:endParaRPr lang="en-US" sz="1500" dirty="0"/>
          </a:p>
        </p:txBody>
      </p:sp>
      <p:sp>
        <p:nvSpPr>
          <p:cNvPr id="67" name="Text 58"/>
          <p:cNvSpPr txBox="1"/>
          <p:nvPr/>
        </p:nvSpPr>
        <p:spPr>
          <a:xfrm>
            <a:off x="7622438" y="5100523"/>
            <a:ext cx="1420063" cy="590702"/>
          </a:xfrm>
          <a:prstGeom prst="rect">
            <a:avLst/>
          </a:prstGeom>
          <a:noFill/>
          <a:ln/>
        </p:spPr>
        <p:txBody>
          <a:bodyPr wrap="none" lIns="0" tIns="0" rIns="0" bIns="0" rtlCol="0" anchor="ctr"/>
          <a:lstStyle/>
          <a:p>
            <a:pPr algn="r" indent="0" marL="0">
              <a:buNone/>
            </a:pPr>
            <a:r>
              <a:rPr lang="en-US" sz="1500" b="1" dirty="0">
                <a:solidFill>
                  <a:srgbClr val="355A6B"/>
                </a:solidFill>
                <a:latin typeface="Pretendard" pitchFamily="34" charset="0"/>
                <a:ea typeface="Pretendard" pitchFamily="34" charset="-122"/>
                <a:cs typeface="Pretendard" pitchFamily="34" charset="-120"/>
              </a:rPr>
              <a:t>0.8</a:t>
            </a:r>
            <a:endParaRPr lang="en-US" sz="1500" dirty="0"/>
          </a:p>
        </p:txBody>
      </p:sp>
      <p:sp>
        <p:nvSpPr>
          <p:cNvPr id="68" name="Text 59"/>
          <p:cNvSpPr txBox="1"/>
          <p:nvPr/>
        </p:nvSpPr>
        <p:spPr>
          <a:xfrm>
            <a:off x="9033358" y="5100523"/>
            <a:ext cx="2210105" cy="590702"/>
          </a:xfrm>
          <a:prstGeom prst="rect">
            <a:avLst/>
          </a:prstGeom>
          <a:noFill/>
          <a:ln/>
        </p:spPr>
        <p:txBody>
          <a:bodyPr wrap="none" lIns="0" tIns="0" rIns="0" bIns="0" rtlCol="0" anchor="ctr"/>
          <a:lstStyle/>
          <a:p>
            <a:pPr algn="r" indent="0" marL="0">
              <a:buNone/>
            </a:pPr>
            <a:r>
              <a:rPr lang="en-US" sz="1500" dirty="0">
                <a:solidFill>
                  <a:srgbClr val="1A1D22"/>
                </a:solidFill>
                <a:latin typeface="Pretendard" pitchFamily="34" charset="0"/>
                <a:ea typeface="Pretendard" pitchFamily="34" charset="-122"/>
                <a:cs typeface="Pretendard" pitchFamily="34" charset="-120"/>
              </a:rPr>
              <a:t>2.9</a:t>
            </a:r>
            <a:endParaRPr lang="en-US" sz="1500" dirty="0"/>
          </a:p>
        </p:txBody>
      </p:sp>
      <p:sp>
        <p:nvSpPr>
          <p:cNvPr id="69" name="Shape 60"/>
          <p:cNvSpPr/>
          <p:nvPr/>
        </p:nvSpPr>
        <p:spPr>
          <a:xfrm>
            <a:off x="914400" y="3548786"/>
            <a:ext cx="75895" cy="209398"/>
          </a:xfrm>
          <a:prstGeom prst="rect">
            <a:avLst/>
          </a:prstGeom>
          <a:solidFill>
            <a:srgbClr val="B45F2D"/>
          </a:solidFill>
          <a:ln w="12700">
            <a:solidFill>
              <a:srgbClr val="FFFFFF">
                <a:alpha val="0"/>
              </a:srgbClr>
            </a:solidFill>
            <a:prstDash val="solid"/>
          </a:ln>
        </p:spPr>
      </p:sp>
      <p:sp>
        <p:nvSpPr>
          <p:cNvPr id="70" name="Shape 61"/>
          <p:cNvSpPr/>
          <p:nvPr/>
        </p:nvSpPr>
        <p:spPr>
          <a:xfrm>
            <a:off x="914400" y="4139489"/>
            <a:ext cx="75895" cy="209398"/>
          </a:xfrm>
          <a:prstGeom prst="rect">
            <a:avLst/>
          </a:prstGeom>
          <a:solidFill>
            <a:srgbClr val="B45F2D"/>
          </a:solidFill>
          <a:ln w="12700">
            <a:solidFill>
              <a:srgbClr val="FFFFFF">
                <a:alpha val="0"/>
              </a:srgbClr>
            </a:solidFill>
            <a:prstDash val="solid"/>
          </a:ln>
        </p:spPr>
      </p:sp>
      <p:sp>
        <p:nvSpPr>
          <p:cNvPr id="71" name="Shape 62"/>
          <p:cNvSpPr/>
          <p:nvPr/>
        </p:nvSpPr>
        <p:spPr>
          <a:xfrm>
            <a:off x="914400" y="4730191"/>
            <a:ext cx="75895" cy="209398"/>
          </a:xfrm>
          <a:prstGeom prst="rect">
            <a:avLst/>
          </a:prstGeom>
          <a:solidFill>
            <a:srgbClr val="355A6B"/>
          </a:solidFill>
          <a:ln w="12700">
            <a:solidFill>
              <a:srgbClr val="FFFFFF">
                <a:alpha val="0"/>
              </a:srgbClr>
            </a:solidFill>
            <a:prstDash val="solid"/>
          </a:ln>
        </p:spPr>
      </p:sp>
      <p:sp>
        <p:nvSpPr>
          <p:cNvPr id="72" name="Shape 63"/>
          <p:cNvSpPr/>
          <p:nvPr/>
        </p:nvSpPr>
        <p:spPr>
          <a:xfrm>
            <a:off x="914400" y="5319979"/>
            <a:ext cx="75895" cy="209398"/>
          </a:xfrm>
          <a:prstGeom prst="rect">
            <a:avLst/>
          </a:prstGeom>
          <a:solidFill>
            <a:srgbClr val="355A6B"/>
          </a:solidFill>
          <a:ln w="12700">
            <a:solidFill>
              <a:srgbClr val="FFFFFF">
                <a:alpha val="0"/>
              </a:srgbClr>
            </a:solidFill>
            <a:prstDash val="solid"/>
          </a:ln>
        </p:spPr>
      </p:sp>
      <p:sp>
        <p:nvSpPr>
          <p:cNvPr id="73" name="Text 64"/>
          <p:cNvSpPr txBox="1"/>
          <p:nvPr/>
        </p:nvSpPr>
        <p:spPr>
          <a:xfrm>
            <a:off x="12039905" y="3066898"/>
            <a:ext cx="533461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49 SITE LAYOUT</a:t>
            </a:r>
            <a:endParaRPr lang="en-US" sz="975" dirty="0"/>
          </a:p>
        </p:txBody>
      </p:sp>
      <p:sp>
        <p:nvSpPr>
          <p:cNvPr id="74" name="Text 65"/>
          <p:cNvSpPr txBox="1"/>
          <p:nvPr/>
        </p:nvSpPr>
        <p:spPr>
          <a:xfrm>
            <a:off x="12039905" y="3448202"/>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 7 × 7 격자 · 49 site</a:t>
            </a:r>
            <a:endParaRPr lang="en-US" sz="1350" dirty="0"/>
          </a:p>
        </p:txBody>
      </p:sp>
      <p:sp>
        <p:nvSpPr>
          <p:cNvPr id="75" name="Text 66"/>
          <p:cNvSpPr txBox="1"/>
          <p:nvPr/>
        </p:nvSpPr>
        <p:spPr>
          <a:xfrm>
            <a:off x="12039905" y="3739896"/>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 die 좌표 통일 · cross 확인용 노치</a:t>
            </a:r>
            <a:endParaRPr lang="en-US" sz="1350" dirty="0"/>
          </a:p>
        </p:txBody>
      </p:sp>
      <p:sp>
        <p:nvSpPr>
          <p:cNvPr id="76" name="Text 67"/>
          <p:cNvSpPr txBox="1"/>
          <p:nvPr/>
        </p:nvSpPr>
        <p:spPr>
          <a:xfrm>
            <a:off x="12039905" y="4030675"/>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 Mean CD는 AASI 기준 wafer 평균</a:t>
            </a:r>
            <a:endParaRPr lang="en-US" sz="1350" dirty="0"/>
          </a:p>
        </p:txBody>
      </p:sp>
      <p:sp>
        <p:nvSpPr>
          <p:cNvPr id="77" name="Text 68"/>
          <p:cNvSpPr txBox="1"/>
          <p:nvPr/>
        </p:nvSpPr>
        <p:spPr>
          <a:xfrm>
            <a:off x="12039905" y="4322369"/>
            <a:ext cx="5334610" cy="295351"/>
          </a:xfrm>
          <a:prstGeom prst="rect">
            <a:avLst/>
          </a:prstGeom>
          <a:noFill/>
          <a:ln/>
        </p:spPr>
        <p:txBody>
          <a:bodyPr wrap="none" lIns="0" tIns="0" rIns="0" bIns="0" rtlCol="0" anchor="ctr"/>
          <a:lstStyle/>
          <a:p>
            <a:pPr algn="l" indent="0" marL="0">
              <a:buNone/>
            </a:pPr>
            <a:r>
              <a:rPr lang="en-US" sz="1350" dirty="0">
                <a:solidFill>
                  <a:srgbClr val="1A1D22"/>
                </a:solidFill>
                <a:latin typeface="Pretendard" pitchFamily="34" charset="0"/>
                <a:ea typeface="Pretendard" pitchFamily="34" charset="-122"/>
                <a:cs typeface="Pretendard" pitchFamily="34" charset="-120"/>
              </a:rPr>
              <a:t>· 색 농도 = |CD − mean| 절대 분포</a:t>
            </a:r>
            <a:endParaRPr lang="en-US" sz="1350" dirty="0"/>
          </a:p>
        </p:txBody>
      </p:sp>
      <p:sp>
        <p:nvSpPr>
          <p:cNvPr id="78" name="Text 69"/>
          <p:cNvSpPr txBox="1"/>
          <p:nvPr/>
        </p:nvSpPr>
        <p:spPr>
          <a:xfrm>
            <a:off x="761695" y="5238598"/>
            <a:ext cx="1047811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49pt WAFER MAPS</a:t>
            </a:r>
            <a:endParaRPr lang="en-US" sz="975" dirty="0"/>
          </a:p>
        </p:txBody>
      </p:sp>
      <p:sp>
        <p:nvSpPr>
          <p:cNvPr id="79" name="Text 70"/>
          <p:cNvSpPr txBox="1"/>
          <p:nvPr/>
        </p:nvSpPr>
        <p:spPr>
          <a:xfrm>
            <a:off x="1904695" y="8762695"/>
            <a:ext cx="3048610" cy="247802"/>
          </a:xfrm>
          <a:prstGeom prst="rect">
            <a:avLst/>
          </a:prstGeom>
          <a:noFill/>
          <a:ln/>
        </p:spPr>
        <p:txBody>
          <a:bodyPr wrap="none" lIns="0" tIns="0" rIns="0" bIns="0" rtlCol="0" anchor="ctr"/>
          <a:lstStyle/>
          <a:p>
            <a:pPr algn="ctr" indent="0" marL="0">
              <a:buNone/>
            </a:pPr>
            <a:r>
              <a:rPr lang="en-US" sz="1350" b="1" dirty="0">
                <a:solidFill>
                  <a:srgbClr val="1A1D22"/>
                </a:solidFill>
                <a:latin typeface="Pretendard" pitchFamily="34" charset="0"/>
                <a:ea typeface="Pretendard" pitchFamily="34" charset="-122"/>
                <a:cs typeface="Pretendard" pitchFamily="34" charset="-120"/>
              </a:rPr>
              <a:t>W1</a:t>
            </a:r>
            <a:endParaRPr lang="en-US" sz="1350" dirty="0"/>
          </a:p>
        </p:txBody>
      </p:sp>
      <p:sp>
        <p:nvSpPr>
          <p:cNvPr id="80" name="Text 71"/>
          <p:cNvSpPr txBox="1"/>
          <p:nvPr/>
        </p:nvSpPr>
        <p:spPr>
          <a:xfrm>
            <a:off x="1904695" y="9048902"/>
            <a:ext cx="3048610" cy="200254"/>
          </a:xfrm>
          <a:prstGeom prst="rect">
            <a:avLst/>
          </a:prstGeom>
          <a:noFill/>
          <a:ln/>
        </p:spPr>
        <p:txBody>
          <a:bodyPr wrap="none" lIns="0" tIns="0" rIns="0" bIns="0" rtlCol="0" anchor="ctr"/>
          <a:lstStyle/>
          <a:p>
            <a:pPr algn="ctr" indent="0" marL="0">
              <a:buNone/>
            </a:pPr>
            <a:r>
              <a:rPr lang="en-US" sz="1125" dirty="0">
                <a:solidFill>
                  <a:srgbClr val="5A6068"/>
                </a:solidFill>
                <a:latin typeface="Pretendard" pitchFamily="34" charset="0"/>
                <a:ea typeface="Pretendard" pitchFamily="34" charset="-122"/>
                <a:cs typeface="Pretendard" pitchFamily="34" charset="-120"/>
              </a:rPr>
              <a:t>Cu TaN · 3σ 1.6</a:t>
            </a:r>
            <a:endParaRPr lang="en-US" sz="1125" dirty="0"/>
          </a:p>
        </p:txBody>
      </p:sp>
      <p:sp>
        <p:nvSpPr>
          <p:cNvPr id="81" name="Text 72"/>
          <p:cNvSpPr txBox="1"/>
          <p:nvPr/>
        </p:nvSpPr>
        <p:spPr>
          <a:xfrm>
            <a:off x="5333695" y="8762695"/>
            <a:ext cx="3048610" cy="247802"/>
          </a:xfrm>
          <a:prstGeom prst="rect">
            <a:avLst/>
          </a:prstGeom>
          <a:noFill/>
          <a:ln/>
        </p:spPr>
        <p:txBody>
          <a:bodyPr wrap="none" lIns="0" tIns="0" rIns="0" bIns="0" rtlCol="0" anchor="ctr"/>
          <a:lstStyle/>
          <a:p>
            <a:pPr algn="ctr" indent="0" marL="0">
              <a:buNone/>
            </a:pPr>
            <a:r>
              <a:rPr lang="en-US" sz="1350" b="1" dirty="0">
                <a:solidFill>
                  <a:srgbClr val="1A1D22"/>
                </a:solidFill>
                <a:latin typeface="Pretendard" pitchFamily="34" charset="0"/>
                <a:ea typeface="Pretendard" pitchFamily="34" charset="-122"/>
                <a:cs typeface="Pretendard" pitchFamily="34" charset="-120"/>
              </a:rPr>
              <a:t>W2</a:t>
            </a:r>
            <a:endParaRPr lang="en-US" sz="1350" dirty="0"/>
          </a:p>
        </p:txBody>
      </p:sp>
      <p:sp>
        <p:nvSpPr>
          <p:cNvPr id="82" name="Text 73"/>
          <p:cNvSpPr txBox="1"/>
          <p:nvPr/>
        </p:nvSpPr>
        <p:spPr>
          <a:xfrm>
            <a:off x="5333695" y="9048902"/>
            <a:ext cx="3048610" cy="200254"/>
          </a:xfrm>
          <a:prstGeom prst="rect">
            <a:avLst/>
          </a:prstGeom>
          <a:noFill/>
          <a:ln/>
        </p:spPr>
        <p:txBody>
          <a:bodyPr wrap="none" lIns="0" tIns="0" rIns="0" bIns="0" rtlCol="0" anchor="ctr"/>
          <a:lstStyle/>
          <a:p>
            <a:pPr algn="ctr" indent="0" marL="0">
              <a:buNone/>
            </a:pPr>
            <a:r>
              <a:rPr lang="en-US" sz="1125" dirty="0">
                <a:solidFill>
                  <a:srgbClr val="5A6068"/>
                </a:solidFill>
                <a:latin typeface="Pretendard" pitchFamily="34" charset="0"/>
                <a:ea typeface="Pretendard" pitchFamily="34" charset="-122"/>
                <a:cs typeface="Pretendard" pitchFamily="34" charset="-120"/>
              </a:rPr>
              <a:t>Cu TiN · 3σ 1.5</a:t>
            </a:r>
            <a:endParaRPr lang="en-US" sz="1125" dirty="0"/>
          </a:p>
        </p:txBody>
      </p:sp>
      <p:sp>
        <p:nvSpPr>
          <p:cNvPr id="83" name="Text 74"/>
          <p:cNvSpPr txBox="1"/>
          <p:nvPr/>
        </p:nvSpPr>
        <p:spPr>
          <a:xfrm>
            <a:off x="8762695" y="8762695"/>
            <a:ext cx="3048610" cy="247802"/>
          </a:xfrm>
          <a:prstGeom prst="rect">
            <a:avLst/>
          </a:prstGeom>
          <a:noFill/>
          <a:ln/>
        </p:spPr>
        <p:txBody>
          <a:bodyPr wrap="none" lIns="0" tIns="0" rIns="0" bIns="0" rtlCol="0" anchor="ctr"/>
          <a:lstStyle/>
          <a:p>
            <a:pPr algn="ctr" indent="0" marL="0">
              <a:buNone/>
            </a:pPr>
            <a:r>
              <a:rPr lang="en-US" sz="1350" b="1" dirty="0">
                <a:solidFill>
                  <a:srgbClr val="1A1D22"/>
                </a:solidFill>
                <a:latin typeface="Pretendard" pitchFamily="34" charset="0"/>
                <a:ea typeface="Pretendard" pitchFamily="34" charset="-122"/>
                <a:cs typeface="Pretendard" pitchFamily="34" charset="-120"/>
              </a:rPr>
              <a:t>W3</a:t>
            </a:r>
            <a:endParaRPr lang="en-US" sz="1350" dirty="0"/>
          </a:p>
        </p:txBody>
      </p:sp>
      <p:sp>
        <p:nvSpPr>
          <p:cNvPr id="84" name="Text 75"/>
          <p:cNvSpPr txBox="1"/>
          <p:nvPr/>
        </p:nvSpPr>
        <p:spPr>
          <a:xfrm>
            <a:off x="8762695" y="9048902"/>
            <a:ext cx="3048610" cy="200254"/>
          </a:xfrm>
          <a:prstGeom prst="rect">
            <a:avLst/>
          </a:prstGeom>
          <a:noFill/>
          <a:ln/>
        </p:spPr>
        <p:txBody>
          <a:bodyPr wrap="none" lIns="0" tIns="0" rIns="0" bIns="0" rtlCol="0" anchor="ctr"/>
          <a:lstStyle/>
          <a:p>
            <a:pPr algn="ctr" indent="0" marL="0">
              <a:buNone/>
            </a:pPr>
            <a:r>
              <a:rPr lang="en-US" sz="1125" dirty="0">
                <a:solidFill>
                  <a:srgbClr val="5A6068"/>
                </a:solidFill>
                <a:latin typeface="Pretendard" pitchFamily="34" charset="0"/>
                <a:ea typeface="Pretendard" pitchFamily="34" charset="-122"/>
                <a:cs typeface="Pretendard" pitchFamily="34" charset="-120"/>
              </a:rPr>
              <a:t>Ru SADP · 3σ 0.9</a:t>
            </a:r>
            <a:endParaRPr lang="en-US" sz="1125" dirty="0"/>
          </a:p>
        </p:txBody>
      </p:sp>
      <p:sp>
        <p:nvSpPr>
          <p:cNvPr id="85" name="Text 76"/>
          <p:cNvSpPr txBox="1"/>
          <p:nvPr/>
        </p:nvSpPr>
        <p:spPr>
          <a:xfrm>
            <a:off x="12191695" y="8762695"/>
            <a:ext cx="3048610" cy="247802"/>
          </a:xfrm>
          <a:prstGeom prst="rect">
            <a:avLst/>
          </a:prstGeom>
          <a:noFill/>
          <a:ln/>
        </p:spPr>
        <p:txBody>
          <a:bodyPr wrap="none" lIns="0" tIns="0" rIns="0" bIns="0" rtlCol="0" anchor="ctr"/>
          <a:lstStyle/>
          <a:p>
            <a:pPr algn="ctr" indent="0" marL="0">
              <a:buNone/>
            </a:pPr>
            <a:r>
              <a:rPr lang="en-US" sz="1350" b="1" dirty="0">
                <a:solidFill>
                  <a:srgbClr val="1A1D22"/>
                </a:solidFill>
                <a:latin typeface="Pretendard" pitchFamily="34" charset="0"/>
                <a:ea typeface="Pretendard" pitchFamily="34" charset="-122"/>
                <a:cs typeface="Pretendard" pitchFamily="34" charset="-120"/>
              </a:rPr>
              <a:t>W4</a:t>
            </a:r>
            <a:endParaRPr lang="en-US" sz="1350" dirty="0"/>
          </a:p>
        </p:txBody>
      </p:sp>
      <p:sp>
        <p:nvSpPr>
          <p:cNvPr id="86" name="Text 77"/>
          <p:cNvSpPr txBox="1"/>
          <p:nvPr/>
        </p:nvSpPr>
        <p:spPr>
          <a:xfrm>
            <a:off x="12191695" y="9048902"/>
            <a:ext cx="3048610" cy="200254"/>
          </a:xfrm>
          <a:prstGeom prst="rect">
            <a:avLst/>
          </a:prstGeom>
          <a:noFill/>
          <a:ln/>
        </p:spPr>
        <p:txBody>
          <a:bodyPr wrap="none" lIns="0" tIns="0" rIns="0" bIns="0" rtlCol="0" anchor="ctr"/>
          <a:lstStyle/>
          <a:p>
            <a:pPr algn="ctr" indent="0" marL="0">
              <a:buNone/>
            </a:pPr>
            <a:r>
              <a:rPr lang="en-US" sz="1125" dirty="0">
                <a:solidFill>
                  <a:srgbClr val="5A6068"/>
                </a:solidFill>
                <a:latin typeface="Pretendard" pitchFamily="34" charset="0"/>
                <a:ea typeface="Pretendard" pitchFamily="34" charset="-122"/>
                <a:cs typeface="Pretendard" pitchFamily="34" charset="-120"/>
              </a:rPr>
              <a:t>Ru SADP · 3σ 0.8</a:t>
            </a:r>
            <a:endParaRPr lang="en-US" sz="1125" dirty="0"/>
          </a:p>
        </p:txBody>
      </p:sp>
      <p:sp>
        <p:nvSpPr>
          <p:cNvPr id="87" name="Text 78"/>
          <p:cNvSpPr txBox="1"/>
          <p:nvPr/>
        </p:nvSpPr>
        <p:spPr>
          <a:xfrm>
            <a:off x="15430500" y="5238598"/>
            <a:ext cx="2095805" cy="181051"/>
          </a:xfrm>
          <a:prstGeom prst="rect">
            <a:avLst/>
          </a:prstGeom>
          <a:noFill/>
          <a:ln/>
        </p:spPr>
        <p:txBody>
          <a:bodyPr wrap="none" lIns="0" tIns="0" rIns="0" bIns="0" rtlCol="0" anchor="ctr"/>
          <a:lstStyle/>
          <a:p>
            <a:pPr algn="r" indent="0" marL="0">
              <a:buNone/>
            </a:pPr>
            <a:r>
              <a:rPr lang="en-US" sz="975" spc="176" kern="0" dirty="0">
                <a:solidFill>
                  <a:srgbClr val="6B6F76"/>
                </a:solidFill>
                <a:latin typeface="Pretendard" pitchFamily="34" charset="0"/>
                <a:ea typeface="Pretendard" pitchFamily="34" charset="-122"/>
                <a:cs typeface="Pretendard" pitchFamily="34" charset="-120"/>
              </a:rPr>
              <a:t>DEVIATION SCALE</a:t>
            </a:r>
            <a:endParaRPr lang="en-US" sz="975" dirty="0"/>
          </a:p>
        </p:txBody>
      </p:sp>
      <p:sp>
        <p:nvSpPr>
          <p:cNvPr id="88" name="Text 79"/>
          <p:cNvSpPr txBox="1"/>
          <p:nvPr/>
        </p:nvSpPr>
        <p:spPr>
          <a:xfrm>
            <a:off x="15659100" y="5715000"/>
            <a:ext cx="1905610" cy="228600"/>
          </a:xfrm>
          <a:prstGeom prst="rect">
            <a:avLst/>
          </a:prstGeom>
          <a:noFill/>
          <a:ln/>
        </p:spPr>
        <p:txBody>
          <a:bodyPr wrap="none" lIns="0" tIns="0" rIns="0" bIns="0" rtlCol="0" anchor="ctr"/>
          <a:lstStyle/>
          <a:p>
            <a:pPr algn="l" indent="0" marL="0">
              <a:buNone/>
            </a:pPr>
            <a:r>
              <a:rPr lang="en-US" sz="1200" dirty="0">
                <a:solidFill>
                  <a:srgbClr val="1A1D22"/>
                </a:solidFill>
                <a:latin typeface="Pretendard" pitchFamily="34" charset="0"/>
                <a:ea typeface="Pretendard" pitchFamily="34" charset="-122"/>
                <a:cs typeface="Pretendard" pitchFamily="34" charset="-120"/>
              </a:rPr>
              <a:t>≤ ±0.30 nm</a:t>
            </a:r>
            <a:endParaRPr lang="en-US" sz="1200" dirty="0"/>
          </a:p>
        </p:txBody>
      </p:sp>
      <p:sp>
        <p:nvSpPr>
          <p:cNvPr id="89" name="Text 80"/>
          <p:cNvSpPr txBox="1"/>
          <p:nvPr/>
        </p:nvSpPr>
        <p:spPr>
          <a:xfrm>
            <a:off x="15659100" y="6019495"/>
            <a:ext cx="1905610" cy="228600"/>
          </a:xfrm>
          <a:prstGeom prst="rect">
            <a:avLst/>
          </a:prstGeom>
          <a:noFill/>
          <a:ln/>
        </p:spPr>
        <p:txBody>
          <a:bodyPr wrap="none" lIns="0" tIns="0" rIns="0" bIns="0" rtlCol="0" anchor="ctr"/>
          <a:lstStyle/>
          <a:p>
            <a:pPr algn="l" indent="0" marL="0">
              <a:buNone/>
            </a:pPr>
            <a:r>
              <a:rPr lang="en-US" sz="1200" dirty="0">
                <a:solidFill>
                  <a:srgbClr val="1A1D22"/>
                </a:solidFill>
                <a:latin typeface="Pretendard" pitchFamily="34" charset="0"/>
                <a:ea typeface="Pretendard" pitchFamily="34" charset="-122"/>
                <a:cs typeface="Pretendard" pitchFamily="34" charset="-120"/>
              </a:rPr>
              <a:t>±0.30 – 0.60 nm</a:t>
            </a:r>
            <a:endParaRPr lang="en-US" sz="1200" dirty="0"/>
          </a:p>
        </p:txBody>
      </p:sp>
      <p:sp>
        <p:nvSpPr>
          <p:cNvPr id="90" name="Text 81"/>
          <p:cNvSpPr txBox="1"/>
          <p:nvPr/>
        </p:nvSpPr>
        <p:spPr>
          <a:xfrm>
            <a:off x="15659100" y="6324905"/>
            <a:ext cx="1905610" cy="228600"/>
          </a:xfrm>
          <a:prstGeom prst="rect">
            <a:avLst/>
          </a:prstGeom>
          <a:noFill/>
          <a:ln/>
        </p:spPr>
        <p:txBody>
          <a:bodyPr wrap="none" lIns="0" tIns="0" rIns="0" bIns="0" rtlCol="0" anchor="ctr"/>
          <a:lstStyle/>
          <a:p>
            <a:pPr algn="l" indent="0" marL="0">
              <a:buNone/>
            </a:pPr>
            <a:r>
              <a:rPr lang="en-US" sz="1200" dirty="0">
                <a:solidFill>
                  <a:srgbClr val="1A1D22"/>
                </a:solidFill>
                <a:latin typeface="Pretendard" pitchFamily="34" charset="0"/>
                <a:ea typeface="Pretendard" pitchFamily="34" charset="-122"/>
                <a:cs typeface="Pretendard" pitchFamily="34" charset="-120"/>
              </a:rPr>
              <a:t>±0.60 – 0.90 nm</a:t>
            </a:r>
            <a:endParaRPr lang="en-US" sz="1200" dirty="0"/>
          </a:p>
        </p:txBody>
      </p:sp>
      <p:sp>
        <p:nvSpPr>
          <p:cNvPr id="91" name="Text 82"/>
          <p:cNvSpPr txBox="1"/>
          <p:nvPr/>
        </p:nvSpPr>
        <p:spPr>
          <a:xfrm>
            <a:off x="15659100" y="6629400"/>
            <a:ext cx="1905610" cy="228600"/>
          </a:xfrm>
          <a:prstGeom prst="rect">
            <a:avLst/>
          </a:prstGeom>
          <a:noFill/>
          <a:ln/>
        </p:spPr>
        <p:txBody>
          <a:bodyPr wrap="none" lIns="0" tIns="0" rIns="0" bIns="0" rtlCol="0" anchor="ctr"/>
          <a:lstStyle/>
          <a:p>
            <a:pPr algn="l" indent="0" marL="0">
              <a:buNone/>
            </a:pPr>
            <a:r>
              <a:rPr lang="en-US" sz="1200" dirty="0">
                <a:solidFill>
                  <a:srgbClr val="1A1D22"/>
                </a:solidFill>
                <a:latin typeface="Pretendard" pitchFamily="34" charset="0"/>
                <a:ea typeface="Pretendard" pitchFamily="34" charset="-122"/>
                <a:cs typeface="Pretendard" pitchFamily="34" charset="-120"/>
              </a:rPr>
              <a:t>&gt; ±0.90 nm</a:t>
            </a:r>
            <a:endParaRPr lang="en-US" sz="1200" dirty="0"/>
          </a:p>
        </p:txBody>
      </p:sp>
      <p:sp>
        <p:nvSpPr>
          <p:cNvPr id="92" name="Text 83"/>
          <p:cNvSpPr txBox="1"/>
          <p:nvPr/>
        </p:nvSpPr>
        <p:spPr>
          <a:xfrm>
            <a:off x="1143000" y="9182405"/>
            <a:ext cx="1905610" cy="152705"/>
          </a:xfrm>
          <a:prstGeom prst="rect">
            <a:avLst/>
          </a:prstGeom>
          <a:noFill/>
          <a:ln/>
        </p:spPr>
        <p:txBody>
          <a:bodyPr wrap="none" lIns="0" tIns="0" rIns="0" bIns="0" rtlCol="0" anchor="ctr"/>
          <a:lstStyle/>
          <a:p>
            <a:pPr algn="l" indent="0" marL="0">
              <a:buNone/>
            </a:pPr>
            <a:r>
              <a:rPr lang="en-US" sz="825" spc="231" kern="0" dirty="0">
                <a:solidFill>
                  <a:srgbClr val="9CC1CC"/>
                </a:solidFill>
                <a:latin typeface="Pretendard" pitchFamily="34" charset="0"/>
                <a:ea typeface="Pretendard" pitchFamily="34" charset="-122"/>
                <a:cs typeface="Pretendard" pitchFamily="34" charset="-120"/>
              </a:rPr>
              <a:t>KEY TAKEAWAY</a:t>
            </a:r>
            <a:endParaRPr lang="en-US" sz="825" dirty="0"/>
          </a:p>
        </p:txBody>
      </p:sp>
      <p:sp>
        <p:nvSpPr>
          <p:cNvPr id="93" name="Text 84"/>
          <p:cNvSpPr txBox="1"/>
          <p:nvPr/>
        </p:nvSpPr>
        <p:spPr>
          <a:xfrm>
            <a:off x="1143000" y="9391802"/>
            <a:ext cx="16002000" cy="228600"/>
          </a:xfrm>
          <a:prstGeom prst="rect">
            <a:avLst/>
          </a:prstGeom>
          <a:noFill/>
          <a:ln/>
        </p:spPr>
        <p:txBody>
          <a:bodyPr wrap="none" lIns="0" tIns="0" rIns="0" bIns="0" rtlCol="0" anchor="ctr"/>
          <a:lstStyle/>
          <a:p>
            <a:pPr algn="l" indent="0" marL="0">
              <a:buNone/>
            </a:pPr>
            <a:r>
              <a:rPr lang="en-US" sz="1350" dirty="0">
                <a:solidFill>
                  <a:srgbClr val="FFFFFF"/>
                </a:solidFill>
                <a:latin typeface="Pretendard" pitchFamily="34" charset="0"/>
                <a:ea typeface="Pretendard" pitchFamily="34" charset="-122"/>
                <a:cs typeface="Pretendard" pitchFamily="34" charset="-120"/>
              </a:rPr>
              <a:t>Ru SD 진영은 49pt 분포가 중앙-주변 단계가 평탄하며, WIW 3σ가 Cu DD의 절반 수준(~0.8–0.9 nm)으로 양산 균일도 마진에 여유가 크다.</a:t>
            </a:r>
            <a:endParaRPr lang="en-US" sz="1350" dirty="0"/>
          </a:p>
        </p:txBody>
      </p:sp>
      <p:sp>
        <p:nvSpPr>
          <p:cNvPr id="94" name="Text 85"/>
          <p:cNvSpPr txBox="1"/>
          <p:nvPr/>
        </p:nvSpPr>
        <p:spPr>
          <a:xfrm>
            <a:off x="761695" y="9791395"/>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pic>
        <p:nvPicPr>
          <p:cNvPr id="3" name="Image 0" descr="gen-dedup-5917501b66f8e9c488896f0dbd0318d3.png">    </p:cNvPr>
          <p:cNvPicPr>
            <a:picLocks noChangeAspect="1"/>
          </p:cNvPicPr>
          <p:nvPr/>
        </p:nvPicPr>
        <p:blipFill>
          <a:blip r:embed="rId1"/>
          <a:srcRect l="-2083" r="-2083" t="0" b="0"/>
          <a:stretch/>
        </p:blipFill>
        <p:spPr>
          <a:xfrm>
            <a:off x="761695" y="590702"/>
            <a:ext cx="16763695" cy="9144"/>
          </a:xfrm>
          <a:prstGeom prst="rect">
            <a:avLst/>
          </a:prstGeom>
        </p:spPr>
      </p:pic>
      <p:pic>
        <p:nvPicPr>
          <p:cNvPr id="4" name="Image 1" descr="gen-dedup-1c2737bd63c286cd07ea23787f903fca.png">    </p:cNvPr>
          <p:cNvPicPr>
            <a:picLocks noChangeAspect="1"/>
          </p:cNvPicPr>
          <p:nvPr/>
        </p:nvPicPr>
        <p:blipFill>
          <a:blip r:embed="rId2"/>
          <a:srcRect l="-415" r="-415" t="0" b="0"/>
          <a:stretch/>
        </p:blipFill>
        <p:spPr>
          <a:xfrm>
            <a:off x="761695" y="2247595"/>
            <a:ext cx="1524305" cy="28346"/>
          </a:xfrm>
          <a:prstGeom prst="rect">
            <a:avLst/>
          </a:prstGeom>
        </p:spPr>
      </p:pic>
      <p:sp>
        <p:nvSpPr>
          <p:cNvPr id="5" name="Shape 0"/>
          <p:cNvSpPr/>
          <p:nvPr/>
        </p:nvSpPr>
        <p:spPr>
          <a:xfrm>
            <a:off x="761695" y="8191195"/>
            <a:ext cx="16763695" cy="1047902"/>
          </a:xfrm>
          <a:prstGeom prst="rect">
            <a:avLst/>
          </a:prstGeom>
          <a:solidFill>
            <a:srgbClr val="2D5466"/>
          </a:solidFill>
          <a:ln w="12700">
            <a:solidFill>
              <a:srgbClr val="FFFFFF">
                <a:alpha val="0"/>
              </a:srgbClr>
            </a:solidFill>
            <a:prstDash val="solid"/>
          </a:ln>
        </p:spPr>
      </p:sp>
      <p:sp>
        <p:nvSpPr>
          <p:cNvPr id="6" name="Text 1"/>
          <p:cNvSpPr txBox="1"/>
          <p:nvPr/>
        </p:nvSpPr>
        <p:spPr>
          <a:xfrm>
            <a:off x="14097305" y="286207"/>
            <a:ext cx="3429000" cy="228600"/>
          </a:xfrm>
          <a:prstGeom prst="rect">
            <a:avLst/>
          </a:prstGeom>
          <a:noFill/>
          <a:ln/>
        </p:spPr>
        <p:txBody>
          <a:bodyPr wrap="square" lIns="0" tIns="0" rIns="0" bIns="0" rtlCol="0" anchor="ctr"/>
          <a:lstStyle/>
          <a:p>
            <a:pPr algn="r" indent="0" marL="0">
              <a:buNone/>
            </a:pPr>
            <a:r>
              <a:rPr lang="en-US" sz="900" spc="162" kern="0" dirty="0">
                <a:solidFill>
                  <a:srgbClr val="6B6F76"/>
                </a:solidFill>
                <a:latin typeface="Pretendard" pitchFamily="34" charset="0"/>
                <a:ea typeface="Pretendard" pitchFamily="34" charset="-122"/>
                <a:cs typeface="Pretendard" pitchFamily="34" charset="-120"/>
              </a:rPr>
              <a:t>SET 03 / 15 · ELECTRICAL</a:t>
            </a:r>
            <a:endParaRPr lang="en-US" sz="900" dirty="0"/>
          </a:p>
        </p:txBody>
      </p:sp>
      <p:sp>
        <p:nvSpPr>
          <p:cNvPr id="7" name="Text 2"/>
          <p:cNvSpPr txBox="1"/>
          <p:nvPr/>
        </p:nvSpPr>
        <p:spPr>
          <a:xfrm>
            <a:off x="761695" y="1028700"/>
            <a:ext cx="15240305" cy="486461"/>
          </a:xfrm>
          <a:prstGeom prst="rect">
            <a:avLst/>
          </a:prstGeom>
          <a:noFill/>
          <a:ln/>
        </p:spPr>
        <p:txBody>
          <a:bodyPr wrap="none" lIns="0" tIns="0" rIns="0" bIns="0" rtlCol="0" anchor="ctr"/>
          <a:lstStyle/>
          <a:p>
            <a:pPr algn="l" indent="0" marL="0">
              <a:buNone/>
            </a:pPr>
            <a:r>
              <a:rPr lang="en-US" sz="3450" b="1" spc="-34" kern="0" dirty="0">
                <a:solidFill>
                  <a:srgbClr val="1A1D22"/>
                </a:solidFill>
                <a:latin typeface="Pretendard" pitchFamily="34" charset="0"/>
                <a:ea typeface="Pretendard" pitchFamily="34" charset="-122"/>
                <a:cs typeface="Pretendard" pitchFamily="34" charset="-120"/>
              </a:rPr>
              <a:t>전기 특성 평가</a:t>
            </a:r>
            <a:endParaRPr lang="en-US" sz="3450" dirty="0"/>
          </a:p>
        </p:txBody>
      </p:sp>
      <p:sp>
        <p:nvSpPr>
          <p:cNvPr id="8" name="Text 3"/>
          <p:cNvSpPr txBox="1"/>
          <p:nvPr/>
        </p:nvSpPr>
        <p:spPr>
          <a:xfrm>
            <a:off x="761695" y="1644091"/>
            <a:ext cx="15240305" cy="267005"/>
          </a:xfrm>
          <a:prstGeom prst="rect">
            <a:avLst/>
          </a:prstGeom>
          <a:noFill/>
          <a:ln/>
        </p:spPr>
        <p:txBody>
          <a:bodyPr wrap="none" lIns="0" tIns="0" rIns="0" bIns="0" rtlCol="0" anchor="ctr"/>
          <a:lstStyle/>
          <a:p>
            <a:pPr algn="l" indent="0" marL="0">
              <a:buNone/>
            </a:pPr>
            <a:r>
              <a:rPr lang="en-US" sz="1500" dirty="0">
                <a:solidFill>
                  <a:srgbClr val="5A6068"/>
                </a:solidFill>
                <a:latin typeface="Pretendard" pitchFamily="34" charset="0"/>
                <a:ea typeface="Pretendard" pitchFamily="34" charset="-122"/>
                <a:cs typeface="Pretendard" pitchFamily="34" charset="-120"/>
              </a:rPr>
              <a:t>와이어 저항 · 라인-라인 누설 · 비아 체인 · TDDB T63 · wafer 별 수치 비교</a:t>
            </a:r>
            <a:endParaRPr lang="en-US" sz="1500" dirty="0"/>
          </a:p>
        </p:txBody>
      </p:sp>
      <p:sp>
        <p:nvSpPr>
          <p:cNvPr id="9" name="Shape 4"/>
          <p:cNvSpPr/>
          <p:nvPr/>
        </p:nvSpPr>
        <p:spPr>
          <a:xfrm>
            <a:off x="761695" y="2743200"/>
            <a:ext cx="2286000" cy="809244"/>
          </a:xfrm>
          <a:prstGeom prst="rect">
            <a:avLst/>
          </a:prstGeom>
          <a:solidFill>
            <a:srgbClr val="F2EFE7"/>
          </a:solidFill>
          <a:ln/>
        </p:spPr>
      </p:sp>
      <p:sp>
        <p:nvSpPr>
          <p:cNvPr id="10" name="Shape 5"/>
          <p:cNvSpPr/>
          <p:nvPr/>
        </p:nvSpPr>
        <p:spPr>
          <a:xfrm>
            <a:off x="761695" y="3543300"/>
            <a:ext cx="2286000" cy="9144"/>
          </a:xfrm>
          <a:prstGeom prst="rect">
            <a:avLst/>
          </a:prstGeom>
          <a:solidFill>
            <a:srgbClr val="1A1D22"/>
          </a:solidFill>
          <a:ln w="12700">
            <a:solidFill>
              <a:srgbClr val="1A1D22">
                <a:alpha val="0"/>
              </a:srgbClr>
            </a:solidFill>
            <a:prstDash val="solid"/>
          </a:ln>
        </p:spPr>
      </p:sp>
      <p:sp>
        <p:nvSpPr>
          <p:cNvPr id="11" name="Text 6"/>
          <p:cNvSpPr txBox="1"/>
          <p:nvPr/>
        </p:nvSpPr>
        <p:spPr>
          <a:xfrm>
            <a:off x="761695" y="2743200"/>
            <a:ext cx="2286000" cy="629107"/>
          </a:xfrm>
          <a:prstGeom prst="rect">
            <a:avLst/>
          </a:prstGeom>
          <a:solidFill>
            <a:srgbClr val="FFFFFF">
              <a:alpha val="0"/>
            </a:srgbClr>
          </a:solidFill>
          <a:ln>
            <a:solidFill>
              <a:srgbClr val="FFFFFF">
                <a:alpha val="0"/>
              </a:srgbClr>
            </a:solidFill>
          </a:ln>
        </p:spPr>
        <p:txBody>
          <a:bodyPr wrap="square" lIns="190500" tIns="177800" rIns="190500" bIns="0" rtlCol="0" anchor="ctr"/>
          <a:lstStyle/>
          <a:p>
            <a:pPr algn="l" indent="0" marL="0">
              <a:buNone/>
            </a:pPr>
            <a:r>
              <a:rPr lang="en-US" sz="1200" b="1" spc="144" kern="0" dirty="0">
                <a:solidFill>
                  <a:srgbClr val="1A1D22"/>
                </a:solidFill>
                <a:latin typeface="Pretendard" pitchFamily="34" charset="0"/>
                <a:ea typeface="Pretendard" pitchFamily="34" charset="-122"/>
                <a:cs typeface="Pretendard" pitchFamily="34" charset="-120"/>
              </a:rPr>
              <a:t>Wafer</a:t>
            </a:r>
            <a:endParaRPr lang="en-US" sz="1200" dirty="0"/>
          </a:p>
        </p:txBody>
      </p:sp>
      <p:sp>
        <p:nvSpPr>
          <p:cNvPr id="12" name="Shape 7"/>
          <p:cNvSpPr/>
          <p:nvPr/>
        </p:nvSpPr>
        <p:spPr>
          <a:xfrm>
            <a:off x="3047695" y="2743200"/>
            <a:ext cx="2790749" cy="809244"/>
          </a:xfrm>
          <a:prstGeom prst="rect">
            <a:avLst/>
          </a:prstGeom>
          <a:solidFill>
            <a:srgbClr val="F2EFE7"/>
          </a:solidFill>
          <a:ln/>
        </p:spPr>
      </p:sp>
      <p:sp>
        <p:nvSpPr>
          <p:cNvPr id="13" name="Shape 8"/>
          <p:cNvSpPr/>
          <p:nvPr/>
        </p:nvSpPr>
        <p:spPr>
          <a:xfrm>
            <a:off x="3047695" y="3543300"/>
            <a:ext cx="2790749" cy="9144"/>
          </a:xfrm>
          <a:prstGeom prst="rect">
            <a:avLst/>
          </a:prstGeom>
          <a:solidFill>
            <a:srgbClr val="1A1D22"/>
          </a:solidFill>
          <a:ln w="12700">
            <a:solidFill>
              <a:srgbClr val="1A1D22">
                <a:alpha val="0"/>
              </a:srgbClr>
            </a:solidFill>
            <a:prstDash val="solid"/>
          </a:ln>
        </p:spPr>
      </p:sp>
      <p:sp>
        <p:nvSpPr>
          <p:cNvPr id="14" name="Text 9"/>
          <p:cNvSpPr txBox="1"/>
          <p:nvPr/>
        </p:nvSpPr>
        <p:spPr>
          <a:xfrm>
            <a:off x="3047695" y="2743200"/>
            <a:ext cx="2791663" cy="629107"/>
          </a:xfrm>
          <a:prstGeom prst="rect">
            <a:avLst/>
          </a:prstGeom>
          <a:solidFill>
            <a:srgbClr val="FFFFFF">
              <a:alpha val="0"/>
            </a:srgbClr>
          </a:solidFill>
          <a:ln>
            <a:solidFill>
              <a:srgbClr val="FFFFFF">
                <a:alpha val="0"/>
              </a:srgbClr>
            </a:solidFill>
          </a:ln>
        </p:spPr>
        <p:txBody>
          <a:bodyPr wrap="square" lIns="190500" tIns="177800" rIns="190500" bIns="0" rtlCol="0" anchor="t"/>
          <a:lstStyle/>
          <a:p>
            <a:pPr algn="r" indent="0" marL="0">
              <a:buNone/>
            </a:pPr>
            <a:r>
              <a:rPr lang="en-US" sz="1200" b="1" spc="72" kern="0" dirty="0">
                <a:solidFill>
                  <a:srgbClr val="1A1D22"/>
                </a:solidFill>
                <a:latin typeface="Pretendard" pitchFamily="34" charset="0"/>
                <a:ea typeface="Pretendard" pitchFamily="34" charset="-122"/>
                <a:cs typeface="Pretendard" pitchFamily="34" charset="-120"/>
              </a:rPr>
              <a:t>Wire R</a:t>
            </a:r>
            <a:pPr algn="r" indent="0" marL="0">
              <a:buNone/>
            </a:pPr>
            <a:endParaRPr lang="en-US" sz="1200" dirty="0"/>
          </a:p>
          <a:p>
            <a:pPr algn="r" indent="0" marL="0">
              <a:buNone/>
            </a:pPr>
            <a:r>
              <a:rPr lang="en-US" sz="975" b="1" spc="72" kern="0" dirty="0">
                <a:solidFill>
                  <a:srgbClr val="5A6068"/>
                </a:solidFill>
                <a:latin typeface="Pretendard" pitchFamily="34" charset="0"/>
                <a:ea typeface="Pretendard" pitchFamily="34" charset="-122"/>
                <a:cs typeface="Pretendard" pitchFamily="34" charset="-120"/>
              </a:rPr>
              <a:t>(Ω/μm)</a:t>
            </a:r>
            <a:endParaRPr lang="en-US" sz="1200" dirty="0"/>
          </a:p>
        </p:txBody>
      </p:sp>
      <p:sp>
        <p:nvSpPr>
          <p:cNvPr id="15" name="Shape 10"/>
          <p:cNvSpPr/>
          <p:nvPr/>
        </p:nvSpPr>
        <p:spPr>
          <a:xfrm>
            <a:off x="5834786" y="2743200"/>
            <a:ext cx="2895905" cy="809244"/>
          </a:xfrm>
          <a:prstGeom prst="rect">
            <a:avLst/>
          </a:prstGeom>
          <a:solidFill>
            <a:srgbClr val="F2EFE7"/>
          </a:solidFill>
          <a:ln/>
        </p:spPr>
      </p:sp>
      <p:sp>
        <p:nvSpPr>
          <p:cNvPr id="16" name="Shape 11"/>
          <p:cNvSpPr/>
          <p:nvPr/>
        </p:nvSpPr>
        <p:spPr>
          <a:xfrm>
            <a:off x="5834786" y="3543300"/>
            <a:ext cx="2895905" cy="9144"/>
          </a:xfrm>
          <a:prstGeom prst="rect">
            <a:avLst/>
          </a:prstGeom>
          <a:solidFill>
            <a:srgbClr val="1A1D22"/>
          </a:solidFill>
          <a:ln w="12700">
            <a:solidFill>
              <a:srgbClr val="1A1D22">
                <a:alpha val="0"/>
              </a:srgbClr>
            </a:solidFill>
            <a:prstDash val="solid"/>
          </a:ln>
        </p:spPr>
      </p:sp>
      <p:sp>
        <p:nvSpPr>
          <p:cNvPr id="17" name="Text 12"/>
          <p:cNvSpPr txBox="1"/>
          <p:nvPr/>
        </p:nvSpPr>
        <p:spPr>
          <a:xfrm>
            <a:off x="5834786" y="2743200"/>
            <a:ext cx="2895905" cy="629107"/>
          </a:xfrm>
          <a:prstGeom prst="rect">
            <a:avLst/>
          </a:prstGeom>
          <a:solidFill>
            <a:srgbClr val="FFFFFF">
              <a:alpha val="0"/>
            </a:srgbClr>
          </a:solidFill>
          <a:ln>
            <a:solidFill>
              <a:srgbClr val="FFFFFF">
                <a:alpha val="0"/>
              </a:srgbClr>
            </a:solidFill>
          </a:ln>
        </p:spPr>
        <p:txBody>
          <a:bodyPr wrap="square" lIns="190500" tIns="177800" rIns="190500" bIns="0" rtlCol="0" anchor="t"/>
          <a:lstStyle/>
          <a:p>
            <a:pPr algn="r" indent="0" marL="0">
              <a:buNone/>
            </a:pPr>
            <a:r>
              <a:rPr lang="en-US" sz="1200" b="1" spc="72" kern="0" dirty="0">
                <a:solidFill>
                  <a:srgbClr val="1A1D22"/>
                </a:solidFill>
                <a:latin typeface="Pretendard" pitchFamily="34" charset="0"/>
                <a:ea typeface="Pretendard" pitchFamily="34" charset="-122"/>
                <a:cs typeface="Pretendard" pitchFamily="34" charset="-120"/>
              </a:rPr>
              <a:t>M3 Leakage</a:t>
            </a:r>
            <a:pPr algn="r" indent="0" marL="0">
              <a:buNone/>
            </a:pPr>
            <a:endParaRPr lang="en-US" sz="1200" dirty="0"/>
          </a:p>
          <a:p>
            <a:pPr algn="r" indent="0" marL="0">
              <a:buNone/>
            </a:pPr>
            <a:r>
              <a:rPr lang="en-US" sz="975" b="1" spc="72" kern="0" dirty="0">
                <a:solidFill>
                  <a:srgbClr val="5A6068"/>
                </a:solidFill>
                <a:latin typeface="Pretendard" pitchFamily="34" charset="0"/>
                <a:ea typeface="Pretendard" pitchFamily="34" charset="-122"/>
                <a:cs typeface="Pretendard" pitchFamily="34" charset="-120"/>
              </a:rPr>
              <a:t>@ 1.0 V (pA/μm)</a:t>
            </a:r>
            <a:endParaRPr lang="en-US" sz="1200" dirty="0"/>
          </a:p>
        </p:txBody>
      </p:sp>
      <p:sp>
        <p:nvSpPr>
          <p:cNvPr id="18" name="Shape 13"/>
          <p:cNvSpPr/>
          <p:nvPr/>
        </p:nvSpPr>
        <p:spPr>
          <a:xfrm>
            <a:off x="8727034" y="2743200"/>
            <a:ext cx="2514600" cy="809244"/>
          </a:xfrm>
          <a:prstGeom prst="rect">
            <a:avLst/>
          </a:prstGeom>
          <a:solidFill>
            <a:srgbClr val="F2EFE7"/>
          </a:solidFill>
          <a:ln/>
        </p:spPr>
      </p:sp>
      <p:sp>
        <p:nvSpPr>
          <p:cNvPr id="19" name="Shape 14"/>
          <p:cNvSpPr/>
          <p:nvPr/>
        </p:nvSpPr>
        <p:spPr>
          <a:xfrm>
            <a:off x="8727034" y="3543300"/>
            <a:ext cx="2514600" cy="9144"/>
          </a:xfrm>
          <a:prstGeom prst="rect">
            <a:avLst/>
          </a:prstGeom>
          <a:solidFill>
            <a:srgbClr val="1A1D22"/>
          </a:solidFill>
          <a:ln w="12700">
            <a:solidFill>
              <a:srgbClr val="1A1D22">
                <a:alpha val="0"/>
              </a:srgbClr>
            </a:solidFill>
            <a:prstDash val="solid"/>
          </a:ln>
        </p:spPr>
      </p:sp>
      <p:sp>
        <p:nvSpPr>
          <p:cNvPr id="20" name="Text 15"/>
          <p:cNvSpPr txBox="1"/>
          <p:nvPr/>
        </p:nvSpPr>
        <p:spPr>
          <a:xfrm>
            <a:off x="8727034" y="2743200"/>
            <a:ext cx="2514600" cy="629107"/>
          </a:xfrm>
          <a:prstGeom prst="rect">
            <a:avLst/>
          </a:prstGeom>
          <a:solidFill>
            <a:srgbClr val="FFFFFF">
              <a:alpha val="0"/>
            </a:srgbClr>
          </a:solidFill>
          <a:ln>
            <a:solidFill>
              <a:srgbClr val="FFFFFF">
                <a:alpha val="0"/>
              </a:srgbClr>
            </a:solidFill>
          </a:ln>
        </p:spPr>
        <p:txBody>
          <a:bodyPr wrap="square" lIns="190500" tIns="177800" rIns="190500" bIns="0" rtlCol="0" anchor="t"/>
          <a:lstStyle/>
          <a:p>
            <a:pPr algn="r" indent="0" marL="0">
              <a:buNone/>
            </a:pPr>
            <a:r>
              <a:rPr lang="en-US" sz="1200" b="1" spc="72" kern="0" dirty="0">
                <a:solidFill>
                  <a:srgbClr val="1A1D22"/>
                </a:solidFill>
                <a:latin typeface="Pretendard" pitchFamily="34" charset="0"/>
                <a:ea typeface="Pretendard" pitchFamily="34" charset="-122"/>
                <a:cs typeface="Pretendard" pitchFamily="34" charset="-120"/>
              </a:rPr>
              <a:t>Kelvin R</a:t>
            </a:r>
            <a:pPr algn="r" indent="0" marL="0">
              <a:buNone/>
            </a:pPr>
            <a:endParaRPr lang="en-US" sz="1200" dirty="0"/>
          </a:p>
          <a:p>
            <a:pPr algn="r" indent="0" marL="0">
              <a:buNone/>
            </a:pPr>
            <a:r>
              <a:rPr lang="en-US" sz="975" b="1" spc="72" kern="0" dirty="0">
                <a:solidFill>
                  <a:srgbClr val="5A6068"/>
                </a:solidFill>
                <a:latin typeface="Pretendard" pitchFamily="34" charset="0"/>
                <a:ea typeface="Pretendard" pitchFamily="34" charset="-122"/>
                <a:cs typeface="Pretendard" pitchFamily="34" charset="-120"/>
              </a:rPr>
              <a:t>single via (Ω)</a:t>
            </a:r>
            <a:endParaRPr lang="en-US" sz="1200" dirty="0"/>
          </a:p>
        </p:txBody>
      </p:sp>
      <p:sp>
        <p:nvSpPr>
          <p:cNvPr id="21" name="Shape 16"/>
          <p:cNvSpPr/>
          <p:nvPr/>
        </p:nvSpPr>
        <p:spPr>
          <a:xfrm>
            <a:off x="11234318" y="2743200"/>
            <a:ext cx="2609698" cy="809244"/>
          </a:xfrm>
          <a:prstGeom prst="rect">
            <a:avLst/>
          </a:prstGeom>
          <a:solidFill>
            <a:srgbClr val="F2EFE7"/>
          </a:solidFill>
          <a:ln/>
        </p:spPr>
      </p:sp>
      <p:sp>
        <p:nvSpPr>
          <p:cNvPr id="22" name="Shape 17"/>
          <p:cNvSpPr/>
          <p:nvPr/>
        </p:nvSpPr>
        <p:spPr>
          <a:xfrm>
            <a:off x="11234318" y="3543300"/>
            <a:ext cx="2609698" cy="9144"/>
          </a:xfrm>
          <a:prstGeom prst="rect">
            <a:avLst/>
          </a:prstGeom>
          <a:solidFill>
            <a:srgbClr val="1A1D22"/>
          </a:solidFill>
          <a:ln w="12700">
            <a:solidFill>
              <a:srgbClr val="1A1D22">
                <a:alpha val="0"/>
              </a:srgbClr>
            </a:solidFill>
            <a:prstDash val="solid"/>
          </a:ln>
        </p:spPr>
      </p:sp>
      <p:sp>
        <p:nvSpPr>
          <p:cNvPr id="23" name="Text 18"/>
          <p:cNvSpPr txBox="1"/>
          <p:nvPr/>
        </p:nvSpPr>
        <p:spPr>
          <a:xfrm>
            <a:off x="11234318" y="2743200"/>
            <a:ext cx="2610612" cy="629107"/>
          </a:xfrm>
          <a:prstGeom prst="rect">
            <a:avLst/>
          </a:prstGeom>
          <a:solidFill>
            <a:srgbClr val="FFFFFF">
              <a:alpha val="0"/>
            </a:srgbClr>
          </a:solidFill>
          <a:ln>
            <a:solidFill>
              <a:srgbClr val="FFFFFF">
                <a:alpha val="0"/>
              </a:srgbClr>
            </a:solidFill>
          </a:ln>
        </p:spPr>
        <p:txBody>
          <a:bodyPr wrap="square" lIns="190500" tIns="177800" rIns="190500" bIns="0" rtlCol="0" anchor="t"/>
          <a:lstStyle/>
          <a:p>
            <a:pPr algn="r" indent="0" marL="0">
              <a:buNone/>
            </a:pPr>
            <a:r>
              <a:rPr lang="en-US" sz="1200" b="1" spc="72" kern="0" dirty="0">
                <a:solidFill>
                  <a:srgbClr val="1A1D22"/>
                </a:solidFill>
                <a:latin typeface="Pretendard" pitchFamily="34" charset="0"/>
                <a:ea typeface="Pretendard" pitchFamily="34" charset="-122"/>
                <a:cs typeface="Pretendard" pitchFamily="34" charset="-120"/>
              </a:rPr>
              <a:t>Chain Yield</a:t>
            </a:r>
            <a:pPr algn="r" indent="0" marL="0">
              <a:buNone/>
            </a:pPr>
            <a:endParaRPr lang="en-US" sz="1200" dirty="0"/>
          </a:p>
          <a:p>
            <a:pPr algn="r" indent="0" marL="0">
              <a:buNone/>
            </a:pPr>
            <a:r>
              <a:rPr lang="en-US" sz="975" b="1" spc="72" kern="0" dirty="0">
                <a:solidFill>
                  <a:srgbClr val="5A6068"/>
                </a:solidFill>
                <a:latin typeface="Pretendard" pitchFamily="34" charset="0"/>
                <a:ea typeface="Pretendard" pitchFamily="34" charset="-122"/>
                <a:cs typeface="Pretendard" pitchFamily="34" charset="-120"/>
              </a:rPr>
              <a:t>M3–M2 (%)</a:t>
            </a:r>
            <a:endParaRPr lang="en-US" sz="1200" dirty="0"/>
          </a:p>
        </p:txBody>
      </p:sp>
      <p:sp>
        <p:nvSpPr>
          <p:cNvPr id="24" name="Shape 19"/>
          <p:cNvSpPr/>
          <p:nvPr/>
        </p:nvSpPr>
        <p:spPr>
          <a:xfrm>
            <a:off x="13834872" y="2743200"/>
            <a:ext cx="3696005" cy="809244"/>
          </a:xfrm>
          <a:prstGeom prst="rect">
            <a:avLst/>
          </a:prstGeom>
          <a:solidFill>
            <a:srgbClr val="F2EFE7"/>
          </a:solidFill>
          <a:ln/>
        </p:spPr>
      </p:sp>
      <p:sp>
        <p:nvSpPr>
          <p:cNvPr id="25" name="Shape 20"/>
          <p:cNvSpPr/>
          <p:nvPr/>
        </p:nvSpPr>
        <p:spPr>
          <a:xfrm>
            <a:off x="13834872" y="3543300"/>
            <a:ext cx="3696005" cy="9144"/>
          </a:xfrm>
          <a:prstGeom prst="rect">
            <a:avLst/>
          </a:prstGeom>
          <a:solidFill>
            <a:srgbClr val="1A1D22"/>
          </a:solidFill>
          <a:ln w="12700">
            <a:solidFill>
              <a:srgbClr val="1A1D22">
                <a:alpha val="0"/>
              </a:srgbClr>
            </a:solidFill>
            <a:prstDash val="solid"/>
          </a:ln>
        </p:spPr>
      </p:sp>
      <p:sp>
        <p:nvSpPr>
          <p:cNvPr id="26" name="Text 21"/>
          <p:cNvSpPr txBox="1"/>
          <p:nvPr/>
        </p:nvSpPr>
        <p:spPr>
          <a:xfrm>
            <a:off x="13834872" y="2743200"/>
            <a:ext cx="3696005" cy="629107"/>
          </a:xfrm>
          <a:prstGeom prst="rect">
            <a:avLst/>
          </a:prstGeom>
          <a:solidFill>
            <a:srgbClr val="FFFFFF">
              <a:alpha val="0"/>
            </a:srgbClr>
          </a:solidFill>
          <a:ln>
            <a:solidFill>
              <a:srgbClr val="FFFFFF">
                <a:alpha val="0"/>
              </a:srgbClr>
            </a:solidFill>
          </a:ln>
        </p:spPr>
        <p:txBody>
          <a:bodyPr wrap="square" lIns="190500" tIns="177800" rIns="190500" bIns="0" rtlCol="0" anchor="t"/>
          <a:lstStyle/>
          <a:p>
            <a:pPr algn="r" indent="0" marL="0">
              <a:buNone/>
            </a:pPr>
            <a:r>
              <a:rPr lang="en-US" sz="1200" b="1" spc="72" kern="0" dirty="0">
                <a:solidFill>
                  <a:srgbClr val="1A1D22"/>
                </a:solidFill>
                <a:latin typeface="Pretendard" pitchFamily="34" charset="0"/>
                <a:ea typeface="Pretendard" pitchFamily="34" charset="-122"/>
                <a:cs typeface="Pretendard" pitchFamily="34" charset="-120"/>
              </a:rPr>
              <a:t>TDDB T₆₃</a:t>
            </a:r>
            <a:pPr algn="r" indent="0" marL="0">
              <a:buNone/>
            </a:pPr>
            <a:endParaRPr lang="en-US" sz="1200" dirty="0"/>
          </a:p>
          <a:p>
            <a:pPr algn="r" indent="0" marL="0">
              <a:buNone/>
            </a:pPr>
            <a:r>
              <a:rPr lang="en-US" sz="975" b="1" spc="72" kern="0" dirty="0">
                <a:solidFill>
                  <a:srgbClr val="5A6068"/>
                </a:solidFill>
                <a:latin typeface="Pretendard" pitchFamily="34" charset="0"/>
                <a:ea typeface="Pretendard" pitchFamily="34" charset="-122"/>
                <a:cs typeface="Pretendard" pitchFamily="34" charset="-120"/>
              </a:rPr>
              <a:t>100°C · 4 MV·cm⁻¹ (hr)</a:t>
            </a:r>
            <a:endParaRPr lang="en-US" sz="1200" dirty="0"/>
          </a:p>
        </p:txBody>
      </p:sp>
      <p:sp>
        <p:nvSpPr>
          <p:cNvPr id="27" name="Shape 22"/>
          <p:cNvSpPr/>
          <p:nvPr/>
        </p:nvSpPr>
        <p:spPr>
          <a:xfrm>
            <a:off x="761695" y="4291279"/>
            <a:ext cx="2286000" cy="9144"/>
          </a:xfrm>
          <a:prstGeom prst="rect">
            <a:avLst/>
          </a:prstGeom>
          <a:solidFill>
            <a:srgbClr val="E2DED5"/>
          </a:solidFill>
          <a:ln w="12700">
            <a:solidFill>
              <a:srgbClr val="E2DED5">
                <a:alpha val="0"/>
              </a:srgbClr>
            </a:solidFill>
            <a:prstDash val="solid"/>
          </a:ln>
        </p:spPr>
      </p:sp>
      <p:sp>
        <p:nvSpPr>
          <p:cNvPr id="28" name="Text 23"/>
          <p:cNvSpPr txBox="1"/>
          <p:nvPr/>
        </p:nvSpPr>
        <p:spPr>
          <a:xfrm>
            <a:off x="1180490" y="3547872"/>
            <a:ext cx="1867205"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l" indent="0" marL="0">
              <a:buNone/>
            </a:pPr>
            <a:r>
              <a:rPr lang="en-US" sz="1650" b="1" dirty="0">
                <a:solidFill>
                  <a:srgbClr val="1A1D22"/>
                </a:solidFill>
                <a:latin typeface="Pretendard" pitchFamily="34" charset="0"/>
                <a:ea typeface="Pretendard" pitchFamily="34" charset="-122"/>
                <a:cs typeface="Pretendard" pitchFamily="34" charset="-120"/>
              </a:rPr>
              <a:t>W1 · Cu TaN</a:t>
            </a:r>
            <a:endParaRPr lang="en-US" sz="1650" dirty="0"/>
          </a:p>
        </p:txBody>
      </p:sp>
      <p:sp>
        <p:nvSpPr>
          <p:cNvPr id="29" name="Shape 24"/>
          <p:cNvSpPr/>
          <p:nvPr/>
        </p:nvSpPr>
        <p:spPr>
          <a:xfrm>
            <a:off x="3047695" y="4291279"/>
            <a:ext cx="2790749" cy="9144"/>
          </a:xfrm>
          <a:prstGeom prst="rect">
            <a:avLst/>
          </a:prstGeom>
          <a:solidFill>
            <a:srgbClr val="E2DED5"/>
          </a:solidFill>
          <a:ln w="12700">
            <a:solidFill>
              <a:srgbClr val="E2DED5">
                <a:alpha val="0"/>
              </a:srgbClr>
            </a:solidFill>
            <a:prstDash val="solid"/>
          </a:ln>
        </p:spPr>
      </p:sp>
      <p:sp>
        <p:nvSpPr>
          <p:cNvPr id="30" name="Text 25"/>
          <p:cNvSpPr txBox="1"/>
          <p:nvPr/>
        </p:nvSpPr>
        <p:spPr>
          <a:xfrm>
            <a:off x="3047695" y="3547872"/>
            <a:ext cx="2791663"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dirty="0">
                <a:solidFill>
                  <a:srgbClr val="1A1D22"/>
                </a:solidFill>
                <a:latin typeface="Pretendard" pitchFamily="34" charset="0"/>
                <a:ea typeface="Pretendard" pitchFamily="34" charset="-122"/>
                <a:cs typeface="Pretendard" pitchFamily="34" charset="-120"/>
              </a:rPr>
              <a:t>12.4 ± 0.9</a:t>
            </a:r>
            <a:endParaRPr lang="en-US" sz="1650" dirty="0"/>
          </a:p>
        </p:txBody>
      </p:sp>
      <p:sp>
        <p:nvSpPr>
          <p:cNvPr id="31" name="Shape 26"/>
          <p:cNvSpPr/>
          <p:nvPr/>
        </p:nvSpPr>
        <p:spPr>
          <a:xfrm>
            <a:off x="5834786" y="4291279"/>
            <a:ext cx="2895905" cy="9144"/>
          </a:xfrm>
          <a:prstGeom prst="rect">
            <a:avLst/>
          </a:prstGeom>
          <a:solidFill>
            <a:srgbClr val="E2DED5"/>
          </a:solidFill>
          <a:ln w="12700">
            <a:solidFill>
              <a:srgbClr val="E2DED5">
                <a:alpha val="0"/>
              </a:srgbClr>
            </a:solidFill>
            <a:prstDash val="solid"/>
          </a:ln>
        </p:spPr>
      </p:sp>
      <p:sp>
        <p:nvSpPr>
          <p:cNvPr id="32" name="Text 27"/>
          <p:cNvSpPr txBox="1"/>
          <p:nvPr/>
        </p:nvSpPr>
        <p:spPr>
          <a:xfrm>
            <a:off x="5834786" y="3547872"/>
            <a:ext cx="2895905"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b="1" dirty="0">
                <a:solidFill>
                  <a:srgbClr val="B45F2D"/>
                </a:solidFill>
                <a:latin typeface="Pretendard" pitchFamily="34" charset="0"/>
                <a:ea typeface="Pretendard" pitchFamily="34" charset="-122"/>
                <a:cs typeface="Pretendard" pitchFamily="34" charset="-120"/>
              </a:rPr>
              <a:t>7.8</a:t>
            </a:r>
            <a:endParaRPr lang="en-US" sz="1650" dirty="0"/>
          </a:p>
        </p:txBody>
      </p:sp>
      <p:sp>
        <p:nvSpPr>
          <p:cNvPr id="33" name="Shape 28"/>
          <p:cNvSpPr/>
          <p:nvPr/>
        </p:nvSpPr>
        <p:spPr>
          <a:xfrm>
            <a:off x="8727034" y="4291279"/>
            <a:ext cx="2514600" cy="9144"/>
          </a:xfrm>
          <a:prstGeom prst="rect">
            <a:avLst/>
          </a:prstGeom>
          <a:solidFill>
            <a:srgbClr val="E2DED5"/>
          </a:solidFill>
          <a:ln w="12700">
            <a:solidFill>
              <a:srgbClr val="E2DED5">
                <a:alpha val="0"/>
              </a:srgbClr>
            </a:solidFill>
            <a:prstDash val="solid"/>
          </a:ln>
        </p:spPr>
      </p:sp>
      <p:sp>
        <p:nvSpPr>
          <p:cNvPr id="34" name="Text 29"/>
          <p:cNvSpPr txBox="1"/>
          <p:nvPr/>
        </p:nvSpPr>
        <p:spPr>
          <a:xfrm>
            <a:off x="8727034" y="3547872"/>
            <a:ext cx="2514600"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dirty="0">
                <a:solidFill>
                  <a:srgbClr val="1A1D22"/>
                </a:solidFill>
                <a:latin typeface="Pretendard" pitchFamily="34" charset="0"/>
                <a:ea typeface="Pretendard" pitchFamily="34" charset="-122"/>
                <a:cs typeface="Pretendard" pitchFamily="34" charset="-120"/>
              </a:rPr>
              <a:t>18.4</a:t>
            </a:r>
            <a:endParaRPr lang="en-US" sz="1650" dirty="0"/>
          </a:p>
        </p:txBody>
      </p:sp>
      <p:sp>
        <p:nvSpPr>
          <p:cNvPr id="35" name="Shape 30"/>
          <p:cNvSpPr/>
          <p:nvPr/>
        </p:nvSpPr>
        <p:spPr>
          <a:xfrm>
            <a:off x="11234318" y="4291279"/>
            <a:ext cx="2609698" cy="9144"/>
          </a:xfrm>
          <a:prstGeom prst="rect">
            <a:avLst/>
          </a:prstGeom>
          <a:solidFill>
            <a:srgbClr val="E2DED5"/>
          </a:solidFill>
          <a:ln w="12700">
            <a:solidFill>
              <a:srgbClr val="E2DED5">
                <a:alpha val="0"/>
              </a:srgbClr>
            </a:solidFill>
            <a:prstDash val="solid"/>
          </a:ln>
        </p:spPr>
      </p:sp>
      <p:sp>
        <p:nvSpPr>
          <p:cNvPr id="36" name="Text 31"/>
          <p:cNvSpPr txBox="1"/>
          <p:nvPr/>
        </p:nvSpPr>
        <p:spPr>
          <a:xfrm>
            <a:off x="11234318" y="3547872"/>
            <a:ext cx="2610612"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dirty="0">
                <a:solidFill>
                  <a:srgbClr val="B45F2D"/>
                </a:solidFill>
                <a:latin typeface="Pretendard" pitchFamily="34" charset="0"/>
                <a:ea typeface="Pretendard" pitchFamily="34" charset="-122"/>
                <a:cs typeface="Pretendard" pitchFamily="34" charset="-120"/>
              </a:rPr>
              <a:t>71 %</a:t>
            </a:r>
            <a:endParaRPr lang="en-US" sz="1650" dirty="0"/>
          </a:p>
        </p:txBody>
      </p:sp>
      <p:sp>
        <p:nvSpPr>
          <p:cNvPr id="37" name="Shape 32"/>
          <p:cNvSpPr/>
          <p:nvPr/>
        </p:nvSpPr>
        <p:spPr>
          <a:xfrm>
            <a:off x="13834872" y="4291279"/>
            <a:ext cx="3696005" cy="9144"/>
          </a:xfrm>
          <a:prstGeom prst="rect">
            <a:avLst/>
          </a:prstGeom>
          <a:solidFill>
            <a:srgbClr val="E2DED5"/>
          </a:solidFill>
          <a:ln w="12700">
            <a:solidFill>
              <a:srgbClr val="E2DED5">
                <a:alpha val="0"/>
              </a:srgbClr>
            </a:solidFill>
            <a:prstDash val="solid"/>
          </a:ln>
        </p:spPr>
      </p:sp>
      <p:sp>
        <p:nvSpPr>
          <p:cNvPr id="38" name="Text 33"/>
          <p:cNvSpPr txBox="1"/>
          <p:nvPr/>
        </p:nvSpPr>
        <p:spPr>
          <a:xfrm>
            <a:off x="13834872" y="3547872"/>
            <a:ext cx="3696005"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dirty="0">
                <a:solidFill>
                  <a:srgbClr val="1A1D22"/>
                </a:solidFill>
                <a:latin typeface="Pretendard" pitchFamily="34" charset="0"/>
                <a:ea typeface="Pretendard" pitchFamily="34" charset="-122"/>
                <a:cs typeface="Pretendard" pitchFamily="34" charset="-120"/>
              </a:rPr>
              <a:t>432</a:t>
            </a:r>
            <a:endParaRPr lang="en-US" sz="1650" dirty="0"/>
          </a:p>
        </p:txBody>
      </p:sp>
      <p:sp>
        <p:nvSpPr>
          <p:cNvPr id="39" name="Shape 34"/>
          <p:cNvSpPr/>
          <p:nvPr/>
        </p:nvSpPr>
        <p:spPr>
          <a:xfrm>
            <a:off x="761695" y="5034686"/>
            <a:ext cx="2286000" cy="9144"/>
          </a:xfrm>
          <a:prstGeom prst="rect">
            <a:avLst/>
          </a:prstGeom>
          <a:solidFill>
            <a:srgbClr val="E2DED5"/>
          </a:solidFill>
          <a:ln w="12700">
            <a:solidFill>
              <a:srgbClr val="E2DED5">
                <a:alpha val="0"/>
              </a:srgbClr>
            </a:solidFill>
            <a:prstDash val="solid"/>
          </a:ln>
        </p:spPr>
      </p:sp>
      <p:sp>
        <p:nvSpPr>
          <p:cNvPr id="40" name="Text 35"/>
          <p:cNvSpPr txBox="1"/>
          <p:nvPr/>
        </p:nvSpPr>
        <p:spPr>
          <a:xfrm>
            <a:off x="1180490" y="4291279"/>
            <a:ext cx="1867205"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l" indent="0" marL="0">
              <a:buNone/>
            </a:pPr>
            <a:r>
              <a:rPr lang="en-US" sz="1650" b="1" dirty="0">
                <a:solidFill>
                  <a:srgbClr val="1A1D22"/>
                </a:solidFill>
                <a:latin typeface="Pretendard" pitchFamily="34" charset="0"/>
                <a:ea typeface="Pretendard" pitchFamily="34" charset="-122"/>
                <a:cs typeface="Pretendard" pitchFamily="34" charset="-120"/>
              </a:rPr>
              <a:t>W2 · Cu TiN</a:t>
            </a:r>
            <a:endParaRPr lang="en-US" sz="1650" dirty="0"/>
          </a:p>
        </p:txBody>
      </p:sp>
      <p:sp>
        <p:nvSpPr>
          <p:cNvPr id="41" name="Shape 36"/>
          <p:cNvSpPr/>
          <p:nvPr/>
        </p:nvSpPr>
        <p:spPr>
          <a:xfrm>
            <a:off x="3047695" y="5034686"/>
            <a:ext cx="2790749" cy="9144"/>
          </a:xfrm>
          <a:prstGeom prst="rect">
            <a:avLst/>
          </a:prstGeom>
          <a:solidFill>
            <a:srgbClr val="E2DED5"/>
          </a:solidFill>
          <a:ln w="12700">
            <a:solidFill>
              <a:srgbClr val="E2DED5">
                <a:alpha val="0"/>
              </a:srgbClr>
            </a:solidFill>
            <a:prstDash val="solid"/>
          </a:ln>
        </p:spPr>
      </p:sp>
      <p:sp>
        <p:nvSpPr>
          <p:cNvPr id="42" name="Text 37"/>
          <p:cNvSpPr txBox="1"/>
          <p:nvPr/>
        </p:nvSpPr>
        <p:spPr>
          <a:xfrm>
            <a:off x="3047695" y="4291279"/>
            <a:ext cx="2791663"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dirty="0">
                <a:solidFill>
                  <a:srgbClr val="1A1D22"/>
                </a:solidFill>
                <a:latin typeface="Pretendard" pitchFamily="34" charset="0"/>
                <a:ea typeface="Pretendard" pitchFamily="34" charset="-122"/>
                <a:cs typeface="Pretendard" pitchFamily="34" charset="-120"/>
              </a:rPr>
              <a:t>12.0 ± 0.8</a:t>
            </a:r>
            <a:endParaRPr lang="en-US" sz="1650" dirty="0"/>
          </a:p>
        </p:txBody>
      </p:sp>
      <p:sp>
        <p:nvSpPr>
          <p:cNvPr id="43" name="Shape 38"/>
          <p:cNvSpPr/>
          <p:nvPr/>
        </p:nvSpPr>
        <p:spPr>
          <a:xfrm>
            <a:off x="5834786" y="5034686"/>
            <a:ext cx="2895905" cy="9144"/>
          </a:xfrm>
          <a:prstGeom prst="rect">
            <a:avLst/>
          </a:prstGeom>
          <a:solidFill>
            <a:srgbClr val="E2DED5"/>
          </a:solidFill>
          <a:ln w="12700">
            <a:solidFill>
              <a:srgbClr val="E2DED5">
                <a:alpha val="0"/>
              </a:srgbClr>
            </a:solidFill>
            <a:prstDash val="solid"/>
          </a:ln>
        </p:spPr>
      </p:sp>
      <p:sp>
        <p:nvSpPr>
          <p:cNvPr id="44" name="Text 39"/>
          <p:cNvSpPr txBox="1"/>
          <p:nvPr/>
        </p:nvSpPr>
        <p:spPr>
          <a:xfrm>
            <a:off x="5834786" y="4291279"/>
            <a:ext cx="2895905"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b="1" dirty="0">
                <a:solidFill>
                  <a:srgbClr val="B45F2D"/>
                </a:solidFill>
                <a:latin typeface="Pretendard" pitchFamily="34" charset="0"/>
                <a:ea typeface="Pretendard" pitchFamily="34" charset="-122"/>
                <a:cs typeface="Pretendard" pitchFamily="34" charset="-120"/>
              </a:rPr>
              <a:t>7.2</a:t>
            </a:r>
            <a:endParaRPr lang="en-US" sz="1650" dirty="0"/>
          </a:p>
        </p:txBody>
      </p:sp>
      <p:sp>
        <p:nvSpPr>
          <p:cNvPr id="45" name="Shape 40"/>
          <p:cNvSpPr/>
          <p:nvPr/>
        </p:nvSpPr>
        <p:spPr>
          <a:xfrm>
            <a:off x="8727034" y="5034686"/>
            <a:ext cx="2514600" cy="9144"/>
          </a:xfrm>
          <a:prstGeom prst="rect">
            <a:avLst/>
          </a:prstGeom>
          <a:solidFill>
            <a:srgbClr val="E2DED5"/>
          </a:solidFill>
          <a:ln w="12700">
            <a:solidFill>
              <a:srgbClr val="E2DED5">
                <a:alpha val="0"/>
              </a:srgbClr>
            </a:solidFill>
            <a:prstDash val="solid"/>
          </a:ln>
        </p:spPr>
      </p:sp>
      <p:sp>
        <p:nvSpPr>
          <p:cNvPr id="46" name="Text 41"/>
          <p:cNvSpPr txBox="1"/>
          <p:nvPr/>
        </p:nvSpPr>
        <p:spPr>
          <a:xfrm>
            <a:off x="8727034" y="4291279"/>
            <a:ext cx="2514600"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dirty="0">
                <a:solidFill>
                  <a:srgbClr val="1A1D22"/>
                </a:solidFill>
                <a:latin typeface="Pretendard" pitchFamily="34" charset="0"/>
                <a:ea typeface="Pretendard" pitchFamily="34" charset="-122"/>
                <a:cs typeface="Pretendard" pitchFamily="34" charset="-120"/>
              </a:rPr>
              <a:t>18.0</a:t>
            </a:r>
            <a:endParaRPr lang="en-US" sz="1650" dirty="0"/>
          </a:p>
        </p:txBody>
      </p:sp>
      <p:sp>
        <p:nvSpPr>
          <p:cNvPr id="47" name="Shape 42"/>
          <p:cNvSpPr/>
          <p:nvPr/>
        </p:nvSpPr>
        <p:spPr>
          <a:xfrm>
            <a:off x="11234318" y="5034686"/>
            <a:ext cx="2609698" cy="9144"/>
          </a:xfrm>
          <a:prstGeom prst="rect">
            <a:avLst/>
          </a:prstGeom>
          <a:solidFill>
            <a:srgbClr val="E2DED5"/>
          </a:solidFill>
          <a:ln w="12700">
            <a:solidFill>
              <a:srgbClr val="E2DED5">
                <a:alpha val="0"/>
              </a:srgbClr>
            </a:solidFill>
            <a:prstDash val="solid"/>
          </a:ln>
        </p:spPr>
      </p:sp>
      <p:sp>
        <p:nvSpPr>
          <p:cNvPr id="48" name="Text 43"/>
          <p:cNvSpPr txBox="1"/>
          <p:nvPr/>
        </p:nvSpPr>
        <p:spPr>
          <a:xfrm>
            <a:off x="11234318" y="4291279"/>
            <a:ext cx="2610612"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dirty="0">
                <a:solidFill>
                  <a:srgbClr val="B45F2D"/>
                </a:solidFill>
                <a:latin typeface="Pretendard" pitchFamily="34" charset="0"/>
                <a:ea typeface="Pretendard" pitchFamily="34" charset="-122"/>
                <a:cs typeface="Pretendard" pitchFamily="34" charset="-120"/>
              </a:rPr>
              <a:t>76 %</a:t>
            </a:r>
            <a:endParaRPr lang="en-US" sz="1650" dirty="0"/>
          </a:p>
        </p:txBody>
      </p:sp>
      <p:sp>
        <p:nvSpPr>
          <p:cNvPr id="49" name="Shape 44"/>
          <p:cNvSpPr/>
          <p:nvPr/>
        </p:nvSpPr>
        <p:spPr>
          <a:xfrm>
            <a:off x="13834872" y="5034686"/>
            <a:ext cx="3696005" cy="9144"/>
          </a:xfrm>
          <a:prstGeom prst="rect">
            <a:avLst/>
          </a:prstGeom>
          <a:solidFill>
            <a:srgbClr val="E2DED5"/>
          </a:solidFill>
          <a:ln w="12700">
            <a:solidFill>
              <a:srgbClr val="E2DED5">
                <a:alpha val="0"/>
              </a:srgbClr>
            </a:solidFill>
            <a:prstDash val="solid"/>
          </a:ln>
        </p:spPr>
      </p:sp>
      <p:sp>
        <p:nvSpPr>
          <p:cNvPr id="50" name="Text 45"/>
          <p:cNvSpPr txBox="1"/>
          <p:nvPr/>
        </p:nvSpPr>
        <p:spPr>
          <a:xfrm>
            <a:off x="13834872" y="4291279"/>
            <a:ext cx="3696005"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dirty="0">
                <a:solidFill>
                  <a:srgbClr val="1A1D22"/>
                </a:solidFill>
                <a:latin typeface="Pretendard" pitchFamily="34" charset="0"/>
                <a:ea typeface="Pretendard" pitchFamily="34" charset="-122"/>
                <a:cs typeface="Pretendard" pitchFamily="34" charset="-120"/>
              </a:rPr>
              <a:t>506</a:t>
            </a:r>
            <a:endParaRPr lang="en-US" sz="1650" dirty="0"/>
          </a:p>
        </p:txBody>
      </p:sp>
      <p:sp>
        <p:nvSpPr>
          <p:cNvPr id="51" name="Shape 46"/>
          <p:cNvSpPr/>
          <p:nvPr/>
        </p:nvSpPr>
        <p:spPr>
          <a:xfrm>
            <a:off x="761695" y="5778094"/>
            <a:ext cx="2286000" cy="9144"/>
          </a:xfrm>
          <a:prstGeom prst="rect">
            <a:avLst/>
          </a:prstGeom>
          <a:solidFill>
            <a:srgbClr val="E2DED5"/>
          </a:solidFill>
          <a:ln w="12700">
            <a:solidFill>
              <a:srgbClr val="E2DED5">
                <a:alpha val="0"/>
              </a:srgbClr>
            </a:solidFill>
            <a:prstDash val="solid"/>
          </a:ln>
        </p:spPr>
      </p:sp>
      <p:sp>
        <p:nvSpPr>
          <p:cNvPr id="52" name="Text 47"/>
          <p:cNvSpPr txBox="1"/>
          <p:nvPr/>
        </p:nvSpPr>
        <p:spPr>
          <a:xfrm>
            <a:off x="1180490" y="5034686"/>
            <a:ext cx="1867205"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l" indent="0" marL="0">
              <a:buNone/>
            </a:pPr>
            <a:r>
              <a:rPr lang="en-US" sz="1650" b="1" dirty="0">
                <a:solidFill>
                  <a:srgbClr val="1A1D22"/>
                </a:solidFill>
                <a:latin typeface="Pretendard" pitchFamily="34" charset="0"/>
                <a:ea typeface="Pretendard" pitchFamily="34" charset="-122"/>
                <a:cs typeface="Pretendard" pitchFamily="34" charset="-120"/>
              </a:rPr>
              <a:t>W3 · Ru SADP</a:t>
            </a:r>
            <a:endParaRPr lang="en-US" sz="1650" dirty="0"/>
          </a:p>
        </p:txBody>
      </p:sp>
      <p:sp>
        <p:nvSpPr>
          <p:cNvPr id="53" name="Shape 48"/>
          <p:cNvSpPr/>
          <p:nvPr/>
        </p:nvSpPr>
        <p:spPr>
          <a:xfrm>
            <a:off x="3047695" y="5778094"/>
            <a:ext cx="2790749" cy="9144"/>
          </a:xfrm>
          <a:prstGeom prst="rect">
            <a:avLst/>
          </a:prstGeom>
          <a:solidFill>
            <a:srgbClr val="E2DED5"/>
          </a:solidFill>
          <a:ln w="12700">
            <a:solidFill>
              <a:srgbClr val="E2DED5">
                <a:alpha val="0"/>
              </a:srgbClr>
            </a:solidFill>
            <a:prstDash val="solid"/>
          </a:ln>
        </p:spPr>
      </p:sp>
      <p:sp>
        <p:nvSpPr>
          <p:cNvPr id="54" name="Text 49"/>
          <p:cNvSpPr txBox="1"/>
          <p:nvPr/>
        </p:nvSpPr>
        <p:spPr>
          <a:xfrm>
            <a:off x="3047695" y="5034686"/>
            <a:ext cx="2791663"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9.6 ± 0.5</a:t>
            </a:r>
            <a:endParaRPr lang="en-US" sz="1650" dirty="0"/>
          </a:p>
        </p:txBody>
      </p:sp>
      <p:sp>
        <p:nvSpPr>
          <p:cNvPr id="55" name="Shape 50"/>
          <p:cNvSpPr/>
          <p:nvPr/>
        </p:nvSpPr>
        <p:spPr>
          <a:xfrm>
            <a:off x="5834786" y="5778094"/>
            <a:ext cx="2895905" cy="9144"/>
          </a:xfrm>
          <a:prstGeom prst="rect">
            <a:avLst/>
          </a:prstGeom>
          <a:solidFill>
            <a:srgbClr val="E2DED5"/>
          </a:solidFill>
          <a:ln w="12700">
            <a:solidFill>
              <a:srgbClr val="E2DED5">
                <a:alpha val="0"/>
              </a:srgbClr>
            </a:solidFill>
            <a:prstDash val="solid"/>
          </a:ln>
        </p:spPr>
      </p:sp>
      <p:sp>
        <p:nvSpPr>
          <p:cNvPr id="56" name="Text 51"/>
          <p:cNvSpPr txBox="1"/>
          <p:nvPr/>
        </p:nvSpPr>
        <p:spPr>
          <a:xfrm>
            <a:off x="5834786" y="5034686"/>
            <a:ext cx="2895905"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2.1</a:t>
            </a:r>
            <a:endParaRPr lang="en-US" sz="1650" dirty="0"/>
          </a:p>
        </p:txBody>
      </p:sp>
      <p:sp>
        <p:nvSpPr>
          <p:cNvPr id="57" name="Shape 52"/>
          <p:cNvSpPr/>
          <p:nvPr/>
        </p:nvSpPr>
        <p:spPr>
          <a:xfrm>
            <a:off x="8727034" y="5778094"/>
            <a:ext cx="2514600" cy="9144"/>
          </a:xfrm>
          <a:prstGeom prst="rect">
            <a:avLst/>
          </a:prstGeom>
          <a:solidFill>
            <a:srgbClr val="E2DED5"/>
          </a:solidFill>
          <a:ln w="12700">
            <a:solidFill>
              <a:srgbClr val="E2DED5">
                <a:alpha val="0"/>
              </a:srgbClr>
            </a:solidFill>
            <a:prstDash val="solid"/>
          </a:ln>
        </p:spPr>
      </p:sp>
      <p:sp>
        <p:nvSpPr>
          <p:cNvPr id="58" name="Text 53"/>
          <p:cNvSpPr txBox="1"/>
          <p:nvPr/>
        </p:nvSpPr>
        <p:spPr>
          <a:xfrm>
            <a:off x="8727034" y="5034686"/>
            <a:ext cx="2514600"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16.1</a:t>
            </a:r>
            <a:endParaRPr lang="en-US" sz="1650" dirty="0"/>
          </a:p>
        </p:txBody>
      </p:sp>
      <p:sp>
        <p:nvSpPr>
          <p:cNvPr id="59" name="Shape 54"/>
          <p:cNvSpPr/>
          <p:nvPr/>
        </p:nvSpPr>
        <p:spPr>
          <a:xfrm>
            <a:off x="11234318" y="5778094"/>
            <a:ext cx="2609698" cy="9144"/>
          </a:xfrm>
          <a:prstGeom prst="rect">
            <a:avLst/>
          </a:prstGeom>
          <a:solidFill>
            <a:srgbClr val="E2DED5"/>
          </a:solidFill>
          <a:ln w="12700">
            <a:solidFill>
              <a:srgbClr val="E2DED5">
                <a:alpha val="0"/>
              </a:srgbClr>
            </a:solidFill>
            <a:prstDash val="solid"/>
          </a:ln>
        </p:spPr>
      </p:sp>
      <p:sp>
        <p:nvSpPr>
          <p:cNvPr id="60" name="Text 55"/>
          <p:cNvSpPr txBox="1"/>
          <p:nvPr/>
        </p:nvSpPr>
        <p:spPr>
          <a:xfrm>
            <a:off x="11234318" y="5034686"/>
            <a:ext cx="2610612"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88 %</a:t>
            </a:r>
            <a:endParaRPr lang="en-US" sz="1650" dirty="0"/>
          </a:p>
        </p:txBody>
      </p:sp>
      <p:sp>
        <p:nvSpPr>
          <p:cNvPr id="61" name="Shape 56"/>
          <p:cNvSpPr/>
          <p:nvPr/>
        </p:nvSpPr>
        <p:spPr>
          <a:xfrm>
            <a:off x="13834872" y="5778094"/>
            <a:ext cx="3696005" cy="9144"/>
          </a:xfrm>
          <a:prstGeom prst="rect">
            <a:avLst/>
          </a:prstGeom>
          <a:solidFill>
            <a:srgbClr val="E2DED5"/>
          </a:solidFill>
          <a:ln w="12700">
            <a:solidFill>
              <a:srgbClr val="E2DED5">
                <a:alpha val="0"/>
              </a:srgbClr>
            </a:solidFill>
            <a:prstDash val="solid"/>
          </a:ln>
        </p:spPr>
      </p:sp>
      <p:sp>
        <p:nvSpPr>
          <p:cNvPr id="62" name="Text 57"/>
          <p:cNvSpPr txBox="1"/>
          <p:nvPr/>
        </p:nvSpPr>
        <p:spPr>
          <a:xfrm>
            <a:off x="13834872" y="5034686"/>
            <a:ext cx="3696005" cy="534010"/>
          </a:xfrm>
          <a:prstGeom prst="rect">
            <a:avLst/>
          </a:prstGeom>
          <a:solidFill>
            <a:srgbClr val="FFFFFF">
              <a:alpha val="0"/>
            </a:srgbClr>
          </a:solidFill>
          <a:ln>
            <a:solidFill>
              <a:srgbClr val="FFFFFF">
                <a:alpha val="0"/>
              </a:srgbClr>
            </a:solidFill>
          </a:ln>
        </p:spPr>
        <p:txBody>
          <a:bodyPr wrap="none" lIns="190500" tIns="215900" rIns="19050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1 240</a:t>
            </a:r>
            <a:endParaRPr lang="en-US" sz="1650" dirty="0"/>
          </a:p>
        </p:txBody>
      </p:sp>
      <p:sp>
        <p:nvSpPr>
          <p:cNvPr id="63" name="Text 58"/>
          <p:cNvSpPr txBox="1"/>
          <p:nvPr/>
        </p:nvSpPr>
        <p:spPr>
          <a:xfrm>
            <a:off x="1180490" y="5778094"/>
            <a:ext cx="1867205" cy="743407"/>
          </a:xfrm>
          <a:prstGeom prst="rect">
            <a:avLst/>
          </a:prstGeom>
          <a:noFill/>
          <a:ln/>
        </p:spPr>
        <p:txBody>
          <a:bodyPr wrap="none" lIns="0" tIns="0" rIns="0" bIns="0" rtlCol="0" anchor="ctr"/>
          <a:lstStyle/>
          <a:p>
            <a:pPr algn="l" indent="0" marL="0">
              <a:buNone/>
            </a:pPr>
            <a:r>
              <a:rPr lang="en-US" sz="1650" b="1" dirty="0">
                <a:solidFill>
                  <a:srgbClr val="1A1D22"/>
                </a:solidFill>
                <a:latin typeface="Pretendard" pitchFamily="34" charset="0"/>
                <a:ea typeface="Pretendard" pitchFamily="34" charset="-122"/>
                <a:cs typeface="Pretendard" pitchFamily="34" charset="-120"/>
              </a:rPr>
              <a:t>W4 · Ru SADP</a:t>
            </a:r>
            <a:endParaRPr lang="en-US" sz="1650" dirty="0"/>
          </a:p>
        </p:txBody>
      </p:sp>
      <p:sp>
        <p:nvSpPr>
          <p:cNvPr id="64" name="Text 59"/>
          <p:cNvSpPr txBox="1"/>
          <p:nvPr/>
        </p:nvSpPr>
        <p:spPr>
          <a:xfrm>
            <a:off x="3047695" y="5778094"/>
            <a:ext cx="2791663" cy="743407"/>
          </a:xfrm>
          <a:prstGeom prst="rect">
            <a:avLst/>
          </a:prstGeom>
          <a:noFill/>
          <a:ln/>
        </p:spPr>
        <p:txBody>
          <a:bodyPr wrap="none" lIns="0" tIns="0" rIns="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9.4 ± 0.4</a:t>
            </a:r>
            <a:endParaRPr lang="en-US" sz="1650" dirty="0"/>
          </a:p>
        </p:txBody>
      </p:sp>
      <p:sp>
        <p:nvSpPr>
          <p:cNvPr id="65" name="Text 60"/>
          <p:cNvSpPr txBox="1"/>
          <p:nvPr/>
        </p:nvSpPr>
        <p:spPr>
          <a:xfrm>
            <a:off x="5834786" y="5778094"/>
            <a:ext cx="2895905" cy="743407"/>
          </a:xfrm>
          <a:prstGeom prst="rect">
            <a:avLst/>
          </a:prstGeom>
          <a:noFill/>
          <a:ln/>
        </p:spPr>
        <p:txBody>
          <a:bodyPr wrap="none" lIns="0" tIns="0" rIns="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1.9</a:t>
            </a:r>
            <a:endParaRPr lang="en-US" sz="1650" dirty="0"/>
          </a:p>
        </p:txBody>
      </p:sp>
      <p:sp>
        <p:nvSpPr>
          <p:cNvPr id="66" name="Text 61"/>
          <p:cNvSpPr txBox="1"/>
          <p:nvPr/>
        </p:nvSpPr>
        <p:spPr>
          <a:xfrm>
            <a:off x="8727034" y="5778094"/>
            <a:ext cx="2514600" cy="743407"/>
          </a:xfrm>
          <a:prstGeom prst="rect">
            <a:avLst/>
          </a:prstGeom>
          <a:noFill/>
          <a:ln/>
        </p:spPr>
        <p:txBody>
          <a:bodyPr wrap="none" lIns="0" tIns="0" rIns="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15.9</a:t>
            </a:r>
            <a:endParaRPr lang="en-US" sz="1650" dirty="0"/>
          </a:p>
        </p:txBody>
      </p:sp>
      <p:sp>
        <p:nvSpPr>
          <p:cNvPr id="67" name="Text 62"/>
          <p:cNvSpPr txBox="1"/>
          <p:nvPr/>
        </p:nvSpPr>
        <p:spPr>
          <a:xfrm>
            <a:off x="11234318" y="5778094"/>
            <a:ext cx="2610612" cy="743407"/>
          </a:xfrm>
          <a:prstGeom prst="rect">
            <a:avLst/>
          </a:prstGeom>
          <a:noFill/>
          <a:ln/>
        </p:spPr>
        <p:txBody>
          <a:bodyPr wrap="none" lIns="0" tIns="0" rIns="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90 %</a:t>
            </a:r>
            <a:endParaRPr lang="en-US" sz="1650" dirty="0"/>
          </a:p>
        </p:txBody>
      </p:sp>
      <p:sp>
        <p:nvSpPr>
          <p:cNvPr id="68" name="Text 63"/>
          <p:cNvSpPr txBox="1"/>
          <p:nvPr/>
        </p:nvSpPr>
        <p:spPr>
          <a:xfrm>
            <a:off x="13834872" y="5778094"/>
            <a:ext cx="3696005" cy="743407"/>
          </a:xfrm>
          <a:prstGeom prst="rect">
            <a:avLst/>
          </a:prstGeom>
          <a:noFill/>
          <a:ln/>
        </p:spPr>
        <p:txBody>
          <a:bodyPr wrap="none" lIns="0" tIns="0" rIns="0" bIns="0" rtlCol="0" anchor="ctr"/>
          <a:lstStyle/>
          <a:p>
            <a:pPr algn="r" indent="0" marL="0">
              <a:buNone/>
            </a:pPr>
            <a:r>
              <a:rPr lang="en-US" sz="1650" b="1" dirty="0">
                <a:solidFill>
                  <a:srgbClr val="355A6B"/>
                </a:solidFill>
                <a:latin typeface="Pretendard" pitchFamily="34" charset="0"/>
                <a:ea typeface="Pretendard" pitchFamily="34" charset="-122"/>
                <a:cs typeface="Pretendard" pitchFamily="34" charset="-120"/>
              </a:rPr>
              <a:t>1 380</a:t>
            </a:r>
            <a:endParaRPr lang="en-US" sz="1650" dirty="0"/>
          </a:p>
        </p:txBody>
      </p:sp>
      <p:sp>
        <p:nvSpPr>
          <p:cNvPr id="69" name="Shape 64"/>
          <p:cNvSpPr/>
          <p:nvPr/>
        </p:nvSpPr>
        <p:spPr>
          <a:xfrm>
            <a:off x="952805" y="3829507"/>
            <a:ext cx="75895" cy="247802"/>
          </a:xfrm>
          <a:prstGeom prst="rect">
            <a:avLst/>
          </a:prstGeom>
          <a:solidFill>
            <a:srgbClr val="B45F2D"/>
          </a:solidFill>
          <a:ln w="12700">
            <a:solidFill>
              <a:srgbClr val="FFFFFF">
                <a:alpha val="0"/>
              </a:srgbClr>
            </a:solidFill>
            <a:prstDash val="solid"/>
          </a:ln>
        </p:spPr>
      </p:sp>
      <p:sp>
        <p:nvSpPr>
          <p:cNvPr id="70" name="Shape 65"/>
          <p:cNvSpPr/>
          <p:nvPr/>
        </p:nvSpPr>
        <p:spPr>
          <a:xfrm>
            <a:off x="952805" y="4572914"/>
            <a:ext cx="75895" cy="247802"/>
          </a:xfrm>
          <a:prstGeom prst="rect">
            <a:avLst/>
          </a:prstGeom>
          <a:solidFill>
            <a:srgbClr val="B45F2D"/>
          </a:solidFill>
          <a:ln w="12700">
            <a:solidFill>
              <a:srgbClr val="FFFFFF">
                <a:alpha val="0"/>
              </a:srgbClr>
            </a:solidFill>
            <a:prstDash val="solid"/>
          </a:ln>
        </p:spPr>
      </p:sp>
      <p:sp>
        <p:nvSpPr>
          <p:cNvPr id="71" name="Shape 66"/>
          <p:cNvSpPr/>
          <p:nvPr/>
        </p:nvSpPr>
        <p:spPr>
          <a:xfrm>
            <a:off x="952805" y="5315407"/>
            <a:ext cx="75895" cy="247802"/>
          </a:xfrm>
          <a:prstGeom prst="rect">
            <a:avLst/>
          </a:prstGeom>
          <a:solidFill>
            <a:srgbClr val="355A6B"/>
          </a:solidFill>
          <a:ln w="12700">
            <a:solidFill>
              <a:srgbClr val="FFFFFF">
                <a:alpha val="0"/>
              </a:srgbClr>
            </a:solidFill>
            <a:prstDash val="solid"/>
          </a:ln>
        </p:spPr>
      </p:sp>
      <p:sp>
        <p:nvSpPr>
          <p:cNvPr id="72" name="Shape 67"/>
          <p:cNvSpPr/>
          <p:nvPr/>
        </p:nvSpPr>
        <p:spPr>
          <a:xfrm>
            <a:off x="952805" y="6058814"/>
            <a:ext cx="75895" cy="247802"/>
          </a:xfrm>
          <a:prstGeom prst="rect">
            <a:avLst/>
          </a:prstGeom>
          <a:solidFill>
            <a:srgbClr val="355A6B"/>
          </a:solidFill>
          <a:ln w="12700">
            <a:solidFill>
              <a:srgbClr val="FFFFFF">
                <a:alpha val="0"/>
              </a:srgbClr>
            </a:solidFill>
            <a:prstDash val="solid"/>
          </a:ln>
        </p:spPr>
      </p:sp>
      <p:sp>
        <p:nvSpPr>
          <p:cNvPr id="73" name="Text 68"/>
          <p:cNvSpPr txBox="1"/>
          <p:nvPr/>
        </p:nvSpPr>
        <p:spPr>
          <a:xfrm>
            <a:off x="761695" y="7048195"/>
            <a:ext cx="16764610" cy="181051"/>
          </a:xfrm>
          <a:prstGeom prst="rect">
            <a:avLst/>
          </a:prstGeom>
          <a:noFill/>
          <a:ln/>
        </p:spPr>
        <p:txBody>
          <a:bodyPr wrap="none" lIns="0" tIns="0" rIns="0" bIns="0" rtlCol="0" anchor="ctr"/>
          <a:lstStyle/>
          <a:p>
            <a:pPr algn="l" indent="0" marL="0">
              <a:buNone/>
            </a:pPr>
            <a:r>
              <a:rPr lang="en-US" sz="975" spc="215" kern="0" dirty="0">
                <a:solidFill>
                  <a:srgbClr val="2D5466"/>
                </a:solidFill>
                <a:latin typeface="Pretendard" pitchFamily="34" charset="0"/>
                <a:ea typeface="Pretendard" pitchFamily="34" charset="-122"/>
                <a:cs typeface="Pretendard" pitchFamily="34" charset="-120"/>
              </a:rPr>
              <a:t>READ-OUT NOTES</a:t>
            </a:r>
            <a:endParaRPr lang="en-US" sz="975" dirty="0"/>
          </a:p>
        </p:txBody>
      </p:sp>
      <p:sp>
        <p:nvSpPr>
          <p:cNvPr id="74" name="Text 69"/>
          <p:cNvSpPr txBox="1"/>
          <p:nvPr/>
        </p:nvSpPr>
        <p:spPr>
          <a:xfrm>
            <a:off x="761695" y="7362749"/>
            <a:ext cx="16764610" cy="277063"/>
          </a:xfrm>
          <a:prstGeom prst="rect">
            <a:avLst/>
          </a:prstGeom>
          <a:noFill/>
          <a:ln/>
        </p:spPr>
        <p:txBody>
          <a:bodyPr wrap="none" lIns="0" tIns="0" rIns="0" bIns="0" rtlCol="0" anchor="ctr"/>
          <a:lstStyle/>
          <a:p>
            <a:pPr algn="l" indent="0" marL="0">
              <a:buNone/>
            </a:pPr>
            <a:r>
              <a:rPr lang="en-US" sz="1350" dirty="0">
                <a:solidFill>
                  <a:srgbClr val="3E434A"/>
                </a:solidFill>
                <a:latin typeface="Pretendard" pitchFamily="34" charset="0"/>
                <a:ea typeface="Pretendard" pitchFamily="34" charset="-122"/>
                <a:cs typeface="Pretendard" pitchFamily="34" charset="-120"/>
              </a:rPr>
              <a:t>와이어 저항은 die 당 30 site 평균 · 누설 전류는 인접 라인-라인 @ 1.0 V · TDDB는 100°C 가혹 조건 4 MV·cm⁻¹ 누적 · T63 시점 우세 wafer가 양산 마진이 크다.</a:t>
            </a:r>
            <a:endParaRPr lang="en-US" sz="1350" dirty="0"/>
          </a:p>
        </p:txBody>
      </p:sp>
      <p:sp>
        <p:nvSpPr>
          <p:cNvPr id="75" name="Text 70"/>
          <p:cNvSpPr txBox="1"/>
          <p:nvPr/>
        </p:nvSpPr>
        <p:spPr>
          <a:xfrm>
            <a:off x="1143000" y="8419795"/>
            <a:ext cx="2286000" cy="181051"/>
          </a:xfrm>
          <a:prstGeom prst="rect">
            <a:avLst/>
          </a:prstGeom>
          <a:noFill/>
          <a:ln/>
        </p:spPr>
        <p:txBody>
          <a:bodyPr wrap="none" lIns="0" tIns="0" rIns="0" bIns="0" rtlCol="0" anchor="ctr"/>
          <a:lstStyle/>
          <a:p>
            <a:pPr algn="l" indent="0" marL="0">
              <a:buNone/>
            </a:pPr>
            <a:r>
              <a:rPr lang="en-US" sz="975" spc="273" kern="0" dirty="0">
                <a:solidFill>
                  <a:srgbClr val="9CC1CC"/>
                </a:solidFill>
                <a:latin typeface="Pretendard" pitchFamily="34" charset="0"/>
                <a:ea typeface="Pretendard" pitchFamily="34" charset="-122"/>
                <a:cs typeface="Pretendard" pitchFamily="34" charset="-120"/>
              </a:rPr>
              <a:t>KEY TAKEAWAY</a:t>
            </a:r>
            <a:endParaRPr lang="en-US" sz="975" dirty="0"/>
          </a:p>
        </p:txBody>
      </p:sp>
      <p:sp>
        <p:nvSpPr>
          <p:cNvPr id="76" name="Text 71"/>
          <p:cNvSpPr txBox="1"/>
          <p:nvPr/>
        </p:nvSpPr>
        <p:spPr>
          <a:xfrm>
            <a:off x="1143000" y="8744407"/>
            <a:ext cx="16687800" cy="324612"/>
          </a:xfrm>
          <a:prstGeom prst="rect">
            <a:avLst/>
          </a:prstGeom>
          <a:noFill/>
          <a:ln/>
        </p:spPr>
        <p:txBody>
          <a:bodyPr wrap="none" lIns="0" tIns="0" rIns="0" bIns="0" rtlCol="0" anchor="ctr"/>
          <a:lstStyle/>
          <a:p>
            <a:pPr algn="l" indent="0" marL="0">
              <a:buNone/>
            </a:pPr>
            <a:r>
              <a:rPr lang="en-US" sz="1800" dirty="0">
                <a:solidFill>
                  <a:srgbClr val="FFFFFF"/>
                </a:solidFill>
                <a:latin typeface="Pretendard" pitchFamily="34" charset="0"/>
                <a:ea typeface="Pretendard" pitchFamily="34" charset="-122"/>
                <a:cs typeface="Pretendard" pitchFamily="34" charset="-120"/>
              </a:rPr>
              <a:t>와이어 저항 −24% · 누설 −70% · chain yield +14%p · TDDB ×2.7 — Ru SD(W3·W4)가 4개 항목 모두에서 우세, dummy 셋 기준 양산 적합성 신호가 명확하다.</a:t>
            </a:r>
            <a:endParaRPr lang="en-US" sz="1800" dirty="0"/>
          </a:p>
        </p:txBody>
      </p:sp>
      <p:sp>
        <p:nvSpPr>
          <p:cNvPr id="77" name="Text 72"/>
          <p:cNvSpPr txBox="1"/>
          <p:nvPr/>
        </p:nvSpPr>
        <p:spPr>
          <a:xfrm>
            <a:off x="761695" y="9696298"/>
            <a:ext cx="16764610" cy="181051"/>
          </a:xfrm>
          <a:prstGeom prst="rect">
            <a:avLst/>
          </a:prstGeom>
          <a:noFill/>
          <a:ln/>
        </p:spPr>
        <p:txBody>
          <a:bodyPr wrap="none" lIns="0" tIns="0" rIns="0" bIns="0" rtlCol="0" anchor="ctr"/>
          <a:lstStyle/>
          <a:p>
            <a:pPr algn="l" indent="0" marL="0">
              <a:buNone/>
            </a:pPr>
            <a:r>
              <a:rPr lang="en-US" sz="975" spc="117" kern="0" dirty="0">
                <a:solidFill>
                  <a:srgbClr val="8B8E94"/>
                </a:solidFill>
                <a:latin typeface="Pretendard" pitchFamily="34" charset="0"/>
                <a:ea typeface="Pretendard" pitchFamily="34" charset="-122"/>
                <a:cs typeface="Pretendard" pitchFamily="34" charset="-120"/>
              </a:rPr>
              <a:t>※ 내부 테스트용 더미(가상) 데이터</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2026-10-04T07:26:09Z</dcterms:created>
  <dcterms:modified xsi:type="dcterms:W3CDTF">2026-10-04T07:26:09Z</dcterms:modified>
</cp:coreProperties>
</file>