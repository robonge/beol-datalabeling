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1.png"/><Relationship Id="rId13" Type="http://schemas.openxmlformats.org/officeDocument/2006/relationships/image" Target="../media/image-1-11.png"/><Relationship Id="rId14" Type="http://schemas.openxmlformats.org/officeDocument/2006/relationships/image" Target="../media/image-1-11.png"/><Relationship Id="rId15" Type="http://schemas.openxmlformats.org/officeDocument/2006/relationships/image" Target="../media/image-1-11.png"/><Relationship Id="rId16" Type="http://schemas.openxmlformats.org/officeDocument/2006/relationships/image" Target="../media/image-1-11.png"/><Relationship Id="rId17" Type="http://schemas.openxmlformats.org/officeDocument/2006/relationships/image" Target="../media/image-1-11.png"/><Relationship Id="rId18" Type="http://schemas.openxmlformats.org/officeDocument/2006/relationships/image" Target="../media/image-1-11.png"/><Relationship Id="rId19" Type="http://schemas.openxmlformats.org/officeDocument/2006/relationships/image" Target="../media/image-1-11.png"/><Relationship Id="rId20" Type="http://schemas.openxmlformats.org/officeDocument/2006/relationships/image" Target="../media/image-1-11.png"/><Relationship Id="rId21" Type="http://schemas.openxmlformats.org/officeDocument/2006/relationships/image" Target="../media/image-1-21.jpe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jpeg"/><Relationship Id="rId14" Type="http://schemas.openxmlformats.org/officeDocument/2006/relationships/image" Target="../media/image-2-14.jpe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jpeg"/><Relationship Id="rId13" Type="http://schemas.openxmlformats.org/officeDocument/2006/relationships/image" Target="../media/image-3-13.jpe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0287000"/>
          </a:xfrm>
          <a:prstGeom prst="rect">
            <a:avLst/>
          </a:prstGeom>
          <a:solidFill>
            <a:srgbClr val="1014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57500" y="3238805"/>
            <a:ext cx="10858500" cy="5715000"/>
          </a:xfrm>
          <a:prstGeom prst="rect">
            <a:avLst/>
          </a:prstGeom>
          <a:solidFill>
            <a:srgbClr val="1014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953744" y="3238805"/>
            <a:ext cx="3810305" cy="5715000"/>
          </a:xfrm>
          <a:prstGeom prst="rect">
            <a:avLst/>
          </a:prstGeom>
          <a:solidFill>
            <a:srgbClr val="0F14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cf4ff73d9c630334af0e6bb3ba30898b.png">    </p:cNvPr>
          <p:cNvPicPr>
            <a:picLocks noChangeAspect="1"/>
          </p:cNvPicPr>
          <p:nvPr/>
        </p:nvPicPr>
        <p:blipFill>
          <a:blip r:embed="rId1"/>
          <a:srcRect l="-424" r="-424" t="0" b="0"/>
          <a:stretch/>
        </p:blipFill>
        <p:spPr>
          <a:xfrm>
            <a:off x="571500" y="1143000"/>
            <a:ext cx="19202" cy="323698"/>
          </a:xfrm>
          <a:prstGeom prst="rect">
            <a:avLst/>
          </a:prstGeom>
        </p:spPr>
      </p:pic>
      <p:pic>
        <p:nvPicPr>
          <p:cNvPr id="6" name="Image 1" descr="gen-dedup-315d11383f7727b56715243def078497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571500" y="2857500"/>
            <a:ext cx="1143000" cy="9144"/>
          </a:xfrm>
          <a:prstGeom prst="rect">
            <a:avLst/>
          </a:prstGeom>
        </p:spPr>
      </p:pic>
      <p:pic>
        <p:nvPicPr>
          <p:cNvPr id="7" name="Image 2" descr="gen-dedup-b97fbc1c9f241b2ff767bf1265452638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571500" y="8382305"/>
            <a:ext cx="1143000" cy="19202"/>
          </a:xfrm>
          <a:prstGeom prst="rect">
            <a:avLst/>
          </a:prstGeom>
        </p:spPr>
      </p:pic>
      <p:pic>
        <p:nvPicPr>
          <p:cNvPr id="8" name="Image 3" descr="gen-dedup-5cd29c9d51918f1fde2ee979453a06da.png">    </p:cNvPr>
          <p:cNvPicPr>
            <a:picLocks noChangeAspect="1"/>
          </p:cNvPicPr>
          <p:nvPr/>
        </p:nvPicPr>
        <p:blipFill>
          <a:blip r:embed="rId4"/>
          <a:srcRect l="0" r="0" t="-420" b="-420"/>
          <a:stretch/>
        </p:blipFill>
        <p:spPr>
          <a:xfrm>
            <a:off x="571500" y="8667598"/>
            <a:ext cx="761695" cy="19202"/>
          </a:xfrm>
          <a:prstGeom prst="rect">
            <a:avLst/>
          </a:prstGeom>
        </p:spPr>
      </p:pic>
      <p:pic>
        <p:nvPicPr>
          <p:cNvPr id="9" name="Image 4" descr="gen-dedup-e6ce1f8c0a8e5bd05c5b6b9a96f585cf.png">    </p:cNvPr>
          <p:cNvPicPr>
            <a:picLocks noChangeAspect="1"/>
          </p:cNvPicPr>
          <p:nvPr/>
        </p:nvPicPr>
        <p:blipFill>
          <a:blip r:embed="rId5"/>
          <a:srcRect l="0" r="0" t="-360" b="-360"/>
          <a:stretch/>
        </p:blipFill>
        <p:spPr>
          <a:xfrm>
            <a:off x="571500" y="8953805"/>
            <a:ext cx="381305" cy="19202"/>
          </a:xfrm>
          <a:prstGeom prst="rect">
            <a:avLst/>
          </a:prstGeom>
        </p:spPr>
      </p:pic>
      <p:pic>
        <p:nvPicPr>
          <p:cNvPr id="10" name="Image 5" descr="gen-dedup-1a919d53291ad977b15b6f17c2c3aaef.png">    </p:cNvPr>
          <p:cNvPicPr>
            <a:picLocks noChangeAspect="1"/>
          </p:cNvPicPr>
          <p:nvPr/>
        </p:nvPicPr>
        <p:blipFill>
          <a:blip r:embed="rId6"/>
          <a:srcRect l="-404" r="-404" t="0" b="0"/>
          <a:stretch/>
        </p:blipFill>
        <p:spPr>
          <a:xfrm>
            <a:off x="2857500" y="2115007"/>
            <a:ext cx="571500" cy="28346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2857500" y="3238805"/>
            <a:ext cx="10858500" cy="476402"/>
          </a:xfrm>
          <a:prstGeom prst="rect">
            <a:avLst/>
          </a:prstGeom>
          <a:solidFill>
            <a:srgbClr val="161D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6" descr="gen-dedup-2c835825e5f6a9169c0d0dcda5594d0d.png">    </p:cNvPr>
          <p:cNvPicPr>
            <a:picLocks noChangeAspect="1"/>
          </p:cNvPicPr>
          <p:nvPr/>
        </p:nvPicPr>
        <p:blipFill>
          <a:blip r:embed="rId7"/>
          <a:srcRect l="0" r="0" t="-396" b="-396"/>
          <a:stretch/>
        </p:blipFill>
        <p:spPr>
          <a:xfrm>
            <a:off x="13953744" y="3238805"/>
            <a:ext cx="3810305" cy="19202"/>
          </a:xfrm>
          <a:prstGeom prst="rect">
            <a:avLst/>
          </a:prstGeom>
        </p:spPr>
      </p:pic>
      <p:pic>
        <p:nvPicPr>
          <p:cNvPr id="13" name="Image 7" descr="gen-dedup-721b62c4f6616d1f3b95273c0e74c7b8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14144854" y="5715000"/>
            <a:ext cx="3429000" cy="9144"/>
          </a:xfrm>
          <a:prstGeom prst="rect">
            <a:avLst/>
          </a:prstGeom>
        </p:spPr>
      </p:pic>
      <p:pic>
        <p:nvPicPr>
          <p:cNvPr id="14" name="Image 8" descr="gen-dedup-ab32dc1da43b440c354c81a6d16ac252.png">    </p:cNvPr>
          <p:cNvPicPr>
            <a:picLocks noChangeAspect="1"/>
          </p:cNvPicPr>
          <p:nvPr/>
        </p:nvPicPr>
        <p:blipFill>
          <a:blip r:embed="rId9"/>
          <a:srcRect l="0" r="0" t="-2083" b="-2083"/>
          <a:stretch/>
        </p:blipFill>
        <p:spPr>
          <a:xfrm>
            <a:off x="2266798" y="0"/>
            <a:ext cx="9144" cy="10287000"/>
          </a:xfrm>
          <a:prstGeom prst="rect">
            <a:avLst/>
          </a:prstGeom>
        </p:spPr>
      </p:pic>
      <p:pic>
        <p:nvPicPr>
          <p:cNvPr id="15" name="Image 9" descr="gen-dedup-3a28fc911787d5f007f375c006d1dd65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2857500" y="3705149"/>
            <a:ext cx="10858500" cy="9144"/>
          </a:xfrm>
          <a:prstGeom prst="rect">
            <a:avLst/>
          </a:prstGeom>
        </p:spPr>
      </p:pic>
      <p:pic>
        <p:nvPicPr>
          <p:cNvPr id="16" name="Image 10" descr="gen-dedup-645a7fe39dd7800f3ca8140209eaa726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2857500" y="4248302"/>
            <a:ext cx="10858500" cy="9144"/>
          </a:xfrm>
          <a:prstGeom prst="rect">
            <a:avLst/>
          </a:prstGeom>
        </p:spPr>
      </p:pic>
      <p:pic>
        <p:nvPicPr>
          <p:cNvPr id="17" name="Image 11" descr="gen-dedup-645a7fe39dd7800f3ca8140209eaa726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2857500" y="4743907"/>
            <a:ext cx="10858500" cy="9144"/>
          </a:xfrm>
          <a:prstGeom prst="rect">
            <a:avLst/>
          </a:prstGeom>
        </p:spPr>
      </p:pic>
      <p:pic>
        <p:nvPicPr>
          <p:cNvPr id="18" name="Image 12" descr="gen-dedup-645a7fe39dd7800f3ca8140209eaa726.png">    </p:cNvPr>
          <p:cNvPicPr>
            <a:picLocks noChangeAspect="1"/>
          </p:cNvPicPr>
          <p:nvPr/>
        </p:nvPicPr>
        <p:blipFill>
          <a:blip r:embed="rId13"/>
          <a:srcRect l="-2083" r="-2083" t="0" b="0"/>
          <a:stretch/>
        </p:blipFill>
        <p:spPr>
          <a:xfrm>
            <a:off x="2857500" y="5238598"/>
            <a:ext cx="10858500" cy="9144"/>
          </a:xfrm>
          <a:prstGeom prst="rect">
            <a:avLst/>
          </a:prstGeom>
        </p:spPr>
      </p:pic>
      <p:pic>
        <p:nvPicPr>
          <p:cNvPr id="19" name="Image 13" descr="gen-dedup-645a7fe39dd7800f3ca8140209eaa726.png">    </p:cNvPr>
          <p:cNvPicPr>
            <a:picLocks noChangeAspect="1"/>
          </p:cNvPicPr>
          <p:nvPr/>
        </p:nvPicPr>
        <p:blipFill>
          <a:blip r:embed="rId14"/>
          <a:srcRect l="-2083" r="-2083" t="0" b="0"/>
          <a:stretch/>
        </p:blipFill>
        <p:spPr>
          <a:xfrm>
            <a:off x="2857500" y="5734202"/>
            <a:ext cx="10858500" cy="9144"/>
          </a:xfrm>
          <a:prstGeom prst="rect">
            <a:avLst/>
          </a:prstGeom>
        </p:spPr>
      </p:pic>
      <p:pic>
        <p:nvPicPr>
          <p:cNvPr id="20" name="Image 14" descr="gen-dedup-645a7fe39dd7800f3ca8140209eaa726.png">    </p:cNvPr>
          <p:cNvPicPr>
            <a:picLocks noChangeAspect="1"/>
          </p:cNvPicPr>
          <p:nvPr/>
        </p:nvPicPr>
        <p:blipFill>
          <a:blip r:embed="rId15"/>
          <a:srcRect l="-2083" r="-2083" t="0" b="0"/>
          <a:stretch/>
        </p:blipFill>
        <p:spPr>
          <a:xfrm>
            <a:off x="2857500" y="6229807"/>
            <a:ext cx="10858500" cy="9144"/>
          </a:xfrm>
          <a:prstGeom prst="rect">
            <a:avLst/>
          </a:prstGeom>
        </p:spPr>
      </p:pic>
      <p:pic>
        <p:nvPicPr>
          <p:cNvPr id="21" name="Image 15" descr="gen-dedup-645a7fe39dd7800f3ca8140209eaa726.png">    </p:cNvPr>
          <p:cNvPicPr>
            <a:picLocks noChangeAspect="1"/>
          </p:cNvPicPr>
          <p:nvPr/>
        </p:nvPicPr>
        <p:blipFill>
          <a:blip r:embed="rId16"/>
          <a:srcRect l="-2083" r="-2083" t="0" b="0"/>
          <a:stretch/>
        </p:blipFill>
        <p:spPr>
          <a:xfrm>
            <a:off x="2857500" y="6724498"/>
            <a:ext cx="10858500" cy="9144"/>
          </a:xfrm>
          <a:prstGeom prst="rect">
            <a:avLst/>
          </a:prstGeom>
        </p:spPr>
      </p:pic>
      <p:pic>
        <p:nvPicPr>
          <p:cNvPr id="22" name="Image 16" descr="gen-dedup-645a7fe39dd7800f3ca8140209eaa726.png">    </p:cNvPr>
          <p:cNvPicPr>
            <a:picLocks noChangeAspect="1"/>
          </p:cNvPicPr>
          <p:nvPr/>
        </p:nvPicPr>
        <p:blipFill>
          <a:blip r:embed="rId17"/>
          <a:srcRect l="-2083" r="-2083" t="0" b="0"/>
          <a:stretch/>
        </p:blipFill>
        <p:spPr>
          <a:xfrm>
            <a:off x="2857500" y="7220102"/>
            <a:ext cx="10858500" cy="9144"/>
          </a:xfrm>
          <a:prstGeom prst="rect">
            <a:avLst/>
          </a:prstGeom>
        </p:spPr>
      </p:pic>
      <p:pic>
        <p:nvPicPr>
          <p:cNvPr id="23" name="Image 17" descr="gen-dedup-645a7fe39dd7800f3ca8140209eaa726.png">    </p:cNvPr>
          <p:cNvPicPr>
            <a:picLocks noChangeAspect="1"/>
          </p:cNvPicPr>
          <p:nvPr/>
        </p:nvPicPr>
        <p:blipFill>
          <a:blip r:embed="rId18"/>
          <a:srcRect l="-2083" r="-2083" t="0" b="0"/>
          <a:stretch/>
        </p:blipFill>
        <p:spPr>
          <a:xfrm>
            <a:off x="2857500" y="7715707"/>
            <a:ext cx="10858500" cy="9144"/>
          </a:xfrm>
          <a:prstGeom prst="rect">
            <a:avLst/>
          </a:prstGeom>
        </p:spPr>
      </p:pic>
      <p:pic>
        <p:nvPicPr>
          <p:cNvPr id="24" name="Image 18" descr="gen-dedup-645a7fe39dd7800f3ca8140209eaa726.png">    </p:cNvPr>
          <p:cNvPicPr>
            <a:picLocks noChangeAspect="1"/>
          </p:cNvPicPr>
          <p:nvPr/>
        </p:nvPicPr>
        <p:blipFill>
          <a:blip r:embed="rId19"/>
          <a:srcRect l="-2083" r="-2083" t="0" b="0"/>
          <a:stretch/>
        </p:blipFill>
        <p:spPr>
          <a:xfrm>
            <a:off x="2857500" y="8210398"/>
            <a:ext cx="10858500" cy="9144"/>
          </a:xfrm>
          <a:prstGeom prst="rect">
            <a:avLst/>
          </a:prstGeom>
        </p:spPr>
      </p:pic>
      <p:pic>
        <p:nvPicPr>
          <p:cNvPr id="25" name="Image 19" descr="gen-dedup-645a7fe39dd7800f3ca8140209eaa726.png">    </p:cNvPr>
          <p:cNvPicPr>
            <a:picLocks noChangeAspect="1"/>
          </p:cNvPicPr>
          <p:nvPr/>
        </p:nvPicPr>
        <p:blipFill>
          <a:blip r:embed="rId20"/>
          <a:srcRect l="-2083" r="-2083" t="0" b="0"/>
          <a:stretch/>
        </p:blipFill>
        <p:spPr>
          <a:xfrm>
            <a:off x="2857500" y="8706002"/>
            <a:ext cx="10858500" cy="9144"/>
          </a:xfrm>
          <a:prstGeom prst="rect">
            <a:avLst/>
          </a:prstGeom>
        </p:spPr>
      </p:pic>
      <p:pic>
        <p:nvPicPr>
          <p:cNvPr id="26" name="Image 20" descr="gen-dedup-c528c4eedaefddff4fbf1d292bf04c1c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144854" y="3448202"/>
            <a:ext cx="3429000" cy="1733702"/>
          </a:xfrm>
          <a:prstGeom prst="rect">
            <a:avLst/>
          </a:prstGeom>
        </p:spPr>
      </p:pic>
      <p:sp>
        <p:nvSpPr>
          <p:cNvPr id="27" name="Text 4"/>
          <p:cNvSpPr txBox="1"/>
          <p:nvPr/>
        </p:nvSpPr>
        <p:spPr>
          <a:xfrm>
            <a:off x="743407" y="1123798"/>
            <a:ext cx="1524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 · Cu · Mo · Al-MISC</a:t>
            </a:r>
            <a:endParaRPr lang="en-US" sz="975" dirty="0"/>
          </a:p>
        </p:txBody>
      </p:sp>
      <p:sp>
        <p:nvSpPr>
          <p:cNvPr id="28" name="Text 5"/>
          <p:cNvSpPr txBox="1"/>
          <p:nvPr/>
        </p:nvSpPr>
        <p:spPr>
          <a:xfrm>
            <a:off x="571500" y="1904695"/>
            <a:ext cx="14292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b="1" spc="-16" kern="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후보군</a:t>
            </a:r>
            <a:pPr algn="l" indent="0" marL="0">
              <a:lnSpc>
                <a:spcPct val="132000"/>
              </a:lnSpc>
              <a:buNone/>
            </a:pPr>
            <a:endParaRPr lang="en-US" sz="16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50" b="1" spc="-16" kern="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스크리닝</a:t>
            </a:r>
            <a:endParaRPr lang="en-US" sz="1650" dirty="0"/>
          </a:p>
        </p:txBody>
      </p:sp>
      <p:sp>
        <p:nvSpPr>
          <p:cNvPr id="29" name="Text 6"/>
          <p:cNvSpPr txBox="1"/>
          <p:nvPr/>
        </p:nvSpPr>
        <p:spPr>
          <a:xfrm>
            <a:off x="571500" y="3109874"/>
            <a:ext cx="1524305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6"/>
              </a:lnSpc>
              <a:buNone/>
            </a:pPr>
            <a:r>
              <a:rPr lang="en-US" sz="825" spc="33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Murdoch</a:t>
            </a:r>
            <a:pPr algn="l" indent="0" marL="0">
              <a:lnSpc>
                <a:spcPts val="1526"/>
              </a:lnSpc>
              <a:buNone/>
            </a:pPr>
            <a:endParaRPr lang="en-US" sz="825" dirty="0"/>
          </a:p>
          <a:p>
            <a:pPr algn="l" indent="0" marL="0">
              <a:lnSpc>
                <a:spcPts val="1526"/>
              </a:lnSpc>
              <a:buNone/>
            </a:pPr>
            <a:r>
              <a:rPr lang="en-US" sz="825" spc="33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VLSI 2022</a:t>
            </a:r>
            <a:endParaRPr lang="en-US" sz="825" dirty="0"/>
          </a:p>
        </p:txBody>
      </p:sp>
      <p:sp>
        <p:nvSpPr>
          <p:cNvPr id="30" name="Text 7"/>
          <p:cNvSpPr txBox="1"/>
          <p:nvPr/>
        </p:nvSpPr>
        <p:spPr>
          <a:xfrm>
            <a:off x="571500" y="943020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</a:t>
            </a:r>
            <a:pPr algn="l" indent="0" marL="0">
              <a:buNone/>
            </a:pPr>
            <a:r>
              <a:rPr lang="en-US" sz="825" spc="83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PG 01 / 03</a:t>
            </a:r>
            <a:endParaRPr lang="en-US" sz="825" dirty="0"/>
          </a:p>
        </p:txBody>
      </p:sp>
      <p:sp>
        <p:nvSpPr>
          <p:cNvPr id="31" name="Text 8"/>
          <p:cNvSpPr txBox="1"/>
          <p:nvPr/>
        </p:nvSpPr>
        <p:spPr>
          <a:xfrm>
            <a:off x="2857500" y="705002"/>
            <a:ext cx="12382805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b="1" spc="-75" kern="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 nm 피치 2소재</a:t>
            </a:r>
            <a:pPr algn="l" indent="0" marL="0">
              <a:lnSpc>
                <a:spcPct val="110000"/>
              </a:lnSpc>
              <a:buNone/>
            </a:pPr>
            <a:endParaRPr lang="en-US" sz="37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750" b="1" spc="-75" kern="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완전 자기정렬 비아</a:t>
            </a:r>
            <a:endParaRPr lang="en-US" sz="3750" dirty="0"/>
          </a:p>
        </p:txBody>
      </p:sp>
      <p:sp>
        <p:nvSpPr>
          <p:cNvPr id="32" name="Text 9"/>
          <p:cNvSpPr txBox="1"/>
          <p:nvPr/>
        </p:nvSpPr>
        <p:spPr>
          <a:xfrm>
            <a:off x="2857500" y="2361895"/>
            <a:ext cx="12192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 상이 계산상 가장 낮지만 아직 증착·에칭 실증이 없습니다. 실제로 300 mm 웨이퍼에서 돌아간 건 Ru, Mo, 그리고 Al 기반 금속간화합물뿐입니다.</a:t>
            </a:r>
            <a:endParaRPr lang="en-US" sz="1350" dirty="0"/>
          </a:p>
        </p:txBody>
      </p:sp>
      <p:sp>
        <p:nvSpPr>
          <p:cNvPr id="33" name="Text 10"/>
          <p:cNvSpPr txBox="1"/>
          <p:nvPr/>
        </p:nvSpPr>
        <p:spPr>
          <a:xfrm>
            <a:off x="3124505" y="3372307"/>
            <a:ext cx="3620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항목</a:t>
            </a:r>
            <a:endParaRPr lang="en-US" sz="900" dirty="0"/>
          </a:p>
        </p:txBody>
      </p:sp>
      <p:sp>
        <p:nvSpPr>
          <p:cNvPr id="34" name="Text 11"/>
          <p:cNvSpPr txBox="1"/>
          <p:nvPr/>
        </p:nvSpPr>
        <p:spPr>
          <a:xfrm>
            <a:off x="6953098" y="3372307"/>
            <a:ext cx="6286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값</a:t>
            </a:r>
            <a:endParaRPr lang="en-US" sz="900" dirty="0"/>
          </a:p>
        </p:txBody>
      </p:sp>
      <p:sp>
        <p:nvSpPr>
          <p:cNvPr id="35" name="Text 12"/>
          <p:cNvSpPr txBox="1"/>
          <p:nvPr/>
        </p:nvSpPr>
        <p:spPr>
          <a:xfrm>
            <a:off x="3124505" y="3847795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금속 피치</a:t>
            </a:r>
            <a:endParaRPr lang="en-US" sz="1275" dirty="0"/>
          </a:p>
        </p:txBody>
      </p:sp>
      <p:sp>
        <p:nvSpPr>
          <p:cNvPr id="36" name="Text 13"/>
          <p:cNvSpPr txBox="1"/>
          <p:nvPr/>
        </p:nvSpPr>
        <p:spPr>
          <a:xfrm>
            <a:off x="6953098" y="3847795"/>
            <a:ext cx="6286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→ 18 nm</a:t>
            </a:r>
            <a:endParaRPr lang="en-US" sz="1275" dirty="0"/>
          </a:p>
        </p:txBody>
      </p:sp>
      <p:sp>
        <p:nvSpPr>
          <p:cNvPr id="37" name="Text 14"/>
          <p:cNvSpPr txBox="1"/>
          <p:nvPr/>
        </p:nvSpPr>
        <p:spPr>
          <a:xfrm>
            <a:off x="7144207" y="4076395"/>
            <a:ext cx="90799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(2소재 실증)</a:t>
            </a:r>
            <a:endParaRPr lang="en-US" sz="1050" dirty="0"/>
          </a:p>
        </p:txBody>
      </p:sp>
      <p:sp>
        <p:nvSpPr>
          <p:cNvPr id="38" name="Text 15"/>
          <p:cNvSpPr txBox="1"/>
          <p:nvPr/>
        </p:nvSpPr>
        <p:spPr>
          <a:xfrm>
            <a:off x="3124505" y="4343400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선폭(CD)</a:t>
            </a:r>
            <a:endParaRPr lang="en-US" sz="1275" dirty="0"/>
          </a:p>
        </p:txBody>
      </p:sp>
      <p:sp>
        <p:nvSpPr>
          <p:cNvPr id="39" name="Text 16"/>
          <p:cNvSpPr txBox="1"/>
          <p:nvPr/>
        </p:nvSpPr>
        <p:spPr>
          <a:xfrm>
            <a:off x="6953098" y="4343400"/>
            <a:ext cx="6286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nm</a:t>
            </a:r>
            <a:endParaRPr lang="en-US" sz="1275" dirty="0"/>
          </a:p>
        </p:txBody>
      </p:sp>
      <p:sp>
        <p:nvSpPr>
          <p:cNvPr id="40" name="Text 17"/>
          <p:cNvSpPr txBox="1"/>
          <p:nvPr/>
        </p:nvSpPr>
        <p:spPr>
          <a:xfrm>
            <a:off x="7144207" y="4562856"/>
            <a:ext cx="168432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PVD Ru 30 nm → AR ≈ 3</a:t>
            </a:r>
            <a:endParaRPr lang="en-US" sz="1050" dirty="0"/>
          </a:p>
        </p:txBody>
      </p:sp>
      <p:sp>
        <p:nvSpPr>
          <p:cNvPr id="41" name="Text 18"/>
          <p:cNvSpPr txBox="1"/>
          <p:nvPr/>
        </p:nvSpPr>
        <p:spPr>
          <a:xfrm>
            <a:off x="3124505" y="4839005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전도 단면적</a:t>
            </a:r>
            <a:endParaRPr lang="en-US" sz="1275" dirty="0"/>
          </a:p>
        </p:txBody>
      </p:sp>
      <p:sp>
        <p:nvSpPr>
          <p:cNvPr id="42" name="Text 19"/>
          <p:cNvSpPr txBox="1"/>
          <p:nvPr/>
        </p:nvSpPr>
        <p:spPr>
          <a:xfrm>
            <a:off x="6953098" y="483900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E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명목</a:t>
            </a:r>
            <a:pPr algn="l" indent="0" marL="0">
              <a:buNone/>
            </a:pPr>
            <a:r>
              <a:rPr lang="en-US" sz="1200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270 nm²</a:t>
            </a:r>
            <a:pPr algn="l" indent="0" marL="0">
              <a:buNone/>
            </a:pPr>
            <a:r>
              <a:rPr lang="en-US" sz="120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</a:t>
            </a:r>
            <a:pPr algn="l" indent="0" marL="0">
              <a:buNone/>
            </a:pPr>
            <a:r>
              <a:rPr lang="en-US" sz="1200" dirty="0">
                <a:solidFill>
                  <a:srgbClr val="ECEE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전기적</a:t>
            </a:r>
            <a:pPr algn="l" indent="0" marL="0">
              <a:buNone/>
            </a:pPr>
            <a:r>
              <a:rPr lang="en-US" sz="1200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250 nm²</a:t>
            </a:r>
            <a:pPr algn="l" indent="0" marL="0">
              <a:buNone/>
            </a:pPr>
            <a:r>
              <a:rPr lang="en-US" sz="120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</a:t>
            </a:r>
            <a:pPr algn="l" indent="0" marL="0">
              <a:buNone/>
            </a:pPr>
            <a:r>
              <a:rPr lang="en-US" sz="1200" dirty="0">
                <a:solidFill>
                  <a:srgbClr val="ECEE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물리적</a:t>
            </a:r>
            <a:pPr algn="l" indent="0" marL="0">
              <a:buNone/>
            </a:pPr>
            <a:r>
              <a:rPr lang="en-US" sz="1200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257 nm²</a:t>
            </a:r>
            <a:endParaRPr lang="en-US" sz="1200" dirty="0"/>
          </a:p>
        </p:txBody>
      </p:sp>
      <p:sp>
        <p:nvSpPr>
          <p:cNvPr id="43" name="Text 20"/>
          <p:cNvSpPr txBox="1"/>
          <p:nvPr/>
        </p:nvSpPr>
        <p:spPr>
          <a:xfrm>
            <a:off x="3124505" y="5333695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EUV 비아 홀</a:t>
            </a:r>
            <a:endParaRPr lang="en-US" sz="1275" dirty="0"/>
          </a:p>
        </p:txBody>
      </p:sp>
      <p:sp>
        <p:nvSpPr>
          <p:cNvPr id="44" name="Text 21"/>
          <p:cNvSpPr txBox="1"/>
          <p:nvPr/>
        </p:nvSpPr>
        <p:spPr>
          <a:xfrm>
            <a:off x="6953098" y="5333695"/>
            <a:ext cx="6286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최소 </a:t>
            </a:r>
            <a:pPr algn="l" indent="0" marL="0">
              <a:buNone/>
            </a:pPr>
            <a:r>
              <a:rPr lang="en-US" sz="12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nm</a:t>
            </a:r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→ 접촉면적 </a:t>
            </a:r>
            <a:pPr algn="l" indent="0" marL="0">
              <a:buNone/>
            </a:pPr>
            <a:r>
              <a:rPr lang="en-US" sz="12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180 nm²</a:t>
            </a:r>
            <a:endParaRPr lang="en-US" sz="1275" dirty="0"/>
          </a:p>
        </p:txBody>
      </p:sp>
      <p:sp>
        <p:nvSpPr>
          <p:cNvPr id="45" name="Text 22"/>
          <p:cNvSpPr txBox="1"/>
          <p:nvPr/>
        </p:nvSpPr>
        <p:spPr>
          <a:xfrm>
            <a:off x="3124505" y="5829300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비아 저항</a:t>
            </a:r>
            <a:endParaRPr lang="en-US" sz="1275" dirty="0"/>
          </a:p>
        </p:txBody>
      </p:sp>
      <p:sp>
        <p:nvSpPr>
          <p:cNvPr id="46" name="Text 23"/>
          <p:cNvSpPr txBox="1"/>
          <p:nvPr/>
        </p:nvSpPr>
        <p:spPr>
          <a:xfrm>
            <a:off x="6953098" y="5829300"/>
            <a:ext cx="6286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Ω &lt; R &lt; 60 Ω</a:t>
            </a:r>
            <a:endParaRPr lang="en-US" sz="1275" dirty="0"/>
          </a:p>
        </p:txBody>
      </p:sp>
      <p:sp>
        <p:nvSpPr>
          <p:cNvPr id="47" name="Text 24"/>
          <p:cNvSpPr txBox="1"/>
          <p:nvPr/>
        </p:nvSpPr>
        <p:spPr>
          <a:xfrm>
            <a:off x="7144207" y="6057900"/>
            <a:ext cx="181508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(18–26 nm 피치 전 구간)</a:t>
            </a:r>
            <a:endParaRPr lang="en-US" sz="1050" dirty="0"/>
          </a:p>
        </p:txBody>
      </p:sp>
      <p:sp>
        <p:nvSpPr>
          <p:cNvPr id="48" name="Text 25"/>
          <p:cNvSpPr txBox="1"/>
          <p:nvPr/>
        </p:nvSpPr>
        <p:spPr>
          <a:xfrm>
            <a:off x="3124505" y="6324905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 저항률</a:t>
            </a:r>
            <a:endParaRPr lang="en-US" sz="1275" dirty="0"/>
          </a:p>
        </p:txBody>
      </p:sp>
      <p:sp>
        <p:nvSpPr>
          <p:cNvPr id="49" name="Text 26"/>
          <p:cNvSpPr txBox="1"/>
          <p:nvPr/>
        </p:nvSpPr>
        <p:spPr>
          <a:xfrm>
            <a:off x="6953098" y="6324905"/>
            <a:ext cx="6286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에칭 후 </a:t>
            </a:r>
            <a:pPr algn="l" indent="0" marL="0">
              <a:buNone/>
            </a:pPr>
            <a:r>
              <a:rPr lang="en-US" sz="12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13–15 µΩ·cm</a:t>
            </a:r>
            <a:pPr algn="l" indent="0" marL="0">
              <a:buNone/>
            </a:pPr>
            <a:r>
              <a:rPr lang="en-US" sz="12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420 °C 열처리 후 </a:t>
            </a:r>
            <a:pPr algn="l" indent="0" marL="0">
              <a:buNone/>
            </a:pPr>
            <a:r>
              <a:rPr lang="en-US" sz="12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14–15</a:t>
            </a:r>
            <a:endParaRPr lang="en-US" sz="1275" dirty="0"/>
          </a:p>
        </p:txBody>
      </p:sp>
      <p:sp>
        <p:nvSpPr>
          <p:cNvPr id="50" name="Text 27"/>
          <p:cNvSpPr txBox="1"/>
          <p:nvPr/>
        </p:nvSpPr>
        <p:spPr>
          <a:xfrm>
            <a:off x="3124505" y="6819595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Ru가 Cu를 이기는 지점</a:t>
            </a:r>
            <a:endParaRPr lang="en-US" sz="1275" dirty="0"/>
          </a:p>
        </p:txBody>
      </p:sp>
      <p:sp>
        <p:nvSpPr>
          <p:cNvPr id="51" name="Text 28"/>
          <p:cNvSpPr txBox="1"/>
          <p:nvPr/>
        </p:nvSpPr>
        <p:spPr>
          <a:xfrm>
            <a:off x="6953098" y="6819595"/>
            <a:ext cx="6286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전도 단면적 </a:t>
            </a:r>
            <a:pPr algn="l" indent="0" marL="0">
              <a:buNone/>
            </a:pPr>
            <a:r>
              <a:rPr lang="en-US" sz="12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268 nm²</a:t>
            </a:r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미만 </a:t>
            </a:r>
            <a:pPr algn="l" indent="0" marL="0">
              <a:buNone/>
            </a:pPr>
            <a:r>
              <a:rPr lang="en-US" sz="1275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(≈ CD 12 nm 미만)</a:t>
            </a:r>
            <a:endParaRPr lang="en-US" sz="1275" dirty="0"/>
          </a:p>
        </p:txBody>
      </p:sp>
      <p:sp>
        <p:nvSpPr>
          <p:cNvPr id="52" name="Text 29"/>
          <p:cNvSpPr txBox="1"/>
          <p:nvPr/>
        </p:nvSpPr>
        <p:spPr>
          <a:xfrm>
            <a:off x="3124505" y="7315200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정렬 허용도</a:t>
            </a:r>
            <a:endParaRPr lang="en-US" sz="1275" dirty="0"/>
          </a:p>
        </p:txBody>
      </p:sp>
      <p:sp>
        <p:nvSpPr>
          <p:cNvPr id="53" name="Text 30"/>
          <p:cNvSpPr txBox="1"/>
          <p:nvPr/>
        </p:nvSpPr>
        <p:spPr>
          <a:xfrm>
            <a:off x="6953098" y="7315200"/>
            <a:ext cx="6286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의도적 오정렬 ±5 nm까지 비아 저항 유지</a:t>
            </a:r>
            <a:endParaRPr lang="en-US" sz="1275" dirty="0"/>
          </a:p>
        </p:txBody>
      </p:sp>
      <p:sp>
        <p:nvSpPr>
          <p:cNvPr id="54" name="Text 31"/>
          <p:cNvSpPr txBox="1"/>
          <p:nvPr/>
        </p:nvSpPr>
        <p:spPr>
          <a:xfrm>
            <a:off x="3124505" y="7810805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절연파괴</a:t>
            </a:r>
            <a:endParaRPr lang="en-US" sz="1275" dirty="0"/>
          </a:p>
        </p:txBody>
      </p:sp>
      <p:sp>
        <p:nvSpPr>
          <p:cNvPr id="55" name="Text 32"/>
          <p:cNvSpPr txBox="1"/>
          <p:nvPr/>
        </p:nvSpPr>
        <p:spPr>
          <a:xfrm>
            <a:off x="6953098" y="7810805"/>
            <a:ext cx="6286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C46E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&gt;9 MV/cm @100 °C</a:t>
            </a:r>
            <a:endParaRPr lang="en-US" sz="1275" dirty="0"/>
          </a:p>
        </p:txBody>
      </p:sp>
      <p:sp>
        <p:nvSpPr>
          <p:cNvPr id="56" name="Text 33"/>
          <p:cNvSpPr txBox="1"/>
          <p:nvPr/>
        </p:nvSpPr>
        <p:spPr>
          <a:xfrm>
            <a:off x="7144207" y="8039405"/>
            <a:ext cx="161391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26 nm 피치에서 &gt;16 V</a:t>
            </a:r>
            <a:endParaRPr lang="en-US" sz="1050" dirty="0"/>
          </a:p>
        </p:txBody>
      </p:sp>
      <p:sp>
        <p:nvSpPr>
          <p:cNvPr id="57" name="Text 34"/>
          <p:cNvSpPr txBox="1"/>
          <p:nvPr/>
        </p:nvSpPr>
        <p:spPr>
          <a:xfrm>
            <a:off x="3124505" y="8305495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EM</a:t>
            </a:r>
            <a:endParaRPr lang="en-US" sz="1275" dirty="0"/>
          </a:p>
        </p:txBody>
      </p:sp>
      <p:sp>
        <p:nvSpPr>
          <p:cNvPr id="58" name="Text 35"/>
          <p:cNvSpPr txBox="1"/>
          <p:nvPr/>
        </p:nvSpPr>
        <p:spPr>
          <a:xfrm>
            <a:off x="6953098" y="8305495"/>
            <a:ext cx="6286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8FA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MA/cm²</a:t>
            </a:r>
            <a:endParaRPr lang="en-US" sz="1275" dirty="0"/>
          </a:p>
        </p:txBody>
      </p:sp>
      <p:sp>
        <p:nvSpPr>
          <p:cNvPr id="59" name="Text 36"/>
          <p:cNvSpPr txBox="1"/>
          <p:nvPr/>
        </p:nvSpPr>
        <p:spPr>
          <a:xfrm>
            <a:off x="7144207" y="8534095"/>
            <a:ext cx="153619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300 h 저항 변화 없음</a:t>
            </a:r>
            <a:endParaRPr lang="en-US" sz="1050" dirty="0"/>
          </a:p>
        </p:txBody>
      </p:sp>
      <p:sp>
        <p:nvSpPr>
          <p:cNvPr id="60" name="Text 37"/>
          <p:cNvSpPr txBox="1"/>
          <p:nvPr/>
        </p:nvSpPr>
        <p:spPr>
          <a:xfrm>
            <a:off x="3124505" y="8801100"/>
            <a:ext cx="3620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열저장</a:t>
            </a:r>
            <a:endParaRPr lang="en-US" sz="1275" dirty="0"/>
          </a:p>
        </p:txBody>
      </p:sp>
      <p:sp>
        <p:nvSpPr>
          <p:cNvPr id="61" name="Text 38"/>
          <p:cNvSpPr txBox="1"/>
          <p:nvPr/>
        </p:nvSpPr>
        <p:spPr>
          <a:xfrm>
            <a:off x="6953098" y="8801100"/>
            <a:ext cx="6286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8FA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 °C, 120 h</a:t>
            </a:r>
            <a:endParaRPr lang="en-US" sz="1275" dirty="0"/>
          </a:p>
        </p:txBody>
      </p:sp>
      <p:sp>
        <p:nvSpPr>
          <p:cNvPr id="62" name="Text 39"/>
          <p:cNvSpPr txBox="1"/>
          <p:nvPr/>
        </p:nvSpPr>
        <p:spPr>
          <a:xfrm>
            <a:off x="7144207" y="9029700"/>
            <a:ext cx="130759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저항·수율 손실 없음</a:t>
            </a:r>
            <a:endParaRPr lang="en-US" sz="1050" dirty="0"/>
          </a:p>
        </p:txBody>
      </p:sp>
      <p:sp>
        <p:nvSpPr>
          <p:cNvPr id="63" name="Text 40"/>
          <p:cNvSpPr txBox="1"/>
          <p:nvPr/>
        </p:nvSpPr>
        <p:spPr>
          <a:xfrm>
            <a:off x="14144854" y="5277002"/>
            <a:ext cx="3429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 imec · 16 nm Ru / Airgap / Topvia cross-section</a:t>
            </a:r>
            <a:endParaRPr lang="en-US" sz="825" dirty="0"/>
          </a:p>
        </p:txBody>
      </p:sp>
      <p:sp>
        <p:nvSpPr>
          <p:cNvPr id="64" name="Text 41"/>
          <p:cNvSpPr txBox="1"/>
          <p:nvPr/>
        </p:nvSpPr>
        <p:spPr>
          <a:xfrm>
            <a:off x="14144854" y="5886907"/>
            <a:ext cx="34290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 nm 비아 홀이 9 nm 선에 내려앉으면서 스스로 180 nm²로 줌어드는 게 핵심입니다.</a:t>
            </a:r>
            <a:endParaRPr lang="en-US" sz="975" dirty="0"/>
          </a:p>
        </p:txBody>
      </p:sp>
      <p:sp>
        <p:nvSpPr>
          <p:cNvPr id="65" name="Text 42"/>
          <p:cNvSpPr txBox="1"/>
          <p:nvPr/>
        </p:nvSpPr>
        <p:spPr>
          <a:xfrm>
            <a:off x="14144854" y="6762902"/>
            <a:ext cx="3429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아래쪽은 Ru 선 위 SiN 캐핑 안에서 고선택비 가스에칭으로 비아를 뚫어 SiO₂ 갭필을 건드리지 않고, 위쪽은 Ru 과에칭으로 상부 선 가장자에 맞춥니다.</a:t>
            </a:r>
            <a:endParaRPr lang="en-US" sz="975" dirty="0"/>
          </a:p>
        </p:txBody>
      </p:sp>
      <p:sp>
        <p:nvSpPr>
          <p:cNvPr id="66" name="Text 43"/>
          <p:cNvSpPr txBox="1"/>
          <p:nvPr/>
        </p:nvSpPr>
        <p:spPr>
          <a:xfrm>
            <a:off x="14144854" y="7905902"/>
            <a:ext cx="3429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패터닝 조합은 Mx가 EUV+SADP, Mx+1과 비아가 EUV 단일 노광입니다.</a:t>
            </a:r>
            <a:endParaRPr lang="en-US" sz="975" dirty="0"/>
          </a:p>
        </p:txBody>
      </p:sp>
      <p:sp>
        <p:nvSpPr>
          <p:cNvPr id="67" name="Text 44"/>
          <p:cNvSpPr txBox="1"/>
          <p:nvPr/>
        </p:nvSpPr>
        <p:spPr>
          <a:xfrm>
            <a:off x="2857500" y="9620402"/>
            <a:ext cx="10478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Murdoch, VLSI 2022 · 계산값은 Soulié et al., J. Appl. Phys. 136, 171101 (2024) Table II·III와 Sankaran et al., Phys. Rev. Mater. 5, 056002 (2021)에서 합쳐 재작도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70bcd40b0e42ffa1a60e0d9c8e7385f.png">    </p:cNvPr>
          <p:cNvPicPr>
            <a:picLocks noChangeAspect="1"/>
          </p:cNvPicPr>
          <p:nvPr/>
        </p:nvPicPr>
        <p:blipFill>
          <a:blip r:embed="rId1"/>
          <a:srcRect l="0" r="0" t="-2083" b="-2083"/>
          <a:stretch/>
        </p:blipFill>
        <p:spPr>
          <a:xfrm>
            <a:off x="2286000" y="0"/>
            <a:ext cx="9144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0" y="3143707"/>
            <a:ext cx="8572500" cy="3619195"/>
          </a:xfrm>
          <a:prstGeom prst="rect">
            <a:avLst/>
          </a:prstGeom>
          <a:solidFill>
            <a:srgbClr val="0F14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716207" y="3143707"/>
            <a:ext cx="5715000" cy="3619195"/>
          </a:xfrm>
          <a:prstGeom prst="rect">
            <a:avLst/>
          </a:prstGeom>
          <a:solidFill>
            <a:srgbClr val="0F14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857500" y="7144207"/>
            <a:ext cx="4572000" cy="1904695"/>
          </a:xfrm>
          <a:prstGeom prst="rect">
            <a:avLst/>
          </a:prstGeom>
          <a:solidFill>
            <a:srgbClr val="0F14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19695" y="7144207"/>
            <a:ext cx="5143500" cy="1904695"/>
          </a:xfrm>
          <a:prstGeom prst="rect">
            <a:avLst/>
          </a:prstGeom>
          <a:solidFill>
            <a:srgbClr val="0F14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954305" y="7144207"/>
            <a:ext cx="4476902" cy="1904695"/>
          </a:xfrm>
          <a:prstGeom prst="rect">
            <a:avLst/>
          </a:prstGeom>
          <a:solidFill>
            <a:srgbClr val="0F14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0"/>
            <a:ext cx="2286000" cy="10287000"/>
          </a:xfrm>
          <a:prstGeom prst="rect">
            <a:avLst/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1f616958f2ccc0d52f3392b8f0d1d93b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571500" y="1524305"/>
            <a:ext cx="342900" cy="19202"/>
          </a:xfrm>
          <a:prstGeom prst="rect">
            <a:avLst/>
          </a:prstGeom>
        </p:spPr>
      </p:pic>
      <p:pic>
        <p:nvPicPr>
          <p:cNvPr id="10" name="Image 2" descr="gen-dedup-9b4e3f34ce4941e713618484c5a20f1a.png">    </p:cNvPr>
          <p:cNvPicPr>
            <a:picLocks noChangeAspect="1"/>
          </p:cNvPicPr>
          <p:nvPr/>
        </p:nvPicPr>
        <p:blipFill>
          <a:blip r:embed="rId3"/>
          <a:srcRect l="0" r="0" t="-2083" b="-2083"/>
          <a:stretch/>
        </p:blipFill>
        <p:spPr>
          <a:xfrm>
            <a:off x="1904695" y="761695"/>
            <a:ext cx="9144" cy="8762695"/>
          </a:xfrm>
          <a:prstGeom prst="rect">
            <a:avLst/>
          </a:prstGeom>
        </p:spPr>
      </p:pic>
      <p:pic>
        <p:nvPicPr>
          <p:cNvPr id="11" name="Image 3" descr="gen-dedup-b97fbc1c9f241b2ff767bf1265452638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571500" y="8572500"/>
            <a:ext cx="1143000" cy="19202"/>
          </a:xfrm>
          <a:prstGeom prst="rect">
            <a:avLst/>
          </a:prstGeom>
        </p:spPr>
      </p:pic>
      <p:pic>
        <p:nvPicPr>
          <p:cNvPr id="12" name="Image 4" descr="gen-dedup-5cd29c9d51918f1fde2ee979453a06da.png">    </p:cNvPr>
          <p:cNvPicPr>
            <a:picLocks noChangeAspect="1"/>
          </p:cNvPicPr>
          <p:nvPr/>
        </p:nvPicPr>
        <p:blipFill>
          <a:blip r:embed="rId5"/>
          <a:srcRect l="0" r="0" t="-420" b="-420"/>
          <a:stretch/>
        </p:blipFill>
        <p:spPr>
          <a:xfrm>
            <a:off x="571500" y="8858707"/>
            <a:ext cx="761695" cy="19202"/>
          </a:xfrm>
          <a:prstGeom prst="rect">
            <a:avLst/>
          </a:prstGeom>
        </p:spPr>
      </p:pic>
      <p:pic>
        <p:nvPicPr>
          <p:cNvPr id="13" name="Image 5" descr="gen-dedup-fefc4b3d30f8a4d3c7520bfeae80e650.png">    </p:cNvPr>
          <p:cNvPicPr>
            <a:picLocks noChangeAspect="1"/>
          </p:cNvPicPr>
          <p:nvPr/>
        </p:nvPicPr>
        <p:blipFill>
          <a:blip r:embed="rId6"/>
          <a:srcRect l="0" r="0" t="-360" b="-360"/>
          <a:stretch/>
        </p:blipFill>
        <p:spPr>
          <a:xfrm>
            <a:off x="571500" y="9144000"/>
            <a:ext cx="381305" cy="19202"/>
          </a:xfrm>
          <a:prstGeom prst="rect">
            <a:avLst/>
          </a:prstGeom>
        </p:spPr>
      </p:pic>
      <p:pic>
        <p:nvPicPr>
          <p:cNvPr id="14" name="Image 6" descr="gen-dedup-a047cb452c6d88f23d95dc3ad7780da9.png">    </p:cNvPr>
          <p:cNvPicPr>
            <a:picLocks noChangeAspect="1"/>
          </p:cNvPicPr>
          <p:nvPr/>
        </p:nvPicPr>
        <p:blipFill>
          <a:blip r:embed="rId7"/>
          <a:srcRect l="-404" r="-404" t="0" b="0"/>
          <a:stretch/>
        </p:blipFill>
        <p:spPr>
          <a:xfrm>
            <a:off x="2857500" y="2076602"/>
            <a:ext cx="457200" cy="28346"/>
          </a:xfrm>
          <a:prstGeom prst="rect">
            <a:avLst/>
          </a:prstGeom>
        </p:spPr>
      </p:pic>
      <p:pic>
        <p:nvPicPr>
          <p:cNvPr id="15" name="Image 7" descr="gen-dedup-73e635ce97031f99b20e6a5795451111.png">    </p:cNvPr>
          <p:cNvPicPr>
            <a:picLocks noChangeAspect="1"/>
          </p:cNvPicPr>
          <p:nvPr/>
        </p:nvPicPr>
        <p:blipFill>
          <a:blip r:embed="rId8"/>
          <a:srcRect l="0" r="0" t="-400" b="-400"/>
          <a:stretch/>
        </p:blipFill>
        <p:spPr>
          <a:xfrm>
            <a:off x="2857500" y="3143707"/>
            <a:ext cx="8572500" cy="19202"/>
          </a:xfrm>
          <a:prstGeom prst="rect">
            <a:avLst/>
          </a:prstGeom>
        </p:spPr>
      </p:pic>
      <p:pic>
        <p:nvPicPr>
          <p:cNvPr id="16" name="Image 8" descr="gen-dedup-c02682f2079ec28ff774ef664ab1faf9.png">    </p:cNvPr>
          <p:cNvPicPr>
            <a:picLocks noChangeAspect="1"/>
          </p:cNvPicPr>
          <p:nvPr/>
        </p:nvPicPr>
        <p:blipFill>
          <a:blip r:embed="rId9"/>
          <a:srcRect l="-404" r="-404" t="0" b="0"/>
          <a:stretch/>
        </p:blipFill>
        <p:spPr>
          <a:xfrm>
            <a:off x="11716207" y="3143707"/>
            <a:ext cx="19202" cy="3619195"/>
          </a:xfrm>
          <a:prstGeom prst="rect">
            <a:avLst/>
          </a:prstGeom>
        </p:spPr>
      </p:pic>
      <p:pic>
        <p:nvPicPr>
          <p:cNvPr id="17" name="Image 9" descr="gen-dedup-4a61f2cd69ff9556363bef3b6e7e0071.png">    </p:cNvPr>
          <p:cNvPicPr>
            <a:picLocks noChangeAspect="1"/>
          </p:cNvPicPr>
          <p:nvPr/>
        </p:nvPicPr>
        <p:blipFill>
          <a:blip r:embed="rId10"/>
          <a:srcRect l="0" r="0" t="-400" b="-400"/>
          <a:stretch/>
        </p:blipFill>
        <p:spPr>
          <a:xfrm>
            <a:off x="2857500" y="7144207"/>
            <a:ext cx="4572000" cy="19202"/>
          </a:xfrm>
          <a:prstGeom prst="rect">
            <a:avLst/>
          </a:prstGeom>
        </p:spPr>
      </p:pic>
      <p:pic>
        <p:nvPicPr>
          <p:cNvPr id="18" name="Image 10" descr="gen-dedup-e76998e01293a3368034ad75ffbc89b7.png">    </p:cNvPr>
          <p:cNvPicPr>
            <a:picLocks noChangeAspect="1"/>
          </p:cNvPicPr>
          <p:nvPr/>
        </p:nvPicPr>
        <p:blipFill>
          <a:blip r:embed="rId11"/>
          <a:srcRect l="-408" r="-408" t="0" b="0"/>
          <a:stretch/>
        </p:blipFill>
        <p:spPr>
          <a:xfrm>
            <a:off x="7619695" y="7144207"/>
            <a:ext cx="19202" cy="1904695"/>
          </a:xfrm>
          <a:prstGeom prst="rect">
            <a:avLst/>
          </a:prstGeom>
        </p:spPr>
      </p:pic>
      <p:pic>
        <p:nvPicPr>
          <p:cNvPr id="19" name="Image 11" descr="gen-dedup-57d772688a6f3b9c9f2a9707ff423e0b.png">    </p:cNvPr>
          <p:cNvPicPr>
            <a:picLocks noChangeAspect="1"/>
          </p:cNvPicPr>
          <p:nvPr/>
        </p:nvPicPr>
        <p:blipFill>
          <a:blip r:embed="rId12"/>
          <a:srcRect l="-408" r="-408" t="0" b="0"/>
          <a:stretch/>
        </p:blipFill>
        <p:spPr>
          <a:xfrm>
            <a:off x="12954305" y="7144207"/>
            <a:ext cx="19202" cy="1904695"/>
          </a:xfrm>
          <a:prstGeom prst="rect">
            <a:avLst/>
          </a:prstGeom>
        </p:spPr>
      </p:pic>
      <p:pic>
        <p:nvPicPr>
          <p:cNvPr id="20" name="Image 12" descr="gen-dedup-ff38de40852c695e0788c8c7667ac880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7695" y="3353105"/>
            <a:ext cx="8191195" cy="2857500"/>
          </a:xfrm>
          <a:prstGeom prst="rect">
            <a:avLst/>
          </a:prstGeom>
        </p:spPr>
      </p:pic>
      <p:pic>
        <p:nvPicPr>
          <p:cNvPr id="21" name="Image 13" descr="gen-dedup-6f55037a1d1a6f864aedbeb61590b6f0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25605" y="3353105"/>
            <a:ext cx="3200400" cy="3200400"/>
          </a:xfrm>
          <a:prstGeom prst="rect">
            <a:avLst/>
          </a:prstGeom>
        </p:spPr>
      </p:pic>
      <p:sp>
        <p:nvSpPr>
          <p:cNvPr id="22" name="Text 6"/>
          <p:cNvSpPr txBox="1"/>
          <p:nvPr/>
        </p:nvSpPr>
        <p:spPr>
          <a:xfrm>
            <a:off x="571500" y="1143000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 · 16 / 18 nm</a:t>
            </a:r>
            <a:endParaRPr lang="en-US" sz="825" dirty="0"/>
          </a:p>
        </p:txBody>
      </p:sp>
      <p:sp>
        <p:nvSpPr>
          <p:cNvPr id="23" name="Text 7"/>
          <p:cNvSpPr txBox="1"/>
          <p:nvPr/>
        </p:nvSpPr>
        <p:spPr>
          <a:xfrm>
            <a:off x="571500" y="1904695"/>
            <a:ext cx="1524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b="1" spc="-18" kern="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AR · 슈퍼비아</a:t>
            </a:r>
            <a:pPr algn="l" indent="0" marL="0">
              <a:lnSpc>
                <a:spcPct val="132000"/>
              </a:lnSpc>
              <a:buNone/>
            </a:pPr>
            <a:endParaRPr lang="en-US" sz="18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800" b="1" spc="-18" kern="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계측</a:t>
            </a:r>
            <a:endParaRPr lang="en-US" sz="1800" dirty="0"/>
          </a:p>
        </p:txBody>
      </p:sp>
      <p:sp>
        <p:nvSpPr>
          <p:cNvPr id="24" name="Text 8"/>
          <p:cNvSpPr txBox="1"/>
          <p:nvPr/>
        </p:nvSpPr>
        <p:spPr>
          <a:xfrm>
            <a:off x="571500" y="7395667"/>
            <a:ext cx="1524305" cy="624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6"/>
              </a:lnSpc>
              <a:buNone/>
            </a:pPr>
            <a:r>
              <a:rPr lang="en-US" sz="825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imec</a:t>
            </a:r>
            <a:pPr algn="l" indent="0" marL="0">
              <a:lnSpc>
                <a:spcPts val="1526"/>
              </a:lnSpc>
              <a:buNone/>
            </a:pPr>
            <a:endParaRPr lang="en-US" sz="825" dirty="0"/>
          </a:p>
          <a:p>
            <a:pPr algn="l" indent="0" marL="0">
              <a:lnSpc>
                <a:spcPts val="1526"/>
              </a:lnSpc>
              <a:buNone/>
            </a:pPr>
            <a:r>
              <a:rPr lang="en-US" sz="825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Montero, IITC 2022</a:t>
            </a:r>
            <a:pPr algn="l" indent="0" marL="0">
              <a:lnSpc>
                <a:spcPts val="1526"/>
              </a:lnSpc>
              <a:buNone/>
            </a:pPr>
            <a:endParaRPr lang="en-US" sz="825" dirty="0"/>
          </a:p>
          <a:p>
            <a:pPr algn="l" indent="0" marL="0">
              <a:lnSpc>
                <a:spcPts val="1526"/>
              </a:lnSpc>
              <a:buNone/>
            </a:pPr>
            <a:r>
              <a:rPr lang="en-US" sz="825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Das, SPIE 2021</a:t>
            </a:r>
            <a:endParaRPr lang="en-US" sz="825" dirty="0"/>
          </a:p>
        </p:txBody>
      </p:sp>
      <p:sp>
        <p:nvSpPr>
          <p:cNvPr id="25" name="Text 9"/>
          <p:cNvSpPr txBox="1"/>
          <p:nvPr/>
        </p:nvSpPr>
        <p:spPr>
          <a:xfrm>
            <a:off x="571500" y="9620402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8FA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</a:t>
            </a:r>
            <a:pPr algn="l" indent="0" marL="0">
              <a:buNone/>
            </a:pPr>
            <a:r>
              <a:rPr lang="en-US" sz="825" spc="83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PG 02 / 03</a:t>
            </a:r>
            <a:endParaRPr lang="en-US" sz="825" dirty="0"/>
          </a:p>
        </p:txBody>
      </p:sp>
      <p:sp>
        <p:nvSpPr>
          <p:cNvPr id="26" name="Text 10"/>
          <p:cNvSpPr txBox="1"/>
          <p:nvPr/>
        </p:nvSpPr>
        <p:spPr>
          <a:xfrm>
            <a:off x="2857500" y="800100"/>
            <a:ext cx="1143000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66" kern="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다마신을 버리고</a:t>
            </a:r>
            <a:pPr algn="l" indent="0" marL="0">
              <a:lnSpc>
                <a:spcPct val="115000"/>
              </a:lnSpc>
              <a:buNone/>
            </a:pPr>
            <a:endParaRPr lang="en-US" sz="3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300" b="1" spc="-66" kern="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금속을 직접 깎는다</a:t>
            </a:r>
            <a:endParaRPr lang="en-US" sz="3300" dirty="0"/>
          </a:p>
        </p:txBody>
      </p:sp>
      <p:sp>
        <p:nvSpPr>
          <p:cNvPr id="27" name="Text 11"/>
          <p:cNvSpPr txBox="1"/>
          <p:nvPr/>
        </p:nvSpPr>
        <p:spPr>
          <a:xfrm>
            <a:off x="2857500" y="2247595"/>
            <a:ext cx="1268181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semi-damascene은 도랑을 파고 금속을 채우는 대신 금속을 먼저 깔고 직접 에칭합니다. 그 결과 배리어가 필요 없고, CMP가 제한하던 종횡비(AR)를 올릴 수 있습니다.</a:t>
            </a:r>
            <a:endParaRPr lang="en-US" sz="1275" dirty="0"/>
          </a:p>
        </p:txBody>
      </p:sp>
      <p:sp>
        <p:nvSpPr>
          <p:cNvPr id="28" name="Text 12"/>
          <p:cNvSpPr txBox="1"/>
          <p:nvPr/>
        </p:nvSpPr>
        <p:spPr>
          <a:xfrm>
            <a:off x="3047695" y="6324905"/>
            <a:ext cx="8192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 imec · 18 nm semi-damascene TEM cross-section</a:t>
            </a:r>
            <a:endParaRPr lang="en-US" sz="825" dirty="0"/>
          </a:p>
        </p:txBody>
      </p:sp>
      <p:sp>
        <p:nvSpPr>
          <p:cNvPr id="29" name="Text 13"/>
          <p:cNvSpPr txBox="1"/>
          <p:nvPr/>
        </p:nvSpPr>
        <p:spPr>
          <a:xfrm>
            <a:off x="15296998" y="3431743"/>
            <a:ext cx="190561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 line</a:t>
            </a:r>
            <a:pPr algn="l" indent="0" marL="0">
              <a:lnSpc>
                <a:spcPts val="1523"/>
              </a:lnSpc>
              <a:buNone/>
            </a:pP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AR ≈ 3 · 9 nm CD</a:t>
            </a:r>
            <a:pPr algn="l" indent="0" marL="0">
              <a:lnSpc>
                <a:spcPts val="1523"/>
              </a:lnSpc>
              <a:buNone/>
            </a:pPr>
            <a:endParaRPr lang="en-US" sz="1050" dirty="0"/>
          </a:p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40% ↓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vs AR=3</a:t>
            </a:r>
            <a:endParaRPr lang="en-US" sz="1050" dirty="0"/>
          </a:p>
        </p:txBody>
      </p:sp>
      <p:sp>
        <p:nvSpPr>
          <p:cNvPr id="30" name="Text 14"/>
          <p:cNvSpPr txBox="1"/>
          <p:nvPr/>
        </p:nvSpPr>
        <p:spPr>
          <a:xfrm>
            <a:off x="15296998" y="4381805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Airgap이 Mx 위에 형성</a:t>
            </a:r>
            <a:endParaRPr lang="en-US" sz="975" dirty="0"/>
          </a:p>
        </p:txBody>
      </p:sp>
      <p:sp>
        <p:nvSpPr>
          <p:cNvPr id="31" name="Text 15"/>
          <p:cNvSpPr txBox="1"/>
          <p:nvPr/>
        </p:nvSpPr>
        <p:spPr>
          <a:xfrm>
            <a:off x="11716207" y="6610198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 imec · 16 nm pitch Ru semi-damascene HAADF-STEM</a:t>
            </a:r>
            <a:endParaRPr lang="en-US" sz="825" dirty="0"/>
          </a:p>
        </p:txBody>
      </p:sp>
      <p:sp>
        <p:nvSpPr>
          <p:cNvPr id="32" name="Text 16"/>
          <p:cNvSpPr txBox="1"/>
          <p:nvPr/>
        </p:nvSpPr>
        <p:spPr>
          <a:xfrm>
            <a:off x="3086100" y="7334402"/>
            <a:ext cx="40965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 로드맵 · 5세대</a:t>
            </a:r>
            <a:endParaRPr lang="en-US" sz="825" dirty="0"/>
          </a:p>
        </p:txBody>
      </p:sp>
      <p:sp>
        <p:nvSpPr>
          <p:cNvPr id="33" name="Text 17"/>
          <p:cNvSpPr txBox="1"/>
          <p:nvPr/>
        </p:nvSpPr>
        <p:spPr>
          <a:xfrm>
            <a:off x="3086100" y="7563002"/>
            <a:ext cx="4096512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139" kern="0" dirty="0">
                <a:solidFill>
                  <a:srgbClr val="ECEE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→ 6</a:t>
            </a:r>
            <a:endParaRPr lang="en-US" sz="4650" dirty="0"/>
          </a:p>
        </p:txBody>
      </p:sp>
      <p:sp>
        <p:nvSpPr>
          <p:cNvPr id="34" name="Text 18"/>
          <p:cNvSpPr txBox="1"/>
          <p:nvPr/>
        </p:nvSpPr>
        <p:spPr>
          <a:xfrm>
            <a:off x="3086100" y="8287207"/>
            <a:ext cx="40965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기존 Cu 다마신 선의 AR은 대략 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5B7B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1세대 2 / 2세대 3 / 이후 4, 5, 6 — 5세대 로드맵</a:t>
            </a:r>
            <a:endParaRPr lang="en-US" sz="975" dirty="0"/>
          </a:p>
        </p:txBody>
      </p:sp>
      <p:sp>
        <p:nvSpPr>
          <p:cNvPr id="35" name="Text 19"/>
          <p:cNvSpPr txBox="1"/>
          <p:nvPr/>
        </p:nvSpPr>
        <p:spPr>
          <a:xfrm>
            <a:off x="7848295" y="7334402"/>
            <a:ext cx="4572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C46E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3단 고종횡비 슈퍼비아 · IITC 2022</a:t>
            </a:r>
            <a:endParaRPr lang="en-US" sz="825" dirty="0"/>
          </a:p>
        </p:txBody>
      </p:sp>
      <p:sp>
        <p:nvSpPr>
          <p:cNvPr id="36" name="Text 20"/>
          <p:cNvSpPr txBox="1"/>
          <p:nvPr/>
        </p:nvSpPr>
        <p:spPr>
          <a:xfrm>
            <a:off x="7848295" y="7563002"/>
            <a:ext cx="45720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종횡비 7.7</a:t>
            </a:r>
            <a:endParaRPr lang="en-US" sz="2250" dirty="0"/>
          </a:p>
        </p:txBody>
      </p:sp>
      <p:sp>
        <p:nvSpPr>
          <p:cNvPr id="37" name="Text 21"/>
          <p:cNvSpPr txBox="1"/>
          <p:nvPr/>
        </p:nvSpPr>
        <p:spPr>
          <a:xfrm>
            <a:off x="7848295" y="7981798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Kelvin 저항 중간값 </a:t>
            </a:r>
            <a:pPr algn="l" indent="0" marL="0">
              <a:buNone/>
            </a:pPr>
            <a:r>
              <a:rPr lang="en-US" sz="9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58 Ω</a:t>
            </a:r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2단 적층 비아 66.3 Ω 대비 </a:t>
            </a:r>
            <a:pPr algn="l" indent="0" marL="0">
              <a:buNone/>
            </a:pPr>
            <a:r>
              <a:rPr lang="en-US" sz="9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13%</a:t>
            </a:r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낮음</a:t>
            </a:r>
            <a:endParaRPr lang="en-US" sz="975" dirty="0"/>
          </a:p>
        </p:txBody>
      </p:sp>
      <p:sp>
        <p:nvSpPr>
          <p:cNvPr id="38" name="Text 22"/>
          <p:cNvSpPr txBox="1"/>
          <p:nvPr/>
        </p:nvSpPr>
        <p:spPr>
          <a:xfrm>
            <a:off x="7848295" y="84197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전기적 수율 &gt;95%, −50 °C ↔ +125 °C 1000사이클 500 h 후 저항 거의 불변</a:t>
            </a:r>
            <a:endParaRPr lang="en-US" sz="975" dirty="0"/>
          </a:p>
        </p:txBody>
      </p:sp>
      <p:sp>
        <p:nvSpPr>
          <p:cNvPr id="39" name="Text 23"/>
          <p:cNvSpPr txBox="1"/>
          <p:nvPr/>
        </p:nvSpPr>
        <p:spPr>
          <a:xfrm>
            <a:off x="13182905" y="7334402"/>
            <a:ext cx="40965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8FA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계측 · SPIE 2021</a:t>
            </a:r>
            <a:endParaRPr lang="en-US" sz="825" dirty="0"/>
          </a:p>
        </p:txBody>
      </p:sp>
      <p:sp>
        <p:nvSpPr>
          <p:cNvPr id="40" name="Text 24"/>
          <p:cNvSpPr txBox="1"/>
          <p:nvPr/>
        </p:nvSpPr>
        <p:spPr>
          <a:xfrm>
            <a:off x="13182905" y="7545629"/>
            <a:ext cx="4096512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LER 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8FA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1.6–2.0 nm</a:t>
            </a:r>
            <a:pPr algn="l" indent="0" marL="0">
              <a:lnSpc>
                <a:spcPts val="1890"/>
              </a:lnSpc>
              <a:buNone/>
            </a:pP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tip-to-tip 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8FA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22–26 nm</a:t>
            </a:r>
            <a:endParaRPr lang="en-US" sz="1350" dirty="0"/>
          </a:p>
        </p:txBody>
      </p:sp>
      <p:sp>
        <p:nvSpPr>
          <p:cNvPr id="41" name="Text 25"/>
          <p:cNvSpPr txBox="1"/>
          <p:nvPr/>
        </p:nvSpPr>
        <p:spPr>
          <a:xfrm>
            <a:off x="13182905" y="8287207"/>
            <a:ext cx="40965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머신러닝 LER R² = 0.85 / RMSE 0.03 nm</a:t>
            </a:r>
            <a:endParaRPr lang="en-US" sz="975" dirty="0"/>
          </a:p>
        </p:txBody>
      </p:sp>
      <p:sp>
        <p:nvSpPr>
          <p:cNvPr id="42" name="Text 26"/>
          <p:cNvSpPr txBox="1"/>
          <p:nvPr/>
        </p:nvSpPr>
        <p:spPr>
          <a:xfrm>
            <a:off x="2857500" y="9286646"/>
            <a:ext cx="1457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 nm 피치로 내려오면 이 예산이 그대로 남을 수 없다는 게 SALELE 가상공정 연구의 출발점입니다.</a:t>
            </a:r>
            <a:endParaRPr lang="en-US" sz="1125" dirty="0"/>
          </a:p>
        </p:txBody>
      </p:sp>
      <p:sp>
        <p:nvSpPr>
          <p:cNvPr id="43" name="Text 27"/>
          <p:cNvSpPr txBox="1"/>
          <p:nvPr/>
        </p:nvSpPr>
        <p:spPr>
          <a:xfrm>
            <a:off x="2857500" y="9715500"/>
            <a:ext cx="10478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imec (AR 2 → 6, 40%) · Montero Alvarez, IITC 2022 (AR 7.7 / 58 Ω · 13%) · Das, SPIE 2021 (LER 1.6–2.0 nm)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0287000"/>
          </a:xfrm>
          <a:prstGeom prst="rect">
            <a:avLst/>
          </a:prstGeom>
          <a:solidFill>
            <a:srgbClr val="0E13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573707" y="2857500"/>
            <a:ext cx="3238805" cy="4953305"/>
          </a:xfrm>
          <a:prstGeom prst="rect">
            <a:avLst/>
          </a:prstGeom>
          <a:solidFill>
            <a:srgbClr val="0E121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62402" y="3047695"/>
            <a:ext cx="5524805" cy="4762195"/>
          </a:xfrm>
          <a:prstGeom prst="rect">
            <a:avLst/>
          </a:prstGeom>
          <a:solidFill>
            <a:srgbClr val="0E121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7402" y="3047695"/>
            <a:ext cx="5715000" cy="4762195"/>
          </a:xfrm>
          <a:prstGeom prst="rect">
            <a:avLst/>
          </a:prstGeom>
          <a:solidFill>
            <a:srgbClr val="0E121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62402" y="8096098"/>
            <a:ext cx="3047695" cy="1143000"/>
          </a:xfrm>
          <a:prstGeom prst="rect">
            <a:avLst/>
          </a:prstGeom>
          <a:solidFill>
            <a:srgbClr val="0E121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305" y="8096098"/>
            <a:ext cx="8096098" cy="1143000"/>
          </a:xfrm>
          <a:prstGeom prst="rect">
            <a:avLst/>
          </a:prstGeom>
          <a:solidFill>
            <a:srgbClr val="1014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116a7164195829ad68bab327b653334d.png">    </p:cNvPr>
          <p:cNvPicPr>
            <a:picLocks noChangeAspect="1"/>
          </p:cNvPicPr>
          <p:nvPr/>
        </p:nvPicPr>
        <p:blipFill>
          <a:blip r:embed="rId1"/>
          <a:srcRect l="-404" r="-404" t="0" b="0"/>
          <a:stretch/>
        </p:blipFill>
        <p:spPr>
          <a:xfrm>
            <a:off x="0" y="0"/>
            <a:ext cx="2286000" cy="28346"/>
          </a:xfrm>
          <a:prstGeom prst="rect">
            <a:avLst/>
          </a:prstGeom>
        </p:spPr>
      </p:pic>
      <p:pic>
        <p:nvPicPr>
          <p:cNvPr id="9" name="Image 1" descr="gen-dedup-827d452571d54688c809a68cf954ca8e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476402" y="1524305"/>
            <a:ext cx="228600" cy="19202"/>
          </a:xfrm>
          <a:prstGeom prst="rect">
            <a:avLst/>
          </a:prstGeom>
        </p:spPr>
      </p:pic>
      <p:pic>
        <p:nvPicPr>
          <p:cNvPr id="10" name="Image 2" descr="gen-dedup-acbbdaf90ec9be62b64dffdc35c33edd.png">    </p:cNvPr>
          <p:cNvPicPr>
            <a:picLocks noChangeAspect="1"/>
          </p:cNvPicPr>
          <p:nvPr/>
        </p:nvPicPr>
        <p:blipFill>
          <a:blip r:embed="rId3"/>
          <a:srcRect l="-2072" r="-2072" t="0" b="0"/>
          <a:stretch/>
        </p:blipFill>
        <p:spPr>
          <a:xfrm>
            <a:off x="476402" y="4095598"/>
            <a:ext cx="1333195" cy="9144"/>
          </a:xfrm>
          <a:prstGeom prst="rect">
            <a:avLst/>
          </a:prstGeom>
        </p:spPr>
      </p:pic>
      <p:pic>
        <p:nvPicPr>
          <p:cNvPr id="11" name="Image 3" descr="gen-dedup-770bcd40b0e42ffa1a60e0d9c8e7385f.png">    </p:cNvPr>
          <p:cNvPicPr>
            <a:picLocks noChangeAspect="1"/>
          </p:cNvPicPr>
          <p:nvPr/>
        </p:nvPicPr>
        <p:blipFill>
          <a:blip r:embed="rId4"/>
          <a:srcRect l="0" r="0" t="-2083" b="-2083"/>
          <a:stretch/>
        </p:blipFill>
        <p:spPr>
          <a:xfrm>
            <a:off x="2286000" y="0"/>
            <a:ext cx="9144" cy="10287000"/>
          </a:xfrm>
          <a:prstGeom prst="rect">
            <a:avLst/>
          </a:prstGeom>
        </p:spPr>
      </p:pic>
      <p:pic>
        <p:nvPicPr>
          <p:cNvPr id="12" name="Image 4" descr="gen-dedup-4cf914991f24f5beeab6f29bf98764e7.png">    </p:cNvPr>
          <p:cNvPicPr>
            <a:picLocks noChangeAspect="1"/>
          </p:cNvPicPr>
          <p:nvPr/>
        </p:nvPicPr>
        <p:blipFill>
          <a:blip r:embed="rId5"/>
          <a:srcRect l="-385" r="-385" t="0" b="0"/>
          <a:stretch/>
        </p:blipFill>
        <p:spPr>
          <a:xfrm>
            <a:off x="2762402" y="2115007"/>
            <a:ext cx="761695" cy="28346"/>
          </a:xfrm>
          <a:prstGeom prst="rect">
            <a:avLst/>
          </a:prstGeom>
        </p:spPr>
      </p:pic>
      <p:pic>
        <p:nvPicPr>
          <p:cNvPr id="13" name="Image 5" descr="gen-dedup-79a16549b0782c5f733e91ef3cb9db33.png">    </p:cNvPr>
          <p:cNvPicPr>
            <a:picLocks noChangeAspect="1"/>
          </p:cNvPicPr>
          <p:nvPr/>
        </p:nvPicPr>
        <p:blipFill>
          <a:blip r:embed="rId6"/>
          <a:srcRect l="0" r="0" t="-395" b="-395"/>
          <a:stretch/>
        </p:blipFill>
        <p:spPr>
          <a:xfrm>
            <a:off x="14573707" y="2857500"/>
            <a:ext cx="3238805" cy="19202"/>
          </a:xfrm>
          <a:prstGeom prst="rect">
            <a:avLst/>
          </a:prstGeom>
        </p:spPr>
      </p:pic>
      <p:pic>
        <p:nvPicPr>
          <p:cNvPr id="14" name="Image 6" descr="gen-dedup-18069bd39bb1c20c78cee91be0137a29.png">    </p:cNvPr>
          <p:cNvPicPr>
            <a:picLocks noChangeAspect="1"/>
          </p:cNvPicPr>
          <p:nvPr/>
        </p:nvPicPr>
        <p:blipFill>
          <a:blip r:embed="rId7"/>
          <a:srcRect l="0" r="0" t="-400" b="-400"/>
          <a:stretch/>
        </p:blipFill>
        <p:spPr>
          <a:xfrm>
            <a:off x="2762402" y="3047695"/>
            <a:ext cx="28346" cy="4762195"/>
          </a:xfrm>
          <a:prstGeom prst="rect">
            <a:avLst/>
          </a:prstGeom>
        </p:spPr>
      </p:pic>
      <p:pic>
        <p:nvPicPr>
          <p:cNvPr id="15" name="Image 7" descr="gen-dedup-62bf1cbaf18fe1cc078319603465f188.png">    </p:cNvPr>
          <p:cNvPicPr>
            <a:picLocks noChangeAspect="1"/>
          </p:cNvPicPr>
          <p:nvPr/>
        </p:nvPicPr>
        <p:blipFill>
          <a:blip r:embed="rId8"/>
          <a:srcRect l="-2089" r="-2089" t="0" b="0"/>
          <a:stretch/>
        </p:blipFill>
        <p:spPr>
          <a:xfrm>
            <a:off x="3047695" y="5715000"/>
            <a:ext cx="4953305" cy="9144"/>
          </a:xfrm>
          <a:prstGeom prst="rect">
            <a:avLst/>
          </a:prstGeom>
        </p:spPr>
      </p:pic>
      <p:pic>
        <p:nvPicPr>
          <p:cNvPr id="16" name="Image 8" descr="gen-dedup-660674efeed14f76f2b61cacf1dd7b34.png">    </p:cNvPr>
          <p:cNvPicPr>
            <a:picLocks noChangeAspect="1"/>
          </p:cNvPicPr>
          <p:nvPr/>
        </p:nvPicPr>
        <p:blipFill>
          <a:blip r:embed="rId9"/>
          <a:srcRect l="0" r="0" t="-400" b="-400"/>
          <a:stretch/>
        </p:blipFill>
        <p:spPr>
          <a:xfrm>
            <a:off x="8477402" y="3047695"/>
            <a:ext cx="28346" cy="4762195"/>
          </a:xfrm>
          <a:prstGeom prst="rect">
            <a:avLst/>
          </a:prstGeom>
        </p:spPr>
      </p:pic>
      <p:pic>
        <p:nvPicPr>
          <p:cNvPr id="17" name="Image 9" descr="gen-dedup-8f7ef2b64fbda8d0f2f40d536f2d4844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8762695" y="5715000"/>
            <a:ext cx="5143500" cy="9144"/>
          </a:xfrm>
          <a:prstGeom prst="rect">
            <a:avLst/>
          </a:prstGeom>
        </p:spPr>
      </p:pic>
      <p:pic>
        <p:nvPicPr>
          <p:cNvPr id="18" name="Image 10" descr="gen-dedup-22d1504f2ed3befd39fe654777c5d98c.png">    </p:cNvPr>
          <p:cNvPicPr>
            <a:picLocks noChangeAspect="1"/>
          </p:cNvPicPr>
          <p:nvPr/>
        </p:nvPicPr>
        <p:blipFill>
          <a:blip r:embed="rId11"/>
          <a:srcRect l="0" r="0" t="-404" b="-404"/>
          <a:stretch/>
        </p:blipFill>
        <p:spPr>
          <a:xfrm>
            <a:off x="6096305" y="8096098"/>
            <a:ext cx="28346" cy="1143000"/>
          </a:xfrm>
          <a:prstGeom prst="rect">
            <a:avLst/>
          </a:prstGeom>
        </p:spPr>
      </p:pic>
      <p:pic>
        <p:nvPicPr>
          <p:cNvPr id="19" name="Image 11" descr="gen-dedup-7db8411af405eadc4f8bef13c94d2133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63902" y="3047695"/>
            <a:ext cx="2857500" cy="3905402"/>
          </a:xfrm>
          <a:prstGeom prst="rect">
            <a:avLst/>
          </a:prstGeom>
        </p:spPr>
      </p:pic>
      <p:pic>
        <p:nvPicPr>
          <p:cNvPr id="20" name="Image 12" descr="gen-dedup-5d98417700a35ef10bd5dc62174267ee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7500" y="8172907"/>
            <a:ext cx="1524305" cy="990295"/>
          </a:xfrm>
          <a:prstGeom prst="rect">
            <a:avLst/>
          </a:prstGeom>
        </p:spPr>
      </p:pic>
      <p:sp>
        <p:nvSpPr>
          <p:cNvPr id="21" name="Text 6"/>
          <p:cNvSpPr txBox="1"/>
          <p:nvPr/>
        </p:nvSpPr>
        <p:spPr>
          <a:xfrm>
            <a:off x="476402" y="1143000"/>
            <a:ext cx="1714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98" kern="0" dirty="0">
                <a:solidFill>
                  <a:srgbClr val="C46E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RELIABILITY</a:t>
            </a:r>
            <a:endParaRPr lang="en-US" sz="825" dirty="0"/>
          </a:p>
        </p:txBody>
      </p:sp>
      <p:sp>
        <p:nvSpPr>
          <p:cNvPr id="22" name="Text 7"/>
          <p:cNvSpPr txBox="1"/>
          <p:nvPr/>
        </p:nvSpPr>
        <p:spPr>
          <a:xfrm>
            <a:off x="476402" y="1870862"/>
            <a:ext cx="16194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6"/>
              </a:lnSpc>
              <a:buNone/>
            </a:pPr>
            <a:r>
              <a:rPr lang="en-US" sz="825" spc="33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Zahedmanesh</a:t>
            </a:r>
            <a:pPr algn="l" indent="0" marL="0">
              <a:lnSpc>
                <a:spcPts val="1526"/>
              </a:lnSpc>
              <a:buNone/>
            </a:pPr>
            <a:endParaRPr lang="en-US" sz="825" dirty="0"/>
          </a:p>
          <a:p>
            <a:pPr algn="l" indent="0" marL="0">
              <a:lnSpc>
                <a:spcPts val="1526"/>
              </a:lnSpc>
              <a:buNone/>
            </a:pPr>
            <a:r>
              <a:rPr lang="en-US" sz="825" spc="33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Esposto</a:t>
            </a:r>
            <a:pPr algn="l" indent="0" marL="0">
              <a:lnSpc>
                <a:spcPts val="1526"/>
              </a:lnSpc>
              <a:buNone/>
            </a:pPr>
            <a:endParaRPr lang="en-US" sz="825" dirty="0"/>
          </a:p>
          <a:p>
            <a:pPr algn="l" indent="0" marL="0">
              <a:lnSpc>
                <a:spcPts val="1526"/>
              </a:lnSpc>
              <a:buNone/>
            </a:pPr>
            <a:r>
              <a:rPr lang="en-US" sz="825" spc="33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Croes · 2015</a:t>
            </a:r>
            <a:pPr algn="l" indent="0" marL="0">
              <a:lnSpc>
                <a:spcPts val="1526"/>
              </a:lnSpc>
              <a:buNone/>
            </a:pPr>
            <a:endParaRPr lang="en-US" sz="825" dirty="0"/>
          </a:p>
          <a:p>
            <a:pPr algn="l" indent="0" marL="0">
              <a:lnSpc>
                <a:spcPts val="1526"/>
              </a:lnSpc>
              <a:buNone/>
            </a:pPr>
            <a:r>
              <a:rPr lang="en-US" sz="825" spc="33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Fang · 2025</a:t>
            </a:r>
            <a:pPr algn="l" indent="0" marL="0">
              <a:lnSpc>
                <a:spcPts val="1526"/>
              </a:lnSpc>
              <a:buNone/>
            </a:pPr>
            <a:endParaRPr lang="en-US" sz="825" dirty="0"/>
          </a:p>
          <a:p>
            <a:pPr algn="l" indent="0" marL="0">
              <a:lnSpc>
                <a:spcPts val="1526"/>
              </a:lnSpc>
              <a:buNone/>
            </a:pPr>
            <a:r>
              <a:rPr lang="en-US" sz="825" spc="33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Kocaay</a:t>
            </a:r>
            <a:endParaRPr lang="en-US" sz="825" dirty="0"/>
          </a:p>
        </p:txBody>
      </p:sp>
      <p:sp>
        <p:nvSpPr>
          <p:cNvPr id="23" name="Text 8"/>
          <p:cNvSpPr txBox="1"/>
          <p:nvPr/>
        </p:nvSpPr>
        <p:spPr>
          <a:xfrm>
            <a:off x="476402" y="4355287"/>
            <a:ext cx="1714500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spc="-11" kern="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망 구조를</a:t>
            </a:r>
            <a:pPr algn="l" indent="0" marL="0">
              <a:lnSpc>
                <a:spcPts val="1680"/>
              </a:lnSpc>
              <a:buNone/>
            </a:pP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spc="-11" kern="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무시한 대가</a:t>
            </a:r>
            <a:endParaRPr lang="en-US" sz="1050" dirty="0"/>
          </a:p>
        </p:txBody>
      </p:sp>
      <p:sp>
        <p:nvSpPr>
          <p:cNvPr id="24" name="Text 9"/>
          <p:cNvSpPr txBox="1"/>
          <p:nvPr/>
        </p:nvSpPr>
        <p:spPr>
          <a:xfrm>
            <a:off x="476402" y="9620402"/>
            <a:ext cx="1714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C46E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</a:t>
            </a:r>
            <a:pPr algn="l" indent="0" marL="0">
              <a:buNone/>
            </a:pPr>
            <a:r>
              <a:rPr lang="en-US" sz="825" spc="83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PG 03 / 03</a:t>
            </a:r>
            <a:endParaRPr lang="en-US" sz="825" dirty="0"/>
          </a:p>
        </p:txBody>
      </p:sp>
      <p:sp>
        <p:nvSpPr>
          <p:cNvPr id="25" name="Text 10"/>
          <p:cNvSpPr txBox="1"/>
          <p:nvPr/>
        </p:nvSpPr>
        <p:spPr>
          <a:xfrm>
            <a:off x="2762402" y="685800"/>
            <a:ext cx="9525305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단일 배선으로 잠금하던</a:t>
            </a:r>
            <a:pPr algn="l" indent="0" marL="0">
              <a:lnSpc>
                <a:spcPct val="110000"/>
              </a:lnSpc>
              <a:buNone/>
            </a:pP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기준이 무너지는 중</a:t>
            </a:r>
            <a:endParaRPr lang="en-US" sz="3600" dirty="0"/>
          </a:p>
        </p:txBody>
      </p:sp>
      <p:sp>
        <p:nvSpPr>
          <p:cNvPr id="26" name="Text 11"/>
          <p:cNvSpPr txBox="1"/>
          <p:nvPr/>
        </p:nvSpPr>
        <p:spPr>
          <a:xfrm>
            <a:off x="2762402" y="2324405"/>
            <a:ext cx="9525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Zahedmanesa는 단일 배선 기준(standard SEB)이 전력망의 중복성을 무시해 과도하게 보수적임을 정량화했습니다.</a:t>
            </a:r>
            <a:endParaRPr lang="en-US" sz="1275" dirty="0"/>
          </a:p>
        </p:txBody>
      </p:sp>
      <p:sp>
        <p:nvSpPr>
          <p:cNvPr id="27" name="Text 12"/>
          <p:cNvSpPr txBox="1"/>
          <p:nvPr/>
        </p:nvSpPr>
        <p:spPr>
          <a:xfrm>
            <a:off x="14763902" y="70481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 Springer JOM · 3D Cu via SEM</a:t>
            </a:r>
            <a:endParaRPr lang="en-US" sz="825" dirty="0"/>
          </a:p>
        </p:txBody>
      </p:sp>
      <p:sp>
        <p:nvSpPr>
          <p:cNvPr id="28" name="Text 13"/>
          <p:cNvSpPr txBox="1"/>
          <p:nvPr/>
        </p:nvSpPr>
        <p:spPr>
          <a:xfrm>
            <a:off x="14763902" y="7278624"/>
            <a:ext cx="2857500" cy="360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 trace / 솔더 범프 /</a:t>
            </a:r>
            <a:pPr algn="l" indent="0" marL="0">
              <a:lnSpc>
                <a:spcPts val="1350"/>
              </a:lnSpc>
              <a:buNone/>
            </a:pP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비아 체인 단면</a:t>
            </a:r>
            <a:endParaRPr lang="en-US" sz="900" dirty="0"/>
          </a:p>
        </p:txBody>
      </p:sp>
      <p:sp>
        <p:nvSpPr>
          <p:cNvPr id="29" name="Text 14"/>
          <p:cNvSpPr txBox="1"/>
          <p:nvPr/>
        </p:nvSpPr>
        <p:spPr>
          <a:xfrm>
            <a:off x="3047695" y="323880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98" kern="0" dirty="0">
                <a:solidFill>
                  <a:srgbClr val="C46E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전자이동</a:t>
            </a:r>
            <a:endParaRPr lang="en-US" sz="825" dirty="0"/>
          </a:p>
        </p:txBody>
      </p:sp>
      <p:sp>
        <p:nvSpPr>
          <p:cNvPr id="30" name="Text 15"/>
          <p:cNvSpPr txBox="1"/>
          <p:nvPr/>
        </p:nvSpPr>
        <p:spPr>
          <a:xfrm>
            <a:off x="3047695" y="3448202"/>
            <a:ext cx="4953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망 구조를 무시한 대가가 80%</a:t>
            </a:r>
            <a:endParaRPr lang="en-US" sz="1275" dirty="0"/>
          </a:p>
        </p:txBody>
      </p:sp>
      <p:sp>
        <p:nvSpPr>
          <p:cNvPr id="31" name="Text 16"/>
          <p:cNvSpPr txBox="1"/>
          <p:nvPr/>
        </p:nvSpPr>
        <p:spPr>
          <a:xfrm>
            <a:off x="3047695" y="3847795"/>
            <a:ext cx="285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50" b="1" spc="-397" kern="0" dirty="0">
                <a:solidFill>
                  <a:srgbClr val="C46E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80%</a:t>
            </a:r>
            <a:endParaRPr lang="en-US" sz="7950" dirty="0"/>
          </a:p>
        </p:txBody>
      </p:sp>
      <p:sp>
        <p:nvSpPr>
          <p:cNvPr id="32" name="Text 17"/>
          <p:cNvSpPr txBox="1"/>
          <p:nvPr/>
        </p:nvSpPr>
        <p:spPr>
          <a:xfrm>
            <a:off x="3047695" y="4972507"/>
            <a:ext cx="2857500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SEB 1.1 → 타일 2.26 MA/cm²</a:t>
            </a:r>
            <a:pPr algn="l" indent="0" marL="0">
              <a:lnSpc>
                <a:spcPts val="1463"/>
              </a:lnSpc>
              <a:buNone/>
            </a:pP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기존 방법이 80% 과소평가</a:t>
            </a:r>
            <a:endParaRPr lang="en-US" sz="975" dirty="0"/>
          </a:p>
        </p:txBody>
      </p:sp>
      <p:sp>
        <p:nvSpPr>
          <p:cNvPr id="33" name="Text 18"/>
          <p:cNvSpPr txBox="1"/>
          <p:nvPr/>
        </p:nvSpPr>
        <p:spPr>
          <a:xfrm>
            <a:off x="6001207" y="3924605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σ</a:t>
            </a:r>
            <a:endParaRPr lang="en-US" sz="825" dirty="0"/>
          </a:p>
        </p:txBody>
      </p:sp>
      <p:sp>
        <p:nvSpPr>
          <p:cNvPr id="34" name="Text 19"/>
          <p:cNvSpPr txBox="1"/>
          <p:nvPr/>
        </p:nvSpPr>
        <p:spPr>
          <a:xfrm>
            <a:off x="6001207" y="4134002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ECEE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 → 0.27</a:t>
            </a:r>
            <a:endParaRPr lang="en-US" sz="1950" dirty="0"/>
          </a:p>
        </p:txBody>
      </p:sp>
      <p:sp>
        <p:nvSpPr>
          <p:cNvPr id="35" name="Text 20"/>
          <p:cNvSpPr txBox="1"/>
          <p:nvPr/>
        </p:nvSpPr>
        <p:spPr>
          <a:xfrm>
            <a:off x="6001207" y="4543654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PDN 타일 단위, </a:t>
            </a:r>
            <a:pPr algn="l" indent="0" marL="0">
              <a:buNone/>
            </a:pPr>
            <a:r>
              <a:rPr lang="en-US" sz="900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전체 55% 감소</a:t>
            </a:r>
            <a:endParaRPr lang="en-US" sz="900" dirty="0"/>
          </a:p>
        </p:txBody>
      </p:sp>
      <p:sp>
        <p:nvSpPr>
          <p:cNvPr id="36" name="Text 21"/>
          <p:cNvSpPr txBox="1"/>
          <p:nvPr/>
        </p:nvSpPr>
        <p:spPr>
          <a:xfrm>
            <a:off x="3047695" y="5886907"/>
            <a:ext cx="4953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단일 배선 TTF₅₀ = </a:t>
            </a:r>
            <a:pPr algn="l" indent="0" marL="0">
              <a:buNone/>
            </a:pPr>
            <a:r>
              <a:rPr lang="en-US" sz="9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 h</a:t>
            </a:r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로그정규 σ = 0.6</a:t>
            </a:r>
            <a:endParaRPr lang="en-US" sz="975" dirty="0"/>
          </a:p>
        </p:txBody>
      </p:sp>
      <p:sp>
        <p:nvSpPr>
          <p:cNvPr id="37" name="Text 22"/>
          <p:cNvSpPr txBox="1"/>
          <p:nvPr/>
        </p:nvSpPr>
        <p:spPr>
          <a:xfrm>
            <a:off x="3047695" y="6286500"/>
            <a:ext cx="4953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(jL)_c = </a:t>
            </a:r>
            <a:pPr algn="l" indent="0" marL="0">
              <a:buNone/>
            </a:pPr>
            <a:r>
              <a:rPr lang="en-US" sz="9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3300 A/cm</a:t>
            </a:r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예측 최대 EM 응력 76 MPa</a:t>
            </a:r>
            <a:endParaRPr lang="en-US" sz="975" dirty="0"/>
          </a:p>
        </p:txBody>
      </p:sp>
      <p:sp>
        <p:nvSpPr>
          <p:cNvPr id="38" name="Text 23"/>
          <p:cNvSpPr txBox="1"/>
          <p:nvPr/>
        </p:nvSpPr>
        <p:spPr>
          <a:xfrm>
            <a:off x="3047695" y="6687007"/>
            <a:ext cx="4953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Esposto 후속: 표준셀 전류 </a:t>
            </a:r>
            <a:pPr algn="l" indent="0" marL="0">
              <a:buNone/>
            </a:pPr>
            <a:r>
              <a:rPr lang="en-US" sz="975" b="1" dirty="0">
                <a:solidFill>
                  <a:srgbClr val="C46E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2.8배</a:t>
            </a:r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허용</a:t>
            </a:r>
            <a:endParaRPr lang="en-US" sz="975" dirty="0"/>
          </a:p>
        </p:txBody>
      </p:sp>
      <p:sp>
        <p:nvSpPr>
          <p:cNvPr id="39" name="Text 24"/>
          <p:cNvSpPr txBox="1"/>
          <p:nvPr/>
        </p:nvSpPr>
        <p:spPr>
          <a:xfrm>
            <a:off x="3047695" y="7086600"/>
            <a:ext cx="4953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타일 0.26% vs. SEB 적용 99.99% — 100시간 기준</a:t>
            </a:r>
            <a:endParaRPr lang="en-US" sz="975" dirty="0"/>
          </a:p>
        </p:txBody>
      </p:sp>
      <p:sp>
        <p:nvSpPr>
          <p:cNvPr id="40" name="Text 25"/>
          <p:cNvSpPr txBox="1"/>
          <p:nvPr/>
        </p:nvSpPr>
        <p:spPr>
          <a:xfrm>
            <a:off x="8762695" y="3238805"/>
            <a:ext cx="5143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98" kern="0" dirty="0">
                <a:solidFill>
                  <a:srgbClr val="5B7B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</a:t>
            </a:r>
            <a:endParaRPr lang="en-US" sz="825" dirty="0"/>
          </a:p>
        </p:txBody>
      </p:sp>
      <p:sp>
        <p:nvSpPr>
          <p:cNvPr id="41" name="Text 26"/>
          <p:cNvSpPr txBox="1"/>
          <p:nvPr/>
        </p:nvSpPr>
        <p:spPr>
          <a:xfrm>
            <a:off x="8762695" y="3448202"/>
            <a:ext cx="5334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임계값이 아니라 퍼콜레이션 경로의 통계</a:t>
            </a:r>
            <a:endParaRPr lang="en-US" sz="1275" dirty="0"/>
          </a:p>
        </p:txBody>
      </p:sp>
      <p:sp>
        <p:nvSpPr>
          <p:cNvPr id="42" name="Text 27"/>
          <p:cNvSpPr txBox="1"/>
          <p:nvPr/>
        </p:nvSpPr>
        <p:spPr>
          <a:xfrm>
            <a:off x="8762695" y="3847795"/>
            <a:ext cx="285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50" b="1" spc="-397" kern="0" dirty="0">
                <a:solidFill>
                  <a:srgbClr val="5B7B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100×</a:t>
            </a:r>
            <a:endParaRPr lang="en-US" sz="7950" dirty="0"/>
          </a:p>
        </p:txBody>
      </p:sp>
      <p:sp>
        <p:nvSpPr>
          <p:cNvPr id="43" name="Text 28"/>
          <p:cNvSpPr txBox="1"/>
          <p:nvPr/>
        </p:nvSpPr>
        <p:spPr>
          <a:xfrm>
            <a:off x="8762695" y="4972507"/>
            <a:ext cx="3048610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어떤 전계 가속 모델을 고르느냐가</a:t>
            </a:r>
            <a:pPr algn="l" indent="0" marL="0">
              <a:lnSpc>
                <a:spcPts val="1463"/>
              </a:lnSpc>
              <a:buNone/>
            </a:pP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수명 예측을 100배 가른다는 뜻</a:t>
            </a:r>
            <a:endParaRPr lang="en-US" sz="975" dirty="0"/>
          </a:p>
        </p:txBody>
      </p:sp>
      <p:sp>
        <p:nvSpPr>
          <p:cNvPr id="44" name="Text 29"/>
          <p:cNvSpPr txBox="1"/>
          <p:nvPr/>
        </p:nvSpPr>
        <p:spPr>
          <a:xfrm>
            <a:off x="11811305" y="3924605"/>
            <a:ext cx="21909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간격 스펙</a:t>
            </a:r>
            <a:endParaRPr lang="en-US" sz="825" dirty="0"/>
          </a:p>
        </p:txBody>
      </p:sp>
      <p:sp>
        <p:nvSpPr>
          <p:cNvPr id="45" name="Text 30"/>
          <p:cNvSpPr txBox="1"/>
          <p:nvPr/>
        </p:nvSpPr>
        <p:spPr>
          <a:xfrm>
            <a:off x="11811305" y="4153205"/>
            <a:ext cx="21909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ECEE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/ 5 nm</a:t>
            </a:r>
            <a:endParaRPr lang="en-US" sz="1950" dirty="0"/>
          </a:p>
        </p:txBody>
      </p:sp>
      <p:sp>
        <p:nvSpPr>
          <p:cNvPr id="46" name="Text 31"/>
          <p:cNvSpPr txBox="1"/>
          <p:nvPr/>
        </p:nvSpPr>
        <p:spPr>
          <a:xfrm>
            <a:off x="11811305" y="4548226"/>
            <a:ext cx="2190902" cy="34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EUV 패터닝 / FSAV 공정</a:t>
            </a:r>
            <a:pPr algn="l" indent="0" marL="0">
              <a:lnSpc>
                <a:spcPts val="1305"/>
              </a:lnSpc>
              <a:buNone/>
            </a:pP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6F7A8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10년 수명 기준 변동 스펙</a:t>
            </a:r>
            <a:endParaRPr lang="en-US" sz="900" dirty="0"/>
          </a:p>
        </p:txBody>
      </p:sp>
      <p:sp>
        <p:nvSpPr>
          <p:cNvPr id="47" name="Text 32"/>
          <p:cNvSpPr txBox="1"/>
          <p:nvPr/>
        </p:nvSpPr>
        <p:spPr>
          <a:xfrm>
            <a:off x="8762695" y="5886907"/>
            <a:ext cx="5143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Croes 2015: impact damage 모델과 멱법칙이 데이터를 가장 잘 설명</a:t>
            </a:r>
            <a:endParaRPr lang="en-US" sz="975" dirty="0"/>
          </a:p>
        </p:txBody>
      </p:sp>
      <p:sp>
        <p:nvSpPr>
          <p:cNvPr id="48" name="Text 33"/>
          <p:cNvSpPr txBox="1"/>
          <p:nvPr/>
        </p:nvSpPr>
        <p:spPr>
          <a:xfrm>
            <a:off x="8762695" y="6286500"/>
            <a:ext cx="5143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16 nm HP: 다이간 1σ </a:t>
            </a:r>
            <a:pPr algn="l" indent="0" marL="0">
              <a:buNone/>
            </a:pPr>
            <a:r>
              <a:rPr lang="en-US" sz="9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 nm</a:t>
            </a:r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LER 1σ </a:t>
            </a:r>
            <a:pPr algn="l" indent="0" marL="0">
              <a:buNone/>
            </a:pPr>
            <a:r>
              <a:rPr lang="en-US" sz="975" dirty="0">
                <a:solidFill>
                  <a:srgbClr val="DEB1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nm</a:t>
            </a:r>
            <a:endParaRPr lang="en-US" sz="975" dirty="0"/>
          </a:p>
        </p:txBody>
      </p:sp>
      <p:sp>
        <p:nvSpPr>
          <p:cNvPr id="49" name="Text 34"/>
          <p:cNvSpPr txBox="1"/>
          <p:nvPr/>
        </p:nvSpPr>
        <p:spPr>
          <a:xfrm>
            <a:off x="8762695" y="6687007"/>
            <a:ext cx="5143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직선 대비 </a:t>
            </a:r>
            <a:pPr algn="l" indent="0" marL="0">
              <a:buNone/>
            </a:pPr>
            <a:r>
              <a:rPr lang="en-US" sz="975" dirty="0">
                <a:solidFill>
                  <a:srgbClr val="DEB14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멱법칙 ≈ 3자릿수</a:t>
            </a:r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</a:t>
            </a:r>
            <a:pPr algn="l" indent="0" marL="0">
              <a:buNone/>
            </a:pPr>
            <a:r>
              <a:rPr lang="en-US" sz="975" dirty="0">
                <a:solidFill>
                  <a:srgbClr val="DEB14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√E ≈ 1자릿수</a:t>
            </a:r>
            <a:endParaRPr lang="en-US" sz="975" dirty="0"/>
          </a:p>
        </p:txBody>
      </p:sp>
      <p:sp>
        <p:nvSpPr>
          <p:cNvPr id="50" name="Text 35"/>
          <p:cNvSpPr txBox="1"/>
          <p:nvPr/>
        </p:nvSpPr>
        <p:spPr>
          <a:xfrm>
            <a:off x="8762695" y="7086600"/>
            <a:ext cx="5143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거칠기 작을 땐 간격, LER 1σ &gt; 0.6 nm부터 LER이 지배</a:t>
            </a:r>
            <a:endParaRPr lang="en-US" sz="975" dirty="0"/>
          </a:p>
        </p:txBody>
      </p:sp>
      <p:sp>
        <p:nvSpPr>
          <p:cNvPr id="51" name="Text 36"/>
          <p:cNvSpPr txBox="1"/>
          <p:nvPr/>
        </p:nvSpPr>
        <p:spPr>
          <a:xfrm>
            <a:off x="2857500" y="933419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 Nature Sci. Rep. · EM void cross-section</a:t>
            </a:r>
            <a:endParaRPr lang="en-US" sz="825" dirty="0"/>
          </a:p>
        </p:txBody>
      </p:sp>
      <p:sp>
        <p:nvSpPr>
          <p:cNvPr id="52" name="Text 37"/>
          <p:cNvSpPr txBox="1"/>
          <p:nvPr/>
        </p:nvSpPr>
        <p:spPr>
          <a:xfrm>
            <a:off x="6381598" y="8305495"/>
            <a:ext cx="742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E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수명이 간격에 반비례한다는 가정이 깔려 있습니다.</a:t>
            </a:r>
            <a:endParaRPr lang="en-US" sz="1200" dirty="0"/>
          </a:p>
        </p:txBody>
      </p:sp>
      <p:sp>
        <p:nvSpPr>
          <p:cNvPr id="53" name="Text 38"/>
          <p:cNvSpPr txBox="1"/>
          <p:nvPr/>
        </p:nvSpPr>
        <p:spPr>
          <a:xfrm>
            <a:off x="6381598" y="8630107"/>
            <a:ext cx="7429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7BFC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Fang 2025: 비아 오정렬, tip-to-tip 변동, LER, 다이간 간격 변동을 모두 넣고 10년 수명 변동 스펙 — Croes 2015의 2차원 가정을 3차원으로 확장.</a:t>
            </a:r>
            <a:endParaRPr lang="en-US" sz="1050" dirty="0"/>
          </a:p>
        </p:txBody>
      </p:sp>
      <p:sp>
        <p:nvSpPr>
          <p:cNvPr id="54" name="Text 39"/>
          <p:cNvSpPr txBox="1"/>
          <p:nvPr/>
        </p:nvSpPr>
        <p:spPr>
          <a:xfrm>
            <a:off x="2762402" y="9696298"/>
            <a:ext cx="10478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6F7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Zahedmanesh · Esposto · Croes 2015 · Fang 2025 · Kocaay — 80% 과소평가, 100× 가속 모델 차이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2026-10-03T16:49:49Z</dcterms:created>
  <dcterms:modified xsi:type="dcterms:W3CDTF">2026-10-03T16:49:49Z</dcterms:modified>
</cp:coreProperties>
</file>