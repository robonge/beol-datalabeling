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슬라이드는 M6 레이어에서 via etch over-etch 시간을 0% baseline부터 +35%까지 5% step으로 분할한 DOE 개요입니다. 8매 wafer에 대해 CD-SEM 4종 metric과 69pt in-wafer uniformity, line/via Rs, ILD leakage, TDDB T63, EM T50 전기 4종을 동일 lot에서 동시 평가합니다. dense 1:1, 1:2, isolated 세 가지 pattern density를 모두 포함해 pattern-loading 효과도 함께 봅니다. 이 데이터는 명시적으로 dummy(가상)이며 파일 09/20에 해당합니다.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슬라이드 — M6 via etch 후 polished 단면을 SEM으로 관찰한 결과. baseline W01 대비 OE +25 % W06에서 측벽 bow 가 시작되고 +30 % W07부터 seam void 빈도가 시각적으로 증가합니다. 우측 표는 5 종 관찰 항목에 대한 dummy readout, 그리고 3 종 도구 메타 (Dies sampled 5, Tilt 0°, Image lot 코드) 를 정리했습니다. 본 슬라이드의 정량치는 모두 dummy(가상)이며, 사용된 단면 이미지는 IMAPS 공개 reference 입니다. 이후 슬라이드의 CD / uniformity / 전기 분석은 +25 % 를 가시 결함 분기점으로 사용합니다.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단면 TEM 분석. W01 baseline · W04 +15 % · W06 +25 % · W08 +35 %, 4 종 대표 조건을 한 표에 정리했습니다. +15 %까지 baseline과 거의 동등, +25 %부터 line bowing과 barrier 분리가 동시 시작, +35 %에서는 micro-void 누적이 시각 확인됩니다. 점선 하이라이트 영역은 +25 % 임계점 의미로 색조 배경 위에 강조 문장으로 두었습니다. 이후 슬라이드의 CD / 전기 분석은 +25 % 분기점으로 해석합니다. 본 슬라이드의 모든 수치는 dummy(가상)이며 이미지는 ResearchGate 공개 reference 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상부 CD variation 슬라이드. AASI target 23.9 nm, ASEI target 17.7 nm 두 메트릭을 좌우로 나란히 놓았습니다. 8개 wafer의 mean / 3σ / range / Δ vs target 4개 컬럼을 보여주고, Δ 절댓값이 0.30 nm를 넘는 W07 / W08 두 wafer 행은 따스한 warn band로 강조했습니다. 두 메트릭 모두 OE 증가에 따라 mean은 음의 방향으로, 3σ와 range는 모두 증가합니다. 본 슬라이드는 dummy(가상) 데이터이며, +20% 구간부터 데이터 분산이 빠르게 커지는 추세는 +25% 임계점 가설을 뒷받침합니다.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하부 CD variation 슬라이드. AMI(9.0 nm), ACI(8.4 nm) 두 메트릭 같은 구조로 정리했습니다. 하부 CD는 스케일이 9 nm 수준으로 매우 작아서, 같은 OE 변동량이라도 Δ 절댓값 기준으로는 미미해 보이지만, 같은 임계 규칙 — Δ 절대값 0.20 nm 초과 — 을 적용했습니다. 동일한 +25% 임계점에서 누적 손상이 시작된다는 사실이 강조되며, ACI는 AMI보다 분산은 좁지만 평균적으로 OE 추세를 잘 따릅니다. 데이터는 모두 dummy(가상)입니다.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In-wafer uniformity 슬라이드. 좌측 9 × 8 − 3 = 69 pt W05 map (AASI delta 인코딩), 우측은 4 band legend 와 8 wafer NIU / 3σ / range 요약. dummy 데이터 의도된 추세는 중앙 die 가 -0.10 ~ -0.17, 외곽으로 갈수록 -0.20 ~ -0.28 까지 비대칭 분포. NIU 0.41 → 1.27 % 로 약 3 × 증가, W07 / W08 은 warn band. 우측 표는 8 wafer 행 × 5 컬럼 (Wafer · OE% · NIU% · 3σ · range). 본 슬라이드는 dummy(가상)이며, 이후 슬라이드 해석의 분기점이 W05 임을 명시합니다.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전기 특성 평가 슬라이드. 7 컬럼 (Wafer / OE Δ / Line Rs / Via Rs / ILD Leak / TDDB T63 / EM T50) × 8 wafer 행 + 헤더. 표 위에는 target spec 한 줄로 정렬했고, spec-out cell 은 따스한 warn band 로 강조했습니다. 핵심 변화는 +25% W06 부터 Line Rs / Via Rs / ILD leak / TDDB / EM 5 종이 모두 동시 spec-out 으로 전환된다는 점입니다. 본 슬라이드는 dummy(가상)이며, 같은 lot 의 W08 에서 TDDB T63 이 2.6 yr, EM T50 이 2.3 yr 까지 떨어집니다. 제조 window 는 +20% 이내로 좁혀지는 것이 안전하다는 결론을 한 줄 takeaway 로 정리했습니다.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a3ed317390b28a0b74c8d1d0afa45f43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914400" y="2704795"/>
            <a:ext cx="16459200" cy="9144"/>
          </a:xfrm>
          <a:prstGeom prst="rect">
            <a:avLst/>
          </a:prstGeom>
        </p:spPr>
      </p:pic>
      <p:pic>
        <p:nvPicPr>
          <p:cNvPr id="4" name="Image 1" descr="gen-dedup-a3ed317390b28a0b74c8d1d0afa45f43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914400" y="9696298"/>
            <a:ext cx="16459200" cy="9144"/>
          </a:xfrm>
          <a:prstGeom prst="rect">
            <a:avLst/>
          </a:prstGeom>
        </p:spPr>
      </p:pic>
      <p:pic>
        <p:nvPicPr>
          <p:cNvPr id="5" name="Image 2" descr="gen-dedup-5017654da22af15c7d5755b68a5bfe43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914400" y="2704795"/>
            <a:ext cx="914400" cy="9144"/>
          </a:xfrm>
          <a:prstGeom prst="rect">
            <a:avLst/>
          </a:prstGeom>
        </p:spPr>
      </p:pic>
      <p:pic>
        <p:nvPicPr>
          <p:cNvPr id="6" name="Image 3" descr="gen-dedup-b26fba21cc6e1b1ecd50e1cb28373e84.png">    </p:cNvPr>
          <p:cNvPicPr>
            <a:picLocks noChangeAspect="1"/>
          </p:cNvPicPr>
          <p:nvPr/>
        </p:nvPicPr>
        <p:blipFill>
          <a:blip r:embed="rId4"/>
          <a:srcRect l="-387" r="-387" t="0" b="0"/>
          <a:stretch/>
        </p:blipFill>
        <p:spPr>
          <a:xfrm>
            <a:off x="914400" y="8762695"/>
            <a:ext cx="38405" cy="590702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>
            <a:off x="14020495" y="705002"/>
            <a:ext cx="3353105" cy="1943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DE"/>
            </a:solidFill>
            <a:prstDash val="solid"/>
          </a:ln>
        </p:spPr>
      </p:sp>
      <p:sp>
        <p:nvSpPr>
          <p:cNvPr id="8" name="Text 1"/>
          <p:cNvSpPr txBox="1"/>
          <p:nvPr/>
        </p:nvSpPr>
        <p:spPr>
          <a:xfrm>
            <a:off x="914400" y="705002"/>
            <a:ext cx="11430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BEOL · M6 · Via etch over-etch time split</a:t>
            </a:r>
            <a:endParaRPr lang="en-US" sz="1350" dirty="0"/>
          </a:p>
        </p:txBody>
      </p:sp>
      <p:sp>
        <p:nvSpPr>
          <p:cNvPr id="9" name="Text 2"/>
          <p:cNvSpPr txBox="1"/>
          <p:nvPr/>
        </p:nvSpPr>
        <p:spPr>
          <a:xfrm>
            <a:off x="914400" y="1057046"/>
            <a:ext cx="11430000" cy="5623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spc="-42" kern="0" dirty="0">
                <a:solidFill>
                  <a:srgbClr val="14171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실험 개요 및 평가 조건</a:t>
            </a:r>
            <a:endParaRPr lang="en-US" sz="4200" dirty="0"/>
          </a:p>
        </p:txBody>
      </p:sp>
      <p:sp>
        <p:nvSpPr>
          <p:cNvPr id="10" name="Text 3"/>
          <p:cNvSpPr txBox="1"/>
          <p:nvPr/>
        </p:nvSpPr>
        <p:spPr>
          <a:xfrm>
            <a:off x="14287500" y="914400"/>
            <a:ext cx="28200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CASE / 09 / 20</a:t>
            </a:r>
            <a:endParaRPr lang="en-US" sz="975" dirty="0"/>
          </a:p>
        </p:txBody>
      </p:sp>
      <p:sp>
        <p:nvSpPr>
          <p:cNvPr id="11" name="Text 4"/>
          <p:cNvSpPr txBox="1"/>
          <p:nvPr/>
        </p:nvSpPr>
        <p:spPr>
          <a:xfrm>
            <a:off x="14287500" y="1248156"/>
            <a:ext cx="829361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5400" dirty="0"/>
          </a:p>
        </p:txBody>
      </p:sp>
      <p:sp>
        <p:nvSpPr>
          <p:cNvPr id="12" name="Text 5"/>
          <p:cNvSpPr txBox="1"/>
          <p:nvPr/>
        </p:nvSpPr>
        <p:spPr>
          <a:xfrm>
            <a:off x="15243962" y="1610258"/>
            <a:ext cx="848563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65C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wafers</a:t>
            </a:r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65C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evaluated</a:t>
            </a:r>
            <a:endParaRPr lang="en-US" sz="1500" dirty="0"/>
          </a:p>
        </p:txBody>
      </p:sp>
      <p:sp>
        <p:nvSpPr>
          <p:cNvPr id="13" name="Text 6"/>
          <p:cNvSpPr txBox="1"/>
          <p:nvPr/>
        </p:nvSpPr>
        <p:spPr>
          <a:xfrm>
            <a:off x="14287500" y="2190902"/>
            <a:ext cx="2820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565C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split range </a:t>
            </a:r>
            <a:pPr algn="l" indent="0" marL="0">
              <a:buNone/>
            </a:pPr>
            <a:r>
              <a:rPr lang="en-US" sz="112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 → +35 %</a:t>
            </a:r>
            <a:pPr algn="l" indent="0" marL="0">
              <a:buNone/>
            </a:pPr>
            <a:r>
              <a:rPr lang="en-US" sz="1125" dirty="0">
                <a:solidFill>
                  <a:srgbClr val="565C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5 % step</a:t>
            </a:r>
            <a:endParaRPr lang="en-US" sz="1125" dirty="0"/>
          </a:p>
        </p:txBody>
      </p:sp>
      <p:sp>
        <p:nvSpPr>
          <p:cNvPr id="14" name="Text 7"/>
          <p:cNvSpPr txBox="1"/>
          <p:nvPr/>
        </p:nvSpPr>
        <p:spPr>
          <a:xfrm>
            <a:off x="914400" y="3161995"/>
            <a:ext cx="98115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· Spec / Run sheet</a:t>
            </a:r>
            <a:endParaRPr lang="en-US" sz="10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504895"/>
          <a:ext cx="9811512" cy="4448556"/>
        </p:xfrm>
        <a:graphic>
          <a:graphicData uri="http://schemas.openxmlformats.org/drawingml/2006/table">
            <a:tbl>
              <a:tblPr/>
              <a:tblGrid>
                <a:gridCol w="2286000"/>
                <a:gridCol w="3619195"/>
                <a:gridCol w="1714500"/>
                <a:gridCol w="2190902"/>
              </a:tblGrid>
              <a:tr h="5560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DESCRIPTION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RANGE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6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565C6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Layer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M6 · Cu dual-damascene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low-k IMD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6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565C6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Split factor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Via etch over-etch 시간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 → +35 %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5 % step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</a:tr>
              <a:tr h="556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565C6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Wafer · lot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W01 – W08 (300 mm)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 매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single lot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6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565C6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CD targets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AASI · ASEI · AMI · ACI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23.9 / 17.7 / 9.0 / 8.4 nm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top · top · bot · bot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</a:tr>
              <a:tr h="556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565C6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Metrics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CD-SEM 4 종 · 69 pt uniformity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line / via Rs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 TDDB · EM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6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565C6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Pattern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dense 1 : 1 · 1 : 2 · iso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—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 densities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</a:tr>
              <a:tr h="556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565C6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Tool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CD-SEM · in-line e-tester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—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prod-equal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8"/>
          <p:cNvSpPr txBox="1"/>
          <p:nvPr/>
        </p:nvSpPr>
        <p:spPr>
          <a:xfrm>
            <a:off x="11144707" y="3161995"/>
            <a:ext cx="622980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· OE split / wafer matrix</a:t>
            </a:r>
            <a:endParaRPr lang="en-US" sz="10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144707" y="3504895"/>
          <a:ext cx="6229807" cy="3686861"/>
        </p:xfrm>
        <a:graphic>
          <a:graphicData uri="http://schemas.openxmlformats.org/drawingml/2006/table">
            <a:tbl>
              <a:tblPr/>
              <a:tblGrid>
                <a:gridCol w="1238098"/>
                <a:gridCol w="1904695"/>
                <a:gridCol w="1524305"/>
                <a:gridCol w="1561795"/>
              </a:tblGrid>
              <a:tr h="4096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WAFER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OE Δ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ROLE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TAG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96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control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REF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6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+5 %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step 1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</a:tr>
              <a:tr h="4096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W03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+10 %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step 2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6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W04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+15 %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step 3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S3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</a:tr>
              <a:tr h="4096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+20 %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mid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6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W06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+25 %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step 5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</a:tr>
              <a:tr h="4096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W07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+30 %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step 6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S6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6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+35 %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tail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S7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18" name="Text 9"/>
          <p:cNvSpPr txBox="1"/>
          <p:nvPr/>
        </p:nvSpPr>
        <p:spPr>
          <a:xfrm>
            <a:off x="1181405" y="8762695"/>
            <a:ext cx="12382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19" name="Text 10"/>
          <p:cNvSpPr txBox="1"/>
          <p:nvPr/>
        </p:nvSpPr>
        <p:spPr>
          <a:xfrm>
            <a:off x="1181405" y="8982151"/>
            <a:ext cx="130686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dirty="0">
                <a:solidFill>
                  <a:srgbClr val="14171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 매 wafer 에 대해 OE 0 – 35 % 분할 DOE 를 적용, CD 4 종 · 69 pt uniformity · 전기 4 종을 동일 lot 에서 동시 평가한다.</a:t>
            </a:r>
            <a:endParaRPr lang="en-US" sz="1725" dirty="0"/>
          </a:p>
        </p:txBody>
      </p:sp>
      <p:sp>
        <p:nvSpPr>
          <p:cNvPr id="20" name="Text 11"/>
          <p:cNvSpPr txBox="1"/>
          <p:nvPr/>
        </p:nvSpPr>
        <p:spPr>
          <a:xfrm>
            <a:off x="914400" y="9849002"/>
            <a:ext cx="164592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spc="45" kern="0" dirty="0">
                <a:solidFill>
                  <a:srgbClr val="565C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※ 내부 테스트용 더미(가상) 데이터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a3ed317390b28a0b74c8d1d0afa45f43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914400" y="2553005"/>
            <a:ext cx="16459200" cy="914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115300" y="7791602"/>
            <a:ext cx="2971800" cy="83850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DE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11259007" y="7791602"/>
            <a:ext cx="2971800" cy="83850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DE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4401800" y="7791602"/>
            <a:ext cx="2971800" cy="83850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DE"/>
            </a:solidFill>
            <a:prstDash val="solid"/>
          </a:ln>
        </p:spPr>
      </p:sp>
      <p:pic>
        <p:nvPicPr>
          <p:cNvPr id="7" name="Image 1" descr="gen-dedup-a3ed317390b28a0b74c8d1d0afa45f43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914400" y="9696298"/>
            <a:ext cx="16459200" cy="9144"/>
          </a:xfrm>
          <a:prstGeom prst="rect">
            <a:avLst/>
          </a:prstGeom>
        </p:spPr>
      </p:pic>
      <p:pic>
        <p:nvPicPr>
          <p:cNvPr id="8" name="Image 2" descr="gen-dedup-5017654da22af15c7d5755b68a5bfe43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914400" y="2553005"/>
            <a:ext cx="914400" cy="9144"/>
          </a:xfrm>
          <a:prstGeom prst="rect">
            <a:avLst/>
          </a:prstGeom>
        </p:spPr>
      </p:pic>
      <p:pic>
        <p:nvPicPr>
          <p:cNvPr id="9" name="Image 3" descr="gen-dedup-05186117964163cf5e2fa882beccfa18.png">    </p:cNvPr>
          <p:cNvPicPr>
            <a:picLocks noChangeAspect="1"/>
          </p:cNvPicPr>
          <p:nvPr/>
        </p:nvPicPr>
        <p:blipFill>
          <a:blip r:embed="rId4"/>
          <a:srcRect l="-400" r="-400" t="0" b="0"/>
          <a:stretch/>
        </p:blipFill>
        <p:spPr>
          <a:xfrm>
            <a:off x="914400" y="9105595"/>
            <a:ext cx="38405" cy="457200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14287500" y="705002"/>
            <a:ext cx="30861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DE"/>
            </a:solidFill>
            <a:prstDash val="solid"/>
          </a:ln>
        </p:spPr>
      </p:sp>
      <p:pic>
        <p:nvPicPr>
          <p:cNvPr id="11" name="Image 4" descr="gen-dedup-f57375e809d6e0e940cd292477ee5ea7.jpg">    </p:cNvPr>
          <p:cNvPicPr>
            <a:picLocks noChangeAspect="1"/>
          </p:cNvPicPr>
          <p:nvPr/>
        </p:nvPicPr>
        <p:blipFill>
          <a:blip r:embed="rId5"/>
          <a:srcRect l="-21493" r="-21493" t="0" b="0"/>
          <a:stretch/>
        </p:blipFill>
        <p:spPr>
          <a:xfrm>
            <a:off x="914400" y="2971800"/>
            <a:ext cx="6858000" cy="5524805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914400" y="705002"/>
            <a:ext cx="12382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Imaging</a:t>
            </a:r>
            <a:endParaRPr lang="en-US" sz="1350" dirty="0"/>
          </a:p>
        </p:txBody>
      </p:sp>
      <p:sp>
        <p:nvSpPr>
          <p:cNvPr id="13" name="Text 5"/>
          <p:cNvSpPr txBox="1"/>
          <p:nvPr/>
        </p:nvSpPr>
        <p:spPr>
          <a:xfrm>
            <a:off x="914400" y="1057046"/>
            <a:ext cx="12382805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36" kern="0" dirty="0">
                <a:solidFill>
                  <a:srgbClr val="14171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단면 SEM 분석</a:t>
            </a:r>
            <a:endParaRPr lang="en-US" sz="3600" dirty="0"/>
          </a:p>
        </p:txBody>
      </p:sp>
      <p:sp>
        <p:nvSpPr>
          <p:cNvPr id="14" name="Text 6"/>
          <p:cNvSpPr txBox="1"/>
          <p:nvPr/>
        </p:nvSpPr>
        <p:spPr>
          <a:xfrm>
            <a:off x="914400" y="1684325"/>
            <a:ext cx="123828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65C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M6 via etch 후 Cu dual-damascene 단면 형상 비교 — 0 % baseline vs +25 % over-etch</a:t>
            </a:r>
            <a:endParaRPr lang="en-US" sz="1500" dirty="0"/>
          </a:p>
        </p:txBody>
      </p:sp>
      <p:sp>
        <p:nvSpPr>
          <p:cNvPr id="15" name="Text 7"/>
          <p:cNvSpPr txBox="1"/>
          <p:nvPr/>
        </p:nvSpPr>
        <p:spPr>
          <a:xfrm>
            <a:off x="14516100" y="914400"/>
            <a:ext cx="28200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Magnification</a:t>
            </a:r>
            <a:endParaRPr lang="en-US" sz="975" dirty="0"/>
          </a:p>
        </p:txBody>
      </p:sp>
      <p:sp>
        <p:nvSpPr>
          <p:cNvPr id="16" name="Text 8"/>
          <p:cNvSpPr txBox="1"/>
          <p:nvPr/>
        </p:nvSpPr>
        <p:spPr>
          <a:xfrm>
            <a:off x="14516100" y="1171346"/>
            <a:ext cx="28200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80 000 ×</a:t>
            </a:r>
            <a:endParaRPr lang="en-US" sz="2250" dirty="0"/>
          </a:p>
        </p:txBody>
      </p:sp>
      <p:sp>
        <p:nvSpPr>
          <p:cNvPr id="17" name="Text 9"/>
          <p:cNvSpPr txBox="1"/>
          <p:nvPr/>
        </p:nvSpPr>
        <p:spPr>
          <a:xfrm>
            <a:off x="914400" y="8648395"/>
            <a:ext cx="6858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spc="42" kern="0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Fig. 02-A</a:t>
            </a:r>
            <a:pPr algn="l" indent="0" marL="0">
              <a:lnSpc>
                <a:spcPts val="1680"/>
              </a:lnSpc>
              <a:buNone/>
            </a:pPr>
            <a:r>
              <a:rPr lang="en-US" sz="1050" spc="42" kern="0" dirty="0">
                <a:solidFill>
                  <a:srgbClr val="565C6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Cu interconnect polished 단면 (M6 reference lot). </a:t>
            </a:r>
            <a:pPr algn="l" indent="0" marL="0">
              <a:lnSpc>
                <a:spcPts val="1680"/>
              </a:lnSpc>
              <a:buNone/>
            </a:pPr>
            <a:r>
              <a:rPr lang="en-US" sz="1050" spc="42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출처 — IMAPS / 3D InCites, public reference (2025).</a:t>
            </a:r>
            <a:endParaRPr lang="en-US" sz="1050" dirty="0"/>
          </a:p>
        </p:txBody>
      </p:sp>
      <p:sp>
        <p:nvSpPr>
          <p:cNvPr id="18" name="Text 10"/>
          <p:cNvSpPr txBox="1"/>
          <p:nvPr/>
        </p:nvSpPr>
        <p:spPr>
          <a:xfrm>
            <a:off x="8115300" y="2971800"/>
            <a:ext cx="27432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· Observation log</a:t>
            </a:r>
            <a:endParaRPr lang="en-US" sz="97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15300" y="3372307"/>
          <a:ext cx="9258300" cy="3067812"/>
        </p:xfrm>
        <a:graphic>
          <a:graphicData uri="http://schemas.openxmlformats.org/drawingml/2006/table">
            <a:tbl>
              <a:tblPr/>
              <a:tblGrid>
                <a:gridCol w="2286000"/>
                <a:gridCol w="6972300"/>
              </a:tblGrid>
              <a:tr h="5113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FEATURE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OBSERVATION · DUMMY READOUT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3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65C6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Via sidewall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33502" marT="133502" marB="133502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W01 baseline ±2° taper, +25 % W06 부터 bow 시작 — 예: ~ +6° (dummy)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3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65C6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Via bottom CD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33502" marT="133502" marB="133502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OE 증가 시 부풀음 → 평균 -0.30 nm (W08 vs W01, dummy)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</a:tr>
              <a:tr h="5113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65C6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Cu fill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33502" marT="133502" marB="133502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W07 부터 seam void 빈도 ↑, W08 의 site / die 1 결함 징후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3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65C6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low-k IMD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33502" marT="133502" marB="133502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OE +30 % 이상에서 측벽 recess + bright-line, plasma damage 누적 추정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</a:tr>
              <a:tr h="5113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65C6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Etch stop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33502" marT="133502" marB="133502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 etch 노출 변동량 dummy 수치로 max 4.2 nm (W05 vs W01)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1"/>
          <p:cNvSpPr txBox="1"/>
          <p:nvPr/>
        </p:nvSpPr>
        <p:spPr>
          <a:xfrm>
            <a:off x="8115300" y="7791602"/>
            <a:ext cx="297180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Dies sampled · wafer</a:t>
            </a:r>
            <a:endParaRPr lang="en-US" sz="900" dirty="0"/>
          </a:p>
        </p:txBody>
      </p:sp>
      <p:sp>
        <p:nvSpPr>
          <p:cNvPr id="21" name="Text 12"/>
          <p:cNvSpPr txBox="1"/>
          <p:nvPr/>
        </p:nvSpPr>
        <p:spPr>
          <a:xfrm>
            <a:off x="8115300" y="8238744"/>
            <a:ext cx="2971800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250" dirty="0"/>
          </a:p>
        </p:txBody>
      </p:sp>
      <p:sp>
        <p:nvSpPr>
          <p:cNvPr id="22" name="Text 13"/>
          <p:cNvSpPr txBox="1"/>
          <p:nvPr/>
        </p:nvSpPr>
        <p:spPr>
          <a:xfrm>
            <a:off x="11259007" y="7791602"/>
            <a:ext cx="297180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Tilt angle</a:t>
            </a:r>
            <a:endParaRPr lang="en-US" sz="900" dirty="0"/>
          </a:p>
        </p:txBody>
      </p:sp>
      <p:sp>
        <p:nvSpPr>
          <p:cNvPr id="23" name="Text 14"/>
          <p:cNvSpPr txBox="1"/>
          <p:nvPr/>
        </p:nvSpPr>
        <p:spPr>
          <a:xfrm>
            <a:off x="11259007" y="8238744"/>
            <a:ext cx="2971800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 °</a:t>
            </a:r>
            <a:endParaRPr lang="en-US" sz="2250" dirty="0"/>
          </a:p>
        </p:txBody>
      </p:sp>
      <p:sp>
        <p:nvSpPr>
          <p:cNvPr id="24" name="Text 15"/>
          <p:cNvSpPr txBox="1"/>
          <p:nvPr/>
        </p:nvSpPr>
        <p:spPr>
          <a:xfrm>
            <a:off x="14401800" y="7791602"/>
            <a:ext cx="297180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Image lot</a:t>
            </a:r>
            <a:endParaRPr lang="en-US" sz="900" dirty="0"/>
          </a:p>
        </p:txBody>
      </p:sp>
      <p:sp>
        <p:nvSpPr>
          <p:cNvPr id="25" name="Text 16"/>
          <p:cNvSpPr txBox="1"/>
          <p:nvPr/>
        </p:nvSpPr>
        <p:spPr>
          <a:xfrm>
            <a:off x="14401800" y="8238744"/>
            <a:ext cx="29718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M6-ViaOE-α</a:t>
            </a:r>
            <a:endParaRPr lang="en-US" sz="1800" dirty="0"/>
          </a:p>
        </p:txBody>
      </p:sp>
      <p:sp>
        <p:nvSpPr>
          <p:cNvPr id="26" name="Text 17"/>
          <p:cNvSpPr txBox="1"/>
          <p:nvPr/>
        </p:nvSpPr>
        <p:spPr>
          <a:xfrm>
            <a:off x="1181405" y="9068105"/>
            <a:ext cx="15240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27" name="Text 18"/>
          <p:cNvSpPr txBox="1"/>
          <p:nvPr/>
        </p:nvSpPr>
        <p:spPr>
          <a:xfrm>
            <a:off x="1181405" y="9267444"/>
            <a:ext cx="152403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14171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OE +25 % 구간부터 측벽 bow 와 Cu seam void 가 시각적으로 확인되며, low-k 측벽 recess 누적 징후도 동반된다.</a:t>
            </a:r>
            <a:endParaRPr lang="en-US" sz="1575" dirty="0"/>
          </a:p>
        </p:txBody>
      </p:sp>
      <p:sp>
        <p:nvSpPr>
          <p:cNvPr id="28" name="Text 19"/>
          <p:cNvSpPr txBox="1"/>
          <p:nvPr/>
        </p:nvSpPr>
        <p:spPr>
          <a:xfrm>
            <a:off x="914400" y="9849002"/>
            <a:ext cx="164592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spc="45" kern="0" dirty="0">
                <a:solidFill>
                  <a:srgbClr val="565C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※ 내부 테스트용 더미(가상) 데이터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a3ed317390b28a0b74c8d1d0afa45f43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914400" y="2553005"/>
            <a:ext cx="16459200" cy="914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115300" y="7181698"/>
            <a:ext cx="9258300" cy="1333195"/>
          </a:xfrm>
          <a:prstGeom prst="rect">
            <a:avLst/>
          </a:prstGeom>
          <a:solidFill>
            <a:srgbClr val="DDE9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gen-dedup-a3ed317390b28a0b74c8d1d0afa45f43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914400" y="9696298"/>
            <a:ext cx="16459200" cy="9144"/>
          </a:xfrm>
          <a:prstGeom prst="rect">
            <a:avLst/>
          </a:prstGeom>
        </p:spPr>
      </p:pic>
      <p:pic>
        <p:nvPicPr>
          <p:cNvPr id="6" name="Image 2" descr="gen-dedup-5017654da22af15c7d5755b68a5bfe43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914400" y="2553005"/>
            <a:ext cx="914400" cy="9144"/>
          </a:xfrm>
          <a:prstGeom prst="rect">
            <a:avLst/>
          </a:prstGeom>
        </p:spPr>
      </p:pic>
      <p:pic>
        <p:nvPicPr>
          <p:cNvPr id="7" name="Image 3" descr="gen-dedup-05186117964163cf5e2fa882beccfa18.png">    </p:cNvPr>
          <p:cNvPicPr>
            <a:picLocks noChangeAspect="1"/>
          </p:cNvPicPr>
          <p:nvPr/>
        </p:nvPicPr>
        <p:blipFill>
          <a:blip r:embed="rId4"/>
          <a:srcRect l="-400" r="-400" t="0" b="0"/>
          <a:stretch/>
        </p:blipFill>
        <p:spPr>
          <a:xfrm>
            <a:off x="914400" y="9105595"/>
            <a:ext cx="38405" cy="457200"/>
          </a:xfrm>
          <a:prstGeom prst="rect">
            <a:avLst/>
          </a:prstGeom>
        </p:spPr>
      </p:pic>
      <p:sp>
        <p:nvSpPr>
          <p:cNvPr id="8" name="Shape 1"/>
          <p:cNvSpPr/>
          <p:nvPr/>
        </p:nvSpPr>
        <p:spPr>
          <a:xfrm>
            <a:off x="14287500" y="705002"/>
            <a:ext cx="30861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DE"/>
            </a:solidFill>
            <a:prstDash val="solid"/>
          </a:ln>
        </p:spPr>
      </p:sp>
      <p:pic>
        <p:nvPicPr>
          <p:cNvPr id="9" name="Image 4" descr="gen-dedup-0bc22dbdf241c021bbd0fa83c9084f05.jpg">    </p:cNvPr>
          <p:cNvPicPr>
            <a:picLocks noChangeAspect="1"/>
          </p:cNvPicPr>
          <p:nvPr/>
        </p:nvPicPr>
        <p:blipFill>
          <a:blip r:embed="rId5"/>
          <a:srcRect l="-43409" r="-43409" t="0" b="0"/>
          <a:stretch/>
        </p:blipFill>
        <p:spPr>
          <a:xfrm>
            <a:off x="914400" y="2971800"/>
            <a:ext cx="6858000" cy="5524805"/>
          </a:xfrm>
          <a:prstGeom prst="rect">
            <a:avLst/>
          </a:prstGeom>
        </p:spPr>
      </p:pic>
      <p:sp>
        <p:nvSpPr>
          <p:cNvPr id="10" name="Text 2"/>
          <p:cNvSpPr txBox="1"/>
          <p:nvPr/>
        </p:nvSpPr>
        <p:spPr>
          <a:xfrm>
            <a:off x="914400" y="705002"/>
            <a:ext cx="12382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Imaging</a:t>
            </a:r>
            <a:endParaRPr lang="en-US" sz="1350" dirty="0"/>
          </a:p>
        </p:txBody>
      </p:sp>
      <p:sp>
        <p:nvSpPr>
          <p:cNvPr id="11" name="Text 3"/>
          <p:cNvSpPr txBox="1"/>
          <p:nvPr/>
        </p:nvSpPr>
        <p:spPr>
          <a:xfrm>
            <a:off x="914400" y="1057046"/>
            <a:ext cx="12382805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36" kern="0" dirty="0">
                <a:solidFill>
                  <a:srgbClr val="14171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단면 TEM 분석</a:t>
            </a:r>
            <a:endParaRPr lang="en-US" sz="3600" dirty="0"/>
          </a:p>
        </p:txBody>
      </p:sp>
      <p:sp>
        <p:nvSpPr>
          <p:cNvPr id="12" name="Text 4"/>
          <p:cNvSpPr txBox="1"/>
          <p:nvPr/>
        </p:nvSpPr>
        <p:spPr>
          <a:xfrm>
            <a:off x="914400" y="1684325"/>
            <a:ext cx="123828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65C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via 부 · metal line 계면 · barrier 분리 거동 — 4 종 대표 조건 검토</a:t>
            </a:r>
            <a:endParaRPr lang="en-US" sz="1500" dirty="0"/>
          </a:p>
        </p:txBody>
      </p:sp>
      <p:sp>
        <p:nvSpPr>
          <p:cNvPr id="13" name="Text 5"/>
          <p:cNvSpPr txBox="1"/>
          <p:nvPr/>
        </p:nvSpPr>
        <p:spPr>
          <a:xfrm>
            <a:off x="14516100" y="914400"/>
            <a:ext cx="28200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Sampling</a:t>
            </a:r>
            <a:endParaRPr lang="en-US" sz="975" dirty="0"/>
          </a:p>
        </p:txBody>
      </p:sp>
      <p:sp>
        <p:nvSpPr>
          <p:cNvPr id="14" name="Text 6"/>
          <p:cNvSpPr txBox="1"/>
          <p:nvPr/>
        </p:nvSpPr>
        <p:spPr>
          <a:xfrm>
            <a:off x="14516100" y="1171346"/>
            <a:ext cx="28200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conditions</a:t>
            </a:r>
            <a:endParaRPr lang="en-US" sz="2250" dirty="0"/>
          </a:p>
        </p:txBody>
      </p:sp>
      <p:sp>
        <p:nvSpPr>
          <p:cNvPr id="15" name="Text 7"/>
          <p:cNvSpPr txBox="1"/>
          <p:nvPr/>
        </p:nvSpPr>
        <p:spPr>
          <a:xfrm>
            <a:off x="914400" y="8648395"/>
            <a:ext cx="6858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spc="42" kern="0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Fig. 03-A</a:t>
            </a:r>
            <a:pPr algn="l" indent="0" marL="0">
              <a:lnSpc>
                <a:spcPts val="1680"/>
              </a:lnSpc>
              <a:buNone/>
            </a:pPr>
            <a:r>
              <a:rPr lang="en-US" sz="1050" spc="42" kern="0" dirty="0">
                <a:solidFill>
                  <a:srgbClr val="565C6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Cu interconnect polished cross-section (M6 representative lot). </a:t>
            </a:r>
            <a:pPr algn="l" indent="0" marL="0">
              <a:lnSpc>
                <a:spcPts val="1680"/>
              </a:lnSpc>
              <a:buNone/>
            </a:pPr>
            <a:r>
              <a:rPr lang="en-US" sz="1050" spc="42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출처 — Semiconductor Digest, Intel-4 process article (public reference).</a:t>
            </a:r>
            <a:endParaRPr lang="en-US" sz="1050" dirty="0"/>
          </a:p>
        </p:txBody>
      </p:sp>
      <p:sp>
        <p:nvSpPr>
          <p:cNvPr id="16" name="Text 8"/>
          <p:cNvSpPr txBox="1"/>
          <p:nvPr/>
        </p:nvSpPr>
        <p:spPr>
          <a:xfrm>
            <a:off x="8115300" y="2971800"/>
            <a:ext cx="27432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· 4 conditions readout</a:t>
            </a:r>
            <a:endParaRPr lang="en-US" sz="975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15300" y="3372307"/>
          <a:ext cx="9258300" cy="2695651"/>
        </p:xfrm>
        <a:graphic>
          <a:graphicData uri="http://schemas.openxmlformats.org/drawingml/2006/table">
            <a:tbl>
              <a:tblPr/>
              <a:tblGrid>
                <a:gridCol w="1524154"/>
                <a:gridCol w="1657643"/>
                <a:gridCol w="6076502"/>
              </a:tblGrid>
              <a:tr h="5391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WAFER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OE Δ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SUB-FEATURE COMMENT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91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33502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baseline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barrier 연속, Cu 결정립 조밀, line / via 계면 clean — reference 상태로 표기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1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W04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33502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+15 %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via 부 barrier 1 site 결함 의심 (예: 9 nm recess dummy), line bowing 시각적 미미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</a:tr>
              <a:tr h="5391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W06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33502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+25 %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metal line bowing 발생, via 측벽 taper &gt; 4°, low-k 표층 변색 징후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1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33502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+35 %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via 부 micro-void 다수, seam 연속성 깨짐, TDDB 우려 임계 — dummy 누적 손상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18" name="Text 9"/>
          <p:cNvSpPr txBox="1"/>
          <p:nvPr/>
        </p:nvSpPr>
        <p:spPr>
          <a:xfrm>
            <a:off x="8382305" y="7353605"/>
            <a:ext cx="8763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1A4D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Critical threshold · dummy</a:t>
            </a:r>
            <a:endParaRPr lang="en-US" sz="975" dirty="0"/>
          </a:p>
        </p:txBody>
      </p:sp>
      <p:sp>
        <p:nvSpPr>
          <p:cNvPr id="19" name="Text 10"/>
          <p:cNvSpPr txBox="1"/>
          <p:nvPr/>
        </p:nvSpPr>
        <p:spPr>
          <a:xfrm>
            <a:off x="8382305" y="7610551"/>
            <a:ext cx="876361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9"/>
              </a:lnSpc>
              <a:buNone/>
            </a:pPr>
            <a:r>
              <a:rPr lang="en-US" sz="1425" dirty="0">
                <a:solidFill>
                  <a:srgbClr val="14171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OE +25 % 초과 시 line bowing · barrier 분리 · Cu void 3 종 결함이 동시에 누적되기 시작 — 이후 분석의 분기점으로 사용한다.</a:t>
            </a:r>
            <a:endParaRPr lang="en-US" sz="1425" dirty="0"/>
          </a:p>
        </p:txBody>
      </p:sp>
      <p:sp>
        <p:nvSpPr>
          <p:cNvPr id="20" name="Text 11"/>
          <p:cNvSpPr txBox="1"/>
          <p:nvPr/>
        </p:nvSpPr>
        <p:spPr>
          <a:xfrm>
            <a:off x="1181405" y="9068105"/>
            <a:ext cx="15240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21" name="Text 12"/>
          <p:cNvSpPr txBox="1"/>
          <p:nvPr/>
        </p:nvSpPr>
        <p:spPr>
          <a:xfrm>
            <a:off x="1181405" y="9267444"/>
            <a:ext cx="152403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14171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 단면에서도 +25 % 구간에서 line bowing 과 barrier 분리, +35 %에서 micro-void 누적이 확인되어 +25 %를 가시 결함 분기점으로 본다.</a:t>
            </a:r>
            <a:endParaRPr lang="en-US" sz="1575" dirty="0"/>
          </a:p>
        </p:txBody>
      </p:sp>
      <p:sp>
        <p:nvSpPr>
          <p:cNvPr id="22" name="Text 13"/>
          <p:cNvSpPr txBox="1"/>
          <p:nvPr/>
        </p:nvSpPr>
        <p:spPr>
          <a:xfrm>
            <a:off x="914400" y="9849002"/>
            <a:ext cx="164592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spc="45" kern="0" dirty="0">
                <a:solidFill>
                  <a:srgbClr val="565C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※ 내부 테스트용 더미(가상) 데이터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a3ed317390b28a0b74c8d1d0afa45f43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914400" y="2553005"/>
            <a:ext cx="16459200" cy="9144"/>
          </a:xfrm>
          <a:prstGeom prst="rect">
            <a:avLst/>
          </a:prstGeom>
        </p:spPr>
      </p:pic>
      <p:pic>
        <p:nvPicPr>
          <p:cNvPr id="4" name="Image 1" descr="gen-dedup-a3ed317390b28a0b74c8d1d0afa45f43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914400" y="9696298"/>
            <a:ext cx="16459200" cy="9144"/>
          </a:xfrm>
          <a:prstGeom prst="rect">
            <a:avLst/>
          </a:prstGeom>
        </p:spPr>
      </p:pic>
      <p:pic>
        <p:nvPicPr>
          <p:cNvPr id="5" name="Image 2" descr="gen-dedup-5017654da22af15c7d5755b68a5bfe43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914400" y="2553005"/>
            <a:ext cx="914400" cy="9144"/>
          </a:xfrm>
          <a:prstGeom prst="rect">
            <a:avLst/>
          </a:prstGeom>
        </p:spPr>
      </p:pic>
      <p:pic>
        <p:nvPicPr>
          <p:cNvPr id="6" name="Image 3" descr="gen-dedup-05186117964163cf5e2fa882beccfa18.png">    </p:cNvPr>
          <p:cNvPicPr>
            <a:picLocks noChangeAspect="1"/>
          </p:cNvPicPr>
          <p:nvPr/>
        </p:nvPicPr>
        <p:blipFill>
          <a:blip r:embed="rId4"/>
          <a:srcRect l="-400" r="-400" t="0" b="0"/>
          <a:stretch/>
        </p:blipFill>
        <p:spPr>
          <a:xfrm>
            <a:off x="914400" y="9105595"/>
            <a:ext cx="38405" cy="457200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>
            <a:off x="14287500" y="705002"/>
            <a:ext cx="30861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DE"/>
            </a:solidFill>
            <a:prstDash val="solid"/>
          </a:ln>
        </p:spPr>
      </p:sp>
      <p:sp>
        <p:nvSpPr>
          <p:cNvPr id="8" name="Text 1"/>
          <p:cNvSpPr txBox="1"/>
          <p:nvPr/>
        </p:nvSpPr>
        <p:spPr>
          <a:xfrm>
            <a:off x="914400" y="705002"/>
            <a:ext cx="13335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CD-SEM</a:t>
            </a:r>
            <a:endParaRPr lang="en-US" sz="1350" dirty="0"/>
          </a:p>
        </p:txBody>
      </p:sp>
      <p:sp>
        <p:nvSpPr>
          <p:cNvPr id="9" name="Text 2"/>
          <p:cNvSpPr txBox="1"/>
          <p:nvPr/>
        </p:nvSpPr>
        <p:spPr>
          <a:xfrm>
            <a:off x="914400" y="1057046"/>
            <a:ext cx="133356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36" kern="0" dirty="0">
                <a:solidFill>
                  <a:srgbClr val="14171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상부 CD variation</a:t>
            </a:r>
            <a:endParaRPr lang="en-US" sz="3600" dirty="0"/>
          </a:p>
        </p:txBody>
      </p:sp>
      <p:sp>
        <p:nvSpPr>
          <p:cNvPr id="10" name="Text 3"/>
          <p:cNvSpPr txBox="1"/>
          <p:nvPr/>
        </p:nvSpPr>
        <p:spPr>
          <a:xfrm>
            <a:off x="914400" y="1665122"/>
            <a:ext cx="13335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65C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AASI </a:t>
            </a:r>
            <a:pPr algn="l" indent="0" marL="0">
              <a:buNone/>
            </a:pPr>
            <a:r>
              <a:rPr lang="en-US" sz="1500" dirty="0">
                <a:solidFill>
                  <a:srgbClr val="565C6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23.9 nm</a:t>
            </a:r>
            <a:pPr algn="l" indent="0" marL="0">
              <a:buNone/>
            </a:pPr>
            <a:r>
              <a:rPr lang="en-US" sz="1500" dirty="0">
                <a:solidFill>
                  <a:srgbClr val="565C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ASEI </a:t>
            </a:r>
            <a:pPr algn="l" indent="0" marL="0">
              <a:buNone/>
            </a:pPr>
            <a:r>
              <a:rPr lang="en-US" sz="1500" dirty="0">
                <a:solidFill>
                  <a:srgbClr val="565C6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17.7 nm</a:t>
            </a:r>
            <a:pPr algn="l" indent="0" marL="0">
              <a:buNone/>
            </a:pPr>
            <a:r>
              <a:rPr lang="en-US" sz="1500" dirty="0">
                <a:solidFill>
                  <a:srgbClr val="565C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8 wafer readout, mean / 3σ / range / Δ</a:t>
            </a:r>
            <a:endParaRPr lang="en-US" sz="1500" dirty="0"/>
          </a:p>
        </p:txBody>
      </p:sp>
      <p:sp>
        <p:nvSpPr>
          <p:cNvPr id="11" name="Text 4"/>
          <p:cNvSpPr txBox="1"/>
          <p:nvPr/>
        </p:nvSpPr>
        <p:spPr>
          <a:xfrm>
            <a:off x="14516100" y="914400"/>
            <a:ext cx="28200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Metric count · this page</a:t>
            </a:r>
            <a:endParaRPr lang="en-US" sz="900" dirty="0"/>
          </a:p>
        </p:txBody>
      </p:sp>
      <p:sp>
        <p:nvSpPr>
          <p:cNvPr id="12" name="Text 5"/>
          <p:cNvSpPr txBox="1"/>
          <p:nvPr/>
        </p:nvSpPr>
        <p:spPr>
          <a:xfrm>
            <a:off x="14516100" y="1152144"/>
            <a:ext cx="28200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top CD</a:t>
            </a:r>
            <a:endParaRPr lang="en-US" sz="2100" dirty="0"/>
          </a:p>
        </p:txBody>
      </p:sp>
      <p:sp>
        <p:nvSpPr>
          <p:cNvPr id="13" name="Text 6"/>
          <p:cNvSpPr txBox="1"/>
          <p:nvPr/>
        </p:nvSpPr>
        <p:spPr>
          <a:xfrm>
            <a:off x="914400" y="2971800"/>
            <a:ext cx="345826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· AASI · target 23.9 nm · top CD</a:t>
            </a:r>
            <a:endParaRPr lang="en-US" sz="975" dirty="0"/>
          </a:p>
        </p:txBody>
      </p:sp>
      <p:sp>
        <p:nvSpPr>
          <p:cNvPr id="14" name="Text 7"/>
          <p:cNvSpPr txBox="1"/>
          <p:nvPr/>
        </p:nvSpPr>
        <p:spPr>
          <a:xfrm>
            <a:off x="8094269" y="2971800"/>
            <a:ext cx="6766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65C6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 · nm</a:t>
            </a:r>
            <a:endParaRPr lang="en-US" sz="97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267151"/>
          <a:ext cx="7849210" cy="3982212"/>
        </p:xfrm>
        <a:graphic>
          <a:graphicData uri="http://schemas.openxmlformats.org/drawingml/2006/table">
            <a:tbl>
              <a:tblPr/>
              <a:tblGrid>
                <a:gridCol w="1328623"/>
                <a:gridCol w="1013155"/>
                <a:gridCol w="1405433"/>
                <a:gridCol w="1234440"/>
                <a:gridCol w="1234440"/>
                <a:gridCol w="1632204"/>
              </a:tblGrid>
              <a:tr h="442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WAFER</a:t>
                      </a:r>
                      <a:endParaRPr lang="en-US" sz="97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OE Δ</a:t>
                      </a:r>
                      <a:endParaRPr lang="en-US" sz="97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MEAN</a:t>
                      </a:r>
                      <a:endParaRPr lang="en-US" sz="97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3Σ</a:t>
                      </a:r>
                      <a:endParaRPr lang="en-US" sz="97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RANGE</a:t>
                      </a:r>
                      <a:endParaRPr lang="en-US" sz="97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Δ VS TARGET</a:t>
                      </a:r>
                      <a:endParaRPr lang="en-US" sz="97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2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baseline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23.92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0.31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1.18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+0.02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2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+5 %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23.88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0.34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1.24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−0.02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</a:tr>
              <a:tr h="442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W03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+10 %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23.85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0.36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1.31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−0.05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2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W04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+15 %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23.81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0.41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1.45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−0.09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</a:tr>
              <a:tr h="442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+20 %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23.74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0.45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1.62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−0.16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2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W06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+25 %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23.66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0.51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1.83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−0.24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</a:tr>
              <a:tr h="442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W07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+30 %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23.58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0.55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1.97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−0.32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</a:tr>
              <a:tr h="442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+35 %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23.49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0.62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2.21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−0.41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</a:tr>
            </a:tbl>
          </a:graphicData>
        </a:graphic>
      </p:graphicFrame>
      <p:sp>
        <p:nvSpPr>
          <p:cNvPr id="16" name="Text 8"/>
          <p:cNvSpPr txBox="1"/>
          <p:nvPr/>
        </p:nvSpPr>
        <p:spPr>
          <a:xfrm>
            <a:off x="9448495" y="2971800"/>
            <a:ext cx="345826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· ASEI · target 17.7 nm · top CD</a:t>
            </a:r>
            <a:endParaRPr lang="en-US" sz="975" dirty="0"/>
          </a:p>
        </p:txBody>
      </p:sp>
      <p:sp>
        <p:nvSpPr>
          <p:cNvPr id="17" name="Text 9"/>
          <p:cNvSpPr txBox="1"/>
          <p:nvPr/>
        </p:nvSpPr>
        <p:spPr>
          <a:xfrm>
            <a:off x="16705174" y="2971800"/>
            <a:ext cx="6766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65C6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 · nm</a:t>
            </a:r>
            <a:endParaRPr lang="en-US" sz="975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448495" y="3267151"/>
          <a:ext cx="7925105" cy="3982212"/>
        </p:xfrm>
        <a:graphic>
          <a:graphicData uri="http://schemas.openxmlformats.org/drawingml/2006/table">
            <a:tbl>
              <a:tblPr/>
              <a:tblGrid>
                <a:gridCol w="1328623"/>
                <a:gridCol w="1013155"/>
                <a:gridCol w="1405433"/>
                <a:gridCol w="1234440"/>
                <a:gridCol w="1234440"/>
                <a:gridCol w="1708099"/>
              </a:tblGrid>
              <a:tr h="442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WAFER</a:t>
                      </a:r>
                      <a:endParaRPr lang="en-US" sz="97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OE Δ</a:t>
                      </a:r>
                      <a:endParaRPr lang="en-US" sz="97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MEAN</a:t>
                      </a:r>
                      <a:endParaRPr lang="en-US" sz="97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3Σ</a:t>
                      </a:r>
                      <a:endParaRPr lang="en-US" sz="97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RANGE</a:t>
                      </a:r>
                      <a:endParaRPr lang="en-US" sz="97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Δ VS TARGET</a:t>
                      </a:r>
                      <a:endParaRPr lang="en-US" sz="97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2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baseline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17.68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0.24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0.88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−0.02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2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+5 %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17.65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0.27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0.96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−0.05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</a:tr>
              <a:tr h="442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W03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+10 %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17.62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0.29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1.04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−0.08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2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W04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+15 %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17.58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0.32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1.18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−0.12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</a:tr>
              <a:tr h="442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+20 %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17.51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0.37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1.36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−0.19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2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W06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+25 %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17.43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0.42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1.55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−0.27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</a:tr>
              <a:tr h="442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W07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+30 %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17.35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0.48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1.74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−0.35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</a:tr>
              <a:tr h="442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+35 %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17.24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0.55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2.02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−0.46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</a:tr>
            </a:tbl>
          </a:graphicData>
        </a:graphic>
      </p:graphicFrame>
      <p:sp>
        <p:nvSpPr>
          <p:cNvPr id="19" name="Text 10"/>
          <p:cNvSpPr txBox="1"/>
          <p:nvPr/>
        </p:nvSpPr>
        <p:spPr>
          <a:xfrm>
            <a:off x="1181405" y="9087307"/>
            <a:ext cx="15240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20" name="Text 11"/>
          <p:cNvSpPr txBox="1"/>
          <p:nvPr/>
        </p:nvSpPr>
        <p:spPr>
          <a:xfrm>
            <a:off x="1181405" y="9267444"/>
            <a:ext cx="152403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14171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AASI / ASEI 모두 OE 20 % 초과 시 3σ &gt; 0.45 nm, delta 의 절댓값이 +30 % 부터 0.30 nm 초과로 누적 손상이 본격화된다.</a:t>
            </a:r>
            <a:endParaRPr lang="en-US" sz="1575" dirty="0"/>
          </a:p>
        </p:txBody>
      </p:sp>
      <p:sp>
        <p:nvSpPr>
          <p:cNvPr id="21" name="Text 12"/>
          <p:cNvSpPr txBox="1"/>
          <p:nvPr/>
        </p:nvSpPr>
        <p:spPr>
          <a:xfrm>
            <a:off x="914400" y="9849002"/>
            <a:ext cx="164592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spc="45" kern="0" dirty="0">
                <a:solidFill>
                  <a:srgbClr val="565C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※ 내부 테스트용 더미(가상) 데이터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a3ed317390b28a0b74c8d1d0afa45f43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914400" y="2553005"/>
            <a:ext cx="16459200" cy="9144"/>
          </a:xfrm>
          <a:prstGeom prst="rect">
            <a:avLst/>
          </a:prstGeom>
        </p:spPr>
      </p:pic>
      <p:pic>
        <p:nvPicPr>
          <p:cNvPr id="4" name="Image 1" descr="gen-dedup-a3ed317390b28a0b74c8d1d0afa45f43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914400" y="9696298"/>
            <a:ext cx="16459200" cy="9144"/>
          </a:xfrm>
          <a:prstGeom prst="rect">
            <a:avLst/>
          </a:prstGeom>
        </p:spPr>
      </p:pic>
      <p:pic>
        <p:nvPicPr>
          <p:cNvPr id="5" name="Image 2" descr="gen-dedup-5017654da22af15c7d5755b68a5bfe43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914400" y="2553005"/>
            <a:ext cx="914400" cy="9144"/>
          </a:xfrm>
          <a:prstGeom prst="rect">
            <a:avLst/>
          </a:prstGeom>
        </p:spPr>
      </p:pic>
      <p:pic>
        <p:nvPicPr>
          <p:cNvPr id="6" name="Image 3" descr="gen-dedup-05186117964163cf5e2fa882beccfa18.png">    </p:cNvPr>
          <p:cNvPicPr>
            <a:picLocks noChangeAspect="1"/>
          </p:cNvPicPr>
          <p:nvPr/>
        </p:nvPicPr>
        <p:blipFill>
          <a:blip r:embed="rId4"/>
          <a:srcRect l="-400" r="-400" t="0" b="0"/>
          <a:stretch/>
        </p:blipFill>
        <p:spPr>
          <a:xfrm>
            <a:off x="914400" y="9105595"/>
            <a:ext cx="38405" cy="457200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>
            <a:off x="14287500" y="705002"/>
            <a:ext cx="30861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DE"/>
            </a:solidFill>
            <a:prstDash val="solid"/>
          </a:ln>
        </p:spPr>
      </p:sp>
      <p:sp>
        <p:nvSpPr>
          <p:cNvPr id="8" name="Text 1"/>
          <p:cNvSpPr txBox="1"/>
          <p:nvPr/>
        </p:nvSpPr>
        <p:spPr>
          <a:xfrm>
            <a:off x="914400" y="705002"/>
            <a:ext cx="13335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CD-SEM</a:t>
            </a:r>
            <a:endParaRPr lang="en-US" sz="1350" dirty="0"/>
          </a:p>
        </p:txBody>
      </p:sp>
      <p:sp>
        <p:nvSpPr>
          <p:cNvPr id="9" name="Text 2"/>
          <p:cNvSpPr txBox="1"/>
          <p:nvPr/>
        </p:nvSpPr>
        <p:spPr>
          <a:xfrm>
            <a:off x="914400" y="1057046"/>
            <a:ext cx="133356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36" kern="0" dirty="0">
                <a:solidFill>
                  <a:srgbClr val="14171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하부 CD variation</a:t>
            </a:r>
            <a:endParaRPr lang="en-US" sz="3600" dirty="0"/>
          </a:p>
        </p:txBody>
      </p:sp>
      <p:sp>
        <p:nvSpPr>
          <p:cNvPr id="10" name="Text 3"/>
          <p:cNvSpPr txBox="1"/>
          <p:nvPr/>
        </p:nvSpPr>
        <p:spPr>
          <a:xfrm>
            <a:off x="914400" y="1665122"/>
            <a:ext cx="13335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65C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AMI </a:t>
            </a:r>
            <a:pPr algn="l" indent="0" marL="0">
              <a:buNone/>
            </a:pPr>
            <a:r>
              <a:rPr lang="en-US" sz="1500" dirty="0">
                <a:solidFill>
                  <a:srgbClr val="565C6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9.0 nm</a:t>
            </a:r>
            <a:pPr algn="l" indent="0" marL="0">
              <a:buNone/>
            </a:pPr>
            <a:r>
              <a:rPr lang="en-US" sz="1500" dirty="0">
                <a:solidFill>
                  <a:srgbClr val="565C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ACI </a:t>
            </a:r>
            <a:pPr algn="l" indent="0" marL="0">
              <a:buNone/>
            </a:pPr>
            <a:r>
              <a:rPr lang="en-US" sz="1500" dirty="0">
                <a:solidFill>
                  <a:srgbClr val="565C6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8.4 nm</a:t>
            </a:r>
            <a:pPr algn="l" indent="0" marL="0">
              <a:buNone/>
            </a:pPr>
            <a:r>
              <a:rPr lang="en-US" sz="1500" dirty="0">
                <a:solidFill>
                  <a:srgbClr val="565C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동일 lot, 동일 recipe</a:t>
            </a:r>
            <a:endParaRPr lang="en-US" sz="1500" dirty="0"/>
          </a:p>
        </p:txBody>
      </p:sp>
      <p:sp>
        <p:nvSpPr>
          <p:cNvPr id="11" name="Text 4"/>
          <p:cNvSpPr txBox="1"/>
          <p:nvPr/>
        </p:nvSpPr>
        <p:spPr>
          <a:xfrm>
            <a:off x="14516100" y="914400"/>
            <a:ext cx="28200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Scale · nm</a:t>
            </a:r>
            <a:endParaRPr lang="en-US" sz="900" dirty="0"/>
          </a:p>
        </p:txBody>
      </p:sp>
      <p:sp>
        <p:nvSpPr>
          <p:cNvPr id="12" name="Text 5"/>
          <p:cNvSpPr txBox="1"/>
          <p:nvPr/>
        </p:nvSpPr>
        <p:spPr>
          <a:xfrm>
            <a:off x="14516100" y="1152144"/>
            <a:ext cx="28200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9.0 / 8.4</a:t>
            </a:r>
            <a:endParaRPr lang="en-US" sz="2100" dirty="0"/>
          </a:p>
        </p:txBody>
      </p:sp>
      <p:sp>
        <p:nvSpPr>
          <p:cNvPr id="13" name="Text 6"/>
          <p:cNvSpPr txBox="1"/>
          <p:nvPr/>
        </p:nvSpPr>
        <p:spPr>
          <a:xfrm>
            <a:off x="914400" y="2971800"/>
            <a:ext cx="35625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· AMI · target 9.0 nm · bottom CD</a:t>
            </a:r>
            <a:endParaRPr lang="en-US" sz="975" dirty="0"/>
          </a:p>
        </p:txBody>
      </p:sp>
      <p:sp>
        <p:nvSpPr>
          <p:cNvPr id="14" name="Text 7"/>
          <p:cNvSpPr txBox="1"/>
          <p:nvPr/>
        </p:nvSpPr>
        <p:spPr>
          <a:xfrm>
            <a:off x="8094269" y="2971800"/>
            <a:ext cx="6766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65C6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 · nm</a:t>
            </a:r>
            <a:endParaRPr lang="en-US" sz="975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267151"/>
          <a:ext cx="7849210" cy="3982212"/>
        </p:xfrm>
        <a:graphic>
          <a:graphicData uri="http://schemas.openxmlformats.org/drawingml/2006/table">
            <a:tbl>
              <a:tblPr/>
              <a:tblGrid>
                <a:gridCol w="1328623"/>
                <a:gridCol w="1013155"/>
                <a:gridCol w="1404518"/>
                <a:gridCol w="1234440"/>
                <a:gridCol w="1234440"/>
                <a:gridCol w="1632204"/>
              </a:tblGrid>
              <a:tr h="442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WAFER</a:t>
                      </a:r>
                      <a:endParaRPr lang="en-US" sz="97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OE Δ</a:t>
                      </a:r>
                      <a:endParaRPr lang="en-US" sz="97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MEAN</a:t>
                      </a:r>
                      <a:endParaRPr lang="en-US" sz="97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3Σ</a:t>
                      </a:r>
                      <a:endParaRPr lang="en-US" sz="97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RANGE</a:t>
                      </a:r>
                      <a:endParaRPr lang="en-US" sz="97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Δ VS TARGET</a:t>
                      </a:r>
                      <a:endParaRPr lang="en-US" sz="97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2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baseline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8.99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0.18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0.62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−0.01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2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+5 %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8.97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0.19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0.65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−0.03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</a:tr>
              <a:tr h="442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W03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+10 %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8.95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0.21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0.71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−0.05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2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W04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+15 %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8.92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0.23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0.78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−0.08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</a:tr>
              <a:tr h="442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+20 %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8.88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0.25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0.85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−0.12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2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W06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+25 %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8.83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0.27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0.94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−0.17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</a:tr>
              <a:tr h="442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W07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+30 %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8.77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0.30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1.05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−0.23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</a:tr>
              <a:tr h="442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+35 %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8.69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0.34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1.21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−0.31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</a:tr>
            </a:tbl>
          </a:graphicData>
        </a:graphic>
      </p:graphicFrame>
      <p:sp>
        <p:nvSpPr>
          <p:cNvPr id="16" name="Text 8"/>
          <p:cNvSpPr txBox="1"/>
          <p:nvPr/>
        </p:nvSpPr>
        <p:spPr>
          <a:xfrm>
            <a:off x="9448495" y="2971800"/>
            <a:ext cx="35625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· ACI · target 8.4 nm · bottom CD</a:t>
            </a:r>
            <a:endParaRPr lang="en-US" sz="975" dirty="0"/>
          </a:p>
        </p:txBody>
      </p:sp>
      <p:sp>
        <p:nvSpPr>
          <p:cNvPr id="17" name="Text 9"/>
          <p:cNvSpPr txBox="1"/>
          <p:nvPr/>
        </p:nvSpPr>
        <p:spPr>
          <a:xfrm>
            <a:off x="16705174" y="2971800"/>
            <a:ext cx="6766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65C6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 · nm</a:t>
            </a:r>
            <a:endParaRPr lang="en-US" sz="975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448495" y="3267151"/>
          <a:ext cx="7925105" cy="3982212"/>
        </p:xfrm>
        <a:graphic>
          <a:graphicData uri="http://schemas.openxmlformats.org/drawingml/2006/table">
            <a:tbl>
              <a:tblPr/>
              <a:tblGrid>
                <a:gridCol w="1328623"/>
                <a:gridCol w="1013155"/>
                <a:gridCol w="1404518"/>
                <a:gridCol w="1234440"/>
                <a:gridCol w="1234440"/>
                <a:gridCol w="1708099"/>
              </a:tblGrid>
              <a:tr h="442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WAFER</a:t>
                      </a:r>
                      <a:endParaRPr lang="en-US" sz="97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OE Δ</a:t>
                      </a:r>
                      <a:endParaRPr lang="en-US" sz="97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MEAN</a:t>
                      </a:r>
                      <a:endParaRPr lang="en-US" sz="97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3Σ</a:t>
                      </a:r>
                      <a:endParaRPr lang="en-US" sz="97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RANGE</a:t>
                      </a:r>
                      <a:endParaRPr lang="en-US" sz="97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Δ VS TARGET</a:t>
                      </a:r>
                      <a:endParaRPr lang="en-US" sz="97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2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baseline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0.16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0.58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+0.01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2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+5 %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8.39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0.17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0.61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−0.01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</a:tr>
              <a:tr h="442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W03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+10 %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8.37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0.18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0.66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−0.03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2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W04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+15 %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8.34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0.20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0.72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−0.06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</a:tr>
              <a:tr h="442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+20 %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8.30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0.22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0.79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−0.10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2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W06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+25 %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8.25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0.24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0.88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−0.15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</a:tr>
              <a:tr h="442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W07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+30 %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8.19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0.27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0.99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−0.21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</a:tr>
              <a:tr h="442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+35 %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8.10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0.31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1.14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−0.30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</a:tr>
            </a:tbl>
          </a:graphicData>
        </a:graphic>
      </p:graphicFrame>
      <p:sp>
        <p:nvSpPr>
          <p:cNvPr id="19" name="Text 10"/>
          <p:cNvSpPr txBox="1"/>
          <p:nvPr/>
        </p:nvSpPr>
        <p:spPr>
          <a:xfrm>
            <a:off x="1181405" y="9087307"/>
            <a:ext cx="15240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20" name="Text 11"/>
          <p:cNvSpPr txBox="1"/>
          <p:nvPr/>
        </p:nvSpPr>
        <p:spPr>
          <a:xfrm>
            <a:off x="1181405" y="9267444"/>
            <a:ext cx="152403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14171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AMI / ACI 는 OE 30 % 초과에서 Δ −0.21 nm 초과, ACI 가 AMI 대비 분산 폭이 좁지만 둘 다 +25 % 이후 spec-out 추세.</a:t>
            </a:r>
            <a:endParaRPr lang="en-US" sz="1575" dirty="0"/>
          </a:p>
        </p:txBody>
      </p:sp>
      <p:sp>
        <p:nvSpPr>
          <p:cNvPr id="21" name="Text 12"/>
          <p:cNvSpPr txBox="1"/>
          <p:nvPr/>
        </p:nvSpPr>
        <p:spPr>
          <a:xfrm>
            <a:off x="914400" y="9849002"/>
            <a:ext cx="164592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spc="45" kern="0" dirty="0">
                <a:solidFill>
                  <a:srgbClr val="565C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※ 내부 테스트용 더미(가상) 데이터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a3ed317390b28a0b74c8d1d0afa45f43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914400" y="2553005"/>
            <a:ext cx="16459200" cy="9144"/>
          </a:xfrm>
          <a:prstGeom prst="rect">
            <a:avLst/>
          </a:prstGeom>
        </p:spPr>
      </p:pic>
      <p:pic>
        <p:nvPicPr>
          <p:cNvPr id="4" name="Image 1" descr="gen-dedup-a3ed317390b28a0b74c8d1d0afa45f43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914400" y="9696298"/>
            <a:ext cx="16459200" cy="9144"/>
          </a:xfrm>
          <a:prstGeom prst="rect">
            <a:avLst/>
          </a:prstGeom>
        </p:spPr>
      </p:pic>
      <p:pic>
        <p:nvPicPr>
          <p:cNvPr id="5" name="Image 2" descr="gen-dedup-5017654da22af15c7d5755b68a5bfe43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914400" y="2553005"/>
            <a:ext cx="914400" cy="9144"/>
          </a:xfrm>
          <a:prstGeom prst="rect">
            <a:avLst/>
          </a:prstGeom>
        </p:spPr>
      </p:pic>
      <p:pic>
        <p:nvPicPr>
          <p:cNvPr id="6" name="Image 3" descr="gen-dedup-05186117964163cf5e2fa882beccfa18.png">    </p:cNvPr>
          <p:cNvPicPr>
            <a:picLocks noChangeAspect="1"/>
          </p:cNvPicPr>
          <p:nvPr/>
        </p:nvPicPr>
        <p:blipFill>
          <a:blip r:embed="rId4"/>
          <a:srcRect l="-400" r="-400" t="0" b="0"/>
          <a:stretch/>
        </p:blipFill>
        <p:spPr>
          <a:xfrm>
            <a:off x="914400" y="9029700"/>
            <a:ext cx="38405" cy="457200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>
            <a:off x="14287500" y="705002"/>
            <a:ext cx="30861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DE"/>
            </a:solidFill>
            <a:prstDash val="solid"/>
          </a:ln>
        </p:spPr>
      </p:sp>
      <p:sp>
        <p:nvSpPr>
          <p:cNvPr id="8" name="Shape 1"/>
          <p:cNvSpPr/>
          <p:nvPr/>
        </p:nvSpPr>
        <p:spPr>
          <a:xfrm>
            <a:off x="914400" y="3314700"/>
            <a:ext cx="761695" cy="514807"/>
          </a:xfrm>
          <a:prstGeom prst="rect">
            <a:avLst/>
          </a:prstGeom>
          <a:solidFill>
            <a:srgbClr val="F4EF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2"/>
          <p:cNvSpPr txBox="1"/>
          <p:nvPr/>
        </p:nvSpPr>
        <p:spPr>
          <a:xfrm>
            <a:off x="914400" y="3314700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−0.09</a:t>
            </a:r>
            <a:endParaRPr lang="en-US" sz="975" dirty="0"/>
          </a:p>
        </p:txBody>
      </p:sp>
      <p:sp>
        <p:nvSpPr>
          <p:cNvPr id="10" name="Shape 3"/>
          <p:cNvSpPr/>
          <p:nvPr/>
        </p:nvSpPr>
        <p:spPr>
          <a:xfrm>
            <a:off x="1714500" y="3314700"/>
            <a:ext cx="761695" cy="514807"/>
          </a:xfrm>
          <a:prstGeom prst="rect">
            <a:avLst/>
          </a:prstGeom>
          <a:solidFill>
            <a:srgbClr val="F4EF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4"/>
          <p:cNvSpPr txBox="1"/>
          <p:nvPr/>
        </p:nvSpPr>
        <p:spPr>
          <a:xfrm>
            <a:off x="1714500" y="3314700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−0.10</a:t>
            </a:r>
            <a:endParaRPr lang="en-US" sz="975" dirty="0"/>
          </a:p>
        </p:txBody>
      </p:sp>
      <p:sp>
        <p:nvSpPr>
          <p:cNvPr id="12" name="Shape 5"/>
          <p:cNvSpPr/>
          <p:nvPr/>
        </p:nvSpPr>
        <p:spPr>
          <a:xfrm>
            <a:off x="2514600" y="3314700"/>
            <a:ext cx="761695" cy="514807"/>
          </a:xfrm>
          <a:prstGeom prst="rect">
            <a:avLst/>
          </a:prstGeom>
          <a:solidFill>
            <a:srgbClr val="F4DD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6"/>
          <p:cNvSpPr txBox="1"/>
          <p:nvPr/>
        </p:nvSpPr>
        <p:spPr>
          <a:xfrm>
            <a:off x="2514600" y="3314700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−0.11</a:t>
            </a:r>
            <a:endParaRPr lang="en-US" sz="975" dirty="0"/>
          </a:p>
        </p:txBody>
      </p:sp>
      <p:sp>
        <p:nvSpPr>
          <p:cNvPr id="14" name="Shape 7"/>
          <p:cNvSpPr/>
          <p:nvPr/>
        </p:nvSpPr>
        <p:spPr>
          <a:xfrm>
            <a:off x="3314700" y="3314700"/>
            <a:ext cx="761695" cy="514807"/>
          </a:xfrm>
          <a:prstGeom prst="rect">
            <a:avLst/>
          </a:prstGeom>
          <a:solidFill>
            <a:srgbClr val="F4DD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3314700" y="3314700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−0.12</a:t>
            </a:r>
            <a:endParaRPr lang="en-US" sz="975" dirty="0"/>
          </a:p>
        </p:txBody>
      </p:sp>
      <p:sp>
        <p:nvSpPr>
          <p:cNvPr id="16" name="Shape 9"/>
          <p:cNvSpPr/>
          <p:nvPr/>
        </p:nvSpPr>
        <p:spPr>
          <a:xfrm>
            <a:off x="4114800" y="3314700"/>
            <a:ext cx="761695" cy="514807"/>
          </a:xfrm>
          <a:prstGeom prst="rect">
            <a:avLst/>
          </a:prstGeom>
          <a:solidFill>
            <a:srgbClr val="F4DD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4114800" y="3314700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−0.13</a:t>
            </a:r>
            <a:endParaRPr lang="en-US" sz="975" dirty="0"/>
          </a:p>
        </p:txBody>
      </p:sp>
      <p:sp>
        <p:nvSpPr>
          <p:cNvPr id="18" name="Shape 11"/>
          <p:cNvSpPr/>
          <p:nvPr/>
        </p:nvSpPr>
        <p:spPr>
          <a:xfrm>
            <a:off x="4914900" y="3314700"/>
            <a:ext cx="761695" cy="514807"/>
          </a:xfrm>
          <a:prstGeom prst="rect">
            <a:avLst/>
          </a:prstGeom>
          <a:solidFill>
            <a:srgbClr val="F4DD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4914900" y="3314700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−0.14</a:t>
            </a:r>
            <a:endParaRPr lang="en-US" sz="975" dirty="0"/>
          </a:p>
        </p:txBody>
      </p:sp>
      <p:sp>
        <p:nvSpPr>
          <p:cNvPr id="20" name="Shape 13"/>
          <p:cNvSpPr/>
          <p:nvPr/>
        </p:nvSpPr>
        <p:spPr>
          <a:xfrm>
            <a:off x="5715000" y="3314700"/>
            <a:ext cx="761695" cy="514807"/>
          </a:xfrm>
          <a:prstGeom prst="rect">
            <a:avLst/>
          </a:prstGeom>
          <a:solidFill>
            <a:srgbClr val="F4DD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5715000" y="3314700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−0.12</a:t>
            </a:r>
            <a:endParaRPr lang="en-US" sz="975" dirty="0"/>
          </a:p>
        </p:txBody>
      </p:sp>
      <p:sp>
        <p:nvSpPr>
          <p:cNvPr id="22" name="Shape 15"/>
          <p:cNvSpPr/>
          <p:nvPr/>
        </p:nvSpPr>
        <p:spPr>
          <a:xfrm>
            <a:off x="6515100" y="3314700"/>
            <a:ext cx="761695" cy="514807"/>
          </a:xfrm>
          <a:prstGeom prst="rect">
            <a:avLst/>
          </a:prstGeom>
          <a:solidFill>
            <a:srgbClr val="F4DD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6515100" y="3314700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−0.11</a:t>
            </a:r>
            <a:endParaRPr lang="en-US" sz="975" dirty="0"/>
          </a:p>
        </p:txBody>
      </p:sp>
      <p:sp>
        <p:nvSpPr>
          <p:cNvPr id="24" name="Shape 17"/>
          <p:cNvSpPr/>
          <p:nvPr/>
        </p:nvSpPr>
        <p:spPr>
          <a:xfrm>
            <a:off x="7315200" y="3314700"/>
            <a:ext cx="761695" cy="514807"/>
          </a:xfrm>
          <a:prstGeom prst="rect">
            <a:avLst/>
          </a:prstGeom>
          <a:solidFill>
            <a:srgbClr val="F4DD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7315200" y="3314700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−0.13</a:t>
            </a:r>
            <a:endParaRPr lang="en-US" sz="975" dirty="0"/>
          </a:p>
        </p:txBody>
      </p:sp>
      <p:sp>
        <p:nvSpPr>
          <p:cNvPr id="26" name="Shape 19"/>
          <p:cNvSpPr/>
          <p:nvPr/>
        </p:nvSpPr>
        <p:spPr>
          <a:xfrm>
            <a:off x="914400" y="3866998"/>
            <a:ext cx="761695" cy="514807"/>
          </a:xfrm>
          <a:prstGeom prst="rect">
            <a:avLst/>
          </a:prstGeom>
          <a:solidFill>
            <a:srgbClr val="F4DD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914400" y="3866998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−0.11</a:t>
            </a:r>
            <a:endParaRPr lang="en-US" sz="975" dirty="0"/>
          </a:p>
        </p:txBody>
      </p:sp>
      <p:sp>
        <p:nvSpPr>
          <p:cNvPr id="28" name="Shape 21"/>
          <p:cNvSpPr/>
          <p:nvPr/>
        </p:nvSpPr>
        <p:spPr>
          <a:xfrm>
            <a:off x="1714500" y="3866998"/>
            <a:ext cx="761695" cy="514807"/>
          </a:xfrm>
          <a:prstGeom prst="rect">
            <a:avLst/>
          </a:prstGeom>
          <a:solidFill>
            <a:srgbClr val="F4DD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1714500" y="3866998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−0.12</a:t>
            </a:r>
            <a:endParaRPr lang="en-US" sz="975" dirty="0"/>
          </a:p>
        </p:txBody>
      </p:sp>
      <p:sp>
        <p:nvSpPr>
          <p:cNvPr id="30" name="Shape 23"/>
          <p:cNvSpPr/>
          <p:nvPr/>
        </p:nvSpPr>
        <p:spPr>
          <a:xfrm>
            <a:off x="2514600" y="3866998"/>
            <a:ext cx="761695" cy="514807"/>
          </a:xfrm>
          <a:prstGeom prst="rect">
            <a:avLst/>
          </a:prstGeom>
          <a:solidFill>
            <a:srgbClr val="F4DD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2514600" y="3866998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−0.13</a:t>
            </a:r>
            <a:endParaRPr lang="en-US" sz="975" dirty="0"/>
          </a:p>
        </p:txBody>
      </p:sp>
      <p:sp>
        <p:nvSpPr>
          <p:cNvPr id="32" name="Shape 25"/>
          <p:cNvSpPr/>
          <p:nvPr/>
        </p:nvSpPr>
        <p:spPr>
          <a:xfrm>
            <a:off x="3314700" y="3866998"/>
            <a:ext cx="761695" cy="514807"/>
          </a:xfrm>
          <a:prstGeom prst="rect">
            <a:avLst/>
          </a:prstGeom>
          <a:solidFill>
            <a:srgbClr val="F4DD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3314700" y="3866998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−0.14</a:t>
            </a:r>
            <a:endParaRPr lang="en-US" sz="975" dirty="0"/>
          </a:p>
        </p:txBody>
      </p:sp>
      <p:sp>
        <p:nvSpPr>
          <p:cNvPr id="34" name="Shape 27"/>
          <p:cNvSpPr/>
          <p:nvPr/>
        </p:nvSpPr>
        <p:spPr>
          <a:xfrm>
            <a:off x="4114800" y="3866998"/>
            <a:ext cx="761695" cy="514807"/>
          </a:xfrm>
          <a:prstGeom prst="rect">
            <a:avLst/>
          </a:prstGeom>
          <a:solidFill>
            <a:srgbClr val="F4DD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4114800" y="3866998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−0.15</a:t>
            </a:r>
            <a:endParaRPr lang="en-US" sz="975" dirty="0"/>
          </a:p>
        </p:txBody>
      </p:sp>
      <p:sp>
        <p:nvSpPr>
          <p:cNvPr id="36" name="Shape 29"/>
          <p:cNvSpPr/>
          <p:nvPr/>
        </p:nvSpPr>
        <p:spPr>
          <a:xfrm>
            <a:off x="4914900" y="3866998"/>
            <a:ext cx="761695" cy="514807"/>
          </a:xfrm>
          <a:prstGeom prst="rect">
            <a:avLst/>
          </a:prstGeom>
          <a:solidFill>
            <a:srgbClr val="F4DD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4914900" y="3866998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−0.16</a:t>
            </a:r>
            <a:endParaRPr lang="en-US" sz="975" dirty="0"/>
          </a:p>
        </p:txBody>
      </p:sp>
      <p:sp>
        <p:nvSpPr>
          <p:cNvPr id="38" name="Shape 31"/>
          <p:cNvSpPr/>
          <p:nvPr/>
        </p:nvSpPr>
        <p:spPr>
          <a:xfrm>
            <a:off x="5715000" y="3866998"/>
            <a:ext cx="761695" cy="514807"/>
          </a:xfrm>
          <a:prstGeom prst="rect">
            <a:avLst/>
          </a:prstGeom>
          <a:solidFill>
            <a:srgbClr val="F4DD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5715000" y="3866998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−0.15</a:t>
            </a:r>
            <a:endParaRPr lang="en-US" sz="975" dirty="0"/>
          </a:p>
        </p:txBody>
      </p:sp>
      <p:sp>
        <p:nvSpPr>
          <p:cNvPr id="40" name="Shape 33"/>
          <p:cNvSpPr/>
          <p:nvPr/>
        </p:nvSpPr>
        <p:spPr>
          <a:xfrm>
            <a:off x="6515100" y="3866998"/>
            <a:ext cx="761695" cy="514807"/>
          </a:xfrm>
          <a:prstGeom prst="rect">
            <a:avLst/>
          </a:prstGeom>
          <a:solidFill>
            <a:srgbClr val="F4DD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6515100" y="3866998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−0.13</a:t>
            </a:r>
            <a:endParaRPr lang="en-US" sz="975" dirty="0"/>
          </a:p>
        </p:txBody>
      </p:sp>
      <p:sp>
        <p:nvSpPr>
          <p:cNvPr id="42" name="Shape 35"/>
          <p:cNvSpPr/>
          <p:nvPr/>
        </p:nvSpPr>
        <p:spPr>
          <a:xfrm>
            <a:off x="7315200" y="3866998"/>
            <a:ext cx="761695" cy="514807"/>
          </a:xfrm>
          <a:prstGeom prst="rect">
            <a:avLst/>
          </a:prstGeom>
          <a:solidFill>
            <a:srgbClr val="F4DD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7315200" y="3866998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−0.14</a:t>
            </a:r>
            <a:endParaRPr lang="en-US" sz="975" dirty="0"/>
          </a:p>
        </p:txBody>
      </p:sp>
      <p:sp>
        <p:nvSpPr>
          <p:cNvPr id="44" name="Shape 37"/>
          <p:cNvSpPr/>
          <p:nvPr/>
        </p:nvSpPr>
        <p:spPr>
          <a:xfrm>
            <a:off x="914400" y="4419295"/>
            <a:ext cx="761695" cy="514807"/>
          </a:xfrm>
          <a:prstGeom prst="rect">
            <a:avLst/>
          </a:prstGeom>
          <a:solidFill>
            <a:srgbClr val="F4DD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914400" y="4419295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−0.13</a:t>
            </a:r>
            <a:endParaRPr lang="en-US" sz="975" dirty="0"/>
          </a:p>
        </p:txBody>
      </p:sp>
      <p:sp>
        <p:nvSpPr>
          <p:cNvPr id="46" name="Shape 39"/>
          <p:cNvSpPr/>
          <p:nvPr/>
        </p:nvSpPr>
        <p:spPr>
          <a:xfrm>
            <a:off x="1714500" y="4419295"/>
            <a:ext cx="761695" cy="514807"/>
          </a:xfrm>
          <a:prstGeom prst="rect">
            <a:avLst/>
          </a:prstGeom>
          <a:solidFill>
            <a:srgbClr val="F4DD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1714500" y="4419295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−0.14</a:t>
            </a:r>
            <a:endParaRPr lang="en-US" sz="975" dirty="0"/>
          </a:p>
        </p:txBody>
      </p:sp>
      <p:sp>
        <p:nvSpPr>
          <p:cNvPr id="48" name="Shape 41"/>
          <p:cNvSpPr/>
          <p:nvPr/>
        </p:nvSpPr>
        <p:spPr>
          <a:xfrm>
            <a:off x="2514600" y="4419295"/>
            <a:ext cx="761695" cy="514807"/>
          </a:xfrm>
          <a:prstGeom prst="rect">
            <a:avLst/>
          </a:prstGeom>
          <a:solidFill>
            <a:srgbClr val="F4DD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2514600" y="4419295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−0.15</a:t>
            </a:r>
            <a:endParaRPr lang="en-US" sz="975" dirty="0"/>
          </a:p>
        </p:txBody>
      </p:sp>
      <p:sp>
        <p:nvSpPr>
          <p:cNvPr id="50" name="Shape 43"/>
          <p:cNvSpPr/>
          <p:nvPr/>
        </p:nvSpPr>
        <p:spPr>
          <a:xfrm>
            <a:off x="3314700" y="4419295"/>
            <a:ext cx="761695" cy="514807"/>
          </a:xfrm>
          <a:prstGeom prst="rect">
            <a:avLst/>
          </a:prstGeom>
          <a:solidFill>
            <a:srgbClr val="F4DD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3314700" y="4419295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−0.16</a:t>
            </a:r>
            <a:endParaRPr lang="en-US" sz="975" dirty="0"/>
          </a:p>
        </p:txBody>
      </p:sp>
      <p:sp>
        <p:nvSpPr>
          <p:cNvPr id="52" name="Shape 45"/>
          <p:cNvSpPr/>
          <p:nvPr/>
        </p:nvSpPr>
        <p:spPr>
          <a:xfrm>
            <a:off x="4114800" y="4419295"/>
            <a:ext cx="761695" cy="514807"/>
          </a:xfrm>
          <a:prstGeom prst="rect">
            <a:avLst/>
          </a:prstGeom>
          <a:solidFill>
            <a:srgbClr val="F4DD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6"/>
          <p:cNvSpPr txBox="1"/>
          <p:nvPr/>
        </p:nvSpPr>
        <p:spPr>
          <a:xfrm>
            <a:off x="4114800" y="4419295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−0.17</a:t>
            </a:r>
            <a:endParaRPr lang="en-US" sz="975" dirty="0"/>
          </a:p>
        </p:txBody>
      </p:sp>
      <p:sp>
        <p:nvSpPr>
          <p:cNvPr id="54" name="Shape 47"/>
          <p:cNvSpPr/>
          <p:nvPr/>
        </p:nvSpPr>
        <p:spPr>
          <a:xfrm>
            <a:off x="4914900" y="4419295"/>
            <a:ext cx="761695" cy="514807"/>
          </a:xfrm>
          <a:prstGeom prst="rect">
            <a:avLst/>
          </a:prstGeom>
          <a:solidFill>
            <a:srgbClr val="F4DD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48"/>
          <p:cNvSpPr txBox="1"/>
          <p:nvPr/>
        </p:nvSpPr>
        <p:spPr>
          <a:xfrm>
            <a:off x="4914900" y="4419295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−0.17</a:t>
            </a:r>
            <a:endParaRPr lang="en-US" sz="975" dirty="0"/>
          </a:p>
        </p:txBody>
      </p:sp>
      <p:sp>
        <p:nvSpPr>
          <p:cNvPr id="56" name="Shape 49"/>
          <p:cNvSpPr/>
          <p:nvPr/>
        </p:nvSpPr>
        <p:spPr>
          <a:xfrm>
            <a:off x="5715000" y="4419295"/>
            <a:ext cx="761695" cy="514807"/>
          </a:xfrm>
          <a:prstGeom prst="rect">
            <a:avLst/>
          </a:prstGeom>
          <a:solidFill>
            <a:srgbClr val="F4DD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0"/>
          <p:cNvSpPr txBox="1"/>
          <p:nvPr/>
        </p:nvSpPr>
        <p:spPr>
          <a:xfrm>
            <a:off x="5715000" y="4419295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−0.17</a:t>
            </a:r>
            <a:endParaRPr lang="en-US" sz="975" dirty="0"/>
          </a:p>
        </p:txBody>
      </p:sp>
      <p:sp>
        <p:nvSpPr>
          <p:cNvPr id="58" name="Shape 51"/>
          <p:cNvSpPr/>
          <p:nvPr/>
        </p:nvSpPr>
        <p:spPr>
          <a:xfrm>
            <a:off x="6515100" y="4419295"/>
            <a:ext cx="761695" cy="514807"/>
          </a:xfrm>
          <a:prstGeom prst="rect">
            <a:avLst/>
          </a:prstGeom>
          <a:solidFill>
            <a:srgbClr val="F4DD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2"/>
          <p:cNvSpPr txBox="1"/>
          <p:nvPr/>
        </p:nvSpPr>
        <p:spPr>
          <a:xfrm>
            <a:off x="6515100" y="4419295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−0.16</a:t>
            </a:r>
            <a:endParaRPr lang="en-US" sz="975" dirty="0"/>
          </a:p>
        </p:txBody>
      </p:sp>
      <p:sp>
        <p:nvSpPr>
          <p:cNvPr id="60" name="Shape 53"/>
          <p:cNvSpPr/>
          <p:nvPr/>
        </p:nvSpPr>
        <p:spPr>
          <a:xfrm>
            <a:off x="7315200" y="4419295"/>
            <a:ext cx="761695" cy="514807"/>
          </a:xfrm>
          <a:prstGeom prst="rect">
            <a:avLst/>
          </a:prstGeom>
          <a:solidFill>
            <a:srgbClr val="F4DD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4"/>
          <p:cNvSpPr txBox="1"/>
          <p:nvPr/>
        </p:nvSpPr>
        <p:spPr>
          <a:xfrm>
            <a:off x="7315200" y="4419295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−0.16</a:t>
            </a:r>
            <a:endParaRPr lang="en-US" sz="975" dirty="0"/>
          </a:p>
        </p:txBody>
      </p:sp>
      <p:sp>
        <p:nvSpPr>
          <p:cNvPr id="62" name="Shape 55"/>
          <p:cNvSpPr/>
          <p:nvPr/>
        </p:nvSpPr>
        <p:spPr>
          <a:xfrm>
            <a:off x="914400" y="4972507"/>
            <a:ext cx="761695" cy="514807"/>
          </a:xfrm>
          <a:prstGeom prst="rect">
            <a:avLst/>
          </a:prstGeom>
          <a:solidFill>
            <a:srgbClr val="F4DD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56"/>
          <p:cNvSpPr txBox="1"/>
          <p:nvPr/>
        </p:nvSpPr>
        <p:spPr>
          <a:xfrm>
            <a:off x="914400" y="4972507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−0.14</a:t>
            </a:r>
            <a:endParaRPr lang="en-US" sz="975" dirty="0"/>
          </a:p>
        </p:txBody>
      </p:sp>
      <p:sp>
        <p:nvSpPr>
          <p:cNvPr id="64" name="Shape 57"/>
          <p:cNvSpPr/>
          <p:nvPr/>
        </p:nvSpPr>
        <p:spPr>
          <a:xfrm>
            <a:off x="1714500" y="4972507"/>
            <a:ext cx="761695" cy="514807"/>
          </a:xfrm>
          <a:prstGeom prst="rect">
            <a:avLst/>
          </a:prstGeom>
          <a:solidFill>
            <a:srgbClr val="F4DD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58"/>
          <p:cNvSpPr txBox="1"/>
          <p:nvPr/>
        </p:nvSpPr>
        <p:spPr>
          <a:xfrm>
            <a:off x="1714500" y="4972507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−0.16</a:t>
            </a:r>
            <a:endParaRPr lang="en-US" sz="975" dirty="0"/>
          </a:p>
        </p:txBody>
      </p:sp>
      <p:sp>
        <p:nvSpPr>
          <p:cNvPr id="66" name="Shape 59"/>
          <p:cNvSpPr/>
          <p:nvPr/>
        </p:nvSpPr>
        <p:spPr>
          <a:xfrm>
            <a:off x="2514600" y="4972507"/>
            <a:ext cx="761695" cy="514807"/>
          </a:xfrm>
          <a:prstGeom prst="rect">
            <a:avLst/>
          </a:prstGeom>
          <a:solidFill>
            <a:srgbClr val="F4DD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Text 60"/>
          <p:cNvSpPr txBox="1"/>
          <p:nvPr/>
        </p:nvSpPr>
        <p:spPr>
          <a:xfrm>
            <a:off x="2514600" y="4972507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−0.17</a:t>
            </a:r>
            <a:endParaRPr lang="en-US" sz="975" dirty="0"/>
          </a:p>
        </p:txBody>
      </p:sp>
      <p:sp>
        <p:nvSpPr>
          <p:cNvPr id="68" name="Shape 61"/>
          <p:cNvSpPr/>
          <p:nvPr/>
        </p:nvSpPr>
        <p:spPr>
          <a:xfrm>
            <a:off x="3314700" y="4972507"/>
            <a:ext cx="761695" cy="514807"/>
          </a:xfrm>
          <a:prstGeom prst="rect">
            <a:avLst/>
          </a:prstGeom>
          <a:solidFill>
            <a:srgbClr val="E2B5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Text 62"/>
          <p:cNvSpPr txBox="1"/>
          <p:nvPr/>
        </p:nvSpPr>
        <p:spPr>
          <a:xfrm>
            <a:off x="3314700" y="4972507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3D20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−0.18</a:t>
            </a:r>
            <a:endParaRPr lang="en-US" sz="975" dirty="0"/>
          </a:p>
        </p:txBody>
      </p:sp>
      <p:sp>
        <p:nvSpPr>
          <p:cNvPr id="70" name="Shape 63"/>
          <p:cNvSpPr/>
          <p:nvPr/>
        </p:nvSpPr>
        <p:spPr>
          <a:xfrm>
            <a:off x="4114800" y="4972507"/>
            <a:ext cx="761695" cy="514807"/>
          </a:xfrm>
          <a:prstGeom prst="rect">
            <a:avLst/>
          </a:prstGeom>
          <a:solidFill>
            <a:srgbClr val="E2B5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64"/>
          <p:cNvSpPr txBox="1"/>
          <p:nvPr/>
        </p:nvSpPr>
        <p:spPr>
          <a:xfrm>
            <a:off x="4114800" y="4972507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3D20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−0.18</a:t>
            </a:r>
            <a:endParaRPr lang="en-US" sz="975" dirty="0"/>
          </a:p>
        </p:txBody>
      </p:sp>
      <p:sp>
        <p:nvSpPr>
          <p:cNvPr id="72" name="Shape 65"/>
          <p:cNvSpPr/>
          <p:nvPr/>
        </p:nvSpPr>
        <p:spPr>
          <a:xfrm>
            <a:off x="4914900" y="4972507"/>
            <a:ext cx="761695" cy="514807"/>
          </a:xfrm>
          <a:prstGeom prst="rect">
            <a:avLst/>
          </a:prstGeom>
          <a:solidFill>
            <a:srgbClr val="E2B5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Text 66"/>
          <p:cNvSpPr txBox="1"/>
          <p:nvPr/>
        </p:nvSpPr>
        <p:spPr>
          <a:xfrm>
            <a:off x="4914900" y="4972507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3D20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−0.19</a:t>
            </a:r>
            <a:endParaRPr lang="en-US" sz="975" dirty="0"/>
          </a:p>
        </p:txBody>
      </p:sp>
      <p:sp>
        <p:nvSpPr>
          <p:cNvPr id="74" name="Shape 67"/>
          <p:cNvSpPr/>
          <p:nvPr/>
        </p:nvSpPr>
        <p:spPr>
          <a:xfrm>
            <a:off x="5715000" y="4972507"/>
            <a:ext cx="761695" cy="514807"/>
          </a:xfrm>
          <a:prstGeom prst="rect">
            <a:avLst/>
          </a:prstGeom>
          <a:solidFill>
            <a:srgbClr val="E2B5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Text 68"/>
          <p:cNvSpPr txBox="1"/>
          <p:nvPr/>
        </p:nvSpPr>
        <p:spPr>
          <a:xfrm>
            <a:off x="5715000" y="4972507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3D20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−0.18</a:t>
            </a:r>
            <a:endParaRPr lang="en-US" sz="975" dirty="0"/>
          </a:p>
        </p:txBody>
      </p:sp>
      <p:sp>
        <p:nvSpPr>
          <p:cNvPr id="76" name="Shape 69"/>
          <p:cNvSpPr/>
          <p:nvPr/>
        </p:nvSpPr>
        <p:spPr>
          <a:xfrm>
            <a:off x="6515100" y="4972507"/>
            <a:ext cx="761695" cy="514807"/>
          </a:xfrm>
          <a:prstGeom prst="rect">
            <a:avLst/>
          </a:prstGeom>
          <a:solidFill>
            <a:srgbClr val="F4DD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Text 70"/>
          <p:cNvSpPr txBox="1"/>
          <p:nvPr/>
        </p:nvSpPr>
        <p:spPr>
          <a:xfrm>
            <a:off x="6515100" y="4972507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−0.17</a:t>
            </a:r>
            <a:endParaRPr lang="en-US" sz="975" dirty="0"/>
          </a:p>
        </p:txBody>
      </p:sp>
      <p:sp>
        <p:nvSpPr>
          <p:cNvPr id="78" name="Shape 71"/>
          <p:cNvSpPr/>
          <p:nvPr/>
        </p:nvSpPr>
        <p:spPr>
          <a:xfrm>
            <a:off x="7315200" y="4972507"/>
            <a:ext cx="761695" cy="514807"/>
          </a:xfrm>
          <a:prstGeom prst="rect">
            <a:avLst/>
          </a:prstGeom>
          <a:solidFill>
            <a:srgbClr val="E2B5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Text 72"/>
          <p:cNvSpPr txBox="1"/>
          <p:nvPr/>
        </p:nvSpPr>
        <p:spPr>
          <a:xfrm>
            <a:off x="7315200" y="4972507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3D20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−0.18</a:t>
            </a:r>
            <a:endParaRPr lang="en-US" sz="975" dirty="0"/>
          </a:p>
        </p:txBody>
      </p:sp>
      <p:sp>
        <p:nvSpPr>
          <p:cNvPr id="80" name="Shape 73"/>
          <p:cNvSpPr/>
          <p:nvPr/>
        </p:nvSpPr>
        <p:spPr>
          <a:xfrm>
            <a:off x="914400" y="5524805"/>
            <a:ext cx="761695" cy="514807"/>
          </a:xfrm>
          <a:prstGeom prst="rect">
            <a:avLst/>
          </a:prstGeom>
          <a:solidFill>
            <a:srgbClr val="F4DD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Text 74"/>
          <p:cNvSpPr txBox="1"/>
          <p:nvPr/>
        </p:nvSpPr>
        <p:spPr>
          <a:xfrm>
            <a:off x="914400" y="5524805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−0.15</a:t>
            </a:r>
            <a:endParaRPr lang="en-US" sz="975" dirty="0"/>
          </a:p>
        </p:txBody>
      </p:sp>
      <p:sp>
        <p:nvSpPr>
          <p:cNvPr id="82" name="Shape 75"/>
          <p:cNvSpPr/>
          <p:nvPr/>
        </p:nvSpPr>
        <p:spPr>
          <a:xfrm>
            <a:off x="1714500" y="5524805"/>
            <a:ext cx="761695" cy="514807"/>
          </a:xfrm>
          <a:prstGeom prst="rect">
            <a:avLst/>
          </a:prstGeom>
          <a:solidFill>
            <a:srgbClr val="F4DD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Text 76"/>
          <p:cNvSpPr txBox="1"/>
          <p:nvPr/>
        </p:nvSpPr>
        <p:spPr>
          <a:xfrm>
            <a:off x="1714500" y="5524805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−0.17</a:t>
            </a:r>
            <a:endParaRPr lang="en-US" sz="975" dirty="0"/>
          </a:p>
        </p:txBody>
      </p:sp>
      <p:sp>
        <p:nvSpPr>
          <p:cNvPr id="84" name="Shape 77"/>
          <p:cNvSpPr/>
          <p:nvPr/>
        </p:nvSpPr>
        <p:spPr>
          <a:xfrm>
            <a:off x="2514600" y="5524805"/>
            <a:ext cx="761695" cy="514807"/>
          </a:xfrm>
          <a:prstGeom prst="rect">
            <a:avLst/>
          </a:prstGeom>
          <a:solidFill>
            <a:srgbClr val="E2B5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Text 78"/>
          <p:cNvSpPr txBox="1"/>
          <p:nvPr/>
        </p:nvSpPr>
        <p:spPr>
          <a:xfrm>
            <a:off x="2514600" y="5524805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3D20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−0.18</a:t>
            </a:r>
            <a:endParaRPr lang="en-US" sz="975" dirty="0"/>
          </a:p>
        </p:txBody>
      </p:sp>
      <p:sp>
        <p:nvSpPr>
          <p:cNvPr id="86" name="Shape 79"/>
          <p:cNvSpPr/>
          <p:nvPr/>
        </p:nvSpPr>
        <p:spPr>
          <a:xfrm>
            <a:off x="3314700" y="5524805"/>
            <a:ext cx="761695" cy="514807"/>
          </a:xfrm>
          <a:prstGeom prst="rect">
            <a:avLst/>
          </a:prstGeom>
          <a:solidFill>
            <a:srgbClr val="E2B5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Text 80"/>
          <p:cNvSpPr txBox="1"/>
          <p:nvPr/>
        </p:nvSpPr>
        <p:spPr>
          <a:xfrm>
            <a:off x="3314700" y="5524805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3D20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−0.19</a:t>
            </a:r>
            <a:endParaRPr lang="en-US" sz="975" dirty="0"/>
          </a:p>
        </p:txBody>
      </p:sp>
      <p:sp>
        <p:nvSpPr>
          <p:cNvPr id="88" name="Shape 81"/>
          <p:cNvSpPr/>
          <p:nvPr/>
        </p:nvSpPr>
        <p:spPr>
          <a:xfrm>
            <a:off x="4114800" y="5524805"/>
            <a:ext cx="761695" cy="514807"/>
          </a:xfrm>
          <a:prstGeom prst="rect">
            <a:avLst/>
          </a:prstGeom>
          <a:solidFill>
            <a:srgbClr val="E2B5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Text 82"/>
          <p:cNvSpPr txBox="1"/>
          <p:nvPr/>
        </p:nvSpPr>
        <p:spPr>
          <a:xfrm>
            <a:off x="4114800" y="5524805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3D20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−0.20</a:t>
            </a:r>
            <a:endParaRPr lang="en-US" sz="975" dirty="0"/>
          </a:p>
        </p:txBody>
      </p:sp>
      <p:sp>
        <p:nvSpPr>
          <p:cNvPr id="90" name="Shape 83"/>
          <p:cNvSpPr/>
          <p:nvPr/>
        </p:nvSpPr>
        <p:spPr>
          <a:xfrm>
            <a:off x="4914900" y="5524805"/>
            <a:ext cx="761695" cy="514807"/>
          </a:xfrm>
          <a:prstGeom prst="rect">
            <a:avLst/>
          </a:prstGeom>
          <a:solidFill>
            <a:srgbClr val="E2B5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Text 84"/>
          <p:cNvSpPr txBox="1"/>
          <p:nvPr/>
        </p:nvSpPr>
        <p:spPr>
          <a:xfrm>
            <a:off x="4914900" y="5524805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3D20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−0.20</a:t>
            </a:r>
            <a:endParaRPr lang="en-US" sz="975" dirty="0"/>
          </a:p>
        </p:txBody>
      </p:sp>
      <p:sp>
        <p:nvSpPr>
          <p:cNvPr id="92" name="Shape 85"/>
          <p:cNvSpPr/>
          <p:nvPr/>
        </p:nvSpPr>
        <p:spPr>
          <a:xfrm>
            <a:off x="5715000" y="5524805"/>
            <a:ext cx="761695" cy="514807"/>
          </a:xfrm>
          <a:prstGeom prst="rect">
            <a:avLst/>
          </a:prstGeom>
          <a:solidFill>
            <a:srgbClr val="E2B5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Text 86"/>
          <p:cNvSpPr txBox="1"/>
          <p:nvPr/>
        </p:nvSpPr>
        <p:spPr>
          <a:xfrm>
            <a:off x="5715000" y="5524805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3D20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−0.19</a:t>
            </a:r>
            <a:endParaRPr lang="en-US" sz="975" dirty="0"/>
          </a:p>
        </p:txBody>
      </p:sp>
      <p:sp>
        <p:nvSpPr>
          <p:cNvPr id="94" name="Shape 87"/>
          <p:cNvSpPr/>
          <p:nvPr/>
        </p:nvSpPr>
        <p:spPr>
          <a:xfrm>
            <a:off x="6515100" y="5524805"/>
            <a:ext cx="761695" cy="514807"/>
          </a:xfrm>
          <a:prstGeom prst="rect">
            <a:avLst/>
          </a:prstGeom>
          <a:solidFill>
            <a:srgbClr val="E2B5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Text 88"/>
          <p:cNvSpPr txBox="1"/>
          <p:nvPr/>
        </p:nvSpPr>
        <p:spPr>
          <a:xfrm>
            <a:off x="6515100" y="5524805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3D20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−0.19</a:t>
            </a:r>
            <a:endParaRPr lang="en-US" sz="975" dirty="0"/>
          </a:p>
        </p:txBody>
      </p:sp>
      <p:sp>
        <p:nvSpPr>
          <p:cNvPr id="96" name="Shape 89"/>
          <p:cNvSpPr/>
          <p:nvPr/>
        </p:nvSpPr>
        <p:spPr>
          <a:xfrm>
            <a:off x="7315200" y="5524805"/>
            <a:ext cx="761695" cy="514807"/>
          </a:xfrm>
          <a:prstGeom prst="rect">
            <a:avLst/>
          </a:prstGeom>
          <a:solidFill>
            <a:srgbClr val="E2B5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Text 90"/>
          <p:cNvSpPr txBox="1"/>
          <p:nvPr/>
        </p:nvSpPr>
        <p:spPr>
          <a:xfrm>
            <a:off x="7315200" y="5524805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3D20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−0.20</a:t>
            </a:r>
            <a:endParaRPr lang="en-US" sz="975" dirty="0"/>
          </a:p>
        </p:txBody>
      </p:sp>
      <p:sp>
        <p:nvSpPr>
          <p:cNvPr id="98" name="Shape 91"/>
          <p:cNvSpPr/>
          <p:nvPr/>
        </p:nvSpPr>
        <p:spPr>
          <a:xfrm>
            <a:off x="914400" y="6077102"/>
            <a:ext cx="761695" cy="514807"/>
          </a:xfrm>
          <a:prstGeom prst="rect">
            <a:avLst/>
          </a:prstGeom>
          <a:solidFill>
            <a:srgbClr val="F4DD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Text 92"/>
          <p:cNvSpPr txBox="1"/>
          <p:nvPr/>
        </p:nvSpPr>
        <p:spPr>
          <a:xfrm>
            <a:off x="914400" y="6077102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−0.17</a:t>
            </a:r>
            <a:endParaRPr lang="en-US" sz="975" dirty="0"/>
          </a:p>
        </p:txBody>
      </p:sp>
      <p:sp>
        <p:nvSpPr>
          <p:cNvPr id="100" name="Shape 93"/>
          <p:cNvSpPr/>
          <p:nvPr/>
        </p:nvSpPr>
        <p:spPr>
          <a:xfrm>
            <a:off x="1714500" y="6077102"/>
            <a:ext cx="761695" cy="514807"/>
          </a:xfrm>
          <a:prstGeom prst="rect">
            <a:avLst/>
          </a:prstGeom>
          <a:solidFill>
            <a:srgbClr val="E2B5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Text 94"/>
          <p:cNvSpPr txBox="1"/>
          <p:nvPr/>
        </p:nvSpPr>
        <p:spPr>
          <a:xfrm>
            <a:off x="1714500" y="6077102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3D20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−0.18</a:t>
            </a:r>
            <a:endParaRPr lang="en-US" sz="975" dirty="0"/>
          </a:p>
        </p:txBody>
      </p:sp>
      <p:sp>
        <p:nvSpPr>
          <p:cNvPr id="102" name="Shape 95"/>
          <p:cNvSpPr/>
          <p:nvPr/>
        </p:nvSpPr>
        <p:spPr>
          <a:xfrm>
            <a:off x="2514600" y="6077102"/>
            <a:ext cx="761695" cy="514807"/>
          </a:xfrm>
          <a:prstGeom prst="rect">
            <a:avLst/>
          </a:prstGeom>
          <a:solidFill>
            <a:srgbClr val="E2B5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Text 96"/>
          <p:cNvSpPr txBox="1"/>
          <p:nvPr/>
        </p:nvSpPr>
        <p:spPr>
          <a:xfrm>
            <a:off x="2514600" y="6077102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3D20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−0.20</a:t>
            </a:r>
            <a:endParaRPr lang="en-US" sz="975" dirty="0"/>
          </a:p>
        </p:txBody>
      </p:sp>
      <p:sp>
        <p:nvSpPr>
          <p:cNvPr id="104" name="Shape 97"/>
          <p:cNvSpPr/>
          <p:nvPr/>
        </p:nvSpPr>
        <p:spPr>
          <a:xfrm>
            <a:off x="3314700" y="6077102"/>
            <a:ext cx="761695" cy="514807"/>
          </a:xfrm>
          <a:prstGeom prst="rect">
            <a:avLst/>
          </a:prstGeom>
          <a:solidFill>
            <a:srgbClr val="E2B5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Text 98"/>
          <p:cNvSpPr txBox="1"/>
          <p:nvPr/>
        </p:nvSpPr>
        <p:spPr>
          <a:xfrm>
            <a:off x="3314700" y="6077102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3D20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−0.21</a:t>
            </a:r>
            <a:endParaRPr lang="en-US" sz="975" dirty="0"/>
          </a:p>
        </p:txBody>
      </p:sp>
      <p:sp>
        <p:nvSpPr>
          <p:cNvPr id="106" name="Shape 99"/>
          <p:cNvSpPr/>
          <p:nvPr/>
        </p:nvSpPr>
        <p:spPr>
          <a:xfrm>
            <a:off x="4114800" y="6077102"/>
            <a:ext cx="761695" cy="514807"/>
          </a:xfrm>
          <a:prstGeom prst="rect">
            <a:avLst/>
          </a:prstGeom>
          <a:solidFill>
            <a:srgbClr val="B475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Text 100"/>
          <p:cNvSpPr txBox="1"/>
          <p:nvPr/>
        </p:nvSpPr>
        <p:spPr>
          <a:xfrm>
            <a:off x="4114800" y="6077102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FBFA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−0.22</a:t>
            </a:r>
            <a:endParaRPr lang="en-US" sz="975" dirty="0"/>
          </a:p>
        </p:txBody>
      </p:sp>
      <p:sp>
        <p:nvSpPr>
          <p:cNvPr id="108" name="Shape 101"/>
          <p:cNvSpPr/>
          <p:nvPr/>
        </p:nvSpPr>
        <p:spPr>
          <a:xfrm>
            <a:off x="4914900" y="6077102"/>
            <a:ext cx="761695" cy="514807"/>
          </a:xfrm>
          <a:prstGeom prst="rect">
            <a:avLst/>
          </a:prstGeom>
          <a:solidFill>
            <a:srgbClr val="E2B5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Text 102"/>
          <p:cNvSpPr txBox="1"/>
          <p:nvPr/>
        </p:nvSpPr>
        <p:spPr>
          <a:xfrm>
            <a:off x="4914900" y="6077102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3D20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−0.21</a:t>
            </a:r>
            <a:endParaRPr lang="en-US" sz="975" dirty="0"/>
          </a:p>
        </p:txBody>
      </p:sp>
      <p:sp>
        <p:nvSpPr>
          <p:cNvPr id="110" name="Shape 103"/>
          <p:cNvSpPr/>
          <p:nvPr/>
        </p:nvSpPr>
        <p:spPr>
          <a:xfrm>
            <a:off x="5715000" y="6077102"/>
            <a:ext cx="761695" cy="514807"/>
          </a:xfrm>
          <a:prstGeom prst="rect">
            <a:avLst/>
          </a:prstGeom>
          <a:solidFill>
            <a:srgbClr val="B475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Text 104"/>
          <p:cNvSpPr txBox="1"/>
          <p:nvPr/>
        </p:nvSpPr>
        <p:spPr>
          <a:xfrm>
            <a:off x="5715000" y="6077102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FBFA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−0.22</a:t>
            </a:r>
            <a:endParaRPr lang="en-US" sz="975" dirty="0"/>
          </a:p>
        </p:txBody>
      </p:sp>
      <p:sp>
        <p:nvSpPr>
          <p:cNvPr id="112" name="Shape 105"/>
          <p:cNvSpPr/>
          <p:nvPr/>
        </p:nvSpPr>
        <p:spPr>
          <a:xfrm>
            <a:off x="6515100" y="6077102"/>
            <a:ext cx="761695" cy="514807"/>
          </a:xfrm>
          <a:prstGeom prst="rect">
            <a:avLst/>
          </a:prstGeom>
          <a:solidFill>
            <a:srgbClr val="E2B5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Text 106"/>
          <p:cNvSpPr txBox="1"/>
          <p:nvPr/>
        </p:nvSpPr>
        <p:spPr>
          <a:xfrm>
            <a:off x="6515100" y="6077102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3D20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−0.21</a:t>
            </a:r>
            <a:endParaRPr lang="en-US" sz="975" dirty="0"/>
          </a:p>
        </p:txBody>
      </p:sp>
      <p:sp>
        <p:nvSpPr>
          <p:cNvPr id="114" name="Shape 107"/>
          <p:cNvSpPr/>
          <p:nvPr/>
        </p:nvSpPr>
        <p:spPr>
          <a:xfrm>
            <a:off x="7315200" y="6077102"/>
            <a:ext cx="761695" cy="514807"/>
          </a:xfrm>
          <a:prstGeom prst="rect">
            <a:avLst/>
          </a:prstGeom>
          <a:solidFill>
            <a:srgbClr val="B475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Text 108"/>
          <p:cNvSpPr txBox="1"/>
          <p:nvPr/>
        </p:nvSpPr>
        <p:spPr>
          <a:xfrm>
            <a:off x="7315200" y="6077102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FBFA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−0.22</a:t>
            </a:r>
            <a:endParaRPr lang="en-US" sz="975" dirty="0"/>
          </a:p>
        </p:txBody>
      </p:sp>
      <p:sp>
        <p:nvSpPr>
          <p:cNvPr id="116" name="Shape 109"/>
          <p:cNvSpPr/>
          <p:nvPr/>
        </p:nvSpPr>
        <p:spPr>
          <a:xfrm>
            <a:off x="914400" y="6629400"/>
            <a:ext cx="761695" cy="514807"/>
          </a:xfrm>
          <a:prstGeom prst="rect">
            <a:avLst/>
          </a:prstGeom>
          <a:solidFill>
            <a:srgbClr val="E2B5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Text 110"/>
          <p:cNvSpPr txBox="1"/>
          <p:nvPr/>
        </p:nvSpPr>
        <p:spPr>
          <a:xfrm>
            <a:off x="914400" y="6629400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3D20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−0.18</a:t>
            </a:r>
            <a:endParaRPr lang="en-US" sz="975" dirty="0"/>
          </a:p>
        </p:txBody>
      </p:sp>
      <p:sp>
        <p:nvSpPr>
          <p:cNvPr id="118" name="Shape 111"/>
          <p:cNvSpPr/>
          <p:nvPr/>
        </p:nvSpPr>
        <p:spPr>
          <a:xfrm>
            <a:off x="1714500" y="6629400"/>
            <a:ext cx="761695" cy="514807"/>
          </a:xfrm>
          <a:prstGeom prst="rect">
            <a:avLst/>
          </a:prstGeom>
          <a:solidFill>
            <a:srgbClr val="E2B5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Text 112"/>
          <p:cNvSpPr txBox="1"/>
          <p:nvPr/>
        </p:nvSpPr>
        <p:spPr>
          <a:xfrm>
            <a:off x="1714500" y="6629400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3D20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−0.20</a:t>
            </a:r>
            <a:endParaRPr lang="en-US" sz="975" dirty="0"/>
          </a:p>
        </p:txBody>
      </p:sp>
      <p:sp>
        <p:nvSpPr>
          <p:cNvPr id="120" name="Shape 113"/>
          <p:cNvSpPr/>
          <p:nvPr/>
        </p:nvSpPr>
        <p:spPr>
          <a:xfrm>
            <a:off x="2514600" y="6629400"/>
            <a:ext cx="761695" cy="514807"/>
          </a:xfrm>
          <a:prstGeom prst="rect">
            <a:avLst/>
          </a:prstGeom>
          <a:solidFill>
            <a:srgbClr val="B475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Text 114"/>
          <p:cNvSpPr txBox="1"/>
          <p:nvPr/>
        </p:nvSpPr>
        <p:spPr>
          <a:xfrm>
            <a:off x="2514600" y="6629400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FBFA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−0.22</a:t>
            </a:r>
            <a:endParaRPr lang="en-US" sz="975" dirty="0"/>
          </a:p>
        </p:txBody>
      </p:sp>
      <p:sp>
        <p:nvSpPr>
          <p:cNvPr id="122" name="Shape 115"/>
          <p:cNvSpPr/>
          <p:nvPr/>
        </p:nvSpPr>
        <p:spPr>
          <a:xfrm>
            <a:off x="3314700" y="6629400"/>
            <a:ext cx="761695" cy="514807"/>
          </a:xfrm>
          <a:prstGeom prst="rect">
            <a:avLst/>
          </a:prstGeom>
          <a:solidFill>
            <a:srgbClr val="B475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Text 116"/>
          <p:cNvSpPr txBox="1"/>
          <p:nvPr/>
        </p:nvSpPr>
        <p:spPr>
          <a:xfrm>
            <a:off x="3314700" y="6629400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FBFA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−0.23</a:t>
            </a:r>
            <a:endParaRPr lang="en-US" sz="975" dirty="0"/>
          </a:p>
        </p:txBody>
      </p:sp>
      <p:sp>
        <p:nvSpPr>
          <p:cNvPr id="124" name="Shape 117"/>
          <p:cNvSpPr/>
          <p:nvPr/>
        </p:nvSpPr>
        <p:spPr>
          <a:xfrm>
            <a:off x="4114800" y="6629400"/>
            <a:ext cx="761695" cy="514807"/>
          </a:xfrm>
          <a:prstGeom prst="rect">
            <a:avLst/>
          </a:prstGeom>
          <a:solidFill>
            <a:srgbClr val="B475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Text 118"/>
          <p:cNvSpPr txBox="1"/>
          <p:nvPr/>
        </p:nvSpPr>
        <p:spPr>
          <a:xfrm>
            <a:off x="4114800" y="6629400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FBFA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−0.24</a:t>
            </a:r>
            <a:endParaRPr lang="en-US" sz="975" dirty="0"/>
          </a:p>
        </p:txBody>
      </p:sp>
      <p:sp>
        <p:nvSpPr>
          <p:cNvPr id="126" name="Shape 119"/>
          <p:cNvSpPr/>
          <p:nvPr/>
        </p:nvSpPr>
        <p:spPr>
          <a:xfrm>
            <a:off x="4914900" y="6629400"/>
            <a:ext cx="761695" cy="514807"/>
          </a:xfrm>
          <a:prstGeom prst="rect">
            <a:avLst/>
          </a:prstGeom>
          <a:solidFill>
            <a:srgbClr val="B475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Text 120"/>
          <p:cNvSpPr txBox="1"/>
          <p:nvPr/>
        </p:nvSpPr>
        <p:spPr>
          <a:xfrm>
            <a:off x="4914900" y="6629400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FBFA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−0.24</a:t>
            </a:r>
            <a:endParaRPr lang="en-US" sz="975" dirty="0"/>
          </a:p>
        </p:txBody>
      </p:sp>
      <p:sp>
        <p:nvSpPr>
          <p:cNvPr id="128" name="Shape 121"/>
          <p:cNvSpPr/>
          <p:nvPr/>
        </p:nvSpPr>
        <p:spPr>
          <a:xfrm>
            <a:off x="5715000" y="6629400"/>
            <a:ext cx="761695" cy="514807"/>
          </a:xfrm>
          <a:prstGeom prst="rect">
            <a:avLst/>
          </a:prstGeom>
          <a:solidFill>
            <a:srgbClr val="B475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Text 122"/>
          <p:cNvSpPr txBox="1"/>
          <p:nvPr/>
        </p:nvSpPr>
        <p:spPr>
          <a:xfrm>
            <a:off x="5715000" y="6629400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FBFA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−0.25</a:t>
            </a:r>
            <a:endParaRPr lang="en-US" sz="975" dirty="0"/>
          </a:p>
        </p:txBody>
      </p:sp>
      <p:sp>
        <p:nvSpPr>
          <p:cNvPr id="130" name="Shape 123"/>
          <p:cNvSpPr/>
          <p:nvPr/>
        </p:nvSpPr>
        <p:spPr>
          <a:xfrm>
            <a:off x="6515100" y="6629400"/>
            <a:ext cx="761695" cy="514807"/>
          </a:xfrm>
          <a:prstGeom prst="rect">
            <a:avLst/>
          </a:prstGeom>
          <a:solidFill>
            <a:srgbClr val="B475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Text 124"/>
          <p:cNvSpPr txBox="1"/>
          <p:nvPr/>
        </p:nvSpPr>
        <p:spPr>
          <a:xfrm>
            <a:off x="6515100" y="6629400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FBFA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−0.24</a:t>
            </a:r>
            <a:endParaRPr lang="en-US" sz="975" dirty="0"/>
          </a:p>
        </p:txBody>
      </p:sp>
      <p:sp>
        <p:nvSpPr>
          <p:cNvPr id="132" name="Shape 125"/>
          <p:cNvSpPr/>
          <p:nvPr/>
        </p:nvSpPr>
        <p:spPr>
          <a:xfrm>
            <a:off x="7315200" y="6629400"/>
            <a:ext cx="761695" cy="514807"/>
          </a:xfrm>
          <a:prstGeom prst="rect">
            <a:avLst/>
          </a:prstGeom>
          <a:solidFill>
            <a:srgbClr val="B475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Text 126"/>
          <p:cNvSpPr txBox="1"/>
          <p:nvPr/>
        </p:nvSpPr>
        <p:spPr>
          <a:xfrm>
            <a:off x="7315200" y="6629400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FBFA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−0.25</a:t>
            </a:r>
            <a:endParaRPr lang="en-US" sz="975" dirty="0"/>
          </a:p>
        </p:txBody>
      </p:sp>
      <p:sp>
        <p:nvSpPr>
          <p:cNvPr id="134" name="Shape 127"/>
          <p:cNvSpPr/>
          <p:nvPr/>
        </p:nvSpPr>
        <p:spPr>
          <a:xfrm>
            <a:off x="914400" y="7181698"/>
            <a:ext cx="761695" cy="514807"/>
          </a:xfrm>
          <a:prstGeom prst="rect">
            <a:avLst/>
          </a:prstGeom>
          <a:solidFill>
            <a:srgbClr val="E2B5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Text 128"/>
          <p:cNvSpPr txBox="1"/>
          <p:nvPr/>
        </p:nvSpPr>
        <p:spPr>
          <a:xfrm>
            <a:off x="914400" y="7181698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3D20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−0.20</a:t>
            </a:r>
            <a:endParaRPr lang="en-US" sz="975" dirty="0"/>
          </a:p>
        </p:txBody>
      </p:sp>
      <p:sp>
        <p:nvSpPr>
          <p:cNvPr id="136" name="Shape 129"/>
          <p:cNvSpPr/>
          <p:nvPr/>
        </p:nvSpPr>
        <p:spPr>
          <a:xfrm>
            <a:off x="1714500" y="7181698"/>
            <a:ext cx="761695" cy="514807"/>
          </a:xfrm>
          <a:prstGeom prst="rect">
            <a:avLst/>
          </a:prstGeom>
          <a:solidFill>
            <a:srgbClr val="B475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Text 130"/>
          <p:cNvSpPr txBox="1"/>
          <p:nvPr/>
        </p:nvSpPr>
        <p:spPr>
          <a:xfrm>
            <a:off x="1714500" y="7181698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FBFA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−0.22</a:t>
            </a:r>
            <a:endParaRPr lang="en-US" sz="975" dirty="0"/>
          </a:p>
        </p:txBody>
      </p:sp>
      <p:sp>
        <p:nvSpPr>
          <p:cNvPr id="138" name="Shape 131"/>
          <p:cNvSpPr/>
          <p:nvPr/>
        </p:nvSpPr>
        <p:spPr>
          <a:xfrm>
            <a:off x="2514600" y="7181698"/>
            <a:ext cx="761695" cy="514807"/>
          </a:xfrm>
          <a:prstGeom prst="rect">
            <a:avLst/>
          </a:prstGeom>
          <a:solidFill>
            <a:srgbClr val="B475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Text 132"/>
          <p:cNvSpPr txBox="1"/>
          <p:nvPr/>
        </p:nvSpPr>
        <p:spPr>
          <a:xfrm>
            <a:off x="2514600" y="7181698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FBFA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−0.24</a:t>
            </a:r>
            <a:endParaRPr lang="en-US" sz="975" dirty="0"/>
          </a:p>
        </p:txBody>
      </p:sp>
      <p:sp>
        <p:nvSpPr>
          <p:cNvPr id="140" name="Shape 133"/>
          <p:cNvSpPr/>
          <p:nvPr/>
        </p:nvSpPr>
        <p:spPr>
          <a:xfrm>
            <a:off x="3314700" y="7181698"/>
            <a:ext cx="761695" cy="514807"/>
          </a:xfrm>
          <a:prstGeom prst="rect">
            <a:avLst/>
          </a:prstGeom>
          <a:solidFill>
            <a:srgbClr val="B475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Text 134"/>
          <p:cNvSpPr txBox="1"/>
          <p:nvPr/>
        </p:nvSpPr>
        <p:spPr>
          <a:xfrm>
            <a:off x="3314700" y="7181698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FBFA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−0.25</a:t>
            </a:r>
            <a:endParaRPr lang="en-US" sz="975" dirty="0"/>
          </a:p>
        </p:txBody>
      </p:sp>
      <p:sp>
        <p:nvSpPr>
          <p:cNvPr id="142" name="Shape 135"/>
          <p:cNvSpPr/>
          <p:nvPr/>
        </p:nvSpPr>
        <p:spPr>
          <a:xfrm>
            <a:off x="4114800" y="7181698"/>
            <a:ext cx="761695" cy="514807"/>
          </a:xfrm>
          <a:prstGeom prst="rect">
            <a:avLst/>
          </a:prstGeom>
          <a:solidFill>
            <a:srgbClr val="B475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Text 136"/>
          <p:cNvSpPr txBox="1"/>
          <p:nvPr/>
        </p:nvSpPr>
        <p:spPr>
          <a:xfrm>
            <a:off x="4114800" y="7181698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FBFA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−0.27</a:t>
            </a:r>
            <a:endParaRPr lang="en-US" sz="975" dirty="0"/>
          </a:p>
        </p:txBody>
      </p:sp>
      <p:sp>
        <p:nvSpPr>
          <p:cNvPr id="144" name="Shape 137"/>
          <p:cNvSpPr/>
          <p:nvPr/>
        </p:nvSpPr>
        <p:spPr>
          <a:xfrm>
            <a:off x="4914900" y="7181698"/>
            <a:ext cx="761695" cy="514807"/>
          </a:xfrm>
          <a:prstGeom prst="rect">
            <a:avLst/>
          </a:prstGeom>
          <a:solidFill>
            <a:srgbClr val="B475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Text 138"/>
          <p:cNvSpPr txBox="1"/>
          <p:nvPr/>
        </p:nvSpPr>
        <p:spPr>
          <a:xfrm>
            <a:off x="4914900" y="7181698"/>
            <a:ext cx="762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FBFA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−0.28</a:t>
            </a:r>
            <a:endParaRPr lang="en-US" sz="975" dirty="0"/>
          </a:p>
        </p:txBody>
      </p:sp>
      <p:sp>
        <p:nvSpPr>
          <p:cNvPr id="146" name="Text 139"/>
          <p:cNvSpPr txBox="1"/>
          <p:nvPr/>
        </p:nvSpPr>
        <p:spPr>
          <a:xfrm>
            <a:off x="914400" y="705002"/>
            <a:ext cx="12382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· Uniformity</a:t>
            </a:r>
            <a:endParaRPr lang="en-US" sz="1350" dirty="0"/>
          </a:p>
        </p:txBody>
      </p:sp>
      <p:sp>
        <p:nvSpPr>
          <p:cNvPr id="147" name="Text 140"/>
          <p:cNvSpPr txBox="1"/>
          <p:nvPr/>
        </p:nvSpPr>
        <p:spPr>
          <a:xfrm>
            <a:off x="914400" y="1057046"/>
            <a:ext cx="12382805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36" kern="0" dirty="0">
                <a:solidFill>
                  <a:srgbClr val="14171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In-wafer uniformity</a:t>
            </a:r>
            <a:endParaRPr lang="en-US" sz="3600" dirty="0"/>
          </a:p>
        </p:txBody>
      </p:sp>
      <p:sp>
        <p:nvSpPr>
          <p:cNvPr id="148" name="Text 141"/>
          <p:cNvSpPr txBox="1"/>
          <p:nvPr/>
        </p:nvSpPr>
        <p:spPr>
          <a:xfrm>
            <a:off x="914400" y="1665122"/>
            <a:ext cx="123828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65C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69 pt wafer map (W05 representative) · AASI delta encoding · wafer-wise NIU 요약</a:t>
            </a:r>
            <a:endParaRPr lang="en-US" sz="1500" dirty="0"/>
          </a:p>
        </p:txBody>
      </p:sp>
      <p:sp>
        <p:nvSpPr>
          <p:cNvPr id="149" name="Text 142"/>
          <p:cNvSpPr txBox="1"/>
          <p:nvPr/>
        </p:nvSpPr>
        <p:spPr>
          <a:xfrm>
            <a:off x="14516100" y="914400"/>
            <a:ext cx="28200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Sampling density</a:t>
            </a:r>
            <a:endParaRPr lang="en-US" sz="975" dirty="0"/>
          </a:p>
        </p:txBody>
      </p:sp>
      <p:sp>
        <p:nvSpPr>
          <p:cNvPr id="150" name="Text 143"/>
          <p:cNvSpPr txBox="1"/>
          <p:nvPr/>
        </p:nvSpPr>
        <p:spPr>
          <a:xfrm>
            <a:off x="14516100" y="1171346"/>
            <a:ext cx="28200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 × 8 − 3</a:t>
            </a:r>
            <a:endParaRPr lang="en-US" sz="2250" dirty="0"/>
          </a:p>
        </p:txBody>
      </p:sp>
      <p:sp>
        <p:nvSpPr>
          <p:cNvPr id="151" name="Text 144"/>
          <p:cNvSpPr txBox="1"/>
          <p:nvPr/>
        </p:nvSpPr>
        <p:spPr>
          <a:xfrm>
            <a:off x="914400" y="2933395"/>
            <a:ext cx="7239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· Wafer map · W05 +20 % OE · AASI Δ · nm</a:t>
            </a:r>
            <a:endParaRPr lang="en-US" sz="1050" dirty="0"/>
          </a:p>
        </p:txBody>
      </p:sp>
      <p:sp>
        <p:nvSpPr>
          <p:cNvPr id="152" name="Text 145"/>
          <p:cNvSpPr txBox="1"/>
          <p:nvPr/>
        </p:nvSpPr>
        <p:spPr>
          <a:xfrm>
            <a:off x="914400" y="8020202"/>
            <a:ext cx="7163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565C6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각 셀은 한 die 의 AASI Δ (nm); 4 band 색조 · 더 진한 색 → 절댓값 큰 cell.</a:t>
            </a:r>
            <a:endParaRPr lang="en-US" sz="1050" dirty="0"/>
          </a:p>
        </p:txBody>
      </p:sp>
      <p:sp>
        <p:nvSpPr>
          <p:cNvPr id="153" name="Text 146"/>
          <p:cNvSpPr txBox="1"/>
          <p:nvPr/>
        </p:nvSpPr>
        <p:spPr>
          <a:xfrm>
            <a:off x="8382305" y="2933395"/>
            <a:ext cx="89922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· Δ encoding · 4 band</a:t>
            </a:r>
            <a:endParaRPr lang="en-US" sz="975" dirty="0"/>
          </a:p>
        </p:txBody>
      </p:sp>
      <p:sp>
        <p:nvSpPr>
          <p:cNvPr id="154" name="Shape 147"/>
          <p:cNvSpPr/>
          <p:nvPr/>
        </p:nvSpPr>
        <p:spPr>
          <a:xfrm>
            <a:off x="8382305" y="3228746"/>
            <a:ext cx="400507" cy="304495"/>
          </a:xfrm>
          <a:prstGeom prst="rect">
            <a:avLst/>
          </a:prstGeom>
          <a:solidFill>
            <a:srgbClr val="F4EFE0"/>
          </a:solidFill>
          <a:ln w="12700">
            <a:solidFill>
              <a:srgbClr val="D9DCDE"/>
            </a:solidFill>
            <a:prstDash val="solid"/>
          </a:ln>
        </p:spPr>
      </p:sp>
      <p:sp>
        <p:nvSpPr>
          <p:cNvPr id="155" name="Text 148"/>
          <p:cNvSpPr txBox="1"/>
          <p:nvPr/>
        </p:nvSpPr>
        <p:spPr>
          <a:xfrm>
            <a:off x="8876995" y="3295498"/>
            <a:ext cx="562356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−0.05 →</a:t>
            </a:r>
            <a:endParaRPr lang="en-US" sz="1050" dirty="0"/>
          </a:p>
        </p:txBody>
      </p:sp>
      <p:sp>
        <p:nvSpPr>
          <p:cNvPr id="156" name="Shape 149"/>
          <p:cNvSpPr/>
          <p:nvPr/>
        </p:nvSpPr>
        <p:spPr>
          <a:xfrm>
            <a:off x="9628632" y="3228746"/>
            <a:ext cx="400507" cy="304495"/>
          </a:xfrm>
          <a:prstGeom prst="rect">
            <a:avLst/>
          </a:prstGeom>
          <a:solidFill>
            <a:srgbClr val="F4DD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Text 150"/>
          <p:cNvSpPr txBox="1"/>
          <p:nvPr/>
        </p:nvSpPr>
        <p:spPr>
          <a:xfrm>
            <a:off x="10123322" y="3295498"/>
            <a:ext cx="10479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−0.10 → −0.18</a:t>
            </a:r>
            <a:endParaRPr lang="en-US" sz="1050" dirty="0"/>
          </a:p>
        </p:txBody>
      </p:sp>
      <p:sp>
        <p:nvSpPr>
          <p:cNvPr id="158" name="Shape 151"/>
          <p:cNvSpPr/>
          <p:nvPr/>
        </p:nvSpPr>
        <p:spPr>
          <a:xfrm>
            <a:off x="11354105" y="3228746"/>
            <a:ext cx="400507" cy="304495"/>
          </a:xfrm>
          <a:prstGeom prst="rect">
            <a:avLst/>
          </a:prstGeom>
          <a:solidFill>
            <a:srgbClr val="E2B5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Text 152"/>
          <p:cNvSpPr txBox="1"/>
          <p:nvPr/>
        </p:nvSpPr>
        <p:spPr>
          <a:xfrm>
            <a:off x="11849710" y="3295498"/>
            <a:ext cx="10479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D20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−0.18 → −0.24</a:t>
            </a:r>
            <a:endParaRPr lang="en-US" sz="1050" dirty="0"/>
          </a:p>
        </p:txBody>
      </p:sp>
      <p:sp>
        <p:nvSpPr>
          <p:cNvPr id="160" name="Shape 153"/>
          <p:cNvSpPr/>
          <p:nvPr/>
        </p:nvSpPr>
        <p:spPr>
          <a:xfrm>
            <a:off x="13080492" y="3228746"/>
            <a:ext cx="400507" cy="304495"/>
          </a:xfrm>
          <a:prstGeom prst="rect">
            <a:avLst/>
          </a:prstGeom>
          <a:solidFill>
            <a:srgbClr val="B475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Text 154"/>
          <p:cNvSpPr txBox="1"/>
          <p:nvPr/>
        </p:nvSpPr>
        <p:spPr>
          <a:xfrm>
            <a:off x="13576097" y="3295498"/>
            <a:ext cx="562356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FA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≤ −0.24</a:t>
            </a:r>
            <a:endParaRPr lang="en-US" sz="1050" dirty="0"/>
          </a:p>
        </p:txBody>
      </p:sp>
      <p:sp>
        <p:nvSpPr>
          <p:cNvPr id="162" name="Text 155"/>
          <p:cNvSpPr txBox="1"/>
          <p:nvPr/>
        </p:nvSpPr>
        <p:spPr>
          <a:xfrm>
            <a:off x="8382305" y="4038905"/>
            <a:ext cx="27432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 · Wafer · NIU summary</a:t>
            </a:r>
            <a:endParaRPr lang="en-US" sz="975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305" y="4438498"/>
          <a:ext cx="8992210" cy="3829507"/>
        </p:xfrm>
        <a:graphic>
          <a:graphicData uri="http://schemas.openxmlformats.org/drawingml/2006/table">
            <a:tbl>
              <a:tblPr/>
              <a:tblGrid>
                <a:gridCol w="1524305"/>
                <a:gridCol w="1371600"/>
                <a:gridCol w="1981505"/>
                <a:gridCol w="2057400"/>
                <a:gridCol w="2057400"/>
              </a:tblGrid>
              <a:tr h="4255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WAFER</a:t>
                      </a:r>
                      <a:endParaRPr lang="en-US" sz="97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OE Δ</a:t>
                      </a:r>
                      <a:endParaRPr lang="en-US" sz="97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NIU %</a:t>
                      </a:r>
                      <a:endParaRPr lang="en-US" sz="97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AASI 3Σ · NM</a:t>
                      </a:r>
                      <a:endParaRPr lang="en-US" sz="97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RANGE · NM</a:t>
                      </a:r>
                      <a:endParaRPr lang="en-US" sz="975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5098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baseline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0.41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0.31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1.18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+5 %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0.48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0.34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1.24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</a:tr>
              <a:tr h="425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W03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+10 %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0.55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0.36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1.31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W04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+15 %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0.67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0.41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1.45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</a:tr>
              <a:tr h="425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+20 %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0.79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0.45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1.62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W06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+25 %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0.92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0.51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1.83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</a:tr>
              <a:tr h="425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W07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+30 %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1.08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0.55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1.97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</a:tr>
              <a:tr h="425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+35 %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1.27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0.62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95098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2.21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5098" marR="0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</a:tr>
            </a:tbl>
          </a:graphicData>
        </a:graphic>
      </p:graphicFrame>
      <p:sp>
        <p:nvSpPr>
          <p:cNvPr id="164" name="Text 156"/>
          <p:cNvSpPr txBox="1"/>
          <p:nvPr/>
        </p:nvSpPr>
        <p:spPr>
          <a:xfrm>
            <a:off x="1181405" y="8991295"/>
            <a:ext cx="15240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165" name="Text 157"/>
          <p:cNvSpPr txBox="1"/>
          <p:nvPr/>
        </p:nvSpPr>
        <p:spPr>
          <a:xfrm>
            <a:off x="1181405" y="9191549"/>
            <a:ext cx="152403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14171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NIU 0.41 → 1.27 %, 약 3 × 증가 — 69 pt map 에서 절댓값 큰 cell 이 외곽 die 에 집중되는 비대칭 패턴이 W05 에서 이미 형성된다.</a:t>
            </a:r>
            <a:endParaRPr lang="en-US" sz="1575" dirty="0"/>
          </a:p>
        </p:txBody>
      </p:sp>
      <p:sp>
        <p:nvSpPr>
          <p:cNvPr id="166" name="Text 158"/>
          <p:cNvSpPr txBox="1"/>
          <p:nvPr/>
        </p:nvSpPr>
        <p:spPr>
          <a:xfrm>
            <a:off x="914400" y="9849002"/>
            <a:ext cx="164592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spc="45" kern="0" dirty="0">
                <a:solidFill>
                  <a:srgbClr val="565C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※ 내부 테스트용 더미(가상) 데이터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a3ed317390b28a0b74c8d1d0afa45f43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914400" y="2553005"/>
            <a:ext cx="16459200" cy="9144"/>
          </a:xfrm>
          <a:prstGeom prst="rect">
            <a:avLst/>
          </a:prstGeom>
        </p:spPr>
      </p:pic>
      <p:pic>
        <p:nvPicPr>
          <p:cNvPr id="4" name="Image 1" descr="gen-dedup-a3ed317390b28a0b74c8d1d0afa45f43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914400" y="9696298"/>
            <a:ext cx="16459200" cy="9144"/>
          </a:xfrm>
          <a:prstGeom prst="rect">
            <a:avLst/>
          </a:prstGeom>
        </p:spPr>
      </p:pic>
      <p:pic>
        <p:nvPicPr>
          <p:cNvPr id="5" name="Image 2" descr="gen-dedup-5017654da22af15c7d5755b68a5bfe43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914400" y="2553005"/>
            <a:ext cx="914400" cy="9144"/>
          </a:xfrm>
          <a:prstGeom prst="rect">
            <a:avLst/>
          </a:prstGeom>
        </p:spPr>
      </p:pic>
      <p:pic>
        <p:nvPicPr>
          <p:cNvPr id="6" name="Image 3" descr="gen-dedup-b26fba21cc6e1b1ecd50e1cb28373e84.png">    </p:cNvPr>
          <p:cNvPicPr>
            <a:picLocks noChangeAspect="1"/>
          </p:cNvPicPr>
          <p:nvPr/>
        </p:nvPicPr>
        <p:blipFill>
          <a:blip r:embed="rId4"/>
          <a:srcRect l="-387" r="-387" t="0" b="0"/>
          <a:stretch/>
        </p:blipFill>
        <p:spPr>
          <a:xfrm>
            <a:off x="914400" y="8762695"/>
            <a:ext cx="38405" cy="590702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>
            <a:off x="14287500" y="705002"/>
            <a:ext cx="30861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DE"/>
            </a:solidFill>
            <a:prstDash val="solid"/>
          </a:ln>
        </p:spPr>
      </p:sp>
      <p:sp>
        <p:nvSpPr>
          <p:cNvPr id="8" name="Text 1"/>
          <p:cNvSpPr txBox="1"/>
          <p:nvPr/>
        </p:nvSpPr>
        <p:spPr>
          <a:xfrm>
            <a:off x="914400" y="705002"/>
            <a:ext cx="12382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· Electrical</a:t>
            </a:r>
            <a:endParaRPr lang="en-US" sz="1350" dirty="0"/>
          </a:p>
        </p:txBody>
      </p:sp>
      <p:sp>
        <p:nvSpPr>
          <p:cNvPr id="9" name="Text 2"/>
          <p:cNvSpPr txBox="1"/>
          <p:nvPr/>
        </p:nvSpPr>
        <p:spPr>
          <a:xfrm>
            <a:off x="914400" y="1057046"/>
            <a:ext cx="12382805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36" kern="0" dirty="0">
                <a:solidFill>
                  <a:srgbClr val="14171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전기 특성 평가</a:t>
            </a:r>
            <a:endParaRPr lang="en-US" sz="3600" dirty="0"/>
          </a:p>
        </p:txBody>
      </p:sp>
      <p:sp>
        <p:nvSpPr>
          <p:cNvPr id="10" name="Text 3"/>
          <p:cNvSpPr txBox="1"/>
          <p:nvPr/>
        </p:nvSpPr>
        <p:spPr>
          <a:xfrm>
            <a:off x="914400" y="1665122"/>
            <a:ext cx="123828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65C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line · via Rs / ILD leakage / TDDB T63 / EM T50 · 동일 lot, 동일 recipe</a:t>
            </a:r>
            <a:endParaRPr lang="en-US" sz="1500" dirty="0"/>
          </a:p>
        </p:txBody>
      </p:sp>
      <p:sp>
        <p:nvSpPr>
          <p:cNvPr id="11" name="Text 4"/>
          <p:cNvSpPr txBox="1"/>
          <p:nvPr/>
        </p:nvSpPr>
        <p:spPr>
          <a:xfrm>
            <a:off x="14516100" y="914400"/>
            <a:ext cx="28200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 · e-tester</a:t>
            </a:r>
            <a:endParaRPr lang="en-US" sz="900" dirty="0"/>
          </a:p>
        </p:txBody>
      </p:sp>
      <p:sp>
        <p:nvSpPr>
          <p:cNvPr id="12" name="Text 5"/>
          <p:cNvSpPr txBox="1"/>
          <p:nvPr/>
        </p:nvSpPr>
        <p:spPr>
          <a:xfrm>
            <a:off x="14516100" y="1152144"/>
            <a:ext cx="28200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in-line · prod-equal</a:t>
            </a:r>
            <a:endParaRPr lang="en-US" sz="1800" dirty="0"/>
          </a:p>
        </p:txBody>
      </p:sp>
      <p:sp>
        <p:nvSpPr>
          <p:cNvPr id="13" name="Text 6"/>
          <p:cNvSpPr txBox="1"/>
          <p:nvPr/>
        </p:nvSpPr>
        <p:spPr>
          <a:xfrm>
            <a:off x="914400" y="2819095"/>
            <a:ext cx="164592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spec · dummy reference</a:t>
            </a:r>
            <a:endParaRPr lang="en-US" sz="975" dirty="0"/>
          </a:p>
        </p:txBody>
      </p:sp>
      <p:sp>
        <p:nvSpPr>
          <p:cNvPr id="14" name="Text 7"/>
          <p:cNvSpPr txBox="1"/>
          <p:nvPr/>
        </p:nvSpPr>
        <p:spPr>
          <a:xfrm>
            <a:off x="914400" y="3076956"/>
            <a:ext cx="201808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65C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Line Rs</a:t>
            </a:r>
            <a:pPr algn="l" indent="0" marL="0">
              <a:buNone/>
            </a:pPr>
            <a:r>
              <a:rPr lang="en-US" sz="1350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≤ 1.25 Ω/μm</a:t>
            </a:r>
            <a:endParaRPr lang="en-US" sz="1350" dirty="0"/>
          </a:p>
        </p:txBody>
      </p:sp>
      <p:sp>
        <p:nvSpPr>
          <p:cNvPr id="15" name="Text 8"/>
          <p:cNvSpPr txBox="1"/>
          <p:nvPr/>
        </p:nvSpPr>
        <p:spPr>
          <a:xfrm>
            <a:off x="2830068" y="3076956"/>
            <a:ext cx="191566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65C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Via Rs</a:t>
            </a:r>
            <a:pPr algn="l" indent="0" marL="0">
              <a:buNone/>
            </a:pPr>
            <a:r>
              <a:rPr lang="en-US" sz="1350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≤ 6.8 Ω/via</a:t>
            </a:r>
            <a:endParaRPr lang="en-US" sz="1350" dirty="0"/>
          </a:p>
        </p:txBody>
      </p:sp>
      <p:sp>
        <p:nvSpPr>
          <p:cNvPr id="16" name="Text 9"/>
          <p:cNvSpPr txBox="1"/>
          <p:nvPr/>
        </p:nvSpPr>
        <p:spPr>
          <a:xfrm>
            <a:off x="4663440" y="3076956"/>
            <a:ext cx="162123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65C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ILD leak</a:t>
            </a:r>
            <a:pPr algn="l" indent="0" marL="0">
              <a:buNone/>
            </a:pPr>
            <a:r>
              <a:rPr lang="en-US" sz="1350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≤ 50 pA</a:t>
            </a:r>
            <a:endParaRPr lang="en-US" sz="1350" dirty="0"/>
          </a:p>
        </p:txBody>
      </p:sp>
      <p:sp>
        <p:nvSpPr>
          <p:cNvPr id="17" name="Text 10"/>
          <p:cNvSpPr txBox="1"/>
          <p:nvPr/>
        </p:nvSpPr>
        <p:spPr>
          <a:xfrm>
            <a:off x="6245352" y="3076956"/>
            <a:ext cx="170627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65C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TDDB T63</a:t>
            </a:r>
            <a:pPr algn="l" indent="0" marL="0">
              <a:buNone/>
            </a:pPr>
            <a:r>
              <a:rPr lang="en-US" sz="1350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≥ 10 yr</a:t>
            </a:r>
            <a:endParaRPr lang="en-US" sz="1350" dirty="0"/>
          </a:p>
        </p:txBody>
      </p:sp>
      <p:sp>
        <p:nvSpPr>
          <p:cNvPr id="18" name="Text 11"/>
          <p:cNvSpPr txBox="1"/>
          <p:nvPr/>
        </p:nvSpPr>
        <p:spPr>
          <a:xfrm>
            <a:off x="7978140" y="3076956"/>
            <a:ext cx="138623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65C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 T50</a:t>
            </a:r>
            <a:pPr algn="l" indent="0" marL="0">
              <a:buNone/>
            </a:pPr>
            <a:r>
              <a:rPr lang="en-US" sz="1350" dirty="0">
                <a:solidFill>
                  <a:srgbClr val="1417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≥ 8 yr</a:t>
            </a:r>
            <a:endParaRPr lang="en-US" sz="1350" dirty="0"/>
          </a:p>
        </p:txBody>
      </p:sp>
      <p:sp>
        <p:nvSpPr>
          <p:cNvPr id="19" name="Text 12"/>
          <p:cNvSpPr txBox="1"/>
          <p:nvPr/>
        </p:nvSpPr>
        <p:spPr>
          <a:xfrm>
            <a:off x="15144293" y="3076956"/>
            <a:ext cx="22384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6E39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△ warm band · beyond spec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733495"/>
          <a:ext cx="16459200" cy="4410151"/>
        </p:xfrm>
        <a:graphic>
          <a:graphicData uri="http://schemas.openxmlformats.org/drawingml/2006/table">
            <a:tbl>
              <a:tblPr/>
              <a:tblGrid>
                <a:gridCol w="1600111"/>
                <a:gridCol w="1524220"/>
                <a:gridCol w="2400167"/>
                <a:gridCol w="2400167"/>
                <a:gridCol w="2400167"/>
                <a:gridCol w="3010038"/>
                <a:gridCol w="3124331"/>
              </a:tblGrid>
              <a:tr h="490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WAFER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OE Δ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LINE RS · Ω/ΜM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VIA RS · Ω/VIA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ILD LEAK · PA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TDDB T63 · YR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565C6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EM T50 · YR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30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0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W01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baseline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1.18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6.42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22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12.4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9.8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0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W02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+5 %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1.21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6.55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28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11.8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9.4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</a:tr>
              <a:tr h="490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W03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+10 %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1.24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6.71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38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10.9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8.7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0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W04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+15 %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1.28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6.94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52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9.6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7.6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</a:tr>
              <a:tr h="490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W05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+20 %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1.33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7.28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71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7.8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1417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6.2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0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W06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+25 %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1.40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7.71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96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5.9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4.8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</a:tr>
              <a:tr h="490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W07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+30 %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1.49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8.18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134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4.1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3.5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</a:tr>
              <a:tr h="490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W08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+35 %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1.62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8.74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198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2.6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25" dirty="0">
                          <a:solidFill>
                            <a:srgbClr val="6E39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2.3</a:t>
                      </a:r>
                      <a:endParaRPr lang="en-US" sz="14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D0"/>
                    </a:solidFill>
                  </a:tcPr>
                </a:tc>
              </a:tr>
            </a:tbl>
          </a:graphicData>
        </a:graphic>
      </p:graphicFrame>
      <p:sp>
        <p:nvSpPr>
          <p:cNvPr id="21" name="Text 13"/>
          <p:cNvSpPr txBox="1"/>
          <p:nvPr/>
        </p:nvSpPr>
        <p:spPr>
          <a:xfrm>
            <a:off x="1181405" y="8762695"/>
            <a:ext cx="14287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9097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22" name="Text 14"/>
          <p:cNvSpPr txBox="1"/>
          <p:nvPr/>
        </p:nvSpPr>
        <p:spPr>
          <a:xfrm>
            <a:off x="1181405" y="8962949"/>
            <a:ext cx="149733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14171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OE +25 % 부터 5 종 지표가 동시에 spec-out, via Rs +20 %, ILD leak 4.6 ×, TDDB T63 5.9 yr 로 10 yr spec 미달 — 임계 OE 윈도우는 +20 % 이내로 본다.</a:t>
            </a:r>
            <a:endParaRPr lang="en-US" sz="1575" dirty="0"/>
          </a:p>
        </p:txBody>
      </p:sp>
      <p:sp>
        <p:nvSpPr>
          <p:cNvPr id="23" name="Text 15"/>
          <p:cNvSpPr txBox="1"/>
          <p:nvPr/>
        </p:nvSpPr>
        <p:spPr>
          <a:xfrm>
            <a:off x="914400" y="9849002"/>
            <a:ext cx="164592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spc="45" kern="0" dirty="0">
                <a:solidFill>
                  <a:srgbClr val="565C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※ 내부 테스트용 더미(가상) 데이터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2026-10-03T16:10:31Z</dcterms:created>
  <dcterms:modified xsi:type="dcterms:W3CDTF">2026-10-03T16:10:31Z</dcterms:modified>
</cp:coreProperties>
</file>