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1번 슬라이드 — 평가의 범위와 목적을 짧게 안내하는 오프닝입니다. M4 금속층에서 Ru subtractive와 Cu damascene 두 공정을 4매 wafer로 비교하는 것이 골자입니다. 모든 수치는 가상 더미 값임을 분명히 합니다. 우측의 Quick Reference 카드는 본 보고서가 추적하는 4개 평가 축(CD, in-wafer 균일성, 전기 저항, EM MTTF)을 한눈에 보여 줍니다. 발표 시 “이 보고서는 20개 시리즈 중 17번째 파일이며, 다른 파일과는 layer·split·메트릭 구성을 일부러 다르게 가져간다”는 디스클레이머를 한 번 더 강조해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슬라이드에서는 wafer 4매의 구성과 두 split의 핵심 차이가 정리돼 있습니다. W1/W2가 Ru subtractive, W3/W4가 Cu damascene입니다. W1과 W2는 같은 lot에서 인접 wafer, W3과 W4도 마찬가지로 같은 lot에 속합니다. 발표 시 “W1↔W3의 비교가 split 차이를, W1↔W2·W3↔W4는 lot 간 변동을 본다”는 매트릭스 의도를 짚어 주세요. 우측 split 카드의 1단·2단 CMP, barrier 두께·방식 등 항목은 추후 데이터 해석 시 자주 언급되니 청중이 한 번 훑어볼 시간을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슬라이드에서 평가의 4개 메트릭 정의와 사양을 정리합니다. AASI 25.4nm는 semi-isolated, ASEI 17.8nm는 더 작은 isolated, AMI 9.3nm는 metal line, ACI 9.2nm는 via/contact CD입니다. Spec window은 ±5%, 7%, 8%, 8%로 단계적으로 넓어지는데 라인 폭이 작아질수록 절대값으로 보면 spec도 함께 작아진다는 점을 짚어 주세요. 습식 underlayer나 e-beam 보정은 하지 않고 CD-SEM 9380만 사용했습니다. 우측 두 박스에서 69pt 측정 좌표와 delta 표기 약속을 설명합니다 — delta는 “측정값 − target”이며 양수면 라인 폭이 더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슬라이드는 Ru subtractive 슬플릿의 단면 관찰입니다. W1 wafer 기준이며, 사용한 이미지 두 장은 외부 기사를 인용했습니다. 좌측 텍스트에서 핵심 관찰 세 가지를 짚습니다 — 미세 undercut, TaN barrier 1.5±0.2 nm, IMD recess 4.1 nm. 발표에서는 “sidewall root mean square 0.81 nm”이 Cu damascene 대비 어떤 의미인지를 다음 슬라이드와 함께 짚어 주세요. Fig 04-A는 via-chain 단면, 04-B는 interconnect 단면 확대입니다. 대기 노출 후 0.8 nm oxide 재성장 관찰 사실도 한 번 언급합니다.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5번 슬라이드는 Cu damascene 슬플릿의 단면 관찰입니다. W3 wafer 기준이며, Fig 05-A는 Cu damascene interconnect 단면을 Springer 자료에서, Fig 05-B는 Cu/low-k 28 nm CMOS 단면을 ScienceDirect에서 가져왔습니다. 핵심 관찰로 dishing 3.2 nm, Ta/TaN 1.7±0.3 nm, IMD recess 3.5 nm을 짚어 주세요. 중앙부 1개 site에서 line-to-line short 의심 결함이 발견되었지만, 결함 site는 평균 산출에서 제외했고 W4에서는 재현되지 않아 lot 결함은 아니라고 판단했습니다. Ru split 대비 IMD recess가 0.6 nm 얕은 부분은 low-k 손상이 적음을 시사하는 정성적 관찰로 언급해 두면 좋겠습니다.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6번 슬라이드는 AASI 메트릭의 wafer별 결과입니다. target 25.4 nm, spec ±5%(24.13–26.67)를 기준으로 W1/W2는 평균이 25.55–25.61로 spec 중앙 위에 떠 있고, W3/W4는 평균이 25.38–25.42로 중앙 근처입니다. 발표 시 “3σ는 Ru 쪽이 작지만 평균이 spec 중앙에서 벗어난 게 더 큰 이슈”라는 점을 짚어 주세요. W1의 range 상단 26.22는 spec 안에 있지만 margin이 0.45 nm로 좁아 marginal로 표기했습니다. Ru split 평균과 Cu split 평균 차이는 0.18 nm로, hard mask 잔사로 인한 상부 CD 부풀림 가설과 부합합니다.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7번 슬라이드는 ASEI 메트릭입니다. target 17.8 nm, spec ±7% window는 16.55–19.05입니다. W1 17.94 nm, W2 17.88 nm, W3 17.76 nm, W4 17.79 nm입니다. 발표 시 “line scale이 작아질수록 split 차이가 줄어드는 경향”을 짚어 주세요 — AASI의 split 차이는 0.18 nm였다면 ASEI에서는 0.13 nm입니다. W1이 marginal로 표기된 이유는 평균이 spec 중앙보다 +0.14 nm 위에 있어 slope 가장자리에서 fail 가능성을 평가해야 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8번 슬라이드는 AMI 메트릭, target 9.3 nm. Spec ±8% window 8.56–10.04 안쪽, 4 wafer 모두 in-spec입니다. W1 9.34, W2 9.31, W3 9.26, W4 9.29로 분포가 좁습니다. 발표 시 “line scale이 작아질수록 split 차이가 줄어든다”는 AMI / AASI 대비 패턴을 짚어 주세요. 9.3 nm급 isolated metal line에서 hard mask 잔사 영향이 줄어든 점이 그 이유로 추정됩니다.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9번 슬라이드는 ACI 메트릭, target 9.2 nm. Spec ±8%은 8.46–9.94입니다. W1 9.24, W2 9.21, W3 9.17, W4 9.19로 모두 in-spec이며, 분포가 좁습니다. ACI는 via top CD라 line/via 공통 결함 평가에 자주 쓰이는 메트릭인데, 발표 시 “AMI와 거의 같은 trend, spec window 자체는 AMI보다 약간 좁다(0.20 nm 차이)”는 점만 짚어 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10번 슬라이드는 4개 메트릭의 cross-summary입니다. Ru split과 Cu split의 평균 mean / 평균 3σ / 평균 Δ를 한 표에서 비교합니다. 발표 시 delta trend 행렬을 가리키며 “Ru는 4 메트릭 모두 +편향이지만 0.18 → 0.04 nm로 빠르게 축소, Cu는 0.00부터 시작해 −0.02 nm로 거의 변하지 않는다”는 점을 짚어 주세요. AASI의 marginal 등급은 사용 가능 margin이 0.45 nm로 작기 때문이며, 결과적으로 split 자체보다 CD 위치 보정(etch trim / hard mask 잔사 조정) 이슈로 식별됩니다.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11번 슬라이드는 in-wafer 균일성, 69pt 측정 결과를 보여 줍니다. 좌측 표에 wafer별 mean/3σ/WIWNU/WIBNU/center/edge가 정리되어 있고, 우측에는 W3(worst WIWNU) wafer의 개념 schematic이 있습니다. 발표 시 “W3의 WIWNU 0.89%가 가장 높지만, 모두 1% 미만으로 spec 한도(2%) 이내”라는 점과 “center vs edge가 Cu split은 0.5 nm 차이가 나지만 Ru split은 0.3 nm 수준”이라는 점을 짚어 주세요. 우측 schematic은 9×9 격자에서 모서리 12 사이트를 제외한 69 사이트 구성의 개념도이며, 실제 69개 값은 표의 mean/3σ에 요약돼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12번 슬라이드는 전기 특성을 숫자 표로 정리했습니다. Line 저항은 Ru split이 27.5–27.8 Ω/□로 Cu split 30.8–31.2 Ω/□ 대비 약 11% 낮습니다. Via 저항도 Ru가 31 Ω 전후로 Cu 38 Ω 대비 19% 낮고 산포도 작습니다. 반면 인접 line 간 leakage는 Ru가 약 1.6배 높은데, subtractive etch 과정에서의 IMD recess와 plasma damage가 원인으로 추정됩니다. 저항 이득과 절연 특성 손실 사이의 trade-off를 강조해 주세요. 모든 값은 가상 더미 데이터입니다.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슬라이드에서는 EM MTTF와 전체 결론을 함께 정리합니다. 300도, 2 MA/cm² 가속 조건에서 Ru split의 t50는 1,840–1,910시간으로 Cu split 410–445시간 대비 약 4.4배, 0.1% 고장 기준 MTTF로는 약 5.7배 깁니다. 우측 요약 패널을 보면 Ru subtractive는 저항과 EM에서 분명한 우위가 있지만, AASI CD 위치 편향과 leakage 증가가 과제로 남습니다. 다음 단계로 hard mask trim 보정, IMD repair 조건 split, TDDB 평가를 제안합니다. 모든 수치는 테스트용 가상 데이터입니다.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4.jpeg"/><Relationship Id="rId5" Type="http://schemas.openxmlformats.org/officeDocument/2006/relationships/image" Target="../media/image-4-5.jpe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11811305" y="2171700"/>
            <a:ext cx="5734202" cy="5162702"/>
          </a:xfrm>
          <a:prstGeom prst="rect">
            <a:avLst/>
          </a:prstGeom>
          <a:solidFill>
            <a:srgbClr val="FAF6EC"/>
          </a:solidFill>
          <a:ln w="12700">
            <a:solidFill>
              <a:srgbClr val="B5A47A"/>
            </a:solidFill>
            <a:prstDash val="solid"/>
          </a:ln>
        </p:spPr>
      </p:sp>
      <p:pic>
        <p:nvPicPr>
          <p:cNvPr id="6" name="Image 2" descr="gen-dedup-e87c56f76d96e444317ec5a76e744c08.png">    </p:cNvPr>
          <p:cNvPicPr>
            <a:picLocks noChangeAspect="1"/>
          </p:cNvPicPr>
          <p:nvPr/>
        </p:nvPicPr>
        <p:blipFill>
          <a:blip r:embed="rId3"/>
          <a:srcRect l="-2078" r="-2078" t="0" b="0"/>
          <a:stretch/>
        </p:blipFill>
        <p:spPr>
          <a:xfrm>
            <a:off x="12001500" y="2991002"/>
            <a:ext cx="5333695" cy="9144"/>
          </a:xfrm>
          <a:prstGeom prst="rect">
            <a:avLst/>
          </a:prstGeom>
        </p:spPr>
      </p:pic>
      <p:pic>
        <p:nvPicPr>
          <p:cNvPr id="7" name="Image 3" descr="gen-dedup-e8463af20e815b6e8a1ca78a2236911c.png">    </p:cNvPr>
          <p:cNvPicPr>
            <a:picLocks noChangeAspect="1"/>
          </p:cNvPicPr>
          <p:nvPr/>
        </p:nvPicPr>
        <p:blipFill>
          <a:blip r:embed="rId4"/>
          <a:srcRect l="-2083" r="-2083" t="0" b="0"/>
          <a:stretch/>
        </p:blipFill>
        <p:spPr>
          <a:xfrm>
            <a:off x="761695" y="9620402"/>
            <a:ext cx="16763695" cy="9144"/>
          </a:xfrm>
          <a:prstGeom prst="rect">
            <a:avLst/>
          </a:prstGeom>
        </p:spPr>
      </p:pic>
      <p:sp>
        <p:nvSpPr>
          <p:cNvPr id="8" name="Text 1"/>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01 · PURPOSE &amp; SCOPE</a:t>
            </a:r>
            <a:endParaRPr lang="en-US" sz="1200" dirty="0"/>
          </a:p>
        </p:txBody>
      </p:sp>
      <p:sp>
        <p:nvSpPr>
          <p:cNvPr id="9" name="Text 2"/>
          <p:cNvSpPr txBox="1"/>
          <p:nvPr/>
        </p:nvSpPr>
        <p:spPr>
          <a:xfrm>
            <a:off x="761695" y="990295"/>
            <a:ext cx="12382805" cy="505663"/>
          </a:xfrm>
          <a:prstGeom prst="rect">
            <a:avLst/>
          </a:prstGeom>
          <a:noFill/>
          <a:ln/>
        </p:spPr>
        <p:txBody>
          <a:bodyPr wrap="none" lIns="0" tIns="0" rIns="0" bIns="0" rtlCol="0" anchor="ctr"/>
          <a:lstStyle/>
          <a:p>
            <a:pPr algn="l" indent="0" marL="0">
              <a:buNone/>
            </a:pPr>
            <a:r>
              <a:rPr lang="en-US" sz="3600" b="1" spc="-36" kern="0" dirty="0">
                <a:solidFill>
                  <a:srgbClr val="1A1F26"/>
                </a:solidFill>
                <a:latin typeface="Manrope" pitchFamily="34" charset="0"/>
                <a:ea typeface="Manrope" pitchFamily="34" charset="-122"/>
                <a:cs typeface="Manrope" pitchFamily="34" charset="-120"/>
              </a:rPr>
              <a:t>실험 목적 및 평가 범위</a:t>
            </a:r>
            <a:endParaRPr lang="en-US" sz="3600" dirty="0"/>
          </a:p>
        </p:txBody>
      </p:sp>
      <p:sp>
        <p:nvSpPr>
          <p:cNvPr id="10" name="Text 3"/>
          <p:cNvSpPr txBox="1"/>
          <p:nvPr/>
        </p:nvSpPr>
        <p:spPr>
          <a:xfrm>
            <a:off x="14192402" y="952805"/>
            <a:ext cx="3333902" cy="171907"/>
          </a:xfrm>
          <a:prstGeom prst="rect">
            <a:avLst/>
          </a:prstGeom>
          <a:noFill/>
          <a:ln/>
        </p:spPr>
        <p:txBody>
          <a:bodyPr wrap="none" lIns="0" tIns="0" rIns="0" bIns="0" rtlCol="0" anchor="ctr"/>
          <a:lstStyle/>
          <a:p>
            <a:pPr algn="r" indent="0" marL="0">
              <a:buNone/>
            </a:pPr>
            <a:r>
              <a:rPr lang="en-US" sz="1050" spc="126" kern="0" dirty="0">
                <a:solidFill>
                  <a:srgbClr val="6F6857"/>
                </a:solidFill>
                <a:latin typeface="IBM Plex Sans" pitchFamily="34" charset="0"/>
                <a:ea typeface="IBM Plex Sans" pitchFamily="34" charset="-122"/>
                <a:cs typeface="IBM Plex Sans" pitchFamily="34" charset="-120"/>
              </a:rPr>
              <a:t>RPT-17 / M4 EVAL / 2026-Q3</a:t>
            </a:r>
            <a:endParaRPr lang="en-US" sz="1050" dirty="0"/>
          </a:p>
        </p:txBody>
      </p:sp>
      <p:sp>
        <p:nvSpPr>
          <p:cNvPr id="11" name="Text 4"/>
          <p:cNvSpPr txBox="1"/>
          <p:nvPr/>
        </p:nvSpPr>
        <p:spPr>
          <a:xfrm>
            <a:off x="14192402" y="1181405"/>
            <a:ext cx="3333902" cy="181051"/>
          </a:xfrm>
          <a:prstGeom prst="rect">
            <a:avLst/>
          </a:prstGeom>
          <a:noFill/>
          <a:ln/>
        </p:spPr>
        <p:txBody>
          <a:bodyPr wrap="none" lIns="0" tIns="0" rIns="0" bIns="0" rtlCol="0" anchor="ctr"/>
          <a:lstStyle/>
          <a:p>
            <a:pPr algn="r" indent="0" marL="0">
              <a:buNone/>
            </a:pPr>
            <a:r>
              <a:rPr lang="en-US" sz="975" dirty="0">
                <a:solidFill>
                  <a:srgbClr val="2D3340"/>
                </a:solidFill>
                <a:latin typeface="JetBrains Mono" pitchFamily="34" charset="0"/>
                <a:ea typeface="JetBrains Mono" pitchFamily="34" charset="-122"/>
                <a:cs typeface="JetBrains Mono" pitchFamily="34" charset="-120"/>
              </a:rPr>
              <a:t>내부 전용 · 비공개 초안</a:t>
            </a:r>
            <a:endParaRPr lang="en-US" sz="975" dirty="0"/>
          </a:p>
        </p:txBody>
      </p:sp>
      <p:sp>
        <p:nvSpPr>
          <p:cNvPr id="12" name="Text 5"/>
          <p:cNvSpPr txBox="1"/>
          <p:nvPr/>
        </p:nvSpPr>
        <p:spPr>
          <a:xfrm>
            <a:off x="761695" y="2171700"/>
            <a:ext cx="10478110" cy="1067105"/>
          </a:xfrm>
          <a:prstGeom prst="rect">
            <a:avLst/>
          </a:prstGeom>
          <a:noFill/>
          <a:ln/>
        </p:spPr>
        <p:txBody>
          <a:bodyPr wrap="square" lIns="0" tIns="0" rIns="0" bIns="0" rtlCol="0" anchor="ctr"/>
          <a:lstStyle/>
          <a:p>
            <a:pPr algn="l" indent="0" marL="0">
              <a:lnSpc>
                <a:spcPts val="2790"/>
              </a:lnSpc>
              <a:buNone/>
            </a:pPr>
            <a:r>
              <a:rPr lang="en-US" sz="1800" dirty="0">
                <a:solidFill>
                  <a:srgbClr val="1A1F26"/>
                </a:solidFill>
                <a:latin typeface="IBM Plex Sans" pitchFamily="34" charset="0"/>
                <a:ea typeface="IBM Plex Sans" pitchFamily="34" charset="-122"/>
                <a:cs typeface="IBM Plex Sans" pitchFamily="34" charset="-120"/>
              </a:rPr>
              <a:t>본 평가는 M4 금속층에서 Ru subtractive 공정을 Cu damascene 대비 분할(split) 시험으로 비교 평가하기 위해 작성된 더미 시험 기록이다. 4매의 wafer (W1–W4)에 대해 네 가지 평가 축 — (1) CD 변동, (2) wafer 내 균일성, (3) 전기적 저항, (4) EM MTTF — 에 대한 정량 비교를 수행한다.</a:t>
            </a:r>
            <a:endParaRPr lang="en-US" sz="1800" dirty="0"/>
          </a:p>
        </p:txBody>
      </p:sp>
      <p:sp>
        <p:nvSpPr>
          <p:cNvPr id="13" name="Text 6"/>
          <p:cNvSpPr txBox="1"/>
          <p:nvPr/>
        </p:nvSpPr>
        <p:spPr>
          <a:xfrm>
            <a:off x="761695" y="3406140"/>
            <a:ext cx="10478110" cy="715061"/>
          </a:xfrm>
          <a:prstGeom prst="rect">
            <a:avLst/>
          </a:prstGeom>
          <a:noFill/>
          <a:ln/>
        </p:spPr>
        <p:txBody>
          <a:bodyPr wrap="square" lIns="0" tIns="0" rIns="0" bIns="0" rtlCol="0" anchor="ctr"/>
          <a:lstStyle/>
          <a:p>
            <a:pPr algn="l" indent="0" marL="0">
              <a:lnSpc>
                <a:spcPts val="2790"/>
              </a:lnSpc>
              <a:buNone/>
            </a:pPr>
            <a:r>
              <a:rPr lang="en-US" sz="1800" dirty="0">
                <a:solidFill>
                  <a:srgbClr val="1A1F26"/>
                </a:solidFill>
                <a:latin typeface="IBM Plex Sans" pitchFamily="34" charset="0"/>
                <a:ea typeface="IBM Plex Sans" pitchFamily="34" charset="-122"/>
                <a:cs typeface="IBM Plex Sans" pitchFamily="34" charset="-120"/>
              </a:rPr>
              <a:t>모든 측정값은 본 평가의 형상 검증을 위한 가상 시뮬레이션 데이터이며, 외부 비교나 인용에 사용해서는 안 된다. 평가 항목별 정의는 슬라이드 03에, 측정 도구별 윈도와 보정 절차는 appendix에 정리한다.</a:t>
            </a:r>
            <a:endParaRPr lang="en-US" sz="1800" dirty="0"/>
          </a:p>
        </p:txBody>
      </p:sp>
      <p:sp>
        <p:nvSpPr>
          <p:cNvPr id="14" name="Text 7"/>
          <p:cNvSpPr txBox="1"/>
          <p:nvPr/>
        </p:nvSpPr>
        <p:spPr>
          <a:xfrm>
            <a:off x="761695" y="4324198"/>
            <a:ext cx="10478110" cy="590702"/>
          </a:xfrm>
          <a:prstGeom prst="rect">
            <a:avLst/>
          </a:prstGeom>
          <a:noFill/>
          <a:ln/>
        </p:spPr>
        <p:txBody>
          <a:bodyPr wrap="square" lIns="0" tIns="0" rIns="0" bIns="0" rtlCol="0" anchor="ctr"/>
          <a:lstStyle/>
          <a:p>
            <a:pPr algn="l" indent="0" marL="0">
              <a:lnSpc>
                <a:spcPts val="2325"/>
              </a:lnSpc>
              <a:buNone/>
            </a:pPr>
            <a:r>
              <a:rPr lang="en-US" sz="1500" dirty="0">
                <a:solidFill>
                  <a:srgbClr val="6F6857"/>
                </a:solidFill>
                <a:latin typeface="IBM Plex Sans" pitchFamily="34" charset="0"/>
                <a:ea typeface="IBM Plex Sans" pitchFamily="34" charset="-122"/>
                <a:cs typeface="IBM Plex Sans" pitchFamily="34" charset="-120"/>
              </a:rPr>
              <a:t>본 보고서는 RPT-17 (20개 시리즈 중 17번째)에 해당하며, 동일 시리즈의 다른 파일과는 평가 layer, split, 측정 메트릭 구성을 일부러 다르게 가져간다. 후속 파일과의 직접 비교는 금지한다.</a:t>
            </a:r>
            <a:endParaRPr lang="en-US" sz="1500" dirty="0"/>
          </a:p>
        </p:txBody>
      </p:sp>
      <p:sp>
        <p:nvSpPr>
          <p:cNvPr id="15" name="Text 8"/>
          <p:cNvSpPr txBox="1"/>
          <p:nvPr/>
        </p:nvSpPr>
        <p:spPr>
          <a:xfrm>
            <a:off x="12001500" y="2361895"/>
            <a:ext cx="5334610" cy="171907"/>
          </a:xfrm>
          <a:prstGeom prst="rect">
            <a:avLst/>
          </a:prstGeom>
          <a:noFill/>
          <a:ln/>
        </p:spPr>
        <p:txBody>
          <a:bodyPr wrap="none" lIns="0" tIns="0" rIns="0" bIns="0" rtlCol="0" anchor="ctr"/>
          <a:lstStyle/>
          <a:p>
            <a:pPr algn="l" indent="0" marL="0">
              <a:buNone/>
            </a:pPr>
            <a:r>
              <a:rPr lang="en-US" sz="1050" spc="210" kern="0" dirty="0">
                <a:solidFill>
                  <a:srgbClr val="6F6857"/>
                </a:solidFill>
                <a:latin typeface="IBM Plex Sans" pitchFamily="34" charset="0"/>
                <a:ea typeface="IBM Plex Sans" pitchFamily="34" charset="-122"/>
                <a:cs typeface="IBM Plex Sans" pitchFamily="34" charset="-120"/>
              </a:rPr>
              <a:t>QUICK REFERENCE</a:t>
            </a:r>
            <a:endParaRPr lang="en-US" sz="1050" dirty="0"/>
          </a:p>
        </p:txBody>
      </p:sp>
      <p:sp>
        <p:nvSpPr>
          <p:cNvPr id="16" name="Text 9"/>
          <p:cNvSpPr txBox="1"/>
          <p:nvPr/>
        </p:nvSpPr>
        <p:spPr>
          <a:xfrm>
            <a:off x="12001500" y="2590495"/>
            <a:ext cx="5334610" cy="333756"/>
          </a:xfrm>
          <a:prstGeom prst="rect">
            <a:avLst/>
          </a:prstGeom>
          <a:noFill/>
          <a:ln/>
        </p:spPr>
        <p:txBody>
          <a:bodyPr wrap="none" lIns="0" tIns="0" rIns="0" bIns="0" rtlCol="0" anchor="ctr"/>
          <a:lstStyle/>
          <a:p>
            <a:pPr algn="l" indent="0" marL="0">
              <a:buNone/>
            </a:pPr>
            <a:r>
              <a:rPr lang="en-US" sz="1800" b="1" dirty="0">
                <a:solidFill>
                  <a:srgbClr val="1A1F26"/>
                </a:solidFill>
                <a:latin typeface="Manrope" pitchFamily="34" charset="0"/>
                <a:ea typeface="Manrope" pitchFamily="34" charset="-122"/>
                <a:cs typeface="Manrope" pitchFamily="34" charset="-120"/>
              </a:rPr>
              <a:t>평가 메타</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2001500" y="3161995"/>
          <a:ext cx="5334610" cy="3238805"/>
        </p:xfrm>
        <a:graphic>
          <a:graphicData uri="http://schemas.openxmlformats.org/drawingml/2006/table">
            <a:tbl>
              <a:tblPr/>
              <a:tblGrid>
                <a:gridCol w="1904695"/>
                <a:gridCol w="3429000"/>
              </a:tblGrid>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평가 layer</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M4 (Mx)</a:t>
                      </a:r>
                      <a:endParaRPr lang="en-US" sz="1350" dirty="0">
                        <a:latin typeface="JetBrains Mono" charset="0"/>
                        <a:ea typeface="JetBrains Mono" charset="0"/>
                        <a:cs typeface="JetBrains Mono"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r>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Wafer 매수</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4 매 (W1–W4)</a:t>
                      </a:r>
                      <a:endParaRPr lang="en-US" sz="1350" dirty="0">
                        <a:latin typeface="JetBrains Mono" charset="0"/>
                        <a:ea typeface="JetBrains Mono" charset="0"/>
                        <a:cs typeface="JetBrains Mono"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r>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Split</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subtractive</a:t>
                      </a:r>
                      <a:pPr indent="0" marL="0">
                        <a:buNone/>
                      </a:pPr>
                      <a:r>
                        <a:rPr lang="en-US" sz="1350" dirty="0">
                          <a:solidFill>
                            <a:srgbClr val="6F6857"/>
                          </a:solidFill>
                          <a:latin typeface="IBM Plex Sans" pitchFamily="34" charset="0"/>
                          <a:ea typeface="IBM Plex Sans" pitchFamily="34" charset="-122"/>
                          <a:cs typeface="IBM Plex Sans" pitchFamily="34" charset="-120"/>
                        </a:rPr>
                        <a:t> · </a:t>
                      </a:r>
                      <a:pPr indent="0" marL="0">
                        <a:buNone/>
                      </a:pPr>
                      <a:r>
                        <a:rPr lang="en-US" sz="1350" b="1" dirty="0">
                          <a:solidFill>
                            <a:srgbClr val="2C5E7A"/>
                          </a:solidFill>
                          <a:latin typeface="IBM Plex Sans" pitchFamily="34" charset="0"/>
                          <a:ea typeface="IBM Plex Sans" pitchFamily="34" charset="-122"/>
                          <a:cs typeface="IBM Plex Sans" pitchFamily="34" charset="-120"/>
                        </a:rPr>
                        <a:t>Cu damascene</a:t>
                      </a:r>
                      <a:endParaRPr lang="en-US" sz="1200" dirty="0"/>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r>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평가지 4축</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a:txBody>
                    <a:bodyPr/>
                    <a:lstStyle/>
                    <a:p>
                      <a:pPr indent="0" marL="0">
                        <a:buNone/>
                      </a:pPr>
                      <a:r>
                        <a:rPr lang="en-US" sz="1125" dirty="0">
                          <a:solidFill>
                            <a:srgbClr val="1A1F26"/>
                          </a:solidFill>
                          <a:latin typeface="JetBrains Mono" pitchFamily="34" charset="0"/>
                          <a:ea typeface="JetBrains Mono" pitchFamily="34" charset="-122"/>
                          <a:cs typeface="JetBrains Mono" pitchFamily="34" charset="-120"/>
                        </a:rPr>
                        <a:t>CD · U · Rc · EM</a:t>
                      </a:r>
                      <a:endParaRPr lang="en-US" sz="1125" dirty="0">
                        <a:latin typeface="JetBrains Mono" charset="0"/>
                        <a:ea typeface="JetBrains Mono" charset="0"/>
                        <a:cs typeface="JetBrains Mono"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r>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CD 측정 항목</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a:txBody>
                    <a:bodyPr/>
                    <a:lstStyle/>
                    <a:p>
                      <a:pPr indent="0" marL="0">
                        <a:buNone/>
                      </a:pPr>
                      <a:r>
                        <a:rPr lang="en-US" sz="1125" dirty="0">
                          <a:solidFill>
                            <a:srgbClr val="1A1F26"/>
                          </a:solidFill>
                          <a:latin typeface="JetBrains Mono" pitchFamily="34" charset="0"/>
                          <a:ea typeface="JetBrains Mono" pitchFamily="34" charset="-122"/>
                          <a:cs typeface="JetBrains Mono" pitchFamily="34" charset="-120"/>
                        </a:rPr>
                        <a:t>AASI / ASEI / AMI / ACI</a:t>
                      </a:r>
                      <a:endParaRPr lang="en-US" sz="1125" dirty="0">
                        <a:latin typeface="JetBrains Mono" charset="0"/>
                        <a:ea typeface="JetBrains Mono" charset="0"/>
                        <a:cs typeface="JetBrains Mono"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r>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평가 lot 수</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2 split × 2 wafer</a:t>
                      </a:r>
                      <a:endParaRPr lang="en-US" sz="1350" dirty="0">
                        <a:latin typeface="JetBrains Mono" charset="0"/>
                        <a:ea typeface="JetBrains Mono" charset="0"/>
                        <a:cs typeface="JetBrains Mono"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r>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평가 일자</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2026-Q3 (가상)</a:t>
                      </a:r>
                      <a:endParaRPr lang="en-US" sz="1350" dirty="0">
                        <a:latin typeface="JetBrains Mono" charset="0"/>
                        <a:ea typeface="JetBrains Mono" charset="0"/>
                        <a:cs typeface="JetBrains Mono"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r>
              <a:tr h="404851">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보고서 형식</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indent="0" marL="0">
                        <a:buNone/>
                      </a:pPr>
                      <a:r>
                        <a:rPr lang="en-US" sz="1350" dirty="0">
                          <a:solidFill>
                            <a:srgbClr val="1A1F26"/>
                          </a:solidFill>
                          <a:latin typeface="IBM Plex Sans" pitchFamily="34" charset="0"/>
                          <a:ea typeface="IBM Plex Sans" pitchFamily="34" charset="-122"/>
                          <a:cs typeface="IBM Plex Sans" pitchFamily="34" charset="-120"/>
                        </a:rPr>
                        <a:t>dense reporting, table-heavy</a:t>
                      </a:r>
                      <a:endParaRPr lang="en-US" sz="1350" dirty="0">
                        <a:latin typeface="IBM Plex Sans" charset="0"/>
                        <a:ea typeface="IBM Plex Sans" charset="0"/>
                        <a:cs typeface="IBM Plex Sans" charset="0"/>
                      </a:endParaRPr>
                    </a:p>
                  </a:txBody>
                  <a:tcPr marL="0" marR="0"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r>
            </a:tbl>
          </a:graphicData>
        </a:graphic>
      </p:graphicFrame>
      <p:sp>
        <p:nvSpPr>
          <p:cNvPr id="18" name="Text 10"/>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457907"/>
            <a:ext cx="10496398" cy="4114800"/>
          </a:xfrm>
          <a:prstGeom prst="rect">
            <a:avLst/>
          </a:prstGeom>
          <a:solidFill>
            <a:srgbClr val="FAF6EC"/>
          </a:solidFill>
          <a:ln w="12700">
            <a:solidFill>
              <a:srgbClr val="B5A47A"/>
            </a:solidFill>
            <a:prstDash val="solid"/>
          </a:ln>
        </p:spPr>
      </p:sp>
      <p:sp>
        <p:nvSpPr>
          <p:cNvPr id="6" name="Shape 1"/>
          <p:cNvSpPr/>
          <p:nvPr/>
        </p:nvSpPr>
        <p:spPr>
          <a:xfrm>
            <a:off x="11716207" y="2076602"/>
            <a:ext cx="5876849" cy="2210105"/>
          </a:xfrm>
          <a:prstGeom prst="rect">
            <a:avLst/>
          </a:prstGeom>
          <a:solidFill>
            <a:srgbClr val="FAF6EC"/>
          </a:solidFill>
          <a:ln w="12700">
            <a:solidFill>
              <a:srgbClr val="B5A47A"/>
            </a:solidFill>
            <a:prstDash val="solid"/>
          </a:ln>
        </p:spPr>
      </p:sp>
      <p:sp>
        <p:nvSpPr>
          <p:cNvPr id="7" name="Shape 2"/>
          <p:cNvSpPr/>
          <p:nvPr/>
        </p:nvSpPr>
        <p:spPr>
          <a:xfrm>
            <a:off x="11716207" y="2076602"/>
            <a:ext cx="57607" cy="2210105"/>
          </a:xfrm>
          <a:prstGeom prst="rect">
            <a:avLst/>
          </a:prstGeom>
          <a:solidFill>
            <a:srgbClr val="A04A30"/>
          </a:solidFill>
          <a:ln w="12700">
            <a:solidFill>
              <a:srgbClr val="A04A30">
                <a:alpha val="0"/>
              </a:srgbClr>
            </a:solidFill>
            <a:prstDash val="solid"/>
          </a:ln>
        </p:spPr>
      </p:sp>
      <p:sp>
        <p:nvSpPr>
          <p:cNvPr id="8" name="Shape 3"/>
          <p:cNvSpPr/>
          <p:nvPr/>
        </p:nvSpPr>
        <p:spPr>
          <a:xfrm>
            <a:off x="11716207" y="4552798"/>
            <a:ext cx="5876849" cy="2210105"/>
          </a:xfrm>
          <a:prstGeom prst="rect">
            <a:avLst/>
          </a:prstGeom>
          <a:solidFill>
            <a:srgbClr val="FAF6EC"/>
          </a:solidFill>
          <a:ln w="12700">
            <a:solidFill>
              <a:srgbClr val="B5A47A"/>
            </a:solidFill>
            <a:prstDash val="solid"/>
          </a:ln>
        </p:spPr>
      </p:sp>
      <p:sp>
        <p:nvSpPr>
          <p:cNvPr id="9" name="Shape 4"/>
          <p:cNvSpPr/>
          <p:nvPr/>
        </p:nvSpPr>
        <p:spPr>
          <a:xfrm>
            <a:off x="11716207" y="4552798"/>
            <a:ext cx="57607" cy="2210105"/>
          </a:xfrm>
          <a:prstGeom prst="rect">
            <a:avLst/>
          </a:prstGeom>
          <a:solidFill>
            <a:srgbClr val="2C5E7A"/>
          </a:solidFill>
          <a:ln w="12700">
            <a:solidFill>
              <a:srgbClr val="2C5E7A">
                <a:alpha val="0"/>
              </a:srgbClr>
            </a:solidFill>
            <a:prstDash val="solid"/>
          </a:ln>
        </p:spPr>
      </p:sp>
      <p:pic>
        <p:nvPicPr>
          <p:cNvPr id="10"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11" name="Text 5"/>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02 · SPLIT &amp; WAFER MATRIX</a:t>
            </a:r>
            <a:endParaRPr lang="en-US" sz="1200" dirty="0"/>
          </a:p>
        </p:txBody>
      </p:sp>
      <p:sp>
        <p:nvSpPr>
          <p:cNvPr id="12" name="Text 6"/>
          <p:cNvSpPr txBox="1"/>
          <p:nvPr/>
        </p:nvSpPr>
        <p:spPr>
          <a:xfrm>
            <a:off x="761695" y="990295"/>
            <a:ext cx="14287500"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공정 분할 및 Wafer 구성</a:t>
            </a:r>
            <a:endParaRPr lang="en-US" sz="3600" dirty="0"/>
          </a:p>
        </p:txBody>
      </p:sp>
      <p:sp>
        <p:nvSpPr>
          <p:cNvPr id="13" name="Text 7"/>
          <p:cNvSpPr txBox="1"/>
          <p:nvPr/>
        </p:nvSpPr>
        <p:spPr>
          <a:xfrm>
            <a:off x="761695" y="2076602"/>
            <a:ext cx="10478110" cy="219456"/>
          </a:xfrm>
          <a:prstGeom prst="rect">
            <a:avLst/>
          </a:prstGeom>
          <a:noFill/>
          <a:ln/>
        </p:spPr>
        <p:txBody>
          <a:bodyPr wrap="none" lIns="0" tIns="0" rIns="0" bIns="0" rtlCol="0" anchor="ctr"/>
          <a:lstStyle/>
          <a:p>
            <a:pPr algn="l" indent="0" marL="0">
              <a:buNone/>
            </a:pPr>
            <a:r>
              <a:rPr lang="en-US" sz="1350" spc="216" kern="0" dirty="0">
                <a:solidFill>
                  <a:srgbClr val="6F6857"/>
                </a:solidFill>
                <a:latin typeface="IBM Plex Sans" pitchFamily="34" charset="0"/>
                <a:ea typeface="IBM Plex Sans" pitchFamily="34" charset="-122"/>
                <a:cs typeface="IBM Plex Sans" pitchFamily="34" charset="-120"/>
              </a:rPr>
              <a:t>WAFER CONSTITUTION · 4 WAFERS</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61695" y="2457907"/>
          <a:ext cx="10478110" cy="2895905"/>
        </p:xfrm>
        <a:graphic>
          <a:graphicData uri="http://schemas.openxmlformats.org/drawingml/2006/table">
            <a:tbl>
              <a:tblPr/>
              <a:tblGrid>
                <a:gridCol w="1162202"/>
                <a:gridCol w="2210105"/>
                <a:gridCol w="2590495"/>
                <a:gridCol w="2590495"/>
                <a:gridCol w="1923898"/>
              </a:tblGrid>
              <a:tr h="579181">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Wafer</a:t>
                      </a:r>
                      <a:endParaRPr lang="en-US" sz="1350"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Split</a:t>
                      </a:r>
                      <a:endParaRPr lang="en-US" sz="1350"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Lot ID</a:t>
                      </a:r>
                      <a:endParaRPr lang="en-US" sz="1350"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Film stack (M4)</a:t>
                      </a:r>
                      <a:endParaRPr lang="en-US" sz="1350"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Edge exclusion</a:t>
                      </a:r>
                      <a:endParaRPr lang="en-US" sz="1350"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79181">
                <a:tc>
                  <a:txBody>
                    <a:bodyPr/>
                    <a:lstStyle/>
                    <a:p>
                      <a:pPr indent="0" marL="0">
                        <a:buNone/>
                      </a:pPr>
                      <a:r>
                        <a:rPr lang="en-US" sz="1500" dirty="0">
                          <a:solidFill>
                            <a:srgbClr val="1A1F26"/>
                          </a:solidFill>
                          <a:latin typeface="JetBrains Mono" pitchFamily="34" charset="0"/>
                          <a:ea typeface="JetBrains Mono" pitchFamily="34" charset="-122"/>
                          <a:cs typeface="JetBrains Mono" pitchFamily="34" charset="-120"/>
                        </a:rPr>
                        <a:t>W1</a:t>
                      </a:r>
                      <a:endParaRPr lang="en-US" sz="150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subtractive</a:t>
                      </a:r>
                      <a:endParaRPr lang="en-US" sz="1350" dirty="0">
                        <a:latin typeface="IBM Plex Sans" charset="0"/>
                        <a:ea typeface="IBM Plex Sans" charset="0"/>
                        <a:cs typeface="IBM Plex Sans"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LDM4-RS-01</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1A1F26"/>
                          </a:solidFill>
                          <a:latin typeface="JetBrains Mono" pitchFamily="34" charset="0"/>
                          <a:ea typeface="JetBrains Mono" pitchFamily="34" charset="-122"/>
                          <a:cs typeface="JetBrains Mono" pitchFamily="34" charset="-120"/>
                        </a:rPr>
                        <a:t>Ru 8 / TaN 1.5 (ALD)</a:t>
                      </a:r>
                      <a:endParaRPr lang="en-US" sz="1125"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3.0 mm</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79181">
                <a:tc>
                  <a:txBody>
                    <a:bodyPr/>
                    <a:lstStyle/>
                    <a:p>
                      <a:pPr indent="0" marL="0">
                        <a:buNone/>
                      </a:pPr>
                      <a:r>
                        <a:rPr lang="en-US" sz="1500" dirty="0">
                          <a:solidFill>
                            <a:srgbClr val="1A1F26"/>
                          </a:solidFill>
                          <a:latin typeface="JetBrains Mono" pitchFamily="34" charset="0"/>
                          <a:ea typeface="JetBrains Mono" pitchFamily="34" charset="-122"/>
                          <a:cs typeface="JetBrains Mono" pitchFamily="34" charset="-120"/>
                        </a:rPr>
                        <a:t>W2</a:t>
                      </a:r>
                      <a:endParaRPr lang="en-US" sz="150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subtractive</a:t>
                      </a:r>
                      <a:endParaRPr lang="en-US" sz="1350" dirty="0">
                        <a:latin typeface="IBM Plex Sans" charset="0"/>
                        <a:ea typeface="IBM Plex Sans" charset="0"/>
                        <a:cs typeface="IBM Plex Sans"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LDM4-RS-02</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1A1F26"/>
                          </a:solidFill>
                          <a:latin typeface="JetBrains Mono" pitchFamily="34" charset="0"/>
                          <a:ea typeface="JetBrains Mono" pitchFamily="34" charset="-122"/>
                          <a:cs typeface="JetBrains Mono" pitchFamily="34" charset="-120"/>
                        </a:rPr>
                        <a:t>Ru 8 / TaN 1.5 (ALD)</a:t>
                      </a:r>
                      <a:endParaRPr lang="en-US" sz="1125"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3.0 mm</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79181">
                <a:tc>
                  <a:txBody>
                    <a:bodyPr/>
                    <a:lstStyle/>
                    <a:p>
                      <a:pPr indent="0" marL="0">
                        <a:buNone/>
                      </a:pPr>
                      <a:r>
                        <a:rPr lang="en-US" sz="1500" dirty="0">
                          <a:solidFill>
                            <a:srgbClr val="1A1F26"/>
                          </a:solidFill>
                          <a:latin typeface="JetBrains Mono" pitchFamily="34" charset="0"/>
                          <a:ea typeface="JetBrains Mono" pitchFamily="34" charset="-122"/>
                          <a:cs typeface="JetBrains Mono" pitchFamily="34" charset="-120"/>
                        </a:rPr>
                        <a:t>W3</a:t>
                      </a:r>
                      <a:endParaRPr lang="en-US" sz="150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damascene</a:t>
                      </a:r>
                      <a:endParaRPr lang="en-US" sz="1350" dirty="0">
                        <a:latin typeface="IBM Plex Sans" charset="0"/>
                        <a:ea typeface="IBM Plex Sans" charset="0"/>
                        <a:cs typeface="IBM Plex Sans"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LDM4-CD-01</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1A1F26"/>
                          </a:solidFill>
                          <a:latin typeface="JetBrains Mono" pitchFamily="34" charset="0"/>
                          <a:ea typeface="JetBrains Mono" pitchFamily="34" charset="-122"/>
                          <a:cs typeface="JetBrains Mono" pitchFamily="34" charset="-120"/>
                        </a:rPr>
                        <a:t>Cu / Ta 2 / TaN 1.5 (PVD)</a:t>
                      </a:r>
                      <a:endParaRPr lang="en-US" sz="1125"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3.0 mm</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79181">
                <a:tc>
                  <a:txBody>
                    <a:bodyPr/>
                    <a:lstStyle/>
                    <a:p>
                      <a:pPr indent="0" marL="0">
                        <a:buNone/>
                      </a:pPr>
                      <a:r>
                        <a:rPr lang="en-US" sz="1500" dirty="0">
                          <a:solidFill>
                            <a:srgbClr val="1A1F26"/>
                          </a:solidFill>
                          <a:latin typeface="JetBrains Mono" pitchFamily="34" charset="0"/>
                          <a:ea typeface="JetBrains Mono" pitchFamily="34" charset="-122"/>
                          <a:cs typeface="JetBrains Mono" pitchFamily="34" charset="-120"/>
                        </a:rPr>
                        <a:t>W4</a:t>
                      </a:r>
                      <a:endParaRPr lang="en-US" sz="150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damascene</a:t>
                      </a:r>
                      <a:endParaRPr lang="en-US" sz="1350" dirty="0">
                        <a:latin typeface="IBM Plex Sans" charset="0"/>
                        <a:ea typeface="IBM Plex Sans" charset="0"/>
                        <a:cs typeface="IBM Plex Sans"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LDM4-CD-02</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1A1F26"/>
                          </a:solidFill>
                          <a:latin typeface="JetBrains Mono" pitchFamily="34" charset="0"/>
                          <a:ea typeface="JetBrains Mono" pitchFamily="34" charset="-122"/>
                          <a:cs typeface="JetBrains Mono" pitchFamily="34" charset="-120"/>
                        </a:rPr>
                        <a:t>Cu / Ta 2 / TaN 1.5 (PVD)</a:t>
                      </a:r>
                      <a:endParaRPr lang="en-US" sz="1125"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1A1F26"/>
                          </a:solidFill>
                          <a:latin typeface="JetBrains Mono" pitchFamily="34" charset="0"/>
                          <a:ea typeface="JetBrains Mono" pitchFamily="34" charset="-122"/>
                          <a:cs typeface="JetBrains Mono" pitchFamily="34" charset="-120"/>
                        </a:rPr>
                        <a:t>3.0 mm</a:t>
                      </a:r>
                      <a:endParaRPr lang="en-US" sz="1350" dirty="0">
                        <a:latin typeface="JetBrains Mono" charset="0"/>
                        <a:ea typeface="JetBrains Mono" charset="0"/>
                        <a:cs typeface="JetBrains Mono" charset="0"/>
                      </a:endParaRPr>
                    </a:p>
                  </a:txBody>
                  <a:tcPr marL="152705" marR="15270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5" name="Text 8"/>
          <p:cNvSpPr txBox="1"/>
          <p:nvPr/>
        </p:nvSpPr>
        <p:spPr>
          <a:xfrm>
            <a:off x="761695" y="6782105"/>
            <a:ext cx="10478110" cy="534010"/>
          </a:xfrm>
          <a:prstGeom prst="rect">
            <a:avLst/>
          </a:prstGeom>
          <a:noFill/>
          <a:ln/>
        </p:spPr>
        <p:txBody>
          <a:bodyPr wrap="square" lIns="0" tIns="0" rIns="0" bIns="0" rtlCol="0" anchor="ctr"/>
          <a:lstStyle/>
          <a:p>
            <a:pPr algn="l" indent="0" marL="0">
              <a:lnSpc>
                <a:spcPts val="2092"/>
              </a:lnSpc>
              <a:buNone/>
            </a:pPr>
            <a:r>
              <a:rPr lang="en-US" sz="1350" dirty="0">
                <a:solidFill>
                  <a:srgbClr val="2D3340"/>
                </a:solidFill>
                <a:latin typeface="IBM Plex Sans" pitchFamily="34" charset="0"/>
                <a:ea typeface="IBM Plex Sans" pitchFamily="34" charset="-122"/>
                <a:cs typeface="IBM Plex Sans" pitchFamily="34" charset="-120"/>
              </a:rPr>
              <a:t>모든 wafer는 동일 FEOL 베이스 + 동일 IMD (low-k k ≈ 2.7) 위에서 M4 metallization만 split에 따라 다르게 적층되었다. W1/W2는 동일 lot에서 인접 wafer, W3/W4도 동일. W1↔W3는 split 효과를, W1↔W2는 lot 간 변동을 보기 위한 매트릭스로 의도되었다.</a:t>
            </a:r>
            <a:endParaRPr lang="en-US" sz="1350" dirty="0"/>
          </a:p>
        </p:txBody>
      </p:sp>
      <p:sp>
        <p:nvSpPr>
          <p:cNvPr id="16" name="Text 9"/>
          <p:cNvSpPr txBox="1"/>
          <p:nvPr/>
        </p:nvSpPr>
        <p:spPr>
          <a:xfrm>
            <a:off x="12001500" y="2286000"/>
            <a:ext cx="5334610" cy="171907"/>
          </a:xfrm>
          <a:prstGeom prst="rect">
            <a:avLst/>
          </a:prstGeom>
          <a:noFill/>
          <a:ln/>
        </p:spPr>
        <p:txBody>
          <a:bodyPr wrap="none" lIns="0" tIns="0" rIns="0" bIns="0" rtlCol="0" anchor="ctr"/>
          <a:lstStyle/>
          <a:p>
            <a:pPr algn="l" indent="0" marL="0">
              <a:buNone/>
            </a:pPr>
            <a:r>
              <a:rPr lang="en-US" sz="1050" spc="189" kern="0" dirty="0">
                <a:solidFill>
                  <a:srgbClr val="A04A30"/>
                </a:solidFill>
                <a:latin typeface="IBM Plex Sans" pitchFamily="34" charset="0"/>
                <a:ea typeface="IBM Plex Sans" pitchFamily="34" charset="-122"/>
                <a:cs typeface="IBM Plex Sans" pitchFamily="34" charset="-120"/>
              </a:rPr>
              <a:t>SPLIT · A</a:t>
            </a:r>
            <a:endParaRPr lang="en-US" sz="1050" dirty="0"/>
          </a:p>
        </p:txBody>
      </p:sp>
      <p:sp>
        <p:nvSpPr>
          <p:cNvPr id="17" name="Text 10"/>
          <p:cNvSpPr txBox="1"/>
          <p:nvPr/>
        </p:nvSpPr>
        <p:spPr>
          <a:xfrm>
            <a:off x="12001500" y="2495398"/>
            <a:ext cx="5334610" cy="362102"/>
          </a:xfrm>
          <a:prstGeom prst="rect">
            <a:avLst/>
          </a:prstGeom>
          <a:noFill/>
          <a:ln/>
        </p:spPr>
        <p:txBody>
          <a:bodyPr wrap="none" lIns="0" tIns="0" rIns="0" bIns="0" rtlCol="0" anchor="ctr"/>
          <a:lstStyle/>
          <a:p>
            <a:pPr algn="l" indent="0" marL="0">
              <a:buNone/>
            </a:pPr>
            <a:r>
              <a:rPr lang="en-US" sz="2100" b="1" dirty="0">
                <a:solidFill>
                  <a:srgbClr val="1A1F26"/>
                </a:solidFill>
                <a:latin typeface="Manrope" pitchFamily="34" charset="0"/>
                <a:ea typeface="Manrope" pitchFamily="34" charset="-122"/>
                <a:cs typeface="Manrope" pitchFamily="34" charset="-120"/>
              </a:rPr>
              <a:t>Ru Subtractive</a:t>
            </a:r>
            <a:endParaRPr lang="en-US" sz="21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12001500" y="2857500"/>
          <a:ext cx="5334610" cy="1429207"/>
        </p:xfrm>
        <a:graphic>
          <a:graphicData uri="http://schemas.openxmlformats.org/drawingml/2006/table">
            <a:tbl>
              <a:tblPr/>
              <a:tblGrid>
                <a:gridCol w="1714500"/>
                <a:gridCol w="3619195"/>
              </a:tblGrid>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Barrier 방식</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TaN (ALD)</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Conductor</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Ru (PVD seed + plating-free)</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Patterning</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IBM Plex Sans" pitchFamily="34" charset="0"/>
                          <a:ea typeface="IBM Plex Sans" pitchFamily="34" charset="-122"/>
                          <a:cs typeface="IBM Plex Sans" pitchFamily="34" charset="-120"/>
                        </a:rPr>
                        <a:t>hard mask + etch-back</a:t>
                      </a:r>
                      <a:endParaRPr lang="en-US" sz="1275" dirty="0">
                        <a:latin typeface="IBM Plex Sans" charset="0"/>
                        <a:ea typeface="IBM Plex Sans" charset="0"/>
                        <a:cs typeface="IBM Plex Sans"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CMP 단계</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1단 (Ru 전용 슬러리)</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9" name="Text 11"/>
          <p:cNvSpPr txBox="1"/>
          <p:nvPr/>
        </p:nvSpPr>
        <p:spPr>
          <a:xfrm>
            <a:off x="12001500" y="4762195"/>
            <a:ext cx="5334610" cy="171907"/>
          </a:xfrm>
          <a:prstGeom prst="rect">
            <a:avLst/>
          </a:prstGeom>
          <a:noFill/>
          <a:ln/>
        </p:spPr>
        <p:txBody>
          <a:bodyPr wrap="none" lIns="0" tIns="0" rIns="0" bIns="0" rtlCol="0" anchor="ctr"/>
          <a:lstStyle/>
          <a:p>
            <a:pPr algn="l" indent="0" marL="0">
              <a:buNone/>
            </a:pPr>
            <a:r>
              <a:rPr lang="en-US" sz="1050" spc="189" kern="0" dirty="0">
                <a:solidFill>
                  <a:srgbClr val="2C5E7A"/>
                </a:solidFill>
                <a:latin typeface="IBM Plex Sans" pitchFamily="34" charset="0"/>
                <a:ea typeface="IBM Plex Sans" pitchFamily="34" charset="-122"/>
                <a:cs typeface="IBM Plex Sans" pitchFamily="34" charset="-120"/>
              </a:rPr>
              <a:t>SPLIT · B</a:t>
            </a:r>
            <a:endParaRPr lang="en-US" sz="1050" dirty="0"/>
          </a:p>
        </p:txBody>
      </p:sp>
      <p:sp>
        <p:nvSpPr>
          <p:cNvPr id="20" name="Text 12"/>
          <p:cNvSpPr txBox="1"/>
          <p:nvPr/>
        </p:nvSpPr>
        <p:spPr>
          <a:xfrm>
            <a:off x="12001500" y="4972507"/>
            <a:ext cx="5334610" cy="362102"/>
          </a:xfrm>
          <a:prstGeom prst="rect">
            <a:avLst/>
          </a:prstGeom>
          <a:noFill/>
          <a:ln/>
        </p:spPr>
        <p:txBody>
          <a:bodyPr wrap="none" lIns="0" tIns="0" rIns="0" bIns="0" rtlCol="0" anchor="ctr"/>
          <a:lstStyle/>
          <a:p>
            <a:pPr algn="l" indent="0" marL="0">
              <a:buNone/>
            </a:pPr>
            <a:r>
              <a:rPr lang="en-US" sz="2100" b="1" dirty="0">
                <a:solidFill>
                  <a:srgbClr val="1A1F26"/>
                </a:solidFill>
                <a:latin typeface="Manrope" pitchFamily="34" charset="0"/>
                <a:ea typeface="Manrope" pitchFamily="34" charset="-122"/>
                <a:cs typeface="Manrope" pitchFamily="34" charset="-120"/>
              </a:rPr>
              <a:t>Cu Damascene</a:t>
            </a:r>
            <a:endParaRPr lang="en-US" sz="210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12001500" y="5333695"/>
          <a:ext cx="5334610" cy="1429207"/>
        </p:xfrm>
        <a:graphic>
          <a:graphicData uri="http://schemas.openxmlformats.org/drawingml/2006/table">
            <a:tbl>
              <a:tblPr/>
              <a:tblGrid>
                <a:gridCol w="1714500"/>
                <a:gridCol w="3619195"/>
              </a:tblGrid>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Barrier 방식</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Ta 2 nm + TaN 1.5 nm (PVD)</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Conductor</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Cu (PVD seed + ECD)</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Patterning</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IBM Plex Sans" pitchFamily="34" charset="0"/>
                          <a:ea typeface="IBM Plex Sans" pitchFamily="34" charset="-122"/>
                          <a:cs typeface="IBM Plex Sans" pitchFamily="34" charset="-120"/>
                        </a:rPr>
                        <a:t>single-damascene trench</a:t>
                      </a:r>
                      <a:endParaRPr lang="en-US" sz="1275" dirty="0">
                        <a:latin typeface="IBM Plex Sans" charset="0"/>
                        <a:ea typeface="IBM Plex Sans" charset="0"/>
                        <a:cs typeface="IBM Plex Sans"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57302">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CMP 단계</a:t>
                      </a:r>
                      <a:endParaRPr lang="en-US" sz="1275" dirty="0">
                        <a:latin typeface="IBM Plex Sans" charset="0"/>
                        <a:ea typeface="IBM Plex Sans" charset="0"/>
                        <a:cs typeface="IBM Plex Sans" charset="0"/>
                      </a:endParaRPr>
                    </a:p>
                  </a:txBody>
                  <a:tcPr marL="0" marR="0" marT="66751" marB="66751"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2단 (TaN slurry → Cu slurry)</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2" name="Text 13"/>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6782898" cy="4781398"/>
          </a:xfrm>
          <a:prstGeom prst="rect">
            <a:avLst/>
          </a:prstGeom>
          <a:solidFill>
            <a:srgbClr val="FAF6EC"/>
          </a:solidFill>
          <a:ln w="12700">
            <a:solidFill>
              <a:srgbClr val="B5A47A"/>
            </a:solidFill>
            <a:prstDash val="solid"/>
          </a:ln>
        </p:spPr>
      </p:sp>
      <p:sp>
        <p:nvSpPr>
          <p:cNvPr id="6" name="Shape 1"/>
          <p:cNvSpPr/>
          <p:nvPr/>
        </p:nvSpPr>
        <p:spPr>
          <a:xfrm>
            <a:off x="761695" y="7125005"/>
            <a:ext cx="8210398" cy="2115007"/>
          </a:xfrm>
          <a:prstGeom prst="rect">
            <a:avLst/>
          </a:prstGeom>
          <a:solidFill>
            <a:srgbClr val="FAF6EC"/>
          </a:solidFill>
          <a:ln w="12700">
            <a:solidFill>
              <a:srgbClr val="B5A47A"/>
            </a:solidFill>
            <a:prstDash val="solid"/>
          </a:ln>
        </p:spPr>
      </p:sp>
      <p:sp>
        <p:nvSpPr>
          <p:cNvPr id="7" name="Shape 2"/>
          <p:cNvSpPr/>
          <p:nvPr/>
        </p:nvSpPr>
        <p:spPr>
          <a:xfrm>
            <a:off x="9334195" y="7125005"/>
            <a:ext cx="8210398" cy="2115007"/>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03 · METRIC DEFINITION</a:t>
            </a:r>
            <a:endParaRPr lang="en-US" sz="1200" dirty="0"/>
          </a:p>
        </p:txBody>
      </p:sp>
      <p:sp>
        <p:nvSpPr>
          <p:cNvPr id="10" name="Text 4"/>
          <p:cNvSpPr txBox="1"/>
          <p:nvPr/>
        </p:nvSpPr>
        <p:spPr>
          <a:xfrm>
            <a:off x="761695" y="1296619"/>
            <a:ext cx="14287500"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측정 항목 정의 및 측정 사양</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6764610" cy="3391510"/>
        </p:xfrm>
        <a:graphic>
          <a:graphicData uri="http://schemas.openxmlformats.org/drawingml/2006/table">
            <a:tbl>
              <a:tblPr/>
              <a:tblGrid>
                <a:gridCol w="2312518"/>
                <a:gridCol w="2312518"/>
                <a:gridCol w="3083357"/>
                <a:gridCol w="4046220"/>
                <a:gridCol w="2697480"/>
                <a:gridCol w="2312518"/>
              </a:tblGrid>
              <a:tr h="678302">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Metric</a:t>
                      </a:r>
                      <a:endParaRPr lang="en-US" sz="1350" dirty="0">
                        <a:latin typeface="IBM Plex Sans" charset="0"/>
                        <a:ea typeface="IBM Plex Sans" charset="0"/>
                        <a:cs typeface="IBM Plex Sans" charset="0"/>
                      </a:endParaRPr>
                    </a:p>
                  </a:txBody>
                  <a:tcPr marL="190195" marR="19019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Target CD</a:t>
                      </a:r>
                      <a:endParaRPr lang="en-US" sz="1350" dirty="0">
                        <a:latin typeface="IBM Plex Sans" charset="0"/>
                        <a:ea typeface="IBM Plex Sans" charset="0"/>
                        <a:cs typeface="IBM Plex Sans" charset="0"/>
                      </a:endParaRPr>
                    </a:p>
                  </a:txBody>
                  <a:tcPr marL="190195" marR="19019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Pattern role</a:t>
                      </a:r>
                      <a:endParaRPr lang="en-US" sz="1350" dirty="0">
                        <a:latin typeface="IBM Plex Sans" charset="0"/>
                        <a:ea typeface="IBM Plex Sans" charset="0"/>
                        <a:cs typeface="IBM Plex Sans" charset="0"/>
                      </a:endParaRPr>
                    </a:p>
                  </a:txBody>
                  <a:tcPr marL="190195" marR="19019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Tool &amp; condition</a:t>
                      </a:r>
                      <a:endParaRPr lang="en-US" sz="1350" dirty="0">
                        <a:latin typeface="IBM Plex Sans" charset="0"/>
                        <a:ea typeface="IBM Plex Sans" charset="0"/>
                        <a:cs typeface="IBM Plex Sans" charset="0"/>
                      </a:endParaRPr>
                    </a:p>
                  </a:txBody>
                  <a:tcPr marL="190195" marR="19019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Spec window</a:t>
                      </a:r>
                      <a:endParaRPr lang="en-US" sz="1350" dirty="0">
                        <a:latin typeface="IBM Plex Sans" charset="0"/>
                        <a:ea typeface="IBM Plex Sans" charset="0"/>
                        <a:cs typeface="IBM Plex Sans" charset="0"/>
                      </a:endParaRPr>
                    </a:p>
                  </a:txBody>
                  <a:tcPr marL="190195" marR="19019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Sampling</a:t>
                      </a:r>
                      <a:endParaRPr lang="en-US" sz="1350" dirty="0">
                        <a:latin typeface="IBM Plex Sans" charset="0"/>
                        <a:ea typeface="IBM Plex Sans" charset="0"/>
                        <a:cs typeface="IBM Plex Sans" charset="0"/>
                      </a:endParaRPr>
                    </a:p>
                  </a:txBody>
                  <a:tcPr marL="190195" marR="190195"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78302">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AASI</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25.4 nm</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IBM Plex Sans" pitchFamily="34" charset="0"/>
                          <a:ea typeface="IBM Plex Sans" pitchFamily="34" charset="-122"/>
                          <a:cs typeface="IBM Plex Sans" pitchFamily="34" charset="-120"/>
                        </a:rPr>
                        <a:t>semi-isolated trench top CD</a:t>
                      </a:r>
                      <a:endParaRPr lang="en-US" sz="1350" dirty="0">
                        <a:latin typeface="IBM Plex Sans" charset="0"/>
                        <a:ea typeface="IBM Plex Sans" charset="0"/>
                        <a:cs typeface="IBM Plex Sans"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2D3340"/>
                          </a:solidFill>
                          <a:latin typeface="JetBrains Mono" pitchFamily="34" charset="0"/>
                          <a:ea typeface="JetBrains Mono" pitchFamily="34" charset="-122"/>
                          <a:cs typeface="JetBrains Mono" pitchFamily="34" charset="-120"/>
                        </a:rPr>
                        <a:t>CD-SEM 9380, 800 V, 5 nm pixel</a:t>
                      </a:r>
                      <a:endParaRPr lang="en-US" sz="1125"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±5 % (1.27 nm)</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25 die × 4 site</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78302">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ASEI</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17.8 nm</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IBM Plex Sans" pitchFamily="34" charset="0"/>
                          <a:ea typeface="IBM Plex Sans" pitchFamily="34" charset="-122"/>
                          <a:cs typeface="IBM Plex Sans" pitchFamily="34" charset="-120"/>
                        </a:rPr>
                        <a:t>small isolated line CD</a:t>
                      </a:r>
                      <a:endParaRPr lang="en-US" sz="1350" dirty="0">
                        <a:latin typeface="IBM Plex Sans" charset="0"/>
                        <a:ea typeface="IBM Plex Sans" charset="0"/>
                        <a:cs typeface="IBM Plex Sans"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2D3340"/>
                          </a:solidFill>
                          <a:latin typeface="JetBrains Mono" pitchFamily="34" charset="0"/>
                          <a:ea typeface="JetBrains Mono" pitchFamily="34" charset="-122"/>
                          <a:cs typeface="JetBrains Mono" pitchFamily="34" charset="-120"/>
                        </a:rPr>
                        <a:t>CD-SEM 9380, 800 V, 4 nm pixel</a:t>
                      </a:r>
                      <a:endParaRPr lang="en-US" sz="1125"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±7 % (1.25 nm)</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25 die × 4 site</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78302">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AMI</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9.3 nm</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IBM Plex Sans" pitchFamily="34" charset="0"/>
                          <a:ea typeface="IBM Plex Sans" pitchFamily="34" charset="-122"/>
                          <a:cs typeface="IBM Plex Sans" pitchFamily="34" charset="-120"/>
                        </a:rPr>
                        <a:t>isolated metal line CD</a:t>
                      </a:r>
                      <a:endParaRPr lang="en-US" sz="1350" dirty="0">
                        <a:latin typeface="IBM Plex Sans" charset="0"/>
                        <a:ea typeface="IBM Plex Sans" charset="0"/>
                        <a:cs typeface="IBM Plex Sans"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2D3340"/>
                          </a:solidFill>
                          <a:latin typeface="JetBrains Mono" pitchFamily="34" charset="0"/>
                          <a:ea typeface="JetBrains Mono" pitchFamily="34" charset="-122"/>
                          <a:cs typeface="JetBrains Mono" pitchFamily="34" charset="-120"/>
                        </a:rPr>
                        <a:t>CD-SEM 9380, 500 V, 3 nm pixel</a:t>
                      </a:r>
                      <a:endParaRPr lang="en-US" sz="1125"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±8 % (0.74 nm)</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25 die × 4 site</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78302">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ACI</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9.2 nm</a:t>
                      </a:r>
                      <a:endParaRPr lang="en-US" sz="16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IBM Plex Sans" pitchFamily="34" charset="0"/>
                          <a:ea typeface="IBM Plex Sans" pitchFamily="34" charset="-122"/>
                          <a:cs typeface="IBM Plex Sans" pitchFamily="34" charset="-120"/>
                        </a:rPr>
                        <a:t>contact / via top CD</a:t>
                      </a:r>
                      <a:endParaRPr lang="en-US" sz="1350" dirty="0">
                        <a:latin typeface="IBM Plex Sans" charset="0"/>
                        <a:ea typeface="IBM Plex Sans" charset="0"/>
                        <a:cs typeface="IBM Plex Sans"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2D3340"/>
                          </a:solidFill>
                          <a:latin typeface="JetBrains Mono" pitchFamily="34" charset="0"/>
                          <a:ea typeface="JetBrains Mono" pitchFamily="34" charset="-122"/>
                          <a:cs typeface="JetBrains Mono" pitchFamily="34" charset="-120"/>
                        </a:rPr>
                        <a:t>CD-SEM 9380, 500 V, 3 nm pixel</a:t>
                      </a:r>
                      <a:endParaRPr lang="en-US" sz="1125"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±8 % (0.74 nm)</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dirty="0">
                          <a:solidFill>
                            <a:srgbClr val="2D3340"/>
                          </a:solidFill>
                          <a:latin typeface="JetBrains Mono" pitchFamily="34" charset="0"/>
                          <a:ea typeface="JetBrains Mono" pitchFamily="34" charset="-122"/>
                          <a:cs typeface="JetBrains Mono" pitchFamily="34" charset="-120"/>
                        </a:rPr>
                        <a:t>25 die × 4 site</a:t>
                      </a:r>
                      <a:endParaRPr lang="en-US" sz="1350" dirty="0">
                        <a:latin typeface="JetBrains Mono" charset="0"/>
                        <a:ea typeface="JetBrains Mono" charset="0"/>
                        <a:cs typeface="JetBrains Mono" charset="0"/>
                      </a:endParaRPr>
                    </a:p>
                  </a:txBody>
                  <a:tcPr marL="190195" marR="19019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952805" y="7295998"/>
            <a:ext cx="7810805"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IN-WAFER UNIFORMITY</a:t>
            </a:r>
            <a:endParaRPr lang="en-US" sz="1050" dirty="0"/>
          </a:p>
        </p:txBody>
      </p:sp>
      <p:sp>
        <p:nvSpPr>
          <p:cNvPr id="13" name="Text 6"/>
          <p:cNvSpPr txBox="1"/>
          <p:nvPr/>
        </p:nvSpPr>
        <p:spPr>
          <a:xfrm>
            <a:off x="952805" y="7505395"/>
            <a:ext cx="7810805" cy="314554"/>
          </a:xfrm>
          <a:prstGeom prst="rect">
            <a:avLst/>
          </a:prstGeom>
          <a:noFill/>
          <a:ln/>
        </p:spPr>
        <p:txBody>
          <a:bodyPr wrap="none" lIns="0" tIns="0" rIns="0" bIns="0" rtlCol="0" anchor="ctr"/>
          <a:lstStyle/>
          <a:p>
            <a:pPr algn="l" indent="0" marL="0">
              <a:buNone/>
            </a:pPr>
            <a:r>
              <a:rPr lang="en-US" sz="1650" b="1" dirty="0">
                <a:solidFill>
                  <a:srgbClr val="1A1F26"/>
                </a:solidFill>
                <a:latin typeface="Manrope" pitchFamily="34" charset="0"/>
                <a:ea typeface="Manrope" pitchFamily="34" charset="-122"/>
                <a:cs typeface="Manrope" pitchFamily="34" charset="-120"/>
              </a:rPr>
              <a:t>Wafer 내 69pt 측정</a:t>
            </a:r>
            <a:endParaRPr lang="en-US" sz="1650" dirty="0"/>
          </a:p>
        </p:txBody>
      </p:sp>
      <p:sp>
        <p:nvSpPr>
          <p:cNvPr id="14" name="Text 7"/>
          <p:cNvSpPr txBox="1"/>
          <p:nvPr/>
        </p:nvSpPr>
        <p:spPr>
          <a:xfrm>
            <a:off x="952805" y="7830007"/>
            <a:ext cx="7810805" cy="534010"/>
          </a:xfrm>
          <a:prstGeom prst="rect">
            <a:avLst/>
          </a:prstGeom>
          <a:noFill/>
          <a:ln/>
        </p:spPr>
        <p:txBody>
          <a:bodyPr wrap="square" lIns="0" tIns="0" rIns="0" bIns="0" rtlCol="0" anchor="ctr"/>
          <a:lstStyle/>
          <a:p>
            <a:pPr algn="l" indent="0" marL="0">
              <a:lnSpc>
                <a:spcPts val="2092"/>
              </a:lnSpc>
              <a:buNone/>
            </a:pPr>
            <a:r>
              <a:rPr lang="en-US" sz="1350" dirty="0">
                <a:solidFill>
                  <a:srgbClr val="2D3340"/>
                </a:solidFill>
                <a:latin typeface="IBM Plex Sans" pitchFamily="34" charset="0"/>
                <a:ea typeface="IBM Plex Sans" pitchFamily="34" charset="-122"/>
                <a:cs typeface="IBM Plex Sans" pitchFamily="34" charset="-120"/>
              </a:rPr>
              <a:t>Wafer 1매당 69 site (9×9 격자 모서리 12 site 제외). 25 die 블록 × 4 site 보조 표본. 모든 metric에 동일 sampling 좌표 적용하여 wafer 간 비교 가능성 확보. 결과는 슬라이드 11에 정리한다.</a:t>
            </a:r>
            <a:endParaRPr lang="en-US" sz="1350" dirty="0"/>
          </a:p>
        </p:txBody>
      </p:sp>
      <p:sp>
        <p:nvSpPr>
          <p:cNvPr id="15" name="Text 8"/>
          <p:cNvSpPr txBox="1"/>
          <p:nvPr/>
        </p:nvSpPr>
        <p:spPr>
          <a:xfrm>
            <a:off x="9525305" y="7295998"/>
            <a:ext cx="7810805"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DELTA CONVENTION</a:t>
            </a:r>
            <a:endParaRPr lang="en-US" sz="1050" dirty="0"/>
          </a:p>
        </p:txBody>
      </p:sp>
      <p:sp>
        <p:nvSpPr>
          <p:cNvPr id="16" name="Text 9"/>
          <p:cNvSpPr txBox="1"/>
          <p:nvPr/>
        </p:nvSpPr>
        <p:spPr>
          <a:xfrm>
            <a:off x="9525305" y="7505395"/>
            <a:ext cx="7810805" cy="314554"/>
          </a:xfrm>
          <a:prstGeom prst="rect">
            <a:avLst/>
          </a:prstGeom>
          <a:noFill/>
          <a:ln/>
        </p:spPr>
        <p:txBody>
          <a:bodyPr wrap="none" lIns="0" tIns="0" rIns="0" bIns="0" rtlCol="0" anchor="ctr"/>
          <a:lstStyle/>
          <a:p>
            <a:pPr algn="l" indent="0" marL="0">
              <a:buNone/>
            </a:pPr>
            <a:r>
              <a:rPr lang="en-US" sz="1650" b="1" dirty="0">
                <a:solidFill>
                  <a:srgbClr val="1A1F26"/>
                </a:solidFill>
                <a:latin typeface="Manrope" pitchFamily="34" charset="0"/>
                <a:ea typeface="Manrope" pitchFamily="34" charset="-122"/>
                <a:cs typeface="Manrope" pitchFamily="34" charset="-120"/>
              </a:rPr>
              <a:t>Delta 표기 약속</a:t>
            </a:r>
            <a:endParaRPr lang="en-US" sz="1650" dirty="0"/>
          </a:p>
        </p:txBody>
      </p:sp>
      <p:sp>
        <p:nvSpPr>
          <p:cNvPr id="17" name="Text 10"/>
          <p:cNvSpPr txBox="1"/>
          <p:nvPr/>
        </p:nvSpPr>
        <p:spPr>
          <a:xfrm>
            <a:off x="9525305" y="7830007"/>
            <a:ext cx="7810805" cy="534010"/>
          </a:xfrm>
          <a:prstGeom prst="rect">
            <a:avLst/>
          </a:prstGeom>
          <a:noFill/>
          <a:ln/>
        </p:spPr>
        <p:txBody>
          <a:bodyPr wrap="square" lIns="0" tIns="0" rIns="0" bIns="0" rtlCol="0" anchor="ctr"/>
          <a:lstStyle/>
          <a:p>
            <a:pPr algn="l" indent="0" marL="0">
              <a:lnSpc>
                <a:spcPts val="2092"/>
              </a:lnSpc>
              <a:buNone/>
            </a:pPr>
            <a:r>
              <a:rPr lang="en-US" sz="1350" dirty="0">
                <a:solidFill>
                  <a:srgbClr val="2D3340"/>
                </a:solidFill>
                <a:latin typeface="IBM Plex Sans" pitchFamily="34" charset="0"/>
                <a:ea typeface="IBM Plex Sans" pitchFamily="34" charset="-122"/>
                <a:cs typeface="IBM Plex Sans" pitchFamily="34" charset="-120"/>
              </a:rPr>
              <a:t>Delta = wafer average − target CD. 양(+)은 target 대비 큰 CD(라인 폭 넓음), 음(−)은 target 대비 작은 CD(폭 좁음)를 의미한다. 보고서 전반에서 같은 부호 약속을 유지하므로 비교 시 혼동하지 않는다.</a:t>
            </a:r>
            <a:endParaRPr lang="en-US" sz="1350" dirty="0"/>
          </a:p>
        </p:txBody>
      </p:sp>
      <p:sp>
        <p:nvSpPr>
          <p:cNvPr id="18" name="Text 11"/>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7239305"/>
            <a:ext cx="9924898" cy="2076602"/>
          </a:xfrm>
          <a:prstGeom prst="rect">
            <a:avLst/>
          </a:prstGeom>
          <a:solidFill>
            <a:srgbClr val="FAF6EC"/>
          </a:solidFill>
          <a:ln w="12700">
            <a:solidFill>
              <a:srgbClr val="B5A47A"/>
            </a:solidFill>
            <a:prstDash val="solid"/>
          </a:ln>
        </p:spPr>
      </p:sp>
      <p:pic>
        <p:nvPicPr>
          <p:cNvPr id="6"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7" name="Shape 1"/>
          <p:cNvSpPr/>
          <p:nvPr/>
        </p:nvSpPr>
        <p:spPr>
          <a:xfrm>
            <a:off x="11144707" y="2076602"/>
            <a:ext cx="6381598" cy="3600907"/>
          </a:xfrm>
          <a:prstGeom prst="rect">
            <a:avLst/>
          </a:prstGeom>
          <a:solidFill>
            <a:srgbClr val="1C1C1C"/>
          </a:solidFill>
          <a:ln w="12700">
            <a:solidFill>
              <a:srgbClr val="FFFFFF">
                <a:alpha val="0"/>
              </a:srgbClr>
            </a:solidFill>
            <a:prstDash val="solid"/>
          </a:ln>
        </p:spPr>
      </p:sp>
      <p:pic>
        <p:nvPicPr>
          <p:cNvPr id="8" name="Image 3" descr="gen-dedup-6d6fe6c6742b595f198530661773419e.jpg">    </p:cNvPr>
          <p:cNvPicPr>
            <a:picLocks noChangeAspect="1"/>
          </p:cNvPicPr>
          <p:nvPr/>
        </p:nvPicPr>
        <p:blipFill>
          <a:blip r:embed="rId4"/>
          <a:stretch>
            <a:fillRect/>
          </a:stretch>
        </p:blipFill>
        <p:spPr>
          <a:xfrm>
            <a:off x="11144707" y="2076602"/>
            <a:ext cx="6381598" cy="3600907"/>
          </a:xfrm>
          <a:prstGeom prst="rect">
            <a:avLst/>
          </a:prstGeom>
        </p:spPr>
      </p:pic>
      <p:sp>
        <p:nvSpPr>
          <p:cNvPr id="9" name="Shape 2"/>
          <p:cNvSpPr/>
          <p:nvPr/>
        </p:nvSpPr>
        <p:spPr>
          <a:xfrm>
            <a:off x="11144707" y="6286500"/>
            <a:ext cx="6381598" cy="3010205"/>
          </a:xfrm>
          <a:prstGeom prst="rect">
            <a:avLst/>
          </a:prstGeom>
          <a:solidFill>
            <a:srgbClr val="1C1C1C"/>
          </a:solidFill>
          <a:ln w="12700">
            <a:solidFill>
              <a:srgbClr val="FFFFFF">
                <a:alpha val="0"/>
              </a:srgbClr>
            </a:solidFill>
            <a:prstDash val="solid"/>
          </a:ln>
        </p:spPr>
      </p:sp>
      <p:pic>
        <p:nvPicPr>
          <p:cNvPr id="10" name="Image 4" descr="gen-dedup-5ce8c01bb30df76adf33c6030fdf2ff9.jpg">    </p:cNvPr>
          <p:cNvPicPr>
            <a:picLocks noChangeAspect="1"/>
          </p:cNvPicPr>
          <p:nvPr/>
        </p:nvPicPr>
        <p:blipFill>
          <a:blip r:embed="rId5"/>
          <a:stretch>
            <a:fillRect/>
          </a:stretch>
        </p:blipFill>
        <p:spPr>
          <a:xfrm>
            <a:off x="11144707" y="6286500"/>
            <a:ext cx="6381598" cy="3010205"/>
          </a:xfrm>
          <a:prstGeom prst="rect">
            <a:avLst/>
          </a:prstGeom>
        </p:spPr>
      </p:pic>
      <p:sp>
        <p:nvSpPr>
          <p:cNvPr id="11"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04 · CROSS-SECTION OBSERVATION</a:t>
            </a:r>
            <a:endParaRPr lang="en-US" sz="1200" dirty="0"/>
          </a:p>
        </p:txBody>
      </p:sp>
      <p:sp>
        <p:nvSpPr>
          <p:cNvPr id="12" name="Text 4"/>
          <p:cNvSpPr txBox="1"/>
          <p:nvPr/>
        </p:nvSpPr>
        <p:spPr>
          <a:xfrm>
            <a:off x="761695" y="1296619"/>
            <a:ext cx="15240305"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Ru Subtractive — M4 단면 SEM/TEM 관찰 </a:t>
            </a:r>
            <a:pPr algn="l" indent="0" marL="0">
              <a:buNone/>
            </a:pPr>
            <a:r>
              <a:rPr lang="en-US" sz="1650" b="1" dirty="0">
                <a:solidFill>
                  <a:srgbClr val="A04A30"/>
                </a:solidFill>
                <a:latin typeface="Manrope" pitchFamily="34" charset="0"/>
                <a:ea typeface="Manrope" pitchFamily="34" charset="-122"/>
                <a:cs typeface="Manrope" pitchFamily="34" charset="-120"/>
              </a:rPr>
              <a:t>SPLIT A · W1</a:t>
            </a:r>
            <a:endParaRPr lang="en-US" sz="3600" dirty="0"/>
          </a:p>
        </p:txBody>
      </p:sp>
      <p:sp>
        <p:nvSpPr>
          <p:cNvPr id="13" name="Text 5"/>
          <p:cNvSpPr txBox="1"/>
          <p:nvPr/>
        </p:nvSpPr>
        <p:spPr>
          <a:xfrm>
            <a:off x="761695" y="2076602"/>
            <a:ext cx="9906610" cy="171907"/>
          </a:xfrm>
          <a:prstGeom prst="rect">
            <a:avLst/>
          </a:prstGeom>
          <a:noFill/>
          <a:ln/>
        </p:spPr>
        <p:txBody>
          <a:bodyPr wrap="none" lIns="0" tIns="0" rIns="0" bIns="0" rtlCol="0" anchor="ctr"/>
          <a:lstStyle/>
          <a:p>
            <a:pPr algn="l" indent="0" marL="0">
              <a:buNone/>
            </a:pPr>
            <a:r>
              <a:rPr lang="en-US" sz="1050" spc="189" kern="0" dirty="0">
                <a:solidFill>
                  <a:srgbClr val="A04A30"/>
                </a:solidFill>
                <a:latin typeface="IBM Plex Sans" pitchFamily="34" charset="0"/>
                <a:ea typeface="IBM Plex Sans" pitchFamily="34" charset="-122"/>
                <a:cs typeface="IBM Plex Sans" pitchFamily="34" charset="-120"/>
              </a:rPr>
              <a:t>OBSERVATIONS · LOT LDM4-RS-01</a:t>
            </a:r>
            <a:endParaRPr lang="en-US" sz="1050" dirty="0"/>
          </a:p>
        </p:txBody>
      </p:sp>
      <p:sp>
        <p:nvSpPr>
          <p:cNvPr id="14" name="Text 6"/>
          <p:cNvSpPr txBox="1"/>
          <p:nvPr/>
        </p:nvSpPr>
        <p:spPr>
          <a:xfrm>
            <a:off x="761695" y="2305202"/>
            <a:ext cx="9906610" cy="419710"/>
          </a:xfrm>
          <a:prstGeom prst="rect">
            <a:avLst/>
          </a:prstGeom>
          <a:noFill/>
          <a:ln/>
        </p:spPr>
        <p:txBody>
          <a:bodyPr wrap="none" lIns="0" tIns="0" rIns="0" bIns="0" rtlCol="0" anchor="ctr"/>
          <a:lstStyle/>
          <a:p>
            <a:pPr algn="l" indent="0" marL="0">
              <a:buNone/>
            </a:pPr>
            <a:r>
              <a:rPr lang="en-US" sz="2250" b="1" dirty="0">
                <a:solidFill>
                  <a:srgbClr val="1A1F26"/>
                </a:solidFill>
                <a:latin typeface="Manrope" pitchFamily="34" charset="0"/>
                <a:ea typeface="Manrope" pitchFamily="34" charset="-122"/>
                <a:cs typeface="Manrope" pitchFamily="34" charset="-120"/>
              </a:rPr>
              <a:t>Ru line 형상 및 sidewall 평가</a:t>
            </a:r>
            <a:endParaRPr lang="en-US" sz="2250" dirty="0"/>
          </a:p>
        </p:txBody>
      </p:sp>
      <p:sp>
        <p:nvSpPr>
          <p:cNvPr id="15" name="Text 7"/>
          <p:cNvSpPr txBox="1"/>
          <p:nvPr/>
        </p:nvSpPr>
        <p:spPr>
          <a:xfrm>
            <a:off x="761695" y="2838298"/>
            <a:ext cx="9906610" cy="914400"/>
          </a:xfrm>
          <a:prstGeom prst="rect">
            <a:avLst/>
          </a:prstGeom>
          <a:noFill/>
          <a:ln/>
        </p:spPr>
        <p:txBody>
          <a:bodyPr wrap="square" lIns="0" tIns="0" rIns="0" bIns="0" rtlCol="0" anchor="ctr"/>
          <a:lstStyle/>
          <a:p>
            <a:pPr algn="l" indent="0" marL="0">
              <a:lnSpc>
                <a:spcPts val="2400"/>
              </a:lnSpc>
              <a:buNone/>
            </a:pPr>
            <a:r>
              <a:rPr lang="en-US" sz="1500" dirty="0">
                <a:solidFill>
                  <a:srgbClr val="2D3340"/>
                </a:solidFill>
                <a:latin typeface="IBM Plex Sans" pitchFamily="34" charset="0"/>
                <a:ea typeface="IBM Plex Sans" pitchFamily="34" charset="-122"/>
                <a:cs typeface="IBM Plex Sans" pitchFamily="34" charset="-120"/>
              </a:rPr>
              <a:t>(1) Ru 라인은 hard mask 잔사에 의해 상부 모서리 보호가 유지되고 있으나, etch-back 직후 CMP 1단 잔여 슬러리에 의한 미세 undercut이 주기적으로 관찰된다. (2) TaN barrier는 conformal하게 적층되었으며 line 하부에서 두께 1.5 ± 0.2 nm 유지. (3) 인접 line 간 IMD recess는 평균 4.1 nm로 Cu damascene 대비 약 0.6 nm 깊은 수준.</a:t>
            </a:r>
            <a:endParaRPr lang="en-US" sz="1500" dirty="0"/>
          </a:p>
        </p:txBody>
      </p:sp>
      <p:sp>
        <p:nvSpPr>
          <p:cNvPr id="16" name="Text 8"/>
          <p:cNvSpPr txBox="1"/>
          <p:nvPr/>
        </p:nvSpPr>
        <p:spPr>
          <a:xfrm>
            <a:off x="761695" y="4552798"/>
            <a:ext cx="9906610" cy="171907"/>
          </a:xfrm>
          <a:prstGeom prst="rect">
            <a:avLst/>
          </a:prstGeom>
          <a:noFill/>
          <a:ln/>
        </p:spPr>
        <p:txBody>
          <a:bodyPr wrap="none" lIns="0" tIns="0" rIns="0" bIns="0" rtlCol="0" anchor="ctr"/>
          <a:lstStyle/>
          <a:p>
            <a:pPr algn="l" indent="0" marL="0">
              <a:buNone/>
            </a:pPr>
            <a:r>
              <a:rPr lang="en-US" sz="1050" spc="189" kern="0" dirty="0">
                <a:solidFill>
                  <a:srgbClr val="A04A30"/>
                </a:solidFill>
                <a:latin typeface="IBM Plex Sans" pitchFamily="34" charset="0"/>
                <a:ea typeface="IBM Plex Sans" pitchFamily="34" charset="-122"/>
                <a:cs typeface="IBM Plex Sans" pitchFamily="34" charset="-120"/>
              </a:rPr>
              <a:t>FIELD NOTE</a:t>
            </a:r>
            <a:endParaRPr lang="en-US" sz="1050" dirty="0"/>
          </a:p>
        </p:txBody>
      </p:sp>
      <p:sp>
        <p:nvSpPr>
          <p:cNvPr id="17" name="Text 9"/>
          <p:cNvSpPr txBox="1"/>
          <p:nvPr/>
        </p:nvSpPr>
        <p:spPr>
          <a:xfrm>
            <a:off x="761695" y="4876495"/>
            <a:ext cx="9906610" cy="848563"/>
          </a:xfrm>
          <a:prstGeom prst="rect">
            <a:avLst/>
          </a:prstGeom>
          <a:noFill/>
          <a:ln/>
        </p:spPr>
        <p:txBody>
          <a:bodyPr wrap="square" lIns="0" tIns="0" rIns="0" bIns="0" rtlCol="0" anchor="ctr"/>
          <a:lstStyle/>
          <a:p>
            <a:pPr algn="l" indent="0" marL="0">
              <a:lnSpc>
                <a:spcPts val="2209"/>
              </a:lnSpc>
              <a:buNone/>
            </a:pPr>
            <a:r>
              <a:rPr lang="en-US" sz="1425" dirty="0">
                <a:solidFill>
                  <a:srgbClr val="2D3340"/>
                </a:solidFill>
                <a:latin typeface="IBM Plex Sans" pitchFamily="34" charset="0"/>
                <a:ea typeface="IBM Plex Sans" pitchFamily="34" charset="-122"/>
                <a:cs typeface="IBM Plex Sans" pitchFamily="34" charset="-120"/>
              </a:rPr>
              <a:t>line 폭 17 nm 급 ASEI 패턴에서 Ru 측벽에 얇은 oxide 재성장층 (~0.8 nm) 관찰, 대기 노출 시간과 직접 상관. 동일 wafer라도 die 위치별로 두께 편차 존재 — 추후 in-wafer uniformity와 함께 후속 분석 예정. Hard mask 잔사로 인한 top-CD 측정 편차는 AASI metric 결과(슬라이드 06)에 반영되어 있다.</a:t>
            </a:r>
            <a:endParaRPr lang="en-US" sz="1425" dirty="0"/>
          </a:p>
        </p:txBody>
      </p:sp>
      <p:sp>
        <p:nvSpPr>
          <p:cNvPr id="18" name="Text 10"/>
          <p:cNvSpPr txBox="1"/>
          <p:nvPr/>
        </p:nvSpPr>
        <p:spPr>
          <a:xfrm>
            <a:off x="952805" y="7410298"/>
            <a:ext cx="9525305"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SEM/TEM VIEW SUMMARY · LDM4-RS-01</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52805" y="7791602"/>
          <a:ext cx="9525305" cy="1286561"/>
        </p:xfrm>
        <a:graphic>
          <a:graphicData uri="http://schemas.openxmlformats.org/drawingml/2006/table">
            <a:tbl>
              <a:tblPr/>
              <a:tblGrid>
                <a:gridCol w="2667305"/>
                <a:gridCol w="2260397"/>
                <a:gridCol w="2895905"/>
                <a:gridCol w="1701698"/>
              </a:tblGrid>
              <a:tr h="428854">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관찰 view 수</a:t>
                      </a:r>
                      <a:endParaRPr lang="en-US" sz="1275" dirty="0">
                        <a:latin typeface="IBM Plex Sans" charset="0"/>
                        <a:ea typeface="IBM Plex Sans" charset="0"/>
                        <a:cs typeface="IBM Plex Sans" charset="0"/>
                      </a:endParaRPr>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12 field (5 die)</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관찰 픽셀 해상도</a:t>
                      </a:r>
                      <a:endParaRPr lang="en-US" sz="1275" dirty="0">
                        <a:latin typeface="IBM Plex Sans" charset="0"/>
                        <a:ea typeface="IBM Plex Sans" charset="0"/>
                        <a:cs typeface="IBM Plex Sans" charset="0"/>
                      </a:endParaRPr>
                    </a:p>
                  </a:txBody>
                  <a:tcPr marL="2286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0.6 nm/pixel</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28854">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sidewall taper 평균</a:t>
                      </a:r>
                      <a:endParaRPr lang="en-US" sz="1275" dirty="0">
                        <a:latin typeface="IBM Plex Sans" charset="0"/>
                        <a:ea typeface="IBM Plex Sans" charset="0"/>
                        <a:cs typeface="IBM Plex Sans" charset="0"/>
                      </a:endParaRPr>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87.4°</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sidewall root mean square</a:t>
                      </a:r>
                      <a:endParaRPr lang="en-US" sz="1275" dirty="0">
                        <a:latin typeface="IBM Plex Sans" charset="0"/>
                        <a:ea typeface="IBM Plex Sans" charset="0"/>
                        <a:cs typeface="IBM Plex Sans" charset="0"/>
                      </a:endParaRPr>
                    </a:p>
                  </a:txBody>
                  <a:tcPr marL="2286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0.81 nm</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28854">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TaN barrier 두께 (line 하부)</a:t>
                      </a:r>
                      <a:endParaRPr lang="en-US" sz="1275" dirty="0">
                        <a:latin typeface="IBM Plex Sans" charset="0"/>
                        <a:ea typeface="IBM Plex Sans" charset="0"/>
                        <a:cs typeface="IBM Plex Sans" charset="0"/>
                      </a:endParaRPr>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1.5 ± 0.2 nm</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IMD recess</a:t>
                      </a:r>
                      <a:endParaRPr lang="en-US" sz="1275" dirty="0">
                        <a:latin typeface="IBM Plex Sans" charset="0"/>
                        <a:ea typeface="IBM Plex Sans" charset="0"/>
                        <a:cs typeface="IBM Plex Sans" charset="0"/>
                      </a:endParaRPr>
                    </a:p>
                  </a:txBody>
                  <a:tcPr marL="2286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4.1 ± 0.7 nm</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0" name="Text 11"/>
          <p:cNvSpPr txBox="1"/>
          <p:nvPr/>
        </p:nvSpPr>
        <p:spPr>
          <a:xfrm>
            <a:off x="11144707" y="5772607"/>
            <a:ext cx="6382512"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Fig. 04-A · Ru via-chain 단면. cite: 원문은 참고문헌 [1]</a:t>
            </a:r>
            <a:endParaRPr lang="en-US" sz="1050" dirty="0"/>
          </a:p>
        </p:txBody>
      </p:sp>
      <p:sp>
        <p:nvSpPr>
          <p:cNvPr id="21" name="Text 12"/>
          <p:cNvSpPr txBox="1"/>
          <p:nvPr/>
        </p:nvSpPr>
        <p:spPr>
          <a:xfrm>
            <a:off x="11144707" y="9391802"/>
            <a:ext cx="6382512"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Fig. 04-B · Ru interconnect 단면 확대. cite: 원문은 참고문헌 [2]</a:t>
            </a:r>
            <a:endParaRPr lang="en-US" sz="1050" dirty="0"/>
          </a:p>
        </p:txBody>
      </p:sp>
      <p:sp>
        <p:nvSpPr>
          <p:cNvPr id="22" name="Text 13"/>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 · 출처 [1] Vik's Newsletter (Ru interconnect article), [2] eeNews Europe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7239305"/>
            <a:ext cx="9924898" cy="2076602"/>
          </a:xfrm>
          <a:prstGeom prst="rect">
            <a:avLst/>
          </a:prstGeom>
          <a:solidFill>
            <a:srgbClr val="FAF6EC"/>
          </a:solidFill>
          <a:ln w="12700">
            <a:solidFill>
              <a:srgbClr val="B5A47A"/>
            </a:solidFill>
            <a:prstDash val="solid"/>
          </a:ln>
        </p:spPr>
      </p:sp>
      <p:pic>
        <p:nvPicPr>
          <p:cNvPr id="6"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7" name="Shape 1"/>
          <p:cNvSpPr/>
          <p:nvPr/>
        </p:nvSpPr>
        <p:spPr>
          <a:xfrm>
            <a:off x="11144707" y="2076602"/>
            <a:ext cx="6381598" cy="3600907"/>
          </a:xfrm>
          <a:prstGeom prst="rect">
            <a:avLst/>
          </a:prstGeom>
          <a:solidFill>
            <a:srgbClr val="1C1C1C"/>
          </a:solidFill>
          <a:ln w="12700">
            <a:solidFill>
              <a:srgbClr val="FFFFFF">
                <a:alpha val="0"/>
              </a:srgbClr>
            </a:solidFill>
            <a:prstDash val="solid"/>
          </a:ln>
        </p:spPr>
      </p:sp>
      <p:pic>
        <p:nvPicPr>
          <p:cNvPr id="8" name="Image 3" descr="gen-dedup-5af5468bbbdae80c8b4ad0736574bad5.jpg">    </p:cNvPr>
          <p:cNvPicPr>
            <a:picLocks noChangeAspect="1"/>
          </p:cNvPicPr>
          <p:nvPr/>
        </p:nvPicPr>
        <p:blipFill>
          <a:blip r:embed="rId4"/>
          <a:stretch>
            <a:fillRect/>
          </a:stretch>
        </p:blipFill>
        <p:spPr>
          <a:xfrm>
            <a:off x="11144707" y="2076602"/>
            <a:ext cx="6381598" cy="3600907"/>
          </a:xfrm>
          <a:prstGeom prst="rect">
            <a:avLst/>
          </a:prstGeom>
        </p:spPr>
      </p:pic>
      <p:sp>
        <p:nvSpPr>
          <p:cNvPr id="9" name="Shape 2"/>
          <p:cNvSpPr/>
          <p:nvPr/>
        </p:nvSpPr>
        <p:spPr>
          <a:xfrm>
            <a:off x="11144707" y="6286500"/>
            <a:ext cx="6381598" cy="3010205"/>
          </a:xfrm>
          <a:prstGeom prst="rect">
            <a:avLst/>
          </a:prstGeom>
          <a:solidFill>
            <a:srgbClr val="1C1C1C"/>
          </a:solidFill>
          <a:ln w="12700">
            <a:solidFill>
              <a:srgbClr val="FFFFFF">
                <a:alpha val="0"/>
              </a:srgbClr>
            </a:solidFill>
            <a:prstDash val="solid"/>
          </a:ln>
        </p:spPr>
      </p:sp>
      <p:pic>
        <p:nvPicPr>
          <p:cNvPr id="10" name="Image 4" descr="gen-dedup-91c75e0f5e58484a0540566708aa3af7.jpg">    </p:cNvPr>
          <p:cNvPicPr>
            <a:picLocks noChangeAspect="1"/>
          </p:cNvPicPr>
          <p:nvPr/>
        </p:nvPicPr>
        <p:blipFill>
          <a:blip r:embed="rId5"/>
          <a:stretch>
            <a:fillRect/>
          </a:stretch>
        </p:blipFill>
        <p:spPr>
          <a:xfrm>
            <a:off x="11144707" y="6286500"/>
            <a:ext cx="6381598" cy="3010205"/>
          </a:xfrm>
          <a:prstGeom prst="rect">
            <a:avLst/>
          </a:prstGeom>
        </p:spPr>
      </p:pic>
      <p:sp>
        <p:nvSpPr>
          <p:cNvPr id="11"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05 · CROSS-SECTION OBSERVATION</a:t>
            </a:r>
            <a:endParaRPr lang="en-US" sz="1200" dirty="0"/>
          </a:p>
        </p:txBody>
      </p:sp>
      <p:sp>
        <p:nvSpPr>
          <p:cNvPr id="12" name="Text 4"/>
          <p:cNvSpPr txBox="1"/>
          <p:nvPr/>
        </p:nvSpPr>
        <p:spPr>
          <a:xfrm>
            <a:off x="761695" y="1296619"/>
            <a:ext cx="15240305"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Cu Damascene — M4 단면 SEM/TEM 관찰 </a:t>
            </a:r>
            <a:pPr algn="l" indent="0" marL="0">
              <a:buNone/>
            </a:pPr>
            <a:r>
              <a:rPr lang="en-US" sz="1650" b="1" dirty="0">
                <a:solidFill>
                  <a:srgbClr val="2C5E7A"/>
                </a:solidFill>
                <a:latin typeface="Manrope" pitchFamily="34" charset="0"/>
                <a:ea typeface="Manrope" pitchFamily="34" charset="-122"/>
                <a:cs typeface="Manrope" pitchFamily="34" charset="-120"/>
              </a:rPr>
              <a:t>SPLIT B · W3</a:t>
            </a:r>
            <a:endParaRPr lang="en-US" sz="3600" dirty="0"/>
          </a:p>
        </p:txBody>
      </p:sp>
      <p:sp>
        <p:nvSpPr>
          <p:cNvPr id="13" name="Text 5"/>
          <p:cNvSpPr txBox="1"/>
          <p:nvPr/>
        </p:nvSpPr>
        <p:spPr>
          <a:xfrm>
            <a:off x="761695" y="2076602"/>
            <a:ext cx="9906610" cy="171907"/>
          </a:xfrm>
          <a:prstGeom prst="rect">
            <a:avLst/>
          </a:prstGeom>
          <a:noFill/>
          <a:ln/>
        </p:spPr>
        <p:txBody>
          <a:bodyPr wrap="none" lIns="0" tIns="0" rIns="0" bIns="0" rtlCol="0" anchor="ctr"/>
          <a:lstStyle/>
          <a:p>
            <a:pPr algn="l" indent="0" marL="0">
              <a:buNone/>
            </a:pPr>
            <a:r>
              <a:rPr lang="en-US" sz="1050" spc="189" kern="0" dirty="0">
                <a:solidFill>
                  <a:srgbClr val="2C5E7A"/>
                </a:solidFill>
                <a:latin typeface="IBM Plex Sans" pitchFamily="34" charset="0"/>
                <a:ea typeface="IBM Plex Sans" pitchFamily="34" charset="-122"/>
                <a:cs typeface="IBM Plex Sans" pitchFamily="34" charset="-120"/>
              </a:rPr>
              <a:t>OBSERVATIONS · LOT LDM4-CD-01</a:t>
            </a:r>
            <a:endParaRPr lang="en-US" sz="1050" dirty="0"/>
          </a:p>
        </p:txBody>
      </p:sp>
      <p:sp>
        <p:nvSpPr>
          <p:cNvPr id="14" name="Text 6"/>
          <p:cNvSpPr txBox="1"/>
          <p:nvPr/>
        </p:nvSpPr>
        <p:spPr>
          <a:xfrm>
            <a:off x="761695" y="2305202"/>
            <a:ext cx="9906610" cy="419710"/>
          </a:xfrm>
          <a:prstGeom prst="rect">
            <a:avLst/>
          </a:prstGeom>
          <a:noFill/>
          <a:ln/>
        </p:spPr>
        <p:txBody>
          <a:bodyPr wrap="none" lIns="0" tIns="0" rIns="0" bIns="0" rtlCol="0" anchor="ctr"/>
          <a:lstStyle/>
          <a:p>
            <a:pPr algn="l" indent="0" marL="0">
              <a:buNone/>
            </a:pPr>
            <a:r>
              <a:rPr lang="en-US" sz="2250" b="1" dirty="0">
                <a:solidFill>
                  <a:srgbClr val="1A1F26"/>
                </a:solidFill>
                <a:latin typeface="Manrope" pitchFamily="34" charset="0"/>
                <a:ea typeface="Manrope" pitchFamily="34" charset="-122"/>
                <a:cs typeface="Manrope" pitchFamily="34" charset="-120"/>
              </a:rPr>
              <a:t>Cu line 형상 및 damascene 계면 평가</a:t>
            </a:r>
            <a:endParaRPr lang="en-US" sz="2250" dirty="0"/>
          </a:p>
        </p:txBody>
      </p:sp>
      <p:sp>
        <p:nvSpPr>
          <p:cNvPr id="15" name="Text 7"/>
          <p:cNvSpPr txBox="1"/>
          <p:nvPr/>
        </p:nvSpPr>
        <p:spPr>
          <a:xfrm>
            <a:off x="761695" y="2838298"/>
            <a:ext cx="9906610" cy="914400"/>
          </a:xfrm>
          <a:prstGeom prst="rect">
            <a:avLst/>
          </a:prstGeom>
          <a:noFill/>
          <a:ln/>
        </p:spPr>
        <p:txBody>
          <a:bodyPr wrap="square" lIns="0" tIns="0" rIns="0" bIns="0" rtlCol="0" anchor="ctr"/>
          <a:lstStyle/>
          <a:p>
            <a:pPr algn="l" indent="0" marL="0">
              <a:lnSpc>
                <a:spcPts val="2400"/>
              </a:lnSpc>
              <a:buNone/>
            </a:pPr>
            <a:r>
              <a:rPr lang="en-US" sz="1500" dirty="0">
                <a:solidFill>
                  <a:srgbClr val="2D3340"/>
                </a:solidFill>
                <a:latin typeface="IBM Plex Sans" pitchFamily="34" charset="0"/>
                <a:ea typeface="IBM Plex Sans" pitchFamily="34" charset="-122"/>
                <a:cs typeface="IBM Plex Sans" pitchFamily="34" charset="-120"/>
              </a:rPr>
              <a:t>(1) Cu line은 trench-fill 후 2단 CMP로 형성되었으며, 상부 dishing은 평균 3.2 nm로 비교적 양호. (2) Ta 2 nm + TaN 1.5 nm PVD barrier는 sidewall에서 1.7 ± 0.3 nm 측정, trench 하부에서 1.4 ± 0.2 nm로 약간 얇아 tapered profile을 보인다. (3) IMD recess는 평균 3.5 nm, Ru split 대비 0.6 nm 얕아 low-k 손상이 적음을 정성적으로 시사.</a:t>
            </a:r>
            <a:endParaRPr lang="en-US" sz="1500" dirty="0"/>
          </a:p>
        </p:txBody>
      </p:sp>
      <p:sp>
        <p:nvSpPr>
          <p:cNvPr id="16" name="Text 8"/>
          <p:cNvSpPr txBox="1"/>
          <p:nvPr/>
        </p:nvSpPr>
        <p:spPr>
          <a:xfrm>
            <a:off x="761695" y="4552798"/>
            <a:ext cx="9906610" cy="171907"/>
          </a:xfrm>
          <a:prstGeom prst="rect">
            <a:avLst/>
          </a:prstGeom>
          <a:noFill/>
          <a:ln/>
        </p:spPr>
        <p:txBody>
          <a:bodyPr wrap="none" lIns="0" tIns="0" rIns="0" bIns="0" rtlCol="0" anchor="ctr"/>
          <a:lstStyle/>
          <a:p>
            <a:pPr algn="l" indent="0" marL="0">
              <a:buNone/>
            </a:pPr>
            <a:r>
              <a:rPr lang="en-US" sz="1050" spc="189" kern="0" dirty="0">
                <a:solidFill>
                  <a:srgbClr val="2C5E7A"/>
                </a:solidFill>
                <a:latin typeface="IBM Plex Sans" pitchFamily="34" charset="0"/>
                <a:ea typeface="IBM Plex Sans" pitchFamily="34" charset="-122"/>
                <a:cs typeface="IBM Plex Sans" pitchFamily="34" charset="-120"/>
              </a:rPr>
              <a:t>FIELD NOTE</a:t>
            </a:r>
            <a:endParaRPr lang="en-US" sz="1050" dirty="0"/>
          </a:p>
        </p:txBody>
      </p:sp>
      <p:sp>
        <p:nvSpPr>
          <p:cNvPr id="17" name="Text 9"/>
          <p:cNvSpPr txBox="1"/>
          <p:nvPr/>
        </p:nvSpPr>
        <p:spPr>
          <a:xfrm>
            <a:off x="761695" y="4876495"/>
            <a:ext cx="9906610" cy="848563"/>
          </a:xfrm>
          <a:prstGeom prst="rect">
            <a:avLst/>
          </a:prstGeom>
          <a:noFill/>
          <a:ln/>
        </p:spPr>
        <p:txBody>
          <a:bodyPr wrap="square" lIns="0" tIns="0" rIns="0" bIns="0" rtlCol="0" anchor="ctr"/>
          <a:lstStyle/>
          <a:p>
            <a:pPr algn="l" indent="0" marL="0">
              <a:lnSpc>
                <a:spcPts val="2209"/>
              </a:lnSpc>
              <a:buNone/>
            </a:pPr>
            <a:r>
              <a:rPr lang="en-US" sz="1425" dirty="0">
                <a:solidFill>
                  <a:srgbClr val="2D3340"/>
                </a:solidFill>
                <a:latin typeface="IBM Plex Sans" pitchFamily="34" charset="0"/>
                <a:ea typeface="IBM Plex Sans" pitchFamily="34" charset="-122"/>
                <a:cs typeface="IBM Plex Sans" pitchFamily="34" charset="-120"/>
              </a:rPr>
              <a:t>Cu line sidewall에 잔류 TaN/Ta 잔사에 기인한 line-to-line short 의심 site 1건 발견(중앙부). 동일 die 재관찰에서도 동일 위치에서 관찰되어 lot 재발 가능성보다는 die 자체 결함에 가까움. CD 측정 시 결함 site는 제외하고 평균 산출. 동일 lot의 W4 wafer에서는 해당 site 정상 — 평가에 영향 없음.</a:t>
            </a:r>
            <a:endParaRPr lang="en-US" sz="1425" dirty="0"/>
          </a:p>
        </p:txBody>
      </p:sp>
      <p:sp>
        <p:nvSpPr>
          <p:cNvPr id="18" name="Text 10"/>
          <p:cNvSpPr txBox="1"/>
          <p:nvPr/>
        </p:nvSpPr>
        <p:spPr>
          <a:xfrm>
            <a:off x="952805" y="7410298"/>
            <a:ext cx="9525305"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SEM/TEM VIEW SUMMARY · LDM4-CD-01</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805" y="7791602"/>
          <a:ext cx="9525305" cy="1286561"/>
        </p:xfrm>
        <a:graphic>
          <a:graphicData uri="http://schemas.openxmlformats.org/drawingml/2006/table">
            <a:tbl>
              <a:tblPr/>
              <a:tblGrid>
                <a:gridCol w="2667049"/>
                <a:gridCol w="2557331"/>
                <a:gridCol w="2895627"/>
                <a:gridCol w="1405298"/>
              </a:tblGrid>
              <a:tr h="428854">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관찰 view 수</a:t>
                      </a:r>
                      <a:endParaRPr lang="en-US" sz="1275" dirty="0">
                        <a:latin typeface="IBM Plex Sans" charset="0"/>
                        <a:ea typeface="IBM Plex Sans" charset="0"/>
                        <a:cs typeface="IBM Plex Sans" charset="0"/>
                      </a:endParaRPr>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14 field (6 die)</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관찰 픽셀 해상도</a:t>
                      </a:r>
                      <a:endParaRPr lang="en-US" sz="1275" dirty="0">
                        <a:latin typeface="IBM Plex Sans" charset="0"/>
                        <a:ea typeface="IBM Plex Sans" charset="0"/>
                        <a:cs typeface="IBM Plex Sans" charset="0"/>
                      </a:endParaRPr>
                    </a:p>
                  </a:txBody>
                  <a:tcPr marL="2286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0.6 nm/pixel</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28854">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Cu dishing (top)</a:t>
                      </a:r>
                      <a:endParaRPr lang="en-US" sz="1275" dirty="0">
                        <a:latin typeface="IBM Plex Sans" charset="0"/>
                        <a:ea typeface="IBM Plex Sans" charset="0"/>
                        <a:cs typeface="IBM Plex Sans" charset="0"/>
                      </a:endParaRPr>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3.2 ± 0.6 nm</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Ta/TaN 두께 (sidewall)</a:t>
                      </a:r>
                      <a:endParaRPr lang="en-US" sz="1275" dirty="0">
                        <a:latin typeface="IBM Plex Sans" charset="0"/>
                        <a:ea typeface="IBM Plex Sans" charset="0"/>
                        <a:cs typeface="IBM Plex Sans" charset="0"/>
                      </a:endParaRPr>
                    </a:p>
                  </a:txBody>
                  <a:tcPr marL="2286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1.7 ± 0.3 nm</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28854">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선택 seed 두께</a:t>
                      </a:r>
                      <a:endParaRPr lang="en-US" sz="1275" dirty="0">
                        <a:latin typeface="IBM Plex Sans" charset="0"/>
                        <a:ea typeface="IBM Plex Sans" charset="0"/>
                        <a:cs typeface="IBM Plex Sans" charset="0"/>
                      </a:endParaRPr>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Cu seed 4 nm / Ta 2 nm</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6F6857"/>
                          </a:solidFill>
                          <a:latin typeface="IBM Plex Sans" pitchFamily="34" charset="0"/>
                          <a:ea typeface="IBM Plex Sans" pitchFamily="34" charset="-122"/>
                          <a:cs typeface="IBM Plex Sans" pitchFamily="34" charset="-120"/>
                        </a:rPr>
                        <a:t>IMD recess</a:t>
                      </a:r>
                      <a:endParaRPr lang="en-US" sz="1275" dirty="0">
                        <a:latin typeface="IBM Plex Sans" charset="0"/>
                        <a:ea typeface="IBM Plex Sans" charset="0"/>
                        <a:cs typeface="IBM Plex Sans" charset="0"/>
                      </a:endParaRPr>
                    </a:p>
                  </a:txBody>
                  <a:tcPr marL="2286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dirty="0">
                          <a:solidFill>
                            <a:srgbClr val="1A1F26"/>
                          </a:solidFill>
                          <a:latin typeface="JetBrains Mono" pitchFamily="34" charset="0"/>
                          <a:ea typeface="JetBrains Mono" pitchFamily="34" charset="-122"/>
                          <a:cs typeface="JetBrains Mono" pitchFamily="34" charset="-120"/>
                        </a:rPr>
                        <a:t>3.5 ± 0.5 nm</a:t>
                      </a:r>
                      <a:endParaRPr lang="en-US" sz="1275"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0" name="Text 11"/>
          <p:cNvSpPr txBox="1"/>
          <p:nvPr/>
        </p:nvSpPr>
        <p:spPr>
          <a:xfrm>
            <a:off x="11144707" y="5772607"/>
            <a:ext cx="6382512"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Fig. 05-A · Cu damascene interconnect 단면. cite: 참고문헌 [3] Springer Nature</a:t>
            </a:r>
            <a:endParaRPr lang="en-US" sz="1050" dirty="0"/>
          </a:p>
        </p:txBody>
      </p:sp>
      <p:sp>
        <p:nvSpPr>
          <p:cNvPr id="21" name="Text 12"/>
          <p:cNvSpPr txBox="1"/>
          <p:nvPr/>
        </p:nvSpPr>
        <p:spPr>
          <a:xfrm>
            <a:off x="11144707" y="9391802"/>
            <a:ext cx="6382512"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Fig. 05-B · Cu/low-k 28 nm CMOS 단면. cite: 참고문헌 [4] ScienceDirect</a:t>
            </a:r>
            <a:endParaRPr lang="en-US" sz="1050" dirty="0"/>
          </a:p>
        </p:txBody>
      </p:sp>
      <p:sp>
        <p:nvSpPr>
          <p:cNvPr id="22" name="Text 13"/>
          <p:cNvSpPr txBox="1"/>
          <p:nvPr/>
        </p:nvSpPr>
        <p:spPr>
          <a:xfrm>
            <a:off x="761695" y="9810598"/>
            <a:ext cx="14097305"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 · 출처 [3] Springer Nature Link, [4] ScienceDirect (Cu/low-k 28 nm)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0496398" cy="5734202"/>
          </a:xfrm>
          <a:prstGeom prst="rect">
            <a:avLst/>
          </a:prstGeom>
          <a:solidFill>
            <a:srgbClr val="FAF6EC"/>
          </a:solidFill>
          <a:ln w="12700">
            <a:solidFill>
              <a:srgbClr val="B5A47A"/>
            </a:solidFill>
            <a:prstDash val="solid"/>
          </a:ln>
        </p:spPr>
      </p:sp>
      <p:sp>
        <p:nvSpPr>
          <p:cNvPr id="6" name="Shape 1"/>
          <p:cNvSpPr/>
          <p:nvPr/>
        </p:nvSpPr>
        <p:spPr>
          <a:xfrm>
            <a:off x="11716207" y="2076602"/>
            <a:ext cx="5829300" cy="2686507"/>
          </a:xfrm>
          <a:prstGeom prst="rect">
            <a:avLst/>
          </a:prstGeom>
          <a:solidFill>
            <a:srgbClr val="FAF6EC"/>
          </a:solidFill>
          <a:ln w="12700">
            <a:solidFill>
              <a:srgbClr val="B5A47A"/>
            </a:solidFill>
            <a:prstDash val="solid"/>
          </a:ln>
        </p:spPr>
      </p:sp>
      <p:sp>
        <p:nvSpPr>
          <p:cNvPr id="7" name="Shape 2"/>
          <p:cNvSpPr/>
          <p:nvPr/>
        </p:nvSpPr>
        <p:spPr>
          <a:xfrm>
            <a:off x="11716207" y="4934102"/>
            <a:ext cx="5829300" cy="2876702"/>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06 · CD VARIATION · AASI</a:t>
            </a:r>
            <a:endParaRPr lang="en-US" sz="1200" dirty="0"/>
          </a:p>
        </p:txBody>
      </p:sp>
      <p:sp>
        <p:nvSpPr>
          <p:cNvPr id="10" name="Text 4"/>
          <p:cNvSpPr txBox="1"/>
          <p:nvPr/>
        </p:nvSpPr>
        <p:spPr>
          <a:xfrm>
            <a:off x="761695" y="1296619"/>
            <a:ext cx="14287500"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AASI CD Variation </a:t>
            </a:r>
            <a:pPr algn="l" indent="0" marL="0">
              <a:buNone/>
            </a:pPr>
            <a:r>
              <a:rPr lang="en-US" sz="2250" b="1" dirty="0">
                <a:solidFill>
                  <a:srgbClr val="6F6857"/>
                </a:solidFill>
                <a:latin typeface="JetBrains Mono" pitchFamily="34" charset="0"/>
                <a:ea typeface="JetBrains Mono" pitchFamily="34" charset="-122"/>
                <a:cs typeface="JetBrains Mono" pitchFamily="34" charset="-120"/>
              </a:rPr>
              <a:t>target 25.4 nm · spec ±5%</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0478110" cy="3543300"/>
        </p:xfrm>
        <a:graphic>
          <a:graphicData uri="http://schemas.openxmlformats.org/drawingml/2006/table">
            <a:tbl>
              <a:tblPr/>
              <a:tblGrid>
                <a:gridCol w="1200607"/>
                <a:gridCol w="2247595"/>
                <a:gridCol w="1370686"/>
                <a:gridCol w="1104595"/>
                <a:gridCol w="1944014"/>
                <a:gridCol w="1124712"/>
                <a:gridCol w="1485900"/>
              </a:tblGrid>
              <a:tr h="708660">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Wafer</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Split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Mean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3σ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Range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Δ vs tgt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Spec in?</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W1</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25.61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0.41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24.93 – 26.22</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+0.21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A04A30"/>
                          </a:solidFill>
                          <a:latin typeface="IBM Plex Sans" pitchFamily="34" charset="0"/>
                          <a:ea typeface="IBM Plex Sans" pitchFamily="34" charset="-122"/>
                          <a:cs typeface="IBM Plex Sans" pitchFamily="34" charset="-120"/>
                        </a:rPr>
                        <a:t>marginal</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W2</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25.55</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0.36</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24.97 – 26.10</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+0.15</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A04A30"/>
                          </a:solidFill>
                          <a:latin typeface="IBM Plex Sans" pitchFamily="34" charset="0"/>
                          <a:ea typeface="IBM Plex Sans" pitchFamily="34" charset="-122"/>
                          <a:cs typeface="IBM Plex Sans" pitchFamily="34" charset="-120"/>
                        </a:rPr>
                        <a:t>marginal</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W3</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25.38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0.49</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24.66 – 26.05</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W4</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25.42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0.44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24.78 – 26.08</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761695" y="8001000"/>
            <a:ext cx="104781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target = 25.4 nm · lower bound 24.13 · upper bound 26.67 · W1/W2의 상단은 spec window 안이나 delta 부호가 모두 +로 편향.</a:t>
            </a:r>
            <a:endParaRPr lang="en-US" sz="1050" dirty="0"/>
          </a:p>
        </p:txBody>
      </p:sp>
      <p:sp>
        <p:nvSpPr>
          <p:cNvPr id="13" name="Text 6"/>
          <p:cNvSpPr txBox="1"/>
          <p:nvPr/>
        </p:nvSpPr>
        <p:spPr>
          <a:xfrm>
            <a:off x="12001500" y="22860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SPLIT COMPARE</a:t>
            </a:r>
            <a:endParaRPr lang="en-US" sz="1050" dirty="0"/>
          </a:p>
        </p:txBody>
      </p:sp>
      <p:sp>
        <p:nvSpPr>
          <p:cNvPr id="14" name="Text 7"/>
          <p:cNvSpPr txBox="1"/>
          <p:nvPr/>
        </p:nvSpPr>
        <p:spPr>
          <a:xfrm>
            <a:off x="12001500" y="2514600"/>
            <a:ext cx="5334610" cy="333756"/>
          </a:xfrm>
          <a:prstGeom prst="rect">
            <a:avLst/>
          </a:prstGeom>
          <a:noFill/>
          <a:ln/>
        </p:spPr>
        <p:txBody>
          <a:bodyPr wrap="none" lIns="0" tIns="0" rIns="0" bIns="0" rtlCol="0" anchor="ctr"/>
          <a:lstStyle/>
          <a:p>
            <a:pPr algn="l" indent="0" marL="0">
              <a:buNone/>
            </a:pPr>
            <a:r>
              <a:rPr lang="en-US" sz="1800" b="1" dirty="0">
                <a:solidFill>
                  <a:srgbClr val="1A1F26"/>
                </a:solidFill>
                <a:latin typeface="Manrope" pitchFamily="34" charset="0"/>
                <a:ea typeface="Manrope" pitchFamily="34" charset="-122"/>
                <a:cs typeface="Manrope" pitchFamily="34" charset="-120"/>
              </a:rPr>
              <a:t>AASI — split mean 비교</a:t>
            </a:r>
            <a:endParaRPr lang="en-US" sz="18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12001500" y="2857500"/>
          <a:ext cx="5334610" cy="1200607"/>
        </p:xfrm>
        <a:graphic>
          <a:graphicData uri="http://schemas.openxmlformats.org/drawingml/2006/table">
            <a:tbl>
              <a:tblPr/>
              <a:tblGrid>
                <a:gridCol w="2496312"/>
                <a:gridCol w="1815998"/>
                <a:gridCol w="1021385"/>
              </a:tblGrid>
              <a:tr h="400202">
                <a:tc>
                  <a:txBody>
                    <a:bodyPr/>
                    <a:lstStyle/>
                    <a:p>
                      <a:pPr indent="0" marL="0">
                        <a:buNone/>
                      </a:pPr>
                      <a:r>
                        <a:rPr lang="en-US" sz="1500" dirty="0">
                          <a:solidFill>
                            <a:srgbClr val="A04A30"/>
                          </a:solidFill>
                          <a:latin typeface="JetBrains Mono" pitchFamily="34" charset="0"/>
                          <a:ea typeface="JetBrains Mono" pitchFamily="34" charset="-122"/>
                          <a:cs typeface="JetBrains Mono" pitchFamily="34" charset="-120"/>
                        </a:rPr>
                        <a:t>Ru sub.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25.58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A04A30"/>
                          </a:solidFill>
                          <a:latin typeface="JetBrains Mono" pitchFamily="34" charset="0"/>
                          <a:ea typeface="JetBrains Mono" pitchFamily="34" charset="-122"/>
                          <a:cs typeface="JetBrains Mono" pitchFamily="34" charset="-120"/>
                        </a:rPr>
                        <a:t>+0.18</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C5E7A"/>
                          </a:solidFill>
                          <a:latin typeface="JetBrains Mono" pitchFamily="34" charset="0"/>
                          <a:ea typeface="JetBrains Mono" pitchFamily="34" charset="-122"/>
                          <a:cs typeface="JetBrains Mono" pitchFamily="34" charset="-120"/>
                        </a:rPr>
                        <a:t>Cu dam.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25.40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C5E7A"/>
                          </a:solidFill>
                          <a:latin typeface="JetBrains Mono" pitchFamily="34" charset="0"/>
                          <a:ea typeface="JetBrains Mono" pitchFamily="34" charset="-122"/>
                          <a:cs typeface="JetBrains Mono" pitchFamily="34" charset="-120"/>
                        </a:rPr>
                        <a:t>+0.00</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D3340"/>
                          </a:solidFill>
                          <a:latin typeface="JetBrains Mono" pitchFamily="34" charset="0"/>
                          <a:ea typeface="JetBrains Mono" pitchFamily="34" charset="-122"/>
                          <a:cs typeface="JetBrains Mono" pitchFamily="34" charset="-120"/>
                        </a:rPr>
                        <a:t>Δ split</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0.18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D3340"/>
                          </a:solidFill>
                          <a:latin typeface="JetBrains Mono" pitchFamily="34" charset="0"/>
                          <a:ea typeface="JetBrains Mono" pitchFamily="34" charset="-122"/>
                          <a:cs typeface="JetBrains Mono" pitchFamily="34" charset="-120"/>
                        </a:rPr>
                        <a:t>—</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6" name="Text 8"/>
          <p:cNvSpPr txBox="1"/>
          <p:nvPr/>
        </p:nvSpPr>
        <p:spPr>
          <a:xfrm>
            <a:off x="12001500" y="4076395"/>
            <a:ext cx="5334610" cy="476402"/>
          </a:xfrm>
          <a:prstGeom prst="rect">
            <a:avLst/>
          </a:prstGeom>
          <a:noFill/>
          <a:ln/>
        </p:spPr>
        <p:txBody>
          <a:bodyPr wrap="square" lIns="0" tIns="0" rIns="0" bIns="0" rtlCol="0" anchor="ctr"/>
          <a:lstStyle/>
          <a:p>
            <a:pPr algn="l" indent="0" marL="0">
              <a:lnSpc>
                <a:spcPts val="1860"/>
              </a:lnSpc>
              <a:buNone/>
            </a:pPr>
            <a:r>
              <a:rPr lang="en-US" sz="1200" dirty="0">
                <a:solidFill>
                  <a:srgbClr val="2D3340"/>
                </a:solidFill>
                <a:latin typeface="IBM Plex Sans" pitchFamily="34" charset="0"/>
                <a:ea typeface="IBM Plex Sans" pitchFamily="34" charset="-122"/>
                <a:cs typeface="IBM Plex Sans" pitchFamily="34" charset="-120"/>
              </a:rPr>
              <a:t>Ru 슬플릿이 Cu 대비 +0.18 nm 큰 폭을 보임. 3σ 자체는 Ru 쪽이 작지만(0.41 / 0.36 vs 0.49 / 0.44), 평균 위치가 spec 중앙에서 벗어남이 더 큰 이슈로 식별.</a:t>
            </a:r>
            <a:endParaRPr lang="en-US" sz="1200" dirty="0"/>
          </a:p>
        </p:txBody>
      </p:sp>
      <p:sp>
        <p:nvSpPr>
          <p:cNvPr id="17" name="Text 9"/>
          <p:cNvSpPr txBox="1"/>
          <p:nvPr/>
        </p:nvSpPr>
        <p:spPr>
          <a:xfrm>
            <a:off x="12001500" y="51435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READING NOTES</a:t>
            </a:r>
            <a:endParaRPr lang="en-US" sz="1050" dirty="0"/>
          </a:p>
        </p:txBody>
      </p:sp>
      <p:sp>
        <p:nvSpPr>
          <p:cNvPr id="18" name="Text 10"/>
          <p:cNvSpPr txBox="1"/>
          <p:nvPr/>
        </p:nvSpPr>
        <p:spPr>
          <a:xfrm>
            <a:off x="12001500" y="5496458"/>
            <a:ext cx="5334610" cy="1543507"/>
          </a:xfrm>
          <a:prstGeom prst="rect">
            <a:avLst/>
          </a:prstGeom>
          <a:noFill/>
          <a:ln/>
        </p:spPr>
        <p:txBody>
          <a:bodyPr wrap="square" lIns="0" tIns="0" rIns="0" bIns="0" rtlCol="0" anchor="t"/>
          <a:lstStyle/>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Ru 2 wafer 모두 mean이 spec 중앙(25.4)을 상회 → hard mask 잔사로 인한 상부 CD 부풀림 의심.</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Cu 2 wafer는 mean이 중앙에 가깝지만 3σ 0.44–0.49로 Ru보다 큼 → site별 trench 깊이 변동 영향.</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W1 range의 상단 26.22는 spec window(26.67) 이내이나 margin 0.45 nm로 좁음.</a:t>
            </a:r>
            <a:endParaRPr lang="en-US" sz="1275" dirty="0"/>
          </a:p>
        </p:txBody>
      </p:sp>
      <p:sp>
        <p:nvSpPr>
          <p:cNvPr id="19" name="Text 11"/>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0496398" cy="5734202"/>
          </a:xfrm>
          <a:prstGeom prst="rect">
            <a:avLst/>
          </a:prstGeom>
          <a:solidFill>
            <a:srgbClr val="FAF6EC"/>
          </a:solidFill>
          <a:ln w="12700">
            <a:solidFill>
              <a:srgbClr val="B5A47A"/>
            </a:solidFill>
            <a:prstDash val="solid"/>
          </a:ln>
        </p:spPr>
      </p:sp>
      <p:sp>
        <p:nvSpPr>
          <p:cNvPr id="6" name="Shape 1"/>
          <p:cNvSpPr/>
          <p:nvPr/>
        </p:nvSpPr>
        <p:spPr>
          <a:xfrm>
            <a:off x="11716207" y="2076602"/>
            <a:ext cx="5829300" cy="2686507"/>
          </a:xfrm>
          <a:prstGeom prst="rect">
            <a:avLst/>
          </a:prstGeom>
          <a:solidFill>
            <a:srgbClr val="FAF6EC"/>
          </a:solidFill>
          <a:ln w="12700">
            <a:solidFill>
              <a:srgbClr val="B5A47A"/>
            </a:solidFill>
            <a:prstDash val="solid"/>
          </a:ln>
        </p:spPr>
      </p:sp>
      <p:sp>
        <p:nvSpPr>
          <p:cNvPr id="7" name="Shape 2"/>
          <p:cNvSpPr/>
          <p:nvPr/>
        </p:nvSpPr>
        <p:spPr>
          <a:xfrm>
            <a:off x="11716207" y="4934102"/>
            <a:ext cx="5829300" cy="2876702"/>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07 · CD VARIATION · ASEI</a:t>
            </a:r>
            <a:endParaRPr lang="en-US" sz="1200" dirty="0"/>
          </a:p>
        </p:txBody>
      </p:sp>
      <p:sp>
        <p:nvSpPr>
          <p:cNvPr id="10" name="Text 4"/>
          <p:cNvSpPr txBox="1"/>
          <p:nvPr/>
        </p:nvSpPr>
        <p:spPr>
          <a:xfrm>
            <a:off x="761695" y="1296619"/>
            <a:ext cx="14287500"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ASEI CD Variation </a:t>
            </a:r>
            <a:pPr algn="l" indent="0" marL="0">
              <a:buNone/>
            </a:pPr>
            <a:r>
              <a:rPr lang="en-US" sz="2250" b="1" dirty="0">
                <a:solidFill>
                  <a:srgbClr val="6F6857"/>
                </a:solidFill>
                <a:latin typeface="JetBrains Mono" pitchFamily="34" charset="0"/>
                <a:ea typeface="JetBrains Mono" pitchFamily="34" charset="-122"/>
                <a:cs typeface="JetBrains Mono" pitchFamily="34" charset="-120"/>
              </a:rPr>
              <a:t>target 17.8 nm · spec ±7%</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0478110" cy="3543300"/>
        </p:xfrm>
        <a:graphic>
          <a:graphicData uri="http://schemas.openxmlformats.org/drawingml/2006/table">
            <a:tbl>
              <a:tblPr/>
              <a:tblGrid>
                <a:gridCol w="1200607"/>
                <a:gridCol w="2247595"/>
                <a:gridCol w="1370686"/>
                <a:gridCol w="1104595"/>
                <a:gridCol w="1944014"/>
                <a:gridCol w="1124712"/>
                <a:gridCol w="1485900"/>
              </a:tblGrid>
              <a:tr h="708660">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Wafer</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Split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Mean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3σ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Range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Δ vs tgt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Spec in?</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W1</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17.94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0.32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17.49 – 18.42</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+0.14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A04A30"/>
                          </a:solidFill>
                          <a:latin typeface="IBM Plex Sans" pitchFamily="34" charset="0"/>
                          <a:ea typeface="IBM Plex Sans" pitchFamily="34" charset="-122"/>
                          <a:cs typeface="IBM Plex Sans" pitchFamily="34" charset="-120"/>
                        </a:rPr>
                        <a:t>marginal</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W2</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17.88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0.29</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17.42 – 18.31</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W3</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17.76</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0.38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17.24 – 18.30</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W4</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17.79</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0.35</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17.30 – 18.27</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761695" y="8001000"/>
            <a:ext cx="104781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target = 17.8 nm · lower bound 16.55 · upper bound 19.05 · W1 평균이 spec 중앙에서 +0.14 nm 벗어남.</a:t>
            </a:r>
            <a:endParaRPr lang="en-US" sz="1050" dirty="0"/>
          </a:p>
        </p:txBody>
      </p:sp>
      <p:sp>
        <p:nvSpPr>
          <p:cNvPr id="13" name="Text 6"/>
          <p:cNvSpPr txBox="1"/>
          <p:nvPr/>
        </p:nvSpPr>
        <p:spPr>
          <a:xfrm>
            <a:off x="12001500" y="22860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SPLIT COMPARE</a:t>
            </a:r>
            <a:endParaRPr lang="en-US" sz="1050" dirty="0"/>
          </a:p>
        </p:txBody>
      </p:sp>
      <p:sp>
        <p:nvSpPr>
          <p:cNvPr id="14" name="Text 7"/>
          <p:cNvSpPr txBox="1"/>
          <p:nvPr/>
        </p:nvSpPr>
        <p:spPr>
          <a:xfrm>
            <a:off x="12001500" y="2514600"/>
            <a:ext cx="5334610" cy="333756"/>
          </a:xfrm>
          <a:prstGeom prst="rect">
            <a:avLst/>
          </a:prstGeom>
          <a:noFill/>
          <a:ln/>
        </p:spPr>
        <p:txBody>
          <a:bodyPr wrap="none" lIns="0" tIns="0" rIns="0" bIns="0" rtlCol="0" anchor="ctr"/>
          <a:lstStyle/>
          <a:p>
            <a:pPr algn="l" indent="0" marL="0">
              <a:buNone/>
            </a:pPr>
            <a:r>
              <a:rPr lang="en-US" sz="1800" b="1" dirty="0">
                <a:solidFill>
                  <a:srgbClr val="1A1F26"/>
                </a:solidFill>
                <a:latin typeface="Manrope" pitchFamily="34" charset="0"/>
                <a:ea typeface="Manrope" pitchFamily="34" charset="-122"/>
                <a:cs typeface="Manrope" pitchFamily="34" charset="-120"/>
              </a:rPr>
              <a:t>ASEI — split mean 비교</a:t>
            </a:r>
            <a:endParaRPr lang="en-US" sz="18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12001500" y="2857500"/>
          <a:ext cx="5334610" cy="1200607"/>
        </p:xfrm>
        <a:graphic>
          <a:graphicData uri="http://schemas.openxmlformats.org/drawingml/2006/table">
            <a:tbl>
              <a:tblPr/>
              <a:tblGrid>
                <a:gridCol w="2496312"/>
                <a:gridCol w="1815998"/>
                <a:gridCol w="1021385"/>
              </a:tblGrid>
              <a:tr h="400202">
                <a:tc>
                  <a:txBody>
                    <a:bodyPr/>
                    <a:lstStyle/>
                    <a:p>
                      <a:pPr indent="0" marL="0">
                        <a:buNone/>
                      </a:pPr>
                      <a:r>
                        <a:rPr lang="en-US" sz="1500" dirty="0">
                          <a:solidFill>
                            <a:srgbClr val="A04A30"/>
                          </a:solidFill>
                          <a:latin typeface="JetBrains Mono" pitchFamily="34" charset="0"/>
                          <a:ea typeface="JetBrains Mono" pitchFamily="34" charset="-122"/>
                          <a:cs typeface="JetBrains Mono" pitchFamily="34" charset="-120"/>
                        </a:rPr>
                        <a:t>Ru sub.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17.91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A04A30"/>
                          </a:solidFill>
                          <a:latin typeface="JetBrains Mono" pitchFamily="34" charset="0"/>
                          <a:ea typeface="JetBrains Mono" pitchFamily="34" charset="-122"/>
                          <a:cs typeface="JetBrains Mono" pitchFamily="34" charset="-120"/>
                        </a:rPr>
                        <a:t>+0.11</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C5E7A"/>
                          </a:solidFill>
                          <a:latin typeface="JetBrains Mono" pitchFamily="34" charset="0"/>
                          <a:ea typeface="JetBrains Mono" pitchFamily="34" charset="-122"/>
                          <a:cs typeface="JetBrains Mono" pitchFamily="34" charset="-120"/>
                        </a:rPr>
                        <a:t>Cu dam.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17.78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C5E7A"/>
                          </a:solidFill>
                          <a:latin typeface="JetBrains Mono" pitchFamily="34" charset="0"/>
                          <a:ea typeface="JetBrains Mono" pitchFamily="34" charset="-122"/>
                          <a:cs typeface="JetBrains Mono" pitchFamily="34" charset="-120"/>
                        </a:rPr>
                        <a:t>−0.02</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D3340"/>
                          </a:solidFill>
                          <a:latin typeface="JetBrains Mono" pitchFamily="34" charset="0"/>
                          <a:ea typeface="JetBrains Mono" pitchFamily="34" charset="-122"/>
                          <a:cs typeface="JetBrains Mono" pitchFamily="34" charset="-120"/>
                        </a:rPr>
                        <a:t>Δ split</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0.13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D3340"/>
                          </a:solidFill>
                          <a:latin typeface="JetBrains Mono" pitchFamily="34" charset="0"/>
                          <a:ea typeface="JetBrains Mono" pitchFamily="34" charset="-122"/>
                          <a:cs typeface="JetBrains Mono" pitchFamily="34" charset="-120"/>
                        </a:rPr>
                        <a:t>—</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6" name="Text 8"/>
          <p:cNvSpPr txBox="1"/>
          <p:nvPr/>
        </p:nvSpPr>
        <p:spPr>
          <a:xfrm>
            <a:off x="12001500" y="4076395"/>
            <a:ext cx="5334610" cy="715061"/>
          </a:xfrm>
          <a:prstGeom prst="rect">
            <a:avLst/>
          </a:prstGeom>
          <a:noFill/>
          <a:ln/>
        </p:spPr>
        <p:txBody>
          <a:bodyPr wrap="square" lIns="0" tIns="0" rIns="0" bIns="0" rtlCol="0" anchor="ctr"/>
          <a:lstStyle/>
          <a:p>
            <a:pPr algn="l" indent="0" marL="0">
              <a:lnSpc>
                <a:spcPts val="1860"/>
              </a:lnSpc>
              <a:buNone/>
            </a:pPr>
            <a:r>
              <a:rPr lang="en-US" sz="1200" dirty="0">
                <a:solidFill>
                  <a:srgbClr val="2D3340"/>
                </a:solidFill>
                <a:latin typeface="IBM Plex Sans" pitchFamily="34" charset="0"/>
                <a:ea typeface="IBM Plex Sans" pitchFamily="34" charset="-122"/>
                <a:cs typeface="IBM Plex Sans" pitchFamily="34" charset="-120"/>
              </a:rPr>
              <a:t>Ru split이 +0.13 nm만큼 더 큰 폭을 보이지만, AASI(0.18 nm) 대비 차이가 줄어듦. line scale이 작아질수록 split 차이가 좁아지는 경향이 다음 메트릭(AMI / ACI)에서도 계속되는지 확인 예정.</a:t>
            </a:r>
            <a:endParaRPr lang="en-US" sz="1200" dirty="0"/>
          </a:p>
        </p:txBody>
      </p:sp>
      <p:sp>
        <p:nvSpPr>
          <p:cNvPr id="17" name="Text 9"/>
          <p:cNvSpPr txBox="1"/>
          <p:nvPr/>
        </p:nvSpPr>
        <p:spPr>
          <a:xfrm>
            <a:off x="12001500" y="51435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READING NOTES</a:t>
            </a:r>
            <a:endParaRPr lang="en-US" sz="1050" dirty="0"/>
          </a:p>
        </p:txBody>
      </p:sp>
      <p:sp>
        <p:nvSpPr>
          <p:cNvPr id="18" name="Text 10"/>
          <p:cNvSpPr txBox="1"/>
          <p:nvPr/>
        </p:nvSpPr>
        <p:spPr>
          <a:xfrm>
            <a:off x="12001500" y="5496458"/>
            <a:ext cx="5334610" cy="1285646"/>
          </a:xfrm>
          <a:prstGeom prst="rect">
            <a:avLst/>
          </a:prstGeom>
          <a:noFill/>
          <a:ln/>
        </p:spPr>
        <p:txBody>
          <a:bodyPr wrap="square" lIns="0" tIns="0" rIns="0" bIns="0" rtlCol="0" anchor="t"/>
          <a:lstStyle/>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Ru 2 wafer mean은 여전히 +방향 편향, W2는 0.08 nm로 spec 중앙 근처까지 회수.</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Cu 2 wafer는 spec 중앙과 거의 일치, 양 방향 minor 분포.</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W1과 W4의 3σ 차이 0.03 nm는 의미 있는 변동이 아닌 동일 측정 noise 수준으로 해석.</a:t>
            </a:r>
            <a:endParaRPr lang="en-US" sz="1275" dirty="0"/>
          </a:p>
        </p:txBody>
      </p:sp>
      <p:sp>
        <p:nvSpPr>
          <p:cNvPr id="19" name="Text 11"/>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0496398" cy="5734202"/>
          </a:xfrm>
          <a:prstGeom prst="rect">
            <a:avLst/>
          </a:prstGeom>
          <a:solidFill>
            <a:srgbClr val="FAF6EC"/>
          </a:solidFill>
          <a:ln w="12700">
            <a:solidFill>
              <a:srgbClr val="B5A47A"/>
            </a:solidFill>
            <a:prstDash val="solid"/>
          </a:ln>
        </p:spPr>
      </p:sp>
      <p:sp>
        <p:nvSpPr>
          <p:cNvPr id="6" name="Shape 1"/>
          <p:cNvSpPr/>
          <p:nvPr/>
        </p:nvSpPr>
        <p:spPr>
          <a:xfrm>
            <a:off x="11716207" y="2076602"/>
            <a:ext cx="5829300" cy="2686507"/>
          </a:xfrm>
          <a:prstGeom prst="rect">
            <a:avLst/>
          </a:prstGeom>
          <a:solidFill>
            <a:srgbClr val="FAF6EC"/>
          </a:solidFill>
          <a:ln w="12700">
            <a:solidFill>
              <a:srgbClr val="B5A47A"/>
            </a:solidFill>
            <a:prstDash val="solid"/>
          </a:ln>
        </p:spPr>
      </p:sp>
      <p:sp>
        <p:nvSpPr>
          <p:cNvPr id="7" name="Shape 2"/>
          <p:cNvSpPr/>
          <p:nvPr/>
        </p:nvSpPr>
        <p:spPr>
          <a:xfrm>
            <a:off x="11716207" y="4934102"/>
            <a:ext cx="5829300" cy="2876702"/>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08 · CD VARIATION · AMI</a:t>
            </a:r>
            <a:endParaRPr lang="en-US" sz="1200" dirty="0"/>
          </a:p>
        </p:txBody>
      </p:sp>
      <p:sp>
        <p:nvSpPr>
          <p:cNvPr id="10" name="Text 4"/>
          <p:cNvSpPr txBox="1"/>
          <p:nvPr/>
        </p:nvSpPr>
        <p:spPr>
          <a:xfrm>
            <a:off x="761695" y="1296619"/>
            <a:ext cx="14287500"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AMI CD Variation </a:t>
            </a:r>
            <a:pPr algn="l" indent="0" marL="0">
              <a:buNone/>
            </a:pPr>
            <a:r>
              <a:rPr lang="en-US" sz="2250" b="1" dirty="0">
                <a:solidFill>
                  <a:srgbClr val="6F6857"/>
                </a:solidFill>
                <a:latin typeface="JetBrains Mono" pitchFamily="34" charset="0"/>
                <a:ea typeface="JetBrains Mono" pitchFamily="34" charset="-122"/>
                <a:cs typeface="JetBrains Mono" pitchFamily="34" charset="-120"/>
              </a:rPr>
              <a:t>target 9.3 nm · spec ±8%</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0478110" cy="3543300"/>
        </p:xfrm>
        <a:graphic>
          <a:graphicData uri="http://schemas.openxmlformats.org/drawingml/2006/table">
            <a:tbl>
              <a:tblPr/>
              <a:tblGrid>
                <a:gridCol w="1200607"/>
                <a:gridCol w="2247595"/>
                <a:gridCol w="1431950"/>
                <a:gridCol w="1154887"/>
                <a:gridCol w="1782166"/>
                <a:gridCol w="1175004"/>
                <a:gridCol w="1485900"/>
              </a:tblGrid>
              <a:tr h="708660">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Wafer</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Split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Mean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3σ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Range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Δ vs tgt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Spec in?</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W1</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9.34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0.21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9.05 – 9.62</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W2</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9.31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0.18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9.04 – 9.55</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W3</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9.26</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0.24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8.95 – 9.59</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W4</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9.29</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0.22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8.96 – 9.60</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761695" y="8001000"/>
            <a:ext cx="104781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target = 9.3 nm · lower bound 8.56 · upper bound 10.04 · 4 wafer 모두 in-spec, Δ 분포 ±0.04 nm.</a:t>
            </a:r>
            <a:endParaRPr lang="en-US" sz="1050" dirty="0"/>
          </a:p>
        </p:txBody>
      </p:sp>
      <p:sp>
        <p:nvSpPr>
          <p:cNvPr id="13" name="Text 6"/>
          <p:cNvSpPr txBox="1"/>
          <p:nvPr/>
        </p:nvSpPr>
        <p:spPr>
          <a:xfrm>
            <a:off x="12001500" y="22860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SPLIT COMPARE</a:t>
            </a:r>
            <a:endParaRPr lang="en-US" sz="1050" dirty="0"/>
          </a:p>
        </p:txBody>
      </p:sp>
      <p:sp>
        <p:nvSpPr>
          <p:cNvPr id="14" name="Text 7"/>
          <p:cNvSpPr txBox="1"/>
          <p:nvPr/>
        </p:nvSpPr>
        <p:spPr>
          <a:xfrm>
            <a:off x="12001500" y="2514600"/>
            <a:ext cx="5334610" cy="333756"/>
          </a:xfrm>
          <a:prstGeom prst="rect">
            <a:avLst/>
          </a:prstGeom>
          <a:noFill/>
          <a:ln/>
        </p:spPr>
        <p:txBody>
          <a:bodyPr wrap="none" lIns="0" tIns="0" rIns="0" bIns="0" rtlCol="0" anchor="ctr"/>
          <a:lstStyle/>
          <a:p>
            <a:pPr algn="l" indent="0" marL="0">
              <a:buNone/>
            </a:pPr>
            <a:r>
              <a:rPr lang="en-US" sz="1800" b="1" dirty="0">
                <a:solidFill>
                  <a:srgbClr val="1A1F26"/>
                </a:solidFill>
                <a:latin typeface="Manrope" pitchFamily="34" charset="0"/>
                <a:ea typeface="Manrope" pitchFamily="34" charset="-122"/>
                <a:cs typeface="Manrope" pitchFamily="34" charset="-120"/>
              </a:rPr>
              <a:t>AMI — split mean 비교</a:t>
            </a:r>
            <a:endParaRPr lang="en-US" sz="18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12001500" y="2857500"/>
          <a:ext cx="5334610" cy="1200607"/>
        </p:xfrm>
        <a:graphic>
          <a:graphicData uri="http://schemas.openxmlformats.org/drawingml/2006/table">
            <a:tbl>
              <a:tblPr/>
              <a:tblGrid>
                <a:gridCol w="2607869"/>
                <a:gridCol w="1659636"/>
                <a:gridCol w="1067105"/>
              </a:tblGrid>
              <a:tr h="400202">
                <a:tc>
                  <a:txBody>
                    <a:bodyPr/>
                    <a:lstStyle/>
                    <a:p>
                      <a:pPr indent="0" marL="0">
                        <a:buNone/>
                      </a:pPr>
                      <a:r>
                        <a:rPr lang="en-US" sz="1500" dirty="0">
                          <a:solidFill>
                            <a:srgbClr val="A04A30"/>
                          </a:solidFill>
                          <a:latin typeface="JetBrains Mono" pitchFamily="34" charset="0"/>
                          <a:ea typeface="JetBrains Mono" pitchFamily="34" charset="-122"/>
                          <a:cs typeface="JetBrains Mono" pitchFamily="34" charset="-120"/>
                        </a:rPr>
                        <a:t>Ru sub.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9.32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A04A30"/>
                          </a:solidFill>
                          <a:latin typeface="JetBrains Mono" pitchFamily="34" charset="0"/>
                          <a:ea typeface="JetBrains Mono" pitchFamily="34" charset="-122"/>
                          <a:cs typeface="JetBrains Mono" pitchFamily="34" charset="-120"/>
                        </a:rPr>
                        <a:t>+0.02</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C5E7A"/>
                          </a:solidFill>
                          <a:latin typeface="JetBrains Mono" pitchFamily="34" charset="0"/>
                          <a:ea typeface="JetBrains Mono" pitchFamily="34" charset="-122"/>
                          <a:cs typeface="JetBrains Mono" pitchFamily="34" charset="-120"/>
                        </a:rPr>
                        <a:t>Cu dam.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9.28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C5E7A"/>
                          </a:solidFill>
                          <a:latin typeface="JetBrains Mono" pitchFamily="34" charset="0"/>
                          <a:ea typeface="JetBrains Mono" pitchFamily="34" charset="-122"/>
                          <a:cs typeface="JetBrains Mono" pitchFamily="34" charset="-120"/>
                        </a:rPr>
                        <a:t>−0.02</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D3340"/>
                          </a:solidFill>
                          <a:latin typeface="JetBrains Mono" pitchFamily="34" charset="0"/>
                          <a:ea typeface="JetBrains Mono" pitchFamily="34" charset="-122"/>
                          <a:cs typeface="JetBrains Mono" pitchFamily="34" charset="-120"/>
                        </a:rPr>
                        <a:t>Δ split</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0.04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D3340"/>
                          </a:solidFill>
                          <a:latin typeface="JetBrains Mono" pitchFamily="34" charset="0"/>
                          <a:ea typeface="JetBrains Mono" pitchFamily="34" charset="-122"/>
                          <a:cs typeface="JetBrains Mono" pitchFamily="34" charset="-120"/>
                        </a:rPr>
                        <a:t>—</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6" name="Text 8"/>
          <p:cNvSpPr txBox="1"/>
          <p:nvPr/>
        </p:nvSpPr>
        <p:spPr>
          <a:xfrm>
            <a:off x="12001500" y="4076395"/>
            <a:ext cx="5334610" cy="476402"/>
          </a:xfrm>
          <a:prstGeom prst="rect">
            <a:avLst/>
          </a:prstGeom>
          <a:noFill/>
          <a:ln/>
        </p:spPr>
        <p:txBody>
          <a:bodyPr wrap="square" lIns="0" tIns="0" rIns="0" bIns="0" rtlCol="0" anchor="ctr"/>
          <a:lstStyle/>
          <a:p>
            <a:pPr algn="l" indent="0" marL="0">
              <a:lnSpc>
                <a:spcPts val="1860"/>
              </a:lnSpc>
              <a:buNone/>
            </a:pPr>
            <a:r>
              <a:rPr lang="en-US" sz="1200" dirty="0">
                <a:solidFill>
                  <a:srgbClr val="2D3340"/>
                </a:solidFill>
                <a:latin typeface="IBM Plex Sans" pitchFamily="34" charset="0"/>
                <a:ea typeface="IBM Plex Sans" pitchFamily="34" charset="-122"/>
                <a:cs typeface="IBM Plex Sans" pitchFamily="34" charset="-120"/>
              </a:rPr>
              <a:t>AMI에서 split 차이는 0.04 nm로 AASI / ASEI 대비 큰 폭으로 축소. line scale이 작을수록 split 간 위치 차이가 줄고 통계적 동치는 더 강해진다.</a:t>
            </a:r>
            <a:endParaRPr lang="en-US" sz="1200" dirty="0"/>
          </a:p>
        </p:txBody>
      </p:sp>
      <p:sp>
        <p:nvSpPr>
          <p:cNvPr id="17" name="Text 9"/>
          <p:cNvSpPr txBox="1"/>
          <p:nvPr/>
        </p:nvSpPr>
        <p:spPr>
          <a:xfrm>
            <a:off x="12001500" y="51435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READING NOTES</a:t>
            </a:r>
            <a:endParaRPr lang="en-US" sz="1050" dirty="0"/>
          </a:p>
        </p:txBody>
      </p:sp>
      <p:sp>
        <p:nvSpPr>
          <p:cNvPr id="18" name="Text 10"/>
          <p:cNvSpPr txBox="1"/>
          <p:nvPr/>
        </p:nvSpPr>
        <p:spPr>
          <a:xfrm>
            <a:off x="12001500" y="5496458"/>
            <a:ext cx="5334610" cy="1038758"/>
          </a:xfrm>
          <a:prstGeom prst="rect">
            <a:avLst/>
          </a:prstGeom>
          <a:noFill/>
          <a:ln/>
        </p:spPr>
        <p:txBody>
          <a:bodyPr wrap="square" lIns="0" tIns="0" rIns="0" bIns="0" rtlCol="0" anchor="t"/>
          <a:lstStyle/>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모든 wafer in-spec, ±0.04 nm 안의 좁은 분포.</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Ru 2 wafer는 여전히 +방향 편향(평균 +0.02 nm), Cu 측 −0.02 nm.</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3σ 0.18–0.24 nm 범위로 Ru 쪽이 살짝 더 조밀, mask 잔사 영향이 줄어듦을 시사.</a:t>
            </a:r>
            <a:endParaRPr lang="en-US" sz="1275" dirty="0"/>
          </a:p>
        </p:txBody>
      </p:sp>
      <p:sp>
        <p:nvSpPr>
          <p:cNvPr id="19" name="Text 11"/>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0496398" cy="5734202"/>
          </a:xfrm>
          <a:prstGeom prst="rect">
            <a:avLst/>
          </a:prstGeom>
          <a:solidFill>
            <a:srgbClr val="FAF6EC"/>
          </a:solidFill>
          <a:ln w="12700">
            <a:solidFill>
              <a:srgbClr val="B5A47A"/>
            </a:solidFill>
            <a:prstDash val="solid"/>
          </a:ln>
        </p:spPr>
      </p:sp>
      <p:sp>
        <p:nvSpPr>
          <p:cNvPr id="6" name="Shape 1"/>
          <p:cNvSpPr/>
          <p:nvPr/>
        </p:nvSpPr>
        <p:spPr>
          <a:xfrm>
            <a:off x="11716207" y="2076602"/>
            <a:ext cx="5829300" cy="2686507"/>
          </a:xfrm>
          <a:prstGeom prst="rect">
            <a:avLst/>
          </a:prstGeom>
          <a:solidFill>
            <a:srgbClr val="FAF6EC"/>
          </a:solidFill>
          <a:ln w="12700">
            <a:solidFill>
              <a:srgbClr val="B5A47A"/>
            </a:solidFill>
            <a:prstDash val="solid"/>
          </a:ln>
        </p:spPr>
      </p:sp>
      <p:sp>
        <p:nvSpPr>
          <p:cNvPr id="7" name="Shape 2"/>
          <p:cNvSpPr/>
          <p:nvPr/>
        </p:nvSpPr>
        <p:spPr>
          <a:xfrm>
            <a:off x="11716207" y="4934102"/>
            <a:ext cx="5829300" cy="2876702"/>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09 · CD VARIATION · ACI</a:t>
            </a:r>
            <a:endParaRPr lang="en-US" sz="1200" dirty="0"/>
          </a:p>
        </p:txBody>
      </p:sp>
      <p:sp>
        <p:nvSpPr>
          <p:cNvPr id="10" name="Text 4"/>
          <p:cNvSpPr txBox="1"/>
          <p:nvPr/>
        </p:nvSpPr>
        <p:spPr>
          <a:xfrm>
            <a:off x="761695" y="1296619"/>
            <a:ext cx="14287500"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ACI CD Variation </a:t>
            </a:r>
            <a:pPr algn="l" indent="0" marL="0">
              <a:buNone/>
            </a:pPr>
            <a:r>
              <a:rPr lang="en-US" sz="2250" b="1" dirty="0">
                <a:solidFill>
                  <a:srgbClr val="6F6857"/>
                </a:solidFill>
                <a:latin typeface="JetBrains Mono" pitchFamily="34" charset="0"/>
                <a:ea typeface="JetBrains Mono" pitchFamily="34" charset="-122"/>
                <a:cs typeface="JetBrains Mono" pitchFamily="34" charset="-120"/>
              </a:rPr>
              <a:t>target 9.2 nm · spec ±8%</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0478110" cy="3543300"/>
        </p:xfrm>
        <a:graphic>
          <a:graphicData uri="http://schemas.openxmlformats.org/drawingml/2006/table">
            <a:tbl>
              <a:tblPr/>
              <a:tblGrid>
                <a:gridCol w="1200607"/>
                <a:gridCol w="2247595"/>
                <a:gridCol w="1431950"/>
                <a:gridCol w="1154887"/>
                <a:gridCol w="1782166"/>
                <a:gridCol w="1175004"/>
                <a:gridCol w="1485900"/>
              </a:tblGrid>
              <a:tr h="708660">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Wafer</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350" b="1" dirty="0">
                          <a:solidFill>
                            <a:srgbClr val="1A1F26"/>
                          </a:solidFill>
                          <a:latin typeface="IBM Plex Sans" pitchFamily="34" charset="0"/>
                          <a:ea typeface="IBM Plex Sans" pitchFamily="34" charset="-122"/>
                          <a:cs typeface="IBM Plex Sans" pitchFamily="34" charset="-120"/>
                        </a:rPr>
                        <a:t>Split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Mean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3σ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Range (nm)</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Δ vs tgt</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b="1" dirty="0">
                          <a:solidFill>
                            <a:srgbClr val="1A1F26"/>
                          </a:solidFill>
                          <a:latin typeface="IBM Plex Sans" pitchFamily="34" charset="0"/>
                          <a:ea typeface="IBM Plex Sans" pitchFamily="34" charset="-122"/>
                          <a:cs typeface="IBM Plex Sans" pitchFamily="34" charset="-120"/>
                        </a:rPr>
                        <a:t>Spec in?</a:t>
                      </a:r>
                      <a:endParaRPr lang="en-US" sz="1350" dirty="0">
                        <a:latin typeface="IBM Plex Sans" charset="0"/>
                        <a:ea typeface="IBM Plex Sans" charset="0"/>
                        <a:cs typeface="IBM Plex Sans"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W1</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9.24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0.19</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8.97 – 9.51</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W2</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sub.</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9.21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0.17</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8.96 – 9.45</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W3</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9.17</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0.22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8.86 – 9.47</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−0.03</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708660">
                <a:tc>
                  <a:txBody>
                    <a:bodyPr/>
                    <a:lstStyle/>
                    <a:p>
                      <a:pPr indent="0" marL="0">
                        <a:buNone/>
                      </a:pPr>
                      <a:r>
                        <a:rPr lang="en-US" sz="1800" dirty="0">
                          <a:solidFill>
                            <a:srgbClr val="1A1F26"/>
                          </a:solidFill>
                          <a:latin typeface="JetBrains Mono" pitchFamily="34" charset="0"/>
                          <a:ea typeface="JetBrains Mono" pitchFamily="34" charset="-122"/>
                          <a:cs typeface="JetBrains Mono" pitchFamily="34" charset="-120"/>
                        </a:rPr>
                        <a:t>W4</a:t>
                      </a:r>
                      <a:endParaRPr lang="en-US" sz="180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dam.</a:t>
                      </a:r>
                      <a:endParaRPr lang="en-US" sz="135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9.19</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0.21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1A1F26"/>
                          </a:solidFill>
                          <a:latin typeface="JetBrains Mono" pitchFamily="34" charset="0"/>
                          <a:ea typeface="JetBrains Mono" pitchFamily="34" charset="-122"/>
                          <a:cs typeface="JetBrains Mono" pitchFamily="34" charset="-120"/>
                        </a:rPr>
                        <a:t>8.88 – 9.51</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−0.01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2C5E7A"/>
                          </a:solidFill>
                          <a:latin typeface="IBM Plex Sans" pitchFamily="34" charset="0"/>
                          <a:ea typeface="IBM Plex Sans" pitchFamily="34" charset="-122"/>
                          <a:cs typeface="IBM Plex Sans" pitchFamily="34" charset="-120"/>
                        </a:rPr>
                        <a:t>in-spec</a:t>
                      </a:r>
                      <a:endParaRPr lang="en-US" sz="1200" dirty="0">
                        <a:latin typeface="IBM Plex Sans" charset="0"/>
                        <a:ea typeface="IBM Plex Sans" charset="0"/>
                        <a:cs typeface="IBM Plex Sans" charset="0"/>
                      </a:endParaRPr>
                    </a:p>
                  </a:txBody>
                  <a:tcPr marL="171907" marR="171907" marT="228600" marB="2286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761695" y="8001000"/>
            <a:ext cx="104781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target = 9.2 nm · lower bound 8.46 · upper bound 9.94 · 4 wafer 모두 in-spec, Δ 분포 ±0.04 nm.</a:t>
            </a:r>
            <a:endParaRPr lang="en-US" sz="1050" dirty="0"/>
          </a:p>
        </p:txBody>
      </p:sp>
      <p:sp>
        <p:nvSpPr>
          <p:cNvPr id="13" name="Text 6"/>
          <p:cNvSpPr txBox="1"/>
          <p:nvPr/>
        </p:nvSpPr>
        <p:spPr>
          <a:xfrm>
            <a:off x="12001500" y="22860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SPLIT COMPARE</a:t>
            </a:r>
            <a:endParaRPr lang="en-US" sz="1050" dirty="0"/>
          </a:p>
        </p:txBody>
      </p:sp>
      <p:sp>
        <p:nvSpPr>
          <p:cNvPr id="14" name="Text 7"/>
          <p:cNvSpPr txBox="1"/>
          <p:nvPr/>
        </p:nvSpPr>
        <p:spPr>
          <a:xfrm>
            <a:off x="12001500" y="2514600"/>
            <a:ext cx="5334610" cy="333756"/>
          </a:xfrm>
          <a:prstGeom prst="rect">
            <a:avLst/>
          </a:prstGeom>
          <a:noFill/>
          <a:ln/>
        </p:spPr>
        <p:txBody>
          <a:bodyPr wrap="none" lIns="0" tIns="0" rIns="0" bIns="0" rtlCol="0" anchor="ctr"/>
          <a:lstStyle/>
          <a:p>
            <a:pPr algn="l" indent="0" marL="0">
              <a:buNone/>
            </a:pPr>
            <a:r>
              <a:rPr lang="en-US" sz="1800" b="1" dirty="0">
                <a:solidFill>
                  <a:srgbClr val="1A1F26"/>
                </a:solidFill>
                <a:latin typeface="Manrope" pitchFamily="34" charset="0"/>
                <a:ea typeface="Manrope" pitchFamily="34" charset="-122"/>
                <a:cs typeface="Manrope" pitchFamily="34" charset="-120"/>
              </a:rPr>
              <a:t>ACI — split mean 비교</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12001500" y="2857500"/>
          <a:ext cx="5334610" cy="1200607"/>
        </p:xfrm>
        <a:graphic>
          <a:graphicData uri="http://schemas.openxmlformats.org/drawingml/2006/table">
            <a:tbl>
              <a:tblPr/>
              <a:tblGrid>
                <a:gridCol w="2607869"/>
                <a:gridCol w="1659636"/>
                <a:gridCol w="1067105"/>
              </a:tblGrid>
              <a:tr h="400202">
                <a:tc>
                  <a:txBody>
                    <a:bodyPr/>
                    <a:lstStyle/>
                    <a:p>
                      <a:pPr indent="0" marL="0">
                        <a:buNone/>
                      </a:pPr>
                      <a:r>
                        <a:rPr lang="en-US" sz="1500" dirty="0">
                          <a:solidFill>
                            <a:srgbClr val="A04A30"/>
                          </a:solidFill>
                          <a:latin typeface="JetBrains Mono" pitchFamily="34" charset="0"/>
                          <a:ea typeface="JetBrains Mono" pitchFamily="34" charset="-122"/>
                          <a:cs typeface="JetBrains Mono" pitchFamily="34" charset="-120"/>
                        </a:rPr>
                        <a:t>Ru sub.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9.22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A04A30"/>
                          </a:solidFill>
                          <a:latin typeface="JetBrains Mono" pitchFamily="34" charset="0"/>
                          <a:ea typeface="JetBrains Mono" pitchFamily="34" charset="-122"/>
                          <a:cs typeface="JetBrains Mono" pitchFamily="34" charset="-120"/>
                        </a:rPr>
                        <a:t>+0.02</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C5E7A"/>
                          </a:solidFill>
                          <a:latin typeface="JetBrains Mono" pitchFamily="34" charset="0"/>
                          <a:ea typeface="JetBrains Mono" pitchFamily="34" charset="-122"/>
                          <a:cs typeface="JetBrains Mono" pitchFamily="34" charset="-120"/>
                        </a:rPr>
                        <a:t>Cu dam. avg</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9.18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C5E7A"/>
                          </a:solidFill>
                          <a:latin typeface="JetBrains Mono" pitchFamily="34" charset="0"/>
                          <a:ea typeface="JetBrains Mono" pitchFamily="34" charset="-122"/>
                          <a:cs typeface="JetBrains Mono" pitchFamily="34" charset="-120"/>
                        </a:rPr>
                        <a:t>−0.02</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00202">
                <a:tc>
                  <a:txBody>
                    <a:bodyPr/>
                    <a:lstStyle/>
                    <a:p>
                      <a:pPr indent="0" marL="0">
                        <a:buNone/>
                      </a:pPr>
                      <a:r>
                        <a:rPr lang="en-US" sz="1500" dirty="0">
                          <a:solidFill>
                            <a:srgbClr val="2D3340"/>
                          </a:solidFill>
                          <a:latin typeface="JetBrains Mono" pitchFamily="34" charset="0"/>
                          <a:ea typeface="JetBrains Mono" pitchFamily="34" charset="-122"/>
                          <a:cs typeface="JetBrains Mono" pitchFamily="34" charset="-120"/>
                        </a:rPr>
                        <a:t>Δ split</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0.04 nm</a:t>
                      </a:r>
                      <a:endParaRPr lang="en-US" sz="150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2D3340"/>
                          </a:solidFill>
                          <a:latin typeface="JetBrains Mono" pitchFamily="34" charset="0"/>
                          <a:ea typeface="JetBrains Mono" pitchFamily="34" charset="-122"/>
                          <a:cs typeface="JetBrains Mono" pitchFamily="34" charset="-120"/>
                        </a:rPr>
                        <a:t>—</a:t>
                      </a:r>
                      <a:endParaRPr lang="en-US" sz="1350" dirty="0">
                        <a:latin typeface="JetBrains Mono" charset="0"/>
                        <a:ea typeface="JetBrains Mono" charset="0"/>
                        <a:cs typeface="JetBrains Mono"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6" name="Text 8"/>
          <p:cNvSpPr txBox="1"/>
          <p:nvPr/>
        </p:nvSpPr>
        <p:spPr>
          <a:xfrm>
            <a:off x="12001500" y="4076395"/>
            <a:ext cx="5334610" cy="476402"/>
          </a:xfrm>
          <a:prstGeom prst="rect">
            <a:avLst/>
          </a:prstGeom>
          <a:noFill/>
          <a:ln/>
        </p:spPr>
        <p:txBody>
          <a:bodyPr wrap="square" lIns="0" tIns="0" rIns="0" bIns="0" rtlCol="0" anchor="ctr"/>
          <a:lstStyle/>
          <a:p>
            <a:pPr algn="l" indent="0" marL="0">
              <a:lnSpc>
                <a:spcPts val="1860"/>
              </a:lnSpc>
              <a:buNone/>
            </a:pPr>
            <a:r>
              <a:rPr lang="en-US" sz="1200" dirty="0">
                <a:solidFill>
                  <a:srgbClr val="2D3340"/>
                </a:solidFill>
                <a:latin typeface="IBM Plex Sans" pitchFamily="34" charset="0"/>
                <a:ea typeface="IBM Plex Sans" pitchFamily="34" charset="-122"/>
                <a:cs typeface="IBM Plex Sans" pitchFamily="34" charset="-120"/>
              </a:rPr>
              <a:t>ACI 패턴은 AMI와 거의 동일한 trend. via top CD 기준, 동일 lot 내 변동 0.03 nm 수준으로 안정적이며 split 차이는 0.04 nm.</a:t>
            </a:r>
            <a:endParaRPr lang="en-US" sz="1200" dirty="0"/>
          </a:p>
        </p:txBody>
      </p:sp>
      <p:sp>
        <p:nvSpPr>
          <p:cNvPr id="17" name="Text 9"/>
          <p:cNvSpPr txBox="1"/>
          <p:nvPr/>
        </p:nvSpPr>
        <p:spPr>
          <a:xfrm>
            <a:off x="12001500" y="5143500"/>
            <a:ext cx="5334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READING NOTES</a:t>
            </a:r>
            <a:endParaRPr lang="en-US" sz="1050" dirty="0"/>
          </a:p>
        </p:txBody>
      </p:sp>
      <p:sp>
        <p:nvSpPr>
          <p:cNvPr id="18" name="Text 10"/>
          <p:cNvSpPr txBox="1"/>
          <p:nvPr/>
        </p:nvSpPr>
        <p:spPr>
          <a:xfrm>
            <a:off x="12001500" y="5496458"/>
            <a:ext cx="5334610" cy="1285646"/>
          </a:xfrm>
          <a:prstGeom prst="rect">
            <a:avLst/>
          </a:prstGeom>
          <a:noFill/>
          <a:ln/>
        </p:spPr>
        <p:txBody>
          <a:bodyPr wrap="square" lIns="0" tIns="0" rIns="0" bIns="0" rtlCol="0" anchor="t"/>
          <a:lstStyle/>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ACI 4 wafer 모두 ±0.04 nm 안, AASI 대비 0.18 nm → 0.04 nm로 split 위치 차이가 축소.</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Wafer 내 변동(3σ)도 AMI와 거의 일치(0.17–0.22 nm).</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Spec 사용 가능 margin은 AMI보다 ACI가 0.20 nm 더 좁아, 통계적 동치는 확보되나 절대 margin 관리 주의.</a:t>
            </a:r>
            <a:endParaRPr lang="en-US" sz="1275" dirty="0"/>
          </a:p>
        </p:txBody>
      </p:sp>
      <p:sp>
        <p:nvSpPr>
          <p:cNvPr id="19" name="Text 11"/>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6782898" cy="4781398"/>
          </a:xfrm>
          <a:prstGeom prst="rect">
            <a:avLst/>
          </a:prstGeom>
          <a:solidFill>
            <a:srgbClr val="FAF6EC"/>
          </a:solidFill>
          <a:ln w="12700">
            <a:solidFill>
              <a:srgbClr val="B5A47A"/>
            </a:solidFill>
            <a:prstDash val="solid"/>
          </a:ln>
        </p:spPr>
      </p:sp>
      <p:sp>
        <p:nvSpPr>
          <p:cNvPr id="6" name="Shape 1"/>
          <p:cNvSpPr/>
          <p:nvPr/>
        </p:nvSpPr>
        <p:spPr>
          <a:xfrm>
            <a:off x="761695" y="7125005"/>
            <a:ext cx="10306202" cy="2210105"/>
          </a:xfrm>
          <a:prstGeom prst="rect">
            <a:avLst/>
          </a:prstGeom>
          <a:solidFill>
            <a:srgbClr val="FAF6EC"/>
          </a:solidFill>
          <a:ln w="12700">
            <a:solidFill>
              <a:srgbClr val="B5A47A"/>
            </a:solidFill>
            <a:prstDash val="solid"/>
          </a:ln>
        </p:spPr>
      </p:sp>
      <p:sp>
        <p:nvSpPr>
          <p:cNvPr id="7" name="Shape 2"/>
          <p:cNvSpPr/>
          <p:nvPr/>
        </p:nvSpPr>
        <p:spPr>
          <a:xfrm>
            <a:off x="11239805" y="7125005"/>
            <a:ext cx="6305702" cy="2210105"/>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5715000"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10 · CROSS-METRIC SUMMARY</a:t>
            </a:r>
            <a:endParaRPr lang="en-US" sz="1200" dirty="0"/>
          </a:p>
        </p:txBody>
      </p:sp>
      <p:sp>
        <p:nvSpPr>
          <p:cNvPr id="10" name="Text 4"/>
          <p:cNvSpPr txBox="1"/>
          <p:nvPr/>
        </p:nvSpPr>
        <p:spPr>
          <a:xfrm>
            <a:off x="761695" y="1296619"/>
            <a:ext cx="14287500" cy="505663"/>
          </a:xfrm>
          <a:prstGeom prst="rect">
            <a:avLst/>
          </a:prstGeom>
          <a:noFill/>
          <a:ln/>
        </p:spPr>
        <p:txBody>
          <a:bodyPr wrap="none" lIns="0" tIns="0" rIns="0" bIns="0" rtlCol="0" anchor="ctr"/>
          <a:lstStyle/>
          <a:p>
            <a:pPr algn="l" indent="0" marL="0">
              <a:buNone/>
            </a:pPr>
            <a:r>
              <a:rPr lang="en-US" sz="3600" b="1" dirty="0">
                <a:solidFill>
                  <a:srgbClr val="1A1F26"/>
                </a:solidFill>
                <a:latin typeface="Manrope" pitchFamily="34" charset="0"/>
                <a:ea typeface="Manrope" pitchFamily="34" charset="-122"/>
                <a:cs typeface="Manrope" pitchFamily="34" charset="-120"/>
              </a:rPr>
              <a:t>4개 메트릭 Cross-Summary</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6764610" cy="3801161"/>
        </p:xfrm>
        <a:graphic>
          <a:graphicData uri="http://schemas.openxmlformats.org/drawingml/2006/table">
            <a:tbl>
              <a:tblPr/>
              <a:tblGrid>
                <a:gridCol w="1485819"/>
                <a:gridCol w="1485819"/>
                <a:gridCol w="1740008"/>
                <a:gridCol w="1740008"/>
                <a:gridCol w="1740008"/>
                <a:gridCol w="1740008"/>
                <a:gridCol w="1740008"/>
                <a:gridCol w="1740008"/>
                <a:gridCol w="1485819"/>
                <a:gridCol w="1867103"/>
              </a:tblGrid>
              <a:tr h="633527">
                <a:tc rowSpan="2">
                  <a:txBody>
                    <a:bodyPr/>
                    <a:lstStyle/>
                    <a:p>
                      <a:pPr algn="l" indent="0" marL="0">
                        <a:buNone/>
                      </a:pPr>
                      <a:r>
                        <a:rPr lang="en-US" sz="1275" b="1" dirty="0">
                          <a:solidFill>
                            <a:srgbClr val="1A1F26"/>
                          </a:solidFill>
                          <a:latin typeface="IBM Plex Sans" pitchFamily="34" charset="0"/>
                          <a:ea typeface="IBM Plex Sans" pitchFamily="34" charset="-122"/>
                          <a:cs typeface="IBM Plex Sans" pitchFamily="34" charset="-120"/>
                        </a:rPr>
                        <a:t>Metric</a:t>
                      </a:r>
                      <a:endParaRPr lang="en-US" sz="1275" dirty="0">
                        <a:latin typeface="IBM Plex Sans" charset="0"/>
                        <a:ea typeface="IBM Plex Sans" charset="0"/>
                        <a:cs typeface="IBM Plex Sans" charset="0"/>
                      </a:endParaRPr>
                    </a:p>
                  </a:txBody>
                  <a:tcPr marL="171907" marR="171907" marT="133502" marB="133502"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rowSpan="2">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Target</a:t>
                      </a:r>
                      <a:endParaRPr lang="en-US" sz="1275" dirty="0">
                        <a:latin typeface="IBM Plex Sans" charset="0"/>
                        <a:ea typeface="IBM Plex Sans" charset="0"/>
                        <a:cs typeface="IBM Plex Sans" charset="0"/>
                      </a:endParaRPr>
                    </a:p>
                  </a:txBody>
                  <a:tcPr marL="171907" marR="171907" marT="133502" marB="133502"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gridSpan="3">
                  <a:txBody>
                    <a:bodyPr/>
                    <a:lstStyle/>
                    <a:p>
                      <a:pPr algn="ctr" indent="0" marL="0">
                        <a:buNone/>
                      </a:pPr>
                      <a:r>
                        <a:rPr lang="en-US" sz="1275" b="1" dirty="0">
                          <a:solidFill>
                            <a:srgbClr val="A04A30"/>
                          </a:solidFill>
                          <a:latin typeface="IBM Plex Sans" pitchFamily="34" charset="0"/>
                          <a:ea typeface="IBM Plex Sans" pitchFamily="34" charset="-122"/>
                          <a:cs typeface="IBM Plex Sans" pitchFamily="34" charset="-120"/>
                        </a:rPr>
                        <a:t>Ru sub. (W1·W2)</a:t>
                      </a:r>
                      <a:endParaRPr lang="en-US" sz="1275" dirty="0">
                        <a:latin typeface="IBM Plex Sans" charset="0"/>
                        <a:ea typeface="IBM Plex Sans" charset="0"/>
                        <a:cs typeface="IBM Plex Sans" charset="0"/>
                      </a:endParaRPr>
                    </a:p>
                  </a:txBody>
                  <a:tcPr marL="171907" marR="171907" marT="133502" marB="133502"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hMerge="1">
                  <a:tcPr/>
                </a:tc>
                <a:tc hMerge="1">
                  <a:tcPr/>
                </a:tc>
                <a:tc gridSpan="3">
                  <a:txBody>
                    <a:bodyPr/>
                    <a:lstStyle/>
                    <a:p>
                      <a:pPr algn="ctr" indent="0" marL="0">
                        <a:buNone/>
                      </a:pPr>
                      <a:r>
                        <a:rPr lang="en-US" sz="1275" b="1" dirty="0">
                          <a:solidFill>
                            <a:srgbClr val="2C5E7A"/>
                          </a:solidFill>
                          <a:latin typeface="IBM Plex Sans" pitchFamily="34" charset="0"/>
                          <a:ea typeface="IBM Plex Sans" pitchFamily="34" charset="-122"/>
                          <a:cs typeface="IBM Plex Sans" pitchFamily="34" charset="-120"/>
                        </a:rPr>
                        <a:t>Cu dam. (W3·W4)</a:t>
                      </a:r>
                      <a:endParaRPr lang="en-US" sz="1275" dirty="0">
                        <a:latin typeface="IBM Plex Sans" charset="0"/>
                        <a:ea typeface="IBM Plex Sans" charset="0"/>
                        <a:cs typeface="IBM Plex Sans" charset="0"/>
                      </a:endParaRPr>
                    </a:p>
                  </a:txBody>
                  <a:tcPr marL="171907" marR="171907" marT="133502" marB="133502"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9525" cap="flat" cmpd="sng" algn="ctr">
                      <a:solidFill>
                        <a:srgbClr val="B5A47A"/>
                      </a:solidFill>
                      <a:prstDash val="solid"/>
                      <a:round/>
                      <a:headEnd type="none" w="med" len="med"/>
                      <a:tailEnd type="none" w="med" len="med"/>
                    </a:lnB>
                  </a:tcPr>
                </a:tc>
                <a:tc hMerge="1">
                  <a:tcPr/>
                </a:tc>
                <a:tc hMerge="1">
                  <a:tcPr/>
                </a:tc>
                <a:tc rowSpan="2">
                  <a:txBody>
                    <a:bodyPr/>
                    <a:lstStyle/>
                    <a:p>
                      <a:pPr algn="ctr" indent="0" marL="0">
                        <a:buNone/>
                      </a:pPr>
                      <a:r>
                        <a:rPr lang="en-US" sz="1275" b="1" dirty="0">
                          <a:solidFill>
                            <a:srgbClr val="2D3340"/>
                          </a:solidFill>
                          <a:latin typeface="IBM Plex Sans" pitchFamily="34" charset="0"/>
                          <a:ea typeface="IBM Plex Sans" pitchFamily="34" charset="-122"/>
                          <a:cs typeface="IBM Plex Sans" pitchFamily="34" charset="-120"/>
                        </a:rPr>
                        <a:t>Spec</a:t>
                      </a:r>
                      <a:endParaRPr lang="en-US" sz="1275" dirty="0">
                        <a:latin typeface="IBM Plex Sans" charset="0"/>
                        <a:ea typeface="IBM Plex Sans" charset="0"/>
                        <a:cs typeface="IBM Plex Sans" charset="0"/>
                      </a:endParaRPr>
                    </a:p>
                  </a:txBody>
                  <a:tcPr marL="171907" marR="171907" marT="133502" marB="133502"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rowSpan="2">
                  <a:txBody>
                    <a:bodyPr/>
                    <a:lstStyle/>
                    <a:p>
                      <a:pPr algn="ctr" indent="0" marL="0">
                        <a:buNone/>
                      </a:pPr>
                      <a:r>
                        <a:rPr lang="en-US" sz="1275" b="1" dirty="0">
                          <a:solidFill>
                            <a:srgbClr val="2D3340"/>
                          </a:solidFill>
                          <a:latin typeface="IBM Plex Sans" pitchFamily="34" charset="0"/>
                          <a:ea typeface="IBM Plex Sans" pitchFamily="34" charset="-122"/>
                          <a:cs typeface="IBM Plex Sans" pitchFamily="34" charset="-120"/>
                        </a:rPr>
                        <a:t>Read</a:t>
                      </a:r>
                      <a:endParaRPr lang="en-US" sz="1275" dirty="0">
                        <a:latin typeface="IBM Plex Sans" charset="0"/>
                        <a:ea typeface="IBM Plex Sans" charset="0"/>
                        <a:cs typeface="IBM Plex Sans" charset="0"/>
                      </a:endParaRPr>
                    </a:p>
                  </a:txBody>
                  <a:tcPr marL="171907" marR="171907" marT="133502" marB="133502"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r>
              <a:tr h="633527">
                <a:tc vMerge="1">
                  <a:tcPr/>
                </a:tc>
                <a:tc vMerge="1">
                  <a:tcPr/>
                </a:tc>
                <a:tc>
                  <a:txBody>
                    <a:bodyPr/>
                    <a:lstStyle/>
                    <a:p>
                      <a:pPr algn="r" indent="0" marL="0">
                        <a:buNone/>
                      </a:pPr>
                      <a:r>
                        <a:rPr lang="en-US" sz="1125" dirty="0">
                          <a:solidFill>
                            <a:srgbClr val="1A1F26"/>
                          </a:solidFill>
                          <a:latin typeface="IBM Plex Sans" pitchFamily="34" charset="0"/>
                          <a:ea typeface="IBM Plex Sans" pitchFamily="34" charset="-122"/>
                          <a:cs typeface="IBM Plex Sans" pitchFamily="34" charset="-120"/>
                        </a:rPr>
                        <a:t>avg mean</a:t>
                      </a:r>
                      <a:endParaRPr lang="en-US" sz="1125" dirty="0">
                        <a:latin typeface="IBM Plex Sans" charset="0"/>
                        <a:ea typeface="IBM Plex Sans" charset="0"/>
                        <a:cs typeface="IBM Plex Sans" charset="0"/>
                      </a:endParaRPr>
                    </a:p>
                  </a:txBody>
                  <a:tcPr marL="133502" marR="133502"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125" dirty="0">
                          <a:solidFill>
                            <a:srgbClr val="1A1F26"/>
                          </a:solidFill>
                          <a:latin typeface="IBM Plex Sans" pitchFamily="34" charset="0"/>
                          <a:ea typeface="IBM Plex Sans" pitchFamily="34" charset="-122"/>
                          <a:cs typeface="IBM Plex Sans" pitchFamily="34" charset="-120"/>
                        </a:rPr>
                        <a:t>avg 3σ</a:t>
                      </a:r>
                      <a:endParaRPr lang="en-US" sz="1125" dirty="0">
                        <a:latin typeface="IBM Plex Sans" charset="0"/>
                        <a:ea typeface="IBM Plex Sans" charset="0"/>
                        <a:cs typeface="IBM Plex Sans" charset="0"/>
                      </a:endParaRPr>
                    </a:p>
                  </a:txBody>
                  <a:tcPr marL="133502" marR="133502"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125" dirty="0">
                          <a:solidFill>
                            <a:srgbClr val="1A1F26"/>
                          </a:solidFill>
                          <a:latin typeface="IBM Plex Sans" pitchFamily="34" charset="0"/>
                          <a:ea typeface="IBM Plex Sans" pitchFamily="34" charset="-122"/>
                          <a:cs typeface="IBM Plex Sans" pitchFamily="34" charset="-120"/>
                        </a:rPr>
                        <a:t>avg Δ</a:t>
                      </a:r>
                      <a:endParaRPr lang="en-US" sz="1125" dirty="0">
                        <a:latin typeface="IBM Plex Sans" charset="0"/>
                        <a:ea typeface="IBM Plex Sans" charset="0"/>
                        <a:cs typeface="IBM Plex Sans" charset="0"/>
                      </a:endParaRPr>
                    </a:p>
                  </a:txBody>
                  <a:tcPr marL="133502" marR="133502"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125" dirty="0">
                          <a:solidFill>
                            <a:srgbClr val="1A1F26"/>
                          </a:solidFill>
                          <a:latin typeface="IBM Plex Sans" pitchFamily="34" charset="0"/>
                          <a:ea typeface="IBM Plex Sans" pitchFamily="34" charset="-122"/>
                          <a:cs typeface="IBM Plex Sans" pitchFamily="34" charset="-120"/>
                        </a:rPr>
                        <a:t>avg mean</a:t>
                      </a:r>
                      <a:endParaRPr lang="en-US" sz="1125" dirty="0">
                        <a:latin typeface="IBM Plex Sans" charset="0"/>
                        <a:ea typeface="IBM Plex Sans" charset="0"/>
                        <a:cs typeface="IBM Plex Sans" charset="0"/>
                      </a:endParaRPr>
                    </a:p>
                  </a:txBody>
                  <a:tcPr marL="133502" marR="133502"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125" dirty="0">
                          <a:solidFill>
                            <a:srgbClr val="1A1F26"/>
                          </a:solidFill>
                          <a:latin typeface="IBM Plex Sans" pitchFamily="34" charset="0"/>
                          <a:ea typeface="IBM Plex Sans" pitchFamily="34" charset="-122"/>
                          <a:cs typeface="IBM Plex Sans" pitchFamily="34" charset="-120"/>
                        </a:rPr>
                        <a:t>avg 3σ</a:t>
                      </a:r>
                      <a:endParaRPr lang="en-US" sz="1125" dirty="0">
                        <a:latin typeface="IBM Plex Sans" charset="0"/>
                        <a:ea typeface="IBM Plex Sans" charset="0"/>
                        <a:cs typeface="IBM Plex Sans" charset="0"/>
                      </a:endParaRPr>
                    </a:p>
                  </a:txBody>
                  <a:tcPr marL="133502" marR="133502"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125" dirty="0">
                          <a:solidFill>
                            <a:srgbClr val="1A1F26"/>
                          </a:solidFill>
                          <a:latin typeface="IBM Plex Sans" pitchFamily="34" charset="0"/>
                          <a:ea typeface="IBM Plex Sans" pitchFamily="34" charset="-122"/>
                          <a:cs typeface="IBM Plex Sans" pitchFamily="34" charset="-120"/>
                        </a:rPr>
                        <a:t>avg Δ</a:t>
                      </a:r>
                      <a:endParaRPr lang="en-US" sz="1125" dirty="0">
                        <a:latin typeface="IBM Plex Sans" charset="0"/>
                        <a:ea typeface="IBM Plex Sans" charset="0"/>
                        <a:cs typeface="IBM Plex Sans" charset="0"/>
                      </a:endParaRPr>
                    </a:p>
                  </a:txBody>
                  <a:tcPr marL="133502" marR="133502" marT="75895" marB="75895"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vMerge="1">
                  <a:tcPr/>
                </a:tc>
                <a:tc vMerge="1">
                  <a:tcPr/>
                </a:tc>
              </a:tr>
              <a:tr h="633527">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AASI</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25.4</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25.58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0.39</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A04A30"/>
                          </a:solidFill>
                          <a:latin typeface="JetBrains Mono" pitchFamily="34" charset="0"/>
                          <a:ea typeface="JetBrains Mono" pitchFamily="34" charset="-122"/>
                          <a:cs typeface="JetBrains Mono" pitchFamily="34" charset="-120"/>
                        </a:rPr>
                        <a:t>+0.18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25.40</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0.47</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2C5E7A"/>
                          </a:solidFill>
                          <a:latin typeface="JetBrains Mono" pitchFamily="34" charset="0"/>
                          <a:ea typeface="JetBrains Mono" pitchFamily="34" charset="-122"/>
                          <a:cs typeface="JetBrains Mono" pitchFamily="34" charset="-120"/>
                        </a:rPr>
                        <a:t>0.00</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350" dirty="0">
                          <a:solidFill>
                            <a:srgbClr val="2D3340"/>
                          </a:solidFill>
                          <a:latin typeface="JetBrains Mono" pitchFamily="34" charset="0"/>
                          <a:ea typeface="JetBrains Mono" pitchFamily="34" charset="-122"/>
                          <a:cs typeface="JetBrains Mono" pitchFamily="34" charset="-120"/>
                        </a:rPr>
                        <a:t>±5%</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275" b="1" dirty="0">
                          <a:solidFill>
                            <a:srgbClr val="A04A30"/>
                          </a:solidFill>
                          <a:latin typeface="IBM Plex Sans" pitchFamily="34" charset="0"/>
                          <a:ea typeface="IBM Plex Sans" pitchFamily="34" charset="-122"/>
                          <a:cs typeface="IBM Plex Sans" pitchFamily="34" charset="-120"/>
                        </a:rPr>
                        <a:t>marginal</a:t>
                      </a:r>
                      <a:endParaRPr lang="en-US" sz="1275" dirty="0">
                        <a:latin typeface="IBM Plex Sans" charset="0"/>
                        <a:ea typeface="IBM Plex Sans" charset="0"/>
                        <a:cs typeface="IBM Plex Sans"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r>
              <a:tr h="633527">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ASEI</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17.8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17.91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0.31</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A04A30"/>
                          </a:solidFill>
                          <a:latin typeface="JetBrains Mono" pitchFamily="34" charset="0"/>
                          <a:ea typeface="JetBrains Mono" pitchFamily="34" charset="-122"/>
                          <a:cs typeface="JetBrains Mono" pitchFamily="34" charset="-120"/>
                        </a:rPr>
                        <a:t>+0.11</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17.78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0.37</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2C5E7A"/>
                          </a:solidFill>
                          <a:latin typeface="JetBrains Mono" pitchFamily="34" charset="0"/>
                          <a:ea typeface="JetBrains Mono" pitchFamily="34" charset="-122"/>
                          <a:cs typeface="JetBrains Mono" pitchFamily="34" charset="-120"/>
                        </a:rPr>
                        <a:t>−0.02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350" dirty="0">
                          <a:solidFill>
                            <a:srgbClr val="2D3340"/>
                          </a:solidFill>
                          <a:latin typeface="JetBrains Mono" pitchFamily="34" charset="0"/>
                          <a:ea typeface="JetBrains Mono" pitchFamily="34" charset="-122"/>
                          <a:cs typeface="JetBrains Mono" pitchFamily="34" charset="-120"/>
                        </a:rPr>
                        <a:t>±7%</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275" b="1" dirty="0">
                          <a:solidFill>
                            <a:srgbClr val="2C5E7A"/>
                          </a:solidFill>
                          <a:latin typeface="IBM Plex Sans" pitchFamily="34" charset="0"/>
                          <a:ea typeface="IBM Plex Sans" pitchFamily="34" charset="-122"/>
                          <a:cs typeface="IBM Plex Sans" pitchFamily="34" charset="-120"/>
                        </a:rPr>
                        <a:t>in-spec</a:t>
                      </a:r>
                      <a:endParaRPr lang="en-US" sz="1275" dirty="0">
                        <a:latin typeface="IBM Plex Sans" charset="0"/>
                        <a:ea typeface="IBM Plex Sans" charset="0"/>
                        <a:cs typeface="IBM Plex Sans"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r>
              <a:tr h="633527">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AMI</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9.3</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9.32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0.20</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A04A30"/>
                          </a:solidFill>
                          <a:latin typeface="JetBrains Mono" pitchFamily="34" charset="0"/>
                          <a:ea typeface="JetBrains Mono" pitchFamily="34" charset="-122"/>
                          <a:cs typeface="JetBrains Mono" pitchFamily="34" charset="-120"/>
                        </a:rPr>
                        <a:t>+0.02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9.28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0.23</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2C5E7A"/>
                          </a:solidFill>
                          <a:latin typeface="JetBrains Mono" pitchFamily="34" charset="0"/>
                          <a:ea typeface="JetBrains Mono" pitchFamily="34" charset="-122"/>
                          <a:cs typeface="JetBrains Mono" pitchFamily="34" charset="-120"/>
                        </a:rPr>
                        <a:t>−0.02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350" dirty="0">
                          <a:solidFill>
                            <a:srgbClr val="2D3340"/>
                          </a:solidFill>
                          <a:latin typeface="JetBrains Mono" pitchFamily="34" charset="0"/>
                          <a:ea typeface="JetBrains Mono" pitchFamily="34" charset="-122"/>
                          <a:cs typeface="JetBrains Mono" pitchFamily="34" charset="-120"/>
                        </a:rPr>
                        <a:t>±8%</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275" b="1" dirty="0">
                          <a:solidFill>
                            <a:srgbClr val="2C5E7A"/>
                          </a:solidFill>
                          <a:latin typeface="IBM Plex Sans" pitchFamily="34" charset="0"/>
                          <a:ea typeface="IBM Plex Sans" pitchFamily="34" charset="-122"/>
                          <a:cs typeface="IBM Plex Sans" pitchFamily="34" charset="-120"/>
                        </a:rPr>
                        <a:t>in-spec</a:t>
                      </a:r>
                      <a:endParaRPr lang="en-US" sz="1275" dirty="0">
                        <a:latin typeface="IBM Plex Sans" charset="0"/>
                        <a:ea typeface="IBM Plex Sans" charset="0"/>
                        <a:cs typeface="IBM Plex Sans"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r>
              <a:tr h="633527">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ACI</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9.22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0.18</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A04A30"/>
                          </a:solidFill>
                          <a:latin typeface="JetBrains Mono" pitchFamily="34" charset="0"/>
                          <a:ea typeface="JetBrains Mono" pitchFamily="34" charset="-122"/>
                          <a:cs typeface="JetBrains Mono" pitchFamily="34" charset="-120"/>
                        </a:rPr>
                        <a:t>+0.02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1A1F26"/>
                          </a:solidFill>
                          <a:latin typeface="JetBrains Mono" pitchFamily="34" charset="0"/>
                          <a:ea typeface="JetBrains Mono" pitchFamily="34" charset="-122"/>
                          <a:cs typeface="JetBrains Mono" pitchFamily="34" charset="-120"/>
                        </a:rPr>
                        <a:t>9.18</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0.22</a:t>
                      </a:r>
                      <a:endParaRPr lang="en-US" sz="150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r" indent="0" marL="0">
                        <a:buNone/>
                      </a:pPr>
                      <a:r>
                        <a:rPr lang="en-US" sz="1650" dirty="0">
                          <a:solidFill>
                            <a:srgbClr val="2C5E7A"/>
                          </a:solidFill>
                          <a:latin typeface="JetBrains Mono" pitchFamily="34" charset="0"/>
                          <a:ea typeface="JetBrains Mono" pitchFamily="34" charset="-122"/>
                          <a:cs typeface="JetBrains Mono" pitchFamily="34" charset="-120"/>
                        </a:rPr>
                        <a:t>−0.02</a:t>
                      </a:r>
                      <a:endParaRPr lang="en-US" sz="16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350" dirty="0">
                          <a:solidFill>
                            <a:srgbClr val="2D3340"/>
                          </a:solidFill>
                          <a:latin typeface="JetBrains Mono" pitchFamily="34" charset="0"/>
                          <a:ea typeface="JetBrains Mono" pitchFamily="34" charset="-122"/>
                          <a:cs typeface="JetBrains Mono" pitchFamily="34" charset="-120"/>
                        </a:rPr>
                        <a:t>±8%</a:t>
                      </a:r>
                      <a:endParaRPr lang="en-US" sz="1350" dirty="0">
                        <a:latin typeface="JetBrains Mono" charset="0"/>
                        <a:ea typeface="JetBrains Mono" charset="0"/>
                        <a:cs typeface="JetBrains Mono"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c>
                  <a:txBody>
                    <a:bodyPr/>
                    <a:lstStyle/>
                    <a:p>
                      <a:pPr algn="ctr" indent="0" marL="0">
                        <a:buNone/>
                      </a:pPr>
                      <a:r>
                        <a:rPr lang="en-US" sz="1275" b="1" dirty="0">
                          <a:solidFill>
                            <a:srgbClr val="2C5E7A"/>
                          </a:solidFill>
                          <a:latin typeface="IBM Plex Sans" pitchFamily="34" charset="0"/>
                          <a:ea typeface="IBM Plex Sans" pitchFamily="34" charset="-122"/>
                          <a:cs typeface="IBM Plex Sans" pitchFamily="34" charset="-120"/>
                        </a:rPr>
                        <a:t>in-spec</a:t>
                      </a:r>
                      <a:endParaRPr lang="en-US" sz="1275" dirty="0">
                        <a:latin typeface="IBM Plex Sans" charset="0"/>
                        <a:ea typeface="IBM Plex Sans" charset="0"/>
                        <a:cs typeface="IBM Plex Sans" charset="0"/>
                      </a:endParaRPr>
                    </a:p>
                  </a:txBody>
                  <a:tcPr marL="171907" marR="171907" marT="228600" marB="228600" anchor="ctr">
                    <a:lnL w="0" cap="flat" cmpd="sng" algn="ctr">
                      <a:solidFill>
                        <a:srgbClr val="B5A47A"/>
                      </a:solidFill>
                      <a:prstDash val="solid"/>
                      <a:round/>
                      <a:headEnd type="none" w="med" len="med"/>
                      <a:tailEnd type="none" w="med" len="med"/>
                    </a:lnL>
                    <a:lnR w="0" cap="flat" cmpd="sng" algn="ctr">
                      <a:solidFill>
                        <a:srgbClr val="B5A47A"/>
                      </a:solidFill>
                      <a:prstDash val="solid"/>
                      <a:round/>
                      <a:headEnd type="none" w="med" len="med"/>
                      <a:tailEnd type="none" w="med" len="med"/>
                    </a:lnR>
                    <a:lnT w="0" cap="flat" cmpd="sng" algn="ctr">
                      <a:solidFill>
                        <a:srgbClr val="B5A47A"/>
                      </a:solidFill>
                      <a:prstDash val="solid"/>
                      <a:round/>
                      <a:headEnd type="none" w="med" len="med"/>
                      <a:tailEnd type="none" w="med" len="med"/>
                    </a:lnT>
                    <a:lnB w="0" cap="flat" cmpd="sng" algn="ctr">
                      <a:solidFill>
                        <a:srgbClr val="B5A47A"/>
                      </a:solidFill>
                      <a:prstDash val="solid"/>
                      <a:round/>
                      <a:headEnd type="none" w="med" len="med"/>
                      <a:tailEnd type="none" w="med" len="med"/>
                    </a:lnB>
                  </a:tcPr>
                </a:tc>
              </a:tr>
            </a:tbl>
          </a:graphicData>
        </a:graphic>
      </p:graphicFrame>
      <p:sp>
        <p:nvSpPr>
          <p:cNvPr id="12" name="Text 5"/>
          <p:cNvSpPr txBox="1"/>
          <p:nvPr/>
        </p:nvSpPr>
        <p:spPr>
          <a:xfrm>
            <a:off x="952805" y="7295998"/>
            <a:ext cx="99066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DELTA TREND</a:t>
            </a:r>
            <a:endParaRPr lang="en-US" sz="1050" dirty="0"/>
          </a:p>
        </p:txBody>
      </p:sp>
      <p:sp>
        <p:nvSpPr>
          <p:cNvPr id="13" name="Text 6"/>
          <p:cNvSpPr txBox="1"/>
          <p:nvPr/>
        </p:nvSpPr>
        <p:spPr>
          <a:xfrm>
            <a:off x="952805" y="7505395"/>
            <a:ext cx="9906610" cy="333756"/>
          </a:xfrm>
          <a:prstGeom prst="rect">
            <a:avLst/>
          </a:prstGeom>
          <a:noFill/>
          <a:ln/>
        </p:spPr>
        <p:txBody>
          <a:bodyPr wrap="none" lIns="0" tIns="0" rIns="0" bIns="0" rtlCol="0" anchor="ctr"/>
          <a:lstStyle/>
          <a:p>
            <a:pPr algn="l" indent="0" marL="0">
              <a:buNone/>
            </a:pPr>
            <a:r>
              <a:rPr lang="en-US" sz="1800" b="1" dirty="0">
                <a:solidFill>
                  <a:srgbClr val="1A1F26"/>
                </a:solidFill>
                <a:latin typeface="Manrope" pitchFamily="34" charset="0"/>
                <a:ea typeface="Manrope" pitchFamily="34" charset="-122"/>
                <a:cs typeface="Manrope" pitchFamily="34" charset="-120"/>
              </a:rPr>
              <a:t>Split 별 Δ vs Target — 4 메트릭 trend</a:t>
            </a:r>
            <a:endParaRPr lang="en-US" sz="18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952805" y="7848295"/>
          <a:ext cx="9906610" cy="1343254"/>
        </p:xfrm>
        <a:graphic>
          <a:graphicData uri="http://schemas.openxmlformats.org/drawingml/2006/table">
            <a:tbl>
              <a:tblPr/>
              <a:tblGrid>
                <a:gridCol w="1143000"/>
                <a:gridCol w="2190902"/>
                <a:gridCol w="2190902"/>
                <a:gridCol w="2190902"/>
                <a:gridCol w="2190902"/>
              </a:tblGrid>
              <a:tr h="335814">
                <a:tc>
                  <a:txBody>
                    <a:bodyPr/>
                    <a:lstStyle/>
                    <a:p>
                      <a:pPr indent="0" marL="0">
                        <a:buNone/>
                      </a:pPr>
                      <a:r>
                        <a:rPr lang="en-US" sz="1350" dirty="0">
                          <a:solidFill>
                            <a:srgbClr val="6F6857"/>
                          </a:solidFill>
                          <a:latin typeface="IBM Plex Sans" pitchFamily="34" charset="0"/>
                          <a:ea typeface="IBM Plex Sans" pitchFamily="34" charset="-122"/>
                          <a:cs typeface="IBM Plex Sans" pitchFamily="34" charset="-120"/>
                        </a:rPr>
                        <a:t>metric</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350" dirty="0">
                          <a:solidFill>
                            <a:srgbClr val="1A1F26"/>
                          </a:solidFill>
                          <a:latin typeface="IBM Plex Sans" pitchFamily="34" charset="0"/>
                          <a:ea typeface="IBM Plex Sans" pitchFamily="34" charset="-122"/>
                          <a:cs typeface="IBM Plex Sans" pitchFamily="34" charset="-120"/>
                        </a:rPr>
                        <a:t>AASI</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350" dirty="0">
                          <a:solidFill>
                            <a:srgbClr val="1A1F26"/>
                          </a:solidFill>
                          <a:latin typeface="IBM Plex Sans" pitchFamily="34" charset="0"/>
                          <a:ea typeface="IBM Plex Sans" pitchFamily="34" charset="-122"/>
                          <a:cs typeface="IBM Plex Sans" pitchFamily="34" charset="-120"/>
                        </a:rPr>
                        <a:t>ASEI</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350" dirty="0">
                          <a:solidFill>
                            <a:srgbClr val="1A1F26"/>
                          </a:solidFill>
                          <a:latin typeface="IBM Plex Sans" pitchFamily="34" charset="0"/>
                          <a:ea typeface="IBM Plex Sans" pitchFamily="34" charset="-122"/>
                          <a:cs typeface="IBM Plex Sans" pitchFamily="34" charset="-120"/>
                        </a:rPr>
                        <a:t>AMI</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350" dirty="0">
                          <a:solidFill>
                            <a:srgbClr val="1A1F26"/>
                          </a:solidFill>
                          <a:latin typeface="IBM Plex Sans" pitchFamily="34" charset="0"/>
                          <a:ea typeface="IBM Plex Sans" pitchFamily="34" charset="-122"/>
                          <a:cs typeface="IBM Plex Sans" pitchFamily="34" charset="-120"/>
                        </a:rPr>
                        <a:t>ACI</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35814">
                <a:tc>
                  <a:txBody>
                    <a:bodyPr/>
                    <a:lstStyle/>
                    <a:p>
                      <a:pPr indent="0" marL="0">
                        <a:buNone/>
                      </a:pPr>
                      <a:r>
                        <a:rPr lang="en-US" sz="1350" b="1" dirty="0">
                          <a:solidFill>
                            <a:srgbClr val="A04A30"/>
                          </a:solidFill>
                          <a:latin typeface="IBM Plex Sans" pitchFamily="34" charset="0"/>
                          <a:ea typeface="IBM Plex Sans" pitchFamily="34" charset="-122"/>
                          <a:cs typeface="IBM Plex Sans" pitchFamily="34" charset="-120"/>
                        </a:rPr>
                        <a:t>Ru Δ</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A04A30"/>
                          </a:solidFill>
                          <a:latin typeface="JetBrains Mono" pitchFamily="34" charset="0"/>
                          <a:ea typeface="JetBrains Mono" pitchFamily="34" charset="-122"/>
                          <a:cs typeface="JetBrains Mono" pitchFamily="34" charset="-120"/>
                        </a:rPr>
                        <a:t>+0.18</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A04A30"/>
                          </a:solidFill>
                          <a:latin typeface="JetBrains Mono" pitchFamily="34" charset="0"/>
                          <a:ea typeface="JetBrains Mono" pitchFamily="34" charset="-122"/>
                          <a:cs typeface="JetBrains Mono" pitchFamily="34" charset="-120"/>
                        </a:rPr>
                        <a:t>+0.11</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A04A30"/>
                          </a:solidFill>
                          <a:latin typeface="JetBrains Mono" pitchFamily="34" charset="0"/>
                          <a:ea typeface="JetBrains Mono" pitchFamily="34" charset="-122"/>
                          <a:cs typeface="JetBrains Mono" pitchFamily="34" charset="-120"/>
                        </a:rPr>
                        <a:t>+0.02</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A04A30"/>
                          </a:solidFill>
                          <a:latin typeface="JetBrains Mono" pitchFamily="34" charset="0"/>
                          <a:ea typeface="JetBrains Mono" pitchFamily="34" charset="-122"/>
                          <a:cs typeface="JetBrains Mono" pitchFamily="34" charset="-120"/>
                        </a:rPr>
                        <a:t>+0.02</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35814">
                <a:tc>
                  <a:txBody>
                    <a:bodyPr/>
                    <a:lstStyle/>
                    <a:p>
                      <a:pPr indent="0" marL="0">
                        <a:buNone/>
                      </a:pPr>
                      <a:r>
                        <a:rPr lang="en-US" sz="1350" b="1" dirty="0">
                          <a:solidFill>
                            <a:srgbClr val="2C5E7A"/>
                          </a:solidFill>
                          <a:latin typeface="IBM Plex Sans" pitchFamily="34" charset="0"/>
                          <a:ea typeface="IBM Plex Sans" pitchFamily="34" charset="-122"/>
                          <a:cs typeface="IBM Plex Sans" pitchFamily="34" charset="-120"/>
                        </a:rPr>
                        <a:t>Cu Δ</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C5E7A"/>
                          </a:solidFill>
                          <a:latin typeface="JetBrains Mono" pitchFamily="34" charset="0"/>
                          <a:ea typeface="JetBrains Mono" pitchFamily="34" charset="-122"/>
                          <a:cs typeface="JetBrains Mono" pitchFamily="34" charset="-120"/>
                        </a:rPr>
                        <a:t>0.00</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C5E7A"/>
                          </a:solidFill>
                          <a:latin typeface="JetBrains Mono" pitchFamily="34" charset="0"/>
                          <a:ea typeface="JetBrains Mono" pitchFamily="34" charset="-122"/>
                          <a:cs typeface="JetBrains Mono" pitchFamily="34" charset="-120"/>
                        </a:rPr>
                        <a:t>−0.02</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C5E7A"/>
                          </a:solidFill>
                          <a:latin typeface="JetBrains Mono" pitchFamily="34" charset="0"/>
                          <a:ea typeface="JetBrains Mono" pitchFamily="34" charset="-122"/>
                          <a:cs typeface="JetBrains Mono" pitchFamily="34" charset="-120"/>
                        </a:rPr>
                        <a:t>−0.02</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C5E7A"/>
                          </a:solidFill>
                          <a:latin typeface="JetBrains Mono" pitchFamily="34" charset="0"/>
                          <a:ea typeface="JetBrains Mono" pitchFamily="34" charset="-122"/>
                          <a:cs typeface="JetBrains Mono" pitchFamily="34" charset="-120"/>
                        </a:rPr>
                        <a:t>−0.02</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35814">
                <a:tc>
                  <a:txBody>
                    <a:bodyPr/>
                    <a:lstStyle/>
                    <a:p>
                      <a:pPr indent="0" marL="0">
                        <a:buNone/>
                      </a:pPr>
                      <a:r>
                        <a:rPr lang="en-US" sz="1350" dirty="0">
                          <a:solidFill>
                            <a:srgbClr val="2D3340"/>
                          </a:solidFill>
                          <a:latin typeface="IBM Plex Sans" pitchFamily="34" charset="0"/>
                          <a:ea typeface="IBM Plex Sans" pitchFamily="34" charset="-122"/>
                          <a:cs typeface="IBM Plex Sans" pitchFamily="34" charset="-120"/>
                        </a:rPr>
                        <a:t>|Ru−Cu|</a:t>
                      </a:r>
                      <a:endParaRPr lang="en-US" sz="1350" dirty="0">
                        <a:latin typeface="IBM Plex Sans" charset="0"/>
                        <a:ea typeface="IBM Plex Sans" charset="0"/>
                        <a:cs typeface="IBM Plex Sans"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D3340"/>
                          </a:solidFill>
                          <a:latin typeface="JetBrains Mono" pitchFamily="34" charset="0"/>
                          <a:ea typeface="JetBrains Mono" pitchFamily="34" charset="-122"/>
                          <a:cs typeface="JetBrains Mono" pitchFamily="34" charset="-120"/>
                        </a:rPr>
                        <a:t>0.18</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D3340"/>
                          </a:solidFill>
                          <a:latin typeface="JetBrains Mono" pitchFamily="34" charset="0"/>
                          <a:ea typeface="JetBrains Mono" pitchFamily="34" charset="-122"/>
                          <a:cs typeface="JetBrains Mono" pitchFamily="34" charset="-120"/>
                        </a:rPr>
                        <a:t>0.13</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D3340"/>
                          </a:solidFill>
                          <a:latin typeface="JetBrains Mono" pitchFamily="34" charset="0"/>
                          <a:ea typeface="JetBrains Mono" pitchFamily="34" charset="-122"/>
                          <a:cs typeface="JetBrains Mono" pitchFamily="34" charset="-120"/>
                        </a:rPr>
                        <a:t>0.04</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ctr" indent="0" marL="0">
                        <a:buNone/>
                      </a:pPr>
                      <a:r>
                        <a:rPr lang="en-US" sz="1500" dirty="0">
                          <a:solidFill>
                            <a:srgbClr val="2D3340"/>
                          </a:solidFill>
                          <a:latin typeface="JetBrains Mono" pitchFamily="34" charset="0"/>
                          <a:ea typeface="JetBrains Mono" pitchFamily="34" charset="-122"/>
                          <a:cs typeface="JetBrains Mono" pitchFamily="34" charset="-120"/>
                        </a:rPr>
                        <a:t>0.04</a:t>
                      </a:r>
                      <a:endParaRPr lang="en-US" sz="1500" dirty="0">
                        <a:latin typeface="JetBrains Mono" charset="0"/>
                        <a:ea typeface="JetBrains Mono" charset="0"/>
                        <a:cs typeface="JetBrains Mono"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5" name="Text 7"/>
          <p:cNvSpPr txBox="1"/>
          <p:nvPr/>
        </p:nvSpPr>
        <p:spPr>
          <a:xfrm>
            <a:off x="11430000" y="7295998"/>
            <a:ext cx="590611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HIGH-LEVEL READ</a:t>
            </a:r>
            <a:endParaRPr lang="en-US" sz="1050" dirty="0"/>
          </a:p>
        </p:txBody>
      </p:sp>
      <p:sp>
        <p:nvSpPr>
          <p:cNvPr id="16" name="Text 8"/>
          <p:cNvSpPr txBox="1"/>
          <p:nvPr/>
        </p:nvSpPr>
        <p:spPr>
          <a:xfrm>
            <a:off x="11430000" y="7629754"/>
            <a:ext cx="5906110" cy="1285646"/>
          </a:xfrm>
          <a:prstGeom prst="rect">
            <a:avLst/>
          </a:prstGeom>
          <a:noFill/>
          <a:ln/>
        </p:spPr>
        <p:txBody>
          <a:bodyPr wrap="square" lIns="0" tIns="0" rIns="0" bIns="0" rtlCol="0" anchor="t"/>
          <a:lstStyle/>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Ru split은 4 메트릭 모두 +방향 편향, 폭이 작아질수록 편향 크기가 빠르게 축소(0.18 → 0.04 nm).</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Cu split은 spec 중앙에 거의 일치(±0.02 nm 이내), 안정적 분포.</a:t>
            </a:r>
            <a:pPr algn="l" indent="0" marL="0">
              <a:lnSpc>
                <a:spcPts val="1976"/>
              </a:lnSpc>
              <a:buNone/>
            </a:pPr>
            <a:endParaRPr lang="en-US" sz="1275" dirty="0"/>
          </a:p>
          <a:p>
            <a:pPr algn="l" indent="0" marL="0">
              <a:lnSpc>
                <a:spcPts val="1976"/>
              </a:lnSpc>
              <a:buNone/>
            </a:pPr>
            <a:r>
              <a:rPr lang="en-US" sz="1275" dirty="0">
                <a:solidFill>
                  <a:srgbClr val="2D3340"/>
                </a:solidFill>
                <a:latin typeface="IBM Plex Sans" pitchFamily="34" charset="0"/>
                <a:ea typeface="IBM Plex Sans" pitchFamily="34" charset="-122"/>
                <a:cs typeface="IBM Plex Sans" pitchFamily="34" charset="-120"/>
              </a:rPr>
              <a:t>• AASI에서만 Ru가 marginal 평가 — 전체 평균의 spec 사용 가능 margin이 평균 0.45 nm로 좁음.</a:t>
            </a:r>
            <a:endParaRPr lang="en-US" sz="1275" dirty="0"/>
          </a:p>
        </p:txBody>
      </p:sp>
      <p:sp>
        <p:nvSpPr>
          <p:cNvPr id="17" name="Text 9"/>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0496398" cy="5734202"/>
          </a:xfrm>
          <a:prstGeom prst="rect">
            <a:avLst/>
          </a:prstGeom>
          <a:solidFill>
            <a:srgbClr val="FAF6EC"/>
          </a:solidFill>
          <a:ln w="12700">
            <a:solidFill>
              <a:srgbClr val="B5A47A"/>
            </a:solidFill>
            <a:prstDash val="solid"/>
          </a:ln>
        </p:spPr>
      </p:sp>
      <p:sp>
        <p:nvSpPr>
          <p:cNvPr id="6" name="Shape 1"/>
          <p:cNvSpPr/>
          <p:nvPr/>
        </p:nvSpPr>
        <p:spPr>
          <a:xfrm>
            <a:off x="11716207" y="2076602"/>
            <a:ext cx="5829300" cy="6115507"/>
          </a:xfrm>
          <a:prstGeom prst="rect">
            <a:avLst/>
          </a:prstGeom>
          <a:solidFill>
            <a:srgbClr val="FAF6EC"/>
          </a:solidFill>
          <a:ln w="12700">
            <a:solidFill>
              <a:srgbClr val="B5A47A"/>
            </a:solidFill>
            <a:prstDash val="solid"/>
          </a:ln>
        </p:spPr>
      </p:sp>
      <p:sp>
        <p:nvSpPr>
          <p:cNvPr id="7" name="Shape 2"/>
          <p:cNvSpPr/>
          <p:nvPr/>
        </p:nvSpPr>
        <p:spPr>
          <a:xfrm>
            <a:off x="12525451" y="2857500"/>
            <a:ext cx="4209898" cy="4209898"/>
          </a:xfrm>
          <a:prstGeom prst="ellipse">
            <a:avLst/>
          </a:prstGeom>
          <a:solidFill>
            <a:srgbClr val="ECE3CD"/>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6667805"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11 · IN-WAFER UNIFORMITY</a:t>
            </a:r>
            <a:endParaRPr lang="en-US" sz="1200" dirty="0"/>
          </a:p>
        </p:txBody>
      </p:sp>
      <p:sp>
        <p:nvSpPr>
          <p:cNvPr id="10" name="Text 4"/>
          <p:cNvSpPr txBox="1"/>
          <p:nvPr/>
        </p:nvSpPr>
        <p:spPr>
          <a:xfrm>
            <a:off x="761695" y="1283818"/>
            <a:ext cx="14287500" cy="486461"/>
          </a:xfrm>
          <a:prstGeom prst="rect">
            <a:avLst/>
          </a:prstGeom>
          <a:noFill/>
          <a:ln/>
        </p:spPr>
        <p:txBody>
          <a:bodyPr wrap="none" lIns="0" tIns="0" rIns="0" bIns="0" rtlCol="0" anchor="ctr"/>
          <a:lstStyle/>
          <a:p>
            <a:pPr algn="l" indent="0" marL="0">
              <a:buNone/>
            </a:pPr>
            <a:r>
              <a:rPr lang="en-US" sz="3450" b="1" dirty="0">
                <a:solidFill>
                  <a:srgbClr val="1A1F26"/>
                </a:solidFill>
                <a:latin typeface="Manrope" pitchFamily="34" charset="0"/>
                <a:ea typeface="Manrope" pitchFamily="34" charset="-122"/>
                <a:cs typeface="Manrope" pitchFamily="34" charset="-120"/>
              </a:rPr>
              <a:t>Wafer 내 균일성 </a:t>
            </a:r>
            <a:pPr algn="l" indent="0" marL="0">
              <a:buNone/>
            </a:pPr>
            <a:r>
              <a:rPr lang="en-US" sz="1950" b="1" dirty="0">
                <a:solidFill>
                  <a:srgbClr val="6F6857"/>
                </a:solidFill>
                <a:latin typeface="JetBrains Mono" pitchFamily="34" charset="0"/>
                <a:ea typeface="JetBrains Mono" pitchFamily="34" charset="-122"/>
                <a:cs typeface="JetBrains Mono" pitchFamily="34" charset="-120"/>
              </a:rPr>
              <a:t>69 pt · AASI</a:t>
            </a:r>
            <a:endParaRPr lang="en-US" sz="3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0478110" cy="3305556"/>
        </p:xfrm>
        <a:graphic>
          <a:graphicData uri="http://schemas.openxmlformats.org/drawingml/2006/table">
            <a:tbl>
              <a:tblPr/>
              <a:tblGrid>
                <a:gridCol w="1067105"/>
                <a:gridCol w="1447495"/>
                <a:gridCol w="719633"/>
                <a:gridCol w="1322222"/>
                <a:gridCol w="1061618"/>
                <a:gridCol w="1092708"/>
                <a:gridCol w="1053389"/>
                <a:gridCol w="1436522"/>
                <a:gridCol w="1276502"/>
              </a:tblGrid>
              <a:tr h="661111">
                <a:tc>
                  <a:txBody>
                    <a:bodyPr/>
                    <a:lstStyle/>
                    <a:p>
                      <a:pPr algn="l" indent="0" marL="0">
                        <a:buNone/>
                      </a:pPr>
                      <a:r>
                        <a:rPr lang="en-US" sz="1275" b="1" dirty="0">
                          <a:solidFill>
                            <a:srgbClr val="1A1F26"/>
                          </a:solidFill>
                          <a:latin typeface="IBM Plex Sans" pitchFamily="34" charset="0"/>
                          <a:ea typeface="IBM Plex Sans" pitchFamily="34" charset="-122"/>
                          <a:cs typeface="IBM Plex Sans" pitchFamily="34" charset="-120"/>
                        </a:rPr>
                        <a:t>Wafer</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275" b="1" dirty="0">
                          <a:solidFill>
                            <a:srgbClr val="1A1F26"/>
                          </a:solidFill>
                          <a:latin typeface="IBM Plex Sans" pitchFamily="34" charset="0"/>
                          <a:ea typeface="IBM Plex Sans" pitchFamily="34" charset="-122"/>
                          <a:cs typeface="IBM Plex Sans" pitchFamily="34" charset="-120"/>
                        </a:rPr>
                        <a:t>Split</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Site</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Mean (nm)</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3σ (nm)</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WIWNU</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WIBNU</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Center (nm)</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Edge (nm)</a:t>
                      </a:r>
                      <a:endParaRPr lang="en-US" sz="1275" dirty="0">
                        <a:latin typeface="IBM Plex Sans" charset="0"/>
                        <a:ea typeface="IBM Plex Sans" charset="0"/>
                        <a:cs typeface="IBM Plex Sans"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61111">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W1</a:t>
                      </a:r>
                      <a:endParaRPr lang="en-US" sz="165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b="1" dirty="0">
                          <a:solidFill>
                            <a:srgbClr val="A04A30"/>
                          </a:solidFill>
                          <a:latin typeface="IBM Plex Sans" pitchFamily="34" charset="0"/>
                          <a:ea typeface="IBM Plex Sans" pitchFamily="34" charset="-122"/>
                          <a:cs typeface="IBM Plex Sans" pitchFamily="34" charset="-120"/>
                        </a:rPr>
                        <a:t>Ru sub.</a:t>
                      </a:r>
                      <a:endParaRPr lang="en-US" sz="1275" dirty="0">
                        <a:latin typeface="IBM Plex Sans" charset="0"/>
                        <a:ea typeface="IBM Plex Sans" charset="0"/>
                        <a:cs typeface="IBM Plex Sans"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69</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25.61</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0.41</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0.78%</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0.62%</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25.42</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25.74</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61111">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W2</a:t>
                      </a:r>
                      <a:endParaRPr lang="en-US" sz="165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b="1" dirty="0">
                          <a:solidFill>
                            <a:srgbClr val="A04A30"/>
                          </a:solidFill>
                          <a:latin typeface="IBM Plex Sans" pitchFamily="34" charset="0"/>
                          <a:ea typeface="IBM Plex Sans" pitchFamily="34" charset="-122"/>
                          <a:cs typeface="IBM Plex Sans" pitchFamily="34" charset="-120"/>
                        </a:rPr>
                        <a:t>Ru sub.</a:t>
                      </a:r>
                      <a:endParaRPr lang="en-US" sz="1275" dirty="0">
                        <a:latin typeface="IBM Plex Sans" charset="0"/>
                        <a:ea typeface="IBM Plex Sans" charset="0"/>
                        <a:cs typeface="IBM Plex Sans"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69</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25.55</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0.36</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0.69%</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0.55%</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25.38</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25.65</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61111">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W3</a:t>
                      </a:r>
                      <a:endParaRPr lang="en-US" sz="165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b="1" dirty="0">
                          <a:solidFill>
                            <a:srgbClr val="2C5E7A"/>
                          </a:solidFill>
                          <a:latin typeface="IBM Plex Sans" pitchFamily="34" charset="0"/>
                          <a:ea typeface="IBM Plex Sans" pitchFamily="34" charset="-122"/>
                          <a:cs typeface="IBM Plex Sans" pitchFamily="34" charset="-120"/>
                        </a:rPr>
                        <a:t>Cu dam.</a:t>
                      </a:r>
                      <a:endParaRPr lang="en-US" sz="1275" dirty="0">
                        <a:latin typeface="IBM Plex Sans" charset="0"/>
                        <a:ea typeface="IBM Plex Sans" charset="0"/>
                        <a:cs typeface="IBM Plex Sans"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69</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25.38</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0.49</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0.89%</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0.71%</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25.24</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25.61</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61111">
                <a:tc>
                  <a:txBody>
                    <a:bodyPr/>
                    <a:lstStyle/>
                    <a:p>
                      <a:pPr indent="0" marL="0">
                        <a:buNone/>
                      </a:pPr>
                      <a:r>
                        <a:rPr lang="en-US" sz="1650" dirty="0">
                          <a:solidFill>
                            <a:srgbClr val="1A1F26"/>
                          </a:solidFill>
                          <a:latin typeface="JetBrains Mono" pitchFamily="34" charset="0"/>
                          <a:ea typeface="JetBrains Mono" pitchFamily="34" charset="-122"/>
                          <a:cs typeface="JetBrains Mono" pitchFamily="34" charset="-120"/>
                        </a:rPr>
                        <a:t>W4</a:t>
                      </a:r>
                      <a:endParaRPr lang="en-US" sz="165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75" b="1" dirty="0">
                          <a:solidFill>
                            <a:srgbClr val="2C5E7A"/>
                          </a:solidFill>
                          <a:latin typeface="IBM Plex Sans" pitchFamily="34" charset="0"/>
                          <a:ea typeface="IBM Plex Sans" pitchFamily="34" charset="-122"/>
                          <a:cs typeface="IBM Plex Sans" pitchFamily="34" charset="-120"/>
                        </a:rPr>
                        <a:t>Cu dam.</a:t>
                      </a:r>
                      <a:endParaRPr lang="en-US" sz="1275" dirty="0">
                        <a:latin typeface="IBM Plex Sans" charset="0"/>
                        <a:ea typeface="IBM Plex Sans" charset="0"/>
                        <a:cs typeface="IBM Plex Sans"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69</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25.42</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0.44</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0.83%</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0.65%</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25.16</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25.64</a:t>
                      </a:r>
                      <a:endParaRPr lang="en-US" sz="1500" dirty="0">
                        <a:latin typeface="JetBrains Mono" charset="0"/>
                        <a:ea typeface="JetBrains Mono" charset="0"/>
                        <a:cs typeface="JetBrains Mono" charset="0"/>
                      </a:endParaRPr>
                    </a:p>
                  </a:txBody>
                  <a:tcPr marL="152705" marR="152705" marT="209398" marB="2093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761695" y="8001000"/>
            <a:ext cx="104781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WIWNU = within-wafer non-uniformity (1σ 기반) · WIBNU = die 별 일관성 · 모두 % 단위, target 25.4 nm 기준.</a:t>
            </a:r>
            <a:endParaRPr lang="en-US" sz="1050" dirty="0"/>
          </a:p>
        </p:txBody>
      </p:sp>
      <p:sp>
        <p:nvSpPr>
          <p:cNvPr id="13" name="Text 6"/>
          <p:cNvSpPr txBox="1"/>
          <p:nvPr/>
        </p:nvSpPr>
        <p:spPr>
          <a:xfrm>
            <a:off x="12001500" y="2286000"/>
            <a:ext cx="5334610" cy="171907"/>
          </a:xfrm>
          <a:prstGeom prst="rect">
            <a:avLst/>
          </a:prstGeom>
          <a:noFill/>
          <a:ln/>
        </p:spPr>
        <p:txBody>
          <a:bodyPr wrap="none" lIns="0" tIns="0" rIns="0" bIns="0" rtlCol="0" anchor="ctr"/>
          <a:lstStyle/>
          <a:p>
            <a:pPr algn="l" indent="0" marL="0">
              <a:buNone/>
            </a:pPr>
            <a:r>
              <a:rPr lang="en-US" sz="1050" spc="189" kern="0" dirty="0">
                <a:solidFill>
                  <a:srgbClr val="2C5E7A"/>
                </a:solidFill>
                <a:latin typeface="IBM Plex Sans" pitchFamily="34" charset="0"/>
                <a:ea typeface="IBM Plex Sans" pitchFamily="34" charset="-122"/>
                <a:cs typeface="IBM Plex Sans" pitchFamily="34" charset="-120"/>
              </a:rPr>
              <a:t>69PT WAFER MAP · W3</a:t>
            </a:r>
            <a:endParaRPr lang="en-US" sz="1050" dirty="0"/>
          </a:p>
        </p:txBody>
      </p:sp>
      <p:sp>
        <p:nvSpPr>
          <p:cNvPr id="14" name="Text 7"/>
          <p:cNvSpPr txBox="1"/>
          <p:nvPr/>
        </p:nvSpPr>
        <p:spPr>
          <a:xfrm>
            <a:off x="12001500" y="2495398"/>
            <a:ext cx="5334610" cy="286207"/>
          </a:xfrm>
          <a:prstGeom prst="rect">
            <a:avLst/>
          </a:prstGeom>
          <a:noFill/>
          <a:ln/>
        </p:spPr>
        <p:txBody>
          <a:bodyPr wrap="none" lIns="0" tIns="0" rIns="0" bIns="0" rtlCol="0" anchor="ctr"/>
          <a:lstStyle/>
          <a:p>
            <a:pPr algn="l" indent="0" marL="0">
              <a:buNone/>
            </a:pPr>
            <a:r>
              <a:rPr lang="en-US" sz="1650" b="1" dirty="0">
                <a:solidFill>
                  <a:srgbClr val="1A1F26"/>
                </a:solidFill>
                <a:latin typeface="Manrope" pitchFamily="34" charset="0"/>
                <a:ea typeface="Manrope" pitchFamily="34" charset="-122"/>
                <a:cs typeface="Manrope" pitchFamily="34" charset="-120"/>
              </a:rPr>
              <a:t>69 pt AASI CD map (nm)</a:t>
            </a:r>
            <a:endParaRPr lang="en-US" sz="1650" dirty="0"/>
          </a:p>
        </p:txBody>
      </p:sp>
      <p:sp>
        <p:nvSpPr>
          <p:cNvPr id="15" name="Text 8"/>
          <p:cNvSpPr txBox="1"/>
          <p:nvPr/>
        </p:nvSpPr>
        <p:spPr>
          <a:xfrm>
            <a:off x="13582498" y="307695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25.43</a:t>
            </a:r>
            <a:endParaRPr lang="en-US" sz="975" dirty="0"/>
          </a:p>
        </p:txBody>
      </p:sp>
      <p:sp>
        <p:nvSpPr>
          <p:cNvPr id="16" name="Text 9"/>
          <p:cNvSpPr txBox="1"/>
          <p:nvPr/>
        </p:nvSpPr>
        <p:spPr>
          <a:xfrm>
            <a:off x="14002207" y="307695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25.49</a:t>
            </a:r>
            <a:endParaRPr lang="en-US" sz="975" dirty="0"/>
          </a:p>
        </p:txBody>
      </p:sp>
      <p:sp>
        <p:nvSpPr>
          <p:cNvPr id="17" name="Text 10"/>
          <p:cNvSpPr txBox="1"/>
          <p:nvPr/>
        </p:nvSpPr>
        <p:spPr>
          <a:xfrm>
            <a:off x="14421002" y="3076956"/>
            <a:ext cx="400507" cy="400507"/>
          </a:xfrm>
          <a:prstGeom prst="rect">
            <a:avLst/>
          </a:prstGeom>
          <a:solidFill>
            <a:srgbClr val="B07A1E"/>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25.56</a:t>
            </a:r>
            <a:endParaRPr lang="en-US" sz="975" dirty="0"/>
          </a:p>
        </p:txBody>
      </p:sp>
      <p:sp>
        <p:nvSpPr>
          <p:cNvPr id="18" name="Text 11"/>
          <p:cNvSpPr txBox="1"/>
          <p:nvPr/>
        </p:nvSpPr>
        <p:spPr>
          <a:xfrm>
            <a:off x="14839798" y="307695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25.50</a:t>
            </a:r>
            <a:endParaRPr lang="en-US" sz="975" dirty="0"/>
          </a:p>
        </p:txBody>
      </p:sp>
      <p:sp>
        <p:nvSpPr>
          <p:cNvPr id="19" name="Text 12"/>
          <p:cNvSpPr txBox="1"/>
          <p:nvPr/>
        </p:nvSpPr>
        <p:spPr>
          <a:xfrm>
            <a:off x="15259507" y="3076956"/>
            <a:ext cx="400507" cy="400507"/>
          </a:xfrm>
          <a:prstGeom prst="rect">
            <a:avLst/>
          </a:prstGeom>
          <a:solidFill>
            <a:srgbClr val="B07A1E"/>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25.59</a:t>
            </a:r>
            <a:endParaRPr lang="en-US" sz="975" dirty="0"/>
          </a:p>
        </p:txBody>
      </p:sp>
      <p:sp>
        <p:nvSpPr>
          <p:cNvPr id="20" name="Text 13"/>
          <p:cNvSpPr txBox="1"/>
          <p:nvPr/>
        </p:nvSpPr>
        <p:spPr>
          <a:xfrm>
            <a:off x="13163702" y="34957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25.41</a:t>
            </a:r>
            <a:endParaRPr lang="en-US" sz="975" dirty="0"/>
          </a:p>
        </p:txBody>
      </p:sp>
      <p:sp>
        <p:nvSpPr>
          <p:cNvPr id="21" name="Text 14"/>
          <p:cNvSpPr txBox="1"/>
          <p:nvPr/>
        </p:nvSpPr>
        <p:spPr>
          <a:xfrm>
            <a:off x="13582498" y="34957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25.41</a:t>
            </a:r>
            <a:endParaRPr lang="en-US" sz="975" dirty="0"/>
          </a:p>
        </p:txBody>
      </p:sp>
      <p:sp>
        <p:nvSpPr>
          <p:cNvPr id="22" name="Text 15"/>
          <p:cNvSpPr txBox="1"/>
          <p:nvPr/>
        </p:nvSpPr>
        <p:spPr>
          <a:xfrm>
            <a:off x="14002207" y="3495751"/>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25.33</a:t>
            </a:r>
            <a:endParaRPr lang="en-US" sz="975" dirty="0"/>
          </a:p>
        </p:txBody>
      </p:sp>
      <p:sp>
        <p:nvSpPr>
          <p:cNvPr id="23" name="Text 16"/>
          <p:cNvSpPr txBox="1"/>
          <p:nvPr/>
        </p:nvSpPr>
        <p:spPr>
          <a:xfrm>
            <a:off x="14421002" y="34957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25.42</a:t>
            </a:r>
            <a:endParaRPr lang="en-US" sz="975" dirty="0"/>
          </a:p>
        </p:txBody>
      </p:sp>
      <p:sp>
        <p:nvSpPr>
          <p:cNvPr id="24" name="Text 17"/>
          <p:cNvSpPr txBox="1"/>
          <p:nvPr/>
        </p:nvSpPr>
        <p:spPr>
          <a:xfrm>
            <a:off x="14839798" y="3495751"/>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25.38</a:t>
            </a:r>
            <a:endParaRPr lang="en-US" sz="975" dirty="0"/>
          </a:p>
        </p:txBody>
      </p:sp>
      <p:sp>
        <p:nvSpPr>
          <p:cNvPr id="25" name="Text 18"/>
          <p:cNvSpPr txBox="1"/>
          <p:nvPr/>
        </p:nvSpPr>
        <p:spPr>
          <a:xfrm>
            <a:off x="15259507" y="34957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25.43</a:t>
            </a:r>
            <a:endParaRPr lang="en-US" sz="975" dirty="0"/>
          </a:p>
        </p:txBody>
      </p:sp>
      <p:sp>
        <p:nvSpPr>
          <p:cNvPr id="26" name="Text 19"/>
          <p:cNvSpPr txBox="1"/>
          <p:nvPr/>
        </p:nvSpPr>
        <p:spPr>
          <a:xfrm>
            <a:off x="15678302" y="34957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25.47</a:t>
            </a:r>
            <a:endParaRPr lang="en-US" sz="975" dirty="0"/>
          </a:p>
        </p:txBody>
      </p:sp>
      <p:sp>
        <p:nvSpPr>
          <p:cNvPr id="27" name="Text 20"/>
          <p:cNvSpPr txBox="1"/>
          <p:nvPr/>
        </p:nvSpPr>
        <p:spPr>
          <a:xfrm>
            <a:off x="12744907" y="39145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25.51</a:t>
            </a:r>
            <a:endParaRPr lang="en-US" sz="975" dirty="0"/>
          </a:p>
        </p:txBody>
      </p:sp>
      <p:sp>
        <p:nvSpPr>
          <p:cNvPr id="28" name="Text 21"/>
          <p:cNvSpPr txBox="1"/>
          <p:nvPr/>
        </p:nvSpPr>
        <p:spPr>
          <a:xfrm>
            <a:off x="13163702" y="39145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25.43</a:t>
            </a:r>
            <a:endParaRPr lang="en-US" sz="975" dirty="0"/>
          </a:p>
        </p:txBody>
      </p:sp>
      <p:sp>
        <p:nvSpPr>
          <p:cNvPr id="29" name="Text 22"/>
          <p:cNvSpPr txBox="1"/>
          <p:nvPr/>
        </p:nvSpPr>
        <p:spPr>
          <a:xfrm>
            <a:off x="13582498" y="39145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25.43</a:t>
            </a:r>
            <a:endParaRPr lang="en-US" sz="975" dirty="0"/>
          </a:p>
        </p:txBody>
      </p:sp>
      <p:sp>
        <p:nvSpPr>
          <p:cNvPr id="30" name="Text 23"/>
          <p:cNvSpPr txBox="1"/>
          <p:nvPr/>
        </p:nvSpPr>
        <p:spPr>
          <a:xfrm>
            <a:off x="14002207" y="391454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25.09</a:t>
            </a:r>
            <a:endParaRPr lang="en-US" sz="975" dirty="0"/>
          </a:p>
        </p:txBody>
      </p:sp>
      <p:sp>
        <p:nvSpPr>
          <p:cNvPr id="31" name="Text 24"/>
          <p:cNvSpPr txBox="1"/>
          <p:nvPr/>
        </p:nvSpPr>
        <p:spPr>
          <a:xfrm>
            <a:off x="14421002" y="391454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24.98</a:t>
            </a:r>
            <a:endParaRPr lang="en-US" sz="975" dirty="0"/>
          </a:p>
        </p:txBody>
      </p:sp>
      <p:sp>
        <p:nvSpPr>
          <p:cNvPr id="32" name="Text 25"/>
          <p:cNvSpPr txBox="1"/>
          <p:nvPr/>
        </p:nvSpPr>
        <p:spPr>
          <a:xfrm>
            <a:off x="14839798" y="39145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25.43</a:t>
            </a:r>
            <a:endParaRPr lang="en-US" sz="975" dirty="0"/>
          </a:p>
        </p:txBody>
      </p:sp>
      <p:sp>
        <p:nvSpPr>
          <p:cNvPr id="33" name="Text 26"/>
          <p:cNvSpPr txBox="1"/>
          <p:nvPr/>
        </p:nvSpPr>
        <p:spPr>
          <a:xfrm>
            <a:off x="15259507" y="39145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25.46</a:t>
            </a:r>
            <a:endParaRPr lang="en-US" sz="975" dirty="0"/>
          </a:p>
        </p:txBody>
      </p:sp>
      <p:sp>
        <p:nvSpPr>
          <p:cNvPr id="34" name="Text 27"/>
          <p:cNvSpPr txBox="1"/>
          <p:nvPr/>
        </p:nvSpPr>
        <p:spPr>
          <a:xfrm>
            <a:off x="15678302" y="39145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25.49</a:t>
            </a:r>
            <a:endParaRPr lang="en-US" sz="975" dirty="0"/>
          </a:p>
        </p:txBody>
      </p:sp>
      <p:sp>
        <p:nvSpPr>
          <p:cNvPr id="35" name="Text 28"/>
          <p:cNvSpPr txBox="1"/>
          <p:nvPr/>
        </p:nvSpPr>
        <p:spPr>
          <a:xfrm>
            <a:off x="16097098" y="3914546"/>
            <a:ext cx="400507" cy="400507"/>
          </a:xfrm>
          <a:prstGeom prst="rect">
            <a:avLst/>
          </a:prstGeom>
          <a:solidFill>
            <a:srgbClr val="B07A1E"/>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25.62</a:t>
            </a:r>
            <a:endParaRPr lang="en-US" sz="975" dirty="0"/>
          </a:p>
        </p:txBody>
      </p:sp>
      <p:sp>
        <p:nvSpPr>
          <p:cNvPr id="36" name="Text 29"/>
          <p:cNvSpPr txBox="1"/>
          <p:nvPr/>
        </p:nvSpPr>
        <p:spPr>
          <a:xfrm>
            <a:off x="12744907" y="433425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25.48</a:t>
            </a:r>
            <a:endParaRPr lang="en-US" sz="975" dirty="0"/>
          </a:p>
        </p:txBody>
      </p:sp>
      <p:sp>
        <p:nvSpPr>
          <p:cNvPr id="37" name="Text 30"/>
          <p:cNvSpPr txBox="1"/>
          <p:nvPr/>
        </p:nvSpPr>
        <p:spPr>
          <a:xfrm>
            <a:off x="13163702" y="433425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25.33</a:t>
            </a:r>
            <a:endParaRPr lang="en-US" sz="975" dirty="0"/>
          </a:p>
        </p:txBody>
      </p:sp>
      <p:sp>
        <p:nvSpPr>
          <p:cNvPr id="38" name="Text 31"/>
          <p:cNvSpPr txBox="1"/>
          <p:nvPr/>
        </p:nvSpPr>
        <p:spPr>
          <a:xfrm>
            <a:off x="13582498" y="43342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25.15</a:t>
            </a:r>
            <a:endParaRPr lang="en-US" sz="975" dirty="0"/>
          </a:p>
        </p:txBody>
      </p:sp>
      <p:sp>
        <p:nvSpPr>
          <p:cNvPr id="39" name="Text 32"/>
          <p:cNvSpPr txBox="1"/>
          <p:nvPr/>
        </p:nvSpPr>
        <p:spPr>
          <a:xfrm>
            <a:off x="14002207" y="43342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25.24</a:t>
            </a:r>
            <a:endParaRPr lang="en-US" sz="975" dirty="0"/>
          </a:p>
        </p:txBody>
      </p:sp>
      <p:sp>
        <p:nvSpPr>
          <p:cNvPr id="40" name="Text 33"/>
          <p:cNvSpPr txBox="1"/>
          <p:nvPr/>
        </p:nvSpPr>
        <p:spPr>
          <a:xfrm>
            <a:off x="14421002" y="43342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25.15</a:t>
            </a:r>
            <a:endParaRPr lang="en-US" sz="975" dirty="0"/>
          </a:p>
        </p:txBody>
      </p:sp>
      <p:sp>
        <p:nvSpPr>
          <p:cNvPr id="41" name="Text 34"/>
          <p:cNvSpPr txBox="1"/>
          <p:nvPr/>
        </p:nvSpPr>
        <p:spPr>
          <a:xfrm>
            <a:off x="14839798" y="43342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25.02</a:t>
            </a:r>
            <a:endParaRPr lang="en-US" sz="975" dirty="0"/>
          </a:p>
        </p:txBody>
      </p:sp>
      <p:sp>
        <p:nvSpPr>
          <p:cNvPr id="42" name="Text 35"/>
          <p:cNvSpPr txBox="1"/>
          <p:nvPr/>
        </p:nvSpPr>
        <p:spPr>
          <a:xfrm>
            <a:off x="15259507" y="43342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25.21</a:t>
            </a:r>
            <a:endParaRPr lang="en-US" sz="975" dirty="0"/>
          </a:p>
        </p:txBody>
      </p:sp>
      <p:sp>
        <p:nvSpPr>
          <p:cNvPr id="43" name="Text 36"/>
          <p:cNvSpPr txBox="1"/>
          <p:nvPr/>
        </p:nvSpPr>
        <p:spPr>
          <a:xfrm>
            <a:off x="15678302" y="433425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25.32</a:t>
            </a:r>
            <a:endParaRPr lang="en-US" sz="975" dirty="0"/>
          </a:p>
        </p:txBody>
      </p:sp>
      <p:sp>
        <p:nvSpPr>
          <p:cNvPr id="44" name="Text 37"/>
          <p:cNvSpPr txBox="1"/>
          <p:nvPr/>
        </p:nvSpPr>
        <p:spPr>
          <a:xfrm>
            <a:off x="16097098" y="433425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25.46</a:t>
            </a:r>
            <a:endParaRPr lang="en-US" sz="975" dirty="0"/>
          </a:p>
        </p:txBody>
      </p:sp>
      <p:sp>
        <p:nvSpPr>
          <p:cNvPr id="45" name="Text 38"/>
          <p:cNvSpPr txBox="1"/>
          <p:nvPr/>
        </p:nvSpPr>
        <p:spPr>
          <a:xfrm>
            <a:off x="12744907" y="4753051"/>
            <a:ext cx="400507" cy="400507"/>
          </a:xfrm>
          <a:prstGeom prst="rect">
            <a:avLst/>
          </a:prstGeom>
          <a:solidFill>
            <a:srgbClr val="B07A1E"/>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25.67</a:t>
            </a:r>
            <a:endParaRPr lang="en-US" sz="975" dirty="0"/>
          </a:p>
        </p:txBody>
      </p:sp>
      <p:sp>
        <p:nvSpPr>
          <p:cNvPr id="46" name="Text 39"/>
          <p:cNvSpPr txBox="1"/>
          <p:nvPr/>
        </p:nvSpPr>
        <p:spPr>
          <a:xfrm>
            <a:off x="13163702" y="47530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25.44</a:t>
            </a:r>
            <a:endParaRPr lang="en-US" sz="975" dirty="0"/>
          </a:p>
        </p:txBody>
      </p:sp>
      <p:sp>
        <p:nvSpPr>
          <p:cNvPr id="47" name="Text 40"/>
          <p:cNvSpPr txBox="1"/>
          <p:nvPr/>
        </p:nvSpPr>
        <p:spPr>
          <a:xfrm>
            <a:off x="13582498" y="4753051"/>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24.95</a:t>
            </a:r>
            <a:endParaRPr lang="en-US" sz="975" dirty="0"/>
          </a:p>
        </p:txBody>
      </p:sp>
      <p:sp>
        <p:nvSpPr>
          <p:cNvPr id="48" name="Text 41"/>
          <p:cNvSpPr txBox="1"/>
          <p:nvPr/>
        </p:nvSpPr>
        <p:spPr>
          <a:xfrm>
            <a:off x="14002207" y="4753051"/>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25.21</a:t>
            </a:r>
            <a:endParaRPr lang="en-US" sz="975" dirty="0"/>
          </a:p>
        </p:txBody>
      </p:sp>
      <p:sp>
        <p:nvSpPr>
          <p:cNvPr id="49" name="Text 42"/>
          <p:cNvSpPr txBox="1"/>
          <p:nvPr/>
        </p:nvSpPr>
        <p:spPr>
          <a:xfrm>
            <a:off x="14421002" y="4753051"/>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25.24</a:t>
            </a:r>
            <a:endParaRPr lang="en-US" sz="975" dirty="0"/>
          </a:p>
        </p:txBody>
      </p:sp>
      <p:sp>
        <p:nvSpPr>
          <p:cNvPr id="50" name="Text 43"/>
          <p:cNvSpPr txBox="1"/>
          <p:nvPr/>
        </p:nvSpPr>
        <p:spPr>
          <a:xfrm>
            <a:off x="14839798" y="4753051"/>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25.29</a:t>
            </a:r>
            <a:endParaRPr lang="en-US" sz="975" dirty="0"/>
          </a:p>
        </p:txBody>
      </p:sp>
      <p:sp>
        <p:nvSpPr>
          <p:cNvPr id="51" name="Text 44"/>
          <p:cNvSpPr txBox="1"/>
          <p:nvPr/>
        </p:nvSpPr>
        <p:spPr>
          <a:xfrm>
            <a:off x="15259507" y="4753051"/>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25.30</a:t>
            </a:r>
            <a:endParaRPr lang="en-US" sz="975" dirty="0"/>
          </a:p>
        </p:txBody>
      </p:sp>
      <p:sp>
        <p:nvSpPr>
          <p:cNvPr id="52" name="Text 45"/>
          <p:cNvSpPr txBox="1"/>
          <p:nvPr/>
        </p:nvSpPr>
        <p:spPr>
          <a:xfrm>
            <a:off x="15678302" y="4753051"/>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25.17</a:t>
            </a:r>
            <a:endParaRPr lang="en-US" sz="975" dirty="0"/>
          </a:p>
        </p:txBody>
      </p:sp>
      <p:sp>
        <p:nvSpPr>
          <p:cNvPr id="53" name="Text 46"/>
          <p:cNvSpPr txBox="1"/>
          <p:nvPr/>
        </p:nvSpPr>
        <p:spPr>
          <a:xfrm>
            <a:off x="16097098" y="4753051"/>
            <a:ext cx="400507" cy="400507"/>
          </a:xfrm>
          <a:prstGeom prst="rect">
            <a:avLst/>
          </a:prstGeom>
          <a:solidFill>
            <a:srgbClr val="B07A1E"/>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25.57</a:t>
            </a:r>
            <a:endParaRPr lang="en-US" sz="975" dirty="0"/>
          </a:p>
        </p:txBody>
      </p:sp>
      <p:sp>
        <p:nvSpPr>
          <p:cNvPr id="54" name="Text 47"/>
          <p:cNvSpPr txBox="1"/>
          <p:nvPr/>
        </p:nvSpPr>
        <p:spPr>
          <a:xfrm>
            <a:off x="12744907" y="51718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25.52</a:t>
            </a:r>
            <a:endParaRPr lang="en-US" sz="975" dirty="0"/>
          </a:p>
        </p:txBody>
      </p:sp>
      <p:sp>
        <p:nvSpPr>
          <p:cNvPr id="55" name="Text 48"/>
          <p:cNvSpPr txBox="1"/>
          <p:nvPr/>
        </p:nvSpPr>
        <p:spPr>
          <a:xfrm>
            <a:off x="13163702" y="51718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25.50</a:t>
            </a:r>
            <a:endParaRPr lang="en-US" sz="975" dirty="0"/>
          </a:p>
        </p:txBody>
      </p:sp>
      <p:sp>
        <p:nvSpPr>
          <p:cNvPr id="56" name="Text 49"/>
          <p:cNvSpPr txBox="1"/>
          <p:nvPr/>
        </p:nvSpPr>
        <p:spPr>
          <a:xfrm>
            <a:off x="13582498" y="517184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25.30</a:t>
            </a:r>
            <a:endParaRPr lang="en-US" sz="975" dirty="0"/>
          </a:p>
        </p:txBody>
      </p:sp>
      <p:sp>
        <p:nvSpPr>
          <p:cNvPr id="57" name="Text 50"/>
          <p:cNvSpPr txBox="1"/>
          <p:nvPr/>
        </p:nvSpPr>
        <p:spPr>
          <a:xfrm>
            <a:off x="14002207" y="517184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25.06</a:t>
            </a:r>
            <a:endParaRPr lang="en-US" sz="975" dirty="0"/>
          </a:p>
        </p:txBody>
      </p:sp>
      <p:sp>
        <p:nvSpPr>
          <p:cNvPr id="58" name="Text 51"/>
          <p:cNvSpPr txBox="1"/>
          <p:nvPr/>
        </p:nvSpPr>
        <p:spPr>
          <a:xfrm>
            <a:off x="14421002" y="517184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25.33</a:t>
            </a:r>
            <a:endParaRPr lang="en-US" sz="975" dirty="0"/>
          </a:p>
        </p:txBody>
      </p:sp>
      <p:sp>
        <p:nvSpPr>
          <p:cNvPr id="59" name="Text 52"/>
          <p:cNvSpPr txBox="1"/>
          <p:nvPr/>
        </p:nvSpPr>
        <p:spPr>
          <a:xfrm>
            <a:off x="14839798" y="517184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25.09</a:t>
            </a:r>
            <a:endParaRPr lang="en-US" sz="975" dirty="0"/>
          </a:p>
        </p:txBody>
      </p:sp>
      <p:sp>
        <p:nvSpPr>
          <p:cNvPr id="60" name="Text 53"/>
          <p:cNvSpPr txBox="1"/>
          <p:nvPr/>
        </p:nvSpPr>
        <p:spPr>
          <a:xfrm>
            <a:off x="15259507" y="517184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25.36</a:t>
            </a:r>
            <a:endParaRPr lang="en-US" sz="975" dirty="0"/>
          </a:p>
        </p:txBody>
      </p:sp>
      <p:sp>
        <p:nvSpPr>
          <p:cNvPr id="61" name="Text 54"/>
          <p:cNvSpPr txBox="1"/>
          <p:nvPr/>
        </p:nvSpPr>
        <p:spPr>
          <a:xfrm>
            <a:off x="15678302" y="517184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25.40</a:t>
            </a:r>
            <a:endParaRPr lang="en-US" sz="975" dirty="0"/>
          </a:p>
        </p:txBody>
      </p:sp>
      <p:sp>
        <p:nvSpPr>
          <p:cNvPr id="62" name="Text 55"/>
          <p:cNvSpPr txBox="1"/>
          <p:nvPr/>
        </p:nvSpPr>
        <p:spPr>
          <a:xfrm>
            <a:off x="16097098" y="51718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25.47</a:t>
            </a:r>
            <a:endParaRPr lang="en-US" sz="975" dirty="0"/>
          </a:p>
        </p:txBody>
      </p:sp>
      <p:sp>
        <p:nvSpPr>
          <p:cNvPr id="63" name="Text 56"/>
          <p:cNvSpPr txBox="1"/>
          <p:nvPr/>
        </p:nvSpPr>
        <p:spPr>
          <a:xfrm>
            <a:off x="12744907" y="559155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25.38</a:t>
            </a:r>
            <a:endParaRPr lang="en-US" sz="975" dirty="0"/>
          </a:p>
        </p:txBody>
      </p:sp>
      <p:sp>
        <p:nvSpPr>
          <p:cNvPr id="64" name="Text 57"/>
          <p:cNvSpPr txBox="1"/>
          <p:nvPr/>
        </p:nvSpPr>
        <p:spPr>
          <a:xfrm>
            <a:off x="13163702" y="559155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25.35</a:t>
            </a:r>
            <a:endParaRPr lang="en-US" sz="975" dirty="0"/>
          </a:p>
        </p:txBody>
      </p:sp>
      <p:sp>
        <p:nvSpPr>
          <p:cNvPr id="65" name="Text 58"/>
          <p:cNvSpPr txBox="1"/>
          <p:nvPr/>
        </p:nvSpPr>
        <p:spPr>
          <a:xfrm>
            <a:off x="13582498" y="55915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25.24</a:t>
            </a:r>
            <a:endParaRPr lang="en-US" sz="975" dirty="0"/>
          </a:p>
        </p:txBody>
      </p:sp>
      <p:sp>
        <p:nvSpPr>
          <p:cNvPr id="66" name="Text 59"/>
          <p:cNvSpPr txBox="1"/>
          <p:nvPr/>
        </p:nvSpPr>
        <p:spPr>
          <a:xfrm>
            <a:off x="14002207" y="55915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25.24</a:t>
            </a:r>
            <a:endParaRPr lang="en-US" sz="975" dirty="0"/>
          </a:p>
        </p:txBody>
      </p:sp>
      <p:sp>
        <p:nvSpPr>
          <p:cNvPr id="67" name="Text 60"/>
          <p:cNvSpPr txBox="1"/>
          <p:nvPr/>
        </p:nvSpPr>
        <p:spPr>
          <a:xfrm>
            <a:off x="14421002" y="5591556"/>
            <a:ext cx="400507" cy="400507"/>
          </a:xfrm>
          <a:prstGeom prst="rect">
            <a:avLst/>
          </a:prstGeom>
          <a:solidFill>
            <a:srgbClr val="2C5E7A"/>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25.22</a:t>
            </a:r>
            <a:endParaRPr lang="en-US" sz="975" dirty="0"/>
          </a:p>
        </p:txBody>
      </p:sp>
      <p:sp>
        <p:nvSpPr>
          <p:cNvPr id="68" name="Text 61"/>
          <p:cNvSpPr txBox="1"/>
          <p:nvPr/>
        </p:nvSpPr>
        <p:spPr>
          <a:xfrm>
            <a:off x="14839798" y="559155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25.40</a:t>
            </a:r>
            <a:endParaRPr lang="en-US" sz="975" dirty="0"/>
          </a:p>
        </p:txBody>
      </p:sp>
      <p:sp>
        <p:nvSpPr>
          <p:cNvPr id="69" name="Text 62"/>
          <p:cNvSpPr txBox="1"/>
          <p:nvPr/>
        </p:nvSpPr>
        <p:spPr>
          <a:xfrm>
            <a:off x="15259507" y="5591556"/>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25.36</a:t>
            </a:r>
            <a:endParaRPr lang="en-US" sz="975" dirty="0"/>
          </a:p>
        </p:txBody>
      </p:sp>
      <p:sp>
        <p:nvSpPr>
          <p:cNvPr id="70" name="Text 63"/>
          <p:cNvSpPr txBox="1"/>
          <p:nvPr/>
        </p:nvSpPr>
        <p:spPr>
          <a:xfrm>
            <a:off x="15678302" y="559155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25.54</a:t>
            </a:r>
            <a:endParaRPr lang="en-US" sz="975" dirty="0"/>
          </a:p>
        </p:txBody>
      </p:sp>
      <p:sp>
        <p:nvSpPr>
          <p:cNvPr id="71" name="Text 64"/>
          <p:cNvSpPr txBox="1"/>
          <p:nvPr/>
        </p:nvSpPr>
        <p:spPr>
          <a:xfrm>
            <a:off x="16097098" y="559155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25.48</a:t>
            </a:r>
            <a:endParaRPr lang="en-US" sz="975" dirty="0"/>
          </a:p>
        </p:txBody>
      </p:sp>
      <p:sp>
        <p:nvSpPr>
          <p:cNvPr id="72" name="Text 65"/>
          <p:cNvSpPr txBox="1"/>
          <p:nvPr/>
        </p:nvSpPr>
        <p:spPr>
          <a:xfrm>
            <a:off x="13163702" y="60103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25.50</a:t>
            </a:r>
            <a:endParaRPr lang="en-US" sz="975" dirty="0"/>
          </a:p>
        </p:txBody>
      </p:sp>
      <p:sp>
        <p:nvSpPr>
          <p:cNvPr id="73" name="Text 66"/>
          <p:cNvSpPr txBox="1"/>
          <p:nvPr/>
        </p:nvSpPr>
        <p:spPr>
          <a:xfrm>
            <a:off x="13582498" y="60103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25.51</a:t>
            </a:r>
            <a:endParaRPr lang="en-US" sz="975" dirty="0"/>
          </a:p>
        </p:txBody>
      </p:sp>
      <p:sp>
        <p:nvSpPr>
          <p:cNvPr id="74" name="Text 67"/>
          <p:cNvSpPr txBox="1"/>
          <p:nvPr/>
        </p:nvSpPr>
        <p:spPr>
          <a:xfrm>
            <a:off x="14002207" y="6010351"/>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25.45</a:t>
            </a:r>
            <a:endParaRPr lang="en-US" sz="975" dirty="0"/>
          </a:p>
        </p:txBody>
      </p:sp>
      <p:sp>
        <p:nvSpPr>
          <p:cNvPr id="75" name="Text 68"/>
          <p:cNvSpPr txBox="1"/>
          <p:nvPr/>
        </p:nvSpPr>
        <p:spPr>
          <a:xfrm>
            <a:off x="14421002" y="6010351"/>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25.40</a:t>
            </a:r>
            <a:endParaRPr lang="en-US" sz="975" dirty="0"/>
          </a:p>
        </p:txBody>
      </p:sp>
      <p:sp>
        <p:nvSpPr>
          <p:cNvPr id="76" name="Text 69"/>
          <p:cNvSpPr txBox="1"/>
          <p:nvPr/>
        </p:nvSpPr>
        <p:spPr>
          <a:xfrm>
            <a:off x="14839798" y="6010351"/>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25.33</a:t>
            </a:r>
            <a:endParaRPr lang="en-US" sz="975" dirty="0"/>
          </a:p>
        </p:txBody>
      </p:sp>
      <p:sp>
        <p:nvSpPr>
          <p:cNvPr id="77" name="Text 70"/>
          <p:cNvSpPr txBox="1"/>
          <p:nvPr/>
        </p:nvSpPr>
        <p:spPr>
          <a:xfrm>
            <a:off x="15259507" y="6010351"/>
            <a:ext cx="400507" cy="400507"/>
          </a:xfrm>
          <a:prstGeom prst="rect">
            <a:avLst/>
          </a:prstGeom>
          <a:solidFill>
            <a:srgbClr val="C9D6DF"/>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25.34</a:t>
            </a:r>
            <a:endParaRPr lang="en-US" sz="975" dirty="0"/>
          </a:p>
        </p:txBody>
      </p:sp>
      <p:sp>
        <p:nvSpPr>
          <p:cNvPr id="78" name="Text 71"/>
          <p:cNvSpPr txBox="1"/>
          <p:nvPr/>
        </p:nvSpPr>
        <p:spPr>
          <a:xfrm>
            <a:off x="15678302" y="6010351"/>
            <a:ext cx="400507" cy="400507"/>
          </a:xfrm>
          <a:prstGeom prst="rect">
            <a:avLst/>
          </a:prstGeom>
          <a:solidFill>
            <a:srgbClr val="B07A1E"/>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25.70</a:t>
            </a:r>
            <a:endParaRPr lang="en-US" sz="975" dirty="0"/>
          </a:p>
        </p:txBody>
      </p:sp>
      <p:sp>
        <p:nvSpPr>
          <p:cNvPr id="79" name="Text 72"/>
          <p:cNvSpPr txBox="1"/>
          <p:nvPr/>
        </p:nvSpPr>
        <p:spPr>
          <a:xfrm>
            <a:off x="13582498" y="64291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25.52</a:t>
            </a:r>
            <a:endParaRPr lang="en-US" sz="975" dirty="0"/>
          </a:p>
        </p:txBody>
      </p:sp>
      <p:sp>
        <p:nvSpPr>
          <p:cNvPr id="80" name="Text 73"/>
          <p:cNvSpPr txBox="1"/>
          <p:nvPr/>
        </p:nvSpPr>
        <p:spPr>
          <a:xfrm>
            <a:off x="14002207" y="64291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25.48</a:t>
            </a:r>
            <a:endParaRPr lang="en-US" sz="975" dirty="0"/>
          </a:p>
        </p:txBody>
      </p:sp>
      <p:sp>
        <p:nvSpPr>
          <p:cNvPr id="81" name="Text 74"/>
          <p:cNvSpPr txBox="1"/>
          <p:nvPr/>
        </p:nvSpPr>
        <p:spPr>
          <a:xfrm>
            <a:off x="14421002" y="6429146"/>
            <a:ext cx="400507" cy="400507"/>
          </a:xfrm>
          <a:prstGeom prst="rect">
            <a:avLst/>
          </a:prstGeom>
          <a:solidFill>
            <a:srgbClr val="B07A1E"/>
          </a:solidFill>
          <a:ln>
            <a:solidFill>
              <a:srgbClr val="FFFFFF">
                <a:alpha val="0"/>
              </a:srgbClr>
            </a:solidFill>
          </a:ln>
        </p:spPr>
        <p:txBody>
          <a:bodyPr wrap="square" lIns="0" tIns="0" rIns="0" bIns="0" rtlCol="0" anchor="ctr"/>
          <a:lstStyle/>
          <a:p>
            <a:pPr algn="ctr" indent="0" marL="0">
              <a:buNone/>
            </a:pPr>
            <a:r>
              <a:rPr lang="en-US" sz="975" dirty="0">
                <a:solidFill>
                  <a:srgbClr val="FAF6EC"/>
                </a:solidFill>
                <a:latin typeface="JetBrains Mono" pitchFamily="34" charset="0"/>
                <a:ea typeface="JetBrains Mono" pitchFamily="34" charset="-122"/>
                <a:cs typeface="JetBrains Mono" pitchFamily="34" charset="-120"/>
              </a:rPr>
              <a:t>25.63</a:t>
            </a:r>
            <a:endParaRPr lang="en-US" sz="975" dirty="0"/>
          </a:p>
        </p:txBody>
      </p:sp>
      <p:sp>
        <p:nvSpPr>
          <p:cNvPr id="82" name="Text 75"/>
          <p:cNvSpPr txBox="1"/>
          <p:nvPr/>
        </p:nvSpPr>
        <p:spPr>
          <a:xfrm>
            <a:off x="14839798" y="64291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25.52</a:t>
            </a:r>
            <a:endParaRPr lang="en-US" sz="975" dirty="0"/>
          </a:p>
        </p:txBody>
      </p:sp>
      <p:sp>
        <p:nvSpPr>
          <p:cNvPr id="83" name="Text 76"/>
          <p:cNvSpPr txBox="1"/>
          <p:nvPr/>
        </p:nvSpPr>
        <p:spPr>
          <a:xfrm>
            <a:off x="15259507" y="6429146"/>
            <a:ext cx="400507" cy="400507"/>
          </a:xfrm>
          <a:prstGeom prst="rect">
            <a:avLst/>
          </a:prstGeom>
          <a:solidFill>
            <a:srgbClr val="E3C47E"/>
          </a:solidFill>
          <a:ln>
            <a:solidFill>
              <a:srgbClr val="FFFFFF">
                <a:alpha val="0"/>
              </a:srgbClr>
            </a:solidFill>
          </a:ln>
        </p:spPr>
        <p:txBody>
          <a:bodyPr wrap="square" lIns="0" tIns="0" rIns="0" bIns="0" rtlCol="0" anchor="ctr"/>
          <a:lstStyle/>
          <a:p>
            <a:pPr algn="ctr" indent="0" marL="0">
              <a:buNone/>
            </a:pPr>
            <a:r>
              <a:rPr lang="en-US" sz="975" dirty="0">
                <a:solidFill>
                  <a:srgbClr val="1A1F26"/>
                </a:solidFill>
                <a:latin typeface="JetBrains Mono" pitchFamily="34" charset="0"/>
                <a:ea typeface="JetBrains Mono" pitchFamily="34" charset="-122"/>
                <a:cs typeface="JetBrains Mono" pitchFamily="34" charset="-120"/>
              </a:rPr>
              <a:t>25.53</a:t>
            </a:r>
            <a:endParaRPr lang="en-US" sz="975" dirty="0"/>
          </a:p>
        </p:txBody>
      </p:sp>
      <p:sp>
        <p:nvSpPr>
          <p:cNvPr id="84" name="Text 77"/>
          <p:cNvSpPr txBox="1"/>
          <p:nvPr/>
        </p:nvSpPr>
        <p:spPr>
          <a:xfrm>
            <a:off x="12001500" y="7162495"/>
            <a:ext cx="5334610" cy="629107"/>
          </a:xfrm>
          <a:prstGeom prst="rect">
            <a:avLst/>
          </a:prstGeom>
          <a:noFill/>
          <a:ln/>
        </p:spPr>
        <p:txBody>
          <a:bodyPr wrap="square" lIns="0" tIns="0" rIns="0" bIns="0" rtlCol="0" anchor="ctr"/>
          <a:lstStyle/>
          <a:p>
            <a:pPr algn="l" indent="0" marL="0">
              <a:lnSpc>
                <a:spcPts val="1627"/>
              </a:lnSpc>
              <a:buNone/>
            </a:pPr>
            <a:r>
              <a:rPr lang="en-US" sz="1050" dirty="0">
                <a:solidFill>
                  <a:srgbClr val="6F6857"/>
                </a:solidFill>
                <a:latin typeface="IBM Plex Sans" pitchFamily="34" charset="0"/>
                <a:ea typeface="IBM Plex Sans" pitchFamily="34" charset="-122"/>
                <a:cs typeface="IBM Plex Sans" pitchFamily="34" charset="-120"/>
              </a:rPr>
              <a:t>W3 (Cu dam., worst WIWNU): 9×9 격자 모서리 12 사이트 제외 → 69 사이트. 색상(target 25.4 nm 대비): 진한 호박 Δ&gt;+0.15 · 연한 호박 0~+0.15 · 연청 −0.15~0 · 진청 &lt;−0.15. 69pt mean 25.38 / 3σ 0.49 / range 24.95–25.70 nm.</a:t>
            </a:r>
            <a:endParaRPr lang="en-US" sz="1050" dirty="0"/>
          </a:p>
        </p:txBody>
      </p:sp>
      <p:sp>
        <p:nvSpPr>
          <p:cNvPr id="85" name="Text 78"/>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 · W3 wafer map 수치는 가상 생성값.</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16782898" cy="4324198"/>
          </a:xfrm>
          <a:prstGeom prst="rect">
            <a:avLst/>
          </a:prstGeom>
          <a:solidFill>
            <a:srgbClr val="FAF6EC"/>
          </a:solidFill>
          <a:ln w="12700">
            <a:solidFill>
              <a:srgbClr val="B5A47A"/>
            </a:solidFill>
            <a:prstDash val="solid"/>
          </a:ln>
        </p:spPr>
      </p:sp>
      <p:sp>
        <p:nvSpPr>
          <p:cNvPr id="6" name="Shape 1"/>
          <p:cNvSpPr/>
          <p:nvPr/>
        </p:nvSpPr>
        <p:spPr>
          <a:xfrm>
            <a:off x="761695" y="6667805"/>
            <a:ext cx="8210398" cy="2648102"/>
          </a:xfrm>
          <a:prstGeom prst="rect">
            <a:avLst/>
          </a:prstGeom>
          <a:solidFill>
            <a:srgbClr val="FAF6EC"/>
          </a:solidFill>
          <a:ln w="12700">
            <a:solidFill>
              <a:srgbClr val="B5A47A"/>
            </a:solidFill>
            <a:prstDash val="solid"/>
          </a:ln>
        </p:spPr>
      </p:sp>
      <p:sp>
        <p:nvSpPr>
          <p:cNvPr id="7" name="Shape 2"/>
          <p:cNvSpPr/>
          <p:nvPr/>
        </p:nvSpPr>
        <p:spPr>
          <a:xfrm>
            <a:off x="9334195" y="6667805"/>
            <a:ext cx="8210398" cy="2648102"/>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6667805"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12 · ELECTRICAL</a:t>
            </a:r>
            <a:endParaRPr lang="en-US" sz="1200" dirty="0"/>
          </a:p>
        </p:txBody>
      </p:sp>
      <p:sp>
        <p:nvSpPr>
          <p:cNvPr id="10" name="Text 4"/>
          <p:cNvSpPr txBox="1"/>
          <p:nvPr/>
        </p:nvSpPr>
        <p:spPr>
          <a:xfrm>
            <a:off x="761695" y="1283818"/>
            <a:ext cx="16193110" cy="486461"/>
          </a:xfrm>
          <a:prstGeom prst="rect">
            <a:avLst/>
          </a:prstGeom>
          <a:noFill/>
          <a:ln/>
        </p:spPr>
        <p:txBody>
          <a:bodyPr wrap="none" lIns="0" tIns="0" rIns="0" bIns="0" rtlCol="0" anchor="ctr"/>
          <a:lstStyle/>
          <a:p>
            <a:pPr algn="l" indent="0" marL="0">
              <a:buNone/>
            </a:pPr>
            <a:r>
              <a:rPr lang="en-US" sz="3450" b="1" dirty="0">
                <a:solidFill>
                  <a:srgbClr val="1A1F26"/>
                </a:solidFill>
                <a:latin typeface="Manrope" pitchFamily="34" charset="0"/>
                <a:ea typeface="Manrope" pitchFamily="34" charset="-122"/>
                <a:cs typeface="Manrope" pitchFamily="34" charset="-120"/>
              </a:rPr>
              <a:t>전기 특성 — Line 저항 · Via 저항 · Leakage </a:t>
            </a:r>
            <a:pPr algn="l" indent="0" marL="0">
              <a:buNone/>
            </a:pPr>
            <a:r>
              <a:rPr lang="en-US" sz="1800" b="1" dirty="0">
                <a:solidFill>
                  <a:srgbClr val="6F6857"/>
                </a:solidFill>
                <a:latin typeface="JetBrains Mono" pitchFamily="34" charset="0"/>
                <a:ea typeface="JetBrains Mono" pitchFamily="34" charset="-122"/>
                <a:cs typeface="JetBrains Mono" pitchFamily="34" charset="-120"/>
              </a:rPr>
              <a:t>median / σ, 69 die</a:t>
            </a:r>
            <a:endParaRPr lang="en-US" sz="3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16764610" cy="3639312"/>
        </p:xfrm>
        <a:graphic>
          <a:graphicData uri="http://schemas.openxmlformats.org/drawingml/2006/table">
            <a:tbl>
              <a:tblPr/>
              <a:tblGrid>
                <a:gridCol w="1123798"/>
                <a:gridCol w="1695298"/>
                <a:gridCol w="1828800"/>
                <a:gridCol w="2569464"/>
                <a:gridCol w="1631290"/>
                <a:gridCol w="1803197"/>
                <a:gridCol w="1637690"/>
                <a:gridCol w="2325319"/>
                <a:gridCol w="2147011"/>
              </a:tblGrid>
              <a:tr h="606552">
                <a:tc>
                  <a:txBody>
                    <a:bodyPr/>
                    <a:lstStyle/>
                    <a:p>
                      <a:pPr algn="l" indent="0" marL="0">
                        <a:buNone/>
                      </a:pPr>
                      <a:r>
                        <a:rPr lang="en-US" sz="1275" b="1" dirty="0">
                          <a:solidFill>
                            <a:srgbClr val="1A1F26"/>
                          </a:solidFill>
                          <a:latin typeface="IBM Plex Sans" pitchFamily="34" charset="0"/>
                          <a:ea typeface="IBM Plex Sans" pitchFamily="34" charset="-122"/>
                          <a:cs typeface="IBM Plex Sans" pitchFamily="34" charset="-120"/>
                        </a:rPr>
                        <a:t>Wafer</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275" b="1" dirty="0">
                          <a:solidFill>
                            <a:srgbClr val="1A1F26"/>
                          </a:solidFill>
                          <a:latin typeface="IBM Plex Sans" pitchFamily="34" charset="0"/>
                          <a:ea typeface="IBM Plex Sans" pitchFamily="34" charset="-122"/>
                          <a:cs typeface="IBM Plex Sans" pitchFamily="34" charset="-120"/>
                        </a:rPr>
                        <a:t>Split</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Line Rs (Ω/□)</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Line R @L=1mm (kΩ)</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Line R σ (%)</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Via Rc (Ω/via)</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Via Rc σ (%)</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Via chain yield (%)</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75" b="1" dirty="0">
                          <a:solidFill>
                            <a:srgbClr val="1A1F26"/>
                          </a:solidFill>
                          <a:latin typeface="IBM Plex Sans" pitchFamily="34" charset="0"/>
                          <a:ea typeface="IBM Plex Sans" pitchFamily="34" charset="-122"/>
                          <a:cs typeface="IBM Plex Sans" pitchFamily="34" charset="-120"/>
                        </a:rPr>
                        <a:t>Leakage @2V (A)</a:t>
                      </a:r>
                      <a:endParaRPr lang="en-US" sz="1275" dirty="0">
                        <a:latin typeface="IBM Plex Sans" charset="0"/>
                        <a:ea typeface="IBM Plex Sans" charset="0"/>
                        <a:cs typeface="IBM Plex Sans"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06552">
                <a:tc>
                  <a:txBody>
                    <a:bodyPr/>
                    <a:lstStyle/>
                    <a:p>
                      <a:pPr indent="0" marL="0">
                        <a:buNone/>
                      </a:pPr>
                      <a:r>
                        <a:rPr lang="en-US" sz="1650" dirty="0">
                          <a:solidFill>
                            <a:srgbClr val="000000"/>
                          </a:solidFill>
                          <a:latin typeface="JetBrains Mono" pitchFamily="34" charset="0"/>
                          <a:ea typeface="JetBrains Mono" pitchFamily="34" charset="-122"/>
                          <a:cs typeface="JetBrains Mono" pitchFamily="34" charset="-120"/>
                        </a:rPr>
                        <a:t>W1</a:t>
                      </a:r>
                      <a:endParaRPr lang="en-US" sz="165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A04A30"/>
                          </a:solidFill>
                          <a:latin typeface="IBM Plex Sans" pitchFamily="34" charset="0"/>
                          <a:ea typeface="IBM Plex Sans" pitchFamily="34" charset="-122"/>
                          <a:cs typeface="IBM Plex Sans" pitchFamily="34" charset="-120"/>
                        </a:rPr>
                        <a:t>Ru sub.</a:t>
                      </a:r>
                      <a:endParaRPr lang="en-US" sz="1200" dirty="0">
                        <a:latin typeface="IBM Plex Sans" charset="0"/>
                        <a:ea typeface="IBM Plex Sans" charset="0"/>
                        <a:cs typeface="IBM Plex Sans"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27.8</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2.99</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2.1</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31.4</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3.8</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98.6</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4.2E-12</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06552">
                <a:tc>
                  <a:txBody>
                    <a:bodyPr/>
                    <a:lstStyle/>
                    <a:p>
                      <a:pPr indent="0" marL="0">
                        <a:buNone/>
                      </a:pPr>
                      <a:r>
                        <a:rPr lang="en-US" sz="1650" dirty="0">
                          <a:solidFill>
                            <a:srgbClr val="000000"/>
                          </a:solidFill>
                          <a:latin typeface="JetBrains Mono" pitchFamily="34" charset="0"/>
                          <a:ea typeface="JetBrains Mono" pitchFamily="34" charset="-122"/>
                          <a:cs typeface="JetBrains Mono" pitchFamily="34" charset="-120"/>
                        </a:rPr>
                        <a:t>W2</a:t>
                      </a:r>
                      <a:endParaRPr lang="en-US" sz="165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A04A30"/>
                          </a:solidFill>
                          <a:latin typeface="IBM Plex Sans" pitchFamily="34" charset="0"/>
                          <a:ea typeface="IBM Plex Sans" pitchFamily="34" charset="-122"/>
                          <a:cs typeface="IBM Plex Sans" pitchFamily="34" charset="-120"/>
                        </a:rPr>
                        <a:t>Ru sub.</a:t>
                      </a:r>
                      <a:endParaRPr lang="en-US" sz="1200" dirty="0">
                        <a:latin typeface="IBM Plex Sans" charset="0"/>
                        <a:ea typeface="IBM Plex Sans" charset="0"/>
                        <a:cs typeface="IBM Plex Sans"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27.5</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2.96</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1.9</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30.9</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3.5</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99.1</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3.9E-12</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06552">
                <a:tc>
                  <a:txBody>
                    <a:bodyPr/>
                    <a:lstStyle/>
                    <a:p>
                      <a:pPr indent="0" marL="0">
                        <a:buNone/>
                      </a:pPr>
                      <a:r>
                        <a:rPr lang="en-US" sz="1650" dirty="0">
                          <a:solidFill>
                            <a:srgbClr val="000000"/>
                          </a:solidFill>
                          <a:latin typeface="JetBrains Mono" pitchFamily="34" charset="0"/>
                          <a:ea typeface="JetBrains Mono" pitchFamily="34" charset="-122"/>
                          <a:cs typeface="JetBrains Mono" pitchFamily="34" charset="-120"/>
                        </a:rPr>
                        <a:t>W3</a:t>
                      </a:r>
                      <a:endParaRPr lang="en-US" sz="165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2C5E7A"/>
                          </a:solidFill>
                          <a:latin typeface="IBM Plex Sans" pitchFamily="34" charset="0"/>
                          <a:ea typeface="IBM Plex Sans" pitchFamily="34" charset="-122"/>
                          <a:cs typeface="IBM Plex Sans" pitchFamily="34" charset="-120"/>
                        </a:rPr>
                        <a:t>Cu dam.</a:t>
                      </a:r>
                      <a:endParaRPr lang="en-US" sz="1200" dirty="0">
                        <a:latin typeface="IBM Plex Sans" charset="0"/>
                        <a:ea typeface="IBM Plex Sans" charset="0"/>
                        <a:cs typeface="IBM Plex Sans"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31.2</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3.36</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2.8</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38.7</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5.1</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97.4</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2.6E-12</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06552">
                <a:tc>
                  <a:txBody>
                    <a:bodyPr/>
                    <a:lstStyle/>
                    <a:p>
                      <a:pPr indent="0" marL="0">
                        <a:buNone/>
                      </a:pPr>
                      <a:r>
                        <a:rPr lang="en-US" sz="1650" dirty="0">
                          <a:solidFill>
                            <a:srgbClr val="000000"/>
                          </a:solidFill>
                          <a:latin typeface="JetBrains Mono" pitchFamily="34" charset="0"/>
                          <a:ea typeface="JetBrains Mono" pitchFamily="34" charset="-122"/>
                          <a:cs typeface="JetBrains Mono" pitchFamily="34" charset="-120"/>
                        </a:rPr>
                        <a:t>W4</a:t>
                      </a:r>
                      <a:endParaRPr lang="en-US" sz="165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2C5E7A"/>
                          </a:solidFill>
                          <a:latin typeface="IBM Plex Sans" pitchFamily="34" charset="0"/>
                          <a:ea typeface="IBM Plex Sans" pitchFamily="34" charset="-122"/>
                          <a:cs typeface="IBM Plex Sans" pitchFamily="34" charset="-120"/>
                        </a:rPr>
                        <a:t>Cu dam.</a:t>
                      </a:r>
                      <a:endParaRPr lang="en-US" sz="1200" dirty="0">
                        <a:latin typeface="IBM Plex Sans" charset="0"/>
                        <a:ea typeface="IBM Plex Sans" charset="0"/>
                        <a:cs typeface="IBM Plex Sans"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30.8</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3.31</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2.6</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37.9</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4.8</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98.0</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2.4E-12</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606552">
                <a:tc gridSpan="2">
                  <a:txBody>
                    <a:bodyPr/>
                    <a:lstStyle/>
                    <a:p>
                      <a:pPr indent="0" marL="0">
                        <a:buNone/>
                      </a:pPr>
                      <a:r>
                        <a:rPr lang="en-US" sz="1200" b="1" dirty="0">
                          <a:solidFill>
                            <a:srgbClr val="2D3340"/>
                          </a:solidFill>
                          <a:latin typeface="IBM Plex Sans" pitchFamily="34" charset="0"/>
                          <a:ea typeface="IBM Plex Sans" pitchFamily="34" charset="-122"/>
                          <a:cs typeface="IBM Plex Sans" pitchFamily="34" charset="-120"/>
                        </a:rPr>
                        <a:t>Ru / Cu 비</a:t>
                      </a:r>
                      <a:endParaRPr lang="en-US" sz="1200" dirty="0">
                        <a:latin typeface="IBM Plex Sans" charset="0"/>
                        <a:ea typeface="IBM Plex Sans" charset="0"/>
                        <a:cs typeface="IBM Plex Sans"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hMerge="1">
                  <a:tcPr/>
                </a:tc>
                <a:tc>
                  <a:txBody>
                    <a:bodyPr/>
                    <a:lstStyle/>
                    <a:p>
                      <a:pPr algn="r" indent="0" marL="0">
                        <a:buNone/>
                      </a:pPr>
                      <a:r>
                        <a:rPr lang="en-US" sz="1500" b="1" dirty="0">
                          <a:solidFill>
                            <a:srgbClr val="1A1F26"/>
                          </a:solidFill>
                          <a:latin typeface="JetBrains Mono" pitchFamily="34" charset="0"/>
                          <a:ea typeface="JetBrains Mono" pitchFamily="34" charset="-122"/>
                          <a:cs typeface="JetBrains Mono" pitchFamily="34" charset="-120"/>
                        </a:rPr>
                        <a:t>0.89</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b="1" dirty="0">
                          <a:solidFill>
                            <a:srgbClr val="1A1F26"/>
                          </a:solidFill>
                          <a:latin typeface="JetBrains Mono" pitchFamily="34" charset="0"/>
                          <a:ea typeface="JetBrains Mono" pitchFamily="34" charset="-122"/>
                          <a:cs typeface="JetBrains Mono" pitchFamily="34" charset="-120"/>
                        </a:rPr>
                        <a:t>0.89</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b="1" dirty="0">
                          <a:solidFill>
                            <a:srgbClr val="1A1F26"/>
                          </a:solidFill>
                          <a:latin typeface="JetBrains Mono" pitchFamily="34" charset="0"/>
                          <a:ea typeface="JetBrains Mono" pitchFamily="34" charset="-122"/>
                          <a:cs typeface="JetBrains Mono" pitchFamily="34" charset="-120"/>
                        </a:rPr>
                        <a:t>0.81</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dirty="0">
                          <a:solidFill>
                            <a:srgbClr val="1A1F26"/>
                          </a:solidFill>
                          <a:latin typeface="JetBrains Mono" pitchFamily="34" charset="0"/>
                          <a:ea typeface="JetBrains Mono" pitchFamily="34" charset="-122"/>
                          <a:cs typeface="JetBrains Mono" pitchFamily="34" charset="-120"/>
                        </a:rPr>
                        <a:t>+1.2 pt</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500" b="1" dirty="0">
                          <a:solidFill>
                            <a:srgbClr val="1A1F26"/>
                          </a:solidFill>
                          <a:latin typeface="JetBrains Mono" pitchFamily="34" charset="0"/>
                          <a:ea typeface="JetBrains Mono" pitchFamily="34" charset="-122"/>
                          <a:cs typeface="JetBrains Mono" pitchFamily="34" charset="-120"/>
                        </a:rPr>
                        <a:t>1.6×</a:t>
                      </a:r>
                      <a:endParaRPr lang="en-US" sz="1500" dirty="0">
                        <a:latin typeface="JetBrains Mono" charset="0"/>
                        <a:ea typeface="JetBrains Mono" charset="0"/>
                        <a:cs typeface="JetBrains Mono" charset="0"/>
                      </a:endParaRPr>
                    </a:p>
                  </a:txBody>
                  <a:tcPr marL="133502" marR="133502"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952805" y="6838798"/>
            <a:ext cx="7810805"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TEST STRUCTURE</a:t>
            </a:r>
            <a:endParaRPr lang="en-US" sz="1050" dirty="0"/>
          </a:p>
        </p:txBody>
      </p:sp>
      <p:sp>
        <p:nvSpPr>
          <p:cNvPr id="13" name="Text 6"/>
          <p:cNvSpPr txBox="1"/>
          <p:nvPr/>
        </p:nvSpPr>
        <p:spPr>
          <a:xfrm>
            <a:off x="952805" y="7071055"/>
            <a:ext cx="7810805" cy="1140257"/>
          </a:xfrm>
          <a:prstGeom prst="rect">
            <a:avLst/>
          </a:prstGeom>
          <a:noFill/>
          <a:ln/>
        </p:spPr>
        <p:txBody>
          <a:bodyPr wrap="square" lIns="0" tIns="0" rIns="0" bIns="0" rtlCol="0" anchor="t"/>
          <a:lstStyle/>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Line R: M4 serpentine, W = AMI 9.3 nm, L = 1 mm, 4-point Kelvin</a:t>
            </a:r>
            <a:pPr algn="l" indent="0" marL="0">
              <a:lnSpc>
                <a:spcPts val="2160"/>
              </a:lnSpc>
              <a:buNone/>
            </a:pPr>
            <a:endParaRPr lang="en-US" sz="1350" dirty="0"/>
          </a:p>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Via Rc: M3–V3–M4 Kelvin, ACI 9.2 nm via 단일</a:t>
            </a:r>
            <a:pPr algn="l" indent="0" marL="0">
              <a:lnSpc>
                <a:spcPts val="2160"/>
              </a:lnSpc>
              <a:buNone/>
            </a:pPr>
            <a:endParaRPr lang="en-US" sz="1350" dirty="0"/>
          </a:p>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Via chain: 10k via chain, open 기준 R &gt; 2× median</a:t>
            </a:r>
            <a:pPr algn="l" indent="0" marL="0">
              <a:lnSpc>
                <a:spcPts val="2160"/>
              </a:lnSpc>
              <a:buNone/>
            </a:pPr>
            <a:endParaRPr lang="en-US" sz="1350" dirty="0"/>
          </a:p>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Leakage: comb-serpentine, 인접 line 간 2 V 인가, 25 ℃</a:t>
            </a:r>
            <a:endParaRPr lang="en-US" sz="1350" dirty="0"/>
          </a:p>
        </p:txBody>
      </p:sp>
      <p:sp>
        <p:nvSpPr>
          <p:cNvPr id="14" name="Text 7"/>
          <p:cNvSpPr txBox="1"/>
          <p:nvPr/>
        </p:nvSpPr>
        <p:spPr>
          <a:xfrm>
            <a:off x="9525305" y="6838798"/>
            <a:ext cx="7810805"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READING NOTES</a:t>
            </a:r>
            <a:endParaRPr lang="en-US" sz="1050" dirty="0"/>
          </a:p>
        </p:txBody>
      </p:sp>
      <p:sp>
        <p:nvSpPr>
          <p:cNvPr id="15" name="Text 8"/>
          <p:cNvSpPr txBox="1"/>
          <p:nvPr/>
        </p:nvSpPr>
        <p:spPr>
          <a:xfrm>
            <a:off x="9525305" y="7071055"/>
            <a:ext cx="7810805" cy="864108"/>
          </a:xfrm>
          <a:prstGeom prst="rect">
            <a:avLst/>
          </a:prstGeom>
          <a:noFill/>
          <a:ln/>
        </p:spPr>
        <p:txBody>
          <a:bodyPr wrap="square" lIns="0" tIns="0" rIns="0" bIns="0" rtlCol="0" anchor="t"/>
          <a:lstStyle/>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Ru line R은 Cu 대비 약 11% 낮음 — barrier 두께 감소 및 9 nm 폭에서의 size effect 차이로 해석.</a:t>
            </a:r>
            <a:pPr algn="l" indent="0" marL="0">
              <a:lnSpc>
                <a:spcPts val="2160"/>
              </a:lnSpc>
              <a:buNone/>
            </a:pPr>
            <a:endParaRPr lang="en-US" sz="1350" dirty="0"/>
          </a:p>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Via Rc는 Ru 측이 19% 낮고 σ도 작음 (barrier-less 계면).</a:t>
            </a:r>
            <a:pPr algn="l" indent="0" marL="0">
              <a:lnSpc>
                <a:spcPts val="2160"/>
              </a:lnSpc>
              <a:buNone/>
            </a:pPr>
            <a:endParaRPr lang="en-US" sz="1350" dirty="0"/>
          </a:p>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Leakage는 Ru가 1.6배 높음 — 슬라이드 04의 IMD recess(4.1 nm) 및 etch damage와 연관 추정.</a:t>
            </a:r>
            <a:endParaRPr lang="en-US" sz="1350" dirty="0"/>
          </a:p>
        </p:txBody>
      </p:sp>
      <p:sp>
        <p:nvSpPr>
          <p:cNvPr id="16" name="Text 9"/>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CE0"/>
        </a:solidFill>
      </p:bgPr>
    </p:bg>
    <p:spTree>
      <p:nvGrpSpPr>
        <p:cNvPr id="1" name=""/>
        <p:cNvGrpSpPr/>
        <p:nvPr/>
      </p:nvGrpSpPr>
      <p:grpSpPr>
        <a:xfrm>
          <a:off x="0" y="0"/>
          <a:ext cx="0" cy="0"/>
          <a:chOff x="0" y="0"/>
          <a:chExt cx="0" cy="0"/>
        </a:xfrm>
      </p:grpSpPr>
      <p:pic>
        <p:nvPicPr>
          <p:cNvPr id="3" name="Image 0" descr="gen-dedup-e8463af20e815b6e8a1ca78a2236911c.png">    </p:cNvPr>
          <p:cNvPicPr>
            <a:picLocks noChangeAspect="1"/>
          </p:cNvPicPr>
          <p:nvPr/>
        </p:nvPicPr>
        <p:blipFill>
          <a:blip r:embed="rId1"/>
          <a:srcRect l="-2083" r="-2083" t="0" b="0"/>
          <a:stretch/>
        </p:blipFill>
        <p:spPr>
          <a:xfrm>
            <a:off x="761695" y="514807"/>
            <a:ext cx="16763695" cy="9144"/>
          </a:xfrm>
          <a:prstGeom prst="rect">
            <a:avLst/>
          </a:prstGeom>
        </p:spPr>
      </p:pic>
      <p:pic>
        <p:nvPicPr>
          <p:cNvPr id="4" name="Image 1" descr="gen-dedup-e8463af20e815b6e8a1ca78a2236911c.png">    </p:cNvPr>
          <p:cNvPicPr>
            <a:picLocks noChangeAspect="1"/>
          </p:cNvPicPr>
          <p:nvPr/>
        </p:nvPicPr>
        <p:blipFill>
          <a:blip r:embed="rId2"/>
          <a:srcRect l="-2083" r="-2083" t="0" b="0"/>
          <a:stretch/>
        </p:blipFill>
        <p:spPr>
          <a:xfrm>
            <a:off x="761695" y="1790395"/>
            <a:ext cx="16763695" cy="9144"/>
          </a:xfrm>
          <a:prstGeom prst="rect">
            <a:avLst/>
          </a:prstGeom>
        </p:spPr>
      </p:pic>
      <p:sp>
        <p:nvSpPr>
          <p:cNvPr id="5" name="Shape 0"/>
          <p:cNvSpPr/>
          <p:nvPr/>
        </p:nvSpPr>
        <p:spPr>
          <a:xfrm>
            <a:off x="761695" y="2076602"/>
            <a:ext cx="9544507" cy="4019702"/>
          </a:xfrm>
          <a:prstGeom prst="rect">
            <a:avLst/>
          </a:prstGeom>
          <a:solidFill>
            <a:srgbClr val="FAF6EC"/>
          </a:solidFill>
          <a:ln w="12700">
            <a:solidFill>
              <a:srgbClr val="B5A47A"/>
            </a:solidFill>
            <a:prstDash val="solid"/>
          </a:ln>
        </p:spPr>
      </p:sp>
      <p:sp>
        <p:nvSpPr>
          <p:cNvPr id="6" name="Shape 1"/>
          <p:cNvSpPr/>
          <p:nvPr/>
        </p:nvSpPr>
        <p:spPr>
          <a:xfrm>
            <a:off x="10668305" y="2076602"/>
            <a:ext cx="6858000" cy="7220102"/>
          </a:xfrm>
          <a:prstGeom prst="rect">
            <a:avLst/>
          </a:prstGeom>
          <a:solidFill>
            <a:srgbClr val="1A1F26"/>
          </a:solidFill>
          <a:ln w="12700">
            <a:solidFill>
              <a:srgbClr val="FFFFFF">
                <a:alpha val="0"/>
              </a:srgbClr>
            </a:solidFill>
            <a:prstDash val="solid"/>
          </a:ln>
        </p:spPr>
      </p:sp>
      <p:sp>
        <p:nvSpPr>
          <p:cNvPr id="7" name="Shape 2"/>
          <p:cNvSpPr/>
          <p:nvPr/>
        </p:nvSpPr>
        <p:spPr>
          <a:xfrm>
            <a:off x="761695" y="6782105"/>
            <a:ext cx="9544507" cy="2533802"/>
          </a:xfrm>
          <a:prstGeom prst="rect">
            <a:avLst/>
          </a:prstGeom>
          <a:solidFill>
            <a:srgbClr val="FAF6EC"/>
          </a:solidFill>
          <a:ln w="12700">
            <a:solidFill>
              <a:srgbClr val="B5A47A"/>
            </a:solidFill>
            <a:prstDash val="solid"/>
          </a:ln>
        </p:spPr>
      </p:sp>
      <p:pic>
        <p:nvPicPr>
          <p:cNvPr id="8" name="Image 2" descr="gen-dedup-e8463af20e815b6e8a1ca78a2236911c.png">    </p:cNvPr>
          <p:cNvPicPr>
            <a:picLocks noChangeAspect="1"/>
          </p:cNvPicPr>
          <p:nvPr/>
        </p:nvPicPr>
        <p:blipFill>
          <a:blip r:embed="rId3"/>
          <a:srcRect l="-2083" r="-2083" t="0" b="0"/>
          <a:stretch/>
        </p:blipFill>
        <p:spPr>
          <a:xfrm>
            <a:off x="761695" y="9620402"/>
            <a:ext cx="16763695" cy="9144"/>
          </a:xfrm>
          <a:prstGeom prst="rect">
            <a:avLst/>
          </a:prstGeom>
        </p:spPr>
      </p:pic>
      <p:sp>
        <p:nvSpPr>
          <p:cNvPr id="9" name="Text 3"/>
          <p:cNvSpPr txBox="1"/>
          <p:nvPr/>
        </p:nvSpPr>
        <p:spPr>
          <a:xfrm>
            <a:off x="761695" y="743407"/>
            <a:ext cx="6667805" cy="219456"/>
          </a:xfrm>
          <a:prstGeom prst="rect">
            <a:avLst/>
          </a:prstGeom>
          <a:noFill/>
          <a:ln/>
        </p:spPr>
        <p:txBody>
          <a:bodyPr wrap="none" lIns="0" tIns="0" rIns="0" bIns="0" rtlCol="0" anchor="ctr"/>
          <a:lstStyle/>
          <a:p>
            <a:pPr algn="l" indent="0" marL="0">
              <a:buNone/>
            </a:pPr>
            <a:r>
              <a:rPr lang="en-US" sz="1350" dirty="0">
                <a:solidFill>
                  <a:srgbClr val="6F6857"/>
                </a:solidFill>
                <a:latin typeface="IBM Plex Sans" pitchFamily="34" charset="0"/>
                <a:ea typeface="IBM Plex Sans" pitchFamily="34" charset="-122"/>
                <a:cs typeface="IBM Plex Sans" pitchFamily="34" charset="-120"/>
              </a:rPr>
              <a:t>DIV 13 · RELIABILITY &amp; CONCLUSION</a:t>
            </a:r>
            <a:endParaRPr lang="en-US" sz="1200" dirty="0"/>
          </a:p>
        </p:txBody>
      </p:sp>
      <p:sp>
        <p:nvSpPr>
          <p:cNvPr id="10" name="Text 4"/>
          <p:cNvSpPr txBox="1"/>
          <p:nvPr/>
        </p:nvSpPr>
        <p:spPr>
          <a:xfrm>
            <a:off x="761695" y="1283818"/>
            <a:ext cx="16193110" cy="486461"/>
          </a:xfrm>
          <a:prstGeom prst="rect">
            <a:avLst/>
          </a:prstGeom>
          <a:noFill/>
          <a:ln/>
        </p:spPr>
        <p:txBody>
          <a:bodyPr wrap="none" lIns="0" tIns="0" rIns="0" bIns="0" rtlCol="0" anchor="ctr"/>
          <a:lstStyle/>
          <a:p>
            <a:pPr algn="l" indent="0" marL="0">
              <a:buNone/>
            </a:pPr>
            <a:r>
              <a:rPr lang="en-US" sz="3450" b="1" dirty="0">
                <a:solidFill>
                  <a:srgbClr val="1A1F26"/>
                </a:solidFill>
                <a:latin typeface="Manrope" pitchFamily="34" charset="0"/>
                <a:ea typeface="Manrope" pitchFamily="34" charset="-122"/>
                <a:cs typeface="Manrope" pitchFamily="34" charset="-120"/>
              </a:rPr>
              <a:t>EM MTTF 및 요약 · 결론 </a:t>
            </a:r>
            <a:pPr algn="l" indent="0" marL="0">
              <a:buNone/>
            </a:pPr>
            <a:r>
              <a:rPr lang="en-US" sz="1800" b="1" dirty="0">
                <a:solidFill>
                  <a:srgbClr val="6F6857"/>
                </a:solidFill>
                <a:latin typeface="JetBrains Mono" pitchFamily="34" charset="0"/>
                <a:ea typeface="JetBrains Mono" pitchFamily="34" charset="-122"/>
                <a:cs typeface="JetBrains Mono" pitchFamily="34" charset="-120"/>
              </a:rPr>
              <a:t>300 ℃ · 2.0 MA/cm² · n = 20 / wafer</a:t>
            </a:r>
            <a:endParaRPr lang="en-US" sz="34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61695" y="2076602"/>
          <a:ext cx="9525305" cy="3277210"/>
        </p:xfrm>
        <a:graphic>
          <a:graphicData uri="http://schemas.openxmlformats.org/drawingml/2006/table">
            <a:tbl>
              <a:tblPr/>
              <a:tblGrid>
                <a:gridCol w="990295"/>
                <a:gridCol w="1466698"/>
                <a:gridCol w="1109167"/>
                <a:gridCol w="1683410"/>
                <a:gridCol w="2008022"/>
                <a:gridCol w="1225296"/>
                <a:gridCol w="1041502"/>
              </a:tblGrid>
              <a:tr h="546202">
                <a:tc>
                  <a:txBody>
                    <a:bodyPr/>
                    <a:lstStyle/>
                    <a:p>
                      <a:pPr algn="l" indent="0" marL="0">
                        <a:buNone/>
                      </a:pPr>
                      <a:r>
                        <a:rPr lang="en-US" sz="1200" b="1" dirty="0">
                          <a:solidFill>
                            <a:srgbClr val="1A1F26"/>
                          </a:solidFill>
                          <a:latin typeface="IBM Plex Sans" pitchFamily="34" charset="0"/>
                          <a:ea typeface="IBM Plex Sans" pitchFamily="34" charset="-122"/>
                          <a:cs typeface="IBM Plex Sans" pitchFamily="34" charset="-120"/>
                        </a:rPr>
                        <a:t>Wafer</a:t>
                      </a:r>
                      <a:endParaRPr lang="en-US" sz="1200" dirty="0">
                        <a:latin typeface="IBM Plex Sans" charset="0"/>
                        <a:ea typeface="IBM Plex Sans" charset="0"/>
                        <a:cs typeface="IBM Plex Sans" charset="0"/>
                      </a:endParaRPr>
                    </a:p>
                  </a:txBody>
                  <a:tcPr marL="114300" marR="114300"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200" b="1" dirty="0">
                          <a:solidFill>
                            <a:srgbClr val="1A1F26"/>
                          </a:solidFill>
                          <a:latin typeface="IBM Plex Sans" pitchFamily="34" charset="0"/>
                          <a:ea typeface="IBM Plex Sans" pitchFamily="34" charset="-122"/>
                          <a:cs typeface="IBM Plex Sans" pitchFamily="34" charset="-120"/>
                        </a:rPr>
                        <a:t>Split</a:t>
                      </a:r>
                      <a:endParaRPr lang="en-US" sz="1200" dirty="0">
                        <a:latin typeface="IBM Plex Sans" charset="0"/>
                        <a:ea typeface="IBM Plex Sans" charset="0"/>
                        <a:cs typeface="IBM Plex Sans" charset="0"/>
                      </a:endParaRPr>
                    </a:p>
                  </a:txBody>
                  <a:tcPr marL="114300" marR="114300"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1A1F26"/>
                          </a:solidFill>
                          <a:latin typeface="IBM Plex Sans" pitchFamily="34" charset="0"/>
                          <a:ea typeface="IBM Plex Sans" pitchFamily="34" charset="-122"/>
                          <a:cs typeface="IBM Plex Sans" pitchFamily="34" charset="-120"/>
                        </a:rPr>
                        <a:t>t50 (h)</a:t>
                      </a:r>
                      <a:endParaRPr lang="en-US" sz="1200" dirty="0">
                        <a:latin typeface="IBM Plex Sans" charset="0"/>
                        <a:ea typeface="IBM Plex Sans" charset="0"/>
                        <a:cs typeface="IBM Plex Sans" charset="0"/>
                      </a:endParaRPr>
                    </a:p>
                  </a:txBody>
                  <a:tcPr marL="114300" marR="114300"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1A1F26"/>
                          </a:solidFill>
                          <a:latin typeface="IBM Plex Sans" pitchFamily="34" charset="0"/>
                          <a:ea typeface="IBM Plex Sans" pitchFamily="34" charset="-122"/>
                          <a:cs typeface="IBM Plex Sans" pitchFamily="34" charset="-120"/>
                        </a:rPr>
                        <a:t>σ (lognormal)</a:t>
                      </a:r>
                      <a:endParaRPr lang="en-US" sz="1200" dirty="0">
                        <a:latin typeface="IBM Plex Sans" charset="0"/>
                        <a:ea typeface="IBM Plex Sans" charset="0"/>
                        <a:cs typeface="IBM Plex Sans" charset="0"/>
                      </a:endParaRPr>
                    </a:p>
                  </a:txBody>
                  <a:tcPr marL="114300" marR="114300"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1A1F26"/>
                          </a:solidFill>
                          <a:latin typeface="IBM Plex Sans" pitchFamily="34" charset="0"/>
                          <a:ea typeface="IBM Plex Sans" pitchFamily="34" charset="-122"/>
                          <a:cs typeface="IBM Plex Sans" pitchFamily="34" charset="-120"/>
                        </a:rPr>
                        <a:t>MTTF @0.1% (h)</a:t>
                      </a:r>
                      <a:endParaRPr lang="en-US" sz="1200" dirty="0">
                        <a:latin typeface="IBM Plex Sans" charset="0"/>
                        <a:ea typeface="IBM Plex Sans" charset="0"/>
                        <a:cs typeface="IBM Plex Sans" charset="0"/>
                      </a:endParaRPr>
                    </a:p>
                  </a:txBody>
                  <a:tcPr marL="114300" marR="114300"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1A1F26"/>
                          </a:solidFill>
                          <a:latin typeface="IBM Plex Sans" pitchFamily="34" charset="0"/>
                          <a:ea typeface="IBM Plex Sans" pitchFamily="34" charset="-122"/>
                          <a:cs typeface="IBM Plex Sans" pitchFamily="34" charset="-120"/>
                        </a:rPr>
                        <a:t>n (Black)</a:t>
                      </a:r>
                      <a:endParaRPr lang="en-US" sz="1200" dirty="0">
                        <a:latin typeface="IBM Plex Sans" charset="0"/>
                        <a:ea typeface="IBM Plex Sans" charset="0"/>
                        <a:cs typeface="IBM Plex Sans" charset="0"/>
                      </a:endParaRPr>
                    </a:p>
                  </a:txBody>
                  <a:tcPr marL="114300" marR="114300"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b="1" dirty="0">
                          <a:solidFill>
                            <a:srgbClr val="1A1F26"/>
                          </a:solidFill>
                          <a:latin typeface="IBM Plex Sans" pitchFamily="34" charset="0"/>
                          <a:ea typeface="IBM Plex Sans" pitchFamily="34" charset="-122"/>
                          <a:cs typeface="IBM Plex Sans" pitchFamily="34" charset="-120"/>
                        </a:rPr>
                        <a:t>Ea (eV)</a:t>
                      </a:r>
                      <a:endParaRPr lang="en-US" sz="1200" dirty="0">
                        <a:latin typeface="IBM Plex Sans" charset="0"/>
                        <a:ea typeface="IBM Plex Sans" charset="0"/>
                        <a:cs typeface="IBM Plex Sans" charset="0"/>
                      </a:endParaRPr>
                    </a:p>
                  </a:txBody>
                  <a:tcPr marL="114300" marR="114300" marT="114300" marB="114300"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6202">
                <a:tc>
                  <a:txBody>
                    <a:bodyPr/>
                    <a:lstStyle/>
                    <a:p>
                      <a:pPr indent="0" marL="0">
                        <a:buNone/>
                      </a:pPr>
                      <a:r>
                        <a:rPr lang="en-US" sz="1575" dirty="0">
                          <a:solidFill>
                            <a:srgbClr val="000000"/>
                          </a:solidFill>
                          <a:latin typeface="JetBrains Mono" pitchFamily="34" charset="0"/>
                          <a:ea typeface="JetBrains Mono" pitchFamily="34" charset="-122"/>
                          <a:cs typeface="JetBrains Mono" pitchFamily="34" charset="-120"/>
                        </a:rPr>
                        <a:t>W1</a:t>
                      </a:r>
                      <a:endParaRPr lang="en-US" sz="157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A04A30"/>
                          </a:solidFill>
                          <a:latin typeface="IBM Plex Sans" pitchFamily="34" charset="0"/>
                          <a:ea typeface="IBM Plex Sans" pitchFamily="34" charset="-122"/>
                          <a:cs typeface="IBM Plex Sans" pitchFamily="34" charset="-120"/>
                        </a:rPr>
                        <a:t>Ru sub.</a:t>
                      </a:r>
                      <a:endParaRPr lang="en-US" sz="1200" dirty="0">
                        <a:latin typeface="IBM Plex Sans" charset="0"/>
                        <a:ea typeface="IBM Plex Sans" charset="0"/>
                        <a:cs typeface="IBM Plex Sans"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1,840</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0.32</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661</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1.6</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1.21</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6202">
                <a:tc>
                  <a:txBody>
                    <a:bodyPr/>
                    <a:lstStyle/>
                    <a:p>
                      <a:pPr indent="0" marL="0">
                        <a:buNone/>
                      </a:pPr>
                      <a:r>
                        <a:rPr lang="en-US" sz="1575" dirty="0">
                          <a:solidFill>
                            <a:srgbClr val="000000"/>
                          </a:solidFill>
                          <a:latin typeface="JetBrains Mono" pitchFamily="34" charset="0"/>
                          <a:ea typeface="JetBrains Mono" pitchFamily="34" charset="-122"/>
                          <a:cs typeface="JetBrains Mono" pitchFamily="34" charset="-120"/>
                        </a:rPr>
                        <a:t>W2</a:t>
                      </a:r>
                      <a:endParaRPr lang="en-US" sz="157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A04A30"/>
                          </a:solidFill>
                          <a:latin typeface="IBM Plex Sans" pitchFamily="34" charset="0"/>
                          <a:ea typeface="IBM Plex Sans" pitchFamily="34" charset="-122"/>
                          <a:cs typeface="IBM Plex Sans" pitchFamily="34" charset="-120"/>
                        </a:rPr>
                        <a:t>Ru sub.</a:t>
                      </a:r>
                      <a:endParaRPr lang="en-US" sz="1200" dirty="0">
                        <a:latin typeface="IBM Plex Sans" charset="0"/>
                        <a:ea typeface="IBM Plex Sans" charset="0"/>
                        <a:cs typeface="IBM Plex Sans"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1,910</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0.29</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781</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1.6</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1.24</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6202">
                <a:tc>
                  <a:txBody>
                    <a:bodyPr/>
                    <a:lstStyle/>
                    <a:p>
                      <a:pPr indent="0" marL="0">
                        <a:buNone/>
                      </a:pPr>
                      <a:r>
                        <a:rPr lang="en-US" sz="1575" dirty="0">
                          <a:solidFill>
                            <a:srgbClr val="000000"/>
                          </a:solidFill>
                          <a:latin typeface="JetBrains Mono" pitchFamily="34" charset="0"/>
                          <a:ea typeface="JetBrains Mono" pitchFamily="34" charset="-122"/>
                          <a:cs typeface="JetBrains Mono" pitchFamily="34" charset="-120"/>
                        </a:rPr>
                        <a:t>W3</a:t>
                      </a:r>
                      <a:endParaRPr lang="en-US" sz="157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2C5E7A"/>
                          </a:solidFill>
                          <a:latin typeface="IBM Plex Sans" pitchFamily="34" charset="0"/>
                          <a:ea typeface="IBM Plex Sans" pitchFamily="34" charset="-122"/>
                          <a:cs typeface="IBM Plex Sans" pitchFamily="34" charset="-120"/>
                        </a:rPr>
                        <a:t>Cu dam.</a:t>
                      </a:r>
                      <a:endParaRPr lang="en-US" sz="1200" dirty="0">
                        <a:latin typeface="IBM Plex Sans" charset="0"/>
                        <a:ea typeface="IBM Plex Sans" charset="0"/>
                        <a:cs typeface="IBM Plex Sans"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410</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0.41</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115</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1.9</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0.88</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6202">
                <a:tc>
                  <a:txBody>
                    <a:bodyPr/>
                    <a:lstStyle/>
                    <a:p>
                      <a:pPr indent="0" marL="0">
                        <a:buNone/>
                      </a:pPr>
                      <a:r>
                        <a:rPr lang="en-US" sz="1575" dirty="0">
                          <a:solidFill>
                            <a:srgbClr val="000000"/>
                          </a:solidFill>
                          <a:latin typeface="JetBrains Mono" pitchFamily="34" charset="0"/>
                          <a:ea typeface="JetBrains Mono" pitchFamily="34" charset="-122"/>
                          <a:cs typeface="JetBrains Mono" pitchFamily="34" charset="-120"/>
                        </a:rPr>
                        <a:t>W4</a:t>
                      </a:r>
                      <a:endParaRPr lang="en-US" sz="157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b="1" dirty="0">
                          <a:solidFill>
                            <a:srgbClr val="2C5E7A"/>
                          </a:solidFill>
                          <a:latin typeface="IBM Plex Sans" pitchFamily="34" charset="0"/>
                          <a:ea typeface="IBM Plex Sans" pitchFamily="34" charset="-122"/>
                          <a:cs typeface="IBM Plex Sans" pitchFamily="34" charset="-120"/>
                        </a:rPr>
                        <a:t>Cu dam.</a:t>
                      </a:r>
                      <a:endParaRPr lang="en-US" sz="1200" dirty="0">
                        <a:latin typeface="IBM Plex Sans" charset="0"/>
                        <a:ea typeface="IBM Plex Sans" charset="0"/>
                        <a:cs typeface="IBM Plex Sans"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445</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0.38</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137</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1.9</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0.90</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6202">
                <a:tc gridSpan="2">
                  <a:txBody>
                    <a:bodyPr/>
                    <a:lstStyle/>
                    <a:p>
                      <a:pPr indent="0" marL="0">
                        <a:buNone/>
                      </a:pPr>
                      <a:r>
                        <a:rPr lang="en-US" sz="1200" b="1" dirty="0">
                          <a:solidFill>
                            <a:srgbClr val="2D3340"/>
                          </a:solidFill>
                          <a:latin typeface="IBM Plex Sans" pitchFamily="34" charset="0"/>
                          <a:ea typeface="IBM Plex Sans" pitchFamily="34" charset="-122"/>
                          <a:cs typeface="IBM Plex Sans" pitchFamily="34" charset="-120"/>
                        </a:rPr>
                        <a:t>Ru / Cu 비</a:t>
                      </a:r>
                      <a:endParaRPr lang="en-US" sz="1200" dirty="0">
                        <a:latin typeface="IBM Plex Sans" charset="0"/>
                        <a:ea typeface="IBM Plex Sans" charset="0"/>
                        <a:cs typeface="IBM Plex Sans"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hMerge="1">
                  <a:tcPr/>
                </a:tc>
                <a:tc>
                  <a:txBody>
                    <a:bodyPr/>
                    <a:lstStyle/>
                    <a:p>
                      <a:pPr algn="r" indent="0" marL="0">
                        <a:buNone/>
                      </a:pPr>
                      <a:r>
                        <a:rPr lang="en-US" sz="1425" b="1" dirty="0">
                          <a:solidFill>
                            <a:srgbClr val="1A1F26"/>
                          </a:solidFill>
                          <a:latin typeface="JetBrains Mono" pitchFamily="34" charset="0"/>
                          <a:ea typeface="JetBrains Mono" pitchFamily="34" charset="-122"/>
                          <a:cs typeface="JetBrains Mono" pitchFamily="34" charset="-120"/>
                        </a:rPr>
                        <a:t>4.4×</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b="1" dirty="0">
                          <a:solidFill>
                            <a:srgbClr val="1A1F26"/>
                          </a:solidFill>
                          <a:latin typeface="JetBrains Mono" pitchFamily="34" charset="0"/>
                          <a:ea typeface="JetBrains Mono" pitchFamily="34" charset="-122"/>
                          <a:cs typeface="JetBrains Mono" pitchFamily="34" charset="-120"/>
                        </a:rPr>
                        <a:t>5.7×</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425" dirty="0">
                          <a:solidFill>
                            <a:srgbClr val="1A1F26"/>
                          </a:solidFill>
                          <a:latin typeface="JetBrains Mono" pitchFamily="34" charset="0"/>
                          <a:ea typeface="JetBrains Mono" pitchFamily="34" charset="-122"/>
                          <a:cs typeface="JetBrains Mono" pitchFamily="34" charset="-120"/>
                        </a:rPr>
                        <a:t>—</a:t>
                      </a:r>
                      <a:endParaRPr lang="en-US" sz="1425" dirty="0">
                        <a:latin typeface="JetBrains Mono" charset="0"/>
                        <a:ea typeface="JetBrains Mono" charset="0"/>
                        <a:cs typeface="JetBrains Mono" charset="0"/>
                      </a:endParaRPr>
                    </a:p>
                  </a:txBody>
                  <a:tcPr marL="114300" marR="114300" marT="152705" marB="15270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761695" y="6210605"/>
            <a:ext cx="10211105" cy="228600"/>
          </a:xfrm>
          <a:prstGeom prst="rect">
            <a:avLst/>
          </a:prstGeom>
          <a:noFill/>
          <a:ln/>
        </p:spPr>
        <p:txBody>
          <a:bodyPr wrap="none" lIns="0" tIns="0" rIns="0" bIns="0" rtlCol="0" anchor="ctr"/>
          <a:lstStyle/>
          <a:p>
            <a:pPr algn="l" indent="0" marL="0">
              <a:buNone/>
            </a:pPr>
            <a:r>
              <a:rPr lang="en-US" sz="1200" dirty="0">
                <a:solidFill>
                  <a:srgbClr val="6F6857"/>
                </a:solidFill>
                <a:latin typeface="IBM Plex Sans" pitchFamily="34" charset="0"/>
                <a:ea typeface="IBM Plex Sans" pitchFamily="34" charset="-122"/>
                <a:cs typeface="IBM Plex Sans" pitchFamily="34" charset="-120"/>
              </a:rPr>
              <a:t>MTTF@0.1% = t50 · exp(−3.09σ). 고장 기준 ΔR/R₀ &gt; 10%. 구조: M4 single line, W = 9.3 nm, L = 250 µm, via 상향 전자 흐름.</a:t>
            </a:r>
            <a:endParaRPr lang="en-US" sz="1200" dirty="0"/>
          </a:p>
        </p:txBody>
      </p:sp>
      <p:sp>
        <p:nvSpPr>
          <p:cNvPr id="13" name="Text 6"/>
          <p:cNvSpPr txBox="1"/>
          <p:nvPr/>
        </p:nvSpPr>
        <p:spPr>
          <a:xfrm>
            <a:off x="11011205" y="2361895"/>
            <a:ext cx="6191402" cy="171907"/>
          </a:xfrm>
          <a:prstGeom prst="rect">
            <a:avLst/>
          </a:prstGeom>
          <a:noFill/>
          <a:ln/>
        </p:spPr>
        <p:txBody>
          <a:bodyPr wrap="none" lIns="0" tIns="0" rIns="0" bIns="0" rtlCol="0" anchor="ctr"/>
          <a:lstStyle/>
          <a:p>
            <a:pPr algn="l" indent="0" marL="0">
              <a:buNone/>
            </a:pPr>
            <a:r>
              <a:rPr lang="en-US" sz="1050" spc="210" kern="0" dirty="0">
                <a:solidFill>
                  <a:srgbClr val="C9B98F"/>
                </a:solidFill>
                <a:latin typeface="IBM Plex Sans" pitchFamily="34" charset="0"/>
                <a:ea typeface="IBM Plex Sans" pitchFamily="34" charset="-122"/>
                <a:cs typeface="IBM Plex Sans" pitchFamily="34" charset="-120"/>
              </a:rPr>
              <a:t>SUMMARY</a:t>
            </a:r>
            <a:endParaRPr lang="en-US" sz="1050" dirty="0"/>
          </a:p>
        </p:txBody>
      </p:sp>
      <p:sp>
        <p:nvSpPr>
          <p:cNvPr id="14" name="Text 7"/>
          <p:cNvSpPr txBox="1"/>
          <p:nvPr/>
        </p:nvSpPr>
        <p:spPr>
          <a:xfrm>
            <a:off x="11011205" y="2609698"/>
            <a:ext cx="6191402" cy="762610"/>
          </a:xfrm>
          <a:prstGeom prst="rect">
            <a:avLst/>
          </a:prstGeom>
          <a:noFill/>
          <a:ln/>
        </p:spPr>
        <p:txBody>
          <a:bodyPr wrap="square" lIns="0" tIns="0" rIns="0" bIns="0" rtlCol="0" anchor="ctr"/>
          <a:lstStyle/>
          <a:p>
            <a:pPr algn="l" indent="0" marL="0">
              <a:lnSpc>
                <a:spcPct val="125000"/>
              </a:lnSpc>
              <a:buNone/>
            </a:pPr>
            <a:r>
              <a:rPr lang="en-US" sz="2400" b="1" dirty="0">
                <a:solidFill>
                  <a:srgbClr val="FAF6EC"/>
                </a:solidFill>
                <a:latin typeface="Manrope" pitchFamily="34" charset="0"/>
                <a:ea typeface="Manrope" pitchFamily="34" charset="-122"/>
                <a:cs typeface="Manrope" pitchFamily="34" charset="-120"/>
              </a:rPr>
              <a:t>Ru subtractive는 저항·EM에서 우위, CD 위치와 leakage가 과제</a:t>
            </a:r>
            <a:endParaRPr lang="en-US" sz="2400" dirty="0"/>
          </a:p>
        </p:txBody>
      </p:sp>
      <p:sp>
        <p:nvSpPr>
          <p:cNvPr id="15" name="Text 8"/>
          <p:cNvSpPr txBox="1"/>
          <p:nvPr/>
        </p:nvSpPr>
        <p:spPr>
          <a:xfrm>
            <a:off x="11011205" y="3810305"/>
            <a:ext cx="6191402" cy="609905"/>
          </a:xfrm>
          <a:prstGeom prst="rect">
            <a:avLst/>
          </a:prstGeom>
          <a:noFill/>
          <a:ln/>
        </p:spPr>
        <p:txBody>
          <a:bodyPr wrap="square" lIns="0" tIns="0" rIns="0" bIns="0" rtlCol="0" anchor="ctr"/>
          <a:lstStyle/>
          <a:p>
            <a:pPr algn="l" indent="0" marL="0">
              <a:lnSpc>
                <a:spcPts val="2400"/>
              </a:lnSpc>
              <a:buNone/>
            </a:pPr>
            <a:r>
              <a:rPr lang="en-US" sz="1500" b="1" dirty="0">
                <a:solidFill>
                  <a:srgbClr val="E8A58F"/>
                </a:solidFill>
                <a:latin typeface="IBM Plex Sans" pitchFamily="34" charset="0"/>
                <a:ea typeface="IBM Plex Sans" pitchFamily="34" charset="-122"/>
                <a:cs typeface="IBM Plex Sans" pitchFamily="34" charset="-120"/>
              </a:rPr>
              <a:t>CD</a:t>
            </a:r>
            <a:pPr algn="l" indent="0" marL="0">
              <a:lnSpc>
                <a:spcPts val="2400"/>
              </a:lnSpc>
              <a:buNone/>
            </a:pPr>
            <a:r>
              <a:rPr lang="en-US" sz="1500" dirty="0">
                <a:solidFill>
                  <a:srgbClr val="E8E1CF"/>
                </a:solidFill>
                <a:latin typeface="IBM Plex Sans" pitchFamily="34" charset="0"/>
                <a:ea typeface="IBM Plex Sans" pitchFamily="34" charset="-122"/>
                <a:cs typeface="IBM Plex Sans" pitchFamily="34" charset="-120"/>
              </a:rPr>
              <a:t> — 4 메트릭 모두 in-spec. Ru는 +편향(AASI +0.18 nm, marginal), 미세 패턴일수록 split 차 0.04 nm로 수렴.</a:t>
            </a:r>
            <a:endParaRPr lang="en-US" sz="1500" dirty="0"/>
          </a:p>
        </p:txBody>
      </p:sp>
      <p:sp>
        <p:nvSpPr>
          <p:cNvPr id="16" name="Text 9"/>
          <p:cNvSpPr txBox="1"/>
          <p:nvPr/>
        </p:nvSpPr>
        <p:spPr>
          <a:xfrm>
            <a:off x="11011205" y="4552798"/>
            <a:ext cx="6877202" cy="305410"/>
          </a:xfrm>
          <a:prstGeom prst="rect">
            <a:avLst/>
          </a:prstGeom>
          <a:noFill/>
          <a:ln/>
        </p:spPr>
        <p:txBody>
          <a:bodyPr wrap="none" lIns="0" tIns="0" rIns="0" bIns="0" rtlCol="0" anchor="ctr"/>
          <a:lstStyle/>
          <a:p>
            <a:pPr algn="l" indent="0" marL="0">
              <a:buNone/>
            </a:pPr>
            <a:r>
              <a:rPr lang="en-US" sz="1500" b="1" dirty="0">
                <a:solidFill>
                  <a:srgbClr val="E8A58F"/>
                </a:solidFill>
                <a:latin typeface="IBM Plex Sans" pitchFamily="34" charset="0"/>
                <a:ea typeface="IBM Plex Sans" pitchFamily="34" charset="-122"/>
                <a:cs typeface="IBM Plex Sans" pitchFamily="34" charset="-120"/>
              </a:rPr>
              <a:t>균일성</a:t>
            </a:r>
            <a:pPr algn="l" indent="0" marL="0">
              <a:buNone/>
            </a:pPr>
            <a:r>
              <a:rPr lang="en-US" sz="1500" dirty="0">
                <a:solidFill>
                  <a:srgbClr val="E8E1CF"/>
                </a:solidFill>
                <a:latin typeface="IBM Plex Sans" pitchFamily="34" charset="0"/>
                <a:ea typeface="IBM Plex Sans" pitchFamily="34" charset="-122"/>
                <a:cs typeface="IBM Plex Sans" pitchFamily="34" charset="-120"/>
              </a:rPr>
              <a:t> — WIWNU 0.69–0.89%, Ru가 더 양호. Cu는 center-low profile.</a:t>
            </a:r>
            <a:endParaRPr lang="en-US" sz="1500" dirty="0"/>
          </a:p>
        </p:txBody>
      </p:sp>
      <p:sp>
        <p:nvSpPr>
          <p:cNvPr id="17" name="Text 10"/>
          <p:cNvSpPr txBox="1"/>
          <p:nvPr/>
        </p:nvSpPr>
        <p:spPr>
          <a:xfrm>
            <a:off x="11011205" y="4990795"/>
            <a:ext cx="6191402" cy="305410"/>
          </a:xfrm>
          <a:prstGeom prst="rect">
            <a:avLst/>
          </a:prstGeom>
          <a:noFill/>
          <a:ln/>
        </p:spPr>
        <p:txBody>
          <a:bodyPr wrap="none" lIns="0" tIns="0" rIns="0" bIns="0" rtlCol="0" anchor="ctr"/>
          <a:lstStyle/>
          <a:p>
            <a:pPr algn="l" indent="0" marL="0">
              <a:buNone/>
            </a:pPr>
            <a:r>
              <a:rPr lang="en-US" sz="1500" b="1" dirty="0">
                <a:solidFill>
                  <a:srgbClr val="E8A58F"/>
                </a:solidFill>
                <a:latin typeface="IBM Plex Sans" pitchFamily="34" charset="0"/>
                <a:ea typeface="IBM Plex Sans" pitchFamily="34" charset="-122"/>
                <a:cs typeface="IBM Plex Sans" pitchFamily="34" charset="-120"/>
              </a:rPr>
              <a:t>저항</a:t>
            </a:r>
            <a:pPr algn="l" indent="0" marL="0">
              <a:buNone/>
            </a:pPr>
            <a:r>
              <a:rPr lang="en-US" sz="1500" dirty="0">
                <a:solidFill>
                  <a:srgbClr val="E8E1CF"/>
                </a:solidFill>
                <a:latin typeface="IBM Plex Sans" pitchFamily="34" charset="0"/>
                <a:ea typeface="IBM Plex Sans" pitchFamily="34" charset="-122"/>
                <a:cs typeface="IBM Plex Sans" pitchFamily="34" charset="-120"/>
              </a:rPr>
              <a:t> — Line R −11%, Via Rc −19% (Ru 유리).</a:t>
            </a:r>
            <a:endParaRPr lang="en-US" sz="1500" dirty="0"/>
          </a:p>
        </p:txBody>
      </p:sp>
      <p:sp>
        <p:nvSpPr>
          <p:cNvPr id="18" name="Text 11"/>
          <p:cNvSpPr txBox="1"/>
          <p:nvPr/>
        </p:nvSpPr>
        <p:spPr>
          <a:xfrm>
            <a:off x="11011205" y="5429707"/>
            <a:ext cx="6191402" cy="305410"/>
          </a:xfrm>
          <a:prstGeom prst="rect">
            <a:avLst/>
          </a:prstGeom>
          <a:noFill/>
          <a:ln/>
        </p:spPr>
        <p:txBody>
          <a:bodyPr wrap="none" lIns="0" tIns="0" rIns="0" bIns="0" rtlCol="0" anchor="ctr"/>
          <a:lstStyle/>
          <a:p>
            <a:pPr algn="l" indent="0" marL="0">
              <a:buNone/>
            </a:pPr>
            <a:r>
              <a:rPr lang="en-US" sz="1500" b="1" dirty="0">
                <a:solidFill>
                  <a:srgbClr val="E8A58F"/>
                </a:solidFill>
                <a:latin typeface="IBM Plex Sans" pitchFamily="34" charset="0"/>
                <a:ea typeface="IBM Plex Sans" pitchFamily="34" charset="-122"/>
                <a:cs typeface="IBM Plex Sans" pitchFamily="34" charset="-120"/>
              </a:rPr>
              <a:t>신뢰성</a:t>
            </a:r>
            <a:pPr algn="l" indent="0" marL="0">
              <a:buNone/>
            </a:pPr>
            <a:r>
              <a:rPr lang="en-US" sz="1500" dirty="0">
                <a:solidFill>
                  <a:srgbClr val="E8E1CF"/>
                </a:solidFill>
                <a:latin typeface="IBM Plex Sans" pitchFamily="34" charset="0"/>
                <a:ea typeface="IBM Plex Sans" pitchFamily="34" charset="-122"/>
                <a:cs typeface="IBM Plex Sans" pitchFamily="34" charset="-120"/>
              </a:rPr>
              <a:t> — EM MTTF@0.1% 5.7×, leakage 1.6× (Ru 불리).</a:t>
            </a:r>
            <a:endParaRPr lang="en-US" sz="1500" dirty="0"/>
          </a:p>
        </p:txBody>
      </p:sp>
      <p:sp>
        <p:nvSpPr>
          <p:cNvPr id="19" name="Text 12"/>
          <p:cNvSpPr txBox="1"/>
          <p:nvPr/>
        </p:nvSpPr>
        <p:spPr>
          <a:xfrm>
            <a:off x="11011205" y="5867705"/>
            <a:ext cx="6191402" cy="609905"/>
          </a:xfrm>
          <a:prstGeom prst="rect">
            <a:avLst/>
          </a:prstGeom>
          <a:noFill/>
          <a:ln/>
        </p:spPr>
        <p:txBody>
          <a:bodyPr wrap="square" lIns="0" tIns="0" rIns="0" bIns="0" rtlCol="0" anchor="ctr"/>
          <a:lstStyle/>
          <a:p>
            <a:pPr algn="l" indent="0" marL="0">
              <a:lnSpc>
                <a:spcPts val="2400"/>
              </a:lnSpc>
              <a:buNone/>
            </a:pPr>
            <a:r>
              <a:rPr lang="en-US" sz="1500" b="1" dirty="0">
                <a:solidFill>
                  <a:srgbClr val="9FC3D8"/>
                </a:solidFill>
                <a:latin typeface="IBM Plex Sans" pitchFamily="34" charset="0"/>
                <a:ea typeface="IBM Plex Sans" pitchFamily="34" charset="-122"/>
                <a:cs typeface="IBM Plex Sans" pitchFamily="34" charset="-120"/>
              </a:rPr>
              <a:t>Next</a:t>
            </a:r>
            <a:pPr algn="l" indent="0" marL="0">
              <a:lnSpc>
                <a:spcPts val="2400"/>
              </a:lnSpc>
              <a:buNone/>
            </a:pPr>
            <a:r>
              <a:rPr lang="en-US" sz="1500" dirty="0">
                <a:solidFill>
                  <a:srgbClr val="E8E1CF"/>
                </a:solidFill>
                <a:latin typeface="IBM Plex Sans" pitchFamily="34" charset="0"/>
                <a:ea typeface="IBM Plex Sans" pitchFamily="34" charset="-122"/>
                <a:cs typeface="IBM Plex Sans" pitchFamily="34" charset="-120"/>
              </a:rPr>
              <a:t> — hard mask trim 보정으로 AASI 위치 정렬, Ru etch 후 IMD repair 조건 split, TDDB 평가 추가.</a:t>
            </a:r>
            <a:endParaRPr lang="en-US" sz="1500" dirty="0"/>
          </a:p>
        </p:txBody>
      </p:sp>
      <p:sp>
        <p:nvSpPr>
          <p:cNvPr id="20" name="Text 13"/>
          <p:cNvSpPr txBox="1"/>
          <p:nvPr/>
        </p:nvSpPr>
        <p:spPr>
          <a:xfrm>
            <a:off x="952805" y="6953098"/>
            <a:ext cx="9144000" cy="171907"/>
          </a:xfrm>
          <a:prstGeom prst="rect">
            <a:avLst/>
          </a:prstGeom>
          <a:noFill/>
          <a:ln/>
        </p:spPr>
        <p:txBody>
          <a:bodyPr wrap="none" lIns="0" tIns="0" rIns="0" bIns="0" rtlCol="0" anchor="ctr"/>
          <a:lstStyle/>
          <a:p>
            <a:pPr algn="l" indent="0" marL="0">
              <a:buNone/>
            </a:pPr>
            <a:r>
              <a:rPr lang="en-US" sz="1050" spc="189" kern="0" dirty="0">
                <a:solidFill>
                  <a:srgbClr val="6F6857"/>
                </a:solidFill>
                <a:latin typeface="IBM Plex Sans" pitchFamily="34" charset="0"/>
                <a:ea typeface="IBM Plex Sans" pitchFamily="34" charset="-122"/>
                <a:cs typeface="IBM Plex Sans" pitchFamily="34" charset="-120"/>
              </a:rPr>
              <a:t>READING NOTES</a:t>
            </a:r>
            <a:endParaRPr lang="en-US" sz="1050" dirty="0"/>
          </a:p>
        </p:txBody>
      </p:sp>
      <p:sp>
        <p:nvSpPr>
          <p:cNvPr id="21" name="Text 14"/>
          <p:cNvSpPr txBox="1"/>
          <p:nvPr/>
        </p:nvSpPr>
        <p:spPr>
          <a:xfrm>
            <a:off x="952805" y="7185355"/>
            <a:ext cx="9144000" cy="864108"/>
          </a:xfrm>
          <a:prstGeom prst="rect">
            <a:avLst/>
          </a:prstGeom>
          <a:noFill/>
          <a:ln/>
        </p:spPr>
        <p:txBody>
          <a:bodyPr wrap="square" lIns="0" tIns="0" rIns="0" bIns="0" rtlCol="0" anchor="t"/>
          <a:lstStyle/>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Ru의 Ea 1.21–1.24 eV는 Cu 0.88–0.90 eV 대비 높아 사용 온도에서 이득이 더 확대됨.</a:t>
            </a:r>
            <a:pPr algn="l" indent="0" marL="0">
              <a:lnSpc>
                <a:spcPts val="2160"/>
              </a:lnSpc>
              <a:buNone/>
            </a:pPr>
            <a:endParaRPr lang="en-US" sz="1350" dirty="0"/>
          </a:p>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Cu의 σ 0.38–0.41은 via 하부 barrier 얇아짐(슬라이드 05)에 따른 조기 고장 모드와 연관 추정.</a:t>
            </a:r>
            <a:pPr algn="l" indent="0" marL="0">
              <a:lnSpc>
                <a:spcPts val="2160"/>
              </a:lnSpc>
              <a:buNone/>
            </a:pPr>
            <a:endParaRPr lang="en-US" sz="1350" dirty="0"/>
          </a:p>
          <a:p>
            <a:pPr algn="l" indent="0" marL="0">
              <a:lnSpc>
                <a:spcPts val="2160"/>
              </a:lnSpc>
              <a:buNone/>
            </a:pPr>
            <a:r>
              <a:rPr lang="en-US" sz="1350" dirty="0">
                <a:solidFill>
                  <a:srgbClr val="2D3340"/>
                </a:solidFill>
                <a:latin typeface="IBM Plex Sans" pitchFamily="34" charset="0"/>
                <a:ea typeface="IBM Plex Sans" pitchFamily="34" charset="-122"/>
                <a:cs typeface="IBM Plex Sans" pitchFamily="34" charset="-120"/>
              </a:rPr>
              <a:t>• 두 split 모두 bimodal 분포 없음 — 단일 고장 모드 가정 유지.</a:t>
            </a:r>
            <a:endParaRPr lang="en-US" sz="1350" dirty="0"/>
          </a:p>
        </p:txBody>
      </p:sp>
      <p:sp>
        <p:nvSpPr>
          <p:cNvPr id="22" name="Text 15"/>
          <p:cNvSpPr txBox="1"/>
          <p:nvPr/>
        </p:nvSpPr>
        <p:spPr>
          <a:xfrm>
            <a:off x="761695" y="9810598"/>
            <a:ext cx="12192610" cy="191110"/>
          </a:xfrm>
          <a:prstGeom prst="rect">
            <a:avLst/>
          </a:prstGeom>
          <a:noFill/>
          <a:ln/>
        </p:spPr>
        <p:txBody>
          <a:bodyPr wrap="none" lIns="0" tIns="0" rIns="0" bIns="0" rtlCol="0" anchor="ctr"/>
          <a:lstStyle/>
          <a:p>
            <a:pPr algn="l" indent="0" marL="0">
              <a:buNone/>
            </a:pPr>
            <a:r>
              <a:rPr lang="en-US" sz="1050" dirty="0">
                <a:solidFill>
                  <a:srgbClr val="6F6857"/>
                </a:solidFill>
                <a:latin typeface="IBM Plex Sans" pitchFamily="34" charset="0"/>
                <a:ea typeface="IBM Plex Sans" pitchFamily="34" charset="-122"/>
                <a:cs typeface="IBM Plex Sans" pitchFamily="34" charset="-120"/>
              </a:rPr>
              <a:t>※ 내부 테스트용 더미(가상) 데이터</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2026-10-03T16:14:07Z</dcterms:created>
  <dcterms:modified xsi:type="dcterms:W3CDTF">2026-10-03T16:14:07Z</dcterms:modified>
</cp:coreProperties>
</file>