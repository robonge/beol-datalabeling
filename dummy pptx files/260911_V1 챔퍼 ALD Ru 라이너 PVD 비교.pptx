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7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비아 챔퍼" id="{17b043ad-4c49-600b-e076-321cc0e814f1}">
          <p14:sldIdLst>
            <p14:sldId id="256"/>
            <p14:sldId id="258"/>
            <p14:sldId id="260"/>
          </p14:sldIdLst>
        </p14:section>
        <p14:section name="복구·차세대" id="{2a75cbd2-d44e-f1fe-67f4-28941224507a}">
          <p14:sldIdLst>
            <p14:sldId id="257"/>
          </p14:sldIdLst>
        </p14:section>
        <p14:section name="일정" id="{9f829a0c-6593-c724-554a-d4035941cb31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두께 (nm)</c:v>
                </c:pt>
              </c:strCache>
            </c:strRef>
          </c:tx>
          <c:spPr>
            <a:solidFill>
              <a:srgbClr val="00D9F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PVD TaN/Ta (하한)</c:v>
                  </c:pt>
                  <c:pt idx="1">
                    <c:v>PVD TaN/Ta (상한)</c:v>
                  </c:pt>
                  <c:pt idx="2">
                    <c:v>ALD Ru/Co (하한)</c:v>
                  </c:pt>
                  <c:pt idx="3">
                    <c:v>ALD Ru/Co (상한)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5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A5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2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원인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비아 챔퍼 무너짐과 PVD 오버행 — 원인 단계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517904"/>
                <a:gridCol w="3035808"/>
                <a:gridCol w="303580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현상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VFTL 흐름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M1까지 비아 선식각 → 재포토 → 트렌치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비아 상단 모서리 장시간 플라즈마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ARDE 극복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입사 에너지·과식각 시간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BARC 희생층에도 모서리 집중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각도 분산·시스 스퍼터링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최상단 모서리 집중 타격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챔퍼 무너짐 (Shoulder Loss), V자형·나팔형 프로파일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PVD TaN/Ta + Cu 시드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직진성 → 무너진 모서리에 두껍게 누적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오버행(Overhang), 입구 축소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ECP Cu 충진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입구 선폐쇄 (Top pinch-off)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비아 하단·경계 Void → 비아 R↑, Open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배리어 측벽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Zero Step Coverage 영역 발생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Cu → Low-k 침투 방어선 단절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연쇄 메커니즘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09344"/>
            <a:ext cx="336773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침투한 Cu⁺는 수분(Si-OH)과 반응해 Low-k 내부 전하 트랩을 포화시키고 절연막을 단숨에 관통.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전기장이 활성화 에너지를 낮춘다는 E-Model / E²-Model로 해석.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구조적 무너짐 → 확산 방어선 파괴 + 유전막 화학적 취약성 극대화 → 전기적 수명 근본 박탈.</a:t>
            </a:r>
            <a:endParaRPr lang="en-US" sz="1050" dirty="0"/>
          </a:p>
        </p:txBody>
      </p:sp>
      <p:sp>
        <p:nvSpPr>
          <p:cNvPr id="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라이너 두께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PVD TaN/Ta 4–5 nm vs ALD Ru/Co 1–2 nm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3035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배리어/라이너 두께 (NM)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1280160"/>
            <a:ext cx="5608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Ru 라이너의 이점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1609344"/>
            <a:ext cx="560801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PVD TaN/Ta 4–5 nm는 박막화 한계 → Cu 체적 잠식 '저항 스케일링 한계'.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ALD Ru/Co 라이너 1–2 nm: 젖음성·연속성 유지, Ru는 시드 없이 직접 ECP 가능.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챔퍼 무너짐 부근 오버행·핀치오프 확률 획기적 감소.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과제: Ru–Cu 계면 스캐터링에 의한 약간의 저항 상승 상쇄.</a:t>
            </a:r>
            <a:endParaRPr lang="en-US" sz="105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평가 · 기술 비교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평가 방법과 적용 기술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평가 방법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7985455" cy="914400"/>
        </p:xfrm>
        <a:graphic>
          <a:graphicData uri="http://schemas.openxmlformats.org/drawingml/2006/table">
            <a:tbl>
              <a:tblPr/>
              <a:tblGrid>
                <a:gridCol w="1189634"/>
                <a:gridCol w="2718511"/>
                <a:gridCol w="407731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방법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측정·판독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단계별 TEM + EDX 매핑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비아 프로파일, 모서리 Ta 두께, 바닥 Cu Recess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과도 플라즈마 파워 조건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비아 바닥·챔퍼 Cu 산화·유실, TaN 단절 관찰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신뢰성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HTOL / 고전류 EM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WAT 통과 칩도 수십 h 후 Recess 2–3배 → 급격 고장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신뢰성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TDDB (E / E² 모델)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챔퍼 경유 Cu⁺ 드리프트 → 트랩 포화 → 단락 경로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739896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표 3 (발췌)</a:t>
            </a:r>
            <a:endParaRPr lang="en-US" sz="13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50792"/>
          <a:ext cx="7985455" cy="914400"/>
        </p:xfrm>
        <a:graphic>
          <a:graphicData uri="http://schemas.openxmlformats.org/drawingml/2006/table">
            <a:tbl>
              <a:tblPr/>
              <a:tblGrid>
                <a:gridCol w="1331366"/>
                <a:gridCol w="2395728"/>
                <a:gridCol w="2395728"/>
                <a:gridCol w="1863547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적용 기술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주요 개선 메커니즘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신뢰성 효과 (EM / TDDB)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적용상 한계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ALD Ru 라이너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Ta → Ru 대체, Cu 체적 극대화, Seedless 도금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저항 급감, 오버행/Pinch-off 방지 → Void 억제, EM 연장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Ru–Cu 계면 스캐터링 저항 상승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8716975" y="12801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포인트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716975" y="1645920"/>
            <a:ext cx="30175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Seedless 직접 도금 → 오버행·핀치오프 확률 급감.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Ru–Cu 계면 스캐터링 저항 상쇄 필요.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716975" y="5303520"/>
            <a:ext cx="3017520" cy="0"/>
          </a:xfrm>
          <a:prstGeom prst="line">
            <a:avLst/>
          </a:prstGeom>
          <a:noFill/>
          <a:ln w="9525">
            <a:solidFill>
              <a:srgbClr val="FF8E7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716975" y="5376672"/>
            <a:ext cx="3017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챔퍼 붕괴는 Void(Open)와 배리어 단절(TDDB) 두 경로로 동시에 수명을 깎는 연쇄 메커니즘.</a:t>
            </a:r>
            <a:endParaRPr lang="en-US" sz="100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비아 챔퍼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비아 챔퍼 평가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3576218" cy="0"/>
          </a:xfrm>
          <a:prstGeom prst="line">
            <a:avLst/>
          </a:prstGeom>
          <a:noFill/>
          <a:ln w="9525">
            <a:solidFill>
              <a:srgbClr val="00D9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55648"/>
            <a:ext cx="3576218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VFTL 트렌치 식각 파워 split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3576218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단계별 TEM/EDX 프로파일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307738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07738" y="1627632"/>
            <a:ext cx="3576218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1755648"/>
            <a:ext cx="3576218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35754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Ta 두께·Cu Recess 정량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435754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07738" y="2596896"/>
            <a:ext cx="3576218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35754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ALD Ru 라이너 비교 lot 투입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435754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158277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58277" y="1627632"/>
            <a:ext cx="3576218" cy="0"/>
          </a:xfrm>
          <a:prstGeom prst="line">
            <a:avLst/>
          </a:prstGeom>
          <a:noFill/>
          <a:ln w="9525">
            <a:solidFill>
              <a:srgbClr val="FF8E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58277" y="1755648"/>
            <a:ext cx="3576218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86293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HTOL 수십 h 후 Recess 재측정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286293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W04–W05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158277" y="2596896"/>
            <a:ext cx="3576218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86293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고전류 EM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286293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W05–W08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158277" y="3438144"/>
            <a:ext cx="3576218" cy="713232"/>
          </a:xfrm>
          <a:prstGeom prst="rect">
            <a:avLst/>
          </a:prstGeom>
          <a:solidFill>
            <a:srgbClr val="16213E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86293" y="3511296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TDDB E/E² 모델 피팅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286293" y="3895344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W09</a:t>
            </a:r>
            <a:endParaRPr lang="en-US" sz="850" dirty="0"/>
          </a:p>
        </p:txBody>
      </p:sp>
      <p:sp>
        <p:nvSpPr>
          <p:cNvPr id="3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판독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Open과 TDDB — 두 고장 모드의 평가 설계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Void 경로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65376"/>
            <a:ext cx="345429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TEM/EDX로 Void 위치·크기, 비아 R 분포.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HTOL 수십 h 후 Recess 재측정 (2–3배).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40098" y="1280160"/>
            <a:ext cx="0" cy="3977640"/>
          </a:xfrm>
          <a:prstGeom prst="line">
            <a:avLst/>
          </a:prstGeom>
          <a:noFill/>
          <a:ln w="6350">
            <a:solidFill>
              <a:srgbClr val="2E3A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68698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TDDB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368698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배리어 단절 경로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368698" y="1865376"/>
            <a:ext cx="345429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챔퍼 Ta 두께 0 영역 매핑.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E / E² 모델 피팅, Cu⁺ 드리프트 추적.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51597" y="1280160"/>
            <a:ext cx="0" cy="3977640"/>
          </a:xfrm>
          <a:prstGeom prst="line">
            <a:avLst/>
          </a:prstGeom>
          <a:noFill/>
          <a:ln w="6350">
            <a:solidFill>
              <a:srgbClr val="2E3A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80197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SPLIT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280197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비교 변수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80197" y="1865376"/>
            <a:ext cx="345429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트렌치 식각 파워·과식각 시간.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PVD vs ALD Ru 라이너.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BARC 희생층 유무.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5440680"/>
            <a:ext cx="11277295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5513832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챔퍼 붕괴는 Void(Open)와 배리어 단절(TDDB) 두 경로로 동시에 수명을 깎는 연쇄 메커니즘.</a:t>
            </a:r>
            <a:endParaRPr lang="en-US" sz="1000" dirty="0"/>
          </a:p>
        </p:txBody>
      </p:sp>
      <p:sp>
        <p:nvSpPr>
          <p:cNvPr id="1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ink">
  <a:themeElements>
    <a:clrScheme name="Turquoise DS ink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D9FF"/>
      </a:accent1>
      <a:accent2>
        <a:srgbClr val="00B8A9"/>
      </a:accent2>
      <a:accent3>
        <a:srgbClr val="FF8E72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ink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V1 Chamfer ALD Ru Liner Compare</dc:title>
  <dc:subject>PptxGenJS Presentation</dc:subject>
  <dc:creator>공정 AI팀</dc:creator>
  <cp:lastModifiedBy>공정 AI팀</cp:lastModifiedBy>
  <cp:revision>1</cp:revision>
  <dcterms:created xsi:type="dcterms:W3CDTF">2026-10-03T16:30:17Z</dcterms:created>
  <dcterms:modified xsi:type="dcterms:W3CDTF">2026-10-03T16:30:17Z</dcterms:modified>
</cp:coreProperties>
</file>