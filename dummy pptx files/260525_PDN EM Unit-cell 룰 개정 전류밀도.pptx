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신뢰성" id="{4cc54a1f-4f5b-230d-1740-d4a6504fae0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허용 전류밀도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허용 전류밀도 (MA/cm²)</c:v>
                </c:pt>
              </c:strCache>
            </c:strRef>
          </c:tx>
          <c:spPr>
            <a:solidFill>
              <a:srgbClr val="006B5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SEB (단일 배선)</c:v>
                  </c:pt>
                  <c:pt idx="1">
                    <c:v>Unit-cell (타일)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1.1</c:v>
                </c:pt>
                <c:pt idx="1">
                  <c:v>2.26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TTF 산포 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로그정규 σ</c:v>
                </c:pt>
              </c:strCache>
            </c:strRef>
          </c:tx>
          <c:spPr>
            <a:solidFill>
              <a:srgbClr val="006B5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단일 배선</c:v>
                  </c:pt>
                  <c:pt idx="1">
                    <c:v>타일 하향</c:v>
                  </c:pt>
                  <c:pt idx="2">
                    <c:v>타일 상향</c:v>
                  </c:pt>
                  <c:pt idx="3">
                    <c:v>타일 전체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0.3</c:v>
                </c:pt>
                <c:pt idx="2">
                  <c:v>0.2</c:v>
                </c:pt>
                <c:pt idx="3">
                  <c:v>0.27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 (eV)</c:v>
                </c:pt>
              </c:strCache>
            </c:strRef>
          </c:tx>
          <c:spPr>
            <a:solidFill>
              <a:srgbClr val="006B5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TaN/Co (저)</c:v>
                  </c:pt>
                  <c:pt idx="1">
                    <c:v>TaN/Co (고)</c:v>
                  </c:pt>
                  <c:pt idx="2">
                    <c:v>TaN/Ru (저)</c:v>
                  </c:pt>
                  <c:pt idx="3">
                    <c:v>TaN/Ru (고)</c:v>
                  </c:pt>
                  <c:pt idx="4">
                    <c:v>Unit-cell 가정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</c:v>
                </c:pt>
                <c:pt idx="1">
                  <c:v>1.035</c:v>
                </c:pt>
                <c:pt idx="2">
                  <c:v>0.94</c:v>
                </c:pt>
                <c:pt idx="3">
                  <c:v>0.98</c:v>
                </c:pt>
                <c:pt idx="4">
                  <c:v>1.15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3"/>
          <c:min val="0.6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eV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SP-06 · 신뢰성 · 전자이동 · 구조별 결과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6B5E"/>
          </a:solidFill>
          <a:ln w="12700">
            <a:solidFill>
              <a:srgbClr val="006B5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배선 구조별 EM 스트레스 결과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338121"/>
                <a:gridCol w="1443838"/>
                <a:gridCol w="1994306"/>
                <a:gridCol w="2613355"/>
                <a:gridCol w="1787652"/>
                <a:gridCol w="1100023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피치·선폭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스트레스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Ea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무배리어 Ru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21 nm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&gt;30 MA/cm²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고장 유도 실패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무배리어 Ru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21 nm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150–200 MA/cm²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자기발열 ~260 °C에서 고장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Mo–Ru 하이브리드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330 °C, 5 MA/cm²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600 h+ 무고장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FSAV 2소재 모듈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18 nm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10 MA/cm², 300 h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저항 변화 없음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/ TaN + Co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장배선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라이너 의존 활성화에너지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0.84 · 1.02–1.05 eV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참조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/ TaN + Ru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장배선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라이너 의존 활성화에너지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0.94–0.98 eV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참조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407408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TEM 근거: Ru EM 보이드는 입계(JAP Fig. 18a)와 유전체 계면(Fig. 18b)에서 별도로 발생 → 대책은 입계 제어 + 계면 에너지 제어 두 갈래. Mo–Ru 단면은 Fig. 17(b).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SP-06 · 신뢰성 · SEB vs UNIT-CELL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85B6"/>
          </a:solidFill>
          <a:ln w="12700">
            <a:solidFill>
              <a:srgbClr val="0085B6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허용 전류밀도와 산포 — 단일 배선 기준이 80% 과소평가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01488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5135728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33008" y="1280160"/>
            <a:ext cx="5501488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8" name="Chart 1" descr=""/>
          <p:cNvGraphicFramePr/>
          <p:nvPr/>
        </p:nvGraphicFramePr>
        <p:xfrm>
          <a:off x="6415888" y="1463040"/>
          <a:ext cx="5135728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61608" y="4754880"/>
            <a:ext cx="504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하향 50%, 상향 66%, 전체 55% 감소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57200" y="5303520"/>
            <a:ext cx="11277295" cy="822960"/>
          </a:xfrm>
          <a:prstGeom prst="roundRect">
            <a:avLst>
              <a:gd name="adj" fmla="val 17778"/>
            </a:avLst>
          </a:prstGeom>
          <a:solidFill>
            <a:srgbClr val="E6F3F8"/>
          </a:solidFill>
          <a:ln w="12700">
            <a:solidFill>
              <a:srgbClr val="E6F3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53949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해석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망 구조의 중복성을 고려하면 σ 0.6 → 0.27, 허용 전류 1.1 → 2.26 MA/cm². 100 h 고장확률은 타일 0.26% vs SEB 적용 99.99%.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SP-06 · 신뢰성 · 핵심 수치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Unit-cell 기준 전환의 네 숫자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06B5E"/>
                </a:solidFill>
              </a:rPr>
              <a:t>1.1 → 2.26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허용 전류밀도, MA/cm² (+105%)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5104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73704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085B6"/>
                </a:solidFill>
              </a:rPr>
              <a:t>0.6 → 0.27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573704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로그정규 σ (−55%)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33008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1608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6B7280"/>
                </a:solidFill>
              </a:rPr>
              <a:t>0.26%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100 h 고장확률 (타일)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20911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49511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0B8A9"/>
                </a:solidFill>
              </a:rPr>
              <a:t>99.99%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349511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동일 타일에 SEB 적용 시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57600"/>
            <a:ext cx="11277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조건: 선폭 45 nm, 높이 90 nm, Ea 1.15 eV, 응력 310 °C, Z* = 3, 벌크계수 15 GPa, TTF₅₀ 400 h.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(jL)c = 3300 A/cm → 1.5 MA/cm²에서 25 µm 초과 선은 불멸성 없음.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SP-06 · 신뢰성 · 활성화에너지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6B5E"/>
          </a:solidFill>
          <a:ln w="12700">
            <a:solidFill>
              <a:srgbClr val="006B5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Cu 장배선 EM 활성화에너지 — 라이너에 따라 0.80–1.05 eV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583680" cy="48463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62179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76072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TAN/CO 0.84·1.02–1.05, TAN/RU 0.94–0.98 — 구간 양끝 표기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1280160"/>
            <a:ext cx="4373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라이너 종류가 Ea를 가른다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1664208"/>
            <a:ext cx="4373575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동일 Cu 배선도 라이너(Co vs Ru)에 따라 Ea 0.2 eV 차이 → 수명 외삽 수십 배 차이.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Unit-cell 모델 가정 1.15 eV는 실측 상한보다 높음 — 보수적 설정 여부 확인 필요.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 무배리어 선은 &gt;30 MA/cm²에서도 고장 유도 실패 — Cu와 다른 체계.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SP-06 · 신뢰성 · 모델 조건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85B6"/>
          </a:solidFill>
          <a:ln w="12700">
            <a:solidFill>
              <a:srgbClr val="0085B6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모델 조건과 Blech 불멸성 경계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6B5E"/>
          </a:solidFill>
          <a:ln w="12700">
            <a:solidFill>
              <a:srgbClr val="006B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설정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Zahedmanesh 2024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조건: 선폭 45 nm, 높이 90 nm, Ea 1.15 eV, 응력 310 °C, Z* = 3, 벌크계수 15 GPa, TTF₅₀ 400 h.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단일 배선 TTF₅₀ = 400 h, 로그정규 σ = 0.6.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PDN 타일 단위로 보면 σ 0.27 (하향 50%, 상향 66%, 전체 55% 감소).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8218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85B6"/>
          </a:solidFill>
          <a:ln w="12700">
            <a:solidFill>
              <a:srgbClr val="0085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경계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338218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Blech 항과 임계응력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38218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(jL)c = 3300 A/cm → 1.5 MA/cm²에서 25 µm 초과 선은 불멸성 없음.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임계응력 Δσ_crit,50% 56 MPa vs 예측 최대 EM 응력 76 MPa.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19237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9237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후속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Esposto 2025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Esposto 후속: 10년 기준 고장확률 ~3자릿수↓ → 표준셀 전류 2.8배 허용.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표준셀 전류 2.8배 허용 — 설계 룰 재정의의 근거.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212080"/>
            <a:ext cx="11277295" cy="914400"/>
          </a:xfrm>
          <a:prstGeom prst="roundRect">
            <a:avLst>
              <a:gd name="adj" fmla="val 16000"/>
            </a:avLst>
          </a:prstGeom>
          <a:solidFill>
            <a:srgbClr val="E6F3F8"/>
          </a:solidFill>
          <a:ln w="12700">
            <a:solidFill>
              <a:srgbClr val="E6F3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303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단일 배선 SEB를 unit-cell(타일) 기준으로 교체해야 허용 전류가 현실화됨 — 룰이 정교해진 것이 아니라 기존 룰이 제품을 막는 지점.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SP-06 · 판정 요약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구조별 판정 — 무배리어 Ru·Mo–Ru·FSAV 모두 PASS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76218" cy="4846320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31190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무배리어 RU · 21 NM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06B5E"/>
                </a:solidFill>
              </a:rPr>
              <a:t>&gt;30 MA/cm²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67128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고장 유도 실패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51760"/>
            <a:ext cx="31190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150–200 MA/cm²에서 자기발열 ~260 °C에 도달해서야 고장.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0418" y="14630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00146" y="1559052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28162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B7C"/>
                </a:solidFill>
              </a:rPr>
              <a:t>PASS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07738" y="1280160"/>
            <a:ext cx="3576218" cy="4846320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36338" y="1463040"/>
            <a:ext cx="31190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MO–RU 하이브리드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36338" y="169164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085B6"/>
                </a:solidFill>
              </a:rPr>
              <a:t>600 h+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36338" y="2167128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330 °C, 5 MA/cm² 무고장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36338" y="2651760"/>
            <a:ext cx="31190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X-TEM 단면 JAP 2024 Fig. 17(b).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40957" y="14630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0685" y="1559052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78701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B7C"/>
                </a:solidFill>
              </a:rPr>
              <a:t>PASS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58277" y="1280160"/>
            <a:ext cx="3576218" cy="4846320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86877" y="1463040"/>
            <a:ext cx="31190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FSAV 2소재 모듈 · 18MP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386877" y="169164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</a:rPr>
              <a:t>300 h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8386877" y="2167128"/>
            <a:ext cx="31190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10 MA/cm² 저항 변화 없음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386877" y="2651760"/>
            <a:ext cx="31190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모듈 수준 EM 통과 — 열저장 200 °C·120 h 병행.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91495" y="14630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01223" y="1559052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829239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B7C"/>
                </a:solidFill>
              </a:rPr>
              <a:t>PASS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deep">
  <a:themeElements>
    <a:clrScheme name="Turquoise DS deep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6B5E"/>
      </a:accent1>
      <a:accent2>
        <a:srgbClr val="0085B6"/>
      </a:accent2>
      <a:accent3>
        <a:srgbClr val="16213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deep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PDN 전자이동 — unit-cell 기준으로의 전환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