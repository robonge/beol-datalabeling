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터닝" id="{6cdc40f9-a205-eae4-883f-ccda5bb37faa}">
          <p14:sldIdLst>
            <p14:sldId id="256"/>
            <p14:sldId id="257"/>
            <p14:sldId id="258"/>
            <p14:sldId id="260"/>
          </p14:sldIdLst>
        </p14:section>
        <p14:section name="신뢰성" id="{ad25b2dc-e864-0d7c-3129-9ff8ee98af36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nm²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명목</c:v>
                  </c:pt>
                  <c:pt idx="1">
                    <c:v>전기적</c:v>
                  </c:pt>
                  <c:pt idx="2">
                    <c:v>물리적</c:v>
                  </c:pt>
                  <c:pt idx="3">
                    <c:v>Ru&gt;Cu 교차점</c:v>
                  </c:pt>
                  <c:pt idx="4">
                    <c:v>비아 접촉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270</c:v>
                </c:pt>
                <c:pt idx="1">
                  <c:v>250</c:v>
                </c:pt>
                <c:pt idx="2">
                  <c:v>257</c:v>
                </c:pt>
                <c:pt idx="3">
                  <c:v>268</c:v>
                </c:pt>
                <c:pt idx="4">
                  <c:v>180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nm²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패터닝 · 금속 피치 · VLSI 2022 (MURDOCH)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2소재 완전 자기정렬 비아 모듈 — 핵심 전기 특성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846320" cy="2825496"/>
          </a:xfrm>
          <a:prstGeom prst="roundRect">
            <a:avLst>
              <a:gd name="adj" fmla="val 6472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pic>
        <p:nvPicPr>
          <p:cNvPr id="6" name="Image 0" descr="/tmp/claude-0/-home-claude/e70767da-955c-5cc3-beb4-741bbeefa4c6/scratchpad/img/fsav_18m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4663440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758184"/>
            <a:ext cx="4626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NM PITCH · MX / FSAV / MX+1 · X-TEM · © IMEC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2519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패터닝: Mx = EUV + SADP, Mx+1·비아 = EUV 단일 노광.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하부는 SiN 캐핑 내 고선택비 가스에칭으로 SiO₂ 갭필 보존, 상부는 Ru 과에칭으로 상부 선 가장자리에 정렬 — '완전 자기정렬'은 두 번 정렬된다는 뜻.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20 nm 비아 홀이 9 nm 선에 내려앉으며 스스로 180 nm²로 줄어드는 것이 핵심.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280160"/>
          <a:ext cx="6110935" cy="914400"/>
        </p:xfrm>
        <a:graphic>
          <a:graphicData uri="http://schemas.openxmlformats.org/drawingml/2006/table">
            <a:tbl>
              <a:tblPr/>
              <a:tblGrid>
                <a:gridCol w="1759306"/>
                <a:gridCol w="3518611"/>
                <a:gridCol w="83301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측정값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선폭 CD / 금속 높이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9 nm / PVD Ru 30 nm → AR ≈ 3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전도 단면적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명목 270 / 전기적 250 / 물리적 257 nm²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EUV 비아 홀 → 접촉면적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최소 20 nm → 180 nm² (9 nm 선 위 자기축소)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비아 저항 (18–26 nm 피치)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40 Ω &lt; R &lt; 60 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정렬 허용도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의도적 오정렬 ±5 nm까지 비아저항 유지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절연파괴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&gt;9 MV/cm @100 °C · &gt;16 V @26 nm 피치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10 MA/cm², 300 h 저항 변화 없음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열저장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200 °C, 120 h 저항·수율 손실 없음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Ru vs Cu 교차점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단면 268 nm² 미만(CD &lt; 12 nm)에서 Ru 우위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패터닝 · 피치별 판정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피치별 판정 — 26 / 22 / 18 PASS, 16 조건부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26 nm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847088"/>
            <a:ext cx="1196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비아저항 40–60 Ω 구간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45104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7984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22 nm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7984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7712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5728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9544" y="1847088"/>
            <a:ext cx="1196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전 웨이퍼 수율 &gt;90%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3008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5888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 nm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15888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5616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3632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67448" y="1847088"/>
            <a:ext cx="1196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2소재 모듈 실증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20911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3791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16 nm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03791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4C3924"/>
          </a:solidFill>
          <a:ln w="12700">
            <a:solidFill>
              <a:srgbClr val="4C39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3519" y="1943100"/>
            <a:ext cx="82296" cy="8229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41535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500"/>
                </a:solidFill>
              </a:rPr>
              <a:t>조건부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55351" y="1847088"/>
            <a:ext cx="1196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목표 충족 구조 40%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7223760" cy="914400"/>
        </p:xfrm>
        <a:graphic>
          <a:graphicData uri="http://schemas.openxmlformats.org/drawingml/2006/table">
            <a:tbl>
              <a:tblPr/>
              <a:tblGrid>
                <a:gridCol w="2974543"/>
                <a:gridCol w="424921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16 nm 평균 선저항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656 Ω/µm (10 µm 선, 4단자)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16 nm 선폭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8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18–22 nm 수율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&gt; 90% (전 웨이퍼)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Ru 저항률 (에칭 후)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13–15 µΩ·cm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Ru 저항률 (420 °C 후)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14–15 µΩ·cm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8001000" y="2834640"/>
            <a:ext cx="37334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2022년 18 nm 피치 실증 이후 2025 IITC에서 16 nm 피치 Ru 선 — 기록적 저저항.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16 nm은 저항 목표 충족률 40%로 수율 과제가 남음 → 조건부.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패터닝 · 단면적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전도 단면적 — 명목·전기적·물리적, 그리고 Ru/Cu 교차점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58368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2179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비아 접촉 180 NM² = 20 NM 홀이 9 NM 선 위에서 자기축소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28016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Ru가 Cu를 이기는 구간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1664208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</a:rPr>
              <a:t>268 nm²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2139696"/>
            <a:ext cx="2095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교차점 단면 (≈ CD 12 nm)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547708" y="1664208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±5 nm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547708" y="2139696"/>
            <a:ext cx="2095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오정렬 허용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715768"/>
            <a:ext cx="4373575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전기적 단면 250 nm² &lt; 교차점 268 nm² → 이 모듈은 Ru 우위 영역.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비아 홀이 선 위에서 스스로 줄어들어 접촉면적 180 nm²로 결정.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신뢰성 항목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모듈 신뢰성 — 절연파괴·EM·열저장 전항목 PASS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BREAKDOWN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&gt;9 MV/cm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@100 °C, 비아–선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26 nm 피치에서 &gt;16 V. 선간 누설 경로 없음을 TEM+EDS 원소분포로 확인.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0418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146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28162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07738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36338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ELECTROMIGRATION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36338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0B8A9"/>
                </a:solidFill>
              </a:rPr>
              <a:t>10 MA/cm²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36338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300 h 저항 변화 없음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36338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무배리어 Ru 특성 — 21 nm 피치 단독 선은 &gt;30 MA/cm²에서도 고장 유도 실패.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0957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0685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78701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58277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86877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THERMAL STORAGE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386877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8E72"/>
                </a:solidFill>
              </a:rPr>
              <a:t>200 °C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8386877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120 h 저항·수율 손실 없음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86877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420 °C 열처리와 달리 원통화·단락 없음 — 후속 공정 열 예산 기준점.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91495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01223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829239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단면 · along vs across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선 방향 / 직교 방향 단면 — 자기정렬 비아의 두 번 정렬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3054096"/>
          </a:xfrm>
          <a:prstGeom prst="roundRect">
            <a:avLst>
              <a:gd name="adj" fmla="val 5988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pic>
        <p:nvPicPr>
          <p:cNvPr id="6" name="Image 0" descr="/tmp/claude-0/-home-claude/e70767da-955c-5cc3-beb4-741bbeefa4c6/scratchpad/img/fsav_alo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560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98678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ALONG THE LINE · MX / MX+1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3054096"/>
          </a:xfrm>
          <a:prstGeom prst="roundRect">
            <a:avLst>
              <a:gd name="adj" fmla="val 5988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pic>
        <p:nvPicPr>
          <p:cNvPr id="9" name="Image 1" descr="/tmp/claude-0/-home-claude/e70767da-955c-5cc3-beb4-741bbeefa4c6/scratchpad/img/fsav_acros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560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398678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ACROSS · SIN CAP · VIA LANDING · © IMEC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617720"/>
            <a:ext cx="112772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</a:rPr>
              <a:t>하부 정렬: Ru 선 위 SiN 캐핑 안에서 고선택비 가스에칭 → SiO₂ 갭필 보존.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</a:rPr>
              <a:t>상부 정렬: Ru 과에칭으로 상부 선 가장자리에 맞춤.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</a:rPr>
              <a:t>패터닝: Mx = EUV + SADP, Mx+1·비아 = EUV 단일 노광. 상부 금속은 에어갭과 결합해 정전용량 상쇄.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 nm 피치 FSAV semi-damascene 모듈 전기 특성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