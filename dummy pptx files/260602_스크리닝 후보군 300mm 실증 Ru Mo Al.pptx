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image" Target="../media/image-3-7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ddfe39e4a1e6670deecd66b3af7ef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57707" y="1047902"/>
            <a:ext cx="914400" cy="57607"/>
          </a:xfrm>
          <a:prstGeom prst="rect">
            <a:avLst/>
          </a:prstGeom>
        </p:spPr>
      </p:pic>
      <p:pic>
        <p:nvPicPr>
          <p:cNvPr id="3" name="Image 1" descr="gen-dedup-8eb1e693e77b107b0cede10027d4fd0c.png">    </p:cNvPr>
          <p:cNvPicPr>
            <a:picLocks noChangeAspect="1"/>
          </p:cNvPicPr>
          <p:nvPr/>
        </p:nvPicPr>
        <p:blipFill>
          <a:blip r:embed="rId2"/>
          <a:srcRect l="-385" r="-385" t="0" b="0"/>
          <a:stretch/>
        </p:blipFill>
        <p:spPr>
          <a:xfrm>
            <a:off x="857707" y="7048195"/>
            <a:ext cx="76169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573207" y="8096098"/>
            <a:ext cx="133502" cy="133502"/>
          </a:xfrm>
          <a:prstGeom prst="ellipse">
            <a:avLst/>
          </a:prstGeom>
          <a:solidFill>
            <a:srgbClr val="D85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934395" y="8096098"/>
            <a:ext cx="171907" cy="171907"/>
          </a:xfrm>
          <a:prstGeom prst="ellipse">
            <a:avLst/>
          </a:prstGeom>
          <a:noFill/>
          <a:ln w="25400">
            <a:solidFill>
              <a:srgbClr val="D8521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296498" y="8096098"/>
            <a:ext cx="133502" cy="133502"/>
          </a:xfrm>
          <a:prstGeom prst="ellipse">
            <a:avLst/>
          </a:prstGeom>
          <a:solidFill>
            <a:srgbClr val="D85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4758858d3614cb148ecf3462a5a3110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07" y="1238098"/>
            <a:ext cx="6858000" cy="6143854"/>
          </a:xfrm>
          <a:prstGeom prst="rect">
            <a:avLst/>
          </a:prstGeom>
        </p:spPr>
      </p:pic>
      <p:pic>
        <p:nvPicPr>
          <p:cNvPr id="8" name="Image 3" descr="gen-dedup-19533e0c35193e40aeda71cbb436a203.png">    </p:cNvPr>
          <p:cNvPicPr>
            <a:picLocks noChangeAspect="1"/>
          </p:cNvPicPr>
          <p:nvPr/>
        </p:nvPicPr>
        <p:blipFill>
          <a:blip r:embed="rId4"/>
          <a:srcRect l="-375" r="-375" t="0" b="0"/>
          <a:stretch/>
        </p:blipFill>
        <p:spPr>
          <a:xfrm>
            <a:off x="10573207" y="1238098"/>
            <a:ext cx="57607" cy="6099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57707" y="1333195"/>
            <a:ext cx="11169396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50" b="1" spc="-88" kern="0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 지표로 본 후보군</a:t>
            </a:r>
            <a:endParaRPr lang="en-US" sz="5850" dirty="0"/>
          </a:p>
        </p:txBody>
      </p:sp>
      <p:sp>
        <p:nvSpPr>
          <p:cNvPr id="10" name="Text 4"/>
          <p:cNvSpPr txBox="1"/>
          <p:nvPr/>
        </p:nvSpPr>
        <p:spPr>
          <a:xfrm>
            <a:off x="857707" y="2572207"/>
            <a:ext cx="9906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5A4F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800" dirty="0"/>
          </a:p>
        </p:txBody>
      </p:sp>
      <p:sp>
        <p:nvSpPr>
          <p:cNvPr id="11" name="Text 5"/>
          <p:cNvSpPr txBox="1"/>
          <p:nvPr/>
        </p:nvSpPr>
        <p:spPr>
          <a:xfrm>
            <a:off x="857707" y="3905402"/>
            <a:ext cx="9335110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953"/>
              </a:lnSpc>
              <a:buNone/>
            </a:pPr>
            <a:r>
              <a:rPr lang="en-US" sz="2550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2550" dirty="0"/>
          </a:p>
        </p:txBody>
      </p:sp>
      <p:sp>
        <p:nvSpPr>
          <p:cNvPr id="12" name="Text 6"/>
          <p:cNvSpPr txBox="1"/>
          <p:nvPr/>
        </p:nvSpPr>
        <p:spPr>
          <a:xfrm>
            <a:off x="857707" y="7334402"/>
            <a:ext cx="9525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8A7E6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650" dirty="0"/>
          </a:p>
        </p:txBody>
      </p:sp>
      <p:sp>
        <p:nvSpPr>
          <p:cNvPr id="13" name="Text 7"/>
          <p:cNvSpPr txBox="1"/>
          <p:nvPr/>
        </p:nvSpPr>
        <p:spPr>
          <a:xfrm>
            <a:off x="10573207" y="7543800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A4F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Nature, Sci. Reports — Amorphous Ta-Mn-O 배리어 / Cu 단면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ddfe39e4a1e6670deecd66b3af7ef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57707" y="857707"/>
            <a:ext cx="9144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707" y="2857500"/>
            <a:ext cx="11239805" cy="6476695"/>
          </a:xfrm>
          <a:prstGeom prst="rect">
            <a:avLst/>
          </a:prstGeom>
          <a:solidFill>
            <a:srgbClr val="FB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477902" y="6286500"/>
            <a:ext cx="4953305" cy="1619402"/>
          </a:xfrm>
          <a:prstGeom prst="rect">
            <a:avLst/>
          </a:prstGeom>
          <a:solidFill>
            <a:srgbClr val="D85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19533e0c35193e40aeda71cbb436a203.png">    </p:cNvPr>
          <p:cNvPicPr>
            <a:picLocks noChangeAspect="1"/>
          </p:cNvPicPr>
          <p:nvPr/>
        </p:nvPicPr>
        <p:blipFill>
          <a:blip r:embed="rId2"/>
          <a:srcRect l="-375" r="-375" t="0" b="0"/>
          <a:stretch/>
        </p:blipFill>
        <p:spPr>
          <a:xfrm>
            <a:off x="857707" y="2857500"/>
            <a:ext cx="57607" cy="609905"/>
          </a:xfrm>
          <a:prstGeom prst="rect">
            <a:avLst/>
          </a:prstGeom>
        </p:spPr>
      </p:pic>
      <p:pic>
        <p:nvPicPr>
          <p:cNvPr id="6" name="Image 2" descr="gen-dedup-795fb53bc07cdddad729adb4980dd07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902" y="2857500"/>
            <a:ext cx="4953305" cy="2781605"/>
          </a:xfrm>
          <a:prstGeom prst="rect">
            <a:avLst/>
          </a:prstGeom>
        </p:spPr>
      </p:pic>
      <p:pic>
        <p:nvPicPr>
          <p:cNvPr id="7" name="Image 3" descr="gen-dedup-ca6702f8dcb80f829c8333a522a85fb9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2477902" y="2857500"/>
            <a:ext cx="57607" cy="4572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857707" y="1123798"/>
            <a:ext cx="10478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A4F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이것이 유명한 “holy grail” 논문입니다. 핵심 수치:</a:t>
            </a:r>
            <a:endParaRPr lang="en-US" sz="1800" dirty="0"/>
          </a:p>
        </p:txBody>
      </p:sp>
      <p:sp>
        <p:nvSpPr>
          <p:cNvPr id="9" name="Text 3"/>
          <p:cNvSpPr txBox="1"/>
          <p:nvPr/>
        </p:nvSpPr>
        <p:spPr>
          <a:xfrm>
            <a:off x="857707" y="16002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피치 2소재 완전 자기정렬 비아 (Murdoch, VLSI 2022)</a:t>
            </a:r>
            <a:endParaRPr lang="en-US" sz="3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3798" y="2915107"/>
          <a:ext cx="10858500" cy="7249363"/>
        </p:xfrm>
        <a:graphic>
          <a:graphicData uri="http://schemas.openxmlformats.org/drawingml/2006/table">
            <a:tbl>
              <a:tblPr/>
              <a:tblGrid>
                <a:gridCol w="3657600"/>
                <a:gridCol w="7200900"/>
              </a:tblGrid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항목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값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금속 피치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26 → 18 nm (2소재 실증)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선폭(CD)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 nm, PVD Ru 30 nm → AR ≈ 3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전도 단면적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명목 270 nm² / 전기적 250 nm² / 물리적 257 nm²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EUV 비아 홀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최소 20 nm → 접촉면적 180 nm²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비아 저항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 Ω &lt; R &lt; 60 Ω (18–26 nm 피치 전 구간)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Ru 저항률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에칭 후 13–15 µΩ·cm, 420 °C 열처리 후 14–15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Ru가 Cu를 이기는 지점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전도 단면적 268 nm² 미만 (≈ CD 12 nm 미만)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정렬 허용도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의도적 오정렬 ±5 nm까지 비아 저항 유지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절연파괴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&gt;9 MV/cm @100 °C, 26 nm 피치에서 &gt;16 V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EM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 MA/cm², 300 h 저항 변화 없음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C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8BD"/>
                    </a:solidFill>
                  </a:tcPr>
                </a:tc>
              </a:tr>
              <a:tr h="60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열저장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130C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 °C, 120 h 저항·수율 손실 없음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23444" marB="123444" anchor="ctr">
                    <a:lnL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85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4"/>
          <p:cNvSpPr txBox="1"/>
          <p:nvPr/>
        </p:nvSpPr>
        <p:spPr>
          <a:xfrm>
            <a:off x="12477902" y="5772607"/>
            <a:ext cx="56391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5A4F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 (passive-components.eu 보도자료) — Ru tight metal pitch 라인</a:t>
            </a:r>
            <a:endParaRPr lang="en-US" sz="1275" dirty="0"/>
          </a:p>
        </p:txBody>
      </p:sp>
      <p:sp>
        <p:nvSpPr>
          <p:cNvPr id="12" name="Text 5"/>
          <p:cNvSpPr txBox="1"/>
          <p:nvPr/>
        </p:nvSpPr>
        <p:spPr>
          <a:xfrm>
            <a:off x="12763195" y="6848856"/>
            <a:ext cx="43818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BF1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180</a:t>
            </a:r>
            <a:pPr algn="l" indent="0" marL="0">
              <a:buNone/>
            </a:pPr>
            <a:r>
              <a:rPr lang="en-US" sz="1950" b="1" dirty="0">
                <a:solidFill>
                  <a:srgbClr val="FBF1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nm²</a:t>
            </a:r>
            <a:endParaRPr lang="en-US" sz="4800" dirty="0"/>
          </a:p>
        </p:txBody>
      </p:sp>
      <p:sp>
        <p:nvSpPr>
          <p:cNvPr id="13" name="Text 6"/>
          <p:cNvSpPr txBox="1"/>
          <p:nvPr/>
        </p:nvSpPr>
        <p:spPr>
          <a:xfrm>
            <a:off x="12763195" y="7552944"/>
            <a:ext cx="488198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BF1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 nm 홀이 9 nm 선 위로 내려앉아 좁혀드는 접촉면적</a:t>
            </a:r>
            <a:endParaRPr lang="en-US" sz="1425" dirty="0"/>
          </a:p>
        </p:txBody>
      </p:sp>
      <p:sp>
        <p:nvSpPr>
          <p:cNvPr id="14" name="Text 7"/>
          <p:cNvSpPr txBox="1"/>
          <p:nvPr/>
        </p:nvSpPr>
        <p:spPr>
          <a:xfrm>
            <a:off x="12763195" y="6515100"/>
            <a:ext cx="4381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BF1DD">
                    <a:alpha val="90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EUV 비아 홀</a:t>
            </a:r>
            <a:endParaRPr lang="en-US" sz="1350" dirty="0"/>
          </a:p>
        </p:txBody>
      </p:sp>
      <p:sp>
        <p:nvSpPr>
          <p:cNvPr id="15" name="Text 8"/>
          <p:cNvSpPr txBox="1"/>
          <p:nvPr/>
        </p:nvSpPr>
        <p:spPr>
          <a:xfrm>
            <a:off x="12477902" y="8096098"/>
            <a:ext cx="49533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 조합은 Mx가 EUV+SADP, Mx+1과 비아가 EUV 단일 노광입니다. 상부 금속은 정전용량 증가를 상쇄하려고 에어갭과 조합합니다.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ddfe39e4a1e6670deecd66b3af7eff2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57707" y="857707"/>
            <a:ext cx="914400" cy="57607"/>
          </a:xfrm>
          <a:prstGeom prst="rect">
            <a:avLst/>
          </a:prstGeom>
        </p:spPr>
      </p:pic>
      <p:pic>
        <p:nvPicPr>
          <p:cNvPr id="3" name="Image 1" descr="gen-dedup-2faebe1051d4e9f7c91db73241a18bb8.png">    </p:cNvPr>
          <p:cNvPicPr>
            <a:picLocks noChangeAspect="1"/>
          </p:cNvPicPr>
          <p:nvPr/>
        </p:nvPicPr>
        <p:blipFill>
          <a:blip r:embed="rId2"/>
          <a:srcRect l="0" r="0" t="-408" b="-408"/>
          <a:stretch/>
        </p:blipFill>
        <p:spPr>
          <a:xfrm>
            <a:off x="15430500" y="857707"/>
            <a:ext cx="1904695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57707" y="2286000"/>
            <a:ext cx="12763195" cy="2667305"/>
          </a:xfrm>
          <a:prstGeom prst="rect">
            <a:avLst/>
          </a:prstGeom>
          <a:solidFill>
            <a:srgbClr val="FB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3811098" y="2286000"/>
            <a:ext cx="3619195" cy="2667305"/>
          </a:xfrm>
          <a:prstGeom prst="rect">
            <a:avLst/>
          </a:prstGeom>
          <a:solidFill>
            <a:srgbClr val="D85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57707" y="5333695"/>
            <a:ext cx="10477195" cy="2667305"/>
          </a:xfrm>
          <a:prstGeom prst="rect">
            <a:avLst/>
          </a:prstGeom>
          <a:solidFill>
            <a:srgbClr val="FB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525098" y="5333695"/>
            <a:ext cx="5905195" cy="2667305"/>
          </a:xfrm>
          <a:prstGeom prst="rect">
            <a:avLst/>
          </a:prstGeom>
          <a:solidFill>
            <a:srgbClr val="FB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57707" y="8382305"/>
            <a:ext cx="16573500" cy="914400"/>
          </a:xfrm>
          <a:prstGeom prst="rect">
            <a:avLst/>
          </a:prstGeom>
          <a:solidFill>
            <a:srgbClr val="1813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2" descr="gen-dedup-4018b44eee649adef235ea13eeee2e90.png">    </p:cNvPr>
          <p:cNvPicPr>
            <a:picLocks noChangeAspect="1"/>
          </p:cNvPicPr>
          <p:nvPr/>
        </p:nvPicPr>
        <p:blipFill>
          <a:blip r:embed="rId3"/>
          <a:srcRect l="-394" r="-394" t="0" b="0"/>
          <a:stretch/>
        </p:blipFill>
        <p:spPr>
          <a:xfrm>
            <a:off x="857707" y="2286000"/>
            <a:ext cx="57607" cy="2667305"/>
          </a:xfrm>
          <a:prstGeom prst="rect">
            <a:avLst/>
          </a:prstGeom>
        </p:spPr>
      </p:pic>
      <p:pic>
        <p:nvPicPr>
          <p:cNvPr id="10" name="Image 3" descr="gen-dedup-276432ea9ff0e0de882989218f82755a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857707" y="8382305"/>
            <a:ext cx="57607" cy="914400"/>
          </a:xfrm>
          <a:prstGeom prst="rect">
            <a:avLst/>
          </a:prstGeom>
        </p:spPr>
      </p:pic>
      <p:pic>
        <p:nvPicPr>
          <p:cNvPr id="11" name="Image 4" descr="gen-dedup-38fb0cf0acf5b3787184678a5b10ee6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695" y="2438705"/>
            <a:ext cx="4572000" cy="2361895"/>
          </a:xfrm>
          <a:prstGeom prst="rect">
            <a:avLst/>
          </a:prstGeom>
        </p:spPr>
      </p:pic>
      <p:pic>
        <p:nvPicPr>
          <p:cNvPr id="12" name="Image 5" descr="gen-dedup-09a6e1b522ecf9a8c5802b684d29c19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562295"/>
            <a:ext cx="4381805" cy="2247595"/>
          </a:xfrm>
          <a:prstGeom prst="rect">
            <a:avLst/>
          </a:prstGeom>
        </p:spPr>
      </p:pic>
      <p:pic>
        <p:nvPicPr>
          <p:cNvPr id="13" name="Image 6" descr="gen-dedup-ba842e07f4dd667d0a7e55b9050f9f62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8762695" y="2438705"/>
            <a:ext cx="47549" cy="342900"/>
          </a:xfrm>
          <a:prstGeom prst="rect">
            <a:avLst/>
          </a:prstGeom>
        </p:spPr>
      </p:pic>
      <p:pic>
        <p:nvPicPr>
          <p:cNvPr id="14" name="Image 7" descr="gen-dedup-ba842e07f4dd667d0a7e55b9050f9f62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1143000" y="5562295"/>
            <a:ext cx="47549" cy="342900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857707" y="1123798"/>
            <a:ext cx="1428750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패터닝·집적: 다마신을 버리고 금속을 직접 깎는다</a:t>
            </a:r>
            <a:endParaRPr lang="en-US" sz="3450" dirty="0"/>
          </a:p>
        </p:txBody>
      </p:sp>
      <p:sp>
        <p:nvSpPr>
          <p:cNvPr id="16" name="Text 6"/>
          <p:cNvSpPr txBox="1"/>
          <p:nvPr/>
        </p:nvSpPr>
        <p:spPr>
          <a:xfrm>
            <a:off x="14097305" y="1123798"/>
            <a:ext cx="33339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A4F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semi-damascene, 5세대 로드맵</a:t>
            </a:r>
            <a:endParaRPr lang="en-US" sz="1500" dirty="0"/>
          </a:p>
        </p:txBody>
      </p:sp>
      <p:sp>
        <p:nvSpPr>
          <p:cNvPr id="17" name="Text 7"/>
          <p:cNvSpPr txBox="1"/>
          <p:nvPr/>
        </p:nvSpPr>
        <p:spPr>
          <a:xfrm>
            <a:off x="14097305" y="1495044"/>
            <a:ext cx="33339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1.6 → 2 → 3 → 4·5·6</a:t>
            </a:r>
            <a:endParaRPr lang="en-US" sz="3600" dirty="0"/>
          </a:p>
        </p:txBody>
      </p:sp>
      <p:sp>
        <p:nvSpPr>
          <p:cNvPr id="18" name="Text 8"/>
          <p:cNvSpPr txBox="1"/>
          <p:nvPr/>
        </p:nvSpPr>
        <p:spPr>
          <a:xfrm>
            <a:off x="1143000" y="2533802"/>
            <a:ext cx="742950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semi-damascene은 도랑을 파고 금속을 채우는 대신 금속을 먼저 깔고 직접 에칭합니다. 그 결과 배리어가 필요 없고, CMP가 제한하던 종횡비(AR)를 올릴 수 있습니다.</a:t>
            </a:r>
            <a:endParaRPr lang="en-US" sz="1800" dirty="0"/>
          </a:p>
        </p:txBody>
      </p:sp>
      <p:sp>
        <p:nvSpPr>
          <p:cNvPr id="19" name="Text 9"/>
          <p:cNvSpPr txBox="1"/>
          <p:nvPr/>
        </p:nvSpPr>
        <p:spPr>
          <a:xfrm>
            <a:off x="1143000" y="3763670"/>
            <a:ext cx="778428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5A4F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imec은 AR=6 Ru 선이 AR=3 대비 선 저항을 약 40% 낮춘다고 보고했습니다.</a:t>
            </a:r>
            <a:endParaRPr lang="en-US" sz="1650" dirty="0"/>
          </a:p>
        </p:txBody>
      </p:sp>
      <p:sp>
        <p:nvSpPr>
          <p:cNvPr id="20" name="Text 10"/>
          <p:cNvSpPr txBox="1"/>
          <p:nvPr/>
        </p:nvSpPr>
        <p:spPr>
          <a:xfrm>
            <a:off x="1143000" y="4743907"/>
            <a:ext cx="7429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8A7E6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 — semi-damascene metallization / M1–M9 Cu 다층 단면</a:t>
            </a:r>
            <a:endParaRPr lang="en-US" sz="1125" dirty="0"/>
          </a:p>
        </p:txBody>
      </p:sp>
      <p:sp>
        <p:nvSpPr>
          <p:cNvPr id="21" name="Text 11"/>
          <p:cNvSpPr txBox="1"/>
          <p:nvPr/>
        </p:nvSpPr>
        <p:spPr>
          <a:xfrm>
            <a:off x="14097305" y="3026664"/>
            <a:ext cx="3048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BF1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58</a:t>
            </a:r>
            <a:pPr algn="l" indent="0" marL="0">
              <a:buNone/>
            </a:pPr>
            <a:r>
              <a:rPr lang="en-US" sz="2100" b="1" dirty="0">
                <a:solidFill>
                  <a:srgbClr val="FBF1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Ω</a:t>
            </a:r>
            <a:endParaRPr lang="en-US" sz="4800" dirty="0"/>
          </a:p>
        </p:txBody>
      </p:sp>
      <p:sp>
        <p:nvSpPr>
          <p:cNvPr id="22" name="Text 12"/>
          <p:cNvSpPr txBox="1"/>
          <p:nvPr/>
        </p:nvSpPr>
        <p:spPr>
          <a:xfrm>
            <a:off x="14097305" y="3731666"/>
            <a:ext cx="3048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BF1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Kelvin 저항 중간값 — 2단 적층 비아 66.3 Ω 대비 13% 낮음</a:t>
            </a:r>
            <a:endParaRPr lang="en-US" sz="1350" dirty="0"/>
          </a:p>
        </p:txBody>
      </p:sp>
      <p:sp>
        <p:nvSpPr>
          <p:cNvPr id="23" name="Text 13"/>
          <p:cNvSpPr txBox="1"/>
          <p:nvPr/>
        </p:nvSpPr>
        <p:spPr>
          <a:xfrm>
            <a:off x="14097305" y="2533802"/>
            <a:ext cx="3048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68" kern="0" dirty="0">
                <a:solidFill>
                  <a:srgbClr val="FBF1DD">
                    <a:alpha val="90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3단 고종횡비 슈퍼비아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14097305" y="2750515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FBF1DD">
                    <a:alpha val="80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(Montero Alvarez, IITC 2022)</a:t>
            </a:r>
            <a:endParaRPr lang="en-US" sz="975" dirty="0"/>
          </a:p>
        </p:txBody>
      </p:sp>
      <p:sp>
        <p:nvSpPr>
          <p:cNvPr id="25" name="Text 15"/>
          <p:cNvSpPr txBox="1"/>
          <p:nvPr/>
        </p:nvSpPr>
        <p:spPr>
          <a:xfrm>
            <a:off x="14097305" y="4326026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BF1DD">
                    <a:alpha val="85000"/>
                  </a:srgbClr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종횡비 7.7 · 전기적 수율 &gt;95%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1143000" y="7905902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25" dirty="0">
                <a:solidFill>
                  <a:srgbClr val="8A7E6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Semiconductor Engineering — BEOL air gap 단면</a:t>
            </a:r>
            <a:endParaRPr lang="en-US" sz="1125" dirty="0"/>
          </a:p>
        </p:txBody>
      </p:sp>
      <p:sp>
        <p:nvSpPr>
          <p:cNvPr id="27" name="Text 17"/>
          <p:cNvSpPr txBox="1"/>
          <p:nvPr/>
        </p:nvSpPr>
        <p:spPr>
          <a:xfrm>
            <a:off x="5810098" y="5562295"/>
            <a:ext cx="5334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D852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계측: 14 nm 하프피치를 광학으로 잃지 않고 잡기 (Das, SPIE 2021)</a:t>
            </a:r>
            <a:endParaRPr lang="en-US" sz="1350" dirty="0"/>
          </a:p>
        </p:txBody>
      </p:sp>
      <p:sp>
        <p:nvSpPr>
          <p:cNvPr id="28" name="Text 18"/>
          <p:cNvSpPr txBox="1"/>
          <p:nvPr/>
        </p:nvSpPr>
        <p:spPr>
          <a:xfrm>
            <a:off x="5810098" y="6210605"/>
            <a:ext cx="53346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LER 예측 R² = 0.85 / RMSE 0.03 nm, 메앤더 저항 예측 R² &gt; 0.93. 실측 LER은 초점 범위 전체에서 1.6–2.0 nm.</a:t>
            </a:r>
            <a:endParaRPr lang="en-US" sz="1650" dirty="0"/>
          </a:p>
        </p:txBody>
      </p:sp>
      <p:sp>
        <p:nvSpPr>
          <p:cNvPr id="29" name="Text 19"/>
          <p:cNvSpPr txBox="1"/>
          <p:nvPr/>
        </p:nvSpPr>
        <p:spPr>
          <a:xfrm>
            <a:off x="11811305" y="5562295"/>
            <a:ext cx="5334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D852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참고</a:t>
            </a: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11811305" y="5952744"/>
            <a:ext cx="53346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130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iN5세대 계측 기준은 M2 피치 32 nm / M1 42 nm에서 금속 T2T CD 균일도 &lt;1 nm 3σ, 금속 팁 위치 EPE ~5 nm 3σ였습니다. 18 nm 피치로 내려오면 이 예산이 그대로 남을 수 없다는 게 SALELE 가상공정 연구의 출발점입니다.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1143000" y="8591702"/>
            <a:ext cx="1600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BF1D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신뢰성: 단일 배선으로 잠금하던 기준이 무너지는 중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2026-10-03T16:48:20Z</dcterms:created>
  <dcterms:modified xsi:type="dcterms:W3CDTF">2026-10-03T16:48:20Z</dcterms:modified>
</cp:coreProperties>
</file>