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보고서 평가 조건의 개요를 정리한 페이지.
- 평가 목적: ULK 측벽 손상층이 CD/전기특성에 미치는 영향을 정량화하고, 실란화 PEDR 적용이 분포 균일성·라인/비아 저항 모두를 회복시킬 수 있는지 확인
- Split 정의: Split-A는 Reference (실란화 미적용, W01·W02), Split-B는 실란화 적용 (W03·W04)
- 4개 CD 측정점의 target 명시: AASI 23.7, ASEI 16.4, AMI 8.4, ACI 8.5 nm
- 평가 항목은 CD metrology (4종), in-wafer 균일성 (49pt), 전기특성 (5종) 으로 진행
- 이후 슬라이드에서 wafer별 CD variation → 49pt wafer map → NIU 요약 → 전기 데이터 → 종합 비교 순으로 전개
모든 수치는 테스트용으로 생성된 더미이며, 실제 공정 데이터를 대표하지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평가 대상 단면 구조와 Split의 개념을 보여주는 reference 페이지.
- 좌측 큰 카드의 Figure A: Cu dual damascene M4 단면 SEM. via-first 구현 예시. 출처는 3D InCites의 WLP 관련 글.
- 우측 상단 Figure B: ULK 손상층 TEM. 에칭/애시 plasma 노출 시 측벽 ~2 nm 손상층이 어떻게 형성되는지를 보여주는 참조 이미지. 출처는 Sa et al.의 저유전율 신뢰성 연구.
- 우측 하단 Split concept: Split-A는 실란화 미적용(reference), Split-B는 저분자 실란을 wet/dry로 노출해 Si-CH3 말단을 도입하는 방식.
- 좌측 Figure A는 외부 자료이지만 본 평가 단면 구조를 대표하는 reference로 사용. 모든 이미지는 본 평가의 dummy wafer와 직접 매핑되지 않음을 명시.
의도: 청자에게 손상층이 무엇인지, 실란화가 어디에 작용하는지를 시각적으로 먼저 앵커링한 뒤 후속 슬라이드에서 정량 데이터로 들어간다.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 variation 본 슬라이드 — 4 inspection point 별 wafer-level 요약.
- AASI(target 23.7): SPLIT-A에서 23.45 / 23.55 정도, 3σ 1.5 nm 내외. SPLIT-B는 23.78 / 23.82, 3σ 1.05–1.10 nm.
- ASEI(target 16.4): A는 16.05–16.10, 3σ ~1.0 nm. B는 16.45–16.50, 3σ ~0.7 nm.
- AMI(target 8.4): A는 8.35–8.52, 3σ 0.78–0.85 nm. B는 8.38–8.45, 3σ 0.42–0.46 nm으로 감소폭 가장 큼.
- ACI(target 8.5): A는 8.48–8.62, 3σ 0.95–1.05 nm. B는 8.49–8.51, 3σ 0.50–0.55 nm.
종합하면 mean은 target에 가깝게 유지되며, 3σ가 SPLIT-B에서 일관되게 감소. AMI/ACI에서 효과가 가장 크다.
Δ 셀 색은 negative는 muted red(#9B3A1F), +0.05 nm 이상은 muted positive teal(#1F6B57), 그 사이는 무채색으로 표시.
모두 dummy 데이터이며 절대적 의미를 부여하지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AMI(After-Metal Inspection) layer 49pt per-die CD map을 4 wafer에 대해 시각화한 페이지.
- W01 (SPLIT-A): μ 8.52, 3σ 0.85, range 8.0–9.0. 가장자리(특히 우하단)에서 0.45 nm 이상 편차 셀 존재.
- W02 (SPLIT-A): μ 8.35, 3σ 0.78, range 7.9–8.7. 좌측 코너 일부 0.45 nm 편향 셀이 남아 있음.
- W03 (SPLIT-B): μ 8.38, 3σ 0.42, range 8.1–8.6. 전체 셀 ≤0.15 nm 편차. 가장 균일.
- W04 (SPLIT-B): μ 8.45, 3σ 0.46, range 8.2–8.7. 코너-센터 차이 거의 없음.
- 셀 배경색은 |die CD − target 8.4| 편차 bin (≤0.15 / 0.16–0.30 / 0.31–0.45 / &gt;0.45)으로 인코딩, 우상단에 범례 표기.
- SPLIT-A 코너 편향 잔존 패턴 → 실란화가 측벽 손상 복원뿐 아니라 macro-uniformity까지 회복시키는 신호.
모든 값은 dummy.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4개 CD layer별 within-wafer 균일성 수치를 정리.
- 4 sub-tables(AASI / ASEI / AMI / ACI) 2x2 grid.
- 각 테이블은 4 wafer 행에 대해 3σ(nm), range(min–max), NIU% 를 보여줌.
- 헤더 색: SPLIT-B의 wafer 행은 배경 살짝 다른 베이지 톤.
- AASI: NIU가 W01 6.91 → W03 4.62로 ~33% 감소.
- ASEI: W02 6.11 → W04 4.36 (~28% 감소).
- AMI: W01 9.98 → W03 5.01 (~50% 감소), 가장 큰 폭.
- ACI: W01 12.18 → W04 5.87 (~52% 감소).
- range도 일관되게 줄음 (AMI 0.9 → 0.5, ACI 1.2 → 0.6).
의도: 청자에게 정량화된 균일성 지표를 통해 실란화의 효과를 분리해 인지시키는 페이지.
모든 값은 dummy.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wafer별 5개 전기 항목 + Split 평균 + Δ% 를 한 페이지에 정리.
- 메인 테이블: 4 wafer × 5 metrics (M4 line Rs, M4 sheet ρs, M3-M4 via Rc, line-line leakage @1V, line-line cap).
- 하단에 Split 평균 2행 추가 (SPLIT-A avg와 SPLIT-B avg).
- 우측 Δ% 패널: 5개 항목의 SPLIT-B 대비 변화율. 모두 음의 값(B가 작음) — 색은 muted positive teal.
- 측정 조건: T = 25°C 4-wire Kelvin, leakage @ 1.0 V 32 nm pitch, cap @ 1 MHz 32 nm pitch.
- W01·W02 (SPLIT-A)와 W03·W04 (SPLIT-B) 비교:
· Line Rs: 3.20 → 3.125 μΩ·cm (−2.3%)
· Sheet ρs: 0.425 → 0.410 mΩ/sq (−3.5%)
· Via Rc: 4.88 → 4.60 Ω/via (−5.7%)
· Leakage: 13.25 → 9.50 pA/μm (−28.3%) — 가장 큰 폭
· Cap: 0.185 → 0.175 fF/μm (−5.4%)
의도: 전기적 성능도 CD와 동일하게 SPLIT-B가 일관되게 우위임을 보여준다.
모든 값은 dummy.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마지막 페이지 — SPLIT 간 종합 비교를 단일 테이블로 정리.
- 메인 테이블 (1320 × 660 영역), 13개 지표를 CD metrology / Electrical 두 섹션으로 그룹핑.
- CD metrology: AASI / ASEI / AMI / ACI 각 2행(mean + 3σ, AMI·ACI는 NIU% 병기). 총 8 데이터 행 + 1 섹션 행.
- Electrical: M4 line Rs, M4 sheet ρs, M3-M4 via Rc, line-line leakage, line-line cap 5행 + 1 섹션 행.
- 우측 상단 verdict 카드: 13 metrics 중 SPLIT-B 우위 11건, 단일 변수에서 큰 차이 없음 1건, mean offset 1건.
- 우측 하단 Direction 카드: 핵심 bullet 4개.
- Δ vs A: 작을수록 좋은 값(Rs/Rc/leakage/3σ)은 muted teal 음수, mean이 살짝 위(+1~3%)는 무채색, target 부근인 경우도 무채색.
- 모든 행에 vertical-align:middle 적용, padding 8/16/8/24 정도의 권장 간격.
의도: 청자에게 분리 13개 지표에 대한 종합 verdict를 한 페이지로 보여주고, 권고까지 닫는다.
모든 값은 dummy.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02c5b8f5b133785d205e9ded8fc6196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2514600"/>
            <a:ext cx="16763695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762695" y="2857500"/>
            <a:ext cx="8762695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762695" y="5905195"/>
            <a:ext cx="876269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7524598"/>
            <a:ext cx="7429500" cy="1143000"/>
          </a:xfrm>
          <a:prstGeom prst="rect">
            <a:avLst/>
          </a:prstGeom>
          <a:solidFill>
            <a:srgbClr val="F2EEE5"/>
          </a:solidFill>
          <a:ln w="12700">
            <a:solidFill>
              <a:srgbClr val="ECE7DD"/>
            </a:solidFill>
            <a:prstDash val="solid"/>
          </a:ln>
        </p:spPr>
      </p:sp>
      <p:pic>
        <p:nvPicPr>
          <p:cNvPr id="7" name="Image 1" descr="gen-dedup-02c5b8f5b133785d205e9ded8fc6196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9191549"/>
            <a:ext cx="16763695" cy="914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61695" y="457200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파일 11 / 20 · BEOL IMD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11811305" y="4572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Lot L25-M4D · M4 layer · 4 wafer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914400"/>
            <a:ext cx="16764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평가 개요 및 조건</a:t>
            </a:r>
            <a:endParaRPr lang="en-US" sz="405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790395"/>
            <a:ext cx="1676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Post-Etch Damage Repair(실란화) 적용 여부에 따른 M4 CD 변동 · in-wafer 균일성 · 전기특성 영향 동시 평가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2857500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실험 목적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3219602"/>
            <a:ext cx="742950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ULK 측벽에 형성되는 플라즈마 손상층이 M4 CD metrology·전기 저항에 미치는 영향을 정량화하고, 저분자 실란 기반 실란화 적용이 분포 균일성과 라인/비아 저항을 동시에 회복시킬 수 있는지 확인한다.</a:t>
            </a:r>
            <a:endParaRPr lang="en-US" sz="165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4479646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평가 항목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4755794"/>
            <a:ext cx="742950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CD metrology — AASI · ASEI · AMI · ACI 4 inspection point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In-wafer 균일성 — 49pt wafer map, NIU(%) 산출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전기 특성 — M4 line Rs · M4 sheet ρs · M3-M4 via Rc · leakage · capacitance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953805" y="3010205"/>
            <a:ext cx="8382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Split 정의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3805" y="3333902"/>
          <a:ext cx="8382305" cy="2190902"/>
        </p:xfrm>
        <a:graphic>
          <a:graphicData uri="http://schemas.openxmlformats.org/drawingml/2006/table">
            <a:tbl>
              <a:tblPr/>
              <a:tblGrid>
                <a:gridCol w="1524305"/>
                <a:gridCol w="4426610"/>
                <a:gridCol w="2431390"/>
              </a:tblGrid>
              <a:tr h="438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0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Split-A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0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Split-B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0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PEDR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미적용 (Reference)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실란화 적용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 ID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W01, W02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W03, W04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Metal layer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M4 · 1X nm node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3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Stack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ULK(k≈2.5) + PVD TaN/Ta liner + Cu seed + ECP Cu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8" name="Text 12"/>
          <p:cNvSpPr txBox="1"/>
          <p:nvPr/>
        </p:nvSpPr>
        <p:spPr>
          <a:xfrm>
            <a:off x="8953805" y="6057900"/>
            <a:ext cx="8382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CD · 4 inspection point</a:t>
            </a:r>
            <a:endParaRPr lang="en-US" sz="10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3805" y="6353251"/>
          <a:ext cx="8382305" cy="2134210"/>
        </p:xfrm>
        <a:graphic>
          <a:graphicData uri="http://schemas.openxmlformats.org/drawingml/2006/table">
            <a:tbl>
              <a:tblPr/>
              <a:tblGrid>
                <a:gridCol w="859536"/>
                <a:gridCol w="5158130"/>
                <a:gridCol w="2364638"/>
              </a:tblGrid>
              <a:tr h="4268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항목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의미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Target (nm)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0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8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AASI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After-Ash Sidewall Image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23.7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8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ASEI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After-Silicon Etch Image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16.4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8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AMI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After-Metal Inspection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8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ACI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After-Clean Inspection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7105" y="7696505"/>
          <a:ext cx="7429500" cy="1000354"/>
        </p:xfrm>
        <a:graphic>
          <a:graphicData uri="http://schemas.openxmlformats.org/drawingml/2006/table">
            <a:tbl>
              <a:tblPr/>
              <a:tblGrid>
                <a:gridCol w="1619402"/>
                <a:gridCol w="1143000"/>
                <a:gridCol w="1619402"/>
                <a:gridCol w="3047695"/>
              </a:tblGrid>
              <a:tr h="500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</a:t>
                      </a:r>
                      <a:endParaRPr lang="en-US" sz="97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 매</a:t>
                      </a:r>
                      <a:endParaRPr lang="en-US" sz="22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CD 측정점</a:t>
                      </a:r>
                      <a:endParaRPr lang="en-US" sz="97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286207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49 pt</a:t>
                      </a:r>
                      <a:endParaRPr lang="en-US" sz="22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SPLIT 수</a:t>
                      </a:r>
                      <a:endParaRPr lang="en-US" sz="97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0" marT="133502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en-US" sz="22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133502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전기 항목</a:t>
                      </a:r>
                      <a:endParaRPr lang="en-US" sz="97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286207" marR="0" marT="133502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 종</a:t>
                      </a:r>
                      <a:endParaRPr lang="en-US" sz="22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133502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3"/>
          <p:cNvSpPr txBox="1"/>
          <p:nvPr/>
        </p:nvSpPr>
        <p:spPr>
          <a:xfrm>
            <a:off x="761695" y="9696298"/>
            <a:ext cx="119256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SPLIT-A(W01·W02)와 SPLIT-B(W03·W04) 4 wafer 매트릭스에서 실란화 PEDR의 CD 균일성·전기특성 영향을 비교 평가한다.</a:t>
            </a:r>
            <a:endParaRPr lang="en-US" sz="1650" dirty="0"/>
          </a:p>
        </p:txBody>
      </p:sp>
      <p:sp>
        <p:nvSpPr>
          <p:cNvPr id="22" name="Text 14"/>
          <p:cNvSpPr txBox="1"/>
          <p:nvPr/>
        </p:nvSpPr>
        <p:spPr>
          <a:xfrm>
            <a:off x="761695" y="9439351"/>
            <a:ext cx="130393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23" name="Text 15"/>
          <p:cNvSpPr txBox="1"/>
          <p:nvPr/>
        </p:nvSpPr>
        <p:spPr>
          <a:xfrm>
            <a:off x="12191695" y="9658807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02c5b8f5b133785d205e9ded8fc6196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2514600"/>
            <a:ext cx="16763695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819095"/>
            <a:ext cx="933419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0382098" y="2819095"/>
            <a:ext cx="7144207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0382098" y="5867705"/>
            <a:ext cx="7144207" cy="2667305"/>
          </a:xfrm>
          <a:prstGeom prst="rect">
            <a:avLst/>
          </a:prstGeom>
          <a:solidFill>
            <a:srgbClr val="F2EEE5"/>
          </a:solidFill>
          <a:ln w="12700">
            <a:solidFill>
              <a:srgbClr val="ECE7DD"/>
            </a:solidFill>
            <a:prstDash val="solid"/>
          </a:ln>
        </p:spPr>
      </p:sp>
      <p:pic>
        <p:nvPicPr>
          <p:cNvPr id="7" name="Image 1" descr="gen-dedup-02c5b8f5b133785d205e9ded8fc6196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9191549"/>
            <a:ext cx="16763695" cy="9144"/>
          </a:xfrm>
          <a:prstGeom prst="rect">
            <a:avLst/>
          </a:prstGeom>
        </p:spPr>
      </p:pic>
      <p:pic>
        <p:nvPicPr>
          <p:cNvPr id="8" name="Image 2" descr="gen-dedup-34b6fabee1d993e192a1850b2c9351de.jpg">    </p:cNvPr>
          <p:cNvPicPr>
            <a:picLocks noChangeAspect="1"/>
          </p:cNvPicPr>
          <p:nvPr/>
        </p:nvPicPr>
        <p:blipFill>
          <a:blip r:embed="rId3"/>
          <a:srcRect l="-25250" r="-25250" t="0" b="0"/>
          <a:stretch/>
        </p:blipFill>
        <p:spPr>
          <a:xfrm>
            <a:off x="1143000" y="3010205"/>
            <a:ext cx="4572000" cy="4572000"/>
          </a:xfrm>
          <a:prstGeom prst="rect">
            <a:avLst/>
          </a:prstGeom>
        </p:spPr>
      </p:pic>
      <p:pic>
        <p:nvPicPr>
          <p:cNvPr id="9" name="Image 3" descr="gen-dedup-a9a8496e0accd30c42819aa2c8b06e00.jpg">    </p:cNvPr>
          <p:cNvPicPr>
            <a:picLocks noChangeAspect="1"/>
          </p:cNvPicPr>
          <p:nvPr/>
        </p:nvPicPr>
        <p:blipFill>
          <a:blip r:embed="rId4"/>
          <a:srcRect l="-8340" r="-8340" t="0" b="0"/>
          <a:stretch/>
        </p:blipFill>
        <p:spPr>
          <a:xfrm>
            <a:off x="10573207" y="3010205"/>
            <a:ext cx="3619195" cy="247619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761695" y="457200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파일 11 / 20 · 단면 reference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11811305" y="4572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 layer · Cu dual damascene</a:t>
            </a:r>
            <a:endParaRPr lang="en-US" sz="1200" dirty="0"/>
          </a:p>
        </p:txBody>
      </p:sp>
      <p:sp>
        <p:nvSpPr>
          <p:cNvPr id="12" name="Text 5"/>
          <p:cNvSpPr txBox="1"/>
          <p:nvPr/>
        </p:nvSpPr>
        <p:spPr>
          <a:xfrm>
            <a:off x="761695" y="914400"/>
            <a:ext cx="16764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M4 단면 — Reference 구조와 실란화 영역</a:t>
            </a:r>
            <a:endParaRPr lang="en-US" sz="4050" dirty="0"/>
          </a:p>
        </p:txBody>
      </p:sp>
      <p:sp>
        <p:nvSpPr>
          <p:cNvPr id="13" name="Text 6"/>
          <p:cNvSpPr txBox="1"/>
          <p:nvPr/>
        </p:nvSpPr>
        <p:spPr>
          <a:xfrm>
            <a:off x="761695" y="1790395"/>
            <a:ext cx="1676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전형적 Cu damascene + ULK 저유전율 dielectric 구조, 손상층 영역과 실란화 repair 영역 위치</a:t>
            </a:r>
            <a:endParaRPr lang="en-US" sz="1800" dirty="0"/>
          </a:p>
        </p:txBody>
      </p:sp>
      <p:sp>
        <p:nvSpPr>
          <p:cNvPr id="14" name="Text 7"/>
          <p:cNvSpPr txBox="1"/>
          <p:nvPr/>
        </p:nvSpPr>
        <p:spPr>
          <a:xfrm>
            <a:off x="5905195" y="3010205"/>
            <a:ext cx="4000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A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5905195" y="3221431"/>
            <a:ext cx="400050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 dual damascene M4 단면 SEM</a:t>
            </a:r>
            <a:pPr algn="l" indent="0" marL="0">
              <a:lnSpc>
                <a:spcPts val="2392"/>
              </a:lnSpc>
              <a:buNone/>
            </a:pPr>
            <a:endParaRPr lang="en-US" sz="1650" dirty="0"/>
          </a:p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(via-first 구현 예시)</a:t>
            </a:r>
            <a:endParaRPr lang="en-US" sz="1650" dirty="0"/>
          </a:p>
        </p:txBody>
      </p:sp>
      <p:sp>
        <p:nvSpPr>
          <p:cNvPr id="16" name="Text 9"/>
          <p:cNvSpPr txBox="1"/>
          <p:nvPr/>
        </p:nvSpPr>
        <p:spPr>
          <a:xfrm>
            <a:off x="5905195" y="3950208"/>
            <a:ext cx="400050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ULK dielectric (k ≈ 2.5) 기공도 분포</a:t>
            </a:r>
            <a:pPr algn="l" indent="0" marL="0">
              <a:lnSpc>
                <a:spcPts val="2228"/>
              </a:lnSpc>
              <a:buNone/>
            </a:pPr>
            <a:endParaRPr lang="en-US" sz="1350" dirty="0"/>
          </a:p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측벽 TaN/Ta liner + Cu seed</a:t>
            </a:r>
            <a:pPr algn="l" indent="0" marL="0">
              <a:lnSpc>
                <a:spcPts val="2228"/>
              </a:lnSpc>
              <a:buNone/>
            </a:pPr>
            <a:endParaRPr lang="en-US" sz="1350" dirty="0"/>
          </a:p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ECP Cu 충전 후 CMP 평탄화</a:t>
            </a:r>
            <a:endParaRPr lang="en-US" sz="1350" dirty="0"/>
          </a:p>
        </p:txBody>
      </p:sp>
      <p:sp>
        <p:nvSpPr>
          <p:cNvPr id="17" name="Text 10"/>
          <p:cNvSpPr txBox="1"/>
          <p:nvPr/>
        </p:nvSpPr>
        <p:spPr>
          <a:xfrm>
            <a:off x="5905195" y="4985309"/>
            <a:ext cx="400050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 — IMAPS 3D InCites,</a:t>
            </a:r>
            <a:pPr algn="l" indent="0" marL="0">
              <a:lnSpc>
                <a:spcPts val="1627"/>
              </a:lnSpc>
              <a:buNone/>
            </a:pPr>
            <a:endParaRPr lang="en-US" sz="1050" dirty="0"/>
          </a:p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3dincites.com/2025/08/copper-dual-damascene</a:t>
            </a:r>
            <a:pPr algn="l" indent="0" marL="0">
              <a:lnSpc>
                <a:spcPts val="1627"/>
              </a:lnSpc>
              <a:buNone/>
            </a:pPr>
            <a:endParaRPr lang="en-US" sz="1050" dirty="0"/>
          </a:p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(참조용 외부 자료)</a:t>
            </a:r>
            <a:endParaRPr lang="en-US" sz="1050" dirty="0"/>
          </a:p>
        </p:txBody>
      </p:sp>
      <p:sp>
        <p:nvSpPr>
          <p:cNvPr id="18" name="Text 11"/>
          <p:cNvSpPr txBox="1"/>
          <p:nvPr/>
        </p:nvSpPr>
        <p:spPr>
          <a:xfrm>
            <a:off x="14382598" y="3010205"/>
            <a:ext cx="2953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Figure B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14382598" y="3247949"/>
            <a:ext cx="2953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ULK 손상층 TEM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4382598" y="3619195"/>
            <a:ext cx="2953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에칭/애시 plasma 노출로 측벽 ~2 nm 두께 손상층 형성</a:t>
            </a:r>
            <a:endParaRPr lang="en-US" sz="1275" dirty="0"/>
          </a:p>
        </p:txBody>
      </p:sp>
      <p:sp>
        <p:nvSpPr>
          <p:cNvPr id="21" name="Text 14"/>
          <p:cNvSpPr txBox="1"/>
          <p:nvPr/>
        </p:nvSpPr>
        <p:spPr>
          <a:xfrm>
            <a:off x="14382598" y="4232758"/>
            <a:ext cx="2953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 — Semantic Scholar,</a:t>
            </a:r>
            <a:pPr algn="l" indent="0" marL="0">
              <a:lnSpc>
                <a:spcPts val="1511"/>
              </a:lnSpc>
              <a:buNone/>
            </a:pPr>
            <a:endParaRPr lang="en-US" sz="975" dirty="0"/>
          </a:p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 et al., 저유전율 신뢰성 연구</a:t>
            </a:r>
            <a:pPr algn="l" indent="0" marL="0">
              <a:lnSpc>
                <a:spcPts val="1511"/>
              </a:lnSpc>
              <a:buNone/>
            </a:pPr>
            <a:endParaRPr lang="en-US" sz="975" dirty="0"/>
          </a:p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(참조용 외부 자료)</a:t>
            </a:r>
            <a:endParaRPr lang="en-US" sz="975" dirty="0"/>
          </a:p>
        </p:txBody>
      </p:sp>
      <p:sp>
        <p:nvSpPr>
          <p:cNvPr id="22" name="Text 15"/>
          <p:cNvSpPr txBox="1"/>
          <p:nvPr/>
        </p:nvSpPr>
        <p:spPr>
          <a:xfrm>
            <a:off x="10573207" y="6057900"/>
            <a:ext cx="6762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Split concept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10573207" y="6372454"/>
            <a:ext cx="32104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SPLIT-A · Reference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0573207" y="6591910"/>
            <a:ext cx="321045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실란화 미적용</a:t>
            </a:r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측벽 손상층 잔존</a:t>
            </a:r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후속 BMR/clean 진행</a:t>
            </a:r>
            <a:endParaRPr lang="en-US" sz="1275" dirty="0"/>
          </a:p>
        </p:txBody>
      </p:sp>
      <p:pic>
        <p:nvPicPr>
          <p:cNvPr id="25" name="Image 4" descr="gen-dedup-2a8ae2d6e52abf9f768bc087b700a601.png">    </p:cNvPr>
          <p:cNvPicPr>
            <a:picLocks noChangeAspect="1"/>
          </p:cNvPicPr>
          <p:nvPr/>
        </p:nvPicPr>
        <p:blipFill>
          <a:blip r:embed="rId5"/>
          <a:srcRect l="0" r="0" t="-2067" b="-2067"/>
          <a:stretch/>
        </p:blipFill>
        <p:spPr>
          <a:xfrm>
            <a:off x="13949172" y="6372454"/>
            <a:ext cx="9144" cy="10287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4130223" y="6372454"/>
            <a:ext cx="32104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3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SPLIT-B · Silylation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4130223" y="6591910"/>
            <a:ext cx="321045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저분자 실란 wet/dry 노출</a:t>
            </a:r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Si–CH</a:t>
            </a:r>
            <a:pPr algn="l" indent="0" marL="0">
              <a:lnSpc>
                <a:spcPts val="1976"/>
              </a:lnSpc>
              <a:buNone/>
            </a:pPr>
            <a:r>
              <a:rPr lang="en-US" sz="1063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말단 도입</a:t>
            </a:r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표면 가수분해 억제</a:t>
            </a:r>
            <a:endParaRPr lang="en-US" sz="1275" dirty="0"/>
          </a:p>
        </p:txBody>
      </p:sp>
      <p:sp>
        <p:nvSpPr>
          <p:cNvPr id="28" name="Text 20"/>
          <p:cNvSpPr txBox="1"/>
          <p:nvPr/>
        </p:nvSpPr>
        <p:spPr>
          <a:xfrm>
            <a:off x="761695" y="9696298"/>
            <a:ext cx="1216060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실란화는 손상된 ULK 측벽의 Si–H/Si–OH 결함을 Si–CH</a:t>
            </a:r>
            <a:pPr algn="l" indent="0" marL="0">
              <a:buNone/>
            </a:pPr>
            <a:r>
              <a:rPr lang="en-US" sz="1375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 부분 치환해 후속 적층·에칭 라인 프로파일을 안정화한다.</a:t>
            </a:r>
            <a:endParaRPr lang="en-US" sz="1650" dirty="0"/>
          </a:p>
        </p:txBody>
      </p:sp>
      <p:sp>
        <p:nvSpPr>
          <p:cNvPr id="29" name="Text 21"/>
          <p:cNvSpPr txBox="1"/>
          <p:nvPr/>
        </p:nvSpPr>
        <p:spPr>
          <a:xfrm>
            <a:off x="761695" y="9439351"/>
            <a:ext cx="130393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30" name="Text 22"/>
          <p:cNvSpPr txBox="1"/>
          <p:nvPr/>
        </p:nvSpPr>
        <p:spPr>
          <a:xfrm>
            <a:off x="12191695" y="9658807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02c5b8f5b133785d205e9ded8fc6196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2514600"/>
            <a:ext cx="16763695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857500"/>
            <a:ext cx="8096098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430207" y="2857500"/>
            <a:ext cx="8096098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5905195"/>
            <a:ext cx="8096098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430207" y="5905195"/>
            <a:ext cx="8096098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pic>
        <p:nvPicPr>
          <p:cNvPr id="8" name="Image 1" descr="gen-dedup-02c5b8f5b133785d205e9ded8fc6196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9191549"/>
            <a:ext cx="16763695" cy="91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1695" y="457200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파일 11 / 20 · CD variation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11811305" y="4572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unit: nm · split × wafer · 49 sites avg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914400"/>
            <a:ext cx="16764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Wafer 별 CD Variation</a:t>
            </a:r>
            <a:endParaRPr lang="en-US" sz="40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1790395"/>
            <a:ext cx="1676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 inspection point · wafer 별 mean · 3σ · range(min–max) · Δ vs target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2857500"/>
          <a:ext cx="8097012" cy="2857500"/>
        </p:xfrm>
        <a:graphic>
          <a:graphicData uri="http://schemas.openxmlformats.org/drawingml/2006/table">
            <a:tbl>
              <a:tblPr/>
              <a:tblGrid>
                <a:gridCol w="1619402"/>
                <a:gridCol w="1619402"/>
                <a:gridCol w="1619402"/>
                <a:gridCol w="1619402"/>
                <a:gridCol w="1619402"/>
              </a:tblGrid>
              <a:tr h="476250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43A5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AASI </a:t>
                      </a:r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After-Ash Sidewall · target</a:t>
                      </a:r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23.7 nm</a:t>
                      </a:r>
                      <a:endParaRPr lang="en-US" sz="1200" dirty="0"/>
                    </a:p>
                  </a:txBody>
                  <a:tcPr marL="190195" marR="190195" marT="133502" marB="114300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MEAN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3Σ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RANGE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Δ VS TGT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23.45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22.7–24.1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9B3A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−0.25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23.55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1.55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22.8–24.2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9B3A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−0.15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23.78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23.2–24.3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23.82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23.3–24.3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30207" y="2857500"/>
          <a:ext cx="8097012" cy="2857500"/>
        </p:xfrm>
        <a:graphic>
          <a:graphicData uri="http://schemas.openxmlformats.org/drawingml/2006/table">
            <a:tbl>
              <a:tblPr/>
              <a:tblGrid>
                <a:gridCol w="1619402"/>
                <a:gridCol w="1619402"/>
                <a:gridCol w="1619402"/>
                <a:gridCol w="1619402"/>
                <a:gridCol w="1619402"/>
              </a:tblGrid>
              <a:tr h="476250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43A5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ASEI </a:t>
                      </a:r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After-Silicon Etch · target</a:t>
                      </a:r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16.4 nm</a:t>
                      </a:r>
                      <a:endParaRPr lang="en-US" sz="1200" dirty="0"/>
                    </a:p>
                  </a:txBody>
                  <a:tcPr marL="190195" marR="190195" marT="133502" marB="114300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MEAN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3Σ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RANGE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Δ VS TGT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16.10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15.6–16.5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9B3A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−0.30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15.5–16.6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9B3A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−0.35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16.45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16.1–16.8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16.50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16.2–16.9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5905195"/>
          <a:ext cx="8097012" cy="2857500"/>
        </p:xfrm>
        <a:graphic>
          <a:graphicData uri="http://schemas.openxmlformats.org/drawingml/2006/table">
            <a:tbl>
              <a:tblPr/>
              <a:tblGrid>
                <a:gridCol w="1619402"/>
                <a:gridCol w="1619402"/>
                <a:gridCol w="1619402"/>
                <a:gridCol w="1619402"/>
                <a:gridCol w="1619402"/>
              </a:tblGrid>
              <a:tr h="476250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43A5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AMI </a:t>
                      </a:r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After-Metal Inspection · target</a:t>
                      </a:r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 nm</a:t>
                      </a:r>
                      <a:endParaRPr lang="en-US" sz="1200" dirty="0"/>
                    </a:p>
                  </a:txBody>
                  <a:tcPr marL="190195" marR="190195" marT="133502" marB="114300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MEAN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3Σ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RANGE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Δ VS TGT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8.0–8.9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7.9–8.7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9B3A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8.1–8.6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8.2–8.7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30207" y="5905195"/>
          <a:ext cx="8097012" cy="2857500"/>
        </p:xfrm>
        <a:graphic>
          <a:graphicData uri="http://schemas.openxmlformats.org/drawingml/2006/table">
            <a:tbl>
              <a:tblPr/>
              <a:tblGrid>
                <a:gridCol w="1619402"/>
                <a:gridCol w="1619402"/>
                <a:gridCol w="1619402"/>
                <a:gridCol w="1619402"/>
                <a:gridCol w="1619402"/>
              </a:tblGrid>
              <a:tr h="476250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43A5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ACI </a:t>
                      </a:r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After-Clean Inspection · target</a:t>
                      </a:r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 nm</a:t>
                      </a:r>
                      <a:endParaRPr lang="en-US" sz="1200" dirty="0"/>
                    </a:p>
                  </a:txBody>
                  <a:tcPr marL="190195" marR="190195" marT="133502" marB="114300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MEAN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3Σ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RANGE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Δ VS TGT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8.0–9.2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7.9–9.0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8.2–8.8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8.2–8.8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  <p:sp>
        <p:nvSpPr>
          <p:cNvPr id="17" name="Text 8"/>
          <p:cNvSpPr txBox="1"/>
          <p:nvPr/>
        </p:nvSpPr>
        <p:spPr>
          <a:xfrm>
            <a:off x="761695" y="9696298"/>
            <a:ext cx="11239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SPLIT-B는 3σ가 평균 ~0.5 nm 수준으로 줄고, mean은 target 대비 ±0.12 nm 범위에서 유지된다.</a:t>
            </a:r>
            <a:endParaRPr lang="en-US" sz="1650" dirty="0"/>
          </a:p>
        </p:txBody>
      </p:sp>
      <p:sp>
        <p:nvSpPr>
          <p:cNvPr id="18" name="Text 9"/>
          <p:cNvSpPr txBox="1"/>
          <p:nvPr/>
        </p:nvSpPr>
        <p:spPr>
          <a:xfrm>
            <a:off x="761695" y="9439351"/>
            <a:ext cx="130393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9" name="Text 10"/>
          <p:cNvSpPr txBox="1"/>
          <p:nvPr/>
        </p:nvSpPr>
        <p:spPr>
          <a:xfrm>
            <a:off x="12191695" y="9658807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02c5b8f5b133785d205e9ded8fc6196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2514600"/>
            <a:ext cx="16763695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143707"/>
            <a:ext cx="3905402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000854" y="3143707"/>
            <a:ext cx="3905402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239098" y="3143707"/>
            <a:ext cx="3905402" cy="4953305"/>
          </a:xfrm>
          <a:prstGeom prst="rect">
            <a:avLst/>
          </a:prstGeom>
          <a:solidFill>
            <a:srgbClr val="FAF6EE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3478256" y="3143707"/>
            <a:ext cx="3905402" cy="4953305"/>
          </a:xfrm>
          <a:prstGeom prst="rect">
            <a:avLst/>
          </a:prstGeom>
          <a:solidFill>
            <a:srgbClr val="FAF6EE"/>
          </a:solidFill>
          <a:ln w="12700">
            <a:solidFill>
              <a:srgbClr val="DAD6CF"/>
            </a:solidFill>
            <a:prstDash val="solid"/>
          </a:ln>
        </p:spPr>
      </p:sp>
      <p:pic>
        <p:nvPicPr>
          <p:cNvPr id="8" name="Image 1" descr="gen-dedup-02c5b8f5b133785d205e9ded8fc6196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9191549"/>
            <a:ext cx="16763695" cy="91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1695" y="457200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파일 11 / 20 · 49pt wafer map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11811305" y="4572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 target 8.4 nm · per-die CD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914400"/>
            <a:ext cx="16764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49-point In-Wafer CD Map — AMI</a:t>
            </a:r>
            <a:endParaRPr lang="en-US" sz="40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1790395"/>
            <a:ext cx="1676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SPLIT-A (W01, W02) vs SPLIT-B (W03, W04) · 셀 색 = |die CD − 8.4| 편차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2667305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편차 범례 (|Δ vs target|)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001000" y="2667305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≤0.15 </a:t>
            </a:r>
            <a:pPr algn="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0.16–0.30 </a:t>
            </a:r>
            <a:pPr algn="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0.31–0.45 </a:t>
            </a:r>
            <a:pPr algn="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&gt;0.45 nm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3143707"/>
            <a:ext cx="3905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7A7A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SPLIT-A · reference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3467405"/>
            <a:ext cx="381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1406347" y="3562502"/>
            <a:ext cx="2382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μ 8.52 · 3σ 0.85 · range 8.0–9.0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3847795"/>
          <a:ext cx="3296412" cy="3296412"/>
        </p:xfrm>
        <a:graphic>
          <a:graphicData uri="http://schemas.openxmlformats.org/drawingml/2006/table">
            <a:tbl>
              <a:tblPr/>
              <a:tblGrid>
                <a:gridCol w="437998"/>
                <a:gridCol w="437998"/>
                <a:gridCol w="437998"/>
                <a:gridCol w="437998"/>
                <a:gridCol w="437998"/>
                <a:gridCol w="437998"/>
                <a:gridCol w="437998"/>
              </a:tblGrid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8.8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8.1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8.0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8.8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8.8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6E2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C8A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6E2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8.8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6E2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6E2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9.0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C8A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952805" y="7601407"/>
            <a:ext cx="3525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n=49 · dev band 최다 </a:t>
            </a:r>
            <a:pPr algn="l" indent="0" marL="0">
              <a:buNone/>
            </a:pPr>
            <a:r>
              <a:rPr lang="en-US" sz="975" dirty="0">
                <a:solidFill>
                  <a:srgbClr val="1F6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≤0.30 nm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000854" y="3143707"/>
            <a:ext cx="3905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7A7A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SPLIT-A · reference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5191049" y="3467405"/>
            <a:ext cx="381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</a:t>
            </a:r>
            <a:endParaRPr lang="en-US" sz="1650" dirty="0"/>
          </a:p>
        </p:txBody>
      </p:sp>
      <p:sp>
        <p:nvSpPr>
          <p:cNvPr id="22" name="Text 16"/>
          <p:cNvSpPr txBox="1"/>
          <p:nvPr/>
        </p:nvSpPr>
        <p:spPr>
          <a:xfrm>
            <a:off x="5644591" y="3562502"/>
            <a:ext cx="2382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μ 8.35 · 3σ 0.78 · range 7.9–8.7</a:t>
            </a:r>
            <a:endParaRPr lang="en-US" sz="975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91049" y="3847795"/>
          <a:ext cx="3296412" cy="3296412"/>
        </p:xfrm>
        <a:graphic>
          <a:graphicData uri="http://schemas.openxmlformats.org/drawingml/2006/table">
            <a:tbl>
              <a:tblPr/>
              <a:tblGrid>
                <a:gridCol w="437998"/>
                <a:gridCol w="437998"/>
                <a:gridCol w="437998"/>
                <a:gridCol w="437998"/>
                <a:gridCol w="437998"/>
                <a:gridCol w="437998"/>
                <a:gridCol w="437998"/>
              </a:tblGrid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8.1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8.1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8.1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8.1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7A4F1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9A8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</a:tbl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5191049" y="7601407"/>
            <a:ext cx="3525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n=49 · 좌측 코너 일부 </a:t>
            </a:r>
            <a:pPr algn="l" indent="0" marL="0">
              <a:buNone/>
            </a:pPr>
            <a:r>
              <a:rPr lang="en-US" sz="975" dirty="0">
                <a:solidFill>
                  <a:srgbClr val="7A4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&gt;0.45 nm 편향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9239098" y="3143707"/>
            <a:ext cx="3905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SPLIT-B · silylation</a:t>
            </a:r>
            <a:endParaRPr lang="en-US" sz="975" dirty="0"/>
          </a:p>
        </p:txBody>
      </p:sp>
      <p:sp>
        <p:nvSpPr>
          <p:cNvPr id="26" name="Text 19"/>
          <p:cNvSpPr txBox="1"/>
          <p:nvPr/>
        </p:nvSpPr>
        <p:spPr>
          <a:xfrm>
            <a:off x="9430207" y="3467405"/>
            <a:ext cx="381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3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</a:t>
            </a:r>
            <a:endParaRPr lang="en-US" sz="1650" dirty="0"/>
          </a:p>
        </p:txBody>
      </p:sp>
      <p:sp>
        <p:nvSpPr>
          <p:cNvPr id="27" name="Text 20"/>
          <p:cNvSpPr txBox="1"/>
          <p:nvPr/>
        </p:nvSpPr>
        <p:spPr>
          <a:xfrm>
            <a:off x="9882835" y="3562502"/>
            <a:ext cx="2382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μ 8.38 · 3σ 0.42 · range 8.1–8.6</a:t>
            </a:r>
            <a:endParaRPr lang="en-US" sz="975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30207" y="3847795"/>
          <a:ext cx="3296412" cy="3296412"/>
        </p:xfrm>
        <a:graphic>
          <a:graphicData uri="http://schemas.openxmlformats.org/drawingml/2006/table">
            <a:tbl>
              <a:tblPr/>
              <a:tblGrid>
                <a:gridCol w="437998"/>
                <a:gridCol w="437998"/>
                <a:gridCol w="437998"/>
                <a:gridCol w="437998"/>
                <a:gridCol w="437998"/>
                <a:gridCol w="437998"/>
                <a:gridCol w="437998"/>
              </a:tblGrid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</a:tbl>
          </a:graphicData>
        </a:graphic>
      </p:graphicFrame>
      <p:sp>
        <p:nvSpPr>
          <p:cNvPr id="29" name="Text 21"/>
          <p:cNvSpPr txBox="1"/>
          <p:nvPr/>
        </p:nvSpPr>
        <p:spPr>
          <a:xfrm>
            <a:off x="9430207" y="7601407"/>
            <a:ext cx="3525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43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n=49 · 전 셀 ≤0.15 nm 편차 분포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13478256" y="3143707"/>
            <a:ext cx="3905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SPLIT-B · silylation</a:t>
            </a:r>
            <a:endParaRPr lang="en-US" sz="975" dirty="0"/>
          </a:p>
        </p:txBody>
      </p:sp>
      <p:sp>
        <p:nvSpPr>
          <p:cNvPr id="31" name="Text 23"/>
          <p:cNvSpPr txBox="1"/>
          <p:nvPr/>
        </p:nvSpPr>
        <p:spPr>
          <a:xfrm>
            <a:off x="13668451" y="3467405"/>
            <a:ext cx="381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3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</a:t>
            </a:r>
            <a:endParaRPr lang="en-US" sz="1650" dirty="0"/>
          </a:p>
        </p:txBody>
      </p:sp>
      <p:sp>
        <p:nvSpPr>
          <p:cNvPr id="32" name="Text 24"/>
          <p:cNvSpPr txBox="1"/>
          <p:nvPr/>
        </p:nvSpPr>
        <p:spPr>
          <a:xfrm>
            <a:off x="14121994" y="3562502"/>
            <a:ext cx="2382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μ 8.45 · 3σ 0.46 · range 8.2–8.7</a:t>
            </a:r>
            <a:endParaRPr lang="en-US" sz="975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668451" y="3847795"/>
          <a:ext cx="3296412" cy="3296412"/>
        </p:xfrm>
        <a:graphic>
          <a:graphicData uri="http://schemas.openxmlformats.org/drawingml/2006/table">
            <a:tbl>
              <a:tblPr/>
              <a:tblGrid>
                <a:gridCol w="437998"/>
                <a:gridCol w="437998"/>
                <a:gridCol w="437998"/>
                <a:gridCol w="437998"/>
                <a:gridCol w="437998"/>
                <a:gridCol w="437998"/>
                <a:gridCol w="437998"/>
              </a:tblGrid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3C2"/>
                    </a:solidFill>
                  </a:tcPr>
                </a:tc>
              </a:tr>
            </a:tbl>
          </a:graphicData>
        </a:graphic>
      </p:graphicFrame>
      <p:sp>
        <p:nvSpPr>
          <p:cNvPr id="34" name="Text 25"/>
          <p:cNvSpPr txBox="1"/>
          <p:nvPr/>
        </p:nvSpPr>
        <p:spPr>
          <a:xfrm>
            <a:off x="13668451" y="7601407"/>
            <a:ext cx="3525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43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n=49 · hot-spot 없음, 코너-센터 분포 균일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761695" y="8382305"/>
            <a:ext cx="16764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SPLIT-A 대비 SPLIT-B의 per-die 편차 분포가 좁고, SPLIT-A wafer에는 코너 편향이 일부 잔존한다.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761695" y="9696298"/>
            <a:ext cx="119256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실란화 wafer(W03·W04)는 hot-spot 없이 셀 편차 ≤0.15 nm 분포, SPLIT-A 대비 분포 균일성 개선이 시각적으로 확인된다.</a:t>
            </a:r>
            <a:endParaRPr lang="en-US" sz="1650" dirty="0"/>
          </a:p>
        </p:txBody>
      </p:sp>
      <p:sp>
        <p:nvSpPr>
          <p:cNvPr id="37" name="Text 28"/>
          <p:cNvSpPr txBox="1"/>
          <p:nvPr/>
        </p:nvSpPr>
        <p:spPr>
          <a:xfrm>
            <a:off x="761695" y="9439351"/>
            <a:ext cx="130393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38" name="Text 29"/>
          <p:cNvSpPr txBox="1"/>
          <p:nvPr/>
        </p:nvSpPr>
        <p:spPr>
          <a:xfrm>
            <a:off x="12191695" y="9658807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02c5b8f5b133785d205e9ded8fc6196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2514600"/>
            <a:ext cx="16763695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857500"/>
            <a:ext cx="8096098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430207" y="2857500"/>
            <a:ext cx="8096098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5715000"/>
            <a:ext cx="8096098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430207" y="5715000"/>
            <a:ext cx="8096098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pic>
        <p:nvPicPr>
          <p:cNvPr id="8" name="Image 1" descr="gen-dedup-02c5b8f5b133785d205e9ded8fc6196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9191549"/>
            <a:ext cx="16763695" cy="91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1695" y="457200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파일 11 / 20 · uniformity summary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11811305" y="4572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within-wafer · 3σ · range · NIU(%)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914400"/>
            <a:ext cx="16764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In-Wafer Uniformity Summary</a:t>
            </a:r>
            <a:endParaRPr lang="en-US" sz="40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1790395"/>
            <a:ext cx="1676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 CD layer × 4 wafer · within-wafer 3σ · range(min–max) · NIU(%) = 3σ / mean × 100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2857500"/>
          <a:ext cx="8097012" cy="2667305"/>
        </p:xfrm>
        <a:graphic>
          <a:graphicData uri="http://schemas.openxmlformats.org/drawingml/2006/table">
            <a:tbl>
              <a:tblPr/>
              <a:tblGrid>
                <a:gridCol w="2024253"/>
                <a:gridCol w="2024253"/>
                <a:gridCol w="2024253"/>
                <a:gridCol w="2024253"/>
              </a:tblGrid>
              <a:tr h="444551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43A5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AASI </a:t>
                      </a:r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target</a:t>
                      </a:r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23.7 nm</a:t>
                      </a:r>
                      <a:endParaRPr lang="en-US" sz="1200" dirty="0"/>
                    </a:p>
                  </a:txBody>
                  <a:tcPr marL="190195" marR="190195" marT="133502" marB="114300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445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3Σ (NM)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RANGE (NM)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NIU %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6.91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1.55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6.58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4.41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30207" y="2857500"/>
          <a:ext cx="8097012" cy="2667305"/>
        </p:xfrm>
        <a:graphic>
          <a:graphicData uri="http://schemas.openxmlformats.org/drawingml/2006/table">
            <a:tbl>
              <a:tblPr/>
              <a:tblGrid>
                <a:gridCol w="2024253"/>
                <a:gridCol w="2024253"/>
                <a:gridCol w="2024253"/>
                <a:gridCol w="2024253"/>
              </a:tblGrid>
              <a:tr h="444551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43A5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ASEI </a:t>
                      </a:r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target</a:t>
                      </a:r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16.4 nm</a:t>
                      </a:r>
                      <a:endParaRPr lang="en-US" sz="1200" dirty="0"/>
                    </a:p>
                  </a:txBody>
                  <a:tcPr marL="190195" marR="190195" marT="133502" marB="114300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445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3Σ (NM)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RANGE (NM)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NIU %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5.71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6.11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4.13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4.36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5715000"/>
          <a:ext cx="8097012" cy="2667305"/>
        </p:xfrm>
        <a:graphic>
          <a:graphicData uri="http://schemas.openxmlformats.org/drawingml/2006/table">
            <a:tbl>
              <a:tblPr/>
              <a:tblGrid>
                <a:gridCol w="2024253"/>
                <a:gridCol w="2024253"/>
                <a:gridCol w="2024253"/>
                <a:gridCol w="2024253"/>
              </a:tblGrid>
              <a:tr h="444551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43A5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AMI </a:t>
                      </a:r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target</a:t>
                      </a:r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 nm</a:t>
                      </a:r>
                      <a:endParaRPr lang="en-US" sz="1200" dirty="0"/>
                    </a:p>
                  </a:txBody>
                  <a:tcPr marL="190195" marR="190195" marT="133502" marB="114300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445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3Σ (NM)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RANGE (NM)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NIU %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9.98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9.34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5.44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30207" y="5715000"/>
          <a:ext cx="8097012" cy="2667305"/>
        </p:xfrm>
        <a:graphic>
          <a:graphicData uri="http://schemas.openxmlformats.org/drawingml/2006/table">
            <a:tbl>
              <a:tblPr/>
              <a:tblGrid>
                <a:gridCol w="2024253"/>
                <a:gridCol w="2024253"/>
                <a:gridCol w="2024253"/>
                <a:gridCol w="2024253"/>
              </a:tblGrid>
              <a:tr h="444551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43A5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ACI </a:t>
                      </a:r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target</a:t>
                      </a:r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 nm</a:t>
                      </a:r>
                      <a:endParaRPr lang="en-US" sz="1200" dirty="0"/>
                    </a:p>
                  </a:txBody>
                  <a:tcPr marL="190195" marR="190195" marT="133502" marB="114300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445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3Σ (NM)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RANGE (NM)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NIU %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52705" marT="95098" marB="95098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12.18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11.20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6.48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4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5.87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90195" marT="85954" marB="85954" anchor="ctr">
                    <a:lnL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A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  <p:sp>
        <p:nvSpPr>
          <p:cNvPr id="17" name="Text 8"/>
          <p:cNvSpPr txBox="1"/>
          <p:nvPr/>
        </p:nvSpPr>
        <p:spPr>
          <a:xfrm>
            <a:off x="761695" y="9696298"/>
            <a:ext cx="11239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SPLIT-B는 AMI/ACI에서 NIU% 9~12 → 5~6으로, AASI/ASEI에서도 NIU가 30~35% 감소한다.</a:t>
            </a:r>
            <a:endParaRPr lang="en-US" sz="1650" dirty="0"/>
          </a:p>
        </p:txBody>
      </p:sp>
      <p:sp>
        <p:nvSpPr>
          <p:cNvPr id="18" name="Text 9"/>
          <p:cNvSpPr txBox="1"/>
          <p:nvPr/>
        </p:nvSpPr>
        <p:spPr>
          <a:xfrm>
            <a:off x="761695" y="9439351"/>
            <a:ext cx="130393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9" name="Text 10"/>
          <p:cNvSpPr txBox="1"/>
          <p:nvPr/>
        </p:nvSpPr>
        <p:spPr>
          <a:xfrm>
            <a:off x="12191695" y="9658807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02c5b8f5b133785d205e9ded8fc6196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2514600"/>
            <a:ext cx="16763695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819095"/>
            <a:ext cx="12382805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3430707" y="2819095"/>
            <a:ext cx="4095598" cy="5524805"/>
          </a:xfrm>
          <a:prstGeom prst="rect">
            <a:avLst/>
          </a:prstGeom>
          <a:solidFill>
            <a:srgbClr val="FAF6EE"/>
          </a:solidFill>
          <a:ln w="12700">
            <a:solidFill>
              <a:srgbClr val="ECE7DD"/>
            </a:solidFill>
            <a:prstDash val="solid"/>
          </a:ln>
        </p:spPr>
      </p:sp>
      <p:pic>
        <p:nvPicPr>
          <p:cNvPr id="6" name="Image 1" descr="gen-dedup-02c5b8f5b133785d205e9ded8fc6196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9191549"/>
            <a:ext cx="16763695" cy="914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61695" y="457200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파일 11 / 20 · electrical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11811305" y="4572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 line / M3-M4 via / leakage / cap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914400"/>
            <a:ext cx="16764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전기 특성 — Line · Via · Leakage · Capacitance</a:t>
            </a:r>
            <a:endParaRPr lang="en-US" sz="405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790395"/>
            <a:ext cx="1676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M4 line Rs · M4 sheet ρs · M3-M4 via Rc · line-line leakage @ 1V · line-line capacitance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2819095"/>
          <a:ext cx="12382805" cy="5524805"/>
        </p:xfrm>
        <a:graphic>
          <a:graphicData uri="http://schemas.openxmlformats.org/drawingml/2006/table">
            <a:tbl>
              <a:tblPr/>
              <a:tblGrid>
                <a:gridCol w="2063801"/>
                <a:gridCol w="2063801"/>
                <a:gridCol w="2063801"/>
                <a:gridCol w="2063801"/>
                <a:gridCol w="2063801"/>
                <a:gridCol w="2063801"/>
              </a:tblGrid>
              <a:tr h="613867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43A5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 별 측정값</a:t>
                      </a:r>
                      <a:endParaRPr lang="en-US" sz="112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228600" marR="228600" marT="171907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138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WAFER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M4 line Rs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μΩ·cm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M4 sheet ρs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mΩ/sq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M3-M4 via Rc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Ω/via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Leakage @1V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pA/μm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Cap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fF/μm</a:t>
                      </a:r>
                      <a:endParaRPr lang="en-US" sz="1200" dirty="0"/>
                    </a:p>
                  </a:txBody>
                  <a:tcPr marL="0" marR="2286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8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3.18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4.85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12.4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0.183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8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·A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3.22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4.91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14.1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0.187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8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3.14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0.176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6138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·B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3.11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4.58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0.174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</a:tr>
              <a:tr h="6138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SPLIT AVG</a:t>
                      </a:r>
                      <a:endParaRPr lang="en-US" sz="975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138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SPLIT-A avg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3.200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0.425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4.880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13.25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0.185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6138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SPLIT-B avg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3.125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0.410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4.600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9.50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0.175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13620902" y="3010205"/>
            <a:ext cx="3715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Δ % vs SPLIT-A</a:t>
            </a:r>
            <a:endParaRPr lang="en-US" sz="10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620902" y="3323844"/>
          <a:ext cx="3715207" cy="2286000"/>
        </p:xfrm>
        <a:graphic>
          <a:graphicData uri="http://schemas.openxmlformats.org/drawingml/2006/table">
            <a:tbl>
              <a:tblPr/>
              <a:tblGrid>
                <a:gridCol w="1986991"/>
                <a:gridCol w="172730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7A7A7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Line Rs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−2.34 %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7A7A7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Sheet ρs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−3.53 %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7A7A7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Via Rc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−5.74 %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7A7A7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Leakage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−28.30 %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7A7A7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Capacitance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−5.41 %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7"/>
          <p:cNvSpPr/>
          <p:nvPr/>
        </p:nvSpPr>
        <p:spPr>
          <a:xfrm>
            <a:off x="13620902" y="5838444"/>
            <a:ext cx="3715207" cy="9144"/>
          </a:xfrm>
          <a:prstGeom prst="rect">
            <a:avLst/>
          </a:prstGeom>
          <a:solidFill>
            <a:srgbClr val="ECE7DD"/>
          </a:solidFill>
          <a:ln w="12700">
            <a:solidFill>
              <a:srgbClr val="ECE7DD">
                <a:alpha val="0"/>
              </a:srgbClr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13620902" y="6019495"/>
            <a:ext cx="37152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Conditions</a:t>
            </a:r>
            <a:endParaRPr lang="en-US" sz="975" dirty="0"/>
          </a:p>
        </p:txBody>
      </p:sp>
      <p:sp>
        <p:nvSpPr>
          <p:cNvPr id="16" name="Text 9"/>
          <p:cNvSpPr txBox="1"/>
          <p:nvPr/>
        </p:nvSpPr>
        <p:spPr>
          <a:xfrm>
            <a:off x="13620902" y="6258154"/>
            <a:ext cx="3715207" cy="714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 = 25 °C · 4-wire Kelvin</a:t>
            </a:r>
            <a:pPr algn="l" indent="0" marL="0">
              <a:lnSpc>
                <a:spcPts val="1800"/>
              </a:lnSpc>
              <a:buNone/>
            </a:pP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Leakage @ 1.0 V, 32 nm pitch</a:t>
            </a:r>
            <a:pPr algn="l" indent="0" marL="0">
              <a:lnSpc>
                <a:spcPts val="1800"/>
              </a:lnSpc>
              <a:buNone/>
            </a:pP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Cap @ 1 MHz, 32 nm pitch</a:t>
            </a:r>
            <a:endParaRPr lang="en-US" sz="1125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9696298"/>
            <a:ext cx="119256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실란화 적용 시 line Rs −2.3%, M3-M4 via Rc −5.7%, line-line leakage −28.3%, cap −5.4%로 동시 개선된다.</a:t>
            </a:r>
            <a:endParaRPr lang="en-US" sz="165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9439351"/>
            <a:ext cx="130393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9" name="Text 12"/>
          <p:cNvSpPr txBox="1"/>
          <p:nvPr/>
        </p:nvSpPr>
        <p:spPr>
          <a:xfrm>
            <a:off x="12191695" y="9658807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02c5b8f5b133785d205e9ded8fc6196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2247595"/>
            <a:ext cx="16763695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553005"/>
            <a:ext cx="12573000" cy="628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3620902" y="2553005"/>
            <a:ext cx="3905402" cy="2857500"/>
          </a:xfrm>
          <a:prstGeom prst="rect">
            <a:avLst/>
          </a:prstGeom>
          <a:solidFill>
            <a:srgbClr val="FAF6EE"/>
          </a:solidFill>
          <a:ln w="12700">
            <a:solidFill>
              <a:srgbClr val="143A5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3620902" y="5600700"/>
            <a:ext cx="3905402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F"/>
            </a:solidFill>
            <a:prstDash val="solid"/>
          </a:ln>
        </p:spPr>
      </p:sp>
      <p:pic>
        <p:nvPicPr>
          <p:cNvPr id="7" name="Image 1" descr="gen-dedup-02c5b8f5b133785d205e9ded8fc6196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9191549"/>
            <a:ext cx="16763695" cy="914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61695" y="457200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파일 11 / 20 · split summary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11811305" y="4572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SPLIT-A vs SPLIT-B · 4 wafer average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875995"/>
            <a:ext cx="167646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b="1" spc="-37" kern="0" dirty="0">
                <a:solidFill>
                  <a:srgbClr val="11111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SPLIT 간 종합 비교</a:t>
            </a:r>
            <a:endParaRPr lang="en-US" sz="375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619402"/>
            <a:ext cx="16764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Reference(SPLIT-A) vs Silylation PEDR(SPLIT-B) · 핵심 지표 Δ%</a:t>
            </a:r>
            <a:endParaRPr lang="en-US" sz="16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2553005"/>
          <a:ext cx="12573000" cy="5925312"/>
        </p:xfrm>
        <a:graphic>
          <a:graphicData uri="http://schemas.openxmlformats.org/drawingml/2006/table">
            <a:tbl>
              <a:tblPr/>
              <a:tblGrid>
                <a:gridCol w="2193486"/>
                <a:gridCol w="2193486"/>
                <a:gridCol w="1523280"/>
                <a:gridCol w="2093824"/>
                <a:gridCol w="2093824"/>
                <a:gridCol w="2475101"/>
              </a:tblGrid>
              <a:tr h="370332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3A5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지표</a:t>
                      </a:r>
                      <a:endParaRPr lang="en-US" sz="10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228600" marR="228600" marT="152705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TARGET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152705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SPLIT-A AVG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152705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SPLIT-B AVG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705" marR="152705" marT="152705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Δ VS A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228600" marT="152705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5"/>
                    </a:solidFill>
                  </a:tcPr>
                </a:tc>
              </a:tr>
              <a:tr h="370332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CD METROLOGY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22860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AASI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mean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(nm · target 23.7)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23.70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23.50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23.80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+1.28 %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B0AFA9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(nm)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1.585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1.075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−32.18 %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ASEI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mean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(nm · target 16.4)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16.40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16.08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16.48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+2.49 %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B0AFA9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(nm)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0.950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0.700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−26.32 %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AMI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mean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(nm · target 8.4)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8.435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8.415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−0.24 %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B0AFA9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(nm)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 · NIU %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0.815 / 9.66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0.440 / 5.23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−46.01 % (3σ)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ACI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mean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(nm · target 8.5)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8.550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8.500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40404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−0.58 %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B0AFA9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(nm)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 · NIU %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1.000 / 11.69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0.525 / 6.18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−47.50 % (3σ)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7A7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ELECTRICAL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22860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M4 line Rs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(μΩ·cm)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3.200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3.125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−2.34 %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M4 sheet ρs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(mΩ/sq)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0.425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0.410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−3.53 %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M3-M4 via Rc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(Ω/via)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4.880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4.600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−5.74 %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Line-line leakage @1V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(pA/μm)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13.25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9.50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−28.30 %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Line-line cap @1MHz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(fF/μm)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7A7A7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1111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0.185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43A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0.175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F6B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−5.41 %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3811098" y="2743200"/>
            <a:ext cx="3525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Verdict · 13 metrics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13811098" y="3029407"/>
            <a:ext cx="35250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3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13</a:t>
            </a:r>
            <a:endParaRPr lang="en-US" sz="2700" dirty="0"/>
          </a:p>
        </p:txBody>
      </p:sp>
      <p:sp>
        <p:nvSpPr>
          <p:cNvPr id="15" name="Text 9"/>
          <p:cNvSpPr txBox="1"/>
          <p:nvPr/>
        </p:nvSpPr>
        <p:spPr>
          <a:xfrm>
            <a:off x="13811098" y="3409798"/>
            <a:ext cx="35250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SPLIT-B 우위 (단일 trend)</a:t>
            </a:r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1건 持平 · 1건 mean offset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3811098" y="4042562"/>
            <a:ext cx="35250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AASI·ASEI mean이 살짝 위이나 (+1.3% / +2.5%), AMI·ACI mean 차이는 −0.6% 이내.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3811098" y="5790895"/>
            <a:ext cx="3525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Direction</a:t>
            </a:r>
            <a:endParaRPr lang="en-US" sz="975" dirty="0"/>
          </a:p>
        </p:txBody>
      </p:sp>
      <p:sp>
        <p:nvSpPr>
          <p:cNvPr id="18" name="Text 12"/>
          <p:cNvSpPr txBox="1"/>
          <p:nvPr/>
        </p:nvSpPr>
        <p:spPr>
          <a:xfrm>
            <a:off x="13811098" y="6057900"/>
            <a:ext cx="3525012" cy="10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CD 균일성 개선 (3σ −26~48%)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전기 저항 동시 감소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Leakage 가장 큰 폭 개선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​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2020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실란화 PEDR 적용 권고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761695" y="9696298"/>
            <a:ext cx="11239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13개 핵심 지표 중 CD 균일성·전기 저항 모두에서 SPLIT-B가 일관 우위, 실란화 PEDR 적용을 권고한다.</a:t>
            </a:r>
            <a:endParaRPr lang="en-US" sz="1650" dirty="0"/>
          </a:p>
        </p:txBody>
      </p:sp>
      <p:sp>
        <p:nvSpPr>
          <p:cNvPr id="20" name="Text 14"/>
          <p:cNvSpPr txBox="1"/>
          <p:nvPr/>
        </p:nvSpPr>
        <p:spPr>
          <a:xfrm>
            <a:off x="761695" y="9439351"/>
            <a:ext cx="130393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43A5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12191695" y="9658807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7A7A7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2026-10-03T16:11:28Z</dcterms:created>
  <dcterms:modified xsi:type="dcterms:W3CDTF">2026-10-03T16:11:28Z</dcterms:modified>
</cp:coreProperties>
</file>