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6D8"/>
        </a:solidFill>
      </p:bgPr>
    </p:bg>
    <p:spTree>
      <p:nvGrpSpPr>
        <p:cNvPr id="1" name=""/>
        <p:cNvGrpSpPr/>
        <p:nvPr/>
      </p:nvGrpSpPr>
      <p:grpSpPr>
        <a:xfrm>
          <a:off x="0" y="0"/>
          <a:ext cx="0" cy="0"/>
          <a:chOff x="0" y="0"/>
          <a:chExt cx="0" cy="0"/>
        </a:xfrm>
      </p:grpSpPr>
      <p:pic>
        <p:nvPicPr>
          <p:cNvPr id="2" name="Image 0" descr="gen-dedup-ab788423636bba93a404bf0120fac227.png">    </p:cNvPr>
          <p:cNvPicPr>
            <a:picLocks noChangeAspect="1"/>
          </p:cNvPicPr>
          <p:nvPr/>
        </p:nvPicPr>
        <p:blipFill>
          <a:blip r:embed="rId1"/>
          <a:srcRect l="-2083" r="-2083" t="0" b="0"/>
          <a:stretch/>
        </p:blipFill>
        <p:spPr>
          <a:xfrm>
            <a:off x="571500" y="3238805"/>
            <a:ext cx="17335195" cy="9144"/>
          </a:xfrm>
          <a:prstGeom prst="rect">
            <a:avLst/>
          </a:prstGeom>
        </p:spPr>
      </p:pic>
      <p:sp>
        <p:nvSpPr>
          <p:cNvPr id="3" name="Shape 0"/>
          <p:cNvSpPr/>
          <p:nvPr/>
        </p:nvSpPr>
        <p:spPr>
          <a:xfrm>
            <a:off x="571500" y="3619195"/>
            <a:ext cx="10877702" cy="3638398"/>
          </a:xfrm>
          <a:prstGeom prst="rect">
            <a:avLst/>
          </a:prstGeom>
          <a:solidFill>
            <a:srgbClr val="1B1A14">
              <a:alpha val="6000"/>
            </a:srgbClr>
          </a:solidFill>
          <a:ln w="12700">
            <a:solidFill>
              <a:srgbClr val="1B1A14">
                <a:alpha val="10000"/>
              </a:srgbClr>
            </a:solidFill>
            <a:prstDash val="solid"/>
          </a:ln>
        </p:spPr>
      </p:sp>
      <p:sp>
        <p:nvSpPr>
          <p:cNvPr id="4" name="Text 1"/>
          <p:cNvSpPr txBox="1"/>
          <p:nvPr/>
        </p:nvSpPr>
        <p:spPr>
          <a:xfrm>
            <a:off x="914400" y="761695"/>
            <a:ext cx="11430000" cy="648310"/>
          </a:xfrm>
          <a:prstGeom prst="rect">
            <a:avLst/>
          </a:prstGeom>
          <a:noFill/>
          <a:ln/>
        </p:spPr>
        <p:txBody>
          <a:bodyPr wrap="none" lIns="0" tIns="0" rIns="0" bIns="0" rtlCol="0" anchor="ctr"/>
          <a:lstStyle/>
          <a:p>
            <a:pPr algn="l" indent="0" marL="0">
              <a:buNone/>
            </a:pPr>
            <a:r>
              <a:rPr lang="en-US" sz="4800" b="1" spc="-48" kern="0" dirty="0">
                <a:solidFill>
                  <a:srgbClr val="1B1A14"/>
                </a:solidFill>
                <a:latin typeface="IBM Plex Sans KR" pitchFamily="34" charset="0"/>
                <a:ea typeface="IBM Plex Sans KR" pitchFamily="34" charset="-122"/>
                <a:cs typeface="IBM Plex Sans KR" pitchFamily="34" charset="-120"/>
              </a:rPr>
              <a:t>imec BEOL</a:t>
            </a:r>
            <a:endParaRPr lang="en-US" sz="4800" dirty="0"/>
          </a:p>
        </p:txBody>
      </p:sp>
      <p:sp>
        <p:nvSpPr>
          <p:cNvPr id="5" name="Text 2"/>
          <p:cNvSpPr txBox="1"/>
          <p:nvPr/>
        </p:nvSpPr>
        <p:spPr>
          <a:xfrm>
            <a:off x="914400" y="1524305"/>
            <a:ext cx="11430000" cy="914400"/>
          </a:xfrm>
          <a:prstGeom prst="rect">
            <a:avLst/>
          </a:prstGeom>
          <a:noFill/>
          <a:ln/>
        </p:spPr>
        <p:txBody>
          <a:bodyPr wrap="none" lIns="0" tIns="0" rIns="0" bIns="0" rtlCol="0" anchor="ctr"/>
          <a:lstStyle/>
          <a:p>
            <a:pPr algn="l" indent="0" marL="0">
              <a:buNone/>
            </a:pPr>
            <a:r>
              <a:rPr lang="en-US" sz="7200" b="1" spc="-144" kern="0" dirty="0">
                <a:solidFill>
                  <a:srgbClr val="1B1A14"/>
                </a:solidFill>
                <a:latin typeface="IBM Plex Sans KR" pitchFamily="34" charset="0"/>
                <a:ea typeface="IBM Plex Sans KR" pitchFamily="34" charset="-122"/>
                <a:cs typeface="IBM Plex Sans KR" pitchFamily="34" charset="-120"/>
              </a:rPr>
              <a:t>논문 </a:t>
            </a:r>
            <a:pPr algn="l" indent="0" marL="0">
              <a:buNone/>
            </a:pPr>
            <a:r>
              <a:rPr lang="en-US" sz="7200" b="1" spc="-144" kern="0" dirty="0">
                <a:solidFill>
                  <a:srgbClr val="B26A3A"/>
                </a:solidFill>
                <a:latin typeface="IBM Plex Sans KR" pitchFamily="34" charset="0"/>
                <a:ea typeface="IBM Plex Sans KR" pitchFamily="34" charset="-122"/>
                <a:cs typeface="IBM Plex Sans KR" pitchFamily="34" charset="-120"/>
              </a:rPr>
              <a:t>20편</a:t>
            </a:r>
            <a:endParaRPr lang="en-US" sz="7200" dirty="0"/>
          </a:p>
        </p:txBody>
      </p:sp>
      <p:sp>
        <p:nvSpPr>
          <p:cNvPr id="6" name="Text 3"/>
          <p:cNvSpPr txBox="1"/>
          <p:nvPr/>
        </p:nvSpPr>
        <p:spPr>
          <a:xfrm>
            <a:off x="914400" y="2495398"/>
            <a:ext cx="11430000" cy="505663"/>
          </a:xfrm>
          <a:prstGeom prst="rect">
            <a:avLst/>
          </a:prstGeom>
          <a:noFill/>
          <a:ln/>
        </p:spPr>
        <p:txBody>
          <a:bodyPr wrap="none" lIns="0" tIns="0" rIns="0" bIns="0" rtlCol="0" anchor="ctr"/>
          <a:lstStyle/>
          <a:p>
            <a:pPr algn="l" indent="0" marL="0">
              <a:buNone/>
            </a:pPr>
            <a:r>
              <a:rPr lang="en-US" sz="3600" dirty="0">
                <a:solidFill>
                  <a:srgbClr val="5C5546"/>
                </a:solidFill>
                <a:latin typeface="IBM Plex Sans KR" pitchFamily="34" charset="0"/>
                <a:ea typeface="IBM Plex Sans KR" pitchFamily="34" charset="-122"/>
                <a:cs typeface="IBM Plex Sans KR" pitchFamily="34" charset="-120"/>
              </a:rPr>
              <a:t>심층 리뷰</a:t>
            </a:r>
            <a:endParaRPr lang="en-US" sz="3600" dirty="0"/>
          </a:p>
        </p:txBody>
      </p:sp>
      <p:sp>
        <p:nvSpPr>
          <p:cNvPr id="7" name="Text 4"/>
          <p:cNvSpPr txBox="1"/>
          <p:nvPr/>
        </p:nvSpPr>
        <p:spPr>
          <a:xfrm>
            <a:off x="13144500" y="914400"/>
            <a:ext cx="4572000" cy="295351"/>
          </a:xfrm>
          <a:prstGeom prst="rect">
            <a:avLst/>
          </a:prstGeom>
          <a:noFill/>
          <a:ln/>
        </p:spPr>
        <p:txBody>
          <a:bodyPr wrap="none" lIns="0" tIns="0" rIns="0" bIns="0" rtlCol="0" anchor="ctr"/>
          <a:lstStyle/>
          <a:p>
            <a:pPr algn="l" indent="0" marL="0">
              <a:buNone/>
            </a:pPr>
            <a:r>
              <a:rPr lang="en-US" sz="1650" dirty="0">
                <a:solidFill>
                  <a:srgbClr val="5C5546"/>
                </a:solidFill>
                <a:latin typeface="IBM Plex Sans KR" pitchFamily="34" charset="0"/>
                <a:ea typeface="IBM Plex Sans KR" pitchFamily="34" charset="-122"/>
                <a:cs typeface="IBM Plex Sans KR" pitchFamily="34" charset="-120"/>
              </a:rPr>
              <a:t>Oct 3, 2026</a:t>
            </a:r>
            <a:endParaRPr lang="en-US" sz="1650" dirty="0"/>
          </a:p>
        </p:txBody>
      </p:sp>
      <p:sp>
        <p:nvSpPr>
          <p:cNvPr id="8" name="Text 5"/>
          <p:cNvSpPr txBox="1"/>
          <p:nvPr/>
        </p:nvSpPr>
        <p:spPr>
          <a:xfrm>
            <a:off x="13144500" y="1264615"/>
            <a:ext cx="4572000" cy="372161"/>
          </a:xfrm>
          <a:prstGeom prst="rect">
            <a:avLst/>
          </a:prstGeom>
          <a:noFill/>
          <a:ln/>
        </p:spPr>
        <p:txBody>
          <a:bodyPr wrap="none" lIns="0" tIns="0" rIns="0" bIns="0" rtlCol="0" anchor="ctr"/>
          <a:lstStyle/>
          <a:p>
            <a:pPr algn="l" indent="0" marL="0">
              <a:buNone/>
            </a:pPr>
            <a:r>
              <a:rPr lang="en-US" sz="2250" b="1" dirty="0">
                <a:solidFill>
                  <a:srgbClr val="1B1A14"/>
                </a:solidFill>
                <a:latin typeface="IBM Plex Sans KR" pitchFamily="34" charset="0"/>
                <a:ea typeface="IBM Plex Sans KR" pitchFamily="34" charset="-122"/>
                <a:cs typeface="IBM Plex Sans KR" pitchFamily="34" charset="-120"/>
              </a:rPr>
              <a:t>@Eric Lee</a:t>
            </a:r>
            <a:endParaRPr lang="en-US" sz="2250" dirty="0"/>
          </a:p>
        </p:txBody>
      </p:sp>
      <p:sp>
        <p:nvSpPr>
          <p:cNvPr id="9" name="Text 6"/>
          <p:cNvSpPr txBox="1"/>
          <p:nvPr/>
        </p:nvSpPr>
        <p:spPr>
          <a:xfrm>
            <a:off x="13144500" y="2171700"/>
            <a:ext cx="4572000" cy="762610"/>
          </a:xfrm>
          <a:prstGeom prst="rect">
            <a:avLst/>
          </a:prstGeom>
          <a:noFill/>
          <a:ln/>
        </p:spPr>
        <p:txBody>
          <a:bodyPr wrap="none" lIns="0" tIns="0" rIns="0" bIns="0" rtlCol="0" anchor="ctr"/>
          <a:lstStyle/>
          <a:p>
            <a:pPr algn="l" indent="0" marL="0">
              <a:buNone/>
            </a:pPr>
            <a:r>
              <a:rPr lang="en-US" sz="6000" b="1" spc="-120" kern="0" dirty="0">
                <a:solidFill>
                  <a:srgbClr val="B26A3A"/>
                </a:solidFill>
                <a:latin typeface="IBM Plex Serif" pitchFamily="34" charset="0"/>
                <a:ea typeface="IBM Plex Serif" pitchFamily="34" charset="-122"/>
                <a:cs typeface="IBM Plex Serif" pitchFamily="34" charset="-120"/>
              </a:rPr>
              <a:t>20</a:t>
            </a:r>
            <a:endParaRPr lang="en-US" sz="6000" dirty="0"/>
          </a:p>
        </p:txBody>
      </p:sp>
      <p:sp>
        <p:nvSpPr>
          <p:cNvPr id="10" name="Text 7"/>
          <p:cNvSpPr txBox="1"/>
          <p:nvPr/>
        </p:nvSpPr>
        <p:spPr>
          <a:xfrm>
            <a:off x="914400" y="7334402"/>
            <a:ext cx="10287000" cy="181051"/>
          </a:xfrm>
          <a:prstGeom prst="rect">
            <a:avLst/>
          </a:prstGeom>
          <a:noFill/>
          <a:ln/>
        </p:spPr>
        <p:txBody>
          <a:bodyPr wrap="none" lIns="0" tIns="0" rIns="0" bIns="0" rtlCol="0" anchor="ctr"/>
          <a:lstStyle/>
          <a:p>
            <a:pPr algn="l" indent="0" marL="0">
              <a:buNone/>
            </a:pPr>
            <a:r>
              <a:rPr lang="en-US" sz="975" spc="39" kern="0" dirty="0">
                <a:solidFill>
                  <a:srgbClr val="8A8270"/>
                </a:solidFill>
                <a:latin typeface="IBM Plex Sans KR" pitchFamily="34" charset="0"/>
                <a:ea typeface="IBM Plex Sans KR" pitchFamily="34" charset="-122"/>
                <a:cs typeface="IBM Plex Sans KR" pitchFamily="34" charset="-120"/>
              </a:rPr>
              <a:t>BEOL Cu cross-section · imec via Ocas</a:t>
            </a:r>
            <a:endParaRPr lang="en-US" sz="975" dirty="0"/>
          </a:p>
        </p:txBody>
      </p:sp>
      <p:sp>
        <p:nvSpPr>
          <p:cNvPr id="11" name="Text 8"/>
          <p:cNvSpPr txBox="1"/>
          <p:nvPr/>
        </p:nvSpPr>
        <p:spPr>
          <a:xfrm>
            <a:off x="11811305" y="3619195"/>
            <a:ext cx="5906110" cy="1485900"/>
          </a:xfrm>
          <a:prstGeom prst="rect">
            <a:avLst/>
          </a:prstGeom>
          <a:noFill/>
          <a:ln/>
        </p:spPr>
        <p:txBody>
          <a:bodyPr wrap="square" lIns="0" tIns="0" rIns="0" bIns="0" rtlCol="0" anchor="ctr"/>
          <a:lstStyle/>
          <a:p>
            <a:pPr algn="l" indent="0" marL="0">
              <a:lnSpc>
                <a:spcPts val="2925"/>
              </a:lnSpc>
              <a:buNone/>
            </a:pPr>
            <a:r>
              <a:rPr lang="en-US" sz="1950" dirty="0">
                <a:solidFill>
                  <a:srgbClr val="1B1A14"/>
                </a:solidFill>
                <a:latin typeface="IBM Plex Sans KR" pitchFamily="34" charset="0"/>
                <a:ea typeface="IBM Plex Sans KR" pitchFamily="34" charset="-122"/>
                <a:cs typeface="IBM Plex Sans KR" pitchFamily="34" charset="-120"/>
              </a:rPr>
              <a:t>imec Institutional Repository에서 BEOL 관련 논문 20편을 골라, 금속화·패터닝·신뢰성·열 네 축으로 읽은 기록입니다. 수치와 그래프는 원문에서 뽑아 재작도했고, 오픈액세스(CC-BY) 논문을 우선 선정했습니다.</a:t>
            </a:r>
            <a:endParaRPr lang="en-US" sz="1950" dirty="0"/>
          </a:p>
        </p:txBody>
      </p:sp>
      <p:sp>
        <p:nvSpPr>
          <p:cNvPr id="12" name="Shape 9"/>
          <p:cNvSpPr/>
          <p:nvPr/>
        </p:nvSpPr>
        <p:spPr>
          <a:xfrm>
            <a:off x="914400" y="7905902"/>
            <a:ext cx="3619195" cy="1333195"/>
          </a:xfrm>
          <a:prstGeom prst="rect">
            <a:avLst/>
          </a:prstGeom>
          <a:solidFill>
            <a:srgbClr val="B26A3A">
              <a:alpha val="10000"/>
            </a:srgbClr>
          </a:solidFill>
          <a:ln/>
        </p:spPr>
      </p:sp>
      <p:sp>
        <p:nvSpPr>
          <p:cNvPr id="13" name="Shape 10"/>
          <p:cNvSpPr/>
          <p:nvPr/>
        </p:nvSpPr>
        <p:spPr>
          <a:xfrm>
            <a:off x="914400" y="7905902"/>
            <a:ext cx="57607" cy="1333195"/>
          </a:xfrm>
          <a:prstGeom prst="rect">
            <a:avLst/>
          </a:prstGeom>
          <a:solidFill>
            <a:srgbClr val="B26A3A"/>
          </a:solidFill>
          <a:ln w="12700">
            <a:solidFill>
              <a:srgbClr val="B26A3A">
                <a:alpha val="0"/>
              </a:srgbClr>
            </a:solidFill>
            <a:prstDash val="solid"/>
          </a:ln>
        </p:spPr>
      </p:sp>
      <p:sp>
        <p:nvSpPr>
          <p:cNvPr id="14" name="Text 11"/>
          <p:cNvSpPr txBox="1"/>
          <p:nvPr/>
        </p:nvSpPr>
        <p:spPr>
          <a:xfrm>
            <a:off x="1181405" y="8300923"/>
            <a:ext cx="3143707" cy="543154"/>
          </a:xfrm>
          <a:prstGeom prst="rect">
            <a:avLst/>
          </a:prstGeom>
          <a:noFill/>
          <a:ln/>
        </p:spPr>
        <p:txBody>
          <a:bodyPr wrap="none" lIns="0" tIns="0" rIns="0" bIns="0" rtlCol="0" anchor="ctr"/>
          <a:lstStyle/>
          <a:p>
            <a:pPr algn="l" indent="0" marL="0">
              <a:buNone/>
            </a:pPr>
            <a:r>
              <a:rPr lang="en-US" sz="2850" b="1" dirty="0">
                <a:solidFill>
                  <a:srgbClr val="1B1A14"/>
                </a:solidFill>
                <a:latin typeface="IBM Plex Sans KR" pitchFamily="34" charset="0"/>
                <a:ea typeface="IBM Plex Sans KR" pitchFamily="34" charset="-122"/>
                <a:cs typeface="IBM Plex Sans KR" pitchFamily="34" charset="-120"/>
              </a:rPr>
              <a:t>금속화</a:t>
            </a:r>
            <a:endParaRPr lang="en-US" sz="2850" dirty="0"/>
          </a:p>
        </p:txBody>
      </p:sp>
      <p:sp>
        <p:nvSpPr>
          <p:cNvPr id="15" name="Shape 12"/>
          <p:cNvSpPr/>
          <p:nvPr/>
        </p:nvSpPr>
        <p:spPr>
          <a:xfrm>
            <a:off x="4762195" y="7905902"/>
            <a:ext cx="2667305" cy="1333195"/>
          </a:xfrm>
          <a:prstGeom prst="rect">
            <a:avLst/>
          </a:prstGeom>
          <a:solidFill>
            <a:srgbClr val="3D4F60">
              <a:alpha val="8000"/>
            </a:srgbClr>
          </a:solidFill>
          <a:ln/>
        </p:spPr>
      </p:sp>
      <p:sp>
        <p:nvSpPr>
          <p:cNvPr id="16" name="Shape 13"/>
          <p:cNvSpPr/>
          <p:nvPr/>
        </p:nvSpPr>
        <p:spPr>
          <a:xfrm>
            <a:off x="4762195" y="7905902"/>
            <a:ext cx="57607" cy="1333195"/>
          </a:xfrm>
          <a:prstGeom prst="rect">
            <a:avLst/>
          </a:prstGeom>
          <a:solidFill>
            <a:srgbClr val="3D4F60"/>
          </a:solidFill>
          <a:ln w="12700">
            <a:solidFill>
              <a:srgbClr val="3D4F60">
                <a:alpha val="0"/>
              </a:srgbClr>
            </a:solidFill>
            <a:prstDash val="solid"/>
          </a:ln>
        </p:spPr>
      </p:sp>
      <p:sp>
        <p:nvSpPr>
          <p:cNvPr id="17" name="Text 14"/>
          <p:cNvSpPr txBox="1"/>
          <p:nvPr/>
        </p:nvSpPr>
        <p:spPr>
          <a:xfrm>
            <a:off x="5029200" y="8300923"/>
            <a:ext cx="2190902" cy="543154"/>
          </a:xfrm>
          <a:prstGeom prst="rect">
            <a:avLst/>
          </a:prstGeom>
          <a:noFill/>
          <a:ln/>
        </p:spPr>
        <p:txBody>
          <a:bodyPr wrap="none" lIns="0" tIns="0" rIns="0" bIns="0" rtlCol="0" anchor="ctr"/>
          <a:lstStyle/>
          <a:p>
            <a:pPr algn="l" indent="0" marL="0">
              <a:buNone/>
            </a:pPr>
            <a:r>
              <a:rPr lang="en-US" sz="2850" b="1" dirty="0">
                <a:solidFill>
                  <a:srgbClr val="1B1A14"/>
                </a:solidFill>
                <a:latin typeface="IBM Plex Sans KR" pitchFamily="34" charset="0"/>
                <a:ea typeface="IBM Plex Sans KR" pitchFamily="34" charset="-122"/>
                <a:cs typeface="IBM Plex Sans KR" pitchFamily="34" charset="-120"/>
              </a:rPr>
              <a:t>패터닝</a:t>
            </a:r>
            <a:endParaRPr lang="en-US" sz="2850" dirty="0"/>
          </a:p>
        </p:txBody>
      </p:sp>
      <p:sp>
        <p:nvSpPr>
          <p:cNvPr id="18" name="Shape 15"/>
          <p:cNvSpPr/>
          <p:nvPr/>
        </p:nvSpPr>
        <p:spPr>
          <a:xfrm>
            <a:off x="7658100" y="7905902"/>
            <a:ext cx="2667305" cy="1333195"/>
          </a:xfrm>
          <a:prstGeom prst="rect">
            <a:avLst/>
          </a:prstGeom>
          <a:solidFill>
            <a:srgbClr val="8E4E37">
              <a:alpha val="10000"/>
            </a:srgbClr>
          </a:solidFill>
          <a:ln/>
        </p:spPr>
      </p:sp>
      <p:sp>
        <p:nvSpPr>
          <p:cNvPr id="19" name="Shape 16"/>
          <p:cNvSpPr/>
          <p:nvPr/>
        </p:nvSpPr>
        <p:spPr>
          <a:xfrm>
            <a:off x="7658100" y="7905902"/>
            <a:ext cx="57607" cy="1333195"/>
          </a:xfrm>
          <a:prstGeom prst="rect">
            <a:avLst/>
          </a:prstGeom>
          <a:solidFill>
            <a:srgbClr val="8E4E37"/>
          </a:solidFill>
          <a:ln w="12700">
            <a:solidFill>
              <a:srgbClr val="8E4E37">
                <a:alpha val="0"/>
              </a:srgbClr>
            </a:solidFill>
            <a:prstDash val="solid"/>
          </a:ln>
        </p:spPr>
      </p:sp>
      <p:sp>
        <p:nvSpPr>
          <p:cNvPr id="20" name="Text 17"/>
          <p:cNvSpPr txBox="1"/>
          <p:nvPr/>
        </p:nvSpPr>
        <p:spPr>
          <a:xfrm>
            <a:off x="7925105" y="8300923"/>
            <a:ext cx="2190902" cy="543154"/>
          </a:xfrm>
          <a:prstGeom prst="rect">
            <a:avLst/>
          </a:prstGeom>
          <a:noFill/>
          <a:ln/>
        </p:spPr>
        <p:txBody>
          <a:bodyPr wrap="none" lIns="0" tIns="0" rIns="0" bIns="0" rtlCol="0" anchor="ctr"/>
          <a:lstStyle/>
          <a:p>
            <a:pPr algn="l" indent="0" marL="0">
              <a:buNone/>
            </a:pPr>
            <a:r>
              <a:rPr lang="en-US" sz="2850" b="1" dirty="0">
                <a:solidFill>
                  <a:srgbClr val="1B1A14"/>
                </a:solidFill>
                <a:latin typeface="IBM Plex Sans KR" pitchFamily="34" charset="0"/>
                <a:ea typeface="IBM Plex Sans KR" pitchFamily="34" charset="-122"/>
                <a:cs typeface="IBM Plex Sans KR" pitchFamily="34" charset="-120"/>
              </a:rPr>
              <a:t>신뢰성</a:t>
            </a:r>
            <a:endParaRPr lang="en-US" sz="2850" dirty="0"/>
          </a:p>
        </p:txBody>
      </p:sp>
      <p:sp>
        <p:nvSpPr>
          <p:cNvPr id="21" name="Shape 18"/>
          <p:cNvSpPr/>
          <p:nvPr/>
        </p:nvSpPr>
        <p:spPr>
          <a:xfrm>
            <a:off x="10554005" y="7905902"/>
            <a:ext cx="1904695" cy="1333195"/>
          </a:xfrm>
          <a:prstGeom prst="rect">
            <a:avLst/>
          </a:prstGeom>
          <a:solidFill>
            <a:srgbClr val="5F6E48">
              <a:alpha val="10000"/>
            </a:srgbClr>
          </a:solidFill>
          <a:ln/>
        </p:spPr>
      </p:sp>
      <p:sp>
        <p:nvSpPr>
          <p:cNvPr id="22" name="Shape 19"/>
          <p:cNvSpPr/>
          <p:nvPr/>
        </p:nvSpPr>
        <p:spPr>
          <a:xfrm>
            <a:off x="10554005" y="7905902"/>
            <a:ext cx="57607" cy="1333195"/>
          </a:xfrm>
          <a:prstGeom prst="rect">
            <a:avLst/>
          </a:prstGeom>
          <a:solidFill>
            <a:srgbClr val="5F6E48"/>
          </a:solidFill>
          <a:ln w="12700">
            <a:solidFill>
              <a:srgbClr val="5F6E48">
                <a:alpha val="0"/>
              </a:srgbClr>
            </a:solidFill>
            <a:prstDash val="solid"/>
          </a:ln>
        </p:spPr>
      </p:sp>
      <p:sp>
        <p:nvSpPr>
          <p:cNvPr id="23" name="Text 20"/>
          <p:cNvSpPr txBox="1"/>
          <p:nvPr/>
        </p:nvSpPr>
        <p:spPr>
          <a:xfrm>
            <a:off x="10820095" y="8300923"/>
            <a:ext cx="1429207" cy="543154"/>
          </a:xfrm>
          <a:prstGeom prst="rect">
            <a:avLst/>
          </a:prstGeom>
          <a:noFill/>
          <a:ln/>
        </p:spPr>
        <p:txBody>
          <a:bodyPr wrap="none" lIns="0" tIns="0" rIns="0" bIns="0" rtlCol="0" anchor="ctr"/>
          <a:lstStyle/>
          <a:p>
            <a:pPr algn="l" indent="0" marL="0">
              <a:buNone/>
            </a:pPr>
            <a:r>
              <a:rPr lang="en-US" sz="2850" b="1" dirty="0">
                <a:solidFill>
                  <a:srgbClr val="1B1A14"/>
                </a:solidFill>
                <a:latin typeface="IBM Plex Sans KR" pitchFamily="34" charset="0"/>
                <a:ea typeface="IBM Plex Sans KR" pitchFamily="34" charset="-122"/>
                <a:cs typeface="IBM Plex Sans KR" pitchFamily="34" charset="-120"/>
              </a:rPr>
              <a:t>열</a:t>
            </a:r>
            <a:endParaRPr lang="en-US" sz="2850" dirty="0"/>
          </a:p>
        </p:txBody>
      </p:sp>
      <p:sp>
        <p:nvSpPr>
          <p:cNvPr id="24" name="Shape 21"/>
          <p:cNvSpPr/>
          <p:nvPr/>
        </p:nvSpPr>
        <p:spPr>
          <a:xfrm>
            <a:off x="12687300" y="7905902"/>
            <a:ext cx="2286000" cy="1333195"/>
          </a:xfrm>
          <a:prstGeom prst="rect">
            <a:avLst/>
          </a:prstGeom>
          <a:solidFill>
            <a:srgbClr val="5D4E6B">
              <a:alpha val="10000"/>
            </a:srgbClr>
          </a:solidFill>
          <a:ln/>
        </p:spPr>
      </p:sp>
      <p:sp>
        <p:nvSpPr>
          <p:cNvPr id="25" name="Shape 22"/>
          <p:cNvSpPr/>
          <p:nvPr/>
        </p:nvSpPr>
        <p:spPr>
          <a:xfrm>
            <a:off x="12687300" y="7905902"/>
            <a:ext cx="57607" cy="1333195"/>
          </a:xfrm>
          <a:prstGeom prst="rect">
            <a:avLst/>
          </a:prstGeom>
          <a:solidFill>
            <a:srgbClr val="5D4E6B"/>
          </a:solidFill>
          <a:ln w="12700">
            <a:solidFill>
              <a:srgbClr val="5D4E6B">
                <a:alpha val="0"/>
              </a:srgbClr>
            </a:solidFill>
            <a:prstDash val="solid"/>
          </a:ln>
        </p:spPr>
      </p:sp>
      <p:sp>
        <p:nvSpPr>
          <p:cNvPr id="26" name="Text 23"/>
          <p:cNvSpPr txBox="1"/>
          <p:nvPr/>
        </p:nvSpPr>
        <p:spPr>
          <a:xfrm>
            <a:off x="12954305" y="8343900"/>
            <a:ext cx="1810512" cy="457200"/>
          </a:xfrm>
          <a:prstGeom prst="rect">
            <a:avLst/>
          </a:prstGeom>
          <a:noFill/>
          <a:ln/>
        </p:spPr>
        <p:txBody>
          <a:bodyPr wrap="none" lIns="0" tIns="0" rIns="0" bIns="0" rtlCol="0" anchor="ctr"/>
          <a:lstStyle/>
          <a:p>
            <a:pPr algn="l" indent="0" marL="0">
              <a:buNone/>
            </a:pPr>
            <a:r>
              <a:rPr lang="en-US" sz="2400" b="1" dirty="0">
                <a:solidFill>
                  <a:srgbClr val="1B1A14"/>
                </a:solidFill>
                <a:latin typeface="IBM Plex Sans KR" pitchFamily="34" charset="0"/>
                <a:ea typeface="IBM Plex Sans KR" pitchFamily="34" charset="-122"/>
                <a:cs typeface="IBM Plex Sans KR" pitchFamily="34" charset="-120"/>
              </a:rPr>
              <a:t>대체 배선</a:t>
            </a:r>
            <a:endParaRPr lang="en-US" sz="2400" dirty="0"/>
          </a:p>
        </p:txBody>
      </p:sp>
      <p:sp>
        <p:nvSpPr>
          <p:cNvPr id="27" name="Text 24"/>
          <p:cNvSpPr txBox="1"/>
          <p:nvPr/>
        </p:nvSpPr>
        <p:spPr>
          <a:xfrm>
            <a:off x="914400" y="9810598"/>
            <a:ext cx="5715000" cy="200254"/>
          </a:xfrm>
          <a:prstGeom prst="rect">
            <a:avLst/>
          </a:prstGeom>
          <a:noFill/>
          <a:ln/>
        </p:spPr>
        <p:txBody>
          <a:bodyPr wrap="none" lIns="0" tIns="0" rIns="0" bIns="0" rtlCol="0" anchor="ctr"/>
          <a:lstStyle/>
          <a:p>
            <a:pPr algn="l" indent="0" marL="0">
              <a:buNone/>
            </a:pPr>
            <a:r>
              <a:rPr lang="en-US" sz="1050" spc="210" kern="0" dirty="0">
                <a:solidFill>
                  <a:srgbClr val="8A8270"/>
                </a:solidFill>
                <a:latin typeface="IBM Plex Sans KR" pitchFamily="34" charset="0"/>
                <a:ea typeface="IBM Plex Sans KR" pitchFamily="34" charset="-122"/>
                <a:cs typeface="IBM Plex Sans KR" pitchFamily="34" charset="-120"/>
              </a:rPr>
              <a:t>22 / 30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6D8"/>
        </a:solidFill>
      </p:bgPr>
    </p:bg>
    <p:spTree>
      <p:nvGrpSpPr>
        <p:cNvPr id="1" name=""/>
        <p:cNvGrpSpPr/>
        <p:nvPr/>
      </p:nvGrpSpPr>
      <p:grpSpPr>
        <a:xfrm>
          <a:off x="0" y="0"/>
          <a:ext cx="0" cy="0"/>
          <a:chOff x="0" y="0"/>
          <a:chExt cx="0" cy="0"/>
        </a:xfrm>
      </p:grpSpPr>
      <p:pic>
        <p:nvPicPr>
          <p:cNvPr id="2" name="Image 0" descr="gen-dedup-ab788423636bba93a404bf0120fac227.png">    </p:cNvPr>
          <p:cNvPicPr>
            <a:picLocks noChangeAspect="1"/>
          </p:cNvPicPr>
          <p:nvPr/>
        </p:nvPicPr>
        <p:blipFill>
          <a:blip r:embed="rId1"/>
          <a:srcRect l="-2083" r="-2083" t="0" b="0"/>
          <a:stretch/>
        </p:blipFill>
        <p:spPr>
          <a:xfrm>
            <a:off x="571500" y="2476195"/>
            <a:ext cx="17335195" cy="9144"/>
          </a:xfrm>
          <a:prstGeom prst="rect">
            <a:avLst/>
          </a:prstGeom>
        </p:spPr>
      </p:pic>
      <p:pic>
        <p:nvPicPr>
          <p:cNvPr id="3" name="Image 1" descr="gen-dedup-96382815d932f0ed0b4a0f1957c07569.png">    </p:cNvPr>
          <p:cNvPicPr>
            <a:picLocks noChangeAspect="1"/>
          </p:cNvPicPr>
          <p:nvPr/>
        </p:nvPicPr>
        <p:blipFill>
          <a:blip r:embed="rId2"/>
          <a:srcRect l="-2083" r="-2083" t="0" b="0"/>
          <a:stretch/>
        </p:blipFill>
        <p:spPr>
          <a:xfrm>
            <a:off x="571500" y="5715000"/>
            <a:ext cx="17335195" cy="9144"/>
          </a:xfrm>
          <a:prstGeom prst="rect">
            <a:avLst/>
          </a:prstGeom>
        </p:spPr>
      </p:pic>
      <p:sp>
        <p:nvSpPr>
          <p:cNvPr id="4" name="Shape 0"/>
          <p:cNvSpPr/>
          <p:nvPr/>
        </p:nvSpPr>
        <p:spPr>
          <a:xfrm>
            <a:off x="571500" y="2857500"/>
            <a:ext cx="17354398" cy="2495398"/>
          </a:xfrm>
          <a:prstGeom prst="rect">
            <a:avLst/>
          </a:prstGeom>
          <a:solidFill>
            <a:srgbClr val="1B1A14">
              <a:alpha val="6000"/>
            </a:srgbClr>
          </a:solidFill>
          <a:ln w="12700">
            <a:solidFill>
              <a:srgbClr val="1B1A14">
                <a:alpha val="10000"/>
              </a:srgbClr>
            </a:solidFill>
            <a:prstDash val="solid"/>
          </a:ln>
        </p:spPr>
      </p:sp>
      <p:sp>
        <p:nvSpPr>
          <p:cNvPr id="5" name="Shape 1"/>
          <p:cNvSpPr/>
          <p:nvPr/>
        </p:nvSpPr>
        <p:spPr>
          <a:xfrm>
            <a:off x="571500" y="5905195"/>
            <a:ext cx="8401507" cy="3829507"/>
          </a:xfrm>
          <a:prstGeom prst="rect">
            <a:avLst/>
          </a:prstGeom>
          <a:solidFill>
            <a:srgbClr val="B26A3A">
              <a:alpha val="8000"/>
            </a:srgbClr>
          </a:solidFill>
          <a:ln w="12700">
            <a:solidFill>
              <a:srgbClr val="1B1A14">
                <a:alpha val="10000"/>
              </a:srgbClr>
            </a:solidFill>
            <a:prstDash val="solid"/>
          </a:ln>
        </p:spPr>
      </p:sp>
      <p:pic>
        <p:nvPicPr>
          <p:cNvPr id="6" name="Image 2" descr="gen-dedup-094eb1b79ecce6e45cf5187c4bccb1db.png">    </p:cNvPr>
          <p:cNvPicPr>
            <a:picLocks noChangeAspect="1"/>
          </p:cNvPicPr>
          <p:nvPr/>
        </p:nvPicPr>
        <p:blipFill>
          <a:blip r:embed="rId3"/>
          <a:srcRect l="-396" r="-396" t="0" b="0"/>
          <a:stretch/>
        </p:blipFill>
        <p:spPr>
          <a:xfrm>
            <a:off x="571500" y="5905195"/>
            <a:ext cx="57607" cy="3810305"/>
          </a:xfrm>
          <a:prstGeom prst="rect">
            <a:avLst/>
          </a:prstGeom>
        </p:spPr>
      </p:pic>
      <p:sp>
        <p:nvSpPr>
          <p:cNvPr id="7" name="Text 2"/>
          <p:cNvSpPr txBox="1"/>
          <p:nvPr/>
        </p:nvSpPr>
        <p:spPr>
          <a:xfrm>
            <a:off x="914400" y="761695"/>
            <a:ext cx="11239805" cy="609905"/>
          </a:xfrm>
          <a:prstGeom prst="rect">
            <a:avLst/>
          </a:prstGeom>
          <a:noFill/>
          <a:ln/>
        </p:spPr>
        <p:txBody>
          <a:bodyPr wrap="none" lIns="0" tIns="0" rIns="0" bIns="0" rtlCol="0" anchor="ctr"/>
          <a:lstStyle/>
          <a:p>
            <a:pPr algn="l" indent="0" marL="0">
              <a:buNone/>
            </a:pPr>
            <a:r>
              <a:rPr lang="en-US" sz="4800" b="1" spc="-96" kern="0" dirty="0">
                <a:solidFill>
                  <a:srgbClr val="1B1A14"/>
                </a:solidFill>
                <a:latin typeface="IBM Plex Sans KR" pitchFamily="34" charset="0"/>
                <a:ea typeface="IBM Plex Sans KR" pitchFamily="34" charset="-122"/>
                <a:cs typeface="IBM Plex Sans KR" pitchFamily="34" charset="-120"/>
              </a:rPr>
              <a:t>선정 기준과 20편</a:t>
            </a:r>
            <a:endParaRPr lang="en-US" sz="4800" dirty="0"/>
          </a:p>
        </p:txBody>
      </p:sp>
      <p:sp>
        <p:nvSpPr>
          <p:cNvPr id="8" name="Text 3"/>
          <p:cNvSpPr txBox="1"/>
          <p:nvPr/>
        </p:nvSpPr>
        <p:spPr>
          <a:xfrm>
            <a:off x="12382805" y="914400"/>
            <a:ext cx="896112" cy="457200"/>
          </a:xfrm>
          <a:prstGeom prst="rect">
            <a:avLst/>
          </a:prstGeom>
          <a:noFill/>
          <a:ln/>
        </p:spPr>
        <p:txBody>
          <a:bodyPr wrap="none" lIns="0" tIns="0" rIns="0" bIns="0" rtlCol="0" anchor="ctr"/>
          <a:lstStyle/>
          <a:p>
            <a:pPr algn="l" indent="0" marL="0">
              <a:buNone/>
            </a:pPr>
            <a:r>
              <a:rPr lang="en-US" sz="3600" b="1" spc="-72" kern="0" dirty="0">
                <a:solidFill>
                  <a:srgbClr val="1B1A14"/>
                </a:solidFill>
                <a:latin typeface="IBM Plex Serif" pitchFamily="34" charset="0"/>
                <a:ea typeface="IBM Plex Serif" pitchFamily="34" charset="-122"/>
                <a:cs typeface="IBM Plex Serif" pitchFamily="34" charset="-120"/>
              </a:rPr>
              <a:t>849</a:t>
            </a:r>
            <a:endParaRPr lang="en-US" sz="3600" dirty="0"/>
          </a:p>
        </p:txBody>
      </p:sp>
      <p:sp>
        <p:nvSpPr>
          <p:cNvPr id="9" name="Text 4"/>
          <p:cNvSpPr txBox="1"/>
          <p:nvPr/>
        </p:nvSpPr>
        <p:spPr>
          <a:xfrm>
            <a:off x="12382805" y="1429207"/>
            <a:ext cx="800100" cy="210312"/>
          </a:xfrm>
          <a:prstGeom prst="rect">
            <a:avLst/>
          </a:prstGeom>
          <a:noFill/>
          <a:ln/>
        </p:spPr>
        <p:txBody>
          <a:bodyPr wrap="none" lIns="0" tIns="0" rIns="0" bIns="0" rtlCol="0" anchor="ctr"/>
          <a:lstStyle/>
          <a:p>
            <a:pPr algn="l" indent="0" marL="0">
              <a:buNone/>
            </a:pPr>
            <a:r>
              <a:rPr lang="en-US" sz="1125" dirty="0">
                <a:solidFill>
                  <a:srgbClr val="5C5546"/>
                </a:solidFill>
                <a:latin typeface="IBM Plex Sans KR" pitchFamily="34" charset="0"/>
                <a:ea typeface="IBM Plex Sans KR" pitchFamily="34" charset="-122"/>
                <a:cs typeface="IBM Plex Sans KR" pitchFamily="34" charset="-120"/>
              </a:rPr>
              <a:t>BEOL 질의</a:t>
            </a:r>
            <a:endParaRPr lang="en-US" sz="1125" dirty="0"/>
          </a:p>
        </p:txBody>
      </p:sp>
      <p:sp>
        <p:nvSpPr>
          <p:cNvPr id="10" name="Text 5"/>
          <p:cNvSpPr txBox="1"/>
          <p:nvPr/>
        </p:nvSpPr>
        <p:spPr>
          <a:xfrm>
            <a:off x="13406933" y="914400"/>
            <a:ext cx="1457554" cy="457200"/>
          </a:xfrm>
          <a:prstGeom prst="rect">
            <a:avLst/>
          </a:prstGeom>
          <a:noFill/>
          <a:ln/>
        </p:spPr>
        <p:txBody>
          <a:bodyPr wrap="none" lIns="0" tIns="0" rIns="0" bIns="0" rtlCol="0" anchor="ctr"/>
          <a:lstStyle/>
          <a:p>
            <a:pPr algn="l" indent="0" marL="0">
              <a:buNone/>
            </a:pPr>
            <a:r>
              <a:rPr lang="en-US" sz="3600" b="1" spc="-72" kern="0" dirty="0">
                <a:solidFill>
                  <a:srgbClr val="1B1A14"/>
                </a:solidFill>
                <a:latin typeface="IBM Plex Serif" pitchFamily="34" charset="0"/>
                <a:ea typeface="IBM Plex Serif" pitchFamily="34" charset="-122"/>
                <a:cs typeface="IBM Plex Serif" pitchFamily="34" charset="-120"/>
              </a:rPr>
              <a:t>27</a:t>
            </a:r>
            <a:endParaRPr lang="en-US" sz="3600" dirty="0"/>
          </a:p>
        </p:txBody>
      </p:sp>
      <p:sp>
        <p:nvSpPr>
          <p:cNvPr id="11" name="Text 6"/>
          <p:cNvSpPr txBox="1"/>
          <p:nvPr/>
        </p:nvSpPr>
        <p:spPr>
          <a:xfrm>
            <a:off x="13406933" y="1429207"/>
            <a:ext cx="1734617" cy="210312"/>
          </a:xfrm>
          <a:prstGeom prst="rect">
            <a:avLst/>
          </a:prstGeom>
          <a:noFill/>
          <a:ln/>
        </p:spPr>
        <p:txBody>
          <a:bodyPr wrap="none" lIns="0" tIns="0" rIns="0" bIns="0" rtlCol="0" anchor="ctr"/>
          <a:lstStyle/>
          <a:p>
            <a:pPr algn="l" indent="0" marL="0">
              <a:buNone/>
            </a:pPr>
            <a:r>
              <a:rPr lang="en-US" sz="1125" dirty="0">
                <a:solidFill>
                  <a:srgbClr val="5C5546"/>
                </a:solidFill>
                <a:latin typeface="IBM Plex Sans KR" pitchFamily="34" charset="0"/>
                <a:ea typeface="IBM Plex Sans KR" pitchFamily="34" charset="-122"/>
                <a:cs typeface="IBM Plex Sans KR" pitchFamily="34" charset="-120"/>
              </a:rPr>
              <a:t>subject:(interconnect)</a:t>
            </a:r>
            <a:endParaRPr lang="en-US" sz="1125" dirty="0"/>
          </a:p>
        </p:txBody>
      </p:sp>
      <p:sp>
        <p:nvSpPr>
          <p:cNvPr id="12" name="Text 7"/>
          <p:cNvSpPr txBox="1"/>
          <p:nvPr/>
        </p:nvSpPr>
        <p:spPr>
          <a:xfrm>
            <a:off x="15084857" y="914400"/>
            <a:ext cx="800100" cy="457200"/>
          </a:xfrm>
          <a:prstGeom prst="rect">
            <a:avLst/>
          </a:prstGeom>
          <a:noFill/>
          <a:ln/>
        </p:spPr>
        <p:txBody>
          <a:bodyPr wrap="none" lIns="0" tIns="0" rIns="0" bIns="0" rtlCol="0" anchor="ctr"/>
          <a:lstStyle/>
          <a:p>
            <a:pPr algn="l" indent="0" marL="0">
              <a:buNone/>
            </a:pPr>
            <a:r>
              <a:rPr lang="en-US" sz="3600" b="1" spc="-72" kern="0" dirty="0">
                <a:solidFill>
                  <a:srgbClr val="B26A3A"/>
                </a:solidFill>
                <a:latin typeface="IBM Plex Serif" pitchFamily="34" charset="0"/>
                <a:ea typeface="IBM Plex Serif" pitchFamily="34" charset="-122"/>
                <a:cs typeface="IBM Plex Serif" pitchFamily="34" charset="-120"/>
              </a:rPr>
              <a:t>20</a:t>
            </a:r>
            <a:endParaRPr lang="en-US" sz="3600" dirty="0"/>
          </a:p>
        </p:txBody>
      </p:sp>
      <p:sp>
        <p:nvSpPr>
          <p:cNvPr id="13" name="Text 8"/>
          <p:cNvSpPr txBox="1"/>
          <p:nvPr/>
        </p:nvSpPr>
        <p:spPr>
          <a:xfrm>
            <a:off x="15084857" y="1429207"/>
            <a:ext cx="972922" cy="210312"/>
          </a:xfrm>
          <a:prstGeom prst="rect">
            <a:avLst/>
          </a:prstGeom>
          <a:noFill/>
          <a:ln/>
        </p:spPr>
        <p:txBody>
          <a:bodyPr wrap="none" lIns="0" tIns="0" rIns="0" bIns="0" rtlCol="0" anchor="ctr"/>
          <a:lstStyle/>
          <a:p>
            <a:pPr algn="l" indent="0" marL="0">
              <a:buNone/>
            </a:pPr>
            <a:r>
              <a:rPr lang="en-US" sz="1125" dirty="0">
                <a:solidFill>
                  <a:srgbClr val="B26A3A"/>
                </a:solidFill>
                <a:latin typeface="IBM Plex Sans KR" pitchFamily="34" charset="0"/>
                <a:ea typeface="IBM Plex Sans KR" pitchFamily="34" charset="-122"/>
                <a:cs typeface="IBM Plex Sans KR" pitchFamily="34" charset="-120"/>
              </a:rPr>
              <a:t>편 골랐습니다</a:t>
            </a:r>
            <a:endParaRPr lang="en-US" sz="1125" dirty="0"/>
          </a:p>
        </p:txBody>
      </p:sp>
      <p:sp>
        <p:nvSpPr>
          <p:cNvPr id="14" name="Text 9"/>
          <p:cNvSpPr txBox="1"/>
          <p:nvPr/>
        </p:nvSpPr>
        <p:spPr>
          <a:xfrm>
            <a:off x="914400" y="5410505"/>
            <a:ext cx="16764610" cy="181051"/>
          </a:xfrm>
          <a:prstGeom prst="rect">
            <a:avLst/>
          </a:prstGeom>
          <a:noFill/>
          <a:ln/>
        </p:spPr>
        <p:txBody>
          <a:bodyPr wrap="none" lIns="0" tIns="0" rIns="0" bIns="0" rtlCol="0" anchor="ctr"/>
          <a:lstStyle/>
          <a:p>
            <a:pPr algn="l" indent="0" marL="0">
              <a:buNone/>
            </a:pPr>
            <a:r>
              <a:rPr lang="en-US" sz="975" spc="39" kern="0" dirty="0">
                <a:solidFill>
                  <a:srgbClr val="8A8270"/>
                </a:solidFill>
                <a:latin typeface="IBM Plex Sans KR" pitchFamily="34" charset="0"/>
                <a:ea typeface="IBM Plex Sans KR" pitchFamily="34" charset="-122"/>
                <a:cs typeface="IBM Plex Sans KR" pitchFamily="34" charset="-120"/>
              </a:rPr>
              <a:t>BEOL Cu/low-k interconnect cross-section · imec</a:t>
            </a:r>
            <a:endParaRPr lang="en-US" sz="975" dirty="0"/>
          </a:p>
        </p:txBody>
      </p:sp>
      <p:sp>
        <p:nvSpPr>
          <p:cNvPr id="15" name="Text 10"/>
          <p:cNvSpPr txBox="1"/>
          <p:nvPr/>
        </p:nvSpPr>
        <p:spPr>
          <a:xfrm>
            <a:off x="914400" y="6096305"/>
            <a:ext cx="7810805" cy="1257300"/>
          </a:xfrm>
          <a:prstGeom prst="rect">
            <a:avLst/>
          </a:prstGeom>
          <a:noFill/>
          <a:ln/>
        </p:spPr>
        <p:txBody>
          <a:bodyPr wrap="square" lIns="0" tIns="0" rIns="0" bIns="0" rtlCol="0" anchor="ctr"/>
          <a:lstStyle/>
          <a:p>
            <a:pPr algn="l" indent="0" marL="0">
              <a:lnSpc>
                <a:spcPts val="2475"/>
              </a:lnSpc>
              <a:buNone/>
            </a:pPr>
            <a:r>
              <a:rPr lang="en-US" sz="1650" dirty="0">
                <a:solidFill>
                  <a:srgbClr val="1B1A14"/>
                </a:solidFill>
                <a:latin typeface="IBM Plex Sans KR" pitchFamily="34" charset="0"/>
                <a:ea typeface="IBM Plex Sans KR" pitchFamily="34" charset="-122"/>
                <a:cs typeface="IBM Plex Sans KR" pitchFamily="34" charset="-120"/>
              </a:rPr>
              <a:t>imec Institutional Repository에서 BEOL 질의가 849건, subject:(interconnect)가 27건을 돌려줍니다. 849건 중 BEOL 코어 이슈(금속화·패터닝·신뢰성·열)를 다루고, 원문 전문 또는 수치가 담긴 초록에 접근 가능한 논문 20편을 골랐습니다. 리포지터리 PDF는 대부분 request-a-copy 제한이라, 오픈액세스·무료 accepted manuscript를 우선했습니다.</a:t>
            </a:r>
            <a:endParaRPr lang="en-US" sz="1650" dirty="0"/>
          </a:p>
        </p:txBody>
      </p:sp>
      <p:sp>
        <p:nvSpPr>
          <p:cNvPr id="16" name="Text 11"/>
          <p:cNvSpPr txBox="1"/>
          <p:nvPr/>
        </p:nvSpPr>
        <p:spPr>
          <a:xfrm>
            <a:off x="9144000" y="5905195"/>
            <a:ext cx="8572500" cy="181051"/>
          </a:xfrm>
          <a:prstGeom prst="rect">
            <a:avLst/>
          </a:prstGeom>
          <a:noFill/>
          <a:ln/>
        </p:spPr>
        <p:txBody>
          <a:bodyPr wrap="none" lIns="0" tIns="0" rIns="0" bIns="0" rtlCol="0" anchor="ctr"/>
          <a:lstStyle/>
          <a:p>
            <a:pPr algn="l" indent="0" marL="0">
              <a:buNone/>
            </a:pPr>
            <a:r>
              <a:rPr lang="en-US" sz="975" spc="39" kern="0" dirty="0">
                <a:solidFill>
                  <a:srgbClr val="5C5546"/>
                </a:solidFill>
                <a:latin typeface="IBM Plex Sans KR" pitchFamily="34" charset="0"/>
                <a:ea typeface="IBM Plex Sans KR" pitchFamily="34" charset="-122"/>
                <a:cs typeface="IBM Plex Sans KR" pitchFamily="34" charset="-120"/>
              </a:rPr>
              <a:t>논문 (제1저자, 연도) · 출처 · 축 · 전문 접근</a:t>
            </a:r>
            <a:endParaRPr lang="en-US" sz="97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144000" y="6172200"/>
          <a:ext cx="8572500" cy="3639312"/>
        </p:xfrm>
        <a:graphic>
          <a:graphicData uri="http://schemas.openxmlformats.org/drawingml/2006/table">
            <a:tbl>
              <a:tblPr/>
              <a:tblGrid>
                <a:gridCol w="3943387"/>
                <a:gridCol w="2057181"/>
                <a:gridCol w="1200479"/>
                <a:gridCol w="1371454"/>
              </a:tblGrid>
              <a:tr h="173301">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논문</a:t>
                      </a:r>
                      <a:endParaRPr lang="en-US" sz="825" dirty="0">
                        <a:latin typeface="IBM Plex Sans KR" charset="0"/>
                        <a:ea typeface="IBM Plex Sans KR" charset="0"/>
                        <a:cs typeface="IBM Plex Sans KR" charset="0"/>
                      </a:endParaRPr>
                    </a:p>
                  </a:txBody>
                  <a:tcPr marL="57607" marR="57607"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6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출처</a:t>
                      </a:r>
                      <a:endParaRPr lang="en-US" sz="825" dirty="0">
                        <a:latin typeface="IBM Plex Sans KR" charset="0"/>
                        <a:ea typeface="IBM Plex Sans KR" charset="0"/>
                        <a:cs typeface="IBM Plex Sans KR" charset="0"/>
                      </a:endParaRPr>
                    </a:p>
                  </a:txBody>
                  <a:tcPr marL="57607" marR="57607"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6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축</a:t>
                      </a:r>
                      <a:endParaRPr lang="en-US" sz="825" dirty="0">
                        <a:latin typeface="IBM Plex Sans KR" charset="0"/>
                        <a:ea typeface="IBM Plex Sans KR" charset="0"/>
                        <a:cs typeface="IBM Plex Sans KR" charset="0"/>
                      </a:endParaRPr>
                    </a:p>
                  </a:txBody>
                  <a:tcPr marL="57607" marR="57607"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6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전문 접근</a:t>
                      </a:r>
                      <a:endParaRPr lang="en-US" sz="825" dirty="0">
                        <a:latin typeface="IBM Plex Sans KR" charset="0"/>
                        <a:ea typeface="IBM Plex Sans KR" charset="0"/>
                        <a:cs typeface="IBM Plex Sans KR" charset="0"/>
                      </a:endParaRPr>
                    </a:p>
                  </a:txBody>
                  <a:tcPr marL="57607" marR="57607"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6000"/>
                      </a:srgbClr>
                    </a:solidFill>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Selecting alternative metals for advanced interconnects (Soulié, 2024)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J. Appl. Phys. 136, 171101</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B26A3A"/>
                          </a:solidFill>
                          <a:latin typeface="IBM Plex Sans KR" pitchFamily="34" charset="0"/>
                          <a:ea typeface="IBM Plex Sans KR" pitchFamily="34" charset="-122"/>
                          <a:cs typeface="IBM Plex Sans KR" pitchFamily="34" charset="-120"/>
                        </a:rPr>
                        <a:t>금속화</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CC BY-NC · arXiv</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Cu₁₋ₓAlₓ films as alternatives to copper (Soulié, 2024)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JVST B 42, 043203</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B26A3A"/>
                          </a:solidFill>
                          <a:latin typeface="IBM Plex Sans KR" pitchFamily="34" charset="0"/>
                          <a:ea typeface="IBM Plex Sans KR" pitchFamily="34" charset="-122"/>
                          <a:cs typeface="IBM Plex Sans KR" pitchFamily="34" charset="-120"/>
                        </a:rPr>
                        <a:t>금속화</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arXiv</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First-principles screening of anisotropic metals (Moors,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Phys. Rev. Mater. 6, 123804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B26A3A"/>
                          </a:solidFill>
                          <a:latin typeface="IBM Plex Sans KR" pitchFamily="34" charset="0"/>
                          <a:ea typeface="IBM Plex Sans KR" pitchFamily="34" charset="-122"/>
                          <a:cs typeface="IBM Plex Sans KR" pitchFamily="34" charset="-120"/>
                        </a:rPr>
                        <a:t>금속화</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arXiv</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Ab initio screening of metallic MAX ceramics (Sankaran, 2021)</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Phys. Rev. Mater. 5, 056002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B26A3A"/>
                          </a:solidFill>
                          <a:latin typeface="IBM Plex Sans KR" pitchFamily="34" charset="0"/>
                          <a:ea typeface="IBM Plex Sans KR" pitchFamily="34" charset="-122"/>
                          <a:cs typeface="IBM Plex Sans KR" pitchFamily="34" charset="-120"/>
                        </a:rPr>
                        <a:t>금속화</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arXiv</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Thermally induced anomaly in 18 nm pitch Ru (Shah, 2026)</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ACS Appl. Mater. Interfaces 18, 20763</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B26A3A"/>
                          </a:solidFill>
                          <a:latin typeface="IBM Plex Sans KR" pitchFamily="34" charset="0"/>
                          <a:ea typeface="IBM Plex Sans KR" pitchFamily="34" charset="-122"/>
                          <a:cs typeface="IBM Plex Sans KR" pitchFamily="34" charset="-120"/>
                        </a:rPr>
                        <a:t>금속화</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유료 (초록만)</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Two metal level semi-damascene with FSAV at 18MP (Murdoch,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VLSI Symp.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3D4F60"/>
                          </a:solidFill>
                          <a:latin typeface="IBM Plex Sans KR" pitchFamily="34" charset="0"/>
                          <a:ea typeface="IBM Plex Sans KR" pitchFamily="34" charset="-122"/>
                          <a:cs typeface="IBM Plex Sans KR" pitchFamily="34" charset="-120"/>
                        </a:rPr>
                        <a:t>패터닝</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imec 무료 전문</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3-level high aspect ratio supervias (Montero Alvarez,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IITC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3D4F60"/>
                          </a:solidFill>
                          <a:latin typeface="IBM Plex Sans KR" pitchFamily="34" charset="0"/>
                          <a:ea typeface="IBM Plex Sans KR" pitchFamily="34" charset="-122"/>
                          <a:cs typeface="IBM Plex Sans KR" pitchFamily="34" charset="-120"/>
                        </a:rPr>
                        <a:t>패터닝</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imec 무료 전문</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Scatterometry for 14 nm half-pitch BEOL EUV (Das, 2021)</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Proc. SPIE 11611, 116112A</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3D4F60"/>
                          </a:solidFill>
                          <a:latin typeface="IBM Plex Sans KR" pitchFamily="34" charset="0"/>
                          <a:ea typeface="IBM Plex Sans KR" pitchFamily="34" charset="-122"/>
                          <a:cs typeface="IBM Plex Sans KR" pitchFamily="34" charset="-120"/>
                        </a:rPr>
                        <a:t>패터닝</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벤더 리프린트</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EM in redundant mesh networks (Zahedmanesh, 2024)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Micromachines 15, 956</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CC BY</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Unit-cell EM compliance in VLSI PDN (Esposto, 2025)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IEEE TDMR 25, 232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Green OA</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3D modeling of BEOL TDDB, sub-20 nm HP (Fang, 2025)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IEEE TED 72, 2165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유료</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Current understanding of BEOL TDDB lifetime models (Croes, 2015)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ECS JSS 4, N3094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CC BY-NC-ND</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LER and spacing variability on BEOL TDDB (Kocaay, 2017)</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Microelectron. Reliab. 76-77, 131</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유료</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In-situ SEM of fracture during BEOL microbeam bending (Vanstreels, 2014)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Appl. Phys. Lett. 105, 213102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Bronze OA</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LF noise in BEOL MIM capacitors (Giusi, 2025)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IEEE TED 72, 1933</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8E4E37"/>
                          </a:solidFill>
                          <a:latin typeface="IBM Plex Sans KR" pitchFamily="34" charset="0"/>
                          <a:ea typeface="IBM Plex Sans KR" pitchFamily="34" charset="-122"/>
                          <a:cs typeface="IBM Plex Sans KR" pitchFamily="34" charset="-120"/>
                        </a:rPr>
                        <a:t>신뢰성</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imec 무료 전문</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Thermal modeling for BEOL and BSPDN stacks (Chang, 2024)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ECTC 2024, p.498</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5F6E48"/>
                          </a:solidFill>
                          <a:latin typeface="IBM Plex Sans KR" pitchFamily="34" charset="0"/>
                          <a:ea typeface="IBM Plex Sans KR" pitchFamily="34" charset="-122"/>
                          <a:cs typeface="IBM Plex Sans KR" pitchFamily="34" charset="-120"/>
                        </a:rPr>
                        <a:t>열</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Green OA</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Equivalent thermal properties for BEOL stacks (Chang, 2025)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IEEE TCPMT 15, 1708</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5F6E48"/>
                          </a:solidFill>
                          <a:latin typeface="IBM Plex Sans KR" pitchFamily="34" charset="0"/>
                          <a:ea typeface="IBM Plex Sans KR" pitchFamily="34" charset="-122"/>
                          <a:cs typeface="IBM Plex Sans KR" pitchFamily="34" charset="-120"/>
                        </a:rPr>
                        <a:t>열</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유료</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Non-uniform power in BSPDN chiplets (Chen, 2025)</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arXiv:2508.02284</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5F6E48"/>
                          </a:solidFill>
                          <a:latin typeface="IBM Plex Sans KR" pitchFamily="34" charset="0"/>
                          <a:ea typeface="IBM Plex Sans KR" pitchFamily="34" charset="-122"/>
                          <a:cs typeface="IBM Plex Sans KR" pitchFamily="34" charset="-120"/>
                        </a:rPr>
                        <a:t>열</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오픈</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CNT on-chip interconnects (Xu, 2022)</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Micromachines 13, 1148</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5D4E6B"/>
                          </a:solidFill>
                          <a:latin typeface="IBM Plex Sans KR" pitchFamily="34" charset="0"/>
                          <a:ea typeface="IBM Plex Sans KR" pitchFamily="34" charset="-122"/>
                          <a:cs typeface="IBM Plex Sans KR" pitchFamily="34" charset="-120"/>
                        </a:rPr>
                        <a:t>대체 배선</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CC BY</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173301">
                <a:tc>
                  <a:txBody>
                    <a:bodyPr/>
                    <a:lstStyle/>
                    <a:p>
                      <a:pPr indent="0" marL="0">
                        <a:buNone/>
                      </a:pPr>
                      <a:r>
                        <a:rPr lang="en-US" sz="750" dirty="0">
                          <a:solidFill>
                            <a:srgbClr val="1B1A14"/>
                          </a:solidFill>
                          <a:latin typeface="IBM Plex Sans KR" pitchFamily="34" charset="0"/>
                          <a:ea typeface="IBM Plex Sans KR" pitchFamily="34" charset="-122"/>
                          <a:cs typeface="IBM Plex Sans KR" pitchFamily="34" charset="-120"/>
                        </a:rPr>
                        <a:t>Graphene interconnect for large SRAM caches (Pei, 2023)</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IEEE TED 70, 230</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b="1" dirty="0">
                          <a:solidFill>
                            <a:srgbClr val="5D4E6B"/>
                          </a:solidFill>
                          <a:latin typeface="IBM Plex Sans KR" pitchFamily="34" charset="0"/>
                          <a:ea typeface="IBM Plex Sans KR" pitchFamily="34" charset="-122"/>
                          <a:cs typeface="IBM Plex Sans KR" pitchFamily="34" charset="-120"/>
                        </a:rPr>
                        <a:t>대체 배선</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750" dirty="0">
                          <a:solidFill>
                            <a:srgbClr val="5C5546"/>
                          </a:solidFill>
                          <a:latin typeface="IBM Plex Sans KR" pitchFamily="34" charset="0"/>
                          <a:ea typeface="IBM Plex Sans KR" pitchFamily="34" charset="-122"/>
                          <a:cs typeface="IBM Plex Sans KR" pitchFamily="34" charset="-120"/>
                        </a:rPr>
                        <a:t>무료 manuscript</a:t>
                      </a:r>
                      <a:endParaRPr lang="en-US" sz="750" dirty="0">
                        <a:latin typeface="IBM Plex Sans KR" charset="0"/>
                        <a:ea typeface="IBM Plex Sans KR" charset="0"/>
                        <a:cs typeface="IBM Plex Sans KR" charset="0"/>
                      </a:endParaRPr>
                    </a:p>
                  </a:txBody>
                  <a:tcPr marL="57607" marR="57607"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8" name="Text 12"/>
          <p:cNvSpPr txBox="1"/>
          <p:nvPr/>
        </p:nvSpPr>
        <p:spPr>
          <a:xfrm>
            <a:off x="914400" y="10019995"/>
            <a:ext cx="5715000" cy="200254"/>
          </a:xfrm>
          <a:prstGeom prst="rect">
            <a:avLst/>
          </a:prstGeom>
          <a:noFill/>
          <a:ln/>
        </p:spPr>
        <p:txBody>
          <a:bodyPr wrap="none" lIns="0" tIns="0" rIns="0" bIns="0" rtlCol="0" anchor="ctr"/>
          <a:lstStyle/>
          <a:p>
            <a:pPr algn="l" indent="0" marL="0">
              <a:buNone/>
            </a:pPr>
            <a:r>
              <a:rPr lang="en-US" sz="1050" spc="210" kern="0" dirty="0">
                <a:solidFill>
                  <a:srgbClr val="8A8270"/>
                </a:solidFill>
                <a:latin typeface="IBM Plex Sans KR" pitchFamily="34" charset="0"/>
                <a:ea typeface="IBM Plex Sans KR" pitchFamily="34" charset="-122"/>
                <a:cs typeface="IBM Plex Sans KR" pitchFamily="34" charset="-120"/>
              </a:rPr>
              <a:t>22 / 30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6D8"/>
        </a:solidFill>
      </p:bgPr>
    </p:bg>
    <p:spTree>
      <p:nvGrpSpPr>
        <p:cNvPr id="1" name=""/>
        <p:cNvGrpSpPr/>
        <p:nvPr/>
      </p:nvGrpSpPr>
      <p:grpSpPr>
        <a:xfrm>
          <a:off x="0" y="0"/>
          <a:ext cx="0" cy="0"/>
          <a:chOff x="0" y="0"/>
          <a:chExt cx="0" cy="0"/>
        </a:xfrm>
      </p:grpSpPr>
      <p:pic>
        <p:nvPicPr>
          <p:cNvPr id="2" name="Image 0" descr="gen-dedup-ab788423636bba93a404bf0120fac227.png">    </p:cNvPr>
          <p:cNvPicPr>
            <a:picLocks noChangeAspect="1"/>
          </p:cNvPicPr>
          <p:nvPr/>
        </p:nvPicPr>
        <p:blipFill>
          <a:blip r:embed="rId1"/>
          <a:srcRect l="-2083" r="-2083" t="0" b="0"/>
          <a:stretch/>
        </p:blipFill>
        <p:spPr>
          <a:xfrm>
            <a:off x="571500" y="2667305"/>
            <a:ext cx="17335195" cy="9144"/>
          </a:xfrm>
          <a:prstGeom prst="rect">
            <a:avLst/>
          </a:prstGeom>
        </p:spPr>
      </p:pic>
      <p:sp>
        <p:nvSpPr>
          <p:cNvPr id="3" name="Shape 0"/>
          <p:cNvSpPr/>
          <p:nvPr/>
        </p:nvSpPr>
        <p:spPr>
          <a:xfrm>
            <a:off x="571500" y="2857500"/>
            <a:ext cx="7830007" cy="3448202"/>
          </a:xfrm>
          <a:prstGeom prst="rect">
            <a:avLst/>
          </a:prstGeom>
          <a:solidFill>
            <a:srgbClr val="B26A3A">
              <a:alpha val="8000"/>
            </a:srgbClr>
          </a:solidFill>
          <a:ln w="12700">
            <a:solidFill>
              <a:srgbClr val="1B1A14">
                <a:alpha val="10000"/>
              </a:srgbClr>
            </a:solidFill>
            <a:prstDash val="solid"/>
          </a:ln>
        </p:spPr>
      </p:sp>
      <p:sp>
        <p:nvSpPr>
          <p:cNvPr id="4" name="Shape 1"/>
          <p:cNvSpPr/>
          <p:nvPr/>
        </p:nvSpPr>
        <p:spPr>
          <a:xfrm>
            <a:off x="8572500" y="2857500"/>
            <a:ext cx="3448202" cy="3448202"/>
          </a:xfrm>
          <a:prstGeom prst="rect">
            <a:avLst/>
          </a:prstGeom>
          <a:solidFill>
            <a:srgbClr val="1B1A14">
              <a:alpha val="6000"/>
            </a:srgbClr>
          </a:solidFill>
          <a:ln w="12700">
            <a:solidFill>
              <a:srgbClr val="1B1A14">
                <a:alpha val="10000"/>
              </a:srgbClr>
            </a:solidFill>
            <a:prstDash val="solid"/>
          </a:ln>
        </p:spPr>
      </p:sp>
      <p:sp>
        <p:nvSpPr>
          <p:cNvPr id="5" name="Shape 2"/>
          <p:cNvSpPr/>
          <p:nvPr/>
        </p:nvSpPr>
        <p:spPr>
          <a:xfrm>
            <a:off x="12191695" y="2857500"/>
            <a:ext cx="5544007" cy="3448202"/>
          </a:xfrm>
          <a:prstGeom prst="rect">
            <a:avLst/>
          </a:prstGeom>
          <a:solidFill>
            <a:srgbClr val="E1D9C2"/>
          </a:solidFill>
          <a:ln w="12700">
            <a:solidFill>
              <a:srgbClr val="1B1A14">
                <a:alpha val="10000"/>
              </a:srgbClr>
            </a:solidFill>
            <a:prstDash val="solid"/>
          </a:ln>
        </p:spPr>
      </p:sp>
      <p:sp>
        <p:nvSpPr>
          <p:cNvPr id="6" name="Shape 3"/>
          <p:cNvSpPr/>
          <p:nvPr/>
        </p:nvSpPr>
        <p:spPr>
          <a:xfrm>
            <a:off x="571500" y="6667805"/>
            <a:ext cx="7830007" cy="3066898"/>
          </a:xfrm>
          <a:prstGeom prst="rect">
            <a:avLst/>
          </a:prstGeom>
          <a:solidFill>
            <a:srgbClr val="B26A3A">
              <a:alpha val="8000"/>
            </a:srgbClr>
          </a:solidFill>
          <a:ln w="12700">
            <a:solidFill>
              <a:srgbClr val="1B1A14">
                <a:alpha val="10000"/>
              </a:srgbClr>
            </a:solidFill>
            <a:prstDash val="solid"/>
          </a:ln>
        </p:spPr>
      </p:sp>
      <p:sp>
        <p:nvSpPr>
          <p:cNvPr id="7" name="Shape 4"/>
          <p:cNvSpPr/>
          <p:nvPr/>
        </p:nvSpPr>
        <p:spPr>
          <a:xfrm>
            <a:off x="8572500" y="6667805"/>
            <a:ext cx="3448202" cy="2876702"/>
          </a:xfrm>
          <a:prstGeom prst="rect">
            <a:avLst/>
          </a:prstGeom>
          <a:solidFill>
            <a:srgbClr val="1B1A14">
              <a:alpha val="6000"/>
            </a:srgbClr>
          </a:solidFill>
          <a:ln w="12700">
            <a:solidFill>
              <a:srgbClr val="1B1A14">
                <a:alpha val="10000"/>
              </a:srgbClr>
            </a:solidFill>
            <a:prstDash val="solid"/>
          </a:ln>
        </p:spPr>
      </p:sp>
      <p:sp>
        <p:nvSpPr>
          <p:cNvPr id="8" name="Shape 5"/>
          <p:cNvSpPr/>
          <p:nvPr/>
        </p:nvSpPr>
        <p:spPr>
          <a:xfrm>
            <a:off x="12191695" y="6667805"/>
            <a:ext cx="5544007" cy="3066898"/>
          </a:xfrm>
          <a:prstGeom prst="rect">
            <a:avLst/>
          </a:prstGeom>
          <a:solidFill>
            <a:srgbClr val="8E4E37">
              <a:alpha val="8000"/>
            </a:srgbClr>
          </a:solidFill>
          <a:ln w="12700">
            <a:solidFill>
              <a:srgbClr val="1B1A14">
                <a:alpha val="10000"/>
              </a:srgbClr>
            </a:solidFill>
            <a:prstDash val="solid"/>
          </a:ln>
        </p:spPr>
      </p:sp>
      <p:pic>
        <p:nvPicPr>
          <p:cNvPr id="9" name="Image 1" descr="gen-dedup-ab788423636bba93a404bf0120fac227.png">    </p:cNvPr>
          <p:cNvPicPr>
            <a:picLocks noChangeAspect="1"/>
          </p:cNvPicPr>
          <p:nvPr/>
        </p:nvPicPr>
        <p:blipFill>
          <a:blip r:embed="rId2"/>
          <a:srcRect l="-2083" r="-2083" t="0" b="0"/>
          <a:stretch/>
        </p:blipFill>
        <p:spPr>
          <a:xfrm>
            <a:off x="571500" y="9905695"/>
            <a:ext cx="17335195" cy="9144"/>
          </a:xfrm>
          <a:prstGeom prst="rect">
            <a:avLst/>
          </a:prstGeom>
        </p:spPr>
      </p:pic>
      <p:pic>
        <p:nvPicPr>
          <p:cNvPr id="10" name="Image 2" descr="gen-dedup-b8d4eac04fbb319a61c260fab0fa1699.png">    </p:cNvPr>
          <p:cNvPicPr>
            <a:picLocks noChangeAspect="1"/>
          </p:cNvPicPr>
          <p:nvPr/>
        </p:nvPicPr>
        <p:blipFill>
          <a:blip r:embed="rId3"/>
          <a:srcRect l="-400" r="-400" t="0" b="0"/>
          <a:stretch/>
        </p:blipFill>
        <p:spPr>
          <a:xfrm>
            <a:off x="571500" y="2857500"/>
            <a:ext cx="57607" cy="3429000"/>
          </a:xfrm>
          <a:prstGeom prst="rect">
            <a:avLst/>
          </a:prstGeom>
        </p:spPr>
      </p:pic>
      <p:pic>
        <p:nvPicPr>
          <p:cNvPr id="11" name="Image 3" descr="gen-dedup-b8d4eac04fbb319a61c260fab0fa1699.png">    </p:cNvPr>
          <p:cNvPicPr>
            <a:picLocks noChangeAspect="1"/>
          </p:cNvPicPr>
          <p:nvPr/>
        </p:nvPicPr>
        <p:blipFill>
          <a:blip r:embed="rId4"/>
          <a:srcRect l="-400" r="-400" t="0" b="0"/>
          <a:stretch/>
        </p:blipFill>
        <p:spPr>
          <a:xfrm>
            <a:off x="12191695" y="2857500"/>
            <a:ext cx="57607" cy="3429000"/>
          </a:xfrm>
          <a:prstGeom prst="rect">
            <a:avLst/>
          </a:prstGeom>
        </p:spPr>
      </p:pic>
      <p:pic>
        <p:nvPicPr>
          <p:cNvPr id="12" name="Image 4" descr="gen-dedup-fae3a6f061cce3bbde0d688104f93b8c.png">    </p:cNvPr>
          <p:cNvPicPr>
            <a:picLocks noChangeAspect="1"/>
          </p:cNvPicPr>
          <p:nvPr/>
        </p:nvPicPr>
        <p:blipFill>
          <a:blip r:embed="rId5"/>
          <a:srcRect l="-405" r="-405" t="0" b="0"/>
          <a:stretch/>
        </p:blipFill>
        <p:spPr>
          <a:xfrm>
            <a:off x="571500" y="6667805"/>
            <a:ext cx="57607" cy="3047695"/>
          </a:xfrm>
          <a:prstGeom prst="rect">
            <a:avLst/>
          </a:prstGeom>
        </p:spPr>
      </p:pic>
      <p:pic>
        <p:nvPicPr>
          <p:cNvPr id="13" name="Image 5" descr="gen-dedup-ff60f299939fb3b2d504423ab49e09b0.png">    </p:cNvPr>
          <p:cNvPicPr>
            <a:picLocks noChangeAspect="1"/>
          </p:cNvPicPr>
          <p:nvPr/>
        </p:nvPicPr>
        <p:blipFill>
          <a:blip r:embed="rId6"/>
          <a:srcRect l="-405" r="-405" t="0" b="0"/>
          <a:stretch/>
        </p:blipFill>
        <p:spPr>
          <a:xfrm>
            <a:off x="12191695" y="6667805"/>
            <a:ext cx="57607" cy="3047695"/>
          </a:xfrm>
          <a:prstGeom prst="rect">
            <a:avLst/>
          </a:prstGeom>
        </p:spPr>
      </p:pic>
      <p:sp>
        <p:nvSpPr>
          <p:cNvPr id="14" name="Text 6"/>
          <p:cNvSpPr txBox="1"/>
          <p:nvPr/>
        </p:nvSpPr>
        <p:spPr>
          <a:xfrm>
            <a:off x="914400" y="761695"/>
            <a:ext cx="11811305" cy="962863"/>
          </a:xfrm>
          <a:prstGeom prst="rect">
            <a:avLst/>
          </a:prstGeom>
          <a:noFill/>
          <a:ln/>
        </p:spPr>
        <p:txBody>
          <a:bodyPr wrap="square" lIns="0" tIns="0" rIns="0" bIns="0" rtlCol="0" anchor="t"/>
          <a:lstStyle/>
          <a:p>
            <a:pPr algn="l" indent="0" marL="0">
              <a:lnSpc>
                <a:spcPct val="105000"/>
              </a:lnSpc>
              <a:buNone/>
            </a:pPr>
            <a:r>
              <a:rPr lang="en-US" sz="3600" b="1" spc="-72" kern="0" dirty="0">
                <a:solidFill>
                  <a:srgbClr val="1B1A14"/>
                </a:solidFill>
                <a:latin typeface="IBM Plex Sans KR" pitchFamily="34" charset="0"/>
                <a:ea typeface="IBM Plex Sans KR" pitchFamily="34" charset="-122"/>
                <a:cs typeface="IBM Plex Sans KR" pitchFamily="34" charset="-120"/>
              </a:rPr>
              <a:t>금속화: Cu가 지는 지점은</a:t>
            </a:r>
            <a:pPr algn="l" indent="0" marL="0">
              <a:lnSpc>
                <a:spcPct val="105000"/>
              </a:lnSpc>
              <a:buNone/>
            </a:pPr>
            <a:endParaRPr lang="en-US" sz="3600" dirty="0"/>
          </a:p>
          <a:p>
            <a:pPr algn="l" indent="0" marL="0">
              <a:lnSpc>
                <a:spcPct val="105000"/>
              </a:lnSpc>
              <a:buNone/>
            </a:pPr>
            <a:r>
              <a:rPr lang="en-US" sz="3600" b="1" spc="-72" kern="0" dirty="0">
                <a:solidFill>
                  <a:srgbClr val="B26A3A"/>
                </a:solidFill>
                <a:latin typeface="IBM Plex Sans KR" pitchFamily="34" charset="0"/>
                <a:ea typeface="IBM Plex Sans KR" pitchFamily="34" charset="-122"/>
                <a:cs typeface="IBM Plex Sans KR" pitchFamily="34" charset="-120"/>
              </a:rPr>
              <a:t>저항률이 아니라 평균자유경로다</a:t>
            </a:r>
            <a:endParaRPr lang="en-US" sz="3600" dirty="0"/>
          </a:p>
        </p:txBody>
      </p:sp>
      <p:sp>
        <p:nvSpPr>
          <p:cNvPr id="15" name="Text 7"/>
          <p:cNvSpPr txBox="1"/>
          <p:nvPr/>
        </p:nvSpPr>
        <p:spPr>
          <a:xfrm>
            <a:off x="13144500" y="914400"/>
            <a:ext cx="4572000" cy="534010"/>
          </a:xfrm>
          <a:prstGeom prst="rect">
            <a:avLst/>
          </a:prstGeom>
          <a:noFill/>
          <a:ln/>
        </p:spPr>
        <p:txBody>
          <a:bodyPr wrap="none" lIns="0" tIns="0" rIns="0" bIns="0" rtlCol="0" anchor="ctr"/>
          <a:lstStyle/>
          <a:p>
            <a:pPr algn="l" indent="0" marL="0">
              <a:buNone/>
            </a:pPr>
            <a:r>
              <a:rPr lang="en-US" sz="4200" b="1" spc="-84" kern="0" dirty="0">
                <a:solidFill>
                  <a:srgbClr val="B26A3A"/>
                </a:solidFill>
                <a:latin typeface="IBM Plex Serif" pitchFamily="34" charset="0"/>
                <a:ea typeface="IBM Plex Serif" pitchFamily="34" charset="-122"/>
                <a:cs typeface="IBM Plex Serif" pitchFamily="34" charset="-120"/>
              </a:rPr>
              <a:t>ρ₀ · λ</a:t>
            </a:r>
            <a:endParaRPr lang="en-US" sz="4200" dirty="0"/>
          </a:p>
        </p:txBody>
      </p:sp>
      <p:sp>
        <p:nvSpPr>
          <p:cNvPr id="16" name="Text 8"/>
          <p:cNvSpPr txBox="1"/>
          <p:nvPr/>
        </p:nvSpPr>
        <p:spPr>
          <a:xfrm>
            <a:off x="13144500" y="1517904"/>
            <a:ext cx="4572000" cy="540410"/>
          </a:xfrm>
          <a:prstGeom prst="rect">
            <a:avLst/>
          </a:prstGeom>
          <a:noFill/>
          <a:ln/>
        </p:spPr>
        <p:txBody>
          <a:bodyPr wrap="square" lIns="0" tIns="0" rIns="0" bIns="0" rtlCol="0" anchor="t"/>
          <a:lstStyle/>
          <a:p>
            <a:pPr algn="l" indent="0" marL="0">
              <a:lnSpc>
                <a:spcPts val="2025"/>
              </a:lnSpc>
              <a:buNone/>
            </a:pPr>
            <a:r>
              <a:rPr lang="en-US" sz="1350" dirty="0">
                <a:solidFill>
                  <a:srgbClr val="5C5546"/>
                </a:solidFill>
                <a:latin typeface="IBM Plex Sans KR" pitchFamily="34" charset="0"/>
                <a:ea typeface="IBM Plex Sans KR" pitchFamily="34" charset="-122"/>
                <a:cs typeface="IBM Plex Sans KR" pitchFamily="34" charset="-120"/>
              </a:rPr>
              <a:t>ρ₀가 아니라 </a:t>
            </a:r>
            <a:pPr algn="l" indent="0" marL="0">
              <a:lnSpc>
                <a:spcPts val="2025"/>
              </a:lnSpc>
              <a:buNone/>
            </a:pPr>
            <a:r>
              <a:rPr lang="en-US" sz="1350" b="1" dirty="0">
                <a:solidFill>
                  <a:srgbClr val="1B1A14"/>
                </a:solidFill>
                <a:latin typeface="IBM Plex Sans KR" pitchFamily="34" charset="0"/>
                <a:ea typeface="IBM Plex Sans KR" pitchFamily="34" charset="-122"/>
                <a:cs typeface="IBM Plex Sans KR" pitchFamily="34" charset="-120"/>
              </a:rPr>
              <a:t>ρ₀·λ 곱</a:t>
            </a:r>
            <a:pPr algn="l" indent="0" marL="0">
              <a:lnSpc>
                <a:spcPts val="2025"/>
              </a:lnSpc>
              <a:buNone/>
            </a:pPr>
            <a:r>
              <a:rPr lang="en-US" sz="1350" dirty="0">
                <a:solidFill>
                  <a:srgbClr val="5C5546"/>
                </a:solidFill>
                <a:latin typeface="IBM Plex Sans KR" pitchFamily="34" charset="0"/>
                <a:ea typeface="IBM Plex Sans KR" pitchFamily="34" charset="-122"/>
                <a:cs typeface="IBM Plex Sans KR" pitchFamily="34" charset="-120"/>
              </a:rPr>
              <a:t>이고,</a:t>
            </a:r>
            <a:pPr algn="l" indent="0" marL="0">
              <a:lnSpc>
                <a:spcPts val="2025"/>
              </a:lnSpc>
              <a:buNone/>
            </a:pPr>
            <a:endParaRPr lang="en-US" sz="1350" dirty="0"/>
          </a:p>
          <a:p>
            <a:pPr algn="l" indent="0" marL="0">
              <a:lnSpc>
                <a:spcPts val="2025"/>
              </a:lnSpc>
              <a:buNone/>
            </a:pPr>
            <a:r>
              <a:rPr lang="en-US" sz="1350" dirty="0">
                <a:solidFill>
                  <a:srgbClr val="5C5546"/>
                </a:solidFill>
                <a:latin typeface="IBM Plex Sans KR" pitchFamily="34" charset="0"/>
                <a:ea typeface="IBM Plex Sans KR" pitchFamily="34" charset="-122"/>
                <a:cs typeface="IBM Plex Sans KR" pitchFamily="34" charset="-120"/>
              </a:rPr>
              <a:t>이 값이 작을수록 좁은 선에서 유리합니다</a:t>
            </a:r>
            <a:endParaRPr lang="en-US" sz="1350" dirty="0"/>
          </a:p>
        </p:txBody>
      </p:sp>
      <p:sp>
        <p:nvSpPr>
          <p:cNvPr id="17" name="Text 9"/>
          <p:cNvSpPr txBox="1"/>
          <p:nvPr/>
        </p:nvSpPr>
        <p:spPr>
          <a:xfrm>
            <a:off x="914400" y="3047695"/>
            <a:ext cx="7239305" cy="1028700"/>
          </a:xfrm>
          <a:prstGeom prst="rect">
            <a:avLst/>
          </a:prstGeom>
          <a:noFill/>
          <a:ln/>
        </p:spPr>
        <p:txBody>
          <a:bodyPr wrap="square" lIns="0" tIns="0" rIns="0" bIns="0" rtlCol="0" anchor="ctr"/>
          <a:lstStyle/>
          <a:p>
            <a:pPr algn="l" indent="0" marL="0">
              <a:lnSpc>
                <a:spcPts val="2025"/>
              </a:lnSpc>
              <a:buNone/>
            </a:pPr>
            <a:r>
              <a:rPr lang="en-US" sz="1350" dirty="0">
                <a:solidFill>
                  <a:srgbClr val="1B1A14"/>
                </a:solidFill>
                <a:latin typeface="IBM Plex Sans KR" pitchFamily="34" charset="0"/>
                <a:ea typeface="IBM Plex Sans KR" pitchFamily="34" charset="-122"/>
                <a:cs typeface="IBM Plex Sans KR" pitchFamily="34" charset="-120"/>
              </a:rPr>
              <a:t>Cu의 문제는 벌크 저항률 1.68 µΩ·cm이 나빠서가 아니라 상온 평균자유경로 λ가 40.7 nm나 되기 때문입니다. 선폭이 λ보다 작아지면 표면·입계 산란이 지배하고, 저항률은 치수에 반비례해 치솟습니다. 따라서 선택 지표는 ρ₀가 아니라 ρ₀·λ 곱이고, 이 값이 작을수록 좌은 선에서 유리합니다. Cu는 6.8×10⁻¹⁶ Ω·m²로 후보군 중 가장 나쁜 축에 속합니다.</a:t>
            </a:r>
            <a:endParaRPr lang="en-US" sz="1350" dirty="0"/>
          </a:p>
        </p:txBody>
      </p:sp>
      <p:sp>
        <p:nvSpPr>
          <p:cNvPr id="18" name="Text 10"/>
          <p:cNvSpPr txBox="1"/>
          <p:nvPr/>
        </p:nvSpPr>
        <p:spPr>
          <a:xfrm>
            <a:off x="914400" y="4209898"/>
            <a:ext cx="7239305" cy="1028700"/>
          </a:xfrm>
          <a:prstGeom prst="rect">
            <a:avLst/>
          </a:prstGeom>
          <a:noFill/>
          <a:ln/>
        </p:spPr>
        <p:txBody>
          <a:bodyPr wrap="square" lIns="0" tIns="0" rIns="0" bIns="0" rtlCol="0" anchor="ctr"/>
          <a:lstStyle/>
          <a:p>
            <a:pPr algn="l" indent="0" marL="0">
              <a:lnSpc>
                <a:spcPts val="2025"/>
              </a:lnSpc>
              <a:buNone/>
            </a:pPr>
            <a:r>
              <a:rPr lang="en-US" sz="1350" dirty="0">
                <a:solidFill>
                  <a:srgbClr val="1B1A14"/>
                </a:solidFill>
                <a:latin typeface="IBM Plex Sans KR" pitchFamily="34" charset="0"/>
                <a:ea typeface="IBM Plex Sans KR" pitchFamily="34" charset="-122"/>
                <a:cs typeface="IBM Plex Sans KR" pitchFamily="34" charset="-120"/>
              </a:rPr>
              <a:t>imec의 로드맵이 요구하는 최소 금속 피치는 2nm 노드 23 nm, 14A 20 nm, 10A(CFET) 18 nm, 7A 16 nm, 5A 14 nm, 3A 12 nm입니다. 동시에 배리어는 기능을 잃지 않고는 2–3 nm 미만으로 줄일 수 없어, 12 nm 피치에서 배리어가 도전 단면적을 거의 다 먹습니다. 배리어 없이 쓸 수 있는 금속을 찾는 것이 본질입니다.</a:t>
            </a:r>
            <a:endParaRPr lang="en-US" sz="1350" dirty="0"/>
          </a:p>
        </p:txBody>
      </p:sp>
      <p:sp>
        <p:nvSpPr>
          <p:cNvPr id="19" name="Text 11"/>
          <p:cNvSpPr txBox="1"/>
          <p:nvPr/>
        </p:nvSpPr>
        <p:spPr>
          <a:xfrm>
            <a:off x="8572500" y="6344107"/>
            <a:ext cx="3429000" cy="171907"/>
          </a:xfrm>
          <a:prstGeom prst="rect">
            <a:avLst/>
          </a:prstGeom>
          <a:noFill/>
          <a:ln/>
        </p:spPr>
        <p:txBody>
          <a:bodyPr wrap="none" lIns="0" tIns="0" rIns="0" bIns="0" rtlCol="0" anchor="ctr"/>
          <a:lstStyle/>
          <a:p>
            <a:pPr algn="l" indent="0" marL="0">
              <a:buNone/>
            </a:pPr>
            <a:r>
              <a:rPr lang="en-US" sz="900" spc="36" kern="0" dirty="0">
                <a:solidFill>
                  <a:srgbClr val="8A8270"/>
                </a:solidFill>
                <a:latin typeface="IBM Plex Sans KR" pitchFamily="34" charset="0"/>
                <a:ea typeface="IBM Plex Sans KR" pitchFamily="34" charset="-122"/>
                <a:cs typeface="IBM Plex Sans KR" pitchFamily="34" charset="-120"/>
              </a:rPr>
              <a:t>BEOL via cross-section · imec</a:t>
            </a:r>
            <a:endParaRPr lang="en-US" sz="900" dirty="0"/>
          </a:p>
        </p:txBody>
      </p:sp>
      <p:sp>
        <p:nvSpPr>
          <p:cNvPr id="20" name="Text 12"/>
          <p:cNvSpPr txBox="1"/>
          <p:nvPr/>
        </p:nvSpPr>
        <p:spPr>
          <a:xfrm>
            <a:off x="12402007" y="2952598"/>
            <a:ext cx="5143500" cy="228600"/>
          </a:xfrm>
          <a:prstGeom prst="rect">
            <a:avLst/>
          </a:prstGeom>
          <a:noFill/>
          <a:ln/>
        </p:spPr>
        <p:txBody>
          <a:bodyPr wrap="none" lIns="0" tIns="0" rIns="0" bIns="0" rtlCol="0" anchor="ctr"/>
          <a:lstStyle/>
          <a:p>
            <a:pPr algn="l" indent="0" marL="0">
              <a:buNone/>
            </a:pPr>
            <a:r>
              <a:rPr lang="en-US" sz="1350" b="1" dirty="0">
                <a:solidFill>
                  <a:srgbClr val="B26A3A"/>
                </a:solidFill>
                <a:latin typeface="IBM Plex Sans KR" pitchFamily="34" charset="0"/>
                <a:ea typeface="IBM Plex Sans KR" pitchFamily="34" charset="-122"/>
                <a:cs typeface="IBM Plex Sans KR" pitchFamily="34" charset="-120"/>
              </a:rPr>
              <a:t>실측 박막 저항률</a:t>
            </a:r>
            <a:endParaRPr lang="en-US" sz="1350" dirty="0"/>
          </a:p>
        </p:txBody>
      </p:sp>
      <p:sp>
        <p:nvSpPr>
          <p:cNvPr id="21" name="Text 13"/>
          <p:cNvSpPr txBox="1"/>
          <p:nvPr/>
        </p:nvSpPr>
        <p:spPr>
          <a:xfrm>
            <a:off x="12402007" y="3194914"/>
            <a:ext cx="5143500" cy="162763"/>
          </a:xfrm>
          <a:prstGeom prst="rect">
            <a:avLst/>
          </a:prstGeom>
          <a:noFill/>
          <a:ln/>
        </p:spPr>
        <p:txBody>
          <a:bodyPr wrap="none" lIns="0" tIns="0" rIns="0" bIns="0" rtlCol="0" anchor="ctr"/>
          <a:lstStyle/>
          <a:p>
            <a:pPr algn="l" indent="0" marL="0">
              <a:buNone/>
            </a:pPr>
            <a:r>
              <a:rPr lang="en-US" sz="900" dirty="0">
                <a:solidFill>
                  <a:srgbClr val="5C5546"/>
                </a:solidFill>
                <a:latin typeface="IBM Plex Sans KR" pitchFamily="34" charset="0"/>
                <a:ea typeface="IBM Plex Sans KR" pitchFamily="34" charset="-122"/>
                <a:cs typeface="IBM Plex Sans KR" pitchFamily="34" charset="-120"/>
              </a:rPr>
              <a:t>금속간화합물이 이미 Ru와 Mo를 넘었다</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2402007" y="3372307"/>
          <a:ext cx="5143500" cy="1828800"/>
        </p:xfrm>
        <a:graphic>
          <a:graphicData uri="http://schemas.openxmlformats.org/drawingml/2006/table">
            <a:tbl>
              <a:tblPr/>
              <a:tblGrid>
                <a:gridCol w="1954073"/>
                <a:gridCol w="719633"/>
                <a:gridCol w="1131113"/>
                <a:gridCol w="822960"/>
                <a:gridCol w="514807"/>
              </a:tblGrid>
              <a:tr h="228600">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재료</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7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두께</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7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저항률</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7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열처리</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7000"/>
                      </a:srgbClr>
                    </a:solidFill>
                  </a:tcPr>
                </a:tc>
                <a:tc>
                  <a:txBody>
                    <a:bodyPr/>
                    <a:lstStyle/>
                    <a:p>
                      <a:pPr algn="l" indent="0" marL="0">
                        <a:buNone/>
                      </a:pPr>
                      <a:r>
                        <a:rPr lang="en-US" sz="825" b="1" dirty="0">
                          <a:solidFill>
                            <a:srgbClr val="1B1A14"/>
                          </a:solidFill>
                          <a:latin typeface="IBM Plex Sans KR" pitchFamily="34" charset="0"/>
                          <a:ea typeface="IBM Plex Sans KR" pitchFamily="34" charset="-122"/>
                          <a:cs typeface="IBM Plex Sans KR" pitchFamily="34" charset="-120"/>
                        </a:rPr>
                        <a:t>출처</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1A14">
                        <a:alpha val="7000"/>
                      </a:srgbClr>
                    </a:solidFill>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NiAl (Ge(100) 에피탁시)</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7.7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11.5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NiAl (PVD)</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56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13.9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600 °C PDA</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NiAl (420 °C 증착)</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22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18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in-situ</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CuAl / CuAl₂</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28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b="1" dirty="0">
                          <a:solidFill>
                            <a:srgbClr val="B26A3A"/>
                          </a:solidFill>
                          <a:latin typeface="IBM Plex Sans KR" pitchFamily="34" charset="0"/>
                          <a:ea typeface="IBM Plex Sans KR" pitchFamily="34" charset="-122"/>
                          <a:cs typeface="IBM Plex Sans KR" pitchFamily="34" charset="-120"/>
                        </a:rPr>
                        <a:t>9.5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400 °C PDA</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JVST B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Al₂Cu</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~30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&lt;10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500 °C PDA</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Al₃Sc</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24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12.6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500 °C PDA</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28600">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Cu₂Mg</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5 nm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1B1A14"/>
                          </a:solidFill>
                          <a:latin typeface="IBM Plex Sans KR" pitchFamily="34" charset="0"/>
                          <a:ea typeface="IBM Plex Sans KR" pitchFamily="34" charset="-122"/>
                          <a:cs typeface="IBM Plex Sans KR" pitchFamily="34" charset="-120"/>
                        </a:rPr>
                        <a:t>25.5 µΩ·cm</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825" dirty="0">
                          <a:solidFill>
                            <a:srgbClr val="5C5546"/>
                          </a:solidFill>
                          <a:latin typeface="IBM Plex Sans KR" pitchFamily="34" charset="0"/>
                          <a:ea typeface="IBM Plex Sans KR" pitchFamily="34" charset="-122"/>
                          <a:cs typeface="IBM Plex Sans KR" pitchFamily="34" charset="-120"/>
                        </a:rPr>
                        <a:t>JAP 24</a:t>
                      </a:r>
                      <a:endParaRPr lang="en-US" sz="825" dirty="0">
                        <a:latin typeface="IBM Plex Sans KR" charset="0"/>
                        <a:ea typeface="IBM Plex Sans KR" charset="0"/>
                        <a:cs typeface="IBM Plex Sans KR" charset="0"/>
                      </a:endParaRPr>
                    </a:p>
                  </a:txBody>
                  <a:tcPr marL="38405" marR="38405" marT="19202" marB="192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3" name="Text 14"/>
          <p:cNvSpPr txBox="1"/>
          <p:nvPr/>
        </p:nvSpPr>
        <p:spPr>
          <a:xfrm>
            <a:off x="914400" y="6819595"/>
            <a:ext cx="7239305" cy="247802"/>
          </a:xfrm>
          <a:prstGeom prst="rect">
            <a:avLst/>
          </a:prstGeom>
          <a:noFill/>
          <a:ln/>
        </p:spPr>
        <p:txBody>
          <a:bodyPr wrap="none" lIns="0" tIns="0" rIns="0" bIns="0" rtlCol="0" anchor="ctr"/>
          <a:lstStyle/>
          <a:p>
            <a:pPr algn="l" indent="0" marL="0">
              <a:buNone/>
            </a:pPr>
            <a:r>
              <a:rPr lang="en-US" sz="1500" b="1" dirty="0">
                <a:solidFill>
                  <a:srgbClr val="B26A3A"/>
                </a:solidFill>
                <a:latin typeface="IBM Plex Sans KR" pitchFamily="34" charset="0"/>
                <a:ea typeface="IBM Plex Sans KR" pitchFamily="34" charset="-122"/>
                <a:cs typeface="IBM Plex Sans KR" pitchFamily="34" charset="-120"/>
              </a:rPr>
              <a:t>MAX 세라믹</a:t>
            </a:r>
            <a:endParaRPr lang="en-US" sz="1500" dirty="0"/>
          </a:p>
        </p:txBody>
      </p:sp>
      <p:sp>
        <p:nvSpPr>
          <p:cNvPr id="24" name="Text 15"/>
          <p:cNvSpPr txBox="1"/>
          <p:nvPr/>
        </p:nvSpPr>
        <p:spPr>
          <a:xfrm>
            <a:off x="914400" y="7086600"/>
            <a:ext cx="7239305" cy="181051"/>
          </a:xfrm>
          <a:prstGeom prst="rect">
            <a:avLst/>
          </a:prstGeom>
          <a:noFill/>
          <a:ln/>
        </p:spPr>
        <p:txBody>
          <a:bodyPr wrap="none" lIns="0" tIns="0" rIns="0" bIns="0" rtlCol="0" anchor="ctr"/>
          <a:lstStyle/>
          <a:p>
            <a:pPr algn="l" indent="0" marL="0">
              <a:buNone/>
            </a:pPr>
            <a:r>
              <a:rPr lang="en-US" sz="975" dirty="0">
                <a:solidFill>
                  <a:srgbClr val="5C5546"/>
                </a:solidFill>
                <a:latin typeface="IBM Plex Sans KR" pitchFamily="34" charset="0"/>
                <a:ea typeface="IBM Plex Sans KR" pitchFamily="34" charset="-122"/>
                <a:cs typeface="IBM Plex Sans KR" pitchFamily="34" charset="-120"/>
              </a:rPr>
              <a:t>이론상 Cu보다 5–11배 좋은 지표</a:t>
            </a:r>
            <a:endParaRPr lang="en-US" sz="975" dirty="0"/>
          </a:p>
        </p:txBody>
      </p:sp>
      <p:sp>
        <p:nvSpPr>
          <p:cNvPr id="25" name="Text 16"/>
          <p:cNvSpPr txBox="1"/>
          <p:nvPr/>
        </p:nvSpPr>
        <p:spPr>
          <a:xfrm>
            <a:off x="914400" y="7315200"/>
            <a:ext cx="7239305" cy="648310"/>
          </a:xfrm>
          <a:prstGeom prst="rect">
            <a:avLst/>
          </a:prstGeom>
          <a:noFill/>
          <a:ln/>
        </p:spPr>
        <p:txBody>
          <a:bodyPr wrap="square" lIns="0" tIns="0" rIns="0" bIns="0" rtlCol="0" anchor="ctr"/>
          <a:lstStyle/>
          <a:p>
            <a:pPr algn="l" indent="0" marL="0">
              <a:lnSpc>
                <a:spcPts val="1688"/>
              </a:lnSpc>
              <a:buNone/>
            </a:pPr>
            <a:r>
              <a:rPr lang="en-US" sz="1125" dirty="0">
                <a:solidFill>
                  <a:srgbClr val="1B1A14"/>
                </a:solidFill>
                <a:latin typeface="IBM Plex Sans KR" pitchFamily="34" charset="0"/>
                <a:ea typeface="IBM Plex Sans KR" pitchFamily="34" charset="-122"/>
                <a:cs typeface="IBM Plex Sans KR" pitchFamily="34" charset="-120"/>
              </a:rPr>
              <a:t>Sankaran은 MAX 상 170개를 전자구조 계산으로 걸렀고, 그중 69개 안정상이 Cu보다 높은 응집에너지와 낮은 ρ₀·λ를 동시에 가졌으며, 24개는 Ru보다도 좋았습니다. 최저값은 β-Ti₄InN₃의 0.6×10⁻¹⁶ Ω·m² — Cu의 1/11입니다. 다만 이들은 아직 박막 증착·에칭 실증이 없는 계산 단계입니다.</a:t>
            </a:r>
            <a:endParaRPr lang="en-US" sz="1125" dirty="0"/>
          </a:p>
        </p:txBody>
      </p:sp>
      <p:sp>
        <p:nvSpPr>
          <p:cNvPr id="26" name="Text 17"/>
          <p:cNvSpPr txBox="1"/>
          <p:nvPr/>
        </p:nvSpPr>
        <p:spPr>
          <a:xfrm>
            <a:off x="914400" y="8015630"/>
            <a:ext cx="7239305" cy="648310"/>
          </a:xfrm>
          <a:prstGeom prst="rect">
            <a:avLst/>
          </a:prstGeom>
          <a:noFill/>
          <a:ln/>
        </p:spPr>
        <p:txBody>
          <a:bodyPr wrap="square" lIns="0" tIns="0" rIns="0" bIns="0" rtlCol="0" anchor="ctr"/>
          <a:lstStyle/>
          <a:p>
            <a:pPr algn="l" indent="0" marL="0">
              <a:lnSpc>
                <a:spcPts val="1688"/>
              </a:lnSpc>
              <a:buNone/>
            </a:pPr>
            <a:r>
              <a:rPr lang="en-US" sz="1125" dirty="0">
                <a:solidFill>
                  <a:srgbClr val="1B1A14"/>
                </a:solidFill>
                <a:latin typeface="IBM Plex Sans KR" pitchFamily="34" charset="0"/>
                <a:ea typeface="IBM Plex Sans KR" pitchFamily="34" charset="-122"/>
                <a:cs typeface="IBM Plex Sans KR" pitchFamily="34" charset="-120"/>
              </a:rPr>
              <a:t>Moors는 여기서 한 발 더 나가, 비등방성 금속을 스칼라 ρ₀λ로 줄이면 잘못된 순위가 나온다고 지적하고 유한온도 수송 텐서를 제안했습니다. 결정계에 따라 독립 성분 수가 입방정 1개에서 삼사정 9개까지 달라지고, 300 K 계산 결과 Ru는 전 방향, V₂AlC는 면내 방향, MoPt는 x·y 방향에서 Cu를 능가할 여지가 있다고 봤습니다.</a:t>
            </a:r>
            <a:endParaRPr lang="en-US" sz="1125" dirty="0"/>
          </a:p>
        </p:txBody>
      </p:sp>
      <p:sp>
        <p:nvSpPr>
          <p:cNvPr id="27" name="Text 18"/>
          <p:cNvSpPr txBox="1"/>
          <p:nvPr/>
        </p:nvSpPr>
        <p:spPr>
          <a:xfrm>
            <a:off x="914400" y="8734349"/>
            <a:ext cx="7239305" cy="400507"/>
          </a:xfrm>
          <a:prstGeom prst="rect">
            <a:avLst/>
          </a:prstGeom>
          <a:noFill/>
          <a:ln/>
        </p:spPr>
        <p:txBody>
          <a:bodyPr wrap="square" lIns="0" tIns="0" rIns="0" bIns="0" rtlCol="0" anchor="ctr"/>
          <a:lstStyle/>
          <a:p>
            <a:pPr algn="l" indent="0" marL="0">
              <a:lnSpc>
                <a:spcPts val="1575"/>
              </a:lnSpc>
              <a:buNone/>
            </a:pPr>
            <a:r>
              <a:rPr lang="en-US" sz="1050" dirty="0">
                <a:solidFill>
                  <a:srgbClr val="5C5546"/>
                </a:solidFill>
                <a:latin typeface="IBM Plex Sans KR" pitchFamily="34" charset="0"/>
                <a:ea typeface="IBM Plex Sans KR" pitchFamily="34" charset="-122"/>
                <a:cs typeface="IBM Plex Sans KR" pitchFamily="34" charset="-120"/>
              </a:rPr>
              <a:t>CuAl₂의 28 nm 막 값 9.5 µΩ·cm는 그 상의 벌크 저항률 6.5 µΩ·cm에 꾸준히 접근한 수치입니다. Soulié는 “CuAl₂가 10 nm 이상 두께에서 Ru를 이기고, CuAl·CuAl₂ 둘 다 조사한 전 두께 범위에서 Mo를 이겼다”고 씫습니다.</a:t>
            </a:r>
            <a:endParaRPr lang="en-US" sz="1050" dirty="0"/>
          </a:p>
        </p:txBody>
      </p:sp>
      <p:sp>
        <p:nvSpPr>
          <p:cNvPr id="28" name="Text 19"/>
          <p:cNvSpPr txBox="1"/>
          <p:nvPr/>
        </p:nvSpPr>
        <p:spPr>
          <a:xfrm>
            <a:off x="8572500" y="9296705"/>
            <a:ext cx="3429000" cy="171907"/>
          </a:xfrm>
          <a:prstGeom prst="rect">
            <a:avLst/>
          </a:prstGeom>
          <a:noFill/>
          <a:ln/>
        </p:spPr>
        <p:txBody>
          <a:bodyPr wrap="none" lIns="0" tIns="0" rIns="0" bIns="0" rtlCol="0" anchor="ctr"/>
          <a:lstStyle/>
          <a:p>
            <a:pPr algn="l" indent="0" marL="0">
              <a:buNone/>
            </a:pPr>
            <a:r>
              <a:rPr lang="en-US" sz="900" spc="36" kern="0" dirty="0">
                <a:solidFill>
                  <a:srgbClr val="8A8270"/>
                </a:solidFill>
                <a:latin typeface="IBM Plex Sans KR" pitchFamily="34" charset="0"/>
                <a:ea typeface="IBM Plex Sans KR" pitchFamily="34" charset="-122"/>
                <a:cs typeface="IBM Plex Sans KR" pitchFamily="34" charset="-120"/>
              </a:rPr>
              <a:t>Ta barrier with Cu seed · imec</a:t>
            </a:r>
            <a:endParaRPr lang="en-US" sz="900" dirty="0"/>
          </a:p>
        </p:txBody>
      </p:sp>
      <p:sp>
        <p:nvSpPr>
          <p:cNvPr id="29" name="Text 20"/>
          <p:cNvSpPr txBox="1"/>
          <p:nvPr/>
        </p:nvSpPr>
        <p:spPr>
          <a:xfrm>
            <a:off x="12439498" y="6819595"/>
            <a:ext cx="5143500" cy="247802"/>
          </a:xfrm>
          <a:prstGeom prst="rect">
            <a:avLst/>
          </a:prstGeom>
          <a:noFill/>
          <a:ln/>
        </p:spPr>
        <p:txBody>
          <a:bodyPr wrap="none" lIns="0" tIns="0" rIns="0" bIns="0" rtlCol="0" anchor="ctr"/>
          <a:lstStyle/>
          <a:p>
            <a:pPr algn="l" indent="0" marL="0">
              <a:buNone/>
            </a:pPr>
            <a:r>
              <a:rPr lang="en-US" sz="1500" b="1" dirty="0">
                <a:solidFill>
                  <a:srgbClr val="8E4E37"/>
                </a:solidFill>
                <a:latin typeface="IBM Plex Sans KR" pitchFamily="34" charset="0"/>
                <a:ea typeface="IBM Plex Sans KR" pitchFamily="34" charset="-122"/>
                <a:cs typeface="IBM Plex Sans KR" pitchFamily="34" charset="-120"/>
              </a:rPr>
              <a:t>Ru의 복병</a:t>
            </a:r>
            <a:endParaRPr lang="en-US" sz="1500" dirty="0"/>
          </a:p>
        </p:txBody>
      </p:sp>
      <p:sp>
        <p:nvSpPr>
          <p:cNvPr id="30" name="Text 21"/>
          <p:cNvSpPr txBox="1"/>
          <p:nvPr/>
        </p:nvSpPr>
        <p:spPr>
          <a:xfrm>
            <a:off x="12439498" y="7086600"/>
            <a:ext cx="5143500" cy="181051"/>
          </a:xfrm>
          <a:prstGeom prst="rect">
            <a:avLst/>
          </a:prstGeom>
          <a:noFill/>
          <a:ln/>
        </p:spPr>
        <p:txBody>
          <a:bodyPr wrap="none" lIns="0" tIns="0" rIns="0" bIns="0" rtlCol="0" anchor="ctr"/>
          <a:lstStyle/>
          <a:p>
            <a:pPr algn="l" indent="0" marL="0">
              <a:buNone/>
            </a:pPr>
            <a:r>
              <a:rPr lang="en-US" sz="975" dirty="0">
                <a:solidFill>
                  <a:srgbClr val="5C5546"/>
                </a:solidFill>
                <a:latin typeface="IBM Plex Sans KR" pitchFamily="34" charset="0"/>
                <a:ea typeface="IBM Plex Sans KR" pitchFamily="34" charset="-122"/>
                <a:cs typeface="IBM Plex Sans KR" pitchFamily="34" charset="-120"/>
              </a:rPr>
              <a:t>열처리가 선을 원통형으로 만든다</a:t>
            </a:r>
            <a:endParaRPr lang="en-US" sz="975" dirty="0"/>
          </a:p>
        </p:txBody>
      </p:sp>
      <p:sp>
        <p:nvSpPr>
          <p:cNvPr id="31" name="Text 22"/>
          <p:cNvSpPr txBox="1"/>
          <p:nvPr/>
        </p:nvSpPr>
        <p:spPr>
          <a:xfrm>
            <a:off x="12439498" y="7258507"/>
            <a:ext cx="5143500" cy="1114654"/>
          </a:xfrm>
          <a:prstGeom prst="rect">
            <a:avLst/>
          </a:prstGeom>
          <a:noFill/>
          <a:ln/>
        </p:spPr>
        <p:txBody>
          <a:bodyPr wrap="square" lIns="0" tIns="0" rIns="0" bIns="0" rtlCol="0" anchor="ctr"/>
          <a:lstStyle/>
          <a:p>
            <a:pPr algn="l" indent="0" marL="0">
              <a:lnSpc>
                <a:spcPts val="1463"/>
              </a:lnSpc>
              <a:buNone/>
            </a:pPr>
            <a:r>
              <a:rPr lang="en-US" sz="975" dirty="0">
                <a:solidFill>
                  <a:srgbClr val="1B1A14"/>
                </a:solidFill>
                <a:latin typeface="IBM Plex Sans KR" pitchFamily="34" charset="0"/>
                <a:ea typeface="IBM Plex Sans KR" pitchFamily="34" charset="-122"/>
                <a:cs typeface="IBM Plex Sans KR" pitchFamily="34" charset="-120"/>
              </a:rPr>
              <a:t>18–22 nm 피치 Ru 배선을 300 mm 웨이퍼에서 열처리했더니 선 저항이 10% 떨어지면서 시단면이 원통형으로 변형(cylinderization)하고, 웨이퍼 전역에서 다중 단락이 나타났습니다. 원인은 입계 모서리에서 시작된 면간 자기확산 — Ru(0002) 면의 원자가 측벽면 Ru(1̅0̅0)·Ru(11̅20)으로 옮겨가 쌓입니다. 420 °C에서 Ru 벌크 확산계수는 1.83×10⁻⁴³ m²/s에 불과하지만, 특정 원자 배열은 이를 크게 올립니다. 동일 그룹의 IITC 2025 발표는 명목 선폭 10 nm Ru 선을 325·420·650 °C에서 최대 5시간 열처리했을 때 온도가 올라갈수록 원통화가 심해졌다고 보고합니다.</a:t>
            </a:r>
            <a:endParaRPr lang="en-US" sz="975" dirty="0"/>
          </a:p>
        </p:txBody>
      </p:sp>
      <p:sp>
        <p:nvSpPr>
          <p:cNvPr id="32" name="Text 23"/>
          <p:cNvSpPr txBox="1"/>
          <p:nvPr/>
        </p:nvSpPr>
        <p:spPr>
          <a:xfrm>
            <a:off x="12439498" y="8429854"/>
            <a:ext cx="5143500" cy="933602"/>
          </a:xfrm>
          <a:prstGeom prst="rect">
            <a:avLst/>
          </a:prstGeom>
          <a:noFill/>
          <a:ln/>
        </p:spPr>
        <p:txBody>
          <a:bodyPr wrap="square" lIns="0" tIns="0" rIns="0" bIns="0" rtlCol="0" anchor="ctr"/>
          <a:lstStyle/>
          <a:p>
            <a:pPr algn="l" indent="0" marL="0">
              <a:lnSpc>
                <a:spcPts val="1463"/>
              </a:lnSpc>
              <a:buNone/>
            </a:pPr>
            <a:r>
              <a:rPr lang="en-US" sz="975" dirty="0">
                <a:solidFill>
                  <a:srgbClr val="1B1A14"/>
                </a:solidFill>
                <a:latin typeface="IBM Plex Sans KR" pitchFamily="34" charset="0"/>
                <a:ea typeface="IBM Plex Sans KR" pitchFamily="34" charset="-122"/>
                <a:cs typeface="IBM Plex Sans KR" pitchFamily="34" charset="-120"/>
              </a:rPr>
              <a:t>반면 Ru의 전자이동 내성은 뛰어납니다. 21 nm 피치 무배리어 Ru는 30 MA/cm² 초과에서도 고장을 유도하지 못했고, 150–200 MA/cm²까지 올려 자기발열 ~260 °C에 도달해서야 고장이 나왔습니다. Mo–Ru 하이브리드 구조는 330 °C, 5 MA/cm²에서 600시간 이상 무고장입니다. Cu 장배선의 활성화에너지가 라이너 종류에 따라 0.80–1.05 eV 구간에 흔터지는 것과 대조됩니다(TaN/Co 0.84·1.02–1.05 eV, TaN/Ru 0.94–0.98 eV).</a:t>
            </a:r>
            <a:endParaRPr lang="en-US" sz="975" dirty="0"/>
          </a:p>
        </p:txBody>
      </p:sp>
      <p:sp>
        <p:nvSpPr>
          <p:cNvPr id="33" name="Text 24"/>
          <p:cNvSpPr txBox="1"/>
          <p:nvPr/>
        </p:nvSpPr>
        <p:spPr>
          <a:xfrm>
            <a:off x="914400" y="10019995"/>
            <a:ext cx="5715000" cy="200254"/>
          </a:xfrm>
          <a:prstGeom prst="rect">
            <a:avLst/>
          </a:prstGeom>
          <a:noFill/>
          <a:ln/>
        </p:spPr>
        <p:txBody>
          <a:bodyPr wrap="none" lIns="0" tIns="0" rIns="0" bIns="0" rtlCol="0" anchor="ctr"/>
          <a:lstStyle/>
          <a:p>
            <a:pPr algn="l" indent="0" marL="0">
              <a:buNone/>
            </a:pPr>
            <a:r>
              <a:rPr lang="en-US" sz="1050" spc="210" kern="0" dirty="0">
                <a:solidFill>
                  <a:srgbClr val="8A8270"/>
                </a:solidFill>
                <a:latin typeface="IBM Plex Sans KR" pitchFamily="34" charset="0"/>
                <a:ea typeface="IBM Plex Sans KR" pitchFamily="34" charset="-122"/>
                <a:cs typeface="IBM Plex Sans KR" pitchFamily="34" charset="-120"/>
              </a:rPr>
              <a:t>22 / 30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2026-10-03T16:48:06Z</dcterms:created>
  <dcterms:modified xsi:type="dcterms:W3CDTF">2026-10-03T16:48:06Z</dcterms:modified>
</cp:coreProperties>
</file>