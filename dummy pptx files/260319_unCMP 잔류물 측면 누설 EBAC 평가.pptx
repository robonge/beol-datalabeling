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CMP" id="{62fcdb63-946e-9cfd-0059-d717af9171fc}">
          <p14:sldIdLst>
            <p14:sldId id="256"/>
            <p14:sldId id="258"/>
          </p14:sldIdLst>
        </p14:section>
        <p14:section name="일정" id="{cde979d8-adbe-2417-ec5b-56dceac71b45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미연마 잔류물 · 기전 · 평가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unCMP · 슬러리 화학 불균형·지형 요인과 EBAC 기반 평가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불량 발생 기전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7985455" cy="914400"/>
        </p:xfrm>
        <a:graphic>
          <a:graphicData uri="http://schemas.openxmlformats.org/drawingml/2006/table">
            <a:tbl>
              <a:tblPr/>
              <a:tblGrid>
                <a:gridCol w="1887322"/>
                <a:gridCol w="3484778"/>
                <a:gridCol w="261335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요인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ECP 과잉층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가속제·억제제·평탄제 Bottom-up 충진 후 Overburden 형성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CMP로 Cu + Ta/TaN 제거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슬러리 화학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H₂O₂ 산화 → CuO, 흄드 실리카 100–300 nm 마찰 제거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기계·화학 작용 균형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부식 방지제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Cu(I)-BTA 둔화층 — 트렌치 내부 갈바닉 부식 차단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패드 압력 미도달 영역 보호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패드 Glazing / 컨디셔너 저하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국부 기계적 연마력 저하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둔화층 미관통 → Cu·TaN 잔류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낮은 패턴 밀도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압력 불균일, 지형적 굴곡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Ta/TaN–산화막 경계 잔류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23944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검증 방법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34840"/>
          <a:ext cx="7985455" cy="914400"/>
        </p:xfrm>
        <a:graphic>
          <a:graphicData uri="http://schemas.openxmlformats.org/drawingml/2006/table">
            <a:tbl>
              <a:tblPr/>
              <a:tblGrid>
                <a:gridCol w="1741932"/>
                <a:gridCol w="2613355"/>
                <a:gridCol w="363016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판독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1차 전기 (E-Test/WAT)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Comb-Serpentine, 촘촘한 메탈 라인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정상 pA → 잔류 시 수십 Ω 저항성 전류, Short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2차 국소화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EBAC (Electron Beam Absorbed Current)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숨겨진 저항성 누설 경로 고해상도 매핑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3차 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AFM / 단면 TEM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잔류물 조성(Cu vs Ta/TaN)과 두께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Image 0" descr="/tmp/claude-0/-home-claude/e70767da-955c-5cc3-beb4-741bbeefa4c6/scratchpad/img/cu_lines_cosi_xse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1280160"/>
            <a:ext cx="3017520" cy="105537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716975" y="238125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에어갭 영역 CU 배선 단면 (무보호 VS COSI 보호) — 유사 구조 참고, CC BY ELECTRONICS 2019</a:t>
            </a:r>
            <a:endParaRPr lang="en-US" sz="800" dirty="0"/>
          </a:p>
        </p:txBody>
      </p:sp>
      <p:sp>
        <p:nvSpPr>
          <p:cNvPr id="11" name="Text 6"/>
          <p:cNvSpPr txBox="1"/>
          <p:nvPr/>
        </p:nvSpPr>
        <p:spPr>
          <a:xfrm>
            <a:off x="8716975" y="273786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8716975" y="3103626"/>
            <a:ext cx="3017520" cy="3068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그림은 유사 구조 참고용 — 본 split 샘플이 아님.</a:t>
            </a:r>
            <a:endParaRPr lang="en-US" sz="105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CMP 공정 창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CMP 공정 창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613584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ECP 첨가제 레시피 고정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패드 컨디셔너 교체 후 베이스라인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345104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45104" y="1627632"/>
            <a:ext cx="2613584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5104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3120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Down-force 3수준 × BTA 2수준 split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473120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W02–W03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45104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3120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WAT 선간 저항·브릿지 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73120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45104" y="3438144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3120" y="3511296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EBAC 단락 국소화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473120" y="3895344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검토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3008" y="1627632"/>
            <a:ext cx="2613584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3008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61024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AFM 잔류물 두께·조성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61024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33008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61024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Dishing/Erosion 단면 SEM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361024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9120911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20911" y="1627632"/>
            <a:ext cx="2613584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20911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48927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Cross-bridge Rs + 4-pt probe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248927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120911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48927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Dummy Fill 밀도 시뮬레이션 피드백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248927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</a:t>
            </a:r>
            <a:endParaRPr lang="en-US" sz="850" dirty="0"/>
          </a:p>
        </p:txBody>
      </p:sp>
      <p:sp>
        <p:nvSpPr>
          <p:cNvPr id="4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대응 · 트레이드오프 관계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unCMP 대응별 효과·부작용과 공정 창의 딜레마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대응 옵션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7589520" cy="914400"/>
        </p:xfrm>
        <a:graphic>
          <a:graphicData uri="http://schemas.openxmlformats.org/drawingml/2006/table">
            <a:tbl>
              <a:tblPr/>
              <a:tblGrid>
                <a:gridCol w="2396642"/>
                <a:gridCol w="2796235"/>
                <a:gridCol w="239664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조치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효과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부작용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Down-force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제거율↑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overCMP 위험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농도 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둔화층 약화, 잔류 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갈바닉 부식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산화제 비율 조정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Removal Rate↑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Dishing 가속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다단계 연마 (선택비)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TaN/Ta vs Cu 선택비 제어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공정 시간↑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73989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un/overCMP 트레이드오프 축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50792"/>
          <a:ext cx="7589520" cy="914400"/>
        </p:xfrm>
        <a:graphic>
          <a:graphicData uri="http://schemas.openxmlformats.org/drawingml/2006/table">
            <a:tbl>
              <a:tblPr/>
              <a:tblGrid>
                <a:gridCol w="1239012"/>
                <a:gridCol w="2168042"/>
                <a:gridCol w="2168042"/>
                <a:gridCol w="2013509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unCMP 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overCMP 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제어 수단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연마량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부족 → 잔류·단락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과다 → Dishing·저항↑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Down-force, 시간, 다단계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슬러리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과다 → 둔화층 미관통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산화제 과다 → Cu 과제거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BTA·산화제 농도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레이아웃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밀도 낮음 → 잔류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밀도 불균일 → 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Dummy Fill 최적화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Image 0" descr="/tmp/claude-0/-home-claude/e70767da-955c-5cc3-beb4-741bbeefa4c6/scratchpad/img/cu_surface_s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280160"/>
            <a:ext cx="3367735" cy="117870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366760" y="2504587"/>
            <a:ext cx="3367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표면 SEM (열처리 전/후, 산화·입자) — 잔류물·표면 상태 참고, CC BY MATERIALS 2020</a:t>
            </a:r>
            <a:endParaRPr lang="en-US" sz="800" dirty="0"/>
          </a:p>
        </p:txBody>
      </p:sp>
      <p:sp>
        <p:nvSpPr>
          <p:cNvPr id="11" name="Text 6"/>
          <p:cNvSpPr txBox="1"/>
          <p:nvPr/>
        </p:nvSpPr>
        <p:spPr>
          <a:xfrm>
            <a:off x="8366760" y="2861203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결과 정리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8366760" y="3190387"/>
            <a:ext cx="3367735" cy="1975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특정 패턴 밀도 다이 주변부에서 Metal-to-Metal Leakage 집중 → 수율 급감.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지형적 굴곡 존재 시 Ta/TaN–산화막 경계에서 잔류 비율 기하급수 증가.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광학 검사로는 수십 nm 이하 잔류물 검출 한계 → 전기 평가가 1차.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366760" y="5212080"/>
            <a:ext cx="3367735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366760" y="5285232"/>
            <a:ext cx="33677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unCMP 단락 방지와 overCMP 저항 증가 사이의 트레이드오프 · CMP는 매우 좁은 공정 창에서 제어되어야 함.</a:t>
            </a:r>
            <a:endParaRPr lang="en-US" sz="1000" dirty="0"/>
          </a:p>
        </p:txBody>
      </p:sp>
      <p:sp>
        <p:nvSpPr>
          <p:cNvPr id="15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coral">
  <a:themeElements>
    <a:clrScheme name="Turquoise DS coral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FF6B6B"/>
      </a:accent1>
      <a:accent2>
        <a:srgbClr val="FF8E72"/>
      </a:accent2>
      <a:accent3>
        <a:srgbClr val="00B8A9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coral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 Residue Lateral Leakage</dc:title>
  <dc:subject>PptxGenJS Presentation</dc:subject>
  <dc:creator>공정 AI팀</dc:creator>
  <cp:lastModifiedBy>공정 AI팀</cp:lastModifiedBy>
  <cp:revision>1</cp:revision>
  <dcterms:created xsi:type="dcterms:W3CDTF">2026-10-03T16:48:14Z</dcterms:created>
  <dcterms:modified xsi:type="dcterms:W3CDTF">2026-10-03T16:48:14Z</dcterms:modified>
</cp:coreProperties>
</file>