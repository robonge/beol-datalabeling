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1600200"/>
            <a:ext cx="7429500" cy="6667805"/>
          </a:xfrm>
          <a:prstGeom prst="rect">
            <a:avLst/>
          </a:prstGeom>
          <a:solidFill>
            <a:srgbClr val="A6532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7c93de65e220d89efdfce9954ee759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90295" y="6038698"/>
            <a:ext cx="8762695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34395" y="1981505"/>
            <a:ext cx="6476695" cy="5905195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9ec0b3854cbb0bb03fee92a513cd414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1981505"/>
            <a:ext cx="6476695" cy="59051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90295" y="9315907"/>
            <a:ext cx="57607" cy="57607"/>
          </a:xfrm>
          <a:prstGeom prst="rect">
            <a:avLst/>
          </a:prstGeom>
          <a:solidFill>
            <a:srgbClr val="1A181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23798" y="9315907"/>
            <a:ext cx="57607" cy="57607"/>
          </a:xfrm>
          <a:prstGeom prst="rect">
            <a:avLst/>
          </a:prstGeom>
          <a:solidFill>
            <a:srgbClr val="A653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7300" y="9315907"/>
            <a:ext cx="57607" cy="57607"/>
          </a:xfrm>
          <a:prstGeom prst="rect">
            <a:avLst/>
          </a:prstGeom>
          <a:solidFill>
            <a:srgbClr val="3459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34395" y="7981798"/>
            <a:ext cx="6477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BEOL Cu·Ru interconnect 단면 — research.ibm.com · IBM Research blog</a:t>
            </a:r>
            <a:endParaRPr lang="en-US" sz="975" dirty="0"/>
          </a:p>
        </p:txBody>
      </p:sp>
      <p:pic>
        <p:nvPicPr>
          <p:cNvPr id="12" name="Image 2" descr="gen-dedup-646aba381d85b938737ef31f570729f1.png">    </p:cNvPr>
          <p:cNvPicPr>
            <a:picLocks noChangeAspect="1"/>
          </p:cNvPicPr>
          <p:nvPr/>
        </p:nvPicPr>
        <p:blipFill>
          <a:blip r:embed="rId3"/>
          <a:srcRect l="0" r="0" t="-375" b="-375"/>
          <a:stretch/>
        </p:blipFill>
        <p:spPr>
          <a:xfrm>
            <a:off x="1067105" y="1110082"/>
            <a:ext cx="609905" cy="192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48002" y="990295"/>
            <a:ext cx="189372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· 후보군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990295" y="1600200"/>
            <a:ext cx="9525305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350" b="1" spc="-414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</a:t>
            </a:r>
            <a:pPr algn="l" indent="0" marL="0">
              <a:lnSpc>
                <a:spcPct val="95000"/>
              </a:lnSpc>
              <a:buNone/>
            </a:pPr>
            <a:endParaRPr lang="en-US" sz="103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350" b="1" spc="-414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지표</a:t>
            </a:r>
            <a:pPr algn="l" indent="0" marL="0">
              <a:lnSpc>
                <a:spcPct val="95000"/>
              </a:lnSpc>
              <a:buNone/>
            </a:pPr>
            <a:r>
              <a:rPr lang="en-US" sz="10350" b="1" spc="-414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 본</a:t>
            </a:r>
            <a:endParaRPr lang="en-US" sz="1035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5029200"/>
            <a:ext cx="9525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후보군</a:t>
            </a:r>
            <a:endParaRPr lang="en-US" sz="4950" dirty="0"/>
          </a:p>
        </p:txBody>
      </p:sp>
      <p:sp>
        <p:nvSpPr>
          <p:cNvPr id="16" name="Text 11"/>
          <p:cNvSpPr txBox="1"/>
          <p:nvPr/>
        </p:nvSpPr>
        <p:spPr>
          <a:xfrm>
            <a:off x="990295" y="6229807"/>
            <a:ext cx="8763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spc="-8" kern="0" dirty="0">
                <a:solidFill>
                  <a:srgbClr val="3459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990295" y="7239305"/>
            <a:ext cx="8763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11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1005" y="5410505"/>
            <a:ext cx="8191195" cy="3619195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1b8b97ebcdb4e4ba05042a6dcdeec7c4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38505" y="2419502"/>
            <a:ext cx="16763695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43700" y="9258300"/>
            <a:ext cx="2476195" cy="476402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8505" y="2743200"/>
            <a:ext cx="8382305" cy="3619195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809ff85772a4f915946f28c2f3db77d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5" y="2743200"/>
            <a:ext cx="8382305" cy="36191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411005" y="2743200"/>
            <a:ext cx="8191195" cy="2286000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gen-dedup-425dd194d1d87f80abf7667c917ed89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005" y="2743200"/>
            <a:ext cx="8191195" cy="2286000"/>
          </a:xfrm>
          <a:prstGeom prst="rect">
            <a:avLst/>
          </a:prstGeom>
        </p:spPr>
      </p:pic>
      <p:pic>
        <p:nvPicPr>
          <p:cNvPr id="11" name="Image 3" descr="gen-dedup-355bc1780ef6b19fbca5f59e8f19ec11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838505" y="685800"/>
            <a:ext cx="457200" cy="192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29207" y="590702"/>
            <a:ext cx="231251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패터닝·집적과 holy grail</a:t>
            </a:r>
            <a:endParaRPr lang="en-US" sz="1125" dirty="0"/>
          </a:p>
        </p:txBody>
      </p:sp>
      <p:sp>
        <p:nvSpPr>
          <p:cNvPr id="13" name="Text 7"/>
          <p:cNvSpPr txBox="1"/>
          <p:nvPr/>
        </p:nvSpPr>
        <p:spPr>
          <a:xfrm>
            <a:off x="838505" y="914400"/>
            <a:ext cx="1276411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패터닝·집적</a:t>
            </a:r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:</a:t>
            </a:r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다마신을 버리고</a:t>
            </a:r>
            <a:pPr algn="l" indent="0" marL="0">
              <a:lnSpc>
                <a:spcPct val="110000"/>
              </a:lnSpc>
              <a:buNone/>
            </a:pPr>
            <a:endParaRPr lang="en-US" sz="4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350" b="1" spc="-87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금속을 직접 깎는다</a:t>
            </a:r>
            <a:endParaRPr lang="en-US" sz="4350" dirty="0"/>
          </a:p>
        </p:txBody>
      </p:sp>
      <p:sp>
        <p:nvSpPr>
          <p:cNvPr id="14" name="Text 8"/>
          <p:cNvSpPr txBox="1"/>
          <p:nvPr/>
        </p:nvSpPr>
        <p:spPr>
          <a:xfrm>
            <a:off x="838505" y="6476695"/>
            <a:ext cx="8382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 18 nm pitch, semi-damascene 18 nm 자체정렬 비아 — imec-int.com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838505" y="6896405"/>
            <a:ext cx="8382305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 기존 Cu 다마신 선의 AR은 대략 1.6, semi-damascene은 1세대 2 → 2세대 3 → 이후 4, 5, 6으로 올리는 5세대 로드맵입니다. imec은 AR=6 Ru 선이 AR=3 대비 선 저항을 약 40% 낮춘다고 보고했습니다.</a:t>
            </a:r>
            <a:endParaRPr lang="en-US" sz="1425" dirty="0"/>
          </a:p>
        </p:txBody>
      </p:sp>
      <p:sp>
        <p:nvSpPr>
          <p:cNvPr id="16" name="Text 10"/>
          <p:cNvSpPr txBox="1"/>
          <p:nvPr/>
        </p:nvSpPr>
        <p:spPr>
          <a:xfrm>
            <a:off x="947318" y="9400946"/>
            <a:ext cx="3063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38505" y="9658807"/>
            <a:ext cx="476402" cy="267005"/>
          </a:xfrm>
          <a:prstGeom prst="rect">
            <a:avLst/>
          </a:prstGeom>
          <a:solidFill>
            <a:srgbClr val="1A181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596542" y="9325051"/>
            <a:ext cx="1106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1410005" y="9581998"/>
            <a:ext cx="476402" cy="342900"/>
          </a:xfrm>
          <a:prstGeom prst="rect">
            <a:avLst/>
          </a:prstGeom>
          <a:solidFill>
            <a:srgbClr val="5E6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2168042" y="9191549"/>
            <a:ext cx="1106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1981505" y="9448495"/>
            <a:ext cx="476402" cy="476402"/>
          </a:xfrm>
          <a:prstGeom prst="rect">
            <a:avLst/>
          </a:prstGeom>
          <a:solidFill>
            <a:srgbClr val="3459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2739542" y="9058046"/>
            <a:ext cx="1106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553005" y="9315907"/>
            <a:ext cx="476402" cy="609905"/>
          </a:xfrm>
          <a:prstGeom prst="rect">
            <a:avLst/>
          </a:prstGeom>
          <a:solidFill>
            <a:srgbClr val="3459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311042" y="8924544"/>
            <a:ext cx="1106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3124505" y="9182405"/>
            <a:ext cx="476402" cy="743407"/>
          </a:xfrm>
          <a:prstGeom prst="rect">
            <a:avLst/>
          </a:prstGeom>
          <a:solidFill>
            <a:srgbClr val="A653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882542" y="8867851"/>
            <a:ext cx="1106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65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3696005" y="9124798"/>
            <a:ext cx="476402" cy="800100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080199" y="9381744"/>
            <a:ext cx="21543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F0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AR=6 vs 3 · 선 저항 </a:t>
            </a:r>
            <a:pPr algn="l" indent="0" marL="0">
              <a:buNone/>
            </a:pPr>
            <a:r>
              <a:rPr lang="en-US" sz="1200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40%</a:t>
            </a:r>
            <a:pPr algn="l" indent="0" marL="0">
              <a:buNone/>
            </a:pPr>
            <a:r>
              <a:rPr lang="en-US" sz="1200" dirty="0">
                <a:solidFill>
                  <a:srgbClr val="F6F0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↓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411005" y="5105095"/>
            <a:ext cx="8192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line/space patterning — imec-int.com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9677095" y="5562295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이것이 유명한 "holy grail" 논문입니다. 핵심 수치: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77095" y="5982005"/>
          <a:ext cx="7810805" cy="3134563"/>
        </p:xfrm>
        <a:graphic>
          <a:graphicData uri="http://schemas.openxmlformats.org/drawingml/2006/table">
            <a:tbl>
              <a:tblPr/>
              <a:tblGrid>
                <a:gridCol w="2247595"/>
                <a:gridCol w="5562295"/>
              </a:tblGrid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금속 피치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 → 18 nm (2소재 실증)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선폭(CD)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9 nm, PVD Ru 30 nm → AR ≈ 3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전도 단면적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명목 270 nm² / 전기적 250 nm² / 물리적 257 nm²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EUV 비아 홀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최소 20 nm → 접촉면적 180 nm²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비아 저항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40 Ω &lt; R &lt; 60 Ω (18–26 nm 피치 전 구간)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Ru 저항률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에칭 후 13–15 µΩ·cm, 420 °C 열처리 후 14–15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Ru가 Cu를 이기는 지점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전도 단면적 268 nm² 미만 (≈ CD 12 nm 미만)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정렬 허용도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의도적 오정렬 ±5 nm까지 비아 저항 유지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DCC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절연파괴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&gt;9 MV/cm @100 °C, 26 nm 피치에서 &gt;16 V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6532F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EM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10 MA/cm², 300 h 저항 변화 없음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6532F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열저장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152705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6F0DD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200 °C, 120 h 저항·수율 손실 없음</a:t>
                      </a:r>
                      <a:endParaRPr lang="en-US" sz="97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5"/>
          <p:cNvSpPr txBox="1"/>
          <p:nvPr/>
        </p:nvSpPr>
        <p:spPr>
          <a:xfrm>
            <a:off x="9411005" y="9182405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 2소재 완전 자기정렬 비아 </a:t>
            </a:r>
            <a:pPr algn="l" indent="0" marL="0">
              <a:buNone/>
            </a:pPr>
            <a:r>
              <a:rPr lang="en-US" sz="1275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(Murdoch, VLSI 2022)</a:t>
            </a:r>
            <a:endParaRPr lang="en-US" sz="1275" dirty="0"/>
          </a:p>
        </p:txBody>
      </p:sp>
      <p:sp>
        <p:nvSpPr>
          <p:cNvPr id="33" name="Text 26"/>
          <p:cNvSpPr txBox="1"/>
          <p:nvPr/>
        </p:nvSpPr>
        <p:spPr>
          <a:xfrm>
            <a:off x="9411005" y="9601200"/>
            <a:ext cx="8192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"완전 자기정렬"은 두 번 정렬된다는 뜻입니다. 아래쪽은 Ru 선 위에 남은 SiN 캐핑 안에서 고선택비 가스에칭으로 비아를 뚫어 SiO₂ 갭필을 건드리지 않고, 위쪽은 Ru 과에칭으로 상부 선 가장자에 맞춥니다. 20 nm 비아 홀이 9 nm 선에 내려앉으면서 스스로 180 nm²로 줌어드는 게 핵심입니다. 패터닝 조합은 Mx가 EUV+SADP, Mx+1과 비아가 EUV 단일 노광입니다. 상부 금속은 정전용량 증가를 상쇄하려고 에어갭과 조합합니다.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FE7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b8b97ebcdb4e4ba05042a6dcdeec7c4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38505" y="2057400"/>
            <a:ext cx="16763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8505" y="2286000"/>
            <a:ext cx="6953098" cy="2495398"/>
          </a:xfrm>
          <a:prstGeom prst="rect">
            <a:avLst/>
          </a:prstGeom>
          <a:solidFill>
            <a:srgbClr val="F6F0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505" y="4934102"/>
            <a:ext cx="6953098" cy="2686507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33795" y="2438705"/>
            <a:ext cx="1505102" cy="952805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0666f2a98d18b3b1e3de2914cd573f7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8076895" y="5372100"/>
            <a:ext cx="9525305" cy="91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992502" y="6001207"/>
            <a:ext cx="2609698" cy="1238098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gen-dedup-0666f2a98d18b3b1e3de2914cd573f72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8076895" y="7353605"/>
            <a:ext cx="9525305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05395" y="9411005"/>
            <a:ext cx="10477195" cy="761695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38505" y="7791602"/>
            <a:ext cx="6953098" cy="1828800"/>
          </a:xfrm>
          <a:prstGeom prst="rect">
            <a:avLst/>
          </a:prstGeom>
          <a:solidFill>
            <a:srgbClr val="1A18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gen-dedup-cee0ea287436e36f7556e8d5b877bea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5" y="7791602"/>
            <a:ext cx="6953098" cy="1828800"/>
          </a:xfrm>
          <a:prstGeom prst="rect">
            <a:avLst/>
          </a:prstGeom>
        </p:spPr>
      </p:pic>
      <p:pic>
        <p:nvPicPr>
          <p:cNvPr id="14" name="Image 4" descr="gen-dedup-355bc1780ef6b19fbca5f59e8f19ec11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838505" y="629107"/>
            <a:ext cx="457200" cy="1920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29207" y="533095"/>
            <a:ext cx="346009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계측 · 신뢰성 · 유전체 · 기계적 거동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838505" y="780898"/>
            <a:ext cx="127641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슈퍼비아와 계측, </a:t>
            </a:r>
            <a:pPr algn="l" indent="0" marL="0">
              <a:buNone/>
            </a:pPr>
            <a:r>
              <a:rPr lang="en-US" sz="3450" b="1" spc="-69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</a:t>
            </a:r>
            <a:pPr algn="l" indent="0" marL="0">
              <a:buNone/>
            </a:pPr>
            <a:r>
              <a:rPr lang="en-US" sz="3450" b="1" spc="-69" kern="0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그리고 물성</a:t>
            </a:r>
            <a:endParaRPr lang="en-US" sz="3450" dirty="0"/>
          </a:p>
        </p:txBody>
      </p:sp>
      <p:sp>
        <p:nvSpPr>
          <p:cNvPr id="17" name="Text 10"/>
          <p:cNvSpPr txBox="1"/>
          <p:nvPr/>
        </p:nvSpPr>
        <p:spPr>
          <a:xfrm>
            <a:off x="1067105" y="2438705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Montero Alvarez, IITC 2022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1067105" y="2628900"/>
            <a:ext cx="6572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3단 고종횡비 슈퍼비아 — M1에서 M4로 두 레벨을 건너뛰는 단일 비아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1067105" y="3029407"/>
            <a:ext cx="6572707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종횡비 7.7, 높이 118.5 nm, 하단 CD 15.5 nm, 상단 CD 22.7 nm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endParaRPr lang="en-US" sz="938" dirty="0"/>
          </a:p>
          <a:p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접착층 0.3 nm ALD TiOₓ, 충진 CVD Ru 70 nm, M1 피치 36 nm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endParaRPr lang="en-US" sz="938" dirty="0"/>
          </a:p>
          <a:p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Kelvin 저항 중간값 58 Ω — 2단 적층 비아 66.3 Ω 대비 13% 낮음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endParaRPr lang="en-US" sz="938" dirty="0"/>
          </a:p>
          <a:p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406"/>
              </a:lnSpc>
              <a:spcAft>
                <a:spcPts val="75"/>
              </a:spcAft>
              <a:buNone/>
            </a:pPr>
            <a:r>
              <a:rPr lang="en-US" sz="938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전기적 수율 &gt;95%, −50°C↔+125°C 1000사이클 500시간 후 저항 거의 불변</a:t>
            </a:r>
            <a:endParaRPr lang="en-US" sz="938" dirty="0"/>
          </a:p>
        </p:txBody>
      </p:sp>
      <p:sp>
        <p:nvSpPr>
          <p:cNvPr id="20" name="Text 13"/>
          <p:cNvSpPr txBox="1"/>
          <p:nvPr/>
        </p:nvSpPr>
        <p:spPr>
          <a:xfrm>
            <a:off x="1067105" y="4153205"/>
            <a:ext cx="6572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공정 A→D로 가면서 TiN 하드마스크 침식과 언더컷을 줄인 과정이 HAADF-STEM 단면과 top-down CD-SEM으로 나란히 비교됩니다 (Fig. 3, 8패널).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6633058" y="2638044"/>
            <a:ext cx="8129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6F0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58</a:t>
            </a:r>
            <a:pPr algn="l" indent="0" marL="0">
              <a:buNone/>
            </a:pPr>
            <a:r>
              <a:rPr lang="en-US" sz="1050" b="1" dirty="0">
                <a:solidFill>
                  <a:srgbClr val="F6F0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Ω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6494983" y="3019349"/>
            <a:ext cx="7909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66.3 Ω − 13%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1067105" y="5086807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Das, SPIE 2021</a:t>
            </a:r>
            <a:endParaRPr lang="en-US" sz="975" dirty="0"/>
          </a:p>
        </p:txBody>
      </p:sp>
      <p:sp>
        <p:nvSpPr>
          <p:cNvPr id="24" name="Text 17"/>
          <p:cNvSpPr txBox="1"/>
          <p:nvPr/>
        </p:nvSpPr>
        <p:spPr>
          <a:xfrm>
            <a:off x="1067105" y="5277002"/>
            <a:ext cx="6572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0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계측 — 14 nm 하프피치를 광학으로 잃지 않고 잡기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067105" y="5600700"/>
            <a:ext cx="6572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5DCC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P28·P30 피치, 산화막 도랑 깊이 60 nm, TiN 배리어 1.5 nm + Ru 충진 구조에서, 30 µm × 30 µm나 되는 산란계 광점보다 훨씬 작은 타겟을 머신러닝으로 풀어냈습니다. LER 예측 R² = 0.85 / RMSE 0.03 nm, 메앤더 저항 예측 R² &gt; 0.93. 실측 LER은 초점 범위 전체에서 1.6–2.0 nm였고, tip-to-tip은 60 nm 섬 사이 22–26 nm였습니다.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67105" y="6724498"/>
            <a:ext cx="6572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F6F0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참고로 iN5세대 계측 기준은 M2 피치 32 nm / M1 42 nm에서 금속 T2T CD 균일도 &lt;1 nm 3σ, 금속 팁 위치 EPE ~5 nm 3σ였습니다. 18 nm 피치로 내려오면 이 예산이 그대로 남을 수 없다는 게 SALELE 가상공정 연구의 출발점입니다.</a:t>
            </a:r>
            <a:endParaRPr lang="en-US" sz="863" dirty="0"/>
          </a:p>
        </p:txBody>
      </p:sp>
      <p:sp>
        <p:nvSpPr>
          <p:cNvPr id="27" name="Text 20"/>
          <p:cNvSpPr txBox="1"/>
          <p:nvPr/>
        </p:nvSpPr>
        <p:spPr>
          <a:xfrm>
            <a:off x="838505" y="9715500"/>
            <a:ext cx="6954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 + air gap — newsroom.lamresearch.com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8076895" y="2286000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 · EM</a:t>
            </a:r>
            <a:endParaRPr lang="en-US" sz="975" dirty="0"/>
          </a:p>
        </p:txBody>
      </p:sp>
      <p:sp>
        <p:nvSpPr>
          <p:cNvPr id="29" name="Text 22"/>
          <p:cNvSpPr txBox="1"/>
          <p:nvPr/>
        </p:nvSpPr>
        <p:spPr>
          <a:xfrm>
            <a:off x="8076895" y="24953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전자이동 — 망 구조를 무시한 대가가 </a:t>
            </a:r>
            <a:pPr algn="l" indent="0" marL="0">
              <a:buNone/>
            </a:pPr>
            <a:r>
              <a:rPr lang="en-US" sz="1500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80%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076895" y="2819095"/>
            <a:ext cx="9525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Zahedmanesh는 단일 배선 기준(standard SEB)이 전력망의 중복성을 무시해 과도하게 보수적임을 정량화했습니다. 설정은 선폭 45 nm, 선 높이 90 nm, 활성화에너지 1.15 eV, 응력 310 °C, 유효전하 Z* = 3, 벌크계수 15 GPa입니다.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076895" y="3434486"/>
            <a:ext cx="7239305" cy="1017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단일 배선 TTF₅₀ = 400 h, 로그정규 σ = 0.6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endParaRPr lang="en-US" sz="863" dirty="0"/>
          </a:p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PDN 타일 단위로 보면 σ가 0.27로 줄어듬 (전체 55% 감소; 하향 50%, 상향 66%)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endParaRPr lang="en-US" sz="863" dirty="0"/>
          </a:p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허용 전류밀도: SEB 1.1 MA/cm² → 타일 기준 2.26 MA/cm² — 기존 방법이 80% 과소평가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endParaRPr lang="en-US" sz="863" dirty="0"/>
          </a:p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100시간 기준 고장확률: 타일 0.26% vs. 동일 타일에 SEB 적용 시 99.99%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endParaRPr lang="en-US" sz="863" dirty="0"/>
          </a:p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Blech 항 임계값 (jL)_c = 3300 A/cm, 1.5 MA/cm²에서 25 µm 넘는 선은 불멸성 없음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endParaRPr lang="en-US" sz="863" dirty="0"/>
          </a:p>
          <a:p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1251"/>
              </a:lnSpc>
              <a:spcAft>
                <a:spcPts val="75"/>
              </a:spcAft>
              <a:buNone/>
            </a:pPr>
            <a:r>
              <a:rPr lang="en-US" sz="863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임계응력 Δσ_crit,50% = 56 MPa에 대해 예측 최대 EM 응력 76 MPa</a:t>
            </a:r>
            <a:endParaRPr lang="en-US" sz="863" dirty="0"/>
          </a:p>
        </p:txBody>
      </p:sp>
      <p:sp>
        <p:nvSpPr>
          <p:cNvPr id="32" name="Text 25"/>
          <p:cNvSpPr txBox="1"/>
          <p:nvPr/>
        </p:nvSpPr>
        <p:spPr>
          <a:xfrm>
            <a:off x="15506395" y="3448202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34595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 · MA/cm²</a:t>
            </a:r>
            <a:endParaRPr lang="en-US" sz="825" dirty="0"/>
          </a:p>
        </p:txBody>
      </p:sp>
      <p:sp>
        <p:nvSpPr>
          <p:cNvPr id="33" name="Text 26"/>
          <p:cNvSpPr txBox="1"/>
          <p:nvPr/>
        </p:nvSpPr>
        <p:spPr>
          <a:xfrm>
            <a:off x="15506395" y="3657600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63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SEB</a:t>
            </a:r>
            <a:endParaRPr lang="en-US" sz="863" dirty="0"/>
          </a:p>
        </p:txBody>
      </p:sp>
      <p:sp>
        <p:nvSpPr>
          <p:cNvPr id="34" name="Shape 27"/>
          <p:cNvSpPr/>
          <p:nvPr/>
        </p:nvSpPr>
        <p:spPr>
          <a:xfrm>
            <a:off x="16059607" y="3681374"/>
            <a:ext cx="476402" cy="114300"/>
          </a:xfrm>
          <a:prstGeom prst="rect">
            <a:avLst/>
          </a:prstGeom>
          <a:solidFill>
            <a:srgbClr val="4F4A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6611905" y="3666744"/>
            <a:ext cx="2386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1.1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5506395" y="3895344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Tile</a:t>
            </a:r>
            <a:endParaRPr lang="en-US" sz="863" dirty="0"/>
          </a:p>
        </p:txBody>
      </p:sp>
      <p:pic>
        <p:nvPicPr>
          <p:cNvPr id="37" name="Image 5" descr="gen-dedup-fe9bf88172b628d7fbd7f11078405aec.png">    </p:cNvPr>
          <p:cNvPicPr>
            <a:picLocks noChangeAspect="1"/>
          </p:cNvPicPr>
          <p:nvPr/>
        </p:nvPicPr>
        <p:blipFill>
          <a:blip r:embed="rId6"/>
          <a:srcRect l="0" r="0" t="-15" b="-15"/>
          <a:stretch/>
        </p:blipFill>
        <p:spPr>
          <a:xfrm>
            <a:off x="16059607" y="3919118"/>
            <a:ext cx="990295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7125798" y="3905402"/>
            <a:ext cx="3209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65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2.26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5506395" y="41724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3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방법이 </a:t>
            </a:r>
            <a:pPr algn="l" indent="0" marL="0">
              <a:buNone/>
            </a:pPr>
            <a:r>
              <a:rPr lang="en-US" sz="863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80% 과소평가</a:t>
            </a:r>
            <a:endParaRPr lang="en-US" sz="863" dirty="0"/>
          </a:p>
        </p:txBody>
      </p:sp>
      <p:sp>
        <p:nvSpPr>
          <p:cNvPr id="40" name="Text 32"/>
          <p:cNvSpPr txBox="1"/>
          <p:nvPr/>
        </p:nvSpPr>
        <p:spPr>
          <a:xfrm>
            <a:off x="8076895" y="4839005"/>
            <a:ext cx="9525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3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Esposto의 후속 연구는 같은 unit-cell 접근으로 10년 수명 기준 고장확률을 통계적 EM 배정 대비 약 3자릿수 낮춰, 표준셀 전류를 2.8배 허용할 수 있게 됩니다.</a:t>
            </a:r>
            <a:endParaRPr lang="en-US" sz="863" dirty="0"/>
          </a:p>
        </p:txBody>
      </p:sp>
      <p:sp>
        <p:nvSpPr>
          <p:cNvPr id="41" name="Text 33"/>
          <p:cNvSpPr txBox="1"/>
          <p:nvPr/>
        </p:nvSpPr>
        <p:spPr>
          <a:xfrm>
            <a:off x="8076895" y="5486400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 · TDDB</a:t>
            </a:r>
            <a:endParaRPr lang="en-US" sz="975" dirty="0"/>
          </a:p>
        </p:txBody>
      </p:sp>
      <p:sp>
        <p:nvSpPr>
          <p:cNvPr id="42" name="Text 34"/>
          <p:cNvSpPr txBox="1"/>
          <p:nvPr/>
        </p:nvSpPr>
        <p:spPr>
          <a:xfrm>
            <a:off x="8076895" y="5695798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TDDB — 임계값이 아니라 퍼콜레이션 경로의 통계</a:t>
            </a:r>
            <a:endParaRPr lang="en-US" sz="1425" dirty="0"/>
          </a:p>
        </p:txBody>
      </p:sp>
      <p:sp>
        <p:nvSpPr>
          <p:cNvPr id="43" name="Text 35"/>
          <p:cNvSpPr txBox="1"/>
          <p:nvPr/>
        </p:nvSpPr>
        <p:spPr>
          <a:xfrm>
            <a:off x="8076895" y="6001207"/>
            <a:ext cx="6858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Croes의 2015년 종합은 넓은 전계 범위에서 impact damage 모델과 멱법칙(power law)이 데이터를 가장 잘 설명한다고 결론지었습니다. 수명이 간격에 반비례한다는 가정이 깔려 있습니다.</a:t>
            </a:r>
            <a:endParaRPr lang="en-US" sz="825" dirty="0"/>
          </a:p>
        </p:txBody>
      </p:sp>
      <p:sp>
        <p:nvSpPr>
          <p:cNvPr id="44" name="Text 36"/>
          <p:cNvSpPr txBox="1"/>
          <p:nvPr/>
        </p:nvSpPr>
        <p:spPr>
          <a:xfrm>
            <a:off x="8076895" y="6322162"/>
            <a:ext cx="6858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Fang은 2025년에 이를 3차원으로 확장해, 각 위치에서 가장 짧은 금속–금속 퍼콜레이션 경로를 뽑아 고장확률을 구한 뒤 최약고리 통계로 합치는 2단계 모델을 제안했습니다. 비아 오정렬, tip-to-tip 변동, LER, 다이간 간격 변동을 모두 넣고 10년 수명 기준 변동 스펙을 도출했으며, 결론은 선–선 간격 7 nm는 EUV 패터닝으로, 5 nm는 FSAV 공정으로 달성 가능하다는 것입니다.</a:t>
            </a:r>
            <a:endParaRPr lang="en-US" sz="825" dirty="0"/>
          </a:p>
        </p:txBody>
      </p:sp>
      <p:sp>
        <p:nvSpPr>
          <p:cNvPr id="45" name="Text 37"/>
          <p:cNvSpPr txBox="1"/>
          <p:nvPr/>
        </p:nvSpPr>
        <p:spPr>
          <a:xfrm>
            <a:off x="8076895" y="6791249"/>
            <a:ext cx="6858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Kocaay의 LER 연구는 가장 날카로운 숫자를 줍니다. 16 nm 하프피치(명목 간격 16 nm) 기준으로 다이간 간격 편차 1σ = 0.6 nm, LER 1σ = 1 nm를 넣으면 수명이 이상적인 직선 대비 멱법칙 가정에서 약 3자릿수, √E 가정에서 약 1자릿수 떨어집니다. 거칠기가 작을 때는 간격 변동이, LER 1σ가 0.6 nm를 넘어서면 LER이 지배적입니다. 즉 어떤 전계 가속 모델을 고르느냐가 수명 예측을 100배 가른다는 뜻입니다.</a:t>
            </a:r>
            <a:endParaRPr lang="en-US" sz="825" dirty="0"/>
          </a:p>
        </p:txBody>
      </p:sp>
      <p:sp>
        <p:nvSpPr>
          <p:cNvPr id="46" name="Text 38"/>
          <p:cNvSpPr txBox="1"/>
          <p:nvPr/>
        </p:nvSpPr>
        <p:spPr>
          <a:xfrm>
            <a:off x="15163495" y="6172200"/>
            <a:ext cx="2610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Power-law vs √E</a:t>
            </a:r>
            <a:endParaRPr lang="en-US" sz="825" dirty="0"/>
          </a:p>
        </p:txBody>
      </p:sp>
      <p:sp>
        <p:nvSpPr>
          <p:cNvPr id="47" name="Text 39"/>
          <p:cNvSpPr txBox="1"/>
          <p:nvPr/>
        </p:nvSpPr>
        <p:spPr>
          <a:xfrm>
            <a:off x="15163495" y="6409944"/>
            <a:ext cx="26106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6F0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</a:t>
            </a:r>
            <a:pPr algn="l" indent="0" marL="0">
              <a:buNone/>
            </a:pPr>
            <a:r>
              <a:rPr lang="en-US" sz="1200" b="1" dirty="0">
                <a:solidFill>
                  <a:srgbClr val="F6F0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3450" dirty="0"/>
          </a:p>
        </p:txBody>
      </p:sp>
      <p:sp>
        <p:nvSpPr>
          <p:cNvPr id="48" name="Text 40"/>
          <p:cNvSpPr txBox="1"/>
          <p:nvPr/>
        </p:nvSpPr>
        <p:spPr>
          <a:xfrm>
            <a:off x="15163495" y="6932981"/>
            <a:ext cx="261061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E5DCC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가속 모델 선택이</a:t>
            </a:r>
            <a:pPr algn="l" indent="0" marL="0">
              <a:lnSpc>
                <a:spcPts val="1208"/>
              </a:lnSpc>
              <a:buNone/>
            </a:pPr>
            <a:endParaRPr lang="en-US" sz="863" dirty="0"/>
          </a:p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E5DCC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수명을 가르는 폭</a:t>
            </a:r>
            <a:endParaRPr lang="en-US" sz="863" dirty="0"/>
          </a:p>
        </p:txBody>
      </p:sp>
      <p:sp>
        <p:nvSpPr>
          <p:cNvPr id="49" name="Text 41"/>
          <p:cNvSpPr txBox="1"/>
          <p:nvPr/>
        </p:nvSpPr>
        <p:spPr>
          <a:xfrm>
            <a:off x="8076895" y="7467905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유전체 자체의 품질 — </a:t>
            </a:r>
            <a:pPr algn="l" indent="0" marL="0">
              <a:buNone/>
            </a:pPr>
            <a:r>
              <a:rPr lang="en-US" sz="1350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저주파 잡음으로 본 MIM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8076895" y="7753198"/>
            <a:ext cx="102111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3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Giusi는 TiN 전극 사이의 SiO₂ 6 nm(εᵣ 4.2), Al₂O₃ 5 nm(8.9), OSG3.0 12 nm(3.0, 기공률 7%) MIM을 25–200 °C, 최대 ~12 MV/cm에서 비교했습니다. 전도 기구가 재료마다 다릅니다.</a:t>
            </a:r>
            <a:endParaRPr lang="en-US" sz="863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6895" y="7981798"/>
          <a:ext cx="7239305" cy="829361"/>
        </p:xfrm>
        <a:graphic>
          <a:graphicData uri="http://schemas.openxmlformats.org/drawingml/2006/table">
            <a:tbl>
              <a:tblPr/>
              <a:tblGrid>
                <a:gridCol w="1047902"/>
                <a:gridCol w="2000707"/>
                <a:gridCol w="4190695"/>
              </a:tblGrid>
              <a:tr h="207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1A18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유전체</a:t>
                      </a:r>
                      <a:endParaRPr lang="en-US" sz="863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1A18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지배 기구</a:t>
                      </a:r>
                      <a:endParaRPr lang="en-US" sz="863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1A18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트랩 준위</a:t>
                      </a:r>
                      <a:endParaRPr lang="en-US" sz="863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A6532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SiO₂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Poole-Frenkel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φ_T = 0.77 ± 0.01 eV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A6532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OSG3.0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호핑 / 비정상 PF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φ_T = 0.44 ± 0.01 eV, 호핑거리 0.6 nm, E_a 0.47 eV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A6532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Al₂O₃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FN 트랩보조 터널링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95098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A1814"/>
                          </a:solidFill>
                          <a:latin typeface="serif" pitchFamily="34" charset="0"/>
                          <a:ea typeface="serif" pitchFamily="34" charset="-122"/>
                          <a:cs typeface="serif" pitchFamily="34" charset="-120"/>
                        </a:rPr>
                        <a:t>Φ 1.36 eV(상부) / 1.33 eV(하부)</a:t>
                      </a:r>
                      <a:endParaRPr lang="en-US" sz="825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Text 43"/>
          <p:cNvSpPr txBox="1"/>
          <p:nvPr/>
        </p:nvSpPr>
        <p:spPr>
          <a:xfrm>
            <a:off x="8076895" y="8876995"/>
            <a:ext cx="8763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A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결론은 간단합니다. 누설·잡음 모두 SiO₂가 최고, Al₂O₃는 누설이 가장 크고, OSG3.0은 잡음이 가장 나쁜 데다 수많은 비정상 RTS 이벤트로 전기적 불안정성을 드러냅니다. 저유전율 도입의 대가가 정전용량만의 문제가 아니라는 증거입니다.</a:t>
            </a:r>
            <a:endParaRPr lang="en-US" sz="825" dirty="0"/>
          </a:p>
        </p:txBody>
      </p:sp>
      <p:sp>
        <p:nvSpPr>
          <p:cNvPr id="53" name="Text 44"/>
          <p:cNvSpPr txBox="1"/>
          <p:nvPr/>
        </p:nvSpPr>
        <p:spPr>
          <a:xfrm>
            <a:off x="7696505" y="9506102"/>
            <a:ext cx="10096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6532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기계적 파괴 — 금속층 위가 아니라 금속층을 관통해 금이 간다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7696505" y="9715500"/>
            <a:ext cx="10096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E5DCC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Vanstreels는 FIB로 깎은 BEOL 마이크로빔을 SEM 안에서 굽히며 균열 발생·전파·계면 박리를 직접 관찰했습니다. 길이와 폭이 다른 빔 네 개를 200–750 µN/s로 가압했고, k &lt; 2.0 Cu/low-k 스택에서 균열이 금속층 위를 따라 달리다 금속층을 관통해 지나기도 했습니다. 이는 강화 대상이 저유전율막이 아니라 금속 상부 계면이라는 뜻입니다.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2026-10-03T16:46:59Z</dcterms:created>
  <dcterms:modified xsi:type="dcterms:W3CDTF">2026-10-03T16:46:59Z</dcterms:modified>
</cp:coreProperties>
</file>