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이 dummy 평가 셋의 도입부입니다. 21nm pitch M1 한정해서 spacer etch 만 RIE 와 QALE 로 분기한 비교 평가라는 점, 그리고 6 wafer / 4 metric 의 정량 셋업이라는 점을 짧게 정리합니다. ΔPW 평균이 RIE 2.5nm → QALE 1.0nm 의 가설을 어디까지 좁히는지 후속 슬라이드에서 검증한다는 흐름으로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셋업 페이지입니다. 6 wafer 가 어떻게 나뉘었는지, 4 종 metric 의 정의와 target 값, 그리고 RIE 와 QALE 두 recipe 의 차이가 무엇인지를 짧게 보여줍니다. 발표 시에는 QALE 의 200 cycles / low-energy Ar 가 throughput 은 RIE 대비 떨어지지만 mask 손상이 적고 선택비를 끌어올린다는 점을 짚어줍니다.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spacer etch 직후의 단면 SEM 을 본 페이지에서 어떻게 다루는지 보여줍니다. 사진 한 장을 큰 영역으로 풀고 그 우측에 RIE / QALE 각각의 관찰 코멘트를 패널로 정리합니다. 발표 시에는 측벽 비대칭이 pitch walk 의 직접적 원인이라는 점, QALE 은 1-cycle 단위의 정밀도로 profile 을 복원한다는 점을 짚습니다. 출처는 사진 한 줄만 사진 하단에 표기하고 별도 reference list 슬라이드는 두지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metal stack top-view 이미지 한 쌍을 보여주면서 a-b-a-b 형 pitch walk 와 QALE 회복을 시각적으로 설명합니다. 실제 SEM 사진 두 장을 큰 영역으로, 그리고 회당/관찰 코멘트를 카드 세 개로 정리합니다. 본 사진은 18–20nm pitch 영역에서 top-view 의 라인 패턴 비교용으로 사용한 자료이며, 참고 list 는 따로 두지 않고 각 사진 아래 한 줄 출처만 표기합니다.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4 종 metric 의 wafer 별 CD variation 을 2x2 의 동일한 카드 4 개로 정리합니다. 카드 색상 / 폰트 / width / height 를 통일해 시각적으로 묶이고, QALE row 에는 옅은 오렌지 tint 가 들어가 그룹을 즉시 식별할 수 있습니다. 발표 시에는 Δ vs T 컬럼과 3σ 컬럼을 동시에 짚어 QALE 가 4 metric 모두에서 spec 안에 들어온다는 점을 부각합니다.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6 매 wafer 각각의 25-point map 을 보여줍니다. RIE 그룹 (W1-W3) 은 상단에, QALE 그룹 (W4-W6) 은 하단에 배치되어 비교가 쉽도록 합니다. 각 셀의 색은 target (8.3nm) 으로부터의 편차 bin 으로 구분되며 값 텍스트가 함께 들어갑니다. QALE 그룹은 tint 배경, RIE 그룹은 흰 카드입니다. 발표 시에는 셀 숫자보다 편차 색 bin 으로 빠르게 훑어보게 하고, hot cell 이 한 점도 보이지 않는다는 점이 QALE 의 강점이라는 점을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4 종 metric 별 6 wafer 의 3σ 를 4 개 sub-chart 로 비교합니다. RIE wafer 는 slate 색, QALE wafer 는 orange 색으로 구분되며 target 라인 (점선) 가 metric 별로 들어갑니다. 발표 시에는 AMI sub-chart 의 격차가 가장 두드러진다는 점, 모든 metric 에서 QALE 가 target-line 아래에 들어온다는 점을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전기 특성 4 종 (시트저항 Rs, 비아 Rc, 라인간 누설, TDDB Vbd) 을 한 페이지의 큰 표로 정리합니다. 셀 색은 target 내/외를 표시하기 위한 의미적 강조일 뿐 별도 도식이 아닙니다. 발표 시 RIE 가 spec 의 3 종에서 벗어나고 QALE 가 3 매 모두 4 종 모두 spec 내로 들어온다는 점이 핵심이며, Δ 컬럼은 분기 recipe 의 효과를 한눈에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pitch walk 정량화 페이지입니다. 메인 bar chart 가 6 wafer 의 ΔPW 를 보여주고 1.7 nm 의 target 점선이 들어갑니다. 우측 stacked card 3 개는 그룹 평균 · QALE 평균 · 감소 폭을 짧게 정리합니다. 발표 시에는 그룹 시각적 분리, 1.7 nm 점선 통과 / 미통과 여부가 한눈에 읽히도록 의도한 페이지입니다.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throughput penalty vs uniformity gain 의 trade-off 를 시각화합니다. 메인 scatter 에서 RIE cluster (upper-right) 와 QALE cluster (lower-left) 가 두 점 군집으로 분리되어 pareto 의 두 corner 를 설명하고, 우측 stacked cards 3 개로 throughput / uniformity / margin 의 정량 비교를 정리합니다. 발표 시에는 이 슬라이드가 결론 슬라이드가 아닌 trade-off 분석 페이지임을 짚어주고, "spec-in wafer / hour" 의 Pareto 재해석을 보여주는 페이지임을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image" Target="../media/image-7-2.png"/><Relationship Id="rId11" Type="http://schemas.openxmlformats.org/officeDocument/2006/relationships/image" Target="../media/image-7-11.png"/><Relationship Id="rId12" Type="http://schemas.openxmlformats.org/officeDocument/2006/relationships/image" Target="../media/image-7-2.png"/><Relationship Id="rId13" Type="http://schemas.openxmlformats.org/officeDocument/2006/relationships/image" Target="../media/image-7-2.png"/><Relationship Id="rId14" Type="http://schemas.openxmlformats.org/officeDocument/2006/relationships/image" Target="../media/image-7-2.png"/><Relationship Id="rId15" Type="http://schemas.openxmlformats.org/officeDocument/2006/relationships/image" Target="../media/image-7-11.png"/><Relationship Id="rId16" Type="http://schemas.openxmlformats.org/officeDocument/2006/relationships/image" Target="../media/image-7-16.png"/><Relationship Id="rId17" Type="http://schemas.openxmlformats.org/officeDocument/2006/relationships/image" Target="../media/image-7-16.png"/><Relationship Id="rId18" Type="http://schemas.openxmlformats.org/officeDocument/2006/relationships/image" Target="../media/image-7-16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fce2eae34bfed8ccf7376dd7aa62252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805" y="-2095805"/>
            <a:ext cx="6476695" cy="6476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2001500" y="1333195"/>
            <a:ext cx="4972507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001500" y="3829507"/>
            <a:ext cx="4972507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001500" y="5143500"/>
            <a:ext cx="4972507" cy="1333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01500" y="6458407"/>
            <a:ext cx="4953305" cy="1123798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390e17b422cffad3f830a155fccb9943.png">    </p:cNvPr>
          <p:cNvPicPr>
            <a:picLocks noChangeAspect="1"/>
          </p:cNvPicPr>
          <p:nvPr/>
        </p:nvPicPr>
        <p:blipFill>
          <a:blip r:embed="rId2"/>
          <a:srcRect l="-462" r="-462" t="0" b="0"/>
          <a:stretch/>
        </p:blipFill>
        <p:spPr>
          <a:xfrm>
            <a:off x="1238098" y="890626"/>
            <a:ext cx="400507" cy="283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772107" y="800100"/>
            <a:ext cx="476402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SET 06 / 15 · EUV MULTI-PATTERNING EVAL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1238098" y="1333195"/>
            <a:ext cx="10287000" cy="1914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56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21nm pitch M1 의</a:t>
            </a:r>
            <a:pPr algn="l" indent="0" marL="0">
              <a:lnSpc>
                <a:spcPct val="108000"/>
              </a:lnSpc>
              <a:buNone/>
            </a:pPr>
            <a:endParaRPr lang="en-US" sz="4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650" b="1" spc="-56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피치 워크</a:t>
            </a:r>
            <a:pPr algn="l" indent="0" marL="0">
              <a:lnSpc>
                <a:spcPct val="108000"/>
              </a:lnSpc>
              <a:buNone/>
            </a:pPr>
            <a:r>
              <a:rPr lang="en-US" sz="4650" b="1" spc="-56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를 QALE 로</a:t>
            </a:r>
            <a:pPr algn="l" indent="0" marL="0">
              <a:lnSpc>
                <a:spcPct val="108000"/>
              </a:lnSpc>
              <a:buNone/>
            </a:pPr>
            <a:endParaRPr lang="en-US" sz="4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650" b="1" spc="-56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억제할 수 있는가</a:t>
            </a:r>
            <a:endParaRPr lang="en-US" sz="4650" dirty="0"/>
          </a:p>
        </p:txBody>
      </p:sp>
      <p:sp>
        <p:nvSpPr>
          <p:cNvPr id="11" name="Text 6"/>
          <p:cNvSpPr txBox="1"/>
          <p:nvPr/>
        </p:nvSpPr>
        <p:spPr>
          <a:xfrm>
            <a:off x="1276502" y="5108753"/>
            <a:ext cx="10287000" cy="128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EUV SADP 의 spacer etch 단에서 RIE 가 노광 LER 을 증폭해</a:t>
            </a:r>
            <a:pPr algn="l" indent="0" marL="0">
              <a:lnSpc>
                <a:spcPts val="2441"/>
              </a:lnSpc>
              <a:buNone/>
            </a:pP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a-b-a-b 간격 변동을 일으키는 현상을 정량 비교한다.</a:t>
            </a:r>
            <a:pPr algn="l" indent="0" marL="0">
              <a:lnSpc>
                <a:spcPts val="2441"/>
              </a:lnSpc>
              <a:buNone/>
            </a:pP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mask · resist · PR stack 위에서 spacer etch 만 분기해</a:t>
            </a:r>
            <a:pPr algn="l" indent="0" marL="0">
              <a:lnSpc>
                <a:spcPts val="2441"/>
              </a:lnSpc>
              <a:buNone/>
            </a:pP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 매 wafer 의 CD · 균일도 · 전기특성을 측정했다.</a:t>
            </a:r>
            <a:endParaRPr lang="en-US" sz="1575" dirty="0"/>
          </a:p>
        </p:txBody>
      </p:sp>
      <p:sp>
        <p:nvSpPr>
          <p:cNvPr id="12" name="Text 7"/>
          <p:cNvSpPr txBox="1"/>
          <p:nvPr/>
        </p:nvSpPr>
        <p:spPr>
          <a:xfrm>
            <a:off x="12287707" y="152430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HEADLINE METRIC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2287707" y="1837944"/>
            <a:ext cx="4572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450" b="1" spc="-129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ΔPW </a:t>
            </a:r>
            <a:pPr algn="l" indent="0" marL="0">
              <a:buNone/>
            </a:pPr>
            <a:r>
              <a:rPr lang="en-US" sz="3450" b="1" spc="-129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avg</a:t>
            </a:r>
            <a:endParaRPr lang="en-US" sz="6450" dirty="0"/>
          </a:p>
        </p:txBody>
      </p:sp>
      <p:sp>
        <p:nvSpPr>
          <p:cNvPr id="14" name="Text 9"/>
          <p:cNvSpPr txBox="1"/>
          <p:nvPr/>
        </p:nvSpPr>
        <p:spPr>
          <a:xfrm>
            <a:off x="12287707" y="2752344"/>
            <a:ext cx="104333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2.5nm</a:t>
            </a:r>
            <a:endParaRPr lang="en-US" sz="2550" dirty="0"/>
          </a:p>
        </p:txBody>
      </p:sp>
      <p:sp>
        <p:nvSpPr>
          <p:cNvPr id="15" name="Text 10"/>
          <p:cNvSpPr txBox="1"/>
          <p:nvPr/>
        </p:nvSpPr>
        <p:spPr>
          <a:xfrm>
            <a:off x="13468198" y="2790749"/>
            <a:ext cx="238658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Text 11"/>
          <p:cNvSpPr txBox="1"/>
          <p:nvPr/>
        </p:nvSpPr>
        <p:spPr>
          <a:xfrm>
            <a:off x="13912596" y="2752344"/>
            <a:ext cx="104333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1.0nm</a:t>
            </a:r>
            <a:endParaRPr lang="en-US" sz="2550" dirty="0"/>
          </a:p>
        </p:txBody>
      </p:sp>
      <p:sp>
        <p:nvSpPr>
          <p:cNvPr id="17" name="Text 12"/>
          <p:cNvSpPr txBox="1"/>
          <p:nvPr/>
        </p:nvSpPr>
        <p:spPr>
          <a:xfrm>
            <a:off x="12287707" y="3295498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wafer 평균 vs QALE wafer 평균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12287707" y="4000500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WAFFER SPLIT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2287707" y="4267505"/>
            <a:ext cx="457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 wafers · W1~W3 </a:t>
            </a:r>
            <a:pPr algn="l" indent="0" marL="0">
              <a:buNone/>
            </a:pPr>
            <a:r>
              <a:rPr lang="en-US" sz="1725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</a:t>
            </a:r>
            <a:pPr algn="l" indent="0" marL="0">
              <a:buNone/>
            </a:pPr>
            <a:r>
              <a:rPr lang="en-US" sz="1725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W4~W6 </a:t>
            </a:r>
            <a:pPr algn="l" indent="0" marL="0">
              <a:buNone/>
            </a:pPr>
            <a:r>
              <a:rPr lang="en-US" sz="172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</a:t>
            </a:r>
            <a:endParaRPr lang="en-US" sz="1725" dirty="0"/>
          </a:p>
        </p:txBody>
      </p:sp>
      <p:sp>
        <p:nvSpPr>
          <p:cNvPr id="20" name="Text 15"/>
          <p:cNvSpPr txBox="1"/>
          <p:nvPr/>
        </p:nvSpPr>
        <p:spPr>
          <a:xfrm>
            <a:off x="12287707" y="4590288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M1 layer · 21nm pitch · 300mm</a:t>
            </a:r>
            <a:endParaRPr lang="en-US" sz="1125" dirty="0"/>
          </a:p>
        </p:txBody>
      </p:sp>
      <p:sp>
        <p:nvSpPr>
          <p:cNvPr id="21" name="Text 16"/>
          <p:cNvSpPr txBox="1"/>
          <p:nvPr/>
        </p:nvSpPr>
        <p:spPr>
          <a:xfrm>
            <a:off x="12287707" y="529620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CD METRICS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2287707" y="5544007"/>
            <a:ext cx="5257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23.2 · ASEI 15.6 · AMI 8.3 · ACI 9.3 </a:t>
            </a:r>
            <a:pPr algn="l" indent="0" marL="0">
              <a:buNone/>
            </a:pPr>
            <a:r>
              <a:rPr lang="en-US" sz="105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(nm target)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2287707" y="5857646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종 metric × 6 wafer · mean / 3σ / range / Δ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12287707" y="6629400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HYPOTHESIS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2287707" y="6896405"/>
            <a:ext cx="52578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적용 시 in-wafer 3σ &lt; 1nm, ΔPW &lt; 1.7nm</a:t>
            </a:r>
            <a:endParaRPr lang="en-US" sz="1575" dirty="0"/>
          </a:p>
        </p:txBody>
      </p:sp>
      <p:sp>
        <p:nvSpPr>
          <p:cNvPr id="26" name="Text 21"/>
          <p:cNvSpPr txBox="1"/>
          <p:nvPr/>
        </p:nvSpPr>
        <p:spPr>
          <a:xfrm>
            <a:off x="12287707" y="7204558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EPE margin 으로 환산 가능한지 wafer-level 검증</a:t>
            </a:r>
            <a:endParaRPr lang="en-US" sz="1125" dirty="0"/>
          </a:p>
        </p:txBody>
      </p:sp>
      <p:pic>
        <p:nvPicPr>
          <p:cNvPr id="27" name="Image 2" descr="gen-dedup-c102c48807a4a2d8bacf7e31a1c469b1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238098" y="7905902"/>
            <a:ext cx="800100" cy="384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238098" y="8210398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2704795" y="8115300"/>
            <a:ext cx="14078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EUV 다중 패터닝에서 pitch walk 는 metal 라인 변동을 일으키는 대표 killer defect 이며, 동일 mask 상에서 spacer etch 만 QALE 로 분기해 비교 평가한다.</a:t>
            </a:r>
            <a:endParaRPr lang="en-US" sz="1650" dirty="0"/>
          </a:p>
        </p:txBody>
      </p:sp>
      <p:sp>
        <p:nvSpPr>
          <p:cNvPr id="30" name="Text 24"/>
          <p:cNvSpPr txBox="1"/>
          <p:nvPr/>
        </p:nvSpPr>
        <p:spPr>
          <a:xfrm>
            <a:off x="1238098" y="98105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819095"/>
            <a:ext cx="1733702" cy="16578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066898" y="2819095"/>
            <a:ext cx="1733702" cy="16578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95698" y="2819095"/>
            <a:ext cx="1733702" cy="16578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8098" y="4667098"/>
            <a:ext cx="1733702" cy="16578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66898" y="4667098"/>
            <a:ext cx="1733702" cy="16578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5698" y="4667098"/>
            <a:ext cx="1733702" cy="16578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44207" y="2495398"/>
            <a:ext cx="9829800" cy="3829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8098" y="7029907"/>
            <a:ext cx="5162702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72707" y="7029907"/>
            <a:ext cx="5162702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06402" y="7029907"/>
            <a:ext cx="5067605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pic>
        <p:nvPicPr>
          <p:cNvPr id="13" name="Image 0" descr="gen-dedup-0c3629cb00ba6ec9051c6168b7ec20b4.png">    </p:cNvPr>
          <p:cNvPicPr>
            <a:picLocks noChangeAspect="1"/>
          </p:cNvPicPr>
          <p:nvPr/>
        </p:nvPicPr>
        <p:blipFill>
          <a:blip r:embed="rId1"/>
          <a:srcRect l="-391" r="-391" t="0" b="0"/>
          <a:stretch/>
        </p:blipFill>
        <p:spPr>
          <a:xfrm>
            <a:off x="1238098" y="2819095"/>
            <a:ext cx="57607" cy="1638605"/>
          </a:xfrm>
          <a:prstGeom prst="rect">
            <a:avLst/>
          </a:prstGeom>
        </p:spPr>
      </p:pic>
      <p:pic>
        <p:nvPicPr>
          <p:cNvPr id="14" name="Image 1" descr="gen-dedup-0c3629cb00ba6ec9051c6168b7ec20b4.png">    </p:cNvPr>
          <p:cNvPicPr>
            <a:picLocks noChangeAspect="1"/>
          </p:cNvPicPr>
          <p:nvPr/>
        </p:nvPicPr>
        <p:blipFill>
          <a:blip r:embed="rId2"/>
          <a:srcRect l="-391" r="-391" t="0" b="0"/>
          <a:stretch/>
        </p:blipFill>
        <p:spPr>
          <a:xfrm>
            <a:off x="3066898" y="2819095"/>
            <a:ext cx="57607" cy="1638605"/>
          </a:xfrm>
          <a:prstGeom prst="rect">
            <a:avLst/>
          </a:prstGeom>
        </p:spPr>
      </p:pic>
      <p:pic>
        <p:nvPicPr>
          <p:cNvPr id="15" name="Image 2" descr="gen-dedup-0c3629cb00ba6ec9051c6168b7ec20b4.png">    </p:cNvPr>
          <p:cNvPicPr>
            <a:picLocks noChangeAspect="1"/>
          </p:cNvPicPr>
          <p:nvPr/>
        </p:nvPicPr>
        <p:blipFill>
          <a:blip r:embed="rId3"/>
          <a:srcRect l="-391" r="-391" t="0" b="0"/>
          <a:stretch/>
        </p:blipFill>
        <p:spPr>
          <a:xfrm>
            <a:off x="4895698" y="2819095"/>
            <a:ext cx="57607" cy="1638605"/>
          </a:xfrm>
          <a:prstGeom prst="rect">
            <a:avLst/>
          </a:prstGeom>
        </p:spPr>
      </p:pic>
      <p:pic>
        <p:nvPicPr>
          <p:cNvPr id="16" name="Image 3" descr="gen-dedup-c8d499cb5a34d22682f6b172d90806bb.png">    </p:cNvPr>
          <p:cNvPicPr>
            <a:picLocks noChangeAspect="1"/>
          </p:cNvPicPr>
          <p:nvPr/>
        </p:nvPicPr>
        <p:blipFill>
          <a:blip r:embed="rId4"/>
          <a:srcRect l="-391" r="-391" t="0" b="0"/>
          <a:stretch/>
        </p:blipFill>
        <p:spPr>
          <a:xfrm>
            <a:off x="1238098" y="4667098"/>
            <a:ext cx="57607" cy="1638605"/>
          </a:xfrm>
          <a:prstGeom prst="rect">
            <a:avLst/>
          </a:prstGeom>
        </p:spPr>
      </p:pic>
      <p:pic>
        <p:nvPicPr>
          <p:cNvPr id="17" name="Image 4" descr="gen-dedup-c8d499cb5a34d22682f6b172d90806bb.png">    </p:cNvPr>
          <p:cNvPicPr>
            <a:picLocks noChangeAspect="1"/>
          </p:cNvPicPr>
          <p:nvPr/>
        </p:nvPicPr>
        <p:blipFill>
          <a:blip r:embed="rId5"/>
          <a:srcRect l="-391" r="-391" t="0" b="0"/>
          <a:stretch/>
        </p:blipFill>
        <p:spPr>
          <a:xfrm>
            <a:off x="3066898" y="4667098"/>
            <a:ext cx="57607" cy="1638605"/>
          </a:xfrm>
          <a:prstGeom prst="rect">
            <a:avLst/>
          </a:prstGeom>
        </p:spPr>
      </p:pic>
      <p:pic>
        <p:nvPicPr>
          <p:cNvPr id="18" name="Image 5" descr="gen-dedup-c8d499cb5a34d22682f6b172d90806bb.png">    </p:cNvPr>
          <p:cNvPicPr>
            <a:picLocks noChangeAspect="1"/>
          </p:cNvPicPr>
          <p:nvPr/>
        </p:nvPicPr>
        <p:blipFill>
          <a:blip r:embed="rId6"/>
          <a:srcRect l="-391" r="-391" t="0" b="0"/>
          <a:stretch/>
        </p:blipFill>
        <p:spPr>
          <a:xfrm>
            <a:off x="4895698" y="4667098"/>
            <a:ext cx="57607" cy="1638605"/>
          </a:xfrm>
          <a:prstGeom prst="rect">
            <a:avLst/>
          </a:prstGeom>
        </p:spPr>
      </p:pic>
      <p:pic>
        <p:nvPicPr>
          <p:cNvPr id="19" name="Image 6" descr="gen-dedup-390e17b422cffad3f830a155fccb9943.png">    </p:cNvPr>
          <p:cNvPicPr>
            <a:picLocks noChangeAspect="1"/>
          </p:cNvPicPr>
          <p:nvPr/>
        </p:nvPicPr>
        <p:blipFill>
          <a:blip r:embed="rId7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752905" y="571500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/ CONDITIONS</a:t>
            </a:r>
            <a:endParaRPr lang="en-US" sz="1050" dirty="0"/>
          </a:p>
        </p:txBody>
      </p:sp>
      <p:sp>
        <p:nvSpPr>
          <p:cNvPr id="21" name="Text 11"/>
          <p:cNvSpPr txBox="1"/>
          <p:nvPr/>
        </p:nvSpPr>
        <p:spPr>
          <a:xfrm>
            <a:off x="1238098" y="1028700"/>
            <a:ext cx="11430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Six-wafer 분할과 4 종 target CD</a:t>
            </a:r>
            <a:endParaRPr lang="en-US" sz="3450" dirty="0"/>
          </a:p>
        </p:txBody>
      </p:sp>
      <p:sp>
        <p:nvSpPr>
          <p:cNvPr id="22" name="Text 12"/>
          <p:cNvSpPr txBox="1"/>
          <p:nvPr/>
        </p:nvSpPr>
        <p:spPr>
          <a:xfrm>
            <a:off x="1238098" y="1605686"/>
            <a:ext cx="11430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EUV mask · 동일 resist · 동일 PR stack 위에서 spacer etch recipe 만 분기</a:t>
            </a:r>
            <a:endParaRPr lang="en-US" sz="1500" dirty="0"/>
          </a:p>
        </p:txBody>
      </p:sp>
      <p:sp>
        <p:nvSpPr>
          <p:cNvPr id="23" name="Text 13"/>
          <p:cNvSpPr txBox="1"/>
          <p:nvPr/>
        </p:nvSpPr>
        <p:spPr>
          <a:xfrm>
            <a:off x="1238098" y="2495398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 SPLIT</a:t>
            </a:r>
            <a:endParaRPr lang="en-US" sz="975" dirty="0"/>
          </a:p>
        </p:txBody>
      </p:sp>
      <p:sp>
        <p:nvSpPr>
          <p:cNvPr id="24" name="Text 14"/>
          <p:cNvSpPr txBox="1"/>
          <p:nvPr/>
        </p:nvSpPr>
        <p:spPr>
          <a:xfrm>
            <a:off x="1410005" y="3010205"/>
            <a:ext cx="1371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1410005" y="3648456"/>
            <a:ext cx="1371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2850" dirty="0"/>
          </a:p>
        </p:txBody>
      </p:sp>
      <p:sp>
        <p:nvSpPr>
          <p:cNvPr id="26" name="Text 16"/>
          <p:cNvSpPr txBox="1"/>
          <p:nvPr/>
        </p:nvSpPr>
        <p:spPr>
          <a:xfrm>
            <a:off x="1410005" y="4067251"/>
            <a:ext cx="1371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lot A · edge die</a:t>
            </a:r>
            <a:endParaRPr lang="en-US" sz="1050" dirty="0"/>
          </a:p>
        </p:txBody>
      </p:sp>
      <p:sp>
        <p:nvSpPr>
          <p:cNvPr id="27" name="Text 17"/>
          <p:cNvSpPr txBox="1"/>
          <p:nvPr/>
        </p:nvSpPr>
        <p:spPr>
          <a:xfrm>
            <a:off x="3238805" y="3010205"/>
            <a:ext cx="1371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</a:t>
            </a:r>
            <a:endParaRPr lang="en-US" sz="900" dirty="0"/>
          </a:p>
        </p:txBody>
      </p:sp>
      <p:sp>
        <p:nvSpPr>
          <p:cNvPr id="28" name="Text 18"/>
          <p:cNvSpPr txBox="1"/>
          <p:nvPr/>
        </p:nvSpPr>
        <p:spPr>
          <a:xfrm>
            <a:off x="3238805" y="3648456"/>
            <a:ext cx="1371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2850" dirty="0"/>
          </a:p>
        </p:txBody>
      </p:sp>
      <p:sp>
        <p:nvSpPr>
          <p:cNvPr id="29" name="Text 19"/>
          <p:cNvSpPr txBox="1"/>
          <p:nvPr/>
        </p:nvSpPr>
        <p:spPr>
          <a:xfrm>
            <a:off x="3238805" y="4067251"/>
            <a:ext cx="1631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lot A · center die</a:t>
            </a:r>
            <a:endParaRPr lang="en-US" sz="1050" dirty="0"/>
          </a:p>
        </p:txBody>
      </p:sp>
      <p:sp>
        <p:nvSpPr>
          <p:cNvPr id="30" name="Text 20"/>
          <p:cNvSpPr txBox="1"/>
          <p:nvPr/>
        </p:nvSpPr>
        <p:spPr>
          <a:xfrm>
            <a:off x="5067605" y="3010205"/>
            <a:ext cx="1371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5067605" y="3648456"/>
            <a:ext cx="1371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2850" dirty="0"/>
          </a:p>
        </p:txBody>
      </p:sp>
      <p:sp>
        <p:nvSpPr>
          <p:cNvPr id="32" name="Text 22"/>
          <p:cNvSpPr txBox="1"/>
          <p:nvPr/>
        </p:nvSpPr>
        <p:spPr>
          <a:xfrm>
            <a:off x="5067605" y="4067251"/>
            <a:ext cx="1631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lot B · center die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1410005" y="4858207"/>
            <a:ext cx="1371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1410005" y="5495544"/>
            <a:ext cx="1371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2850" dirty="0"/>
          </a:p>
        </p:txBody>
      </p:sp>
      <p:sp>
        <p:nvSpPr>
          <p:cNvPr id="35" name="Text 25"/>
          <p:cNvSpPr txBox="1"/>
          <p:nvPr/>
        </p:nvSpPr>
        <p:spPr>
          <a:xfrm>
            <a:off x="1410005" y="5915254"/>
            <a:ext cx="1371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lot A · edge die</a:t>
            </a:r>
            <a:endParaRPr lang="en-US" sz="1050" dirty="0"/>
          </a:p>
        </p:txBody>
      </p:sp>
      <p:sp>
        <p:nvSpPr>
          <p:cNvPr id="36" name="Text 26"/>
          <p:cNvSpPr txBox="1"/>
          <p:nvPr/>
        </p:nvSpPr>
        <p:spPr>
          <a:xfrm>
            <a:off x="3238805" y="4858207"/>
            <a:ext cx="1371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3238805" y="5495544"/>
            <a:ext cx="1371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2850" dirty="0"/>
          </a:p>
        </p:txBody>
      </p:sp>
      <p:sp>
        <p:nvSpPr>
          <p:cNvPr id="38" name="Text 28"/>
          <p:cNvSpPr txBox="1"/>
          <p:nvPr/>
        </p:nvSpPr>
        <p:spPr>
          <a:xfrm>
            <a:off x="3238805" y="5915254"/>
            <a:ext cx="1631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lot A · center die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5067605" y="4858207"/>
            <a:ext cx="1371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5067605" y="5495544"/>
            <a:ext cx="1371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2850" dirty="0"/>
          </a:p>
        </p:txBody>
      </p:sp>
      <p:sp>
        <p:nvSpPr>
          <p:cNvPr id="41" name="Text 31"/>
          <p:cNvSpPr txBox="1"/>
          <p:nvPr/>
        </p:nvSpPr>
        <p:spPr>
          <a:xfrm>
            <a:off x="5067605" y="5915254"/>
            <a:ext cx="1631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lot B · center die</a:t>
            </a:r>
            <a:endParaRPr lang="en-US" sz="1050" dirty="0"/>
          </a:p>
        </p:txBody>
      </p:sp>
      <p:sp>
        <p:nvSpPr>
          <p:cNvPr id="42" name="Text 32"/>
          <p:cNvSpPr txBox="1"/>
          <p:nvPr/>
        </p:nvSpPr>
        <p:spPr>
          <a:xfrm>
            <a:off x="7429500" y="2686507"/>
            <a:ext cx="9430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CD &amp; MEASUREMENT STEPS</a:t>
            </a:r>
            <a:endParaRPr lang="en-US" sz="975" dirty="0"/>
          </a:p>
        </p:txBody>
      </p:sp>
      <p:sp>
        <p:nvSpPr>
          <p:cNvPr id="43" name="Text 33"/>
          <p:cNvSpPr txBox="1"/>
          <p:nvPr/>
        </p:nvSpPr>
        <p:spPr>
          <a:xfrm>
            <a:off x="7429500" y="2943454"/>
            <a:ext cx="9430207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→ ASEI → AMI → ACI (단위 nm)</a:t>
            </a:r>
            <a:endParaRPr lang="en-US" sz="2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500" y="3562502"/>
          <a:ext cx="9430207" cy="3248863"/>
        </p:xfrm>
        <a:graphic>
          <a:graphicData uri="http://schemas.openxmlformats.org/drawingml/2006/table">
            <a:tbl>
              <a:tblPr/>
              <a:tblGrid>
                <a:gridCol w="1555394"/>
                <a:gridCol w="4666183"/>
                <a:gridCol w="1555394"/>
                <a:gridCol w="1652321"/>
              </a:tblGrid>
              <a:tr h="64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METRIC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DEFINITION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CHECKPOINT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TARGET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7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AASI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All-Spacer After Sidewall Inspection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spacer 증착 직후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23.2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7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ASEI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After Spacer Etch Inspection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spacer etch 직후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15.6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7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AMI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After Metal-line Inspection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metal stack 식각 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8.3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7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ACI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After Clean Inspection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잔막 strip / clean 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9.3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Text 34"/>
          <p:cNvSpPr txBox="1"/>
          <p:nvPr/>
        </p:nvSpPr>
        <p:spPr>
          <a:xfrm>
            <a:off x="1238098" y="6667805"/>
            <a:ext cx="427024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PROCESS DEFAULTS · spacer etch 분기 외 동일</a:t>
            </a:r>
            <a:endParaRPr lang="en-US" sz="975" dirty="0"/>
          </a:p>
        </p:txBody>
      </p:sp>
      <p:sp>
        <p:nvSpPr>
          <p:cNvPr id="46" name="Text 35"/>
          <p:cNvSpPr txBox="1"/>
          <p:nvPr/>
        </p:nvSpPr>
        <p:spPr>
          <a:xfrm>
            <a:off x="1466698" y="72201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CONDITION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1466698" y="7461504"/>
            <a:ext cx="476311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CHF₃ / CF₄ 기반 연속 식각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ICP 600W · pressure 8 mTorr · bias 80V</a:t>
            </a:r>
            <a:endParaRPr lang="en-US" sz="1350" dirty="0"/>
          </a:p>
        </p:txBody>
      </p:sp>
      <p:sp>
        <p:nvSpPr>
          <p:cNvPr id="48" name="Text 37"/>
          <p:cNvSpPr txBox="1"/>
          <p:nvPr/>
        </p:nvSpPr>
        <p:spPr>
          <a:xfrm>
            <a:off x="6801307" y="72201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CONDITION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6801307" y="7461504"/>
            <a:ext cx="476311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Cycle: adsorption (NF₃ 30s) + Ar⁺ desorb cycle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200 cycles · low-energy Ar ~25eV · 80°C</a:t>
            </a:r>
            <a:endParaRPr lang="en-US" sz="1350" dirty="0"/>
          </a:p>
        </p:txBody>
      </p:sp>
      <p:sp>
        <p:nvSpPr>
          <p:cNvPr id="50" name="Text 39"/>
          <p:cNvSpPr txBox="1"/>
          <p:nvPr/>
        </p:nvSpPr>
        <p:spPr>
          <a:xfrm>
            <a:off x="12135002" y="7220102"/>
            <a:ext cx="4668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SHARED PARAMETERS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12135002" y="7461504"/>
            <a:ext cx="466801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300mm Si substrate · 21nm pitch mask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Low-k k≈2.5 · Cu reflow 없음</a:t>
            </a:r>
            <a:endParaRPr lang="en-US" sz="1350" dirty="0"/>
          </a:p>
        </p:txBody>
      </p:sp>
      <p:sp>
        <p:nvSpPr>
          <p:cNvPr id="52" name="Text 41"/>
          <p:cNvSpPr txBox="1"/>
          <p:nvPr/>
        </p:nvSpPr>
        <p:spPr>
          <a:xfrm>
            <a:off x="1238098" y="8610905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2704795" y="8515807"/>
            <a:ext cx="143451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W1~W3 는 연속 RIE, W4~W6 는 200-cycle QALE spacer etch 를 쓰며 AASI 23.2 / ASEI 15.6 / AMI 8.3 / ACI 9.3 nm 4 종 target 으로 wafer 별 CD 를 비교한다.</a:t>
            </a:r>
            <a:endParaRPr lang="en-US" sz="1650" dirty="0"/>
          </a:p>
        </p:txBody>
      </p:sp>
      <p:sp>
        <p:nvSpPr>
          <p:cNvPr id="54" name="Text 43"/>
          <p:cNvSpPr txBox="1"/>
          <p:nvPr/>
        </p:nvSpPr>
        <p:spPr>
          <a:xfrm>
            <a:off x="1238098" y="98105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400300"/>
            <a:ext cx="10858500" cy="5333695"/>
          </a:xfrm>
          <a:prstGeom prst="rect">
            <a:avLst/>
          </a:prstGeom>
          <a:solidFill>
            <a:srgbClr val="0E11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477902" y="2762402"/>
            <a:ext cx="4591202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77902" y="5238598"/>
            <a:ext cx="4572000" cy="2495398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a53b1e2765fcaba988e89fee04d93dfe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12477902" y="2762402"/>
            <a:ext cx="57607" cy="2286000"/>
          </a:xfrm>
          <a:prstGeom prst="rect">
            <a:avLst/>
          </a:prstGeom>
        </p:spPr>
      </p:pic>
      <p:pic>
        <p:nvPicPr>
          <p:cNvPr id="7" name="Image 1" descr="gen-dedup-74d11a47e3028ffb3a3ea0fc5e0d4b29.png">    </p:cNvPr>
          <p:cNvPicPr>
            <a:picLocks noChangeAspect="1"/>
          </p:cNvPicPr>
          <p:nvPr/>
        </p:nvPicPr>
        <p:blipFill>
          <a:blip r:embed="rId2"/>
          <a:srcRect l="-403" r="-403" t="0" b="0"/>
          <a:stretch/>
        </p:blipFill>
        <p:spPr>
          <a:xfrm>
            <a:off x="12477902" y="5238598"/>
            <a:ext cx="57607" cy="2495398"/>
          </a:xfrm>
          <a:prstGeom prst="rect">
            <a:avLst/>
          </a:prstGeom>
        </p:spPr>
      </p:pic>
      <p:pic>
        <p:nvPicPr>
          <p:cNvPr id="8" name="Image 2" descr="gen-dedup-390e17b422cffad3f830a155fccb9943.png">    </p:cNvPr>
          <p:cNvPicPr>
            <a:picLocks noChangeAspect="1"/>
          </p:cNvPicPr>
          <p:nvPr/>
        </p:nvPicPr>
        <p:blipFill>
          <a:blip r:embed="rId3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/ CROSS-SECTION SEM</a:t>
            </a:r>
            <a:endParaRPr lang="en-US" sz="1050" dirty="0"/>
          </a:p>
        </p:txBody>
      </p:sp>
      <p:sp>
        <p:nvSpPr>
          <p:cNvPr id="10" name="Text 4"/>
          <p:cNvSpPr txBox="1"/>
          <p:nvPr/>
        </p:nvSpPr>
        <p:spPr>
          <a:xfrm>
            <a:off x="1238098" y="1028700"/>
            <a:ext cx="11430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Spacer etch 후 단면 SEM</a:t>
            </a:r>
            <a:endParaRPr lang="en-US" sz="3450" dirty="0"/>
          </a:p>
        </p:txBody>
      </p:sp>
      <p:sp>
        <p:nvSpPr>
          <p:cNvPr id="11" name="Text 5"/>
          <p:cNvSpPr txBox="1"/>
          <p:nvPr/>
        </p:nvSpPr>
        <p:spPr>
          <a:xfrm>
            <a:off x="1238098" y="1605686"/>
            <a:ext cx="11430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 wafer 의 spacer etch 직후 단면 — 본 조건에서 RIE / QALE 의 단면 profile 비교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1485900" y="26673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F4C5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REPRESENTATIVE · W2 (RIE LOT A)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1485900" y="2905049"/>
            <a:ext cx="42775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21nm pitch SADP · spacer etch 후 · x-section</a:t>
            </a:r>
            <a:endParaRPr lang="en-US" sz="1350" dirty="0"/>
          </a:p>
        </p:txBody>
      </p:sp>
      <p:pic>
        <p:nvPicPr>
          <p:cNvPr id="14" name="Image 3" descr="gen-dedup-22ed2d0b035dbef9e449a3fa3016c01c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0649102" y="6953098"/>
            <a:ext cx="1143000" cy="5760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649102" y="7048195"/>
            <a:ext cx="11430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6F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50 nm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1238098" y="7810805"/>
            <a:ext cx="1105052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SPIE Digital Library, "Patterning exploration of 16nm pitch metal lines using spacer-is-dielectric EUV-based SADP" (proc. SPIE 13429, 134290E)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12477902" y="2400300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OBSERVATIONS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12763195" y="3010205"/>
            <a:ext cx="4038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· W1~W3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2763195" y="3314700"/>
            <a:ext cx="40389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측벽 비대칭 · taper 가 관측됨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2763195" y="3703320"/>
            <a:ext cx="4038905" cy="830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이온 입사각 비대칭으로 좌·우 측벽 두께가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원자 단위에서 차이. line CD 가 a-b-a-b 로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번갈아 변동 — pitch walk seed 가 됨.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12763195" y="5486400"/>
            <a:ext cx="4038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· W4~W6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2763195" y="5790895"/>
            <a:ext cx="40389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수직 측벽 · 두께 균일 회복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2763195" y="6180430"/>
            <a:ext cx="40389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Cycle 단위 정밀도로 한 layer 만 제거하므로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plasma damage 가 줄고 mask-Low-k 간 선택비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 치솟는다. 동일 wafer 의 low-bias 영역도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일관된 profile 을 보인다.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8610905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2704795" y="8515807"/>
            <a:ext cx="126022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단면은 좌우 측벽 비대칭과 taper 가 관찰되며 a-b-a-b 변동의 seed 가 확인된다 — QALE 은 cycle 단위의 정밀도로 profile 을 복원한다.</a:t>
            </a:r>
            <a:endParaRPr lang="en-US" sz="1650" dirty="0"/>
          </a:p>
        </p:txBody>
      </p:sp>
      <p:sp>
        <p:nvSpPr>
          <p:cNvPr id="26" name="Text 19"/>
          <p:cNvSpPr txBox="1"/>
          <p:nvPr/>
        </p:nvSpPr>
        <p:spPr>
          <a:xfrm>
            <a:off x="1238098" y="98105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247595"/>
            <a:ext cx="7429500" cy="4953305"/>
          </a:xfrm>
          <a:prstGeom prst="rect">
            <a:avLst/>
          </a:prstGeom>
          <a:solidFill>
            <a:srgbClr val="0E11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953805" y="2247595"/>
            <a:ext cx="7810805" cy="4953305"/>
          </a:xfrm>
          <a:prstGeom prst="rect">
            <a:avLst/>
          </a:prstGeom>
          <a:solidFill>
            <a:srgbClr val="0E11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8098" y="7696505"/>
            <a:ext cx="5162702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72707" y="7696505"/>
            <a:ext cx="5162702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06402" y="7696505"/>
            <a:ext cx="5143500" cy="705002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390e17b422cffad3f830a155fccb9943.png">    </p:cNvPr>
          <p:cNvPicPr>
            <a:picLocks noChangeAspect="1"/>
          </p:cNvPicPr>
          <p:nvPr/>
        </p:nvPicPr>
        <p:blipFill>
          <a:blip r:embed="rId1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/ TOP-VIEW SEM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1238098" y="1028700"/>
            <a:ext cx="13335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Top-view 패턴과 pitch walk 의 발현</a:t>
            </a:r>
            <a:endParaRPr lang="en-US" sz="3450" dirty="0"/>
          </a:p>
        </p:txBody>
      </p:sp>
      <p:sp>
        <p:nvSpPr>
          <p:cNvPr id="11" name="Text 7"/>
          <p:cNvSpPr txBox="1"/>
          <p:nvPr/>
        </p:nvSpPr>
        <p:spPr>
          <a:xfrm>
            <a:off x="1238098" y="1605686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mask 와 동일 PR lot 에서 도출된 두 wafer 의 metal stack top-view 비교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2495398"/>
            <a:ext cx="4000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F4C5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REPRESENTATIVE · W3 (RIE)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2723998"/>
            <a:ext cx="42291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M1 stack top-view · 20nm-class pitch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7315200"/>
            <a:ext cx="8115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Silicon Semiconductor, "Imec demonstrates electrical yield for 20nm pitch metal lines" (High-NA EUV 기반 비교 wafer)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9239098" y="2495398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F4C5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REPRESENTATIVE · W5 (QALE)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239098" y="2723998"/>
            <a:ext cx="457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 18nm pitch Line/Space patterning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953805" y="7315200"/>
            <a:ext cx="7810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Silicon Semiconductor, "Imec Demonstrates 18nm Pitch Line/Space Patterning"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1466698" y="7832750"/>
            <a:ext cx="41148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OBSERVATION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1466698" y="8051292"/>
            <a:ext cx="480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a-b-a-b 라인 간격 번갈아 변동 — pitch walk 가 시각적으로 확인됨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801307" y="7832750"/>
            <a:ext cx="37719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OBSERVATION</a:t>
            </a:r>
            <a:endParaRPr lang="en-US" sz="825" dirty="0"/>
          </a:p>
        </p:txBody>
      </p:sp>
      <p:sp>
        <p:nvSpPr>
          <p:cNvPr id="21" name="Text 17"/>
          <p:cNvSpPr txBox="1"/>
          <p:nvPr/>
        </p:nvSpPr>
        <p:spPr>
          <a:xfrm>
            <a:off x="6801307" y="8051292"/>
            <a:ext cx="445221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인접 라인 간격 균일 회복, line-edge roughness 도 동시 감소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2135002" y="7832750"/>
            <a:ext cx="4077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QUALITATIVE WALK</a:t>
            </a:r>
            <a:endParaRPr lang="en-US" sz="825" dirty="0"/>
          </a:p>
        </p:txBody>
      </p:sp>
      <p:sp>
        <p:nvSpPr>
          <p:cNvPr id="23" name="Text 19"/>
          <p:cNvSpPr txBox="1"/>
          <p:nvPr/>
        </p:nvSpPr>
        <p:spPr>
          <a:xfrm>
            <a:off x="12135002" y="8051292"/>
            <a:ext cx="51105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육안 비교에서도 QALE 의 line 정의가 뚜렷하고 결함 사이트도 적다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8781898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2704795" y="8686800"/>
            <a:ext cx="143451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Top-view 에서 RIE 는 a-b-a-b 형 pitch walk 가 두드러지고, QALE 은 line-edge 균등한 line 들로 회복되며 동일 wafer lot 의 비교만으로도 변동 폭 차이를 확인할 수 있다.</a:t>
            </a:r>
            <a:endParaRPr lang="en-US" sz="1650" dirty="0"/>
          </a:p>
        </p:txBody>
      </p:sp>
      <p:sp>
        <p:nvSpPr>
          <p:cNvPr id="26" name="Text 22"/>
          <p:cNvSpPr txBox="1"/>
          <p:nvPr/>
        </p:nvSpPr>
        <p:spPr>
          <a:xfrm>
            <a:off x="1238098" y="98105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076602"/>
            <a:ext cx="7638898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430207" y="2076602"/>
            <a:ext cx="7638898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8098" y="5143500"/>
            <a:ext cx="7638898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30207" y="5143500"/>
            <a:ext cx="7638898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pic>
        <p:nvPicPr>
          <p:cNvPr id="7" name="Image 0" descr="gen-dedup-835be61171bd713f0559e15a97f14c2b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1238098" y="2076602"/>
            <a:ext cx="57607" cy="2857500"/>
          </a:xfrm>
          <a:prstGeom prst="rect">
            <a:avLst/>
          </a:prstGeom>
        </p:spPr>
      </p:pic>
      <p:pic>
        <p:nvPicPr>
          <p:cNvPr id="8" name="Image 1" descr="gen-dedup-835be61171bd713f0559e15a97f14c2b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9430207" y="2076602"/>
            <a:ext cx="57607" cy="2857500"/>
          </a:xfrm>
          <a:prstGeom prst="rect">
            <a:avLst/>
          </a:prstGeom>
        </p:spPr>
      </p:pic>
      <p:pic>
        <p:nvPicPr>
          <p:cNvPr id="9" name="Image 2" descr="gen-dedup-3fa9f4c0a5ea621b5710f68e355e03d5.png">    </p:cNvPr>
          <p:cNvPicPr>
            <a:picLocks noChangeAspect="1"/>
          </p:cNvPicPr>
          <p:nvPr/>
        </p:nvPicPr>
        <p:blipFill>
          <a:blip r:embed="rId3"/>
          <a:srcRect l="-394" r="-394" t="0" b="0"/>
          <a:stretch/>
        </p:blipFill>
        <p:spPr>
          <a:xfrm>
            <a:off x="1238098" y="5143500"/>
            <a:ext cx="57607" cy="2667305"/>
          </a:xfrm>
          <a:prstGeom prst="rect">
            <a:avLst/>
          </a:prstGeom>
        </p:spPr>
      </p:pic>
      <p:pic>
        <p:nvPicPr>
          <p:cNvPr id="10" name="Image 3" descr="gen-dedup-3fa9f4c0a5ea621b5710f68e355e03d5.png">    </p:cNvPr>
          <p:cNvPicPr>
            <a:picLocks noChangeAspect="1"/>
          </p:cNvPicPr>
          <p:nvPr/>
        </p:nvPicPr>
        <p:blipFill>
          <a:blip r:embed="rId4"/>
          <a:srcRect l="-394" r="-394" t="0" b="0"/>
          <a:stretch/>
        </p:blipFill>
        <p:spPr>
          <a:xfrm>
            <a:off x="9430207" y="5143500"/>
            <a:ext cx="57607" cy="2667305"/>
          </a:xfrm>
          <a:prstGeom prst="rect">
            <a:avLst/>
          </a:prstGeom>
        </p:spPr>
      </p:pic>
      <p:pic>
        <p:nvPicPr>
          <p:cNvPr id="11" name="Image 4" descr="gen-dedup-390e17b422cffad3f830a155fccb9943.png">    </p:cNvPr>
          <p:cNvPicPr>
            <a:picLocks noChangeAspect="1"/>
          </p:cNvPicPr>
          <p:nvPr/>
        </p:nvPicPr>
        <p:blipFill>
          <a:blip r:embed="rId5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/ CD VARIATION</a:t>
            </a:r>
            <a:endParaRPr lang="en-US" sz="1050" dirty="0"/>
          </a:p>
        </p:txBody>
      </p:sp>
      <p:sp>
        <p:nvSpPr>
          <p:cNvPr id="13" name="Text 5"/>
          <p:cNvSpPr txBox="1"/>
          <p:nvPr/>
        </p:nvSpPr>
        <p:spPr>
          <a:xfrm>
            <a:off x="1238098" y="1028700"/>
            <a:ext cx="14287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종 CD metric · wafer 별 mean / 3σ / range / Δ</a:t>
            </a:r>
            <a:endParaRPr lang="en-US" sz="3150" dirty="0"/>
          </a:p>
        </p:txBody>
      </p:sp>
      <p:sp>
        <p:nvSpPr>
          <p:cNvPr id="14" name="Text 6"/>
          <p:cNvSpPr txBox="1"/>
          <p:nvPr/>
        </p:nvSpPr>
        <p:spPr>
          <a:xfrm>
            <a:off x="1524305" y="2247595"/>
            <a:ext cx="4197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</a:t>
            </a:r>
            <a:endParaRPr lang="en-US" sz="975" dirty="0"/>
          </a:p>
        </p:txBody>
      </p:sp>
      <p:sp>
        <p:nvSpPr>
          <p:cNvPr id="15" name="Text 7"/>
          <p:cNvSpPr txBox="1"/>
          <p:nvPr/>
        </p:nvSpPr>
        <p:spPr>
          <a:xfrm>
            <a:off x="6525158" y="2257654"/>
            <a:ext cx="266456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23.2 nm · spacer dep 직후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2553005"/>
          <a:ext cx="7239305" cy="2410358"/>
        </p:xfrm>
        <a:graphic>
          <a:graphicData uri="http://schemas.openxmlformats.org/drawingml/2006/table">
            <a:tbl>
              <a:tblPr/>
              <a:tblGrid>
                <a:gridCol w="1009498"/>
                <a:gridCol w="1384402"/>
                <a:gridCol w="1240841"/>
                <a:gridCol w="1042416"/>
                <a:gridCol w="1278331"/>
                <a:gridCol w="1282903"/>
              </a:tblGrid>
              <a:tr h="3443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Wafer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Recipe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Mean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3σ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Range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Δ vs T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W1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7.20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+0.20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W2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22.90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1.90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W3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W4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0.90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23.20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W6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0.85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</a:tbl>
          </a:graphicData>
        </a:graphic>
      </p:graphicFrame>
      <p:sp>
        <p:nvSpPr>
          <p:cNvPr id="17" name="Text 8"/>
          <p:cNvSpPr txBox="1"/>
          <p:nvPr/>
        </p:nvSpPr>
        <p:spPr>
          <a:xfrm>
            <a:off x="9715500" y="2247595"/>
            <a:ext cx="4005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</a:t>
            </a:r>
            <a:endParaRPr lang="en-US" sz="975" dirty="0"/>
          </a:p>
        </p:txBody>
      </p:sp>
      <p:sp>
        <p:nvSpPr>
          <p:cNvPr id="18" name="Text 9"/>
          <p:cNvSpPr txBox="1"/>
          <p:nvPr/>
        </p:nvSpPr>
        <p:spPr>
          <a:xfrm>
            <a:off x="14666976" y="2257654"/>
            <a:ext cx="273222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15.6 nm · spacer etch 직후</a:t>
            </a:r>
            <a:endParaRPr lang="en-US" sz="9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15500" y="2553005"/>
          <a:ext cx="7239305" cy="2410358"/>
        </p:xfrm>
        <a:graphic>
          <a:graphicData uri="http://schemas.openxmlformats.org/drawingml/2006/table">
            <a:tbl>
              <a:tblPr/>
              <a:tblGrid>
                <a:gridCol w="1009498"/>
                <a:gridCol w="1384402"/>
                <a:gridCol w="1240841"/>
                <a:gridCol w="1042416"/>
                <a:gridCol w="1278331"/>
                <a:gridCol w="1282903"/>
              </a:tblGrid>
              <a:tr h="3443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Wafer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Recipe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Mean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3σ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Range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Δ vs T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W1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1.50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+0.50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W2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15.20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W3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1.70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W4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15.70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0.70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15.50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0.65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W6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</a:tbl>
          </a:graphicData>
        </a:graphic>
      </p:graphicFrame>
      <p:sp>
        <p:nvSpPr>
          <p:cNvPr id="20" name="Text 10"/>
          <p:cNvSpPr txBox="1"/>
          <p:nvPr/>
        </p:nvSpPr>
        <p:spPr>
          <a:xfrm>
            <a:off x="1524305" y="5315407"/>
            <a:ext cx="3246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</a:t>
            </a:r>
            <a:endParaRPr lang="en-US" sz="975" dirty="0"/>
          </a:p>
        </p:txBody>
      </p:sp>
      <p:sp>
        <p:nvSpPr>
          <p:cNvPr id="21" name="Text 11"/>
          <p:cNvSpPr txBox="1"/>
          <p:nvPr/>
        </p:nvSpPr>
        <p:spPr>
          <a:xfrm>
            <a:off x="6765646" y="5324551"/>
            <a:ext cx="2381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8.3 nm · post M1 etch</a:t>
            </a:r>
            <a:endParaRPr lang="en-US" sz="9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5619902"/>
          <a:ext cx="7239305" cy="2410358"/>
        </p:xfrm>
        <a:graphic>
          <a:graphicData uri="http://schemas.openxmlformats.org/drawingml/2006/table">
            <a:tbl>
              <a:tblPr/>
              <a:tblGrid>
                <a:gridCol w="1009498"/>
                <a:gridCol w="1407262"/>
                <a:gridCol w="1161288"/>
                <a:gridCol w="1058875"/>
                <a:gridCol w="1299362"/>
                <a:gridCol w="1303020"/>
              </a:tblGrid>
              <a:tr h="3443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Wafer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Recipe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Mean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3σ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Range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Δ vs T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W1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1.20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W2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−0.20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W3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8.70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W4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0.50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8.25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0.45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1.80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−0.05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W6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8.35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0.50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1.90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+0.05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</a:tbl>
          </a:graphicData>
        </a:graphic>
      </p:graphicFrame>
      <p:sp>
        <p:nvSpPr>
          <p:cNvPr id="23" name="Text 12"/>
          <p:cNvSpPr txBox="1"/>
          <p:nvPr/>
        </p:nvSpPr>
        <p:spPr>
          <a:xfrm>
            <a:off x="9715500" y="5315407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</a:t>
            </a:r>
            <a:endParaRPr lang="en-US" sz="975" dirty="0"/>
          </a:p>
        </p:txBody>
      </p:sp>
      <p:sp>
        <p:nvSpPr>
          <p:cNvPr id="24" name="Text 13"/>
          <p:cNvSpPr txBox="1"/>
          <p:nvPr/>
        </p:nvSpPr>
        <p:spPr>
          <a:xfrm>
            <a:off x="15126919" y="5324551"/>
            <a:ext cx="217627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9.3 nm · post clean</a:t>
            </a:r>
            <a:endParaRPr lang="en-US" sz="90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15500" y="5619902"/>
          <a:ext cx="7239305" cy="2410358"/>
        </p:xfrm>
        <a:graphic>
          <a:graphicData uri="http://schemas.openxmlformats.org/drawingml/2006/table">
            <a:tbl>
              <a:tblPr/>
              <a:tblGrid>
                <a:gridCol w="1009498"/>
                <a:gridCol w="1407262"/>
                <a:gridCol w="1161288"/>
                <a:gridCol w="1058875"/>
                <a:gridCol w="1299362"/>
                <a:gridCol w="1303020"/>
              </a:tblGrid>
              <a:tr h="3443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Wafer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Recipe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Mean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3σ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Range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Δ vs T</a:t>
                      </a:r>
                      <a:endParaRPr lang="en-US" sz="8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W1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9.70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W2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1.10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W3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D3D5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RIE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1.15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3A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W4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9.30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0.40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0.00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9.25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0.45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1.70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−0.05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  <a:tr h="3443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W6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QALE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9.35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0.42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1.60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+0.05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C"/>
                    </a:solidFill>
                  </a:tcPr>
                </a:tc>
              </a:tr>
            </a:tbl>
          </a:graphicData>
        </a:graphic>
      </p:graphicFrame>
      <p:sp>
        <p:nvSpPr>
          <p:cNvPr id="26" name="Text 14"/>
          <p:cNvSpPr txBox="1"/>
          <p:nvPr/>
        </p:nvSpPr>
        <p:spPr>
          <a:xfrm>
            <a:off x="1238098" y="8257946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2704795" y="8172907"/>
            <a:ext cx="143451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종 metric 모두 QALE wafer (W4~W6) 가 target ±0.1nm 안에 수렴하고 3σ 가 절반 이하로 떨어져 spacer etch recipe 분기만으로 mean-offset 과 분산이 동시에 회복된다.</a:t>
            </a:r>
            <a:endParaRPr lang="en-US" sz="1575" dirty="0"/>
          </a:p>
        </p:txBody>
      </p:sp>
      <p:sp>
        <p:nvSpPr>
          <p:cNvPr id="28" name="Text 16"/>
          <p:cNvSpPr txBox="1"/>
          <p:nvPr/>
        </p:nvSpPr>
        <p:spPr>
          <a:xfrm>
            <a:off x="1238098" y="99248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171700"/>
            <a:ext cx="4496105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096305" y="2171700"/>
            <a:ext cx="4496105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53598" y="2171700"/>
            <a:ext cx="4496105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8098" y="5639105"/>
            <a:ext cx="4476902" cy="2857500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305" y="5639105"/>
            <a:ext cx="4476902" cy="2857500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53598" y="5639105"/>
            <a:ext cx="4476902" cy="2857500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cf29a20c91da60cf4490ea08a0f189df.png">    </p:cNvPr>
          <p:cNvPicPr>
            <a:picLocks noChangeAspect="1"/>
          </p:cNvPicPr>
          <p:nvPr/>
        </p:nvPicPr>
        <p:blipFill>
          <a:blip r:embed="rId1"/>
          <a:srcRect l="-395" r="-395" t="0" b="0"/>
          <a:stretch/>
        </p:blipFill>
        <p:spPr>
          <a:xfrm>
            <a:off x="1238098" y="2171700"/>
            <a:ext cx="57607" cy="3238805"/>
          </a:xfrm>
          <a:prstGeom prst="rect">
            <a:avLst/>
          </a:prstGeom>
        </p:spPr>
      </p:pic>
      <p:pic>
        <p:nvPicPr>
          <p:cNvPr id="10" name="Image 1" descr="gen-dedup-cf29a20c91da60cf4490ea08a0f189df.png">    </p:cNvPr>
          <p:cNvPicPr>
            <a:picLocks noChangeAspect="1"/>
          </p:cNvPicPr>
          <p:nvPr/>
        </p:nvPicPr>
        <p:blipFill>
          <a:blip r:embed="rId2"/>
          <a:srcRect l="-395" r="-395" t="0" b="0"/>
          <a:stretch/>
        </p:blipFill>
        <p:spPr>
          <a:xfrm>
            <a:off x="6096305" y="2171700"/>
            <a:ext cx="57607" cy="3238805"/>
          </a:xfrm>
          <a:prstGeom prst="rect">
            <a:avLst/>
          </a:prstGeom>
        </p:spPr>
      </p:pic>
      <p:pic>
        <p:nvPicPr>
          <p:cNvPr id="11" name="Image 2" descr="gen-dedup-cf29a20c91da60cf4490ea08a0f189df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0953598" y="2171700"/>
            <a:ext cx="57607" cy="3238805"/>
          </a:xfrm>
          <a:prstGeom prst="rect">
            <a:avLst/>
          </a:prstGeom>
        </p:spPr>
      </p:pic>
      <p:pic>
        <p:nvPicPr>
          <p:cNvPr id="12" name="Image 3" descr="gen-dedup-835be61171bd713f0559e15a97f14c2b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238098" y="5639105"/>
            <a:ext cx="57607" cy="2857500"/>
          </a:xfrm>
          <a:prstGeom prst="rect">
            <a:avLst/>
          </a:prstGeom>
        </p:spPr>
      </p:pic>
      <p:pic>
        <p:nvPicPr>
          <p:cNvPr id="13" name="Image 4" descr="gen-dedup-835be61171bd713f0559e15a97f14c2b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6096305" y="5639105"/>
            <a:ext cx="57607" cy="2857500"/>
          </a:xfrm>
          <a:prstGeom prst="rect">
            <a:avLst/>
          </a:prstGeom>
        </p:spPr>
      </p:pic>
      <p:pic>
        <p:nvPicPr>
          <p:cNvPr id="14" name="Image 5" descr="gen-dedup-835be61171bd713f0559e15a97f14c2b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10953598" y="5639105"/>
            <a:ext cx="57607" cy="2857500"/>
          </a:xfrm>
          <a:prstGeom prst="rect">
            <a:avLst/>
          </a:prstGeom>
        </p:spPr>
      </p:pic>
      <p:pic>
        <p:nvPicPr>
          <p:cNvPr id="15" name="Image 6" descr="gen-dedup-390e17b422cffad3f830a155fccb9943.png">    </p:cNvPr>
          <p:cNvPicPr>
            <a:picLocks noChangeAspect="1"/>
          </p:cNvPicPr>
          <p:nvPr/>
        </p:nvPicPr>
        <p:blipFill>
          <a:blip r:embed="rId7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 / 25-POINT WAFER MAP</a:t>
            </a:r>
            <a:endParaRPr lang="en-US" sz="1050" dirty="0"/>
          </a:p>
        </p:txBody>
      </p:sp>
      <p:sp>
        <p:nvSpPr>
          <p:cNvPr id="17" name="Text 7"/>
          <p:cNvSpPr txBox="1"/>
          <p:nvPr/>
        </p:nvSpPr>
        <p:spPr>
          <a:xfrm>
            <a:off x="1238098" y="1028700"/>
            <a:ext cx="13335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25-point in-wafer map · wafer 별 ±Δ 시각화</a:t>
            </a:r>
            <a:endParaRPr lang="en-US" sz="3300" dirty="0"/>
          </a:p>
        </p:txBody>
      </p:sp>
      <p:sp>
        <p:nvSpPr>
          <p:cNvPr id="18" name="Text 8"/>
          <p:cNvSpPr txBox="1"/>
          <p:nvPr/>
        </p:nvSpPr>
        <p:spPr>
          <a:xfrm>
            <a:off x="1524305" y="2361895"/>
            <a:ext cx="91531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 · RIE</a:t>
            </a:r>
            <a:endParaRPr lang="en-US" sz="975" dirty="0"/>
          </a:p>
        </p:txBody>
      </p:sp>
      <p:sp>
        <p:nvSpPr>
          <p:cNvPr id="19" name="Text 9"/>
          <p:cNvSpPr txBox="1"/>
          <p:nvPr/>
        </p:nvSpPr>
        <p:spPr>
          <a:xfrm>
            <a:off x="3993185" y="2361895"/>
            <a:ext cx="210312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8.60 · 7.0–10.5</a:t>
            </a:r>
            <a:endParaRPr lang="en-US" sz="975" dirty="0"/>
          </a:p>
        </p:txBody>
      </p:sp>
      <p:sp>
        <p:nvSpPr>
          <p:cNvPr id="20" name="Text 10"/>
          <p:cNvSpPr txBox="1"/>
          <p:nvPr/>
        </p:nvSpPr>
        <p:spPr>
          <a:xfrm>
            <a:off x="1666951" y="27432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7.6</a:t>
            </a:r>
            <a:endParaRPr lang="en-US" sz="1050" dirty="0"/>
          </a:p>
        </p:txBody>
      </p:sp>
      <p:sp>
        <p:nvSpPr>
          <p:cNvPr id="21" name="Text 11"/>
          <p:cNvSpPr txBox="1"/>
          <p:nvPr/>
        </p:nvSpPr>
        <p:spPr>
          <a:xfrm>
            <a:off x="2124151" y="27432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</a:t>
            </a:r>
            <a:endParaRPr lang="en-US" sz="1050" dirty="0"/>
          </a:p>
        </p:txBody>
      </p:sp>
      <p:sp>
        <p:nvSpPr>
          <p:cNvPr id="22" name="Text 12"/>
          <p:cNvSpPr txBox="1"/>
          <p:nvPr/>
        </p:nvSpPr>
        <p:spPr>
          <a:xfrm>
            <a:off x="2581351" y="27432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3038551" y="27432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1050" dirty="0"/>
          </a:p>
        </p:txBody>
      </p:sp>
      <p:sp>
        <p:nvSpPr>
          <p:cNvPr id="24" name="Text 14"/>
          <p:cNvSpPr txBox="1"/>
          <p:nvPr/>
        </p:nvSpPr>
        <p:spPr>
          <a:xfrm>
            <a:off x="3495751" y="2743200"/>
            <a:ext cx="438912" cy="438912"/>
          </a:xfrm>
          <a:prstGeom prst="rect">
            <a:avLst/>
          </a:prstGeom>
          <a:solidFill>
            <a:srgbClr val="DC6B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10.1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1666951" y="32004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7.4</a:t>
            </a:r>
            <a:endParaRPr lang="en-US" sz="1050" dirty="0"/>
          </a:p>
        </p:txBody>
      </p:sp>
      <p:sp>
        <p:nvSpPr>
          <p:cNvPr id="26" name="Text 16"/>
          <p:cNvSpPr txBox="1"/>
          <p:nvPr/>
        </p:nvSpPr>
        <p:spPr>
          <a:xfrm>
            <a:off x="2124151" y="32004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8.0</a:t>
            </a:r>
            <a:endParaRPr lang="en-US" sz="1050" dirty="0"/>
          </a:p>
        </p:txBody>
      </p:sp>
      <p:sp>
        <p:nvSpPr>
          <p:cNvPr id="27" name="Text 17"/>
          <p:cNvSpPr txBox="1"/>
          <p:nvPr/>
        </p:nvSpPr>
        <p:spPr>
          <a:xfrm>
            <a:off x="2581351" y="32004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8.7</a:t>
            </a:r>
            <a:endParaRPr lang="en-US" sz="1050" dirty="0"/>
          </a:p>
        </p:txBody>
      </p:sp>
      <p:sp>
        <p:nvSpPr>
          <p:cNvPr id="28" name="Text 18"/>
          <p:cNvSpPr txBox="1"/>
          <p:nvPr/>
        </p:nvSpPr>
        <p:spPr>
          <a:xfrm>
            <a:off x="3038551" y="32004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9.0</a:t>
            </a:r>
            <a:endParaRPr lang="en-US" sz="1050" dirty="0"/>
          </a:p>
        </p:txBody>
      </p:sp>
      <p:sp>
        <p:nvSpPr>
          <p:cNvPr id="29" name="Text 19"/>
          <p:cNvSpPr txBox="1"/>
          <p:nvPr/>
        </p:nvSpPr>
        <p:spPr>
          <a:xfrm>
            <a:off x="3495751" y="32004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9.5</a:t>
            </a:r>
            <a:endParaRPr lang="en-US" sz="1050" dirty="0"/>
          </a:p>
        </p:txBody>
      </p:sp>
      <p:sp>
        <p:nvSpPr>
          <p:cNvPr id="30" name="Text 20"/>
          <p:cNvSpPr txBox="1"/>
          <p:nvPr/>
        </p:nvSpPr>
        <p:spPr>
          <a:xfrm>
            <a:off x="1666951" y="36576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1050" dirty="0"/>
          </a:p>
        </p:txBody>
      </p:sp>
      <p:sp>
        <p:nvSpPr>
          <p:cNvPr id="31" name="Text 21"/>
          <p:cNvSpPr txBox="1"/>
          <p:nvPr/>
        </p:nvSpPr>
        <p:spPr>
          <a:xfrm>
            <a:off x="2124151" y="36576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1050" dirty="0"/>
          </a:p>
        </p:txBody>
      </p:sp>
      <p:sp>
        <p:nvSpPr>
          <p:cNvPr id="32" name="Text 22"/>
          <p:cNvSpPr txBox="1"/>
          <p:nvPr/>
        </p:nvSpPr>
        <p:spPr>
          <a:xfrm>
            <a:off x="2581351" y="36576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3038551" y="36576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8.9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3495751" y="36576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9.3</a:t>
            </a:r>
            <a:endParaRPr lang="en-US" sz="1050" dirty="0"/>
          </a:p>
        </p:txBody>
      </p:sp>
      <p:sp>
        <p:nvSpPr>
          <p:cNvPr id="35" name="Text 25"/>
          <p:cNvSpPr txBox="1"/>
          <p:nvPr/>
        </p:nvSpPr>
        <p:spPr>
          <a:xfrm>
            <a:off x="1666951" y="41148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7.8</a:t>
            </a:r>
            <a:endParaRPr lang="en-US" sz="1050" dirty="0"/>
          </a:p>
        </p:txBody>
      </p:sp>
      <p:sp>
        <p:nvSpPr>
          <p:cNvPr id="36" name="Text 26"/>
          <p:cNvSpPr txBox="1"/>
          <p:nvPr/>
        </p:nvSpPr>
        <p:spPr>
          <a:xfrm>
            <a:off x="2124151" y="41148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1050" dirty="0"/>
          </a:p>
        </p:txBody>
      </p:sp>
      <p:sp>
        <p:nvSpPr>
          <p:cNvPr id="37" name="Text 27"/>
          <p:cNvSpPr txBox="1"/>
          <p:nvPr/>
        </p:nvSpPr>
        <p:spPr>
          <a:xfrm>
            <a:off x="2581351" y="41148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8.8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3038551" y="41148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9.2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3495751" y="4114800"/>
            <a:ext cx="438912" cy="438912"/>
          </a:xfrm>
          <a:prstGeom prst="rect">
            <a:avLst/>
          </a:prstGeom>
          <a:solidFill>
            <a:srgbClr val="B23A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10.5</a:t>
            </a:r>
            <a:endParaRPr lang="en-US" sz="1050" dirty="0"/>
          </a:p>
        </p:txBody>
      </p:sp>
      <p:sp>
        <p:nvSpPr>
          <p:cNvPr id="40" name="Text 30"/>
          <p:cNvSpPr txBox="1"/>
          <p:nvPr/>
        </p:nvSpPr>
        <p:spPr>
          <a:xfrm>
            <a:off x="1666951" y="4572000"/>
            <a:ext cx="438912" cy="438912"/>
          </a:xfrm>
          <a:prstGeom prst="rect">
            <a:avLst/>
          </a:prstGeom>
          <a:solidFill>
            <a:srgbClr val="DC6B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7.0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2124151" y="45720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7.7</a:t>
            </a:r>
            <a:endParaRPr lang="en-US" sz="1050" dirty="0"/>
          </a:p>
        </p:txBody>
      </p:sp>
      <p:sp>
        <p:nvSpPr>
          <p:cNvPr id="42" name="Text 32"/>
          <p:cNvSpPr txBox="1"/>
          <p:nvPr/>
        </p:nvSpPr>
        <p:spPr>
          <a:xfrm>
            <a:off x="2581351" y="45720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3038551" y="45720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8.9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3495751" y="45720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9.4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4095598" y="2743200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</a:t>
            </a:r>
            <a:endParaRPr lang="en-US" sz="825" dirty="0"/>
          </a:p>
        </p:txBody>
      </p:sp>
      <p:sp>
        <p:nvSpPr>
          <p:cNvPr id="46" name="Text 36"/>
          <p:cNvSpPr txBox="1"/>
          <p:nvPr/>
        </p:nvSpPr>
        <p:spPr>
          <a:xfrm>
            <a:off x="4095598" y="2962656"/>
            <a:ext cx="1524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1.20</a:t>
            </a:r>
            <a:endParaRPr lang="en-US" sz="2550" dirty="0"/>
          </a:p>
        </p:txBody>
      </p:sp>
      <p:sp>
        <p:nvSpPr>
          <p:cNvPr id="47" name="Text 37"/>
          <p:cNvSpPr txBox="1"/>
          <p:nvPr/>
        </p:nvSpPr>
        <p:spPr>
          <a:xfrm>
            <a:off x="4095598" y="3419856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48" name="Text 38"/>
          <p:cNvSpPr txBox="1"/>
          <p:nvPr/>
        </p:nvSpPr>
        <p:spPr>
          <a:xfrm>
            <a:off x="4095598" y="3638398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3.5 nm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4095598" y="4058107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HOT/COLD</a:t>
            </a:r>
            <a:endParaRPr lang="en-US" sz="825" dirty="0"/>
          </a:p>
        </p:txBody>
      </p:sp>
      <p:sp>
        <p:nvSpPr>
          <p:cNvPr id="50" name="Text 40"/>
          <p:cNvSpPr txBox="1"/>
          <p:nvPr/>
        </p:nvSpPr>
        <p:spPr>
          <a:xfrm>
            <a:off x="4095598" y="4262933"/>
            <a:ext cx="1524305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+1.8 / −1.3</a:t>
            </a:r>
            <a:pPr algn="l" indent="0" marL="0">
              <a:lnSpc>
                <a:spcPts val="1470"/>
              </a:lnSpc>
              <a:buNone/>
            </a:pP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(target ±2nm)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6381598" y="2361895"/>
            <a:ext cx="91531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 · RIE</a:t>
            </a:r>
            <a:endParaRPr lang="en-US" sz="975" dirty="0"/>
          </a:p>
        </p:txBody>
      </p:sp>
      <p:sp>
        <p:nvSpPr>
          <p:cNvPr id="52" name="Text 42"/>
          <p:cNvSpPr txBox="1"/>
          <p:nvPr/>
        </p:nvSpPr>
        <p:spPr>
          <a:xfrm>
            <a:off x="8944661" y="2361895"/>
            <a:ext cx="20061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8.10 · 6.5–9.9</a:t>
            </a:r>
            <a:endParaRPr lang="en-US" sz="975" dirty="0"/>
          </a:p>
        </p:txBody>
      </p:sp>
      <p:sp>
        <p:nvSpPr>
          <p:cNvPr id="53" name="Text 43"/>
          <p:cNvSpPr txBox="1"/>
          <p:nvPr/>
        </p:nvSpPr>
        <p:spPr>
          <a:xfrm>
            <a:off x="6524244" y="27432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6.8</a:t>
            </a:r>
            <a:endParaRPr lang="en-US" sz="1050" dirty="0"/>
          </a:p>
        </p:txBody>
      </p:sp>
      <p:sp>
        <p:nvSpPr>
          <p:cNvPr id="54" name="Text 44"/>
          <p:cNvSpPr txBox="1"/>
          <p:nvPr/>
        </p:nvSpPr>
        <p:spPr>
          <a:xfrm>
            <a:off x="6981444" y="27432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7.5</a:t>
            </a:r>
            <a:endParaRPr lang="en-US" sz="1050" dirty="0"/>
          </a:p>
        </p:txBody>
      </p:sp>
      <p:sp>
        <p:nvSpPr>
          <p:cNvPr id="55" name="Text 45"/>
          <p:cNvSpPr txBox="1"/>
          <p:nvPr/>
        </p:nvSpPr>
        <p:spPr>
          <a:xfrm>
            <a:off x="7438644" y="27432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</a:t>
            </a:r>
            <a:endParaRPr lang="en-US" sz="1050" dirty="0"/>
          </a:p>
        </p:txBody>
      </p:sp>
      <p:sp>
        <p:nvSpPr>
          <p:cNvPr id="56" name="Text 46"/>
          <p:cNvSpPr txBox="1"/>
          <p:nvPr/>
        </p:nvSpPr>
        <p:spPr>
          <a:xfrm>
            <a:off x="7895844" y="27432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8353044" y="27432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9.1</a:t>
            </a:r>
            <a:endParaRPr lang="en-US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6524244" y="32004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7.0</a:t>
            </a:r>
            <a:endParaRPr lang="en-US" sz="1050" dirty="0"/>
          </a:p>
        </p:txBody>
      </p:sp>
      <p:sp>
        <p:nvSpPr>
          <p:cNvPr id="59" name="Text 49"/>
          <p:cNvSpPr txBox="1"/>
          <p:nvPr/>
        </p:nvSpPr>
        <p:spPr>
          <a:xfrm>
            <a:off x="6981444" y="32004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7.7</a:t>
            </a:r>
            <a:endParaRPr lang="en-US" sz="1050" dirty="0"/>
          </a:p>
        </p:txBody>
      </p:sp>
      <p:sp>
        <p:nvSpPr>
          <p:cNvPr id="60" name="Text 50"/>
          <p:cNvSpPr txBox="1"/>
          <p:nvPr/>
        </p:nvSpPr>
        <p:spPr>
          <a:xfrm>
            <a:off x="7438644" y="32004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1050" dirty="0"/>
          </a:p>
        </p:txBody>
      </p:sp>
      <p:sp>
        <p:nvSpPr>
          <p:cNvPr id="61" name="Text 51"/>
          <p:cNvSpPr txBox="1"/>
          <p:nvPr/>
        </p:nvSpPr>
        <p:spPr>
          <a:xfrm>
            <a:off x="7895844" y="32004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1050" dirty="0"/>
          </a:p>
        </p:txBody>
      </p:sp>
      <p:sp>
        <p:nvSpPr>
          <p:cNvPr id="62" name="Text 52"/>
          <p:cNvSpPr txBox="1"/>
          <p:nvPr/>
        </p:nvSpPr>
        <p:spPr>
          <a:xfrm>
            <a:off x="8353044" y="3200400"/>
            <a:ext cx="438912" cy="438912"/>
          </a:xfrm>
          <a:prstGeom prst="rect">
            <a:avLst/>
          </a:prstGeom>
          <a:solidFill>
            <a:srgbClr val="DC6B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9.7</a:t>
            </a:r>
            <a:endParaRPr lang="en-US" sz="1050" dirty="0"/>
          </a:p>
        </p:txBody>
      </p:sp>
      <p:sp>
        <p:nvSpPr>
          <p:cNvPr id="63" name="Text 53"/>
          <p:cNvSpPr txBox="1"/>
          <p:nvPr/>
        </p:nvSpPr>
        <p:spPr>
          <a:xfrm>
            <a:off x="6524244" y="36576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7.3</a:t>
            </a:r>
            <a:endParaRPr lang="en-US" sz="1050" dirty="0"/>
          </a:p>
        </p:txBody>
      </p:sp>
      <p:sp>
        <p:nvSpPr>
          <p:cNvPr id="64" name="Text 54"/>
          <p:cNvSpPr txBox="1"/>
          <p:nvPr/>
        </p:nvSpPr>
        <p:spPr>
          <a:xfrm>
            <a:off x="6981444" y="36576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</a:t>
            </a:r>
            <a:endParaRPr lang="en-US" sz="1050" dirty="0"/>
          </a:p>
        </p:txBody>
      </p:sp>
      <p:sp>
        <p:nvSpPr>
          <p:cNvPr id="65" name="Text 55"/>
          <p:cNvSpPr txBox="1"/>
          <p:nvPr/>
        </p:nvSpPr>
        <p:spPr>
          <a:xfrm>
            <a:off x="7438644" y="36576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1050" dirty="0"/>
          </a:p>
        </p:txBody>
      </p:sp>
      <p:sp>
        <p:nvSpPr>
          <p:cNvPr id="66" name="Text 56"/>
          <p:cNvSpPr txBox="1"/>
          <p:nvPr/>
        </p:nvSpPr>
        <p:spPr>
          <a:xfrm>
            <a:off x="7895844" y="36576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1050" dirty="0"/>
          </a:p>
        </p:txBody>
      </p:sp>
      <p:sp>
        <p:nvSpPr>
          <p:cNvPr id="67" name="Text 57"/>
          <p:cNvSpPr txBox="1"/>
          <p:nvPr/>
        </p:nvSpPr>
        <p:spPr>
          <a:xfrm>
            <a:off x="8353044" y="36576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9.4</a:t>
            </a:r>
            <a:endParaRPr lang="en-US" sz="1050" dirty="0"/>
          </a:p>
        </p:txBody>
      </p:sp>
      <p:sp>
        <p:nvSpPr>
          <p:cNvPr id="68" name="Text 58"/>
          <p:cNvSpPr txBox="1"/>
          <p:nvPr/>
        </p:nvSpPr>
        <p:spPr>
          <a:xfrm>
            <a:off x="6524244" y="41148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6.7</a:t>
            </a:r>
            <a:endParaRPr lang="en-US" sz="1050" dirty="0"/>
          </a:p>
        </p:txBody>
      </p:sp>
      <p:sp>
        <p:nvSpPr>
          <p:cNvPr id="69" name="Text 59"/>
          <p:cNvSpPr txBox="1"/>
          <p:nvPr/>
        </p:nvSpPr>
        <p:spPr>
          <a:xfrm>
            <a:off x="6981444" y="41148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7.4</a:t>
            </a:r>
            <a:endParaRPr lang="en-US" sz="1050" dirty="0"/>
          </a:p>
        </p:txBody>
      </p:sp>
      <p:sp>
        <p:nvSpPr>
          <p:cNvPr id="70" name="Text 60"/>
          <p:cNvSpPr txBox="1"/>
          <p:nvPr/>
        </p:nvSpPr>
        <p:spPr>
          <a:xfrm>
            <a:off x="7438644" y="41148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7.8</a:t>
            </a:r>
            <a:endParaRPr lang="en-US" sz="1050" dirty="0"/>
          </a:p>
        </p:txBody>
      </p:sp>
      <p:sp>
        <p:nvSpPr>
          <p:cNvPr id="71" name="Text 61"/>
          <p:cNvSpPr txBox="1"/>
          <p:nvPr/>
        </p:nvSpPr>
        <p:spPr>
          <a:xfrm>
            <a:off x="7895844" y="41148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1050" dirty="0"/>
          </a:p>
        </p:txBody>
      </p:sp>
      <p:sp>
        <p:nvSpPr>
          <p:cNvPr id="72" name="Text 62"/>
          <p:cNvSpPr txBox="1"/>
          <p:nvPr/>
        </p:nvSpPr>
        <p:spPr>
          <a:xfrm>
            <a:off x="8353044" y="41148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9.0</a:t>
            </a:r>
            <a:endParaRPr lang="en-US" sz="1050" dirty="0"/>
          </a:p>
        </p:txBody>
      </p:sp>
      <p:sp>
        <p:nvSpPr>
          <p:cNvPr id="73" name="Text 63"/>
          <p:cNvSpPr txBox="1"/>
          <p:nvPr/>
        </p:nvSpPr>
        <p:spPr>
          <a:xfrm>
            <a:off x="6524244" y="4572000"/>
            <a:ext cx="438912" cy="438912"/>
          </a:xfrm>
          <a:prstGeom prst="rect">
            <a:avLst/>
          </a:prstGeom>
          <a:solidFill>
            <a:srgbClr val="DC6B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6.5</a:t>
            </a:r>
            <a:endParaRPr lang="en-US" sz="1050" dirty="0"/>
          </a:p>
        </p:txBody>
      </p:sp>
      <p:sp>
        <p:nvSpPr>
          <p:cNvPr id="74" name="Text 64"/>
          <p:cNvSpPr txBox="1"/>
          <p:nvPr/>
        </p:nvSpPr>
        <p:spPr>
          <a:xfrm>
            <a:off x="6981444" y="45720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7.2</a:t>
            </a:r>
            <a:endParaRPr lang="en-US" sz="1050" dirty="0"/>
          </a:p>
        </p:txBody>
      </p:sp>
      <p:sp>
        <p:nvSpPr>
          <p:cNvPr id="75" name="Text 65"/>
          <p:cNvSpPr txBox="1"/>
          <p:nvPr/>
        </p:nvSpPr>
        <p:spPr>
          <a:xfrm>
            <a:off x="7438644" y="45720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7.6</a:t>
            </a:r>
            <a:endParaRPr lang="en-US" sz="1050" dirty="0"/>
          </a:p>
        </p:txBody>
      </p:sp>
      <p:sp>
        <p:nvSpPr>
          <p:cNvPr id="76" name="Text 66"/>
          <p:cNvSpPr txBox="1"/>
          <p:nvPr/>
        </p:nvSpPr>
        <p:spPr>
          <a:xfrm>
            <a:off x="7895844" y="45720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1050" dirty="0"/>
          </a:p>
        </p:txBody>
      </p:sp>
      <p:sp>
        <p:nvSpPr>
          <p:cNvPr id="77" name="Text 67"/>
          <p:cNvSpPr txBox="1"/>
          <p:nvPr/>
        </p:nvSpPr>
        <p:spPr>
          <a:xfrm>
            <a:off x="8353044" y="4572000"/>
            <a:ext cx="438912" cy="438912"/>
          </a:xfrm>
          <a:prstGeom prst="rect">
            <a:avLst/>
          </a:prstGeom>
          <a:solidFill>
            <a:srgbClr val="B23A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9.9</a:t>
            </a:r>
            <a:endParaRPr lang="en-US" sz="1050" dirty="0"/>
          </a:p>
        </p:txBody>
      </p:sp>
      <p:sp>
        <p:nvSpPr>
          <p:cNvPr id="78" name="Text 68"/>
          <p:cNvSpPr txBox="1"/>
          <p:nvPr/>
        </p:nvSpPr>
        <p:spPr>
          <a:xfrm>
            <a:off x="8953805" y="2743200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</a:t>
            </a:r>
            <a:endParaRPr lang="en-US" sz="825" dirty="0"/>
          </a:p>
        </p:txBody>
      </p:sp>
      <p:sp>
        <p:nvSpPr>
          <p:cNvPr id="79" name="Text 69"/>
          <p:cNvSpPr txBox="1"/>
          <p:nvPr/>
        </p:nvSpPr>
        <p:spPr>
          <a:xfrm>
            <a:off x="8953805" y="2962656"/>
            <a:ext cx="1524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1.30</a:t>
            </a:r>
            <a:endParaRPr lang="en-US" sz="2550" dirty="0"/>
          </a:p>
        </p:txBody>
      </p:sp>
      <p:sp>
        <p:nvSpPr>
          <p:cNvPr id="80" name="Text 70"/>
          <p:cNvSpPr txBox="1"/>
          <p:nvPr/>
        </p:nvSpPr>
        <p:spPr>
          <a:xfrm>
            <a:off x="8953805" y="3419856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81" name="Text 71"/>
          <p:cNvSpPr txBox="1"/>
          <p:nvPr/>
        </p:nvSpPr>
        <p:spPr>
          <a:xfrm>
            <a:off x="8953805" y="3638398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3.4 nm</a:t>
            </a:r>
            <a:endParaRPr lang="en-US" sz="1500" dirty="0"/>
          </a:p>
        </p:txBody>
      </p:sp>
      <p:sp>
        <p:nvSpPr>
          <p:cNvPr id="82" name="Text 72"/>
          <p:cNvSpPr txBox="1"/>
          <p:nvPr/>
        </p:nvSpPr>
        <p:spPr>
          <a:xfrm>
            <a:off x="8953805" y="4058107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HOT/COLD</a:t>
            </a:r>
            <a:endParaRPr lang="en-US" sz="825" dirty="0"/>
          </a:p>
        </p:txBody>
      </p:sp>
      <p:sp>
        <p:nvSpPr>
          <p:cNvPr id="83" name="Text 73"/>
          <p:cNvSpPr txBox="1"/>
          <p:nvPr/>
        </p:nvSpPr>
        <p:spPr>
          <a:xfrm>
            <a:off x="8953805" y="4262933"/>
            <a:ext cx="1524305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+1.6 / −1.6</a:t>
            </a:r>
            <a:pPr algn="l" indent="0" marL="0">
              <a:lnSpc>
                <a:spcPts val="1470"/>
              </a:lnSpc>
              <a:buNone/>
            </a:pP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symmetric cold edge</a:t>
            </a:r>
            <a:endParaRPr lang="en-US" sz="1050" dirty="0"/>
          </a:p>
        </p:txBody>
      </p:sp>
      <p:sp>
        <p:nvSpPr>
          <p:cNvPr id="84" name="Text 74"/>
          <p:cNvSpPr txBox="1"/>
          <p:nvPr/>
        </p:nvSpPr>
        <p:spPr>
          <a:xfrm>
            <a:off x="11239805" y="2361895"/>
            <a:ext cx="91531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 · RIE</a:t>
            </a:r>
            <a:endParaRPr lang="en-US" sz="975" dirty="0"/>
          </a:p>
        </p:txBody>
      </p:sp>
      <p:sp>
        <p:nvSpPr>
          <p:cNvPr id="85" name="Text 75"/>
          <p:cNvSpPr txBox="1"/>
          <p:nvPr/>
        </p:nvSpPr>
        <p:spPr>
          <a:xfrm>
            <a:off x="13708685" y="2361895"/>
            <a:ext cx="210312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8.70 · 7.0–10.5</a:t>
            </a:r>
            <a:endParaRPr lang="en-US" sz="975" dirty="0"/>
          </a:p>
        </p:txBody>
      </p:sp>
      <p:sp>
        <p:nvSpPr>
          <p:cNvPr id="86" name="Text 76"/>
          <p:cNvSpPr txBox="1"/>
          <p:nvPr/>
        </p:nvSpPr>
        <p:spPr>
          <a:xfrm>
            <a:off x="11382451" y="27432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7.4</a:t>
            </a:r>
            <a:endParaRPr lang="en-US" sz="1050" dirty="0"/>
          </a:p>
        </p:txBody>
      </p:sp>
      <p:sp>
        <p:nvSpPr>
          <p:cNvPr id="87" name="Text 77"/>
          <p:cNvSpPr txBox="1"/>
          <p:nvPr/>
        </p:nvSpPr>
        <p:spPr>
          <a:xfrm>
            <a:off x="11839651" y="27432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1050" dirty="0"/>
          </a:p>
        </p:txBody>
      </p:sp>
      <p:sp>
        <p:nvSpPr>
          <p:cNvPr id="88" name="Text 78"/>
          <p:cNvSpPr txBox="1"/>
          <p:nvPr/>
        </p:nvSpPr>
        <p:spPr>
          <a:xfrm>
            <a:off x="12296851" y="27432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1050" dirty="0"/>
          </a:p>
        </p:txBody>
      </p:sp>
      <p:sp>
        <p:nvSpPr>
          <p:cNvPr id="89" name="Text 79"/>
          <p:cNvSpPr txBox="1"/>
          <p:nvPr/>
        </p:nvSpPr>
        <p:spPr>
          <a:xfrm>
            <a:off x="12754051" y="27432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9.1</a:t>
            </a:r>
            <a:endParaRPr lang="en-US" sz="1050" dirty="0"/>
          </a:p>
        </p:txBody>
      </p:sp>
      <p:sp>
        <p:nvSpPr>
          <p:cNvPr id="90" name="Text 80"/>
          <p:cNvSpPr txBox="1"/>
          <p:nvPr/>
        </p:nvSpPr>
        <p:spPr>
          <a:xfrm>
            <a:off x="13211251" y="27432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9.7</a:t>
            </a:r>
            <a:endParaRPr lang="en-US" sz="1050" dirty="0"/>
          </a:p>
        </p:txBody>
      </p:sp>
      <p:sp>
        <p:nvSpPr>
          <p:cNvPr id="91" name="Text 81"/>
          <p:cNvSpPr txBox="1"/>
          <p:nvPr/>
        </p:nvSpPr>
        <p:spPr>
          <a:xfrm>
            <a:off x="11382451" y="32004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7.7</a:t>
            </a:r>
            <a:endParaRPr lang="en-US" sz="1050" dirty="0"/>
          </a:p>
        </p:txBody>
      </p:sp>
      <p:sp>
        <p:nvSpPr>
          <p:cNvPr id="92" name="Text 82"/>
          <p:cNvSpPr txBox="1"/>
          <p:nvPr/>
        </p:nvSpPr>
        <p:spPr>
          <a:xfrm>
            <a:off x="11839651" y="32004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1050" dirty="0"/>
          </a:p>
        </p:txBody>
      </p:sp>
      <p:sp>
        <p:nvSpPr>
          <p:cNvPr id="93" name="Text 83"/>
          <p:cNvSpPr txBox="1"/>
          <p:nvPr/>
        </p:nvSpPr>
        <p:spPr>
          <a:xfrm>
            <a:off x="12296851" y="32004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8.7</a:t>
            </a:r>
            <a:endParaRPr lang="en-US" sz="1050" dirty="0"/>
          </a:p>
        </p:txBody>
      </p:sp>
      <p:sp>
        <p:nvSpPr>
          <p:cNvPr id="94" name="Text 84"/>
          <p:cNvSpPr txBox="1"/>
          <p:nvPr/>
        </p:nvSpPr>
        <p:spPr>
          <a:xfrm>
            <a:off x="12754051" y="32004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9.2</a:t>
            </a:r>
            <a:endParaRPr lang="en-US" sz="1050" dirty="0"/>
          </a:p>
        </p:txBody>
      </p:sp>
      <p:sp>
        <p:nvSpPr>
          <p:cNvPr id="95" name="Text 85"/>
          <p:cNvSpPr txBox="1"/>
          <p:nvPr/>
        </p:nvSpPr>
        <p:spPr>
          <a:xfrm>
            <a:off x="13211251" y="3200400"/>
            <a:ext cx="438912" cy="438912"/>
          </a:xfrm>
          <a:prstGeom prst="rect">
            <a:avLst/>
          </a:prstGeom>
          <a:solidFill>
            <a:srgbClr val="B23A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10.5</a:t>
            </a:r>
            <a:endParaRPr lang="en-US" sz="1050" dirty="0"/>
          </a:p>
        </p:txBody>
      </p:sp>
      <p:sp>
        <p:nvSpPr>
          <p:cNvPr id="96" name="Text 86"/>
          <p:cNvSpPr txBox="1"/>
          <p:nvPr/>
        </p:nvSpPr>
        <p:spPr>
          <a:xfrm>
            <a:off x="11382451" y="36576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8.0</a:t>
            </a:r>
            <a:endParaRPr lang="en-US" sz="1050" dirty="0"/>
          </a:p>
        </p:txBody>
      </p:sp>
      <p:sp>
        <p:nvSpPr>
          <p:cNvPr id="97" name="Text 87"/>
          <p:cNvSpPr txBox="1"/>
          <p:nvPr/>
        </p:nvSpPr>
        <p:spPr>
          <a:xfrm>
            <a:off x="11839651" y="36576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1050" dirty="0"/>
          </a:p>
        </p:txBody>
      </p:sp>
      <p:sp>
        <p:nvSpPr>
          <p:cNvPr id="98" name="Text 88"/>
          <p:cNvSpPr txBox="1"/>
          <p:nvPr/>
        </p:nvSpPr>
        <p:spPr>
          <a:xfrm>
            <a:off x="12296851" y="36576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8.8</a:t>
            </a:r>
            <a:endParaRPr lang="en-US" sz="1050" dirty="0"/>
          </a:p>
        </p:txBody>
      </p:sp>
      <p:sp>
        <p:nvSpPr>
          <p:cNvPr id="99" name="Text 89"/>
          <p:cNvSpPr txBox="1"/>
          <p:nvPr/>
        </p:nvSpPr>
        <p:spPr>
          <a:xfrm>
            <a:off x="12754051" y="36576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9.3</a:t>
            </a:r>
            <a:endParaRPr lang="en-US" sz="1050" dirty="0"/>
          </a:p>
        </p:txBody>
      </p:sp>
      <p:sp>
        <p:nvSpPr>
          <p:cNvPr id="100" name="Text 90"/>
          <p:cNvSpPr txBox="1"/>
          <p:nvPr/>
        </p:nvSpPr>
        <p:spPr>
          <a:xfrm>
            <a:off x="13211251" y="3657600"/>
            <a:ext cx="438912" cy="438912"/>
          </a:xfrm>
          <a:prstGeom prst="rect">
            <a:avLst/>
          </a:prstGeom>
          <a:solidFill>
            <a:srgbClr val="DC6B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10.0</a:t>
            </a:r>
            <a:endParaRPr lang="en-US" sz="1050" dirty="0"/>
          </a:p>
        </p:txBody>
      </p:sp>
      <p:sp>
        <p:nvSpPr>
          <p:cNvPr id="101" name="Text 91"/>
          <p:cNvSpPr txBox="1"/>
          <p:nvPr/>
        </p:nvSpPr>
        <p:spPr>
          <a:xfrm>
            <a:off x="11382451" y="41148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</a:t>
            </a:r>
            <a:endParaRPr lang="en-US" sz="1050" dirty="0"/>
          </a:p>
        </p:txBody>
      </p:sp>
      <p:sp>
        <p:nvSpPr>
          <p:cNvPr id="102" name="Text 92"/>
          <p:cNvSpPr txBox="1"/>
          <p:nvPr/>
        </p:nvSpPr>
        <p:spPr>
          <a:xfrm>
            <a:off x="11839651" y="4114800"/>
            <a:ext cx="438912" cy="43891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1050" dirty="0"/>
          </a:p>
        </p:txBody>
      </p:sp>
      <p:sp>
        <p:nvSpPr>
          <p:cNvPr id="103" name="Text 93"/>
          <p:cNvSpPr txBox="1"/>
          <p:nvPr/>
        </p:nvSpPr>
        <p:spPr>
          <a:xfrm>
            <a:off x="12296851" y="41148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1050" dirty="0"/>
          </a:p>
        </p:txBody>
      </p:sp>
      <p:sp>
        <p:nvSpPr>
          <p:cNvPr id="104" name="Text 94"/>
          <p:cNvSpPr txBox="1"/>
          <p:nvPr/>
        </p:nvSpPr>
        <p:spPr>
          <a:xfrm>
            <a:off x="12754051" y="41148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9.0</a:t>
            </a:r>
            <a:endParaRPr lang="en-US" sz="1050" dirty="0"/>
          </a:p>
        </p:txBody>
      </p:sp>
      <p:sp>
        <p:nvSpPr>
          <p:cNvPr id="105" name="Text 95"/>
          <p:cNvSpPr txBox="1"/>
          <p:nvPr/>
        </p:nvSpPr>
        <p:spPr>
          <a:xfrm>
            <a:off x="13211251" y="41148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9.6</a:t>
            </a:r>
            <a:endParaRPr lang="en-US" sz="1050" dirty="0"/>
          </a:p>
        </p:txBody>
      </p:sp>
      <p:sp>
        <p:nvSpPr>
          <p:cNvPr id="106" name="Text 96"/>
          <p:cNvSpPr txBox="1"/>
          <p:nvPr/>
        </p:nvSpPr>
        <p:spPr>
          <a:xfrm>
            <a:off x="11382451" y="4572000"/>
            <a:ext cx="438912" cy="438912"/>
          </a:xfrm>
          <a:prstGeom prst="rect">
            <a:avLst/>
          </a:prstGeom>
          <a:solidFill>
            <a:srgbClr val="DC6B1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7.0</a:t>
            </a:r>
            <a:endParaRPr lang="en-US" sz="1050" dirty="0"/>
          </a:p>
        </p:txBody>
      </p:sp>
      <p:sp>
        <p:nvSpPr>
          <p:cNvPr id="107" name="Text 97"/>
          <p:cNvSpPr txBox="1"/>
          <p:nvPr/>
        </p:nvSpPr>
        <p:spPr>
          <a:xfrm>
            <a:off x="11839651" y="45720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7.8</a:t>
            </a:r>
            <a:endParaRPr lang="en-US" sz="1050" dirty="0"/>
          </a:p>
        </p:txBody>
      </p:sp>
      <p:sp>
        <p:nvSpPr>
          <p:cNvPr id="108" name="Text 98"/>
          <p:cNvSpPr txBox="1"/>
          <p:nvPr/>
        </p:nvSpPr>
        <p:spPr>
          <a:xfrm>
            <a:off x="12296851" y="4572000"/>
            <a:ext cx="438912" cy="43891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1050" dirty="0"/>
          </a:p>
        </p:txBody>
      </p:sp>
      <p:sp>
        <p:nvSpPr>
          <p:cNvPr id="109" name="Text 99"/>
          <p:cNvSpPr txBox="1"/>
          <p:nvPr/>
        </p:nvSpPr>
        <p:spPr>
          <a:xfrm>
            <a:off x="12754051" y="45720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8.9</a:t>
            </a:r>
            <a:endParaRPr lang="en-US" sz="1050" dirty="0"/>
          </a:p>
        </p:txBody>
      </p:sp>
      <p:sp>
        <p:nvSpPr>
          <p:cNvPr id="110" name="Text 100"/>
          <p:cNvSpPr txBox="1"/>
          <p:nvPr/>
        </p:nvSpPr>
        <p:spPr>
          <a:xfrm>
            <a:off x="13211251" y="4572000"/>
            <a:ext cx="438912" cy="438912"/>
          </a:xfrm>
          <a:prstGeom prst="rect">
            <a:avLst/>
          </a:prstGeom>
          <a:solidFill>
            <a:srgbClr val="E89B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9.5</a:t>
            </a:r>
            <a:endParaRPr lang="en-US" sz="1050" dirty="0"/>
          </a:p>
        </p:txBody>
      </p:sp>
      <p:sp>
        <p:nvSpPr>
          <p:cNvPr id="111" name="Text 101"/>
          <p:cNvSpPr txBox="1"/>
          <p:nvPr/>
        </p:nvSpPr>
        <p:spPr>
          <a:xfrm>
            <a:off x="13811098" y="2743200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</a:t>
            </a:r>
            <a:endParaRPr lang="en-US" sz="825" dirty="0"/>
          </a:p>
        </p:txBody>
      </p:sp>
      <p:sp>
        <p:nvSpPr>
          <p:cNvPr id="112" name="Text 102"/>
          <p:cNvSpPr txBox="1"/>
          <p:nvPr/>
        </p:nvSpPr>
        <p:spPr>
          <a:xfrm>
            <a:off x="13811098" y="2962656"/>
            <a:ext cx="1524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1.40</a:t>
            </a:r>
            <a:endParaRPr lang="en-US" sz="2550" dirty="0"/>
          </a:p>
        </p:txBody>
      </p:sp>
      <p:sp>
        <p:nvSpPr>
          <p:cNvPr id="113" name="Text 103"/>
          <p:cNvSpPr txBox="1"/>
          <p:nvPr/>
        </p:nvSpPr>
        <p:spPr>
          <a:xfrm>
            <a:off x="13811098" y="3419856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114" name="Text 104"/>
          <p:cNvSpPr txBox="1"/>
          <p:nvPr/>
        </p:nvSpPr>
        <p:spPr>
          <a:xfrm>
            <a:off x="13811098" y="3638398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3.5 nm</a:t>
            </a:r>
            <a:endParaRPr lang="en-US" sz="1500" dirty="0"/>
          </a:p>
        </p:txBody>
      </p:sp>
      <p:sp>
        <p:nvSpPr>
          <p:cNvPr id="115" name="Text 105"/>
          <p:cNvSpPr txBox="1"/>
          <p:nvPr/>
        </p:nvSpPr>
        <p:spPr>
          <a:xfrm>
            <a:off x="13811098" y="4058107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HOT/COLD</a:t>
            </a:r>
            <a:endParaRPr lang="en-US" sz="825" dirty="0"/>
          </a:p>
        </p:txBody>
      </p:sp>
      <p:sp>
        <p:nvSpPr>
          <p:cNvPr id="116" name="Text 106"/>
          <p:cNvSpPr txBox="1"/>
          <p:nvPr/>
        </p:nvSpPr>
        <p:spPr>
          <a:xfrm>
            <a:off x="13811098" y="4262933"/>
            <a:ext cx="1524305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+1.8 / −1.7</a:t>
            </a:r>
            <a:pPr algn="l" indent="0" marL="0">
              <a:lnSpc>
                <a:spcPts val="1470"/>
              </a:lnSpc>
              <a:buNone/>
            </a:pP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hot right edge</a:t>
            </a:r>
            <a:endParaRPr lang="en-US" sz="1050" dirty="0"/>
          </a:p>
        </p:txBody>
      </p:sp>
      <p:sp>
        <p:nvSpPr>
          <p:cNvPr id="117" name="Text 107"/>
          <p:cNvSpPr txBox="1"/>
          <p:nvPr/>
        </p:nvSpPr>
        <p:spPr>
          <a:xfrm>
            <a:off x="1524305" y="5790895"/>
            <a:ext cx="103784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 · QALE</a:t>
            </a:r>
            <a:endParaRPr lang="en-US" sz="975" dirty="0"/>
          </a:p>
        </p:txBody>
      </p:sp>
      <p:sp>
        <p:nvSpPr>
          <p:cNvPr id="118" name="Text 108"/>
          <p:cNvSpPr txBox="1"/>
          <p:nvPr/>
        </p:nvSpPr>
        <p:spPr>
          <a:xfrm>
            <a:off x="4087368" y="5790895"/>
            <a:ext cx="20061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8.30 · 7.7–9.0</a:t>
            </a:r>
            <a:endParaRPr lang="en-US" sz="975" dirty="0"/>
          </a:p>
        </p:txBody>
      </p:sp>
      <p:sp>
        <p:nvSpPr>
          <p:cNvPr id="119" name="Text 109"/>
          <p:cNvSpPr txBox="1"/>
          <p:nvPr/>
        </p:nvSpPr>
        <p:spPr>
          <a:xfrm>
            <a:off x="16669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120" name="Text 110"/>
          <p:cNvSpPr txBox="1"/>
          <p:nvPr/>
        </p:nvSpPr>
        <p:spPr>
          <a:xfrm>
            <a:off x="21241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21" name="Text 111"/>
          <p:cNvSpPr txBox="1"/>
          <p:nvPr/>
        </p:nvSpPr>
        <p:spPr>
          <a:xfrm>
            <a:off x="2581351" y="6152998"/>
            <a:ext cx="438912" cy="362102"/>
          </a:xfrm>
          <a:prstGeom prst="rect">
            <a:avLst/>
          </a:prstGeom>
          <a:solidFill>
            <a:srgbClr val="3E7E5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22" name="Text 112"/>
          <p:cNvSpPr txBox="1"/>
          <p:nvPr/>
        </p:nvSpPr>
        <p:spPr>
          <a:xfrm>
            <a:off x="30385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23" name="Text 113"/>
          <p:cNvSpPr txBox="1"/>
          <p:nvPr/>
        </p:nvSpPr>
        <p:spPr>
          <a:xfrm>
            <a:off x="34957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24" name="Text 114"/>
          <p:cNvSpPr txBox="1"/>
          <p:nvPr/>
        </p:nvSpPr>
        <p:spPr>
          <a:xfrm>
            <a:off x="16669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</a:t>
            </a:r>
            <a:endParaRPr lang="en-US" sz="975" dirty="0"/>
          </a:p>
        </p:txBody>
      </p:sp>
      <p:sp>
        <p:nvSpPr>
          <p:cNvPr id="125" name="Text 115"/>
          <p:cNvSpPr txBox="1"/>
          <p:nvPr/>
        </p:nvSpPr>
        <p:spPr>
          <a:xfrm>
            <a:off x="21241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126" name="Text 116"/>
          <p:cNvSpPr txBox="1"/>
          <p:nvPr/>
        </p:nvSpPr>
        <p:spPr>
          <a:xfrm>
            <a:off x="2581351" y="6534302"/>
            <a:ext cx="438912" cy="362102"/>
          </a:xfrm>
          <a:prstGeom prst="rect">
            <a:avLst/>
          </a:prstGeom>
          <a:solidFill>
            <a:srgbClr val="3E7E5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27" name="Text 117"/>
          <p:cNvSpPr txBox="1"/>
          <p:nvPr/>
        </p:nvSpPr>
        <p:spPr>
          <a:xfrm>
            <a:off x="30385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28" name="Text 118"/>
          <p:cNvSpPr txBox="1"/>
          <p:nvPr/>
        </p:nvSpPr>
        <p:spPr>
          <a:xfrm>
            <a:off x="34957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975" dirty="0"/>
          </a:p>
        </p:txBody>
      </p:sp>
      <p:sp>
        <p:nvSpPr>
          <p:cNvPr id="129" name="Text 119"/>
          <p:cNvSpPr txBox="1"/>
          <p:nvPr/>
        </p:nvSpPr>
        <p:spPr>
          <a:xfrm>
            <a:off x="16669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30" name="Text 120"/>
          <p:cNvSpPr txBox="1"/>
          <p:nvPr/>
        </p:nvSpPr>
        <p:spPr>
          <a:xfrm>
            <a:off x="2124151" y="6915607"/>
            <a:ext cx="438912" cy="362102"/>
          </a:xfrm>
          <a:prstGeom prst="rect">
            <a:avLst/>
          </a:prstGeom>
          <a:solidFill>
            <a:srgbClr val="3E7E5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31" name="Text 121"/>
          <p:cNvSpPr txBox="1"/>
          <p:nvPr/>
        </p:nvSpPr>
        <p:spPr>
          <a:xfrm>
            <a:off x="25813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32" name="Text 122"/>
          <p:cNvSpPr txBox="1"/>
          <p:nvPr/>
        </p:nvSpPr>
        <p:spPr>
          <a:xfrm>
            <a:off x="30385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33" name="Text 123"/>
          <p:cNvSpPr txBox="1"/>
          <p:nvPr/>
        </p:nvSpPr>
        <p:spPr>
          <a:xfrm>
            <a:off x="34957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34" name="Text 124"/>
          <p:cNvSpPr txBox="1"/>
          <p:nvPr/>
        </p:nvSpPr>
        <p:spPr>
          <a:xfrm>
            <a:off x="16669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8.0</a:t>
            </a:r>
            <a:endParaRPr lang="en-US" sz="975" dirty="0"/>
          </a:p>
        </p:txBody>
      </p:sp>
      <p:sp>
        <p:nvSpPr>
          <p:cNvPr id="135" name="Text 125"/>
          <p:cNvSpPr txBox="1"/>
          <p:nvPr/>
        </p:nvSpPr>
        <p:spPr>
          <a:xfrm>
            <a:off x="21241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36" name="Text 126"/>
          <p:cNvSpPr txBox="1"/>
          <p:nvPr/>
        </p:nvSpPr>
        <p:spPr>
          <a:xfrm>
            <a:off x="2581351" y="7295998"/>
            <a:ext cx="438912" cy="362102"/>
          </a:xfrm>
          <a:prstGeom prst="rect">
            <a:avLst/>
          </a:prstGeom>
          <a:solidFill>
            <a:srgbClr val="3E7E5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37" name="Text 127"/>
          <p:cNvSpPr txBox="1"/>
          <p:nvPr/>
        </p:nvSpPr>
        <p:spPr>
          <a:xfrm>
            <a:off x="30385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38" name="Text 128"/>
          <p:cNvSpPr txBox="1"/>
          <p:nvPr/>
        </p:nvSpPr>
        <p:spPr>
          <a:xfrm>
            <a:off x="34957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975" dirty="0"/>
          </a:p>
        </p:txBody>
      </p:sp>
      <p:sp>
        <p:nvSpPr>
          <p:cNvPr id="139" name="Text 129"/>
          <p:cNvSpPr txBox="1"/>
          <p:nvPr/>
        </p:nvSpPr>
        <p:spPr>
          <a:xfrm>
            <a:off x="1666951" y="7677302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7.7</a:t>
            </a:r>
            <a:endParaRPr lang="en-US" sz="975" dirty="0"/>
          </a:p>
        </p:txBody>
      </p:sp>
      <p:sp>
        <p:nvSpPr>
          <p:cNvPr id="140" name="Text 130"/>
          <p:cNvSpPr txBox="1"/>
          <p:nvPr/>
        </p:nvSpPr>
        <p:spPr>
          <a:xfrm>
            <a:off x="2124151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8.0</a:t>
            </a:r>
            <a:endParaRPr lang="en-US" sz="975" dirty="0"/>
          </a:p>
        </p:txBody>
      </p:sp>
      <p:sp>
        <p:nvSpPr>
          <p:cNvPr id="141" name="Text 131"/>
          <p:cNvSpPr txBox="1"/>
          <p:nvPr/>
        </p:nvSpPr>
        <p:spPr>
          <a:xfrm>
            <a:off x="2581351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42" name="Text 132"/>
          <p:cNvSpPr txBox="1"/>
          <p:nvPr/>
        </p:nvSpPr>
        <p:spPr>
          <a:xfrm>
            <a:off x="3038551" y="7677302"/>
            <a:ext cx="438912" cy="362102"/>
          </a:xfrm>
          <a:prstGeom prst="rect">
            <a:avLst/>
          </a:prstGeom>
          <a:solidFill>
            <a:srgbClr val="3E7E5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43" name="Text 133"/>
          <p:cNvSpPr txBox="1"/>
          <p:nvPr/>
        </p:nvSpPr>
        <p:spPr>
          <a:xfrm>
            <a:off x="3495751" y="7677302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9.0</a:t>
            </a:r>
            <a:endParaRPr lang="en-US" sz="975" dirty="0"/>
          </a:p>
        </p:txBody>
      </p:sp>
      <p:sp>
        <p:nvSpPr>
          <p:cNvPr id="144" name="Text 134"/>
          <p:cNvSpPr txBox="1"/>
          <p:nvPr/>
        </p:nvSpPr>
        <p:spPr>
          <a:xfrm>
            <a:off x="4095598" y="6152998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</a:t>
            </a:r>
            <a:endParaRPr lang="en-US" sz="825" dirty="0"/>
          </a:p>
        </p:txBody>
      </p:sp>
      <p:sp>
        <p:nvSpPr>
          <p:cNvPr id="145" name="Text 135"/>
          <p:cNvSpPr txBox="1"/>
          <p:nvPr/>
        </p:nvSpPr>
        <p:spPr>
          <a:xfrm>
            <a:off x="4095598" y="6372454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0.50</a:t>
            </a:r>
            <a:endParaRPr lang="en-US" sz="2400" dirty="0"/>
          </a:p>
        </p:txBody>
      </p:sp>
      <p:sp>
        <p:nvSpPr>
          <p:cNvPr id="146" name="Text 136"/>
          <p:cNvSpPr txBox="1"/>
          <p:nvPr/>
        </p:nvSpPr>
        <p:spPr>
          <a:xfrm>
            <a:off x="4095598" y="6810451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147" name="Text 137"/>
          <p:cNvSpPr txBox="1"/>
          <p:nvPr/>
        </p:nvSpPr>
        <p:spPr>
          <a:xfrm>
            <a:off x="4095598" y="7029907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1.3 nm</a:t>
            </a:r>
            <a:endParaRPr lang="en-US" sz="1500" dirty="0"/>
          </a:p>
        </p:txBody>
      </p:sp>
      <p:sp>
        <p:nvSpPr>
          <p:cNvPr id="148" name="Text 138"/>
          <p:cNvSpPr txBox="1"/>
          <p:nvPr/>
        </p:nvSpPr>
        <p:spPr>
          <a:xfrm>
            <a:off x="4095598" y="7448702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 vs T mean</a:t>
            </a:r>
            <a:endParaRPr lang="en-US" sz="825" dirty="0"/>
          </a:p>
        </p:txBody>
      </p:sp>
      <p:sp>
        <p:nvSpPr>
          <p:cNvPr id="149" name="Text 139"/>
          <p:cNvSpPr txBox="1"/>
          <p:nvPr/>
        </p:nvSpPr>
        <p:spPr>
          <a:xfrm>
            <a:off x="4095598" y="7653528"/>
            <a:ext cx="1524305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−58% vs W1</a:t>
            </a:r>
            <a:pPr algn="l" indent="0" marL="0">
              <a:lnSpc>
                <a:spcPts val="1470"/>
              </a:lnSpc>
              <a:buNone/>
            </a:pP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hot/cold +0.7/-0.6</a:t>
            </a:r>
            <a:endParaRPr lang="en-US" sz="1050" dirty="0"/>
          </a:p>
        </p:txBody>
      </p:sp>
      <p:sp>
        <p:nvSpPr>
          <p:cNvPr id="150" name="Text 140"/>
          <p:cNvSpPr txBox="1"/>
          <p:nvPr/>
        </p:nvSpPr>
        <p:spPr>
          <a:xfrm>
            <a:off x="6381598" y="5790895"/>
            <a:ext cx="103784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 · QALE</a:t>
            </a:r>
            <a:endParaRPr lang="en-US" sz="975" dirty="0"/>
          </a:p>
        </p:txBody>
      </p:sp>
      <p:sp>
        <p:nvSpPr>
          <p:cNvPr id="151" name="Text 141"/>
          <p:cNvSpPr txBox="1"/>
          <p:nvPr/>
        </p:nvSpPr>
        <p:spPr>
          <a:xfrm>
            <a:off x="8944661" y="5790895"/>
            <a:ext cx="20061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8.25 · 7.8–8.8</a:t>
            </a:r>
            <a:endParaRPr lang="en-US" sz="975" dirty="0"/>
          </a:p>
        </p:txBody>
      </p:sp>
      <p:sp>
        <p:nvSpPr>
          <p:cNvPr id="152" name="Text 142"/>
          <p:cNvSpPr txBox="1"/>
          <p:nvPr/>
        </p:nvSpPr>
        <p:spPr>
          <a:xfrm>
            <a:off x="6524244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153" name="Text 143"/>
          <p:cNvSpPr txBox="1"/>
          <p:nvPr/>
        </p:nvSpPr>
        <p:spPr>
          <a:xfrm>
            <a:off x="6981444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54" name="Text 144"/>
          <p:cNvSpPr txBox="1"/>
          <p:nvPr/>
        </p:nvSpPr>
        <p:spPr>
          <a:xfrm>
            <a:off x="7438644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8.25</a:t>
            </a:r>
            <a:endParaRPr lang="en-US" sz="975" dirty="0"/>
          </a:p>
        </p:txBody>
      </p:sp>
      <p:sp>
        <p:nvSpPr>
          <p:cNvPr id="155" name="Text 145"/>
          <p:cNvSpPr txBox="1"/>
          <p:nvPr/>
        </p:nvSpPr>
        <p:spPr>
          <a:xfrm>
            <a:off x="7895844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56" name="Text 146"/>
          <p:cNvSpPr txBox="1"/>
          <p:nvPr/>
        </p:nvSpPr>
        <p:spPr>
          <a:xfrm>
            <a:off x="8353044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57" name="Text 147"/>
          <p:cNvSpPr txBox="1"/>
          <p:nvPr/>
        </p:nvSpPr>
        <p:spPr>
          <a:xfrm>
            <a:off x="6524244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8.05</a:t>
            </a:r>
            <a:endParaRPr lang="en-US" sz="975" dirty="0"/>
          </a:p>
        </p:txBody>
      </p:sp>
      <p:sp>
        <p:nvSpPr>
          <p:cNvPr id="158" name="Text 148"/>
          <p:cNvSpPr txBox="1"/>
          <p:nvPr/>
        </p:nvSpPr>
        <p:spPr>
          <a:xfrm>
            <a:off x="6981444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8.15</a:t>
            </a:r>
            <a:endParaRPr lang="en-US" sz="975" dirty="0"/>
          </a:p>
        </p:txBody>
      </p:sp>
      <p:sp>
        <p:nvSpPr>
          <p:cNvPr id="159" name="Text 149"/>
          <p:cNvSpPr txBox="1"/>
          <p:nvPr/>
        </p:nvSpPr>
        <p:spPr>
          <a:xfrm>
            <a:off x="7438644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60" name="Text 150"/>
          <p:cNvSpPr txBox="1"/>
          <p:nvPr/>
        </p:nvSpPr>
        <p:spPr>
          <a:xfrm>
            <a:off x="7895844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61" name="Text 151"/>
          <p:cNvSpPr txBox="1"/>
          <p:nvPr/>
        </p:nvSpPr>
        <p:spPr>
          <a:xfrm>
            <a:off x="8353044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62" name="Text 152"/>
          <p:cNvSpPr txBox="1"/>
          <p:nvPr/>
        </p:nvSpPr>
        <p:spPr>
          <a:xfrm>
            <a:off x="6524244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163" name="Text 153"/>
          <p:cNvSpPr txBox="1"/>
          <p:nvPr/>
        </p:nvSpPr>
        <p:spPr>
          <a:xfrm>
            <a:off x="6981444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64" name="Text 154"/>
          <p:cNvSpPr txBox="1"/>
          <p:nvPr/>
        </p:nvSpPr>
        <p:spPr>
          <a:xfrm>
            <a:off x="7438644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65" name="Text 155"/>
          <p:cNvSpPr txBox="1"/>
          <p:nvPr/>
        </p:nvSpPr>
        <p:spPr>
          <a:xfrm>
            <a:off x="7895844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66" name="Text 156"/>
          <p:cNvSpPr txBox="1"/>
          <p:nvPr/>
        </p:nvSpPr>
        <p:spPr>
          <a:xfrm>
            <a:off x="8353044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67" name="Text 157"/>
          <p:cNvSpPr txBox="1"/>
          <p:nvPr/>
        </p:nvSpPr>
        <p:spPr>
          <a:xfrm>
            <a:off x="6524244" y="7295998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</a:t>
            </a:r>
            <a:endParaRPr lang="en-US" sz="975" dirty="0"/>
          </a:p>
        </p:txBody>
      </p:sp>
      <p:sp>
        <p:nvSpPr>
          <p:cNvPr id="168" name="Text 158"/>
          <p:cNvSpPr txBox="1"/>
          <p:nvPr/>
        </p:nvSpPr>
        <p:spPr>
          <a:xfrm>
            <a:off x="6981444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169" name="Text 159"/>
          <p:cNvSpPr txBox="1"/>
          <p:nvPr/>
        </p:nvSpPr>
        <p:spPr>
          <a:xfrm>
            <a:off x="7438644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8.25</a:t>
            </a:r>
            <a:endParaRPr lang="en-US" sz="975" dirty="0"/>
          </a:p>
        </p:txBody>
      </p:sp>
      <p:sp>
        <p:nvSpPr>
          <p:cNvPr id="170" name="Text 160"/>
          <p:cNvSpPr txBox="1"/>
          <p:nvPr/>
        </p:nvSpPr>
        <p:spPr>
          <a:xfrm>
            <a:off x="7895844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8.35</a:t>
            </a:r>
            <a:endParaRPr lang="en-US" sz="975" dirty="0"/>
          </a:p>
        </p:txBody>
      </p:sp>
      <p:sp>
        <p:nvSpPr>
          <p:cNvPr id="171" name="Text 161"/>
          <p:cNvSpPr txBox="1"/>
          <p:nvPr/>
        </p:nvSpPr>
        <p:spPr>
          <a:xfrm>
            <a:off x="8353044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975" dirty="0"/>
          </a:p>
        </p:txBody>
      </p:sp>
      <p:sp>
        <p:nvSpPr>
          <p:cNvPr id="172" name="Text 162"/>
          <p:cNvSpPr txBox="1"/>
          <p:nvPr/>
        </p:nvSpPr>
        <p:spPr>
          <a:xfrm>
            <a:off x="6524244" y="7677302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7.8</a:t>
            </a:r>
            <a:endParaRPr lang="en-US" sz="975" dirty="0"/>
          </a:p>
        </p:txBody>
      </p:sp>
      <p:sp>
        <p:nvSpPr>
          <p:cNvPr id="173" name="Text 163"/>
          <p:cNvSpPr txBox="1"/>
          <p:nvPr/>
        </p:nvSpPr>
        <p:spPr>
          <a:xfrm>
            <a:off x="6981444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8.0</a:t>
            </a:r>
            <a:endParaRPr lang="en-US" sz="975" dirty="0"/>
          </a:p>
        </p:txBody>
      </p:sp>
      <p:sp>
        <p:nvSpPr>
          <p:cNvPr id="174" name="Text 164"/>
          <p:cNvSpPr txBox="1"/>
          <p:nvPr/>
        </p:nvSpPr>
        <p:spPr>
          <a:xfrm>
            <a:off x="7438644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8.25</a:t>
            </a:r>
            <a:endParaRPr lang="en-US" sz="975" dirty="0"/>
          </a:p>
        </p:txBody>
      </p:sp>
      <p:sp>
        <p:nvSpPr>
          <p:cNvPr id="175" name="Text 165"/>
          <p:cNvSpPr txBox="1"/>
          <p:nvPr/>
        </p:nvSpPr>
        <p:spPr>
          <a:xfrm>
            <a:off x="7895844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76" name="Text 166"/>
          <p:cNvSpPr txBox="1"/>
          <p:nvPr/>
        </p:nvSpPr>
        <p:spPr>
          <a:xfrm>
            <a:off x="8353044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8.8</a:t>
            </a:r>
            <a:endParaRPr lang="en-US" sz="975" dirty="0"/>
          </a:p>
        </p:txBody>
      </p:sp>
      <p:sp>
        <p:nvSpPr>
          <p:cNvPr id="177" name="Text 167"/>
          <p:cNvSpPr txBox="1"/>
          <p:nvPr/>
        </p:nvSpPr>
        <p:spPr>
          <a:xfrm>
            <a:off x="8953805" y="6152998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</a:t>
            </a:r>
            <a:endParaRPr lang="en-US" sz="825" dirty="0"/>
          </a:p>
        </p:txBody>
      </p:sp>
      <p:sp>
        <p:nvSpPr>
          <p:cNvPr id="178" name="Text 168"/>
          <p:cNvSpPr txBox="1"/>
          <p:nvPr/>
        </p:nvSpPr>
        <p:spPr>
          <a:xfrm>
            <a:off x="8953805" y="6372454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0.45</a:t>
            </a:r>
            <a:endParaRPr lang="en-US" sz="2400" dirty="0"/>
          </a:p>
        </p:txBody>
      </p:sp>
      <p:sp>
        <p:nvSpPr>
          <p:cNvPr id="179" name="Text 169"/>
          <p:cNvSpPr txBox="1"/>
          <p:nvPr/>
        </p:nvSpPr>
        <p:spPr>
          <a:xfrm>
            <a:off x="8953805" y="6810451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180" name="Text 170"/>
          <p:cNvSpPr txBox="1"/>
          <p:nvPr/>
        </p:nvSpPr>
        <p:spPr>
          <a:xfrm>
            <a:off x="8953805" y="7029907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 nm</a:t>
            </a:r>
            <a:endParaRPr lang="en-US" sz="1500" dirty="0"/>
          </a:p>
        </p:txBody>
      </p:sp>
      <p:sp>
        <p:nvSpPr>
          <p:cNvPr id="181" name="Text 171"/>
          <p:cNvSpPr txBox="1"/>
          <p:nvPr/>
        </p:nvSpPr>
        <p:spPr>
          <a:xfrm>
            <a:off x="8953805" y="7448702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 vs T mean</a:t>
            </a:r>
            <a:endParaRPr lang="en-US" sz="825" dirty="0"/>
          </a:p>
        </p:txBody>
      </p:sp>
      <p:sp>
        <p:nvSpPr>
          <p:cNvPr id="182" name="Text 172"/>
          <p:cNvSpPr txBox="1"/>
          <p:nvPr/>
        </p:nvSpPr>
        <p:spPr>
          <a:xfrm>
            <a:off x="8953805" y="7653528"/>
            <a:ext cx="1524305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−63% vs W2</a:t>
            </a:r>
            <a:pPr algn="l" indent="0" marL="0">
              <a:lnSpc>
                <a:spcPts val="1470"/>
              </a:lnSpc>
              <a:buNone/>
            </a:pP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narrowest spread</a:t>
            </a:r>
            <a:endParaRPr lang="en-US" sz="1050" dirty="0"/>
          </a:p>
        </p:txBody>
      </p:sp>
      <p:sp>
        <p:nvSpPr>
          <p:cNvPr id="183" name="Text 173"/>
          <p:cNvSpPr txBox="1"/>
          <p:nvPr/>
        </p:nvSpPr>
        <p:spPr>
          <a:xfrm>
            <a:off x="11239805" y="5790895"/>
            <a:ext cx="103784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 · QALE</a:t>
            </a:r>
            <a:endParaRPr lang="en-US" sz="975" dirty="0"/>
          </a:p>
        </p:txBody>
      </p:sp>
      <p:sp>
        <p:nvSpPr>
          <p:cNvPr id="184" name="Text 174"/>
          <p:cNvSpPr txBox="1"/>
          <p:nvPr/>
        </p:nvSpPr>
        <p:spPr>
          <a:xfrm>
            <a:off x="13708685" y="5790895"/>
            <a:ext cx="210312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8.35 · 7.85–9.0</a:t>
            </a:r>
            <a:endParaRPr lang="en-US" sz="975" dirty="0"/>
          </a:p>
        </p:txBody>
      </p:sp>
      <p:sp>
        <p:nvSpPr>
          <p:cNvPr id="185" name="Text 175"/>
          <p:cNvSpPr txBox="1"/>
          <p:nvPr/>
        </p:nvSpPr>
        <p:spPr>
          <a:xfrm>
            <a:off x="113824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86" name="Text 176"/>
          <p:cNvSpPr txBox="1"/>
          <p:nvPr/>
        </p:nvSpPr>
        <p:spPr>
          <a:xfrm>
            <a:off x="118396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</a:t>
            </a:r>
            <a:endParaRPr lang="en-US" sz="975" dirty="0"/>
          </a:p>
        </p:txBody>
      </p:sp>
      <p:sp>
        <p:nvSpPr>
          <p:cNvPr id="187" name="Text 177"/>
          <p:cNvSpPr txBox="1"/>
          <p:nvPr/>
        </p:nvSpPr>
        <p:spPr>
          <a:xfrm>
            <a:off x="122968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88" name="Text 178"/>
          <p:cNvSpPr txBox="1"/>
          <p:nvPr/>
        </p:nvSpPr>
        <p:spPr>
          <a:xfrm>
            <a:off x="127540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89" name="Text 179"/>
          <p:cNvSpPr txBox="1"/>
          <p:nvPr/>
        </p:nvSpPr>
        <p:spPr>
          <a:xfrm>
            <a:off x="13211251" y="6152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975" dirty="0"/>
          </a:p>
        </p:txBody>
      </p:sp>
      <p:sp>
        <p:nvSpPr>
          <p:cNvPr id="190" name="Text 180"/>
          <p:cNvSpPr txBox="1"/>
          <p:nvPr/>
        </p:nvSpPr>
        <p:spPr>
          <a:xfrm>
            <a:off x="113824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191" name="Text 181"/>
          <p:cNvSpPr txBox="1"/>
          <p:nvPr/>
        </p:nvSpPr>
        <p:spPr>
          <a:xfrm>
            <a:off x="118396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8.25</a:t>
            </a:r>
            <a:endParaRPr lang="en-US" sz="975" dirty="0"/>
          </a:p>
        </p:txBody>
      </p:sp>
      <p:sp>
        <p:nvSpPr>
          <p:cNvPr id="192" name="Text 182"/>
          <p:cNvSpPr txBox="1"/>
          <p:nvPr/>
        </p:nvSpPr>
        <p:spPr>
          <a:xfrm>
            <a:off x="122968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8.35</a:t>
            </a:r>
            <a:endParaRPr lang="en-US" sz="975" dirty="0"/>
          </a:p>
        </p:txBody>
      </p:sp>
      <p:sp>
        <p:nvSpPr>
          <p:cNvPr id="193" name="Text 183"/>
          <p:cNvSpPr txBox="1"/>
          <p:nvPr/>
        </p:nvSpPr>
        <p:spPr>
          <a:xfrm>
            <a:off x="127540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94" name="Text 184"/>
          <p:cNvSpPr txBox="1"/>
          <p:nvPr/>
        </p:nvSpPr>
        <p:spPr>
          <a:xfrm>
            <a:off x="13211251" y="6534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8.7</a:t>
            </a:r>
            <a:endParaRPr lang="en-US" sz="975" dirty="0"/>
          </a:p>
        </p:txBody>
      </p:sp>
      <p:sp>
        <p:nvSpPr>
          <p:cNvPr id="195" name="Text 185"/>
          <p:cNvSpPr txBox="1"/>
          <p:nvPr/>
        </p:nvSpPr>
        <p:spPr>
          <a:xfrm>
            <a:off x="113824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8.2</a:t>
            </a:r>
            <a:endParaRPr lang="en-US" sz="975" dirty="0"/>
          </a:p>
        </p:txBody>
      </p:sp>
      <p:sp>
        <p:nvSpPr>
          <p:cNvPr id="196" name="Text 186"/>
          <p:cNvSpPr txBox="1"/>
          <p:nvPr/>
        </p:nvSpPr>
        <p:spPr>
          <a:xfrm>
            <a:off x="118396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8.35</a:t>
            </a:r>
            <a:endParaRPr lang="en-US" sz="975" dirty="0"/>
          </a:p>
        </p:txBody>
      </p:sp>
      <p:sp>
        <p:nvSpPr>
          <p:cNvPr id="197" name="Text 187"/>
          <p:cNvSpPr txBox="1"/>
          <p:nvPr/>
        </p:nvSpPr>
        <p:spPr>
          <a:xfrm>
            <a:off x="122968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8.4</a:t>
            </a:r>
            <a:endParaRPr lang="en-US" sz="975" dirty="0"/>
          </a:p>
        </p:txBody>
      </p:sp>
      <p:sp>
        <p:nvSpPr>
          <p:cNvPr id="198" name="Text 188"/>
          <p:cNvSpPr txBox="1"/>
          <p:nvPr/>
        </p:nvSpPr>
        <p:spPr>
          <a:xfrm>
            <a:off x="127540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199" name="Text 189"/>
          <p:cNvSpPr txBox="1"/>
          <p:nvPr/>
        </p:nvSpPr>
        <p:spPr>
          <a:xfrm>
            <a:off x="13211251" y="6915607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8.6</a:t>
            </a:r>
            <a:endParaRPr lang="en-US" sz="975" dirty="0"/>
          </a:p>
        </p:txBody>
      </p:sp>
      <p:sp>
        <p:nvSpPr>
          <p:cNvPr id="200" name="Text 190"/>
          <p:cNvSpPr txBox="1"/>
          <p:nvPr/>
        </p:nvSpPr>
        <p:spPr>
          <a:xfrm>
            <a:off x="11382451" y="7295998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7.95</a:t>
            </a:r>
            <a:endParaRPr lang="en-US" sz="975" dirty="0"/>
          </a:p>
        </p:txBody>
      </p:sp>
      <p:sp>
        <p:nvSpPr>
          <p:cNvPr id="201" name="Text 191"/>
          <p:cNvSpPr txBox="1"/>
          <p:nvPr/>
        </p:nvSpPr>
        <p:spPr>
          <a:xfrm>
            <a:off x="118396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8.15</a:t>
            </a:r>
            <a:endParaRPr lang="en-US" sz="975" dirty="0"/>
          </a:p>
        </p:txBody>
      </p:sp>
      <p:sp>
        <p:nvSpPr>
          <p:cNvPr id="202" name="Text 192"/>
          <p:cNvSpPr txBox="1"/>
          <p:nvPr/>
        </p:nvSpPr>
        <p:spPr>
          <a:xfrm>
            <a:off x="122968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8.35</a:t>
            </a:r>
            <a:endParaRPr lang="en-US" sz="975" dirty="0"/>
          </a:p>
        </p:txBody>
      </p:sp>
      <p:sp>
        <p:nvSpPr>
          <p:cNvPr id="203" name="Text 193"/>
          <p:cNvSpPr txBox="1"/>
          <p:nvPr/>
        </p:nvSpPr>
        <p:spPr>
          <a:xfrm>
            <a:off x="127540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</a:t>
            </a:r>
            <a:endParaRPr lang="en-US" sz="975" dirty="0"/>
          </a:p>
        </p:txBody>
      </p:sp>
      <p:sp>
        <p:nvSpPr>
          <p:cNvPr id="204" name="Text 194"/>
          <p:cNvSpPr txBox="1"/>
          <p:nvPr/>
        </p:nvSpPr>
        <p:spPr>
          <a:xfrm>
            <a:off x="13211251" y="7295998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8.7</a:t>
            </a:r>
            <a:endParaRPr lang="en-US" sz="975" dirty="0"/>
          </a:p>
        </p:txBody>
      </p:sp>
      <p:sp>
        <p:nvSpPr>
          <p:cNvPr id="205" name="Text 195"/>
          <p:cNvSpPr txBox="1"/>
          <p:nvPr/>
        </p:nvSpPr>
        <p:spPr>
          <a:xfrm>
            <a:off x="11382451" y="7677302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7.85</a:t>
            </a:r>
            <a:endParaRPr lang="en-US" sz="975" dirty="0"/>
          </a:p>
        </p:txBody>
      </p:sp>
      <p:sp>
        <p:nvSpPr>
          <p:cNvPr id="206" name="Text 196"/>
          <p:cNvSpPr txBox="1"/>
          <p:nvPr/>
        </p:nvSpPr>
        <p:spPr>
          <a:xfrm>
            <a:off x="11839651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8.1</a:t>
            </a:r>
            <a:endParaRPr lang="en-US" sz="975" dirty="0"/>
          </a:p>
        </p:txBody>
      </p:sp>
      <p:sp>
        <p:nvSpPr>
          <p:cNvPr id="207" name="Text 197"/>
          <p:cNvSpPr txBox="1"/>
          <p:nvPr/>
        </p:nvSpPr>
        <p:spPr>
          <a:xfrm>
            <a:off x="12296851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8.35</a:t>
            </a:r>
            <a:endParaRPr lang="en-US" sz="975" dirty="0"/>
          </a:p>
        </p:txBody>
      </p:sp>
      <p:sp>
        <p:nvSpPr>
          <p:cNvPr id="208" name="Text 198"/>
          <p:cNvSpPr txBox="1"/>
          <p:nvPr/>
        </p:nvSpPr>
        <p:spPr>
          <a:xfrm>
            <a:off x="12754051" y="7677302"/>
            <a:ext cx="438912" cy="362102"/>
          </a:xfrm>
          <a:prstGeom prst="rect">
            <a:avLst/>
          </a:prstGeom>
          <a:solidFill>
            <a:srgbClr val="F4E0B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8.55</a:t>
            </a:r>
            <a:endParaRPr lang="en-US" sz="975" dirty="0"/>
          </a:p>
        </p:txBody>
      </p:sp>
      <p:sp>
        <p:nvSpPr>
          <p:cNvPr id="209" name="Text 199"/>
          <p:cNvSpPr txBox="1"/>
          <p:nvPr/>
        </p:nvSpPr>
        <p:spPr>
          <a:xfrm>
            <a:off x="13211251" y="7677302"/>
            <a:ext cx="438912" cy="362102"/>
          </a:xfrm>
          <a:prstGeom prst="rect">
            <a:avLst/>
          </a:prstGeom>
          <a:solidFill>
            <a:srgbClr val="F4C89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9.0</a:t>
            </a:r>
            <a:endParaRPr lang="en-US" sz="975" dirty="0"/>
          </a:p>
        </p:txBody>
      </p:sp>
      <p:sp>
        <p:nvSpPr>
          <p:cNvPr id="210" name="Text 200"/>
          <p:cNvSpPr txBox="1"/>
          <p:nvPr/>
        </p:nvSpPr>
        <p:spPr>
          <a:xfrm>
            <a:off x="13811098" y="6152998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</a:t>
            </a:r>
            <a:endParaRPr lang="en-US" sz="825" dirty="0"/>
          </a:p>
        </p:txBody>
      </p:sp>
      <p:sp>
        <p:nvSpPr>
          <p:cNvPr id="211" name="Text 201"/>
          <p:cNvSpPr txBox="1"/>
          <p:nvPr/>
        </p:nvSpPr>
        <p:spPr>
          <a:xfrm>
            <a:off x="13811098" y="6372454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0.50</a:t>
            </a:r>
            <a:endParaRPr lang="en-US" sz="2400" dirty="0"/>
          </a:p>
        </p:txBody>
      </p:sp>
      <p:sp>
        <p:nvSpPr>
          <p:cNvPr id="212" name="Text 202"/>
          <p:cNvSpPr txBox="1"/>
          <p:nvPr/>
        </p:nvSpPr>
        <p:spPr>
          <a:xfrm>
            <a:off x="13811098" y="6810451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213" name="Text 203"/>
          <p:cNvSpPr txBox="1"/>
          <p:nvPr/>
        </p:nvSpPr>
        <p:spPr>
          <a:xfrm>
            <a:off x="13811098" y="7029907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1.15 nm</a:t>
            </a:r>
            <a:endParaRPr lang="en-US" sz="1500" dirty="0"/>
          </a:p>
        </p:txBody>
      </p:sp>
      <p:sp>
        <p:nvSpPr>
          <p:cNvPr id="214" name="Text 204"/>
          <p:cNvSpPr txBox="1"/>
          <p:nvPr/>
        </p:nvSpPr>
        <p:spPr>
          <a:xfrm>
            <a:off x="13811098" y="7448702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 vs T mean</a:t>
            </a:r>
            <a:endParaRPr lang="en-US" sz="825" dirty="0"/>
          </a:p>
        </p:txBody>
      </p:sp>
      <p:sp>
        <p:nvSpPr>
          <p:cNvPr id="215" name="Text 205"/>
          <p:cNvSpPr txBox="1"/>
          <p:nvPr/>
        </p:nvSpPr>
        <p:spPr>
          <a:xfrm>
            <a:off x="13811098" y="7653528"/>
            <a:ext cx="1524305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−64% vs W3</a:t>
            </a:r>
            <a:pPr algn="l" indent="0" marL="0">
              <a:lnSpc>
                <a:spcPts val="1470"/>
              </a:lnSpc>
              <a:buNone/>
            </a:pP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tightest AMI</a:t>
            </a:r>
            <a:endParaRPr lang="en-US" sz="1050" dirty="0"/>
          </a:p>
        </p:txBody>
      </p:sp>
      <p:sp>
        <p:nvSpPr>
          <p:cNvPr id="216" name="Text 206"/>
          <p:cNvSpPr txBox="1"/>
          <p:nvPr/>
        </p:nvSpPr>
        <p:spPr>
          <a:xfrm>
            <a:off x="1238098" y="8672170"/>
            <a:ext cx="166420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BIN LEGEND (Δ nm)</a:t>
            </a:r>
            <a:endParaRPr lang="en-US" sz="825" dirty="0"/>
          </a:p>
        </p:txBody>
      </p:sp>
      <p:sp>
        <p:nvSpPr>
          <p:cNvPr id="217" name="Shape 207"/>
          <p:cNvSpPr/>
          <p:nvPr/>
        </p:nvSpPr>
        <p:spPr>
          <a:xfrm>
            <a:off x="2723998" y="8686800"/>
            <a:ext cx="228600" cy="133502"/>
          </a:xfrm>
          <a:prstGeom prst="rect">
            <a:avLst/>
          </a:prstGeom>
          <a:solidFill>
            <a:srgbClr val="3E7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Text 208"/>
          <p:cNvSpPr txBox="1"/>
          <p:nvPr/>
        </p:nvSpPr>
        <p:spPr>
          <a:xfrm>
            <a:off x="3085186" y="8667598"/>
            <a:ext cx="31089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≤0.1</a:t>
            </a:r>
            <a:endParaRPr lang="en-US" sz="900" dirty="0"/>
          </a:p>
        </p:txBody>
      </p:sp>
      <p:sp>
        <p:nvSpPr>
          <p:cNvPr id="219" name="Shape 209"/>
          <p:cNvSpPr/>
          <p:nvPr/>
        </p:nvSpPr>
        <p:spPr>
          <a:xfrm>
            <a:off x="3455518" y="8686800"/>
            <a:ext cx="228600" cy="133502"/>
          </a:xfrm>
          <a:prstGeom prst="rect">
            <a:avLst/>
          </a:prstGeom>
          <a:solidFill>
            <a:srgbClr val="F4E0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Text 210"/>
          <p:cNvSpPr txBox="1"/>
          <p:nvPr/>
        </p:nvSpPr>
        <p:spPr>
          <a:xfrm>
            <a:off x="3817620" y="8667598"/>
            <a:ext cx="2322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0.3</a:t>
            </a:r>
            <a:endParaRPr lang="en-US" sz="900" dirty="0"/>
          </a:p>
        </p:txBody>
      </p:sp>
      <p:sp>
        <p:nvSpPr>
          <p:cNvPr id="221" name="Shape 211"/>
          <p:cNvSpPr/>
          <p:nvPr/>
        </p:nvSpPr>
        <p:spPr>
          <a:xfrm>
            <a:off x="4119372" y="8686800"/>
            <a:ext cx="228600" cy="133502"/>
          </a:xfrm>
          <a:prstGeom prst="rect">
            <a:avLst/>
          </a:prstGeom>
          <a:solidFill>
            <a:srgbClr val="F4C8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Text 212"/>
          <p:cNvSpPr txBox="1"/>
          <p:nvPr/>
        </p:nvSpPr>
        <p:spPr>
          <a:xfrm>
            <a:off x="4481474" y="8667598"/>
            <a:ext cx="2322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</a:t>
            </a:r>
            <a:endParaRPr lang="en-US" sz="900" dirty="0"/>
          </a:p>
        </p:txBody>
      </p:sp>
      <p:sp>
        <p:nvSpPr>
          <p:cNvPr id="223" name="Shape 213"/>
          <p:cNvSpPr/>
          <p:nvPr/>
        </p:nvSpPr>
        <p:spPr>
          <a:xfrm>
            <a:off x="4783226" y="8686800"/>
            <a:ext cx="228600" cy="133502"/>
          </a:xfrm>
          <a:prstGeom prst="rect">
            <a:avLst/>
          </a:prstGeom>
          <a:solidFill>
            <a:srgbClr val="E89B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Text 214"/>
          <p:cNvSpPr txBox="1"/>
          <p:nvPr/>
        </p:nvSpPr>
        <p:spPr>
          <a:xfrm>
            <a:off x="5145329" y="8667598"/>
            <a:ext cx="2322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0.7</a:t>
            </a:r>
            <a:endParaRPr lang="en-US" sz="900" dirty="0"/>
          </a:p>
        </p:txBody>
      </p:sp>
      <p:sp>
        <p:nvSpPr>
          <p:cNvPr id="225" name="Shape 215"/>
          <p:cNvSpPr/>
          <p:nvPr/>
        </p:nvSpPr>
        <p:spPr>
          <a:xfrm>
            <a:off x="5447081" y="8686800"/>
            <a:ext cx="228600" cy="133502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Text 216"/>
          <p:cNvSpPr txBox="1"/>
          <p:nvPr/>
        </p:nvSpPr>
        <p:spPr>
          <a:xfrm>
            <a:off x="5808269" y="8667598"/>
            <a:ext cx="2322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</a:t>
            </a:r>
            <a:endParaRPr lang="en-US" sz="900" dirty="0"/>
          </a:p>
        </p:txBody>
      </p:sp>
      <p:sp>
        <p:nvSpPr>
          <p:cNvPr id="227" name="Shape 217"/>
          <p:cNvSpPr/>
          <p:nvPr/>
        </p:nvSpPr>
        <p:spPr>
          <a:xfrm>
            <a:off x="6110021" y="8686800"/>
            <a:ext cx="228600" cy="133502"/>
          </a:xfrm>
          <a:prstGeom prst="rect">
            <a:avLst/>
          </a:prstGeom>
          <a:solidFill>
            <a:srgbClr val="B23A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Text 218"/>
          <p:cNvSpPr txBox="1"/>
          <p:nvPr/>
        </p:nvSpPr>
        <p:spPr>
          <a:xfrm>
            <a:off x="6472123" y="8667598"/>
            <a:ext cx="155356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&gt;1.0 (nm from target 8.3)</a:t>
            </a:r>
            <a:endParaRPr lang="en-US" sz="900" dirty="0"/>
          </a:p>
        </p:txBody>
      </p:sp>
      <p:sp>
        <p:nvSpPr>
          <p:cNvPr id="229" name="Text 219"/>
          <p:cNvSpPr txBox="1"/>
          <p:nvPr/>
        </p:nvSpPr>
        <p:spPr>
          <a:xfrm>
            <a:off x="1238098" y="9124798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30" name="Text 220"/>
          <p:cNvSpPr txBox="1"/>
          <p:nvPr/>
        </p:nvSpPr>
        <p:spPr>
          <a:xfrm>
            <a:off x="2704795" y="9048902"/>
            <a:ext cx="12954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25-point wafer map 에서 QALE wafer (W4~W6) 의 hot/cold spot 편차가 RIE 대비 ~60% 축소됐고, hot cell (&gt;1.0nm 편차) 이 한 점도 발생하지 않았다.</a:t>
            </a:r>
            <a:endParaRPr lang="en-US" sz="1500" dirty="0"/>
          </a:p>
        </p:txBody>
      </p:sp>
      <p:sp>
        <p:nvSpPr>
          <p:cNvPr id="231" name="Text 221"/>
          <p:cNvSpPr txBox="1"/>
          <p:nvPr/>
        </p:nvSpPr>
        <p:spPr>
          <a:xfrm>
            <a:off x="1238098" y="99248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266798"/>
            <a:ext cx="7830007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2266798"/>
            <a:ext cx="773399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8098" y="5524805"/>
            <a:ext cx="7830007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5524805"/>
            <a:ext cx="773399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pic>
        <p:nvPicPr>
          <p:cNvPr id="7" name="Image 0" descr="gen-dedup-51b199bd19dc29897052c0e86d20d024.png">    </p:cNvPr>
          <p:cNvPicPr>
            <a:picLocks noChangeAspect="1"/>
          </p:cNvPicPr>
          <p:nvPr/>
        </p:nvPicPr>
        <p:blipFill>
          <a:blip r:embed="rId1"/>
          <a:srcRect l="0" r="0" t="-2089" b="-2089"/>
          <a:stretch/>
        </p:blipFill>
        <p:spPr>
          <a:xfrm>
            <a:off x="2286000" y="2857500"/>
            <a:ext cx="9144" cy="1619402"/>
          </a:xfrm>
          <a:prstGeom prst="rect">
            <a:avLst/>
          </a:prstGeom>
        </p:spPr>
      </p:pic>
      <p:pic>
        <p:nvPicPr>
          <p:cNvPr id="8" name="Image 1" descr="gen-dedup-0c05298f717fd2a2d72d94df87ef2b5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2286000" y="4076395"/>
            <a:ext cx="6476695" cy="9144"/>
          </a:xfrm>
          <a:prstGeom prst="rect">
            <a:avLst/>
          </a:prstGeom>
        </p:spPr>
      </p:pic>
      <p:pic>
        <p:nvPicPr>
          <p:cNvPr id="9" name="Image 2" descr="gen-dedup-0c05298f717fd2a2d72d94df87ef2b5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2286000" y="3771900"/>
            <a:ext cx="6476695" cy="9144"/>
          </a:xfrm>
          <a:prstGeom prst="rect">
            <a:avLst/>
          </a:prstGeom>
        </p:spPr>
      </p:pic>
      <p:pic>
        <p:nvPicPr>
          <p:cNvPr id="10" name="Image 3" descr="gen-dedup-0c05298f717fd2a2d72d94df87ef2b56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2286000" y="3467405"/>
            <a:ext cx="6476695" cy="9144"/>
          </a:xfrm>
          <a:prstGeom prst="rect">
            <a:avLst/>
          </a:prstGeom>
        </p:spPr>
      </p:pic>
      <p:pic>
        <p:nvPicPr>
          <p:cNvPr id="11" name="Image 4" descr="gen-dedup-0c05298f717fd2a2d72d94df87ef2b56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2286000" y="3161995"/>
            <a:ext cx="6476695" cy="9144"/>
          </a:xfrm>
          <a:prstGeom prst="rect">
            <a:avLst/>
          </a:prstGeom>
        </p:spPr>
      </p:pic>
      <p:pic>
        <p:nvPicPr>
          <p:cNvPr id="12" name="Image 5" descr="gen-dedup-66a7a73077fcd03ef8327340e69c68de.png">    </p:cNvPr>
          <p:cNvPicPr>
            <a:picLocks noChangeAspect="1"/>
          </p:cNvPicPr>
          <p:nvPr/>
        </p:nvPicPr>
        <p:blipFill>
          <a:blip r:embed="rId6"/>
          <a:srcRect l="0" r="0" t="-2094" b="-2094"/>
          <a:stretch/>
        </p:blipFill>
        <p:spPr>
          <a:xfrm>
            <a:off x="10287000" y="2952598"/>
            <a:ext cx="9144" cy="1524305"/>
          </a:xfrm>
          <a:prstGeom prst="rect">
            <a:avLst/>
          </a:prstGeom>
        </p:spPr>
      </p:pic>
      <p:pic>
        <p:nvPicPr>
          <p:cNvPr id="13" name="Image 6" descr="gen-dedup-0c05298f717fd2a2d72d94df87ef2b56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0287000" y="4476902"/>
            <a:ext cx="6476695" cy="9144"/>
          </a:xfrm>
          <a:prstGeom prst="rect">
            <a:avLst/>
          </a:prstGeom>
        </p:spPr>
      </p:pic>
      <p:pic>
        <p:nvPicPr>
          <p:cNvPr id="14" name="Image 7" descr="gen-dedup-0c05298f717fd2a2d72d94df87ef2b56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10287000" y="3715207"/>
            <a:ext cx="6476695" cy="9144"/>
          </a:xfrm>
          <a:prstGeom prst="rect">
            <a:avLst/>
          </a:prstGeom>
        </p:spPr>
      </p:pic>
      <p:pic>
        <p:nvPicPr>
          <p:cNvPr id="15" name="Image 8" descr="gen-dedup-0c05298f717fd2a2d72d94df87ef2b56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10287000" y="3333902"/>
            <a:ext cx="6476695" cy="9144"/>
          </a:xfrm>
          <a:prstGeom prst="rect">
            <a:avLst/>
          </a:prstGeom>
        </p:spPr>
      </p:pic>
      <p:pic>
        <p:nvPicPr>
          <p:cNvPr id="16" name="Image 9" descr="gen-dedup-0c05298f717fd2a2d72d94df87ef2b56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10287000" y="4095598"/>
            <a:ext cx="6476695" cy="9144"/>
          </a:xfrm>
          <a:prstGeom prst="rect">
            <a:avLst/>
          </a:prstGeom>
        </p:spPr>
      </p:pic>
      <p:pic>
        <p:nvPicPr>
          <p:cNvPr id="17" name="Image 10" descr="gen-dedup-b0fae21c917a690208a3cdc8934e1a54.png">    </p:cNvPr>
          <p:cNvPicPr>
            <a:picLocks noChangeAspect="1"/>
          </p:cNvPicPr>
          <p:nvPr/>
        </p:nvPicPr>
        <p:blipFill>
          <a:blip r:embed="rId11"/>
          <a:srcRect l="0" r="0" t="-2072" b="-2072"/>
          <a:stretch/>
        </p:blipFill>
        <p:spPr>
          <a:xfrm>
            <a:off x="2286000" y="6133795"/>
            <a:ext cx="9144" cy="1676095"/>
          </a:xfrm>
          <a:prstGeom prst="rect">
            <a:avLst/>
          </a:prstGeom>
        </p:spPr>
      </p:pic>
      <p:pic>
        <p:nvPicPr>
          <p:cNvPr id="18" name="Image 11" descr="gen-dedup-0c05298f717fd2a2d72d94df87ef2b56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2286000" y="7286854"/>
            <a:ext cx="6476695" cy="9144"/>
          </a:xfrm>
          <a:prstGeom prst="rect">
            <a:avLst/>
          </a:prstGeom>
        </p:spPr>
      </p:pic>
      <p:pic>
        <p:nvPicPr>
          <p:cNvPr id="19" name="Image 12" descr="gen-dedup-0c05298f717fd2a2d72d94df87ef2b56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2286000" y="6762902"/>
            <a:ext cx="6476695" cy="9144"/>
          </a:xfrm>
          <a:prstGeom prst="rect">
            <a:avLst/>
          </a:prstGeom>
        </p:spPr>
      </p:pic>
      <p:pic>
        <p:nvPicPr>
          <p:cNvPr id="20" name="Image 13" descr="gen-dedup-0c05298f717fd2a2d72d94df87ef2b56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2286000" y="6238951"/>
            <a:ext cx="6476695" cy="9144"/>
          </a:xfrm>
          <a:prstGeom prst="rect">
            <a:avLst/>
          </a:prstGeom>
        </p:spPr>
      </p:pic>
      <p:pic>
        <p:nvPicPr>
          <p:cNvPr id="21" name="Image 14" descr="gen-dedup-b0fae21c917a690208a3cdc8934e1a54.png">    </p:cNvPr>
          <p:cNvPicPr>
            <a:picLocks noChangeAspect="1"/>
          </p:cNvPicPr>
          <p:nvPr/>
        </p:nvPicPr>
        <p:blipFill>
          <a:blip r:embed="rId15"/>
          <a:srcRect l="0" r="0" t="-2072" b="-2072"/>
          <a:stretch/>
        </p:blipFill>
        <p:spPr>
          <a:xfrm>
            <a:off x="10287000" y="6133795"/>
            <a:ext cx="9144" cy="1676095"/>
          </a:xfrm>
          <a:prstGeom prst="rect">
            <a:avLst/>
          </a:prstGeom>
        </p:spPr>
      </p:pic>
      <p:pic>
        <p:nvPicPr>
          <p:cNvPr id="22" name="Image 15" descr="gen-dedup-963977ec5fa2a025fcdc07bf7fb9eab5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10287000" y="7286854"/>
            <a:ext cx="6286500" cy="9144"/>
          </a:xfrm>
          <a:prstGeom prst="rect">
            <a:avLst/>
          </a:prstGeom>
        </p:spPr>
      </p:pic>
      <p:pic>
        <p:nvPicPr>
          <p:cNvPr id="23" name="Image 16" descr="gen-dedup-963977ec5fa2a025fcdc07bf7fb9eab5.png">    </p:cNvPr>
          <p:cNvPicPr>
            <a:picLocks noChangeAspect="1"/>
          </p:cNvPicPr>
          <p:nvPr/>
        </p:nvPicPr>
        <p:blipFill>
          <a:blip r:embed="rId17"/>
          <a:srcRect l="-2083" r="-2083" t="0" b="0"/>
          <a:stretch/>
        </p:blipFill>
        <p:spPr>
          <a:xfrm>
            <a:off x="10287000" y="6715354"/>
            <a:ext cx="6286500" cy="9144"/>
          </a:xfrm>
          <a:prstGeom prst="rect">
            <a:avLst/>
          </a:prstGeom>
        </p:spPr>
      </p:pic>
      <p:pic>
        <p:nvPicPr>
          <p:cNvPr id="24" name="Image 17" descr="gen-dedup-963977ec5fa2a025fcdc07bf7fb9eab5.png">    </p:cNvPr>
          <p:cNvPicPr>
            <a:picLocks noChangeAspect="1"/>
          </p:cNvPicPr>
          <p:nvPr/>
        </p:nvPicPr>
        <p:blipFill>
          <a:blip r:embed="rId18"/>
          <a:srcRect l="-2083" r="-2083" t="0" b="0"/>
          <a:stretch/>
        </p:blipFill>
        <p:spPr>
          <a:xfrm>
            <a:off x="10287000" y="6096305"/>
            <a:ext cx="6286500" cy="9144"/>
          </a:xfrm>
          <a:prstGeom prst="rect">
            <a:avLst/>
          </a:prstGeom>
        </p:spPr>
      </p:pic>
      <p:sp>
        <p:nvSpPr>
          <p:cNvPr id="25" name="Shape 4"/>
          <p:cNvSpPr/>
          <p:nvPr/>
        </p:nvSpPr>
        <p:spPr>
          <a:xfrm>
            <a:off x="2476195" y="3286354"/>
            <a:ext cx="666598" cy="1095451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5"/>
          <p:cNvSpPr/>
          <p:nvPr/>
        </p:nvSpPr>
        <p:spPr>
          <a:xfrm>
            <a:off x="3524098" y="3219602"/>
            <a:ext cx="666598" cy="1162202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6"/>
          <p:cNvSpPr/>
          <p:nvPr/>
        </p:nvSpPr>
        <p:spPr>
          <a:xfrm>
            <a:off x="4572000" y="3095244"/>
            <a:ext cx="666598" cy="1285646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7"/>
          <p:cNvSpPr/>
          <p:nvPr/>
        </p:nvSpPr>
        <p:spPr>
          <a:xfrm>
            <a:off x="6286500" y="3829507"/>
            <a:ext cx="666598" cy="552298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8"/>
          <p:cNvSpPr/>
          <p:nvPr/>
        </p:nvSpPr>
        <p:spPr>
          <a:xfrm>
            <a:off x="7334402" y="3771900"/>
            <a:ext cx="666598" cy="609905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9"/>
          <p:cNvSpPr/>
          <p:nvPr/>
        </p:nvSpPr>
        <p:spPr>
          <a:xfrm>
            <a:off x="8382305" y="3866998"/>
            <a:ext cx="666598" cy="514807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10"/>
          <p:cNvSpPr/>
          <p:nvPr/>
        </p:nvSpPr>
        <p:spPr>
          <a:xfrm>
            <a:off x="10477195" y="3333902"/>
            <a:ext cx="666598" cy="1143000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11"/>
          <p:cNvSpPr/>
          <p:nvPr/>
        </p:nvSpPr>
        <p:spPr>
          <a:xfrm>
            <a:off x="11430000" y="3258007"/>
            <a:ext cx="666598" cy="1218895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12"/>
          <p:cNvSpPr/>
          <p:nvPr/>
        </p:nvSpPr>
        <p:spPr>
          <a:xfrm>
            <a:off x="12382805" y="3181198"/>
            <a:ext cx="666598" cy="1295705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13"/>
          <p:cNvSpPr/>
          <p:nvPr/>
        </p:nvSpPr>
        <p:spPr>
          <a:xfrm>
            <a:off x="14002207" y="3943807"/>
            <a:ext cx="666598" cy="533095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14"/>
          <p:cNvSpPr/>
          <p:nvPr/>
        </p:nvSpPr>
        <p:spPr>
          <a:xfrm>
            <a:off x="14954098" y="3981298"/>
            <a:ext cx="666598" cy="495605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15"/>
          <p:cNvSpPr/>
          <p:nvPr/>
        </p:nvSpPr>
        <p:spPr>
          <a:xfrm>
            <a:off x="15906902" y="4019702"/>
            <a:ext cx="666598" cy="457200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16"/>
          <p:cNvSpPr/>
          <p:nvPr/>
        </p:nvSpPr>
        <p:spPr>
          <a:xfrm>
            <a:off x="2476195" y="6553505"/>
            <a:ext cx="666598" cy="1257300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17"/>
          <p:cNvSpPr/>
          <p:nvPr/>
        </p:nvSpPr>
        <p:spPr>
          <a:xfrm>
            <a:off x="3524098" y="6448349"/>
            <a:ext cx="666598" cy="1362456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18"/>
          <p:cNvSpPr/>
          <p:nvPr/>
        </p:nvSpPr>
        <p:spPr>
          <a:xfrm>
            <a:off x="4572000" y="6344107"/>
            <a:ext cx="666598" cy="1466698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19"/>
          <p:cNvSpPr/>
          <p:nvPr/>
        </p:nvSpPr>
        <p:spPr>
          <a:xfrm>
            <a:off x="6286500" y="7286854"/>
            <a:ext cx="666598" cy="523951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0"/>
          <p:cNvSpPr/>
          <p:nvPr/>
        </p:nvSpPr>
        <p:spPr>
          <a:xfrm>
            <a:off x="7334402" y="7343546"/>
            <a:ext cx="666598" cy="466344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21"/>
          <p:cNvSpPr/>
          <p:nvPr/>
        </p:nvSpPr>
        <p:spPr>
          <a:xfrm>
            <a:off x="8382305" y="7286854"/>
            <a:ext cx="666598" cy="523951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22"/>
          <p:cNvSpPr/>
          <p:nvPr/>
        </p:nvSpPr>
        <p:spPr>
          <a:xfrm>
            <a:off x="10477195" y="6610198"/>
            <a:ext cx="666598" cy="1200607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23"/>
          <p:cNvSpPr/>
          <p:nvPr/>
        </p:nvSpPr>
        <p:spPr>
          <a:xfrm>
            <a:off x="11430000" y="6486754"/>
            <a:ext cx="666598" cy="1324051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24"/>
          <p:cNvSpPr/>
          <p:nvPr/>
        </p:nvSpPr>
        <p:spPr>
          <a:xfrm>
            <a:off x="12382805" y="6429146"/>
            <a:ext cx="666598" cy="1380744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25"/>
          <p:cNvSpPr/>
          <p:nvPr/>
        </p:nvSpPr>
        <p:spPr>
          <a:xfrm>
            <a:off x="14002207" y="7334402"/>
            <a:ext cx="666598" cy="476402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26"/>
          <p:cNvSpPr/>
          <p:nvPr/>
        </p:nvSpPr>
        <p:spPr>
          <a:xfrm>
            <a:off x="14954098" y="7267651"/>
            <a:ext cx="666598" cy="543154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27"/>
          <p:cNvSpPr/>
          <p:nvPr/>
        </p:nvSpPr>
        <p:spPr>
          <a:xfrm>
            <a:off x="15906902" y="7306056"/>
            <a:ext cx="666598" cy="504749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28"/>
          <p:cNvSpPr/>
          <p:nvPr/>
        </p:nvSpPr>
        <p:spPr>
          <a:xfrm>
            <a:off x="2286000" y="3771900"/>
            <a:ext cx="6762902" cy="19202"/>
          </a:xfrm>
          <a:prstGeom prst="rect">
            <a:avLst/>
          </a:prstGeom>
          <a:solidFill>
            <a:srgbClr val="A34611"/>
          </a:solidFill>
          <a:ln w="12700">
            <a:solidFill>
              <a:srgbClr val="A34611">
                <a:alpha val="0"/>
              </a:srgbClr>
            </a:solidFill>
            <a:prstDash val="solid"/>
          </a:ln>
        </p:spPr>
      </p:sp>
      <p:sp>
        <p:nvSpPr>
          <p:cNvPr id="50" name="Shape 29"/>
          <p:cNvSpPr/>
          <p:nvPr/>
        </p:nvSpPr>
        <p:spPr>
          <a:xfrm>
            <a:off x="10287000" y="3866998"/>
            <a:ext cx="6286500" cy="19202"/>
          </a:xfrm>
          <a:prstGeom prst="rect">
            <a:avLst/>
          </a:prstGeom>
          <a:solidFill>
            <a:srgbClr val="A34611"/>
          </a:solidFill>
          <a:ln w="12700">
            <a:solidFill>
              <a:srgbClr val="A34611">
                <a:alpha val="0"/>
              </a:srgbClr>
            </a:solidFill>
            <a:prstDash val="solid"/>
          </a:ln>
        </p:spPr>
      </p:sp>
      <p:sp>
        <p:nvSpPr>
          <p:cNvPr id="51" name="Shape 30"/>
          <p:cNvSpPr/>
          <p:nvPr/>
        </p:nvSpPr>
        <p:spPr>
          <a:xfrm>
            <a:off x="2286000" y="7077456"/>
            <a:ext cx="6762902" cy="19202"/>
          </a:xfrm>
          <a:prstGeom prst="rect">
            <a:avLst/>
          </a:prstGeom>
          <a:solidFill>
            <a:srgbClr val="A34611"/>
          </a:solidFill>
          <a:ln w="12700">
            <a:solidFill>
              <a:srgbClr val="A34611">
                <a:alpha val="0"/>
              </a:srgbClr>
            </a:solidFill>
            <a:prstDash val="solid"/>
          </a:ln>
        </p:spPr>
      </p:sp>
      <p:sp>
        <p:nvSpPr>
          <p:cNvPr id="52" name="Shape 31"/>
          <p:cNvSpPr/>
          <p:nvPr/>
        </p:nvSpPr>
        <p:spPr>
          <a:xfrm>
            <a:off x="10287000" y="7095744"/>
            <a:ext cx="6286500" cy="19202"/>
          </a:xfrm>
          <a:prstGeom prst="rect">
            <a:avLst/>
          </a:prstGeom>
          <a:solidFill>
            <a:srgbClr val="A34611"/>
          </a:solidFill>
          <a:ln w="12700">
            <a:solidFill>
              <a:srgbClr val="A34611">
                <a:alpha val="0"/>
              </a:srgbClr>
            </a:solidFill>
            <a:prstDash val="solid"/>
          </a:ln>
        </p:spPr>
      </p:sp>
      <p:pic>
        <p:nvPicPr>
          <p:cNvPr id="53" name="Image 18" descr="gen-dedup-390e17b422cffad3f830a155fccb9943.png">    </p:cNvPr>
          <p:cNvPicPr>
            <a:picLocks noChangeAspect="1"/>
          </p:cNvPicPr>
          <p:nvPr/>
        </p:nvPicPr>
        <p:blipFill>
          <a:blip r:embed="rId19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54" name="Text 32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/ IN-WAFER UNIFORMITY</a:t>
            </a:r>
            <a:endParaRPr lang="en-US" sz="1050" dirty="0"/>
          </a:p>
        </p:txBody>
      </p:sp>
      <p:sp>
        <p:nvSpPr>
          <p:cNvPr id="55" name="Text 33"/>
          <p:cNvSpPr txBox="1"/>
          <p:nvPr/>
        </p:nvSpPr>
        <p:spPr>
          <a:xfrm>
            <a:off x="1238098" y="1028700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종 metric 의 3σ 비교 — RIE vs QALE</a:t>
            </a:r>
            <a:endParaRPr lang="en-US" sz="3300" dirty="0"/>
          </a:p>
        </p:txBody>
      </p:sp>
      <p:sp>
        <p:nvSpPr>
          <p:cNvPr id="56" name="Text 34"/>
          <p:cNvSpPr txBox="1"/>
          <p:nvPr/>
        </p:nvSpPr>
        <p:spPr>
          <a:xfrm>
            <a:off x="1238098" y="1584655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 분산은 모든 metric 에서 QALE 쪽으로 절반 가까이 줄어든다</a:t>
            </a:r>
            <a:endParaRPr lang="en-US" sz="1500" dirty="0"/>
          </a:p>
        </p:txBody>
      </p:sp>
      <p:sp>
        <p:nvSpPr>
          <p:cNvPr id="57" name="Text 35"/>
          <p:cNvSpPr txBox="1"/>
          <p:nvPr/>
        </p:nvSpPr>
        <p:spPr>
          <a:xfrm>
            <a:off x="1524305" y="2457907"/>
            <a:ext cx="173004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· 3σ (nm)</a:t>
            </a:r>
            <a:endParaRPr lang="en-US" sz="1050" dirty="0"/>
          </a:p>
        </p:txBody>
      </p:sp>
      <p:sp>
        <p:nvSpPr>
          <p:cNvPr id="58" name="Text 36"/>
          <p:cNvSpPr txBox="1"/>
          <p:nvPr/>
        </p:nvSpPr>
        <p:spPr>
          <a:xfrm>
            <a:off x="7026250" y="2476195"/>
            <a:ext cx="207477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23.2 · scale 0–2.5</a:t>
            </a:r>
            <a:endParaRPr lang="en-US" sz="900" dirty="0"/>
          </a:p>
        </p:txBody>
      </p:sp>
      <p:sp>
        <p:nvSpPr>
          <p:cNvPr id="59" name="Text 37"/>
          <p:cNvSpPr txBox="1"/>
          <p:nvPr/>
        </p:nvSpPr>
        <p:spPr>
          <a:xfrm>
            <a:off x="2476195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1200" dirty="0"/>
          </a:p>
        </p:txBody>
      </p:sp>
      <p:sp>
        <p:nvSpPr>
          <p:cNvPr id="60" name="Text 38"/>
          <p:cNvSpPr txBox="1"/>
          <p:nvPr/>
        </p:nvSpPr>
        <p:spPr>
          <a:xfrm>
            <a:off x="3524098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1200" dirty="0"/>
          </a:p>
        </p:txBody>
      </p:sp>
      <p:sp>
        <p:nvSpPr>
          <p:cNvPr id="61" name="Text 39"/>
          <p:cNvSpPr txBox="1"/>
          <p:nvPr/>
        </p:nvSpPr>
        <p:spPr>
          <a:xfrm>
            <a:off x="4572000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1200" dirty="0"/>
          </a:p>
        </p:txBody>
      </p:sp>
      <p:sp>
        <p:nvSpPr>
          <p:cNvPr id="62" name="Text 40"/>
          <p:cNvSpPr txBox="1"/>
          <p:nvPr/>
        </p:nvSpPr>
        <p:spPr>
          <a:xfrm>
            <a:off x="6286500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1200" dirty="0"/>
          </a:p>
        </p:txBody>
      </p:sp>
      <p:sp>
        <p:nvSpPr>
          <p:cNvPr id="63" name="Text 41"/>
          <p:cNvSpPr txBox="1"/>
          <p:nvPr/>
        </p:nvSpPr>
        <p:spPr>
          <a:xfrm>
            <a:off x="7334402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1200" dirty="0"/>
          </a:p>
        </p:txBody>
      </p:sp>
      <p:sp>
        <p:nvSpPr>
          <p:cNvPr id="64" name="Text 42"/>
          <p:cNvSpPr txBox="1"/>
          <p:nvPr/>
        </p:nvSpPr>
        <p:spPr>
          <a:xfrm>
            <a:off x="8382305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1200" dirty="0"/>
          </a:p>
        </p:txBody>
      </p:sp>
      <p:sp>
        <p:nvSpPr>
          <p:cNvPr id="65" name="Text 43"/>
          <p:cNvSpPr txBox="1"/>
          <p:nvPr/>
        </p:nvSpPr>
        <p:spPr>
          <a:xfrm>
            <a:off x="8115300" y="2933395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1.0</a:t>
            </a:r>
            <a:endParaRPr lang="en-US" sz="900" dirty="0"/>
          </a:p>
        </p:txBody>
      </p:sp>
      <p:sp>
        <p:nvSpPr>
          <p:cNvPr id="66" name="Text 44"/>
          <p:cNvSpPr txBox="1"/>
          <p:nvPr/>
        </p:nvSpPr>
        <p:spPr>
          <a:xfrm>
            <a:off x="1524305" y="2838298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2.5</a:t>
            </a:r>
            <a:endParaRPr lang="en-US" sz="1200" dirty="0"/>
          </a:p>
        </p:txBody>
      </p:sp>
      <p:sp>
        <p:nvSpPr>
          <p:cNvPr id="67" name="Text 45"/>
          <p:cNvSpPr txBox="1"/>
          <p:nvPr/>
        </p:nvSpPr>
        <p:spPr>
          <a:xfrm>
            <a:off x="1524305" y="3448202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1.5</a:t>
            </a:r>
            <a:endParaRPr lang="en-US" sz="1200" dirty="0"/>
          </a:p>
        </p:txBody>
      </p:sp>
      <p:sp>
        <p:nvSpPr>
          <p:cNvPr id="68" name="Text 46"/>
          <p:cNvSpPr txBox="1"/>
          <p:nvPr/>
        </p:nvSpPr>
        <p:spPr>
          <a:xfrm>
            <a:off x="1524305" y="3752698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</a:t>
            </a:r>
            <a:endParaRPr lang="en-US" sz="1200" dirty="0"/>
          </a:p>
        </p:txBody>
      </p:sp>
      <p:sp>
        <p:nvSpPr>
          <p:cNvPr id="69" name="Text 47"/>
          <p:cNvSpPr txBox="1"/>
          <p:nvPr/>
        </p:nvSpPr>
        <p:spPr>
          <a:xfrm>
            <a:off x="1524305" y="40581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70" name="Text 48"/>
          <p:cNvSpPr txBox="1"/>
          <p:nvPr/>
        </p:nvSpPr>
        <p:spPr>
          <a:xfrm>
            <a:off x="2743200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1.80</a:t>
            </a:r>
            <a:endParaRPr lang="en-US" sz="900" dirty="0"/>
          </a:p>
        </p:txBody>
      </p:sp>
      <p:sp>
        <p:nvSpPr>
          <p:cNvPr id="71" name="Text 49"/>
          <p:cNvSpPr txBox="1"/>
          <p:nvPr/>
        </p:nvSpPr>
        <p:spPr>
          <a:xfrm>
            <a:off x="3837737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1.90</a:t>
            </a:r>
            <a:endParaRPr lang="en-US" sz="900" dirty="0"/>
          </a:p>
        </p:txBody>
      </p:sp>
      <p:sp>
        <p:nvSpPr>
          <p:cNvPr id="72" name="Text 50"/>
          <p:cNvSpPr txBox="1"/>
          <p:nvPr/>
        </p:nvSpPr>
        <p:spPr>
          <a:xfrm>
            <a:off x="4933188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2.10</a:t>
            </a:r>
            <a:endParaRPr lang="en-US" sz="900" dirty="0"/>
          </a:p>
        </p:txBody>
      </p:sp>
      <p:sp>
        <p:nvSpPr>
          <p:cNvPr id="73" name="Text 51"/>
          <p:cNvSpPr txBox="1"/>
          <p:nvPr/>
        </p:nvSpPr>
        <p:spPr>
          <a:xfrm>
            <a:off x="6866230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0.90</a:t>
            </a:r>
            <a:endParaRPr lang="en-US" sz="900" dirty="0"/>
          </a:p>
        </p:txBody>
      </p:sp>
      <p:sp>
        <p:nvSpPr>
          <p:cNvPr id="74" name="Text 52"/>
          <p:cNvSpPr txBox="1"/>
          <p:nvPr/>
        </p:nvSpPr>
        <p:spPr>
          <a:xfrm>
            <a:off x="7884871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1.00</a:t>
            </a:r>
            <a:endParaRPr lang="en-US" sz="900" dirty="0"/>
          </a:p>
        </p:txBody>
      </p:sp>
      <p:sp>
        <p:nvSpPr>
          <p:cNvPr id="75" name="Text 53"/>
          <p:cNvSpPr txBox="1"/>
          <p:nvPr/>
        </p:nvSpPr>
        <p:spPr>
          <a:xfrm>
            <a:off x="8903513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0.85</a:t>
            </a:r>
            <a:endParaRPr lang="en-US" sz="900" dirty="0"/>
          </a:p>
        </p:txBody>
      </p:sp>
      <p:sp>
        <p:nvSpPr>
          <p:cNvPr id="76" name="Text 54"/>
          <p:cNvSpPr txBox="1"/>
          <p:nvPr/>
        </p:nvSpPr>
        <p:spPr>
          <a:xfrm>
            <a:off x="9620402" y="2457907"/>
            <a:ext cx="173004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 · 3σ (nm)</a:t>
            </a:r>
            <a:endParaRPr lang="en-US" sz="1050" dirty="0"/>
          </a:p>
        </p:txBody>
      </p:sp>
      <p:sp>
        <p:nvSpPr>
          <p:cNvPr id="77" name="Text 55"/>
          <p:cNvSpPr txBox="1"/>
          <p:nvPr/>
        </p:nvSpPr>
        <p:spPr>
          <a:xfrm>
            <a:off x="15027250" y="2476195"/>
            <a:ext cx="207477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15.6 · scale 0–2.0</a:t>
            </a:r>
            <a:endParaRPr lang="en-US" sz="900" dirty="0"/>
          </a:p>
        </p:txBody>
      </p:sp>
      <p:sp>
        <p:nvSpPr>
          <p:cNvPr id="78" name="Text 56"/>
          <p:cNvSpPr txBox="1"/>
          <p:nvPr/>
        </p:nvSpPr>
        <p:spPr>
          <a:xfrm>
            <a:off x="10477195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1200" dirty="0"/>
          </a:p>
        </p:txBody>
      </p:sp>
      <p:sp>
        <p:nvSpPr>
          <p:cNvPr id="79" name="Text 57"/>
          <p:cNvSpPr txBox="1"/>
          <p:nvPr/>
        </p:nvSpPr>
        <p:spPr>
          <a:xfrm>
            <a:off x="11430000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1200" dirty="0"/>
          </a:p>
        </p:txBody>
      </p:sp>
      <p:sp>
        <p:nvSpPr>
          <p:cNvPr id="80" name="Text 58"/>
          <p:cNvSpPr txBox="1"/>
          <p:nvPr/>
        </p:nvSpPr>
        <p:spPr>
          <a:xfrm>
            <a:off x="12382805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1200" dirty="0"/>
          </a:p>
        </p:txBody>
      </p:sp>
      <p:sp>
        <p:nvSpPr>
          <p:cNvPr id="81" name="Text 59"/>
          <p:cNvSpPr txBox="1"/>
          <p:nvPr/>
        </p:nvSpPr>
        <p:spPr>
          <a:xfrm>
            <a:off x="14002207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1200" dirty="0"/>
          </a:p>
        </p:txBody>
      </p:sp>
      <p:sp>
        <p:nvSpPr>
          <p:cNvPr id="82" name="Text 60"/>
          <p:cNvSpPr txBox="1"/>
          <p:nvPr/>
        </p:nvSpPr>
        <p:spPr>
          <a:xfrm>
            <a:off x="14954098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1200" dirty="0"/>
          </a:p>
        </p:txBody>
      </p:sp>
      <p:sp>
        <p:nvSpPr>
          <p:cNvPr id="83" name="Text 61"/>
          <p:cNvSpPr txBox="1"/>
          <p:nvPr/>
        </p:nvSpPr>
        <p:spPr>
          <a:xfrm>
            <a:off x="15906902" y="4552798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1200" dirty="0"/>
          </a:p>
        </p:txBody>
      </p:sp>
      <p:sp>
        <p:nvSpPr>
          <p:cNvPr id="84" name="Text 62"/>
          <p:cNvSpPr txBox="1"/>
          <p:nvPr/>
        </p:nvSpPr>
        <p:spPr>
          <a:xfrm>
            <a:off x="15240305" y="293339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0.8</a:t>
            </a:r>
            <a:endParaRPr lang="en-US" sz="900" dirty="0"/>
          </a:p>
        </p:txBody>
      </p:sp>
      <p:sp>
        <p:nvSpPr>
          <p:cNvPr id="85" name="Text 63"/>
          <p:cNvSpPr txBox="1"/>
          <p:nvPr/>
        </p:nvSpPr>
        <p:spPr>
          <a:xfrm>
            <a:off x="9620402" y="293339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2.0</a:t>
            </a:r>
            <a:endParaRPr lang="en-US" sz="1200" dirty="0"/>
          </a:p>
        </p:txBody>
      </p:sp>
      <p:sp>
        <p:nvSpPr>
          <p:cNvPr id="86" name="Text 64"/>
          <p:cNvSpPr txBox="1"/>
          <p:nvPr/>
        </p:nvSpPr>
        <p:spPr>
          <a:xfrm>
            <a:off x="9620402" y="3295498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1.5</a:t>
            </a:r>
            <a:endParaRPr lang="en-US" sz="1200" dirty="0"/>
          </a:p>
        </p:txBody>
      </p:sp>
      <p:sp>
        <p:nvSpPr>
          <p:cNvPr id="87" name="Text 65"/>
          <p:cNvSpPr txBox="1"/>
          <p:nvPr/>
        </p:nvSpPr>
        <p:spPr>
          <a:xfrm>
            <a:off x="9620402" y="3676802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</a:t>
            </a:r>
            <a:endParaRPr lang="en-US" sz="1200" dirty="0"/>
          </a:p>
        </p:txBody>
      </p:sp>
      <p:sp>
        <p:nvSpPr>
          <p:cNvPr id="88" name="Text 66"/>
          <p:cNvSpPr txBox="1"/>
          <p:nvPr/>
        </p:nvSpPr>
        <p:spPr>
          <a:xfrm>
            <a:off x="9620402" y="4058107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89" name="Text 67"/>
          <p:cNvSpPr txBox="1"/>
          <p:nvPr/>
        </p:nvSpPr>
        <p:spPr>
          <a:xfrm>
            <a:off x="10744200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1.50</a:t>
            </a:r>
            <a:endParaRPr lang="en-US" sz="900" dirty="0"/>
          </a:p>
        </p:txBody>
      </p:sp>
      <p:sp>
        <p:nvSpPr>
          <p:cNvPr id="90" name="Text 68"/>
          <p:cNvSpPr txBox="1"/>
          <p:nvPr/>
        </p:nvSpPr>
        <p:spPr>
          <a:xfrm>
            <a:off x="11717122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1.60</a:t>
            </a:r>
            <a:endParaRPr lang="en-US" sz="900" dirty="0"/>
          </a:p>
        </p:txBody>
      </p:sp>
      <p:sp>
        <p:nvSpPr>
          <p:cNvPr id="91" name="Text 69"/>
          <p:cNvSpPr txBox="1"/>
          <p:nvPr/>
        </p:nvSpPr>
        <p:spPr>
          <a:xfrm>
            <a:off x="12690043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1.70</a:t>
            </a:r>
            <a:endParaRPr lang="en-US" sz="900" dirty="0"/>
          </a:p>
        </p:txBody>
      </p:sp>
      <p:sp>
        <p:nvSpPr>
          <p:cNvPr id="92" name="Text 70"/>
          <p:cNvSpPr txBox="1"/>
          <p:nvPr/>
        </p:nvSpPr>
        <p:spPr>
          <a:xfrm>
            <a:off x="14578279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0.70</a:t>
            </a:r>
            <a:endParaRPr lang="en-US" sz="900" dirty="0"/>
          </a:p>
        </p:txBody>
      </p:sp>
      <p:sp>
        <p:nvSpPr>
          <p:cNvPr id="93" name="Text 71"/>
          <p:cNvSpPr txBox="1"/>
          <p:nvPr/>
        </p:nvSpPr>
        <p:spPr>
          <a:xfrm>
            <a:off x="15551201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0.65</a:t>
            </a:r>
            <a:endParaRPr lang="en-US" sz="900" dirty="0"/>
          </a:p>
        </p:txBody>
      </p:sp>
      <p:sp>
        <p:nvSpPr>
          <p:cNvPr id="94" name="Text 72"/>
          <p:cNvSpPr txBox="1"/>
          <p:nvPr/>
        </p:nvSpPr>
        <p:spPr>
          <a:xfrm>
            <a:off x="16524122" y="4743907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0.60</a:t>
            </a:r>
            <a:endParaRPr lang="en-US" sz="900" dirty="0"/>
          </a:p>
        </p:txBody>
      </p:sp>
      <p:sp>
        <p:nvSpPr>
          <p:cNvPr id="95" name="Text 73"/>
          <p:cNvSpPr txBox="1"/>
          <p:nvPr/>
        </p:nvSpPr>
        <p:spPr>
          <a:xfrm>
            <a:off x="1524305" y="5715000"/>
            <a:ext cx="1613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· 3σ (nm)</a:t>
            </a:r>
            <a:endParaRPr lang="en-US" sz="1050" dirty="0"/>
          </a:p>
        </p:txBody>
      </p:sp>
      <p:sp>
        <p:nvSpPr>
          <p:cNvPr id="96" name="Text 74"/>
          <p:cNvSpPr txBox="1"/>
          <p:nvPr/>
        </p:nvSpPr>
        <p:spPr>
          <a:xfrm>
            <a:off x="7113118" y="5734202"/>
            <a:ext cx="19723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8.3 · scale 0–1.6</a:t>
            </a:r>
            <a:endParaRPr lang="en-US" sz="900" dirty="0"/>
          </a:p>
        </p:txBody>
      </p:sp>
      <p:sp>
        <p:nvSpPr>
          <p:cNvPr id="97" name="Text 75"/>
          <p:cNvSpPr txBox="1"/>
          <p:nvPr/>
        </p:nvSpPr>
        <p:spPr>
          <a:xfrm>
            <a:off x="2476195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1200" dirty="0"/>
          </a:p>
        </p:txBody>
      </p:sp>
      <p:sp>
        <p:nvSpPr>
          <p:cNvPr id="98" name="Text 76"/>
          <p:cNvSpPr txBox="1"/>
          <p:nvPr/>
        </p:nvSpPr>
        <p:spPr>
          <a:xfrm>
            <a:off x="3524098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1200" dirty="0"/>
          </a:p>
        </p:txBody>
      </p:sp>
      <p:sp>
        <p:nvSpPr>
          <p:cNvPr id="99" name="Text 77"/>
          <p:cNvSpPr txBox="1"/>
          <p:nvPr/>
        </p:nvSpPr>
        <p:spPr>
          <a:xfrm>
            <a:off x="4572000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1200" dirty="0"/>
          </a:p>
        </p:txBody>
      </p:sp>
      <p:sp>
        <p:nvSpPr>
          <p:cNvPr id="100" name="Text 78"/>
          <p:cNvSpPr txBox="1"/>
          <p:nvPr/>
        </p:nvSpPr>
        <p:spPr>
          <a:xfrm>
            <a:off x="6286500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1200" dirty="0"/>
          </a:p>
        </p:txBody>
      </p:sp>
      <p:sp>
        <p:nvSpPr>
          <p:cNvPr id="101" name="Text 79"/>
          <p:cNvSpPr txBox="1"/>
          <p:nvPr/>
        </p:nvSpPr>
        <p:spPr>
          <a:xfrm>
            <a:off x="7334402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1200" dirty="0"/>
          </a:p>
        </p:txBody>
      </p:sp>
      <p:sp>
        <p:nvSpPr>
          <p:cNvPr id="102" name="Text 80"/>
          <p:cNvSpPr txBox="1"/>
          <p:nvPr/>
        </p:nvSpPr>
        <p:spPr>
          <a:xfrm>
            <a:off x="8382305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1200" dirty="0"/>
          </a:p>
        </p:txBody>
      </p:sp>
      <p:sp>
        <p:nvSpPr>
          <p:cNvPr id="103" name="Text 81"/>
          <p:cNvSpPr txBox="1"/>
          <p:nvPr/>
        </p:nvSpPr>
        <p:spPr>
          <a:xfrm>
            <a:off x="8115300" y="6133795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0.7</a:t>
            </a:r>
            <a:endParaRPr lang="en-US" sz="900" dirty="0"/>
          </a:p>
        </p:txBody>
      </p:sp>
      <p:sp>
        <p:nvSpPr>
          <p:cNvPr id="104" name="Text 82"/>
          <p:cNvSpPr txBox="1"/>
          <p:nvPr/>
        </p:nvSpPr>
        <p:spPr>
          <a:xfrm>
            <a:off x="1524305" y="6200546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1.6</a:t>
            </a:r>
            <a:endParaRPr lang="en-US" sz="1200" dirty="0"/>
          </a:p>
        </p:txBody>
      </p:sp>
      <p:sp>
        <p:nvSpPr>
          <p:cNvPr id="105" name="Text 83"/>
          <p:cNvSpPr txBox="1"/>
          <p:nvPr/>
        </p:nvSpPr>
        <p:spPr>
          <a:xfrm>
            <a:off x="1524305" y="6724498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</a:t>
            </a:r>
            <a:endParaRPr lang="en-US" sz="1200" dirty="0"/>
          </a:p>
        </p:txBody>
      </p:sp>
      <p:sp>
        <p:nvSpPr>
          <p:cNvPr id="106" name="Text 84"/>
          <p:cNvSpPr txBox="1"/>
          <p:nvPr/>
        </p:nvSpPr>
        <p:spPr>
          <a:xfrm>
            <a:off x="1524305" y="7248449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07" name="Text 85"/>
          <p:cNvSpPr txBox="1"/>
          <p:nvPr/>
        </p:nvSpPr>
        <p:spPr>
          <a:xfrm>
            <a:off x="2743200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1.20</a:t>
            </a:r>
            <a:endParaRPr lang="en-US" sz="900" dirty="0"/>
          </a:p>
        </p:txBody>
      </p:sp>
      <p:sp>
        <p:nvSpPr>
          <p:cNvPr id="108" name="Text 86"/>
          <p:cNvSpPr txBox="1"/>
          <p:nvPr/>
        </p:nvSpPr>
        <p:spPr>
          <a:xfrm>
            <a:off x="3792017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1.30</a:t>
            </a:r>
            <a:endParaRPr lang="en-US" sz="900" dirty="0"/>
          </a:p>
        </p:txBody>
      </p:sp>
      <p:sp>
        <p:nvSpPr>
          <p:cNvPr id="109" name="Text 87"/>
          <p:cNvSpPr txBox="1"/>
          <p:nvPr/>
        </p:nvSpPr>
        <p:spPr>
          <a:xfrm>
            <a:off x="4841748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1.40</a:t>
            </a:r>
            <a:endParaRPr lang="en-US" sz="900" dirty="0"/>
          </a:p>
        </p:txBody>
      </p:sp>
      <p:sp>
        <p:nvSpPr>
          <p:cNvPr id="110" name="Text 88"/>
          <p:cNvSpPr txBox="1"/>
          <p:nvPr/>
        </p:nvSpPr>
        <p:spPr>
          <a:xfrm>
            <a:off x="6805879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0.50</a:t>
            </a:r>
            <a:endParaRPr lang="en-US" sz="900" dirty="0"/>
          </a:p>
        </p:txBody>
      </p:sp>
      <p:sp>
        <p:nvSpPr>
          <p:cNvPr id="111" name="Text 89"/>
          <p:cNvSpPr txBox="1"/>
          <p:nvPr/>
        </p:nvSpPr>
        <p:spPr>
          <a:xfrm>
            <a:off x="7854696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0.45</a:t>
            </a:r>
            <a:endParaRPr lang="en-US" sz="900" dirty="0"/>
          </a:p>
        </p:txBody>
      </p:sp>
      <p:sp>
        <p:nvSpPr>
          <p:cNvPr id="112" name="Text 90"/>
          <p:cNvSpPr txBox="1"/>
          <p:nvPr/>
        </p:nvSpPr>
        <p:spPr>
          <a:xfrm>
            <a:off x="8903513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0.50</a:t>
            </a:r>
            <a:endParaRPr lang="en-US" sz="900" dirty="0"/>
          </a:p>
        </p:txBody>
      </p:sp>
      <p:sp>
        <p:nvSpPr>
          <p:cNvPr id="113" name="Text 91"/>
          <p:cNvSpPr txBox="1"/>
          <p:nvPr/>
        </p:nvSpPr>
        <p:spPr>
          <a:xfrm>
            <a:off x="9620402" y="5715000"/>
            <a:ext cx="160843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 · 3σ (nm)</a:t>
            </a:r>
            <a:endParaRPr lang="en-US" sz="1050" dirty="0"/>
          </a:p>
        </p:txBody>
      </p:sp>
      <p:sp>
        <p:nvSpPr>
          <p:cNvPr id="114" name="Text 92"/>
          <p:cNvSpPr txBox="1"/>
          <p:nvPr/>
        </p:nvSpPr>
        <p:spPr>
          <a:xfrm>
            <a:off x="15114118" y="5734202"/>
            <a:ext cx="19723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9.3 · scale 0–1.4</a:t>
            </a:r>
            <a:endParaRPr lang="en-US" sz="900" dirty="0"/>
          </a:p>
        </p:txBody>
      </p:sp>
      <p:sp>
        <p:nvSpPr>
          <p:cNvPr id="115" name="Text 93"/>
          <p:cNvSpPr txBox="1"/>
          <p:nvPr/>
        </p:nvSpPr>
        <p:spPr>
          <a:xfrm>
            <a:off x="10477195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1200" dirty="0"/>
          </a:p>
        </p:txBody>
      </p:sp>
      <p:sp>
        <p:nvSpPr>
          <p:cNvPr id="116" name="Text 94"/>
          <p:cNvSpPr txBox="1"/>
          <p:nvPr/>
        </p:nvSpPr>
        <p:spPr>
          <a:xfrm>
            <a:off x="11430000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1200" dirty="0"/>
          </a:p>
        </p:txBody>
      </p:sp>
      <p:sp>
        <p:nvSpPr>
          <p:cNvPr id="117" name="Text 95"/>
          <p:cNvSpPr txBox="1"/>
          <p:nvPr/>
        </p:nvSpPr>
        <p:spPr>
          <a:xfrm>
            <a:off x="12382805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1200" dirty="0"/>
          </a:p>
        </p:txBody>
      </p:sp>
      <p:sp>
        <p:nvSpPr>
          <p:cNvPr id="118" name="Text 96"/>
          <p:cNvSpPr txBox="1"/>
          <p:nvPr/>
        </p:nvSpPr>
        <p:spPr>
          <a:xfrm>
            <a:off x="14002207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1200" dirty="0"/>
          </a:p>
        </p:txBody>
      </p:sp>
      <p:sp>
        <p:nvSpPr>
          <p:cNvPr id="119" name="Text 97"/>
          <p:cNvSpPr txBox="1"/>
          <p:nvPr/>
        </p:nvSpPr>
        <p:spPr>
          <a:xfrm>
            <a:off x="14954098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1200" dirty="0"/>
          </a:p>
        </p:txBody>
      </p:sp>
      <p:sp>
        <p:nvSpPr>
          <p:cNvPr id="120" name="Text 98"/>
          <p:cNvSpPr txBox="1"/>
          <p:nvPr/>
        </p:nvSpPr>
        <p:spPr>
          <a:xfrm>
            <a:off x="15906902" y="7905902"/>
            <a:ext cx="667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1200" dirty="0"/>
          </a:p>
        </p:txBody>
      </p:sp>
      <p:sp>
        <p:nvSpPr>
          <p:cNvPr id="121" name="Text 99"/>
          <p:cNvSpPr txBox="1"/>
          <p:nvPr/>
        </p:nvSpPr>
        <p:spPr>
          <a:xfrm>
            <a:off x="15335402" y="613379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0.6</a:t>
            </a:r>
            <a:endParaRPr lang="en-US" sz="900" dirty="0"/>
          </a:p>
        </p:txBody>
      </p:sp>
      <p:sp>
        <p:nvSpPr>
          <p:cNvPr id="122" name="Text 100"/>
          <p:cNvSpPr txBox="1"/>
          <p:nvPr/>
        </p:nvSpPr>
        <p:spPr>
          <a:xfrm>
            <a:off x="9620402" y="6077102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1.4</a:t>
            </a:r>
            <a:endParaRPr lang="en-US" sz="1200" dirty="0"/>
          </a:p>
        </p:txBody>
      </p:sp>
      <p:sp>
        <p:nvSpPr>
          <p:cNvPr id="123" name="Text 101"/>
          <p:cNvSpPr txBox="1"/>
          <p:nvPr/>
        </p:nvSpPr>
        <p:spPr>
          <a:xfrm>
            <a:off x="9620402" y="6676949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0.8</a:t>
            </a:r>
            <a:endParaRPr lang="en-US" sz="1200" dirty="0"/>
          </a:p>
        </p:txBody>
      </p:sp>
      <p:sp>
        <p:nvSpPr>
          <p:cNvPr id="124" name="Text 102"/>
          <p:cNvSpPr txBox="1"/>
          <p:nvPr/>
        </p:nvSpPr>
        <p:spPr>
          <a:xfrm>
            <a:off x="9620402" y="7248449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</a:t>
            </a:r>
            <a:endParaRPr lang="en-US" sz="1200" dirty="0"/>
          </a:p>
        </p:txBody>
      </p:sp>
      <p:sp>
        <p:nvSpPr>
          <p:cNvPr id="125" name="Text 103"/>
          <p:cNvSpPr txBox="1"/>
          <p:nvPr/>
        </p:nvSpPr>
        <p:spPr>
          <a:xfrm>
            <a:off x="10744200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1.00</a:t>
            </a:r>
            <a:endParaRPr lang="en-US" sz="900" dirty="0"/>
          </a:p>
        </p:txBody>
      </p:sp>
      <p:sp>
        <p:nvSpPr>
          <p:cNvPr id="126" name="Text 104"/>
          <p:cNvSpPr txBox="1"/>
          <p:nvPr/>
        </p:nvSpPr>
        <p:spPr>
          <a:xfrm>
            <a:off x="11717122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1.10</a:t>
            </a:r>
            <a:endParaRPr lang="en-US" sz="900" dirty="0"/>
          </a:p>
        </p:txBody>
      </p:sp>
      <p:sp>
        <p:nvSpPr>
          <p:cNvPr id="127" name="Text 105"/>
          <p:cNvSpPr txBox="1"/>
          <p:nvPr/>
        </p:nvSpPr>
        <p:spPr>
          <a:xfrm>
            <a:off x="12690043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1.15</a:t>
            </a:r>
            <a:endParaRPr lang="en-US" sz="900" dirty="0"/>
          </a:p>
        </p:txBody>
      </p:sp>
      <p:sp>
        <p:nvSpPr>
          <p:cNvPr id="128" name="Text 106"/>
          <p:cNvSpPr txBox="1"/>
          <p:nvPr/>
        </p:nvSpPr>
        <p:spPr>
          <a:xfrm>
            <a:off x="14578279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0.40</a:t>
            </a:r>
            <a:endParaRPr lang="en-US" sz="900" dirty="0"/>
          </a:p>
        </p:txBody>
      </p:sp>
      <p:sp>
        <p:nvSpPr>
          <p:cNvPr id="129" name="Text 107"/>
          <p:cNvSpPr txBox="1"/>
          <p:nvPr/>
        </p:nvSpPr>
        <p:spPr>
          <a:xfrm>
            <a:off x="15551201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0.45</a:t>
            </a:r>
            <a:endParaRPr lang="en-US" sz="900" dirty="0"/>
          </a:p>
        </p:txBody>
      </p:sp>
      <p:sp>
        <p:nvSpPr>
          <p:cNvPr id="130" name="Text 108"/>
          <p:cNvSpPr txBox="1"/>
          <p:nvPr/>
        </p:nvSpPr>
        <p:spPr>
          <a:xfrm>
            <a:off x="16524122" y="8096098"/>
            <a:ext cx="3209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0.42</a:t>
            </a:r>
            <a:endParaRPr lang="en-US" sz="900" dirty="0"/>
          </a:p>
        </p:txBody>
      </p:sp>
      <p:sp>
        <p:nvSpPr>
          <p:cNvPr id="131" name="Text 109"/>
          <p:cNvSpPr txBox="1"/>
          <p:nvPr/>
        </p:nvSpPr>
        <p:spPr>
          <a:xfrm>
            <a:off x="1238098" y="8762695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32" name="Text 110"/>
          <p:cNvSpPr txBox="1"/>
          <p:nvPr/>
        </p:nvSpPr>
        <p:spPr>
          <a:xfrm>
            <a:off x="2704795" y="8667598"/>
            <a:ext cx="12287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Across 4 metric, RIE 평균 3σ 1.5nm → QALE 0.6nm 사이로 절반 이하로 떨어지며, AMI 3σ 가 가장 큰 폭 (−0.85nm) 으로 개선됐다.</a:t>
            </a:r>
            <a:endParaRPr lang="en-US" sz="1650" dirty="0"/>
          </a:p>
        </p:txBody>
      </p:sp>
      <p:sp>
        <p:nvSpPr>
          <p:cNvPr id="133" name="Text 111"/>
          <p:cNvSpPr txBox="1"/>
          <p:nvPr/>
        </p:nvSpPr>
        <p:spPr>
          <a:xfrm>
            <a:off x="1238098" y="98105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247595"/>
            <a:ext cx="15831007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39805" y="8001000"/>
            <a:ext cx="5524805" cy="571500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90e17b422cffad3f830a155fccb9943.png">    </p:cNvPr>
          <p:cNvPicPr>
            <a:picLocks noChangeAspect="1"/>
          </p:cNvPicPr>
          <p:nvPr/>
        </p:nvPicPr>
        <p:blipFill>
          <a:blip r:embed="rId1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08 / ELECTRICAL CHARACTERISTICS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238098" y="1028700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 특성 4 종 — wafer 별 numeric table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238098" y="1584655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M1 Rs, via Rc, line-to-line leakage, TDDB Vbd · 다섯 wafer 모두 동일 probe-card 로 측정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2495398"/>
          <a:ext cx="15430500" cy="3143707"/>
        </p:xfrm>
        <a:graphic>
          <a:graphicData uri="http://schemas.openxmlformats.org/drawingml/2006/table">
            <a:tbl>
              <a:tblPr/>
              <a:tblGrid>
                <a:gridCol w="2933221"/>
                <a:gridCol w="1886295"/>
                <a:gridCol w="1347746"/>
                <a:gridCol w="1347746"/>
                <a:gridCol w="1347746"/>
                <a:gridCol w="1523300"/>
                <a:gridCol w="1523300"/>
                <a:gridCol w="1523300"/>
                <a:gridCol w="1997846"/>
              </a:tblGrid>
              <a:tr h="628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METRIC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Target / Window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W1 · RIE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W2 · RIE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W3 · RIE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W4 · QALE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W5 · QALE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W6 · QALE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E6A63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Δ QALE vs RIE</a:t>
                      </a:r>
                      <a:endParaRPr lang="en-US" sz="10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Rs · sheet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≤ 245 Ω/sq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245.0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252.0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248.0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235.0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5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232.0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5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234.0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5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−13.0 (~5%)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Rc · via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≤ 12.0 Ω / via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12.40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12.90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12.60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11.10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10.80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11.00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−1.50 Ω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Leakage · L-L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≤ 0.25 nA/μm @ 1V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0.42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0.51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0.46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0.18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0.16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0.17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−62%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Vbd · TDDB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≥ 7.0 V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5.80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5.50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5.70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1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7.40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7.60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A1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7.50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DC6B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+1.83 V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1524305" y="8043977"/>
            <a:ext cx="171907" cy="171907"/>
          </a:xfrm>
          <a:prstGeom prst="rect">
            <a:avLst/>
          </a:prstGeom>
          <a:solidFill>
            <a:srgbClr val="3E7E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828800" y="8039405"/>
            <a:ext cx="166055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within window</a:t>
            </a:r>
            <a:endParaRPr lang="en-US" sz="975" dirty="0"/>
          </a:p>
        </p:txBody>
      </p:sp>
      <p:sp>
        <p:nvSpPr>
          <p:cNvPr id="12" name="Shape 7"/>
          <p:cNvSpPr/>
          <p:nvPr/>
        </p:nvSpPr>
        <p:spPr>
          <a:xfrm>
            <a:off x="3350362" y="8043977"/>
            <a:ext cx="171907" cy="171907"/>
          </a:xfrm>
          <a:prstGeom prst="rect">
            <a:avLst/>
          </a:prstGeom>
          <a:solidFill>
            <a:srgbClr val="B23A1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655771" y="8039405"/>
            <a:ext cx="91622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out-of-spec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11449202" y="8048549"/>
            <a:ext cx="41532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PASS RATE</a:t>
            </a:r>
            <a:endParaRPr lang="en-US" sz="825" dirty="0"/>
          </a:p>
        </p:txBody>
      </p:sp>
      <p:sp>
        <p:nvSpPr>
          <p:cNvPr id="15" name="Text 10"/>
          <p:cNvSpPr txBox="1"/>
          <p:nvPr/>
        </p:nvSpPr>
        <p:spPr>
          <a:xfrm>
            <a:off x="11449202" y="8268005"/>
            <a:ext cx="48390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0/3 wafer meet all 4 · QALE 3/3 wafer meet all 4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238098" y="8858707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2704795" y="8762695"/>
            <a:ext cx="143451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3 매는 4 종 spec 모두 충족, RIE 3 매는 Rc · leakage · Vbd 에서 out-of-spec — Rs 만 Δ −13Ω/sq 의 작은 폭이지만 누설 −62%, Vbd +1.83V 로 도메인 전체가 spec 안으로 들어온다.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38098" y="99248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190902"/>
            <a:ext cx="9924898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2190902"/>
            <a:ext cx="5639105" cy="18095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0" y="4134002"/>
            <a:ext cx="5619902" cy="1790395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0" y="6096305"/>
            <a:ext cx="5639105" cy="18095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pic>
        <p:nvPicPr>
          <p:cNvPr id="7" name="Image 0" descr="gen-dedup-6e149b0d284eca8aa37b0064009f964f.png">    </p:cNvPr>
          <p:cNvPicPr>
            <a:picLocks noChangeAspect="1"/>
          </p:cNvPicPr>
          <p:nvPr/>
        </p:nvPicPr>
        <p:blipFill>
          <a:blip r:embed="rId1"/>
          <a:srcRect l="0" r="0" t="-2083" b="-2083"/>
          <a:stretch/>
        </p:blipFill>
        <p:spPr>
          <a:xfrm>
            <a:off x="2286000" y="3047695"/>
            <a:ext cx="9144" cy="4000500"/>
          </a:xfrm>
          <a:prstGeom prst="rect">
            <a:avLst/>
          </a:prstGeom>
        </p:spPr>
      </p:pic>
      <p:pic>
        <p:nvPicPr>
          <p:cNvPr id="8" name="Image 1" descr="gen-dedup-8b76354fc21a8c9a79ebe3c925383d9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2286000" y="6286500"/>
            <a:ext cx="8572500" cy="9144"/>
          </a:xfrm>
          <a:prstGeom prst="rect">
            <a:avLst/>
          </a:prstGeom>
        </p:spPr>
      </p:pic>
      <p:pic>
        <p:nvPicPr>
          <p:cNvPr id="9" name="Image 2" descr="gen-dedup-8b76354fc21a8c9a79ebe3c925383d99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2286000" y="5524805"/>
            <a:ext cx="8572500" cy="9144"/>
          </a:xfrm>
          <a:prstGeom prst="rect">
            <a:avLst/>
          </a:prstGeom>
        </p:spPr>
      </p:pic>
      <p:pic>
        <p:nvPicPr>
          <p:cNvPr id="10" name="Image 3" descr="gen-dedup-8b76354fc21a8c9a79ebe3c925383d9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2286000" y="4762195"/>
            <a:ext cx="8572500" cy="9144"/>
          </a:xfrm>
          <a:prstGeom prst="rect">
            <a:avLst/>
          </a:prstGeom>
        </p:spPr>
      </p:pic>
      <p:pic>
        <p:nvPicPr>
          <p:cNvPr id="11" name="Image 4" descr="gen-dedup-8b76354fc21a8c9a79ebe3c925383d99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2286000" y="4000500"/>
            <a:ext cx="8572500" cy="9144"/>
          </a:xfrm>
          <a:prstGeom prst="rect">
            <a:avLst/>
          </a:prstGeom>
        </p:spPr>
      </p:pic>
      <p:pic>
        <p:nvPicPr>
          <p:cNvPr id="12" name="Image 5" descr="gen-dedup-11bc64d5b333d9047ff6bb668fce9f95.png">    </p:cNvPr>
          <p:cNvPicPr>
            <a:picLocks noChangeAspect="1"/>
          </p:cNvPicPr>
          <p:nvPr/>
        </p:nvPicPr>
        <p:blipFill>
          <a:blip r:embed="rId6"/>
          <a:srcRect l="-409" r="-409" t="0" b="0"/>
          <a:stretch/>
        </p:blipFill>
        <p:spPr>
          <a:xfrm>
            <a:off x="11430000" y="2190902"/>
            <a:ext cx="57607" cy="1790395"/>
          </a:xfrm>
          <a:prstGeom prst="rect">
            <a:avLst/>
          </a:prstGeom>
        </p:spPr>
      </p:pic>
      <p:pic>
        <p:nvPicPr>
          <p:cNvPr id="13" name="Image 6" descr="gen-dedup-7ff468f42af0b3936e659920cd189574.png">    </p:cNvPr>
          <p:cNvPicPr>
            <a:picLocks noChangeAspect="1"/>
          </p:cNvPicPr>
          <p:nvPr/>
        </p:nvPicPr>
        <p:blipFill>
          <a:blip r:embed="rId7"/>
          <a:srcRect l="-409" r="-409" t="0" b="0"/>
          <a:stretch/>
        </p:blipFill>
        <p:spPr>
          <a:xfrm>
            <a:off x="11430000" y="4134002"/>
            <a:ext cx="57607" cy="1790395"/>
          </a:xfrm>
          <a:prstGeom prst="rect">
            <a:avLst/>
          </a:prstGeom>
        </p:spPr>
      </p:pic>
      <p:pic>
        <p:nvPicPr>
          <p:cNvPr id="14" name="Image 7" descr="gen-dedup-c1cd7455d2370630593ae50968be478d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6476695" y="3390595"/>
            <a:ext cx="9144" cy="3657600"/>
          </a:xfrm>
          <a:prstGeom prst="rect">
            <a:avLst/>
          </a:prstGeom>
        </p:spPr>
      </p:pic>
      <p:sp>
        <p:nvSpPr>
          <p:cNvPr id="15" name="Shape 4"/>
          <p:cNvSpPr/>
          <p:nvPr/>
        </p:nvSpPr>
        <p:spPr>
          <a:xfrm>
            <a:off x="2743200" y="3390595"/>
            <a:ext cx="800100" cy="3657600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5"/>
          <p:cNvSpPr/>
          <p:nvPr/>
        </p:nvSpPr>
        <p:spPr>
          <a:xfrm>
            <a:off x="4095598" y="3086100"/>
            <a:ext cx="800100" cy="3962095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6"/>
          <p:cNvSpPr/>
          <p:nvPr/>
        </p:nvSpPr>
        <p:spPr>
          <a:xfrm>
            <a:off x="5447995" y="3238805"/>
            <a:ext cx="800100" cy="3810305"/>
          </a:xfrm>
          <a:prstGeom prst="rect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7"/>
          <p:cNvSpPr/>
          <p:nvPr/>
        </p:nvSpPr>
        <p:spPr>
          <a:xfrm>
            <a:off x="7029907" y="5372100"/>
            <a:ext cx="800100" cy="1676095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8382305" y="5524805"/>
            <a:ext cx="800100" cy="1524305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9"/>
          <p:cNvSpPr/>
          <p:nvPr/>
        </p:nvSpPr>
        <p:spPr>
          <a:xfrm>
            <a:off x="9734702" y="5600700"/>
            <a:ext cx="800100" cy="1447495"/>
          </a:xfrm>
          <a:prstGeom prst="rect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2286000" y="4457700"/>
            <a:ext cx="8572500" cy="28346"/>
          </a:xfrm>
          <a:prstGeom prst="rect">
            <a:avLst/>
          </a:prstGeom>
          <a:solidFill>
            <a:srgbClr val="A34611"/>
          </a:solidFill>
          <a:ln w="12700">
            <a:solidFill>
              <a:srgbClr val="A34611">
                <a:alpha val="0"/>
              </a:srgbClr>
            </a:solidFill>
            <a:prstDash val="solid"/>
          </a:ln>
        </p:spPr>
      </p:sp>
      <p:pic>
        <p:nvPicPr>
          <p:cNvPr id="22" name="Image 8" descr="gen-dedup-390e17b422cffad3f830a155fccb9943.png">    </p:cNvPr>
          <p:cNvPicPr>
            <a:picLocks noChangeAspect="1"/>
          </p:cNvPicPr>
          <p:nvPr/>
        </p:nvPicPr>
        <p:blipFill>
          <a:blip r:embed="rId9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 / PITCH WALK QUANTIFICATION</a:t>
            </a:r>
            <a:endParaRPr lang="en-US" sz="1050" dirty="0"/>
          </a:p>
        </p:txBody>
      </p:sp>
      <p:sp>
        <p:nvSpPr>
          <p:cNvPr id="24" name="Text 12"/>
          <p:cNvSpPr txBox="1"/>
          <p:nvPr/>
        </p:nvSpPr>
        <p:spPr>
          <a:xfrm>
            <a:off x="1238098" y="1028700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Pitch walk ΔPW 가 QALE 에서 절반 이하로 줄어든다</a:t>
            </a:r>
            <a:endParaRPr lang="en-US" sz="3300" dirty="0"/>
          </a:p>
        </p:txBody>
      </p:sp>
      <p:sp>
        <p:nvSpPr>
          <p:cNvPr id="25" name="Text 13"/>
          <p:cNvSpPr txBox="1"/>
          <p:nvPr/>
        </p:nvSpPr>
        <p:spPr>
          <a:xfrm>
            <a:off x="1238098" y="1584655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a-b-a-b 간격 변동 폭을 wafer 별로 측정한 결과 — 1.7 nm 가 EPE 문턱</a:t>
            </a:r>
            <a:endParaRPr lang="en-US" sz="1500" dirty="0"/>
          </a:p>
        </p:txBody>
      </p:sp>
      <p:sp>
        <p:nvSpPr>
          <p:cNvPr id="26" name="Text 14"/>
          <p:cNvSpPr txBox="1"/>
          <p:nvPr/>
        </p:nvSpPr>
        <p:spPr>
          <a:xfrm>
            <a:off x="1524305" y="2419502"/>
            <a:ext cx="161757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ΔPW per wafer</a:t>
            </a:r>
            <a:endParaRPr lang="en-US" sz="1050" dirty="0"/>
          </a:p>
        </p:txBody>
      </p:sp>
      <p:sp>
        <p:nvSpPr>
          <p:cNvPr id="27" name="Text 15"/>
          <p:cNvSpPr txBox="1"/>
          <p:nvPr/>
        </p:nvSpPr>
        <p:spPr>
          <a:xfrm>
            <a:off x="2979115" y="2433218"/>
            <a:ext cx="178033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nm · lower is better</a:t>
            </a:r>
            <a:endParaRPr lang="en-US" sz="900" dirty="0"/>
          </a:p>
        </p:txBody>
      </p:sp>
      <p:sp>
        <p:nvSpPr>
          <p:cNvPr id="28" name="Text 16"/>
          <p:cNvSpPr txBox="1"/>
          <p:nvPr/>
        </p:nvSpPr>
        <p:spPr>
          <a:xfrm>
            <a:off x="9086393" y="2419502"/>
            <a:ext cx="18672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59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EPE threshold 1.7 nm</a:t>
            </a:r>
            <a:endParaRPr lang="en-US" sz="975" dirty="0"/>
          </a:p>
        </p:txBody>
      </p:sp>
      <p:sp>
        <p:nvSpPr>
          <p:cNvPr id="29" name="Text 17"/>
          <p:cNvSpPr txBox="1"/>
          <p:nvPr/>
        </p:nvSpPr>
        <p:spPr>
          <a:xfrm>
            <a:off x="1524305" y="3010205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3.0</a:t>
            </a:r>
            <a:endParaRPr lang="en-US" sz="1200" dirty="0"/>
          </a:p>
        </p:txBody>
      </p:sp>
      <p:sp>
        <p:nvSpPr>
          <p:cNvPr id="30" name="Text 18"/>
          <p:cNvSpPr txBox="1"/>
          <p:nvPr/>
        </p:nvSpPr>
        <p:spPr>
          <a:xfrm>
            <a:off x="1524305" y="3952951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2.5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1524305" y="4714646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2.0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1524305" y="5477256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1.5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1524305" y="6238951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2572207" y="3124505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2.40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2572207" y="7220102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2572207" y="7429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OVER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3924605" y="2819095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2.60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3924605" y="7220102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3924605" y="7429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OVER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5277002" y="29718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2.50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5277002" y="7220102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5277002" y="7429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OVER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6858000" y="5143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1.10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858000" y="7220102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6858000" y="7429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PASS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8210398" y="5296205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1.00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8669426" y="7229246"/>
            <a:ext cx="2286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1125" dirty="0"/>
          </a:p>
        </p:txBody>
      </p:sp>
      <p:sp>
        <p:nvSpPr>
          <p:cNvPr id="48" name="Text 36"/>
          <p:cNvSpPr txBox="1"/>
          <p:nvPr/>
        </p:nvSpPr>
        <p:spPr>
          <a:xfrm>
            <a:off x="8210398" y="7429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PASS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9562795" y="53721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0.95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9562795" y="7220102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9562795" y="7429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PASS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11697005" y="2419502"/>
            <a:ext cx="50868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GROUP · W1–W3 AVG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1697005" y="2686507"/>
            <a:ext cx="50868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2.50 nm</a:t>
            </a:r>
            <a:endParaRPr lang="en-US" sz="3450" dirty="0"/>
          </a:p>
        </p:txBody>
      </p:sp>
      <p:sp>
        <p:nvSpPr>
          <p:cNvPr id="54" name="Text 42"/>
          <p:cNvSpPr txBox="1"/>
          <p:nvPr/>
        </p:nvSpPr>
        <p:spPr>
          <a:xfrm>
            <a:off x="11697005" y="3200400"/>
            <a:ext cx="5086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 매 모두 EPE 1.7 nm threshold 초과 — pitch walk 가 metal stack 으로 carry-forward</a:t>
            </a:r>
            <a:endParaRPr lang="en-US" sz="1125" dirty="0"/>
          </a:p>
        </p:txBody>
      </p:sp>
      <p:sp>
        <p:nvSpPr>
          <p:cNvPr id="55" name="Text 43"/>
          <p:cNvSpPr txBox="1"/>
          <p:nvPr/>
        </p:nvSpPr>
        <p:spPr>
          <a:xfrm>
            <a:off x="11697005" y="4362602"/>
            <a:ext cx="50868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GROUP · W4–W6 AVG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11697005" y="4629607"/>
            <a:ext cx="50868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1.02 nm</a:t>
            </a:r>
            <a:endParaRPr lang="en-US" sz="3450" dirty="0"/>
          </a:p>
        </p:txBody>
      </p:sp>
      <p:sp>
        <p:nvSpPr>
          <p:cNvPr id="57" name="Text 45"/>
          <p:cNvSpPr txBox="1"/>
          <p:nvPr/>
        </p:nvSpPr>
        <p:spPr>
          <a:xfrm>
            <a:off x="11697005" y="5143500"/>
            <a:ext cx="50868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 매 모두 1.7 nm 안쪽 — via 상층의 EPE margin 회복됨</a:t>
            </a:r>
            <a:endParaRPr lang="en-US" sz="1125" dirty="0"/>
          </a:p>
        </p:txBody>
      </p:sp>
      <p:sp>
        <p:nvSpPr>
          <p:cNvPr id="58" name="Text 46"/>
          <p:cNvSpPr txBox="1"/>
          <p:nvPr/>
        </p:nvSpPr>
        <p:spPr>
          <a:xfrm>
            <a:off x="11697005" y="6324905"/>
            <a:ext cx="50868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REDUCTION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11697005" y="6590995"/>
            <a:ext cx="12198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−59%</a:t>
            </a:r>
            <a:endParaRPr lang="en-US" sz="3450" dirty="0"/>
          </a:p>
        </p:txBody>
      </p:sp>
      <p:sp>
        <p:nvSpPr>
          <p:cNvPr id="60" name="Text 48"/>
          <p:cNvSpPr txBox="1"/>
          <p:nvPr/>
        </p:nvSpPr>
        <p:spPr>
          <a:xfrm>
            <a:off x="13045745" y="6810451"/>
            <a:ext cx="91531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RIE 평균</a:t>
            </a:r>
            <a:endParaRPr lang="en-US" sz="1050" dirty="0"/>
          </a:p>
        </p:txBody>
      </p:sp>
      <p:sp>
        <p:nvSpPr>
          <p:cNvPr id="61" name="Text 49"/>
          <p:cNvSpPr txBox="1"/>
          <p:nvPr/>
        </p:nvSpPr>
        <p:spPr>
          <a:xfrm>
            <a:off x="11697005" y="7144207"/>
            <a:ext cx="50868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a-b 인접 라인 거리 변동의 wafer-wide 평균값. 측정: 25-point wafer-map 에서 a/b 추출 후 |a-b| 평균.</a:t>
            </a:r>
            <a:endParaRPr lang="en-US" sz="975" dirty="0"/>
          </a:p>
        </p:txBody>
      </p:sp>
      <p:sp>
        <p:nvSpPr>
          <p:cNvPr id="62" name="Text 50"/>
          <p:cNvSpPr txBox="1"/>
          <p:nvPr/>
        </p:nvSpPr>
        <p:spPr>
          <a:xfrm>
            <a:off x="1238098" y="8372246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63" name="Text 51"/>
          <p:cNvSpPr txBox="1"/>
          <p:nvPr/>
        </p:nvSpPr>
        <p:spPr>
          <a:xfrm>
            <a:off x="2704795" y="8287207"/>
            <a:ext cx="142216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ΔPW 평균이 RIE 2.50nm → QALE 1.02nm 로 ~59 % 감소, RIE 3 매는 모두 EPE 1.7 nm 문턱 위에서 QALE 3 매는 모두 안쪽에서 상층 via 의 랜딩 공간을 확보한다.</a:t>
            </a:r>
            <a:endParaRPr lang="en-US" sz="1575" dirty="0"/>
          </a:p>
        </p:txBody>
      </p:sp>
      <p:sp>
        <p:nvSpPr>
          <p:cNvPr id="64" name="Text 52"/>
          <p:cNvSpPr txBox="1"/>
          <p:nvPr/>
        </p:nvSpPr>
        <p:spPr>
          <a:xfrm>
            <a:off x="1238098" y="99248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8098" y="2190902"/>
            <a:ext cx="10306202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811305" y="2190902"/>
            <a:ext cx="5257800" cy="1733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11305" y="4095598"/>
            <a:ext cx="5257800" cy="1733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11305" y="6001207"/>
            <a:ext cx="5238598" cy="1714500"/>
          </a:xfrm>
          <a:prstGeom prst="rect">
            <a:avLst/>
          </a:prstGeom>
          <a:solidFill>
            <a:srgbClr val="F4E4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6e149b0d284eca8aa37b0064009f964f.png">    </p:cNvPr>
          <p:cNvPicPr>
            <a:picLocks noChangeAspect="1"/>
          </p:cNvPicPr>
          <p:nvPr/>
        </p:nvPicPr>
        <p:blipFill>
          <a:blip r:embed="rId1"/>
          <a:srcRect l="0" r="0" t="-2083" b="-2083"/>
          <a:stretch/>
        </p:blipFill>
        <p:spPr>
          <a:xfrm>
            <a:off x="2286000" y="2857500"/>
            <a:ext cx="9144" cy="4000500"/>
          </a:xfrm>
          <a:prstGeom prst="rect">
            <a:avLst/>
          </a:prstGeom>
        </p:spPr>
      </p:pic>
      <p:pic>
        <p:nvPicPr>
          <p:cNvPr id="8" name="Image 1" descr="gen-dedup-b668f698c24b7b955f2c53878d8bf64b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2286000" y="6858000"/>
            <a:ext cx="8762695" cy="9144"/>
          </a:xfrm>
          <a:prstGeom prst="rect">
            <a:avLst/>
          </a:prstGeom>
        </p:spPr>
      </p:pic>
      <p:pic>
        <p:nvPicPr>
          <p:cNvPr id="9" name="Image 2" descr="gen-dedup-21409923627fc4f1f660dfbc358d81f1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2286000" y="5857646"/>
            <a:ext cx="8762695" cy="9144"/>
          </a:xfrm>
          <a:prstGeom prst="rect">
            <a:avLst/>
          </a:prstGeom>
        </p:spPr>
      </p:pic>
      <p:pic>
        <p:nvPicPr>
          <p:cNvPr id="10" name="Image 3" descr="gen-dedup-21409923627fc4f1f660dfbc358d81f1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2286000" y="4858207"/>
            <a:ext cx="8762695" cy="9144"/>
          </a:xfrm>
          <a:prstGeom prst="rect">
            <a:avLst/>
          </a:prstGeom>
        </p:spPr>
      </p:pic>
      <p:pic>
        <p:nvPicPr>
          <p:cNvPr id="11" name="Image 4" descr="gen-dedup-21409923627fc4f1f660dfbc358d81f1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2286000" y="3857854"/>
            <a:ext cx="8762695" cy="9144"/>
          </a:xfrm>
          <a:prstGeom prst="rect">
            <a:avLst/>
          </a:prstGeom>
        </p:spPr>
      </p:pic>
      <p:pic>
        <p:nvPicPr>
          <p:cNvPr id="12" name="Image 5" descr="gen-dedup-5fcddc97bfa9fd141832852349da362a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11811305" y="6001207"/>
            <a:ext cx="57607" cy="17145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8382305" y="3847795"/>
            <a:ext cx="1561795" cy="1657807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D3D5C">
                <a:alpha val="35000"/>
              </a:srgbClr>
            </a:solidFill>
            <a:prstDash val="solid"/>
          </a:ln>
        </p:spPr>
      </p:sp>
      <p:sp>
        <p:nvSpPr>
          <p:cNvPr id="14" name="Shape 5"/>
          <p:cNvSpPr/>
          <p:nvPr/>
        </p:nvSpPr>
        <p:spPr>
          <a:xfrm>
            <a:off x="2800807" y="6067044"/>
            <a:ext cx="1181405" cy="990295"/>
          </a:xfrm>
          <a:prstGeom prst="roundRect">
            <a:avLst>
              <a:gd name="adj" fmla="val 50046"/>
            </a:avLst>
          </a:prstGeom>
          <a:noFill/>
          <a:ln w="25400">
            <a:solidFill>
              <a:srgbClr val="DC6B1F">
                <a:alpha val="45000"/>
              </a:srgbClr>
            </a:solidFill>
            <a:prstDash val="solid"/>
          </a:ln>
        </p:spPr>
      </p:sp>
      <p:sp>
        <p:nvSpPr>
          <p:cNvPr id="15" name="Shape 6"/>
          <p:cNvSpPr/>
          <p:nvPr/>
        </p:nvSpPr>
        <p:spPr>
          <a:xfrm>
            <a:off x="9163202" y="4733849"/>
            <a:ext cx="304495" cy="304495"/>
          </a:xfrm>
          <a:prstGeom prst="ellipse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7"/>
          <p:cNvSpPr/>
          <p:nvPr/>
        </p:nvSpPr>
        <p:spPr>
          <a:xfrm>
            <a:off x="8876995" y="4524451"/>
            <a:ext cx="304495" cy="304495"/>
          </a:xfrm>
          <a:prstGeom prst="ellipse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8"/>
          <p:cNvSpPr/>
          <p:nvPr/>
        </p:nvSpPr>
        <p:spPr>
          <a:xfrm>
            <a:off x="8667598" y="4248302"/>
            <a:ext cx="304495" cy="304495"/>
          </a:xfrm>
          <a:prstGeom prst="ellipse">
            <a:avLst/>
          </a:prstGeom>
          <a:solidFill>
            <a:srgbClr val="2D3D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3409798" y="6495898"/>
            <a:ext cx="304495" cy="304495"/>
          </a:xfrm>
          <a:prstGeom prst="ellipse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3267151" y="6543446"/>
            <a:ext cx="304495" cy="304495"/>
          </a:xfrm>
          <a:prstGeom prst="ellipse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3161995" y="6495898"/>
            <a:ext cx="304495" cy="304495"/>
          </a:xfrm>
          <a:prstGeom prst="ellipse">
            <a:avLst/>
          </a:prstGeom>
          <a:solidFill>
            <a:srgbClr val="DC6B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gen-dedup-390e17b422cffad3f830a155fccb9943.png">    </p:cNvPr>
          <p:cNvPicPr>
            <a:picLocks noChangeAspect="1"/>
          </p:cNvPicPr>
          <p:nvPr/>
        </p:nvPicPr>
        <p:blipFill>
          <a:blip r:embed="rId7"/>
          <a:srcRect l="-462" r="-462" t="0" b="0"/>
          <a:stretch/>
        </p:blipFill>
        <p:spPr>
          <a:xfrm>
            <a:off x="1238098" y="761695"/>
            <a:ext cx="400507" cy="28346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752905" y="5715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/ PROCESS TRADE-OFF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1238098" y="1028700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Throughput penalty 와 uniformity gain 의 관계</a:t>
            </a:r>
            <a:endParaRPr lang="en-US" sz="3300" dirty="0"/>
          </a:p>
        </p:txBody>
      </p:sp>
      <p:sp>
        <p:nvSpPr>
          <p:cNvPr id="24" name="Text 14"/>
          <p:cNvSpPr txBox="1"/>
          <p:nvPr/>
        </p:nvSpPr>
        <p:spPr>
          <a:xfrm>
            <a:off x="1238098" y="1584655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QALE throughput 이 떨어지지만 3σ / ΔPW / Vbd / leakage 가 spec 안으로 들어옴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524305" y="2400300"/>
            <a:ext cx="48106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Throughput (wafer/h) × In-wafer AMI 3σ (nm)</a:t>
            </a:r>
            <a:endParaRPr lang="en-US" sz="1050" dirty="0"/>
          </a:p>
        </p:txBody>
      </p:sp>
      <p:sp>
        <p:nvSpPr>
          <p:cNvPr id="26" name="Text 16"/>
          <p:cNvSpPr txBox="1"/>
          <p:nvPr/>
        </p:nvSpPr>
        <p:spPr>
          <a:xfrm>
            <a:off x="9615830" y="2419502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lower-left corner = ideal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1524305" y="2819095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2.0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1524305" y="3819449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1.6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1524305" y="4819802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1.2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1524305" y="5820156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0.8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1524305" y="6819595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0.4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2278685" y="7048195"/>
            <a:ext cx="914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3929177" y="7048195"/>
            <a:ext cx="181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25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5643677" y="7048195"/>
            <a:ext cx="181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50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7358177" y="7048195"/>
            <a:ext cx="181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75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9065362" y="7048195"/>
            <a:ext cx="2724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100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10779862" y="7048195"/>
            <a:ext cx="2724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125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9163202" y="4496105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8876995" y="4229100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8667598" y="3952951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W3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3143707" y="6819595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2971800" y="6286500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W5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2857500" y="6819595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W6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8382305" y="3676802"/>
            <a:ext cx="251642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· 92–100 wafer/h, σ 1.2–1.4</a:t>
            </a:r>
            <a:endParaRPr lang="en-US" sz="975" dirty="0"/>
          </a:p>
        </p:txBody>
      </p:sp>
      <p:sp>
        <p:nvSpPr>
          <p:cNvPr id="45" name="Text 35"/>
          <p:cNvSpPr txBox="1"/>
          <p:nvPr/>
        </p:nvSpPr>
        <p:spPr>
          <a:xfrm>
            <a:off x="2819095" y="7410298"/>
            <a:ext cx="1519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low throughput · tight 3σ</a:t>
            </a:r>
            <a:endParaRPr lang="en-US" sz="825" dirty="0"/>
          </a:p>
        </p:txBody>
      </p:sp>
      <p:sp>
        <p:nvSpPr>
          <p:cNvPr id="46" name="Text 36"/>
          <p:cNvSpPr txBox="1"/>
          <p:nvPr/>
        </p:nvSpPr>
        <p:spPr>
          <a:xfrm>
            <a:off x="4724705" y="74102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throughput (wafer / hour)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1557223" y="4743907"/>
            <a:ext cx="124358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176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3σ (nm)</a:t>
            </a:r>
            <a:endParaRPr lang="en-US" sz="975" dirty="0"/>
          </a:p>
        </p:txBody>
      </p:sp>
      <p:sp>
        <p:nvSpPr>
          <p:cNvPr id="48" name="Text 38"/>
          <p:cNvSpPr txBox="1"/>
          <p:nvPr/>
        </p:nvSpPr>
        <p:spPr>
          <a:xfrm>
            <a:off x="12059107" y="2419502"/>
            <a:ext cx="47439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THROUGHPUT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12059107" y="2723998"/>
            <a:ext cx="91714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3D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100</a:t>
            </a:r>
            <a:endParaRPr lang="en-US" sz="3600" dirty="0"/>
          </a:p>
        </p:txBody>
      </p:sp>
      <p:sp>
        <p:nvSpPr>
          <p:cNvPr id="50" name="Text 40"/>
          <p:cNvSpPr txBox="1"/>
          <p:nvPr/>
        </p:nvSpPr>
        <p:spPr>
          <a:xfrm>
            <a:off x="13014655" y="2915107"/>
            <a:ext cx="20482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</a:t>
            </a:r>
            <a:endParaRPr lang="en-US" sz="1350" dirty="0"/>
          </a:p>
        </p:txBody>
      </p:sp>
      <p:sp>
        <p:nvSpPr>
          <p:cNvPr id="51" name="Text 41"/>
          <p:cNvSpPr txBox="1"/>
          <p:nvPr/>
        </p:nvSpPr>
        <p:spPr>
          <a:xfrm>
            <a:off x="13316407" y="2723998"/>
            <a:ext cx="6117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16</a:t>
            </a:r>
            <a:endParaRPr lang="en-US" sz="3600" dirty="0"/>
          </a:p>
        </p:txBody>
      </p:sp>
      <p:sp>
        <p:nvSpPr>
          <p:cNvPr id="52" name="Text 42"/>
          <p:cNvSpPr txBox="1"/>
          <p:nvPr/>
        </p:nvSpPr>
        <p:spPr>
          <a:xfrm>
            <a:off x="13998550" y="2962656"/>
            <a:ext cx="63093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wafer/h</a:t>
            </a:r>
            <a:endParaRPr lang="en-US" sz="1050" dirty="0"/>
          </a:p>
        </p:txBody>
      </p:sp>
      <p:sp>
        <p:nvSpPr>
          <p:cNvPr id="53" name="Text 43"/>
          <p:cNvSpPr txBox="1"/>
          <p:nvPr/>
        </p:nvSpPr>
        <p:spPr>
          <a:xfrm>
            <a:off x="12059107" y="3276295"/>
            <a:ext cx="5429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cycle 38 s · QALE ~ 200 cycles × 1.1 s — 약 −84% throughput penalty</a:t>
            </a:r>
            <a:endParaRPr lang="en-US" sz="1050" dirty="0"/>
          </a:p>
        </p:txBody>
      </p:sp>
      <p:sp>
        <p:nvSpPr>
          <p:cNvPr id="54" name="Text 44"/>
          <p:cNvSpPr txBox="1"/>
          <p:nvPr/>
        </p:nvSpPr>
        <p:spPr>
          <a:xfrm>
            <a:off x="12059107" y="4324198"/>
            <a:ext cx="47439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UNIFORMITY GAIN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12059107" y="4629607"/>
            <a:ext cx="12765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−62%</a:t>
            </a:r>
            <a:endParaRPr lang="en-US" sz="3600" dirty="0"/>
          </a:p>
        </p:txBody>
      </p:sp>
      <p:sp>
        <p:nvSpPr>
          <p:cNvPr id="56" name="Text 46"/>
          <p:cNvSpPr txBox="1"/>
          <p:nvPr/>
        </p:nvSpPr>
        <p:spPr>
          <a:xfrm>
            <a:off x="13459968" y="4867351"/>
            <a:ext cx="54772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3σ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12059107" y="5181905"/>
            <a:ext cx="4743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−59% ΔPW · −62% leakage · +1.83 V TDDB margin — RIE 0/3 → QALE 3/3 spec in</a:t>
            </a:r>
            <a:endParaRPr lang="en-US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12059107" y="6229807"/>
            <a:ext cx="47439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WAFER-LEVEL MARGIN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12059107" y="6495898"/>
            <a:ext cx="47439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16 wafer/h × 4 metric spec in</a:t>
            </a:r>
            <a:pPr algn="l" indent="0" marL="0">
              <a:lnSpc>
                <a:spcPct val="130000"/>
              </a:lnSpc>
              <a:buNone/>
            </a:pP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100 wafer/h × 1 metric spec in</a:t>
            </a:r>
            <a:endParaRPr lang="en-US" sz="1650" dirty="0"/>
          </a:p>
        </p:txBody>
      </p:sp>
      <p:sp>
        <p:nvSpPr>
          <p:cNvPr id="60" name="Text 50"/>
          <p:cNvSpPr txBox="1"/>
          <p:nvPr/>
        </p:nvSpPr>
        <p:spPr>
          <a:xfrm>
            <a:off x="12059107" y="7135978"/>
            <a:ext cx="510692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46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Pareto margin 은 throughput 보다는 spec-in wafer count 로 계산한다</a:t>
            </a:r>
            <a:endParaRPr lang="en-US" sz="1050" dirty="0"/>
          </a:p>
        </p:txBody>
      </p:sp>
      <p:sp>
        <p:nvSpPr>
          <p:cNvPr id="61" name="Text 51"/>
          <p:cNvSpPr txBox="1"/>
          <p:nvPr/>
        </p:nvSpPr>
        <p:spPr>
          <a:xfrm>
            <a:off x="1238098" y="8762695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DC6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2704795" y="8667598"/>
            <a:ext cx="143451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b="1" dirty="0">
                <a:solidFill>
                  <a:srgbClr val="1A1B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RIE throughput 100 wafer/h vs QALE 16 wafer/h 의 penalty 가 존재하지만, AMI 3σ −62% · Vbd +1.83V · spec-in 3/3 wafer 의 Pareto margin 으로 보면 trade-off 의 무게는 QALE 으로 넘어간다.</a:t>
            </a:r>
            <a:endParaRPr lang="en-US" sz="1650" dirty="0"/>
          </a:p>
        </p:txBody>
      </p:sp>
      <p:sp>
        <p:nvSpPr>
          <p:cNvPr id="63" name="Text 53"/>
          <p:cNvSpPr txBox="1"/>
          <p:nvPr/>
        </p:nvSpPr>
        <p:spPr>
          <a:xfrm>
            <a:off x="1238098" y="9810598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2026-10-04T07:27:32Z</dcterms:created>
  <dcterms:modified xsi:type="dcterms:W3CDTF">2026-10-04T07:27:32Z</dcterms:modified>
</cp:coreProperties>
</file>