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jpeg"/><Relationship Id="rId4" Type="http://schemas.openxmlformats.org/officeDocument/2006/relationships/image" Target="../media/image-2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jpe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CE5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34195" y="1371600"/>
            <a:ext cx="7810805" cy="6858000"/>
          </a:xfrm>
          <a:prstGeom prst="rect">
            <a:avLst/>
          </a:prstGeom>
          <a:solidFill>
            <a:srgbClr val="F4EED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gen-dedup-b16846cf6ba08deaaec3735406f828aa.png">    </p:cNvPr>
          <p:cNvPicPr>
            <a:picLocks noChangeAspect="1"/>
          </p:cNvPicPr>
          <p:nvPr/>
        </p:nvPicPr>
        <p:blipFill>
          <a:blip r:embed="rId1"/>
          <a:srcRect l="0" r="0" t="-390" b="-390"/>
          <a:stretch/>
        </p:blipFill>
        <p:spPr>
          <a:xfrm>
            <a:off x="1143000" y="3924605"/>
            <a:ext cx="1524305" cy="19202"/>
          </a:xfrm>
          <a:prstGeom prst="rect">
            <a:avLst/>
          </a:prstGeom>
        </p:spPr>
      </p:pic>
      <p:pic>
        <p:nvPicPr>
          <p:cNvPr id="4" name="Image 1" descr="gen-dedup-1a7f50c25d791366abacf62678d5a2ec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9715500" y="6476695"/>
            <a:ext cx="1143000" cy="9144"/>
          </a:xfrm>
          <a:prstGeom prst="rect">
            <a:avLst/>
          </a:prstGeom>
        </p:spPr>
      </p:pic>
      <p:pic>
        <p:nvPicPr>
          <p:cNvPr id="5" name="Image 2" descr="gen-dedup-0145b9124d925d094a4091f3b522ad0f.png">    </p:cNvPr>
          <p:cNvPicPr>
            <a:picLocks noChangeAspect="1"/>
          </p:cNvPicPr>
          <p:nvPr/>
        </p:nvPicPr>
        <p:blipFill>
          <a:blip r:embed="rId3"/>
          <a:srcRect l="-2083" r="-2083" t="0" b="0"/>
          <a:stretch/>
        </p:blipFill>
        <p:spPr>
          <a:xfrm>
            <a:off x="1143000" y="8001000"/>
            <a:ext cx="6476695" cy="9144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14097305" y="6381598"/>
            <a:ext cx="571500" cy="571500"/>
          </a:xfrm>
          <a:prstGeom prst="rect">
            <a:avLst/>
          </a:prstGeom>
          <a:solidFill>
            <a:srgbClr val="B056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3" descr="gen-dedup-bf64e5df99d91560256bd7ba008b417f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1904695"/>
            <a:ext cx="7048195" cy="3600907"/>
          </a:xfrm>
          <a:prstGeom prst="rect">
            <a:avLst/>
          </a:prstGeom>
        </p:spPr>
      </p:pic>
      <p:sp>
        <p:nvSpPr>
          <p:cNvPr id="8" name="Text 2"/>
          <p:cNvSpPr txBox="1"/>
          <p:nvPr/>
        </p:nvSpPr>
        <p:spPr>
          <a:xfrm>
            <a:off x="1143000" y="914400"/>
            <a:ext cx="7239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6B625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Set 15 / 30</a:t>
            </a:r>
            <a:endParaRPr lang="en-US" sz="1350" dirty="0"/>
          </a:p>
        </p:txBody>
      </p:sp>
      <p:sp>
        <p:nvSpPr>
          <p:cNvPr id="9" name="Text 3"/>
          <p:cNvSpPr txBox="1"/>
          <p:nvPr/>
        </p:nvSpPr>
        <p:spPr>
          <a:xfrm>
            <a:off x="1143000" y="1371600"/>
            <a:ext cx="7239305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200" b="1" spc="-144" kern="0" dirty="0">
                <a:solidFill>
                  <a:srgbClr val="1B161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전자현미경 사진이</a:t>
            </a:r>
            <a:pPr algn="l" indent="0" marL="0">
              <a:lnSpc>
                <a:spcPct val="104000"/>
              </a:lnSpc>
              <a:buNone/>
            </a:pPr>
            <a:endParaRPr lang="en-US" sz="72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7200" b="1" spc="-144" kern="0" dirty="0">
                <a:solidFill>
                  <a:srgbClr val="1B161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실제로 보여주는 것</a:t>
            </a:r>
            <a:endParaRPr lang="en-US" sz="7200" dirty="0"/>
          </a:p>
        </p:txBody>
      </p:sp>
      <p:sp>
        <p:nvSpPr>
          <p:cNvPr id="10" name="Text 4"/>
          <p:cNvSpPr txBox="1"/>
          <p:nvPr/>
        </p:nvSpPr>
        <p:spPr>
          <a:xfrm>
            <a:off x="1143000" y="4229100"/>
            <a:ext cx="7239305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B161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20편 중 미세구조 영상이 들어있는 건 7편입니다. 아래는 그 사진들이 담고 있는 사실과, 원문에서 어느 figure를 보면 되는지입니다.</a:t>
            </a:r>
            <a:endParaRPr lang="en-US" sz="1500" dirty="0"/>
          </a:p>
        </p:txBody>
      </p:sp>
      <p:sp>
        <p:nvSpPr>
          <p:cNvPr id="11" name="Text 5"/>
          <p:cNvSpPr txBox="1"/>
          <p:nvPr/>
        </p:nvSpPr>
        <p:spPr>
          <a:xfrm>
            <a:off x="1143000" y="5009998"/>
            <a:ext cx="7239305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6B625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저작권상 재사용이 가능한 것은 다음 섹션에 직접 실었습니다.</a:t>
            </a:r>
            <a:endParaRPr lang="en-US" sz="1275" dirty="0"/>
          </a:p>
        </p:txBody>
      </p:sp>
      <p:sp>
        <p:nvSpPr>
          <p:cNvPr id="12" name="Text 6"/>
          <p:cNvSpPr txBox="1"/>
          <p:nvPr/>
        </p:nvSpPr>
        <p:spPr>
          <a:xfrm>
            <a:off x="9715500" y="5715000"/>
            <a:ext cx="7049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625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Intel interconnect stack cross-section — Intel Corp.</a:t>
            </a:r>
            <a:endParaRPr lang="en-US" sz="1050" dirty="0"/>
          </a:p>
        </p:txBody>
      </p:sp>
      <p:sp>
        <p:nvSpPr>
          <p:cNvPr id="13" name="Text 7"/>
          <p:cNvSpPr txBox="1"/>
          <p:nvPr/>
        </p:nvSpPr>
        <p:spPr>
          <a:xfrm>
            <a:off x="1143000" y="8287207"/>
            <a:ext cx="7239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25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표지 · 본 문서 set 15/30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CE5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695" y="2171700"/>
            <a:ext cx="8382305" cy="2286000"/>
          </a:xfrm>
          <a:prstGeom prst="rect">
            <a:avLst/>
          </a:prstGeom>
          <a:solidFill>
            <a:srgbClr val="F4EED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15500" y="2171700"/>
            <a:ext cx="7810805" cy="3619195"/>
          </a:xfrm>
          <a:prstGeom prst="rect">
            <a:avLst/>
          </a:prstGeom>
          <a:solidFill>
            <a:srgbClr val="F4EED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1695" y="7048195"/>
            <a:ext cx="16573500" cy="2667305"/>
          </a:xfrm>
          <a:prstGeom prst="rect">
            <a:avLst/>
          </a:prstGeom>
          <a:solidFill>
            <a:srgbClr val="F4EED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gen-dedup-b16846cf6ba08deaaec3735406f828aa.png">    </p:cNvPr>
          <p:cNvPicPr>
            <a:picLocks noChangeAspect="1"/>
          </p:cNvPicPr>
          <p:nvPr/>
        </p:nvPicPr>
        <p:blipFill>
          <a:blip r:embed="rId1"/>
          <a:srcRect l="0" r="0" t="-390" b="-390"/>
          <a:stretch/>
        </p:blipFill>
        <p:spPr>
          <a:xfrm>
            <a:off x="761695" y="1619402"/>
            <a:ext cx="1524305" cy="19202"/>
          </a:xfrm>
          <a:prstGeom prst="rect">
            <a:avLst/>
          </a:prstGeom>
        </p:spPr>
      </p:pic>
      <p:pic>
        <p:nvPicPr>
          <p:cNvPr id="6" name="Image 1" descr="gen-dedup-c76d456a97def022af01546da310d0b9.png">    </p:cNvPr>
          <p:cNvPicPr>
            <a:picLocks noChangeAspect="1"/>
          </p:cNvPicPr>
          <p:nvPr/>
        </p:nvPicPr>
        <p:blipFill>
          <a:blip r:embed="rId2"/>
          <a:srcRect l="0" r="0" t="-400" b="-400"/>
          <a:stretch/>
        </p:blipFill>
        <p:spPr>
          <a:xfrm>
            <a:off x="761695" y="7048195"/>
            <a:ext cx="16573500" cy="57607"/>
          </a:xfrm>
          <a:prstGeom prst="rect">
            <a:avLst/>
          </a:prstGeom>
        </p:spPr>
      </p:pic>
      <p:pic>
        <p:nvPicPr>
          <p:cNvPr id="7" name="Image 2" descr="gen-dedup-d53a886b5b09cd43f8c0547a52353c3d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695" y="2171700"/>
            <a:ext cx="8382305" cy="2286000"/>
          </a:xfrm>
          <a:prstGeom prst="rect">
            <a:avLst/>
          </a:prstGeom>
        </p:spPr>
      </p:pic>
      <p:pic>
        <p:nvPicPr>
          <p:cNvPr id="8" name="Image 3" descr="gen-dedup-3248c8a8529f33e5b4fd567b44587ab0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2171700"/>
            <a:ext cx="7810805" cy="3619195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761695" y="761695"/>
            <a:ext cx="16193110" cy="600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500" b="1" spc="-67" kern="0" dirty="0">
                <a:solidFill>
                  <a:srgbClr val="1B161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두 가지가 눈에 띄어야 합니다</a:t>
            </a:r>
            <a:endParaRPr lang="en-US" sz="4500" dirty="0"/>
          </a:p>
        </p:txBody>
      </p:sp>
      <p:sp>
        <p:nvSpPr>
          <p:cNvPr id="10" name="Text 4"/>
          <p:cNvSpPr txBox="1"/>
          <p:nvPr/>
        </p:nvSpPr>
        <p:spPr>
          <a:xfrm>
            <a:off x="761695" y="4610405"/>
            <a:ext cx="8382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625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BEOL Ru-line 배선 단면 — IBM Research</a:t>
            </a:r>
            <a:endParaRPr lang="en-US" sz="1050" dirty="0"/>
          </a:p>
        </p:txBody>
      </p:sp>
      <p:sp>
        <p:nvSpPr>
          <p:cNvPr id="11" name="Text 5"/>
          <p:cNvSpPr txBox="1"/>
          <p:nvPr/>
        </p:nvSpPr>
        <p:spPr>
          <a:xfrm>
            <a:off x="9715500" y="5943600"/>
            <a:ext cx="7810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625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14nm SOC high-density interconnect stack SEM — Fischer et al., IEDM</a:t>
            </a:r>
            <a:endParaRPr lang="en-US" sz="1050" dirty="0"/>
          </a:p>
        </p:txBody>
      </p:sp>
      <p:sp>
        <p:nvSpPr>
          <p:cNvPr id="12" name="Text 6"/>
          <p:cNvSpPr txBox="1"/>
          <p:nvPr/>
        </p:nvSpPr>
        <p:spPr>
          <a:xfrm>
            <a:off x="1333195" y="7467905"/>
            <a:ext cx="1562161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056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첫째,</a:t>
            </a:r>
            <a:pPr algn="l" indent="0" marL="0">
              <a:buNone/>
            </a:pPr>
            <a:r>
              <a:rPr lang="en-US" sz="1500" dirty="0">
                <a:solidFill>
                  <a:srgbClr val="1B161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Ru의 EM 보이드가 입계와 유전체 계면 두 곳에서 별도로 생긴다는 것(JAP Fig. 18)은 대책이 두 가지로 갈라진다는 뜻입니다 — 입계 제어와 계면 에너지 제어.</a:t>
            </a:r>
            <a:endParaRPr lang="en-US" sz="1500" dirty="0"/>
          </a:p>
        </p:txBody>
      </p:sp>
      <p:sp>
        <p:nvSpPr>
          <p:cNvPr id="13" name="Text 7"/>
          <p:cNvSpPr txBox="1"/>
          <p:nvPr/>
        </p:nvSpPr>
        <p:spPr>
          <a:xfrm>
            <a:off x="1333195" y="7934249"/>
            <a:ext cx="1662745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056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둘째,</a:t>
            </a:r>
            <a:pPr algn="l" indent="0" marL="0">
              <a:buNone/>
            </a:pPr>
            <a:r>
              <a:rPr lang="en-US" sz="1500" dirty="0">
                <a:solidFill>
                  <a:srgbClr val="1B161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CuAl₂의 대나무형 입계(JVST B Fig. 6)는 입계가 막 두께만큼 크다는 뜻이고, 이게 저항률 9.5 µΩ·cm의 직접적인 이유입니다. 사진이 수치를 설명하는 전형적인 경우입니다.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CE5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4095598"/>
            <a:ext cx="6096305" cy="5333695"/>
          </a:xfrm>
          <a:prstGeom prst="rect">
            <a:avLst/>
          </a:prstGeom>
          <a:solidFill>
            <a:srgbClr val="F4EED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10805" y="4095598"/>
            <a:ext cx="9334195" cy="1714500"/>
          </a:xfrm>
          <a:prstGeom prst="rect">
            <a:avLst/>
          </a:prstGeom>
          <a:solidFill>
            <a:srgbClr val="F4EED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10805" y="5962802"/>
            <a:ext cx="9334195" cy="1714500"/>
          </a:xfrm>
          <a:prstGeom prst="rect">
            <a:avLst/>
          </a:prstGeom>
          <a:solidFill>
            <a:srgbClr val="F4EED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10805" y="7830007"/>
            <a:ext cx="9334195" cy="1714500"/>
          </a:xfrm>
          <a:prstGeom prst="rect">
            <a:avLst/>
          </a:prstGeom>
          <a:solidFill>
            <a:srgbClr val="F4EED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" name="Image 0" descr="gen-dedup-179e4ca67fc22248c3e0fab0ff966047.png">    </p:cNvPr>
          <p:cNvPicPr>
            <a:picLocks noChangeAspect="1"/>
          </p:cNvPicPr>
          <p:nvPr/>
        </p:nvPicPr>
        <p:blipFill>
          <a:blip r:embed="rId1"/>
          <a:srcRect l="0" r="0" t="-408" b="-408"/>
          <a:stretch/>
        </p:blipFill>
        <p:spPr>
          <a:xfrm>
            <a:off x="1143000" y="3676802"/>
            <a:ext cx="1904695" cy="19202"/>
          </a:xfrm>
          <a:prstGeom prst="rect">
            <a:avLst/>
          </a:prstGeom>
        </p:spPr>
      </p:pic>
      <p:pic>
        <p:nvPicPr>
          <p:cNvPr id="7" name="Image 1" descr="gen-dedup-38707cafce21606b573448c12215998a.png">    </p:cNvPr>
          <p:cNvPicPr>
            <a:picLocks noChangeAspect="1"/>
          </p:cNvPicPr>
          <p:nvPr/>
        </p:nvPicPr>
        <p:blipFill>
          <a:blip r:embed="rId2"/>
          <a:srcRect l="-57" r="-57" t="0" b="0"/>
          <a:stretch/>
        </p:blipFill>
        <p:spPr>
          <a:xfrm>
            <a:off x="7810805" y="4095598"/>
            <a:ext cx="133502" cy="1714500"/>
          </a:xfrm>
          <a:prstGeom prst="rect">
            <a:avLst/>
          </a:prstGeom>
        </p:spPr>
      </p:pic>
      <p:pic>
        <p:nvPicPr>
          <p:cNvPr id="8" name="Image 2" descr="gen-dedup-6fe4872440e0b8dff1767a6deaf87d34.png">    </p:cNvPr>
          <p:cNvPicPr>
            <a:picLocks noChangeAspect="1"/>
          </p:cNvPicPr>
          <p:nvPr/>
        </p:nvPicPr>
        <p:blipFill>
          <a:blip r:embed="rId3"/>
          <a:srcRect l="-57" r="-57" t="0" b="0"/>
          <a:stretch/>
        </p:blipFill>
        <p:spPr>
          <a:xfrm>
            <a:off x="7810805" y="5962802"/>
            <a:ext cx="133502" cy="1714500"/>
          </a:xfrm>
          <a:prstGeom prst="rect">
            <a:avLst/>
          </a:prstGeom>
        </p:spPr>
      </p:pic>
      <p:pic>
        <p:nvPicPr>
          <p:cNvPr id="9" name="Image 3" descr="gen-dedup-f726cee3b3c7ff7ca911babe59efaa75.png">    </p:cNvPr>
          <p:cNvPicPr>
            <a:picLocks noChangeAspect="1"/>
          </p:cNvPicPr>
          <p:nvPr/>
        </p:nvPicPr>
        <p:blipFill>
          <a:blip r:embed="rId4"/>
          <a:srcRect l="-57" r="-57" t="0" b="0"/>
          <a:stretch/>
        </p:blipFill>
        <p:spPr>
          <a:xfrm>
            <a:off x="7810805" y="7830007"/>
            <a:ext cx="133502" cy="1714500"/>
          </a:xfrm>
          <a:prstGeom prst="rect">
            <a:avLst/>
          </a:prstGeom>
        </p:spPr>
      </p:pic>
      <p:pic>
        <p:nvPicPr>
          <p:cNvPr id="10" name="Image 4" descr="gen-dedup-4b1d43a6e6223cfff6aff58afe5495a3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9402" y="4552798"/>
            <a:ext cx="5143500" cy="3943807"/>
          </a:xfrm>
          <a:prstGeom prst="rect">
            <a:avLst/>
          </a:prstGeom>
        </p:spPr>
      </p:pic>
      <p:sp>
        <p:nvSpPr>
          <p:cNvPr id="11" name="Text 4"/>
          <p:cNvSpPr txBox="1"/>
          <p:nvPr/>
        </p:nvSpPr>
        <p:spPr>
          <a:xfrm>
            <a:off x="1143000" y="761695"/>
            <a:ext cx="1428750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0" b="1" spc="-120" kern="0" dirty="0">
                <a:solidFill>
                  <a:srgbClr val="1B161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세 가지 배선 구조를</a:t>
            </a:r>
            <a:pPr algn="l" indent="0" marL="0">
              <a:lnSpc>
                <a:spcPct val="104000"/>
              </a:lnSpc>
              <a:buNone/>
            </a:pPr>
            <a:endParaRPr lang="en-US" sz="60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6000" b="1" spc="-120" kern="0" dirty="0">
                <a:solidFill>
                  <a:srgbClr val="1B161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같은 척도로 놓으면</a:t>
            </a:r>
            <a:endParaRPr lang="en-US" sz="6000" dirty="0"/>
          </a:p>
        </p:txBody>
      </p:sp>
      <p:sp>
        <p:nvSpPr>
          <p:cNvPr id="12" name="Text 5"/>
          <p:cNvSpPr txBox="1"/>
          <p:nvPr/>
        </p:nvSpPr>
        <p:spPr>
          <a:xfrm>
            <a:off x="1143000" y="2667305"/>
            <a:ext cx="123828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625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배선 구조 단면 비교 · 세 방식, 치수는 Murdoch VLSI 2022·Montero Alvarez IITC 2022 본문값</a:t>
            </a:r>
            <a:endParaRPr lang="en-US" sz="1500" dirty="0"/>
          </a:p>
        </p:txBody>
      </p:sp>
      <p:sp>
        <p:nvSpPr>
          <p:cNvPr id="13" name="Text 6"/>
          <p:cNvSpPr txBox="1"/>
          <p:nvPr/>
        </p:nvSpPr>
        <p:spPr>
          <a:xfrm>
            <a:off x="1143000" y="3143707"/>
            <a:ext cx="123828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25" dirty="0">
                <a:solidFill>
                  <a:srgbClr val="1B161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 구조가 해결하는 문제가 각각 다릅니다.</a:t>
            </a:r>
            <a:endParaRPr lang="en-US" sz="1425" dirty="0"/>
          </a:p>
        </p:txBody>
      </p:sp>
      <p:sp>
        <p:nvSpPr>
          <p:cNvPr id="14" name="Text 7"/>
          <p:cNvSpPr txBox="1"/>
          <p:nvPr/>
        </p:nvSpPr>
        <p:spPr>
          <a:xfrm>
            <a:off x="1619402" y="8667598"/>
            <a:ext cx="51435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6B625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 dual-damascene 단면 — 3D InCites</a:t>
            </a:r>
            <a:endParaRPr lang="en-US" sz="975" dirty="0"/>
          </a:p>
        </p:txBody>
      </p:sp>
      <p:sp>
        <p:nvSpPr>
          <p:cNvPr id="15" name="Text 8"/>
          <p:cNvSpPr txBox="1"/>
          <p:nvPr/>
        </p:nvSpPr>
        <p:spPr>
          <a:xfrm>
            <a:off x="8287207" y="4324198"/>
            <a:ext cx="1524305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B0563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①</a:t>
            </a:r>
            <a:endParaRPr lang="en-US" sz="7200" dirty="0"/>
          </a:p>
        </p:txBody>
      </p:sp>
      <p:sp>
        <p:nvSpPr>
          <p:cNvPr id="16" name="Text 9"/>
          <p:cNvSpPr txBox="1"/>
          <p:nvPr/>
        </p:nvSpPr>
        <p:spPr>
          <a:xfrm>
            <a:off x="10001707" y="4705502"/>
            <a:ext cx="6954012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B161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①은 배리어 때문에 선폭에서 직니다.</a:t>
            </a:r>
            <a:endParaRPr lang="en-US" sz="1650" dirty="0"/>
          </a:p>
        </p:txBody>
      </p:sp>
      <p:sp>
        <p:nvSpPr>
          <p:cNvPr id="17" name="Text 10"/>
          <p:cNvSpPr txBox="1"/>
          <p:nvPr/>
        </p:nvSpPr>
        <p:spPr>
          <a:xfrm>
            <a:off x="8287207" y="6191402"/>
            <a:ext cx="1524305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3D5752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②</a:t>
            </a:r>
            <a:endParaRPr lang="en-US" sz="7200" dirty="0"/>
          </a:p>
        </p:txBody>
      </p:sp>
      <p:sp>
        <p:nvSpPr>
          <p:cNvPr id="18" name="Text 11"/>
          <p:cNvSpPr txBox="1"/>
          <p:nvPr/>
        </p:nvSpPr>
        <p:spPr>
          <a:xfrm>
            <a:off x="10001707" y="6324905"/>
            <a:ext cx="736915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161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②은 배리어를 없애고 높이로 단면적을 벌지만 정전용량과 자기발열을 떠안습니다.</a:t>
            </a:r>
            <a:endParaRPr lang="en-US" sz="1500" dirty="0"/>
          </a:p>
        </p:txBody>
      </p:sp>
      <p:sp>
        <p:nvSpPr>
          <p:cNvPr id="19" name="Text 12"/>
          <p:cNvSpPr txBox="1"/>
          <p:nvPr/>
        </p:nvSpPr>
        <p:spPr>
          <a:xfrm>
            <a:off x="8287207" y="8058607"/>
            <a:ext cx="1524305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B6894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③</a:t>
            </a:r>
            <a:endParaRPr lang="en-US" sz="7200" dirty="0"/>
          </a:p>
        </p:txBody>
      </p:sp>
      <p:sp>
        <p:nvSpPr>
          <p:cNvPr id="20" name="Text 13"/>
          <p:cNvSpPr txBox="1"/>
          <p:nvPr/>
        </p:nvSpPr>
        <p:spPr>
          <a:xfrm>
            <a:off x="10001707" y="8172907"/>
            <a:ext cx="6954012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1B161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③는 연결 경로 자체를 줄여 저항과 면적을 동시에 벌지만, AR 7.7 에칭과 충진이라는 공정 난이도를 새로 집니다.</a:t>
            </a:r>
            <a:endParaRPr lang="en-US" sz="14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2026-10-03T16:46:33Z</dcterms:created>
  <dcterms:modified xsi:type="dcterms:W3CDTF">2026-10-03T16:46:33Z</dcterms:modified>
</cp:coreProperties>
</file>