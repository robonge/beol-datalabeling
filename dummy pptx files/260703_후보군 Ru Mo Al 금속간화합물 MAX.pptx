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image" Target="../media/image-2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5feadc57867eadaf42ca4b839e3b791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857707" y="761695"/>
            <a:ext cx="16573500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707" y="2971800"/>
            <a:ext cx="3258007" cy="1923898"/>
          </a:xfrm>
          <a:prstGeom prst="rect">
            <a:avLst/>
          </a:prstGeom>
          <a:solidFill>
            <a:srgbClr val="F2EAD3"/>
          </a:solidFill>
          <a:ln w="12700">
            <a:solidFill>
              <a:srgbClr val="B7A68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86707" y="2971800"/>
            <a:ext cx="3258007" cy="1923898"/>
          </a:xfrm>
          <a:prstGeom prst="rect">
            <a:avLst/>
          </a:prstGeom>
          <a:solidFill>
            <a:srgbClr val="F2EAD3"/>
          </a:solidFill>
          <a:ln w="12700">
            <a:solidFill>
              <a:srgbClr val="B7A68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7707" y="5048402"/>
            <a:ext cx="3258007" cy="1923898"/>
          </a:xfrm>
          <a:prstGeom prst="rect">
            <a:avLst/>
          </a:prstGeom>
          <a:solidFill>
            <a:srgbClr val="F2EAD3"/>
          </a:solidFill>
          <a:ln w="12700">
            <a:solidFill>
              <a:srgbClr val="B7A68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707" y="5048402"/>
            <a:ext cx="3258007" cy="1923898"/>
          </a:xfrm>
          <a:prstGeom prst="rect">
            <a:avLst/>
          </a:prstGeom>
          <a:solidFill>
            <a:srgbClr val="F2EAD3"/>
          </a:solidFill>
          <a:ln w="12700">
            <a:solidFill>
              <a:srgbClr val="B7A68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7707" y="7239305"/>
            <a:ext cx="6687007" cy="1923898"/>
          </a:xfrm>
          <a:prstGeom prst="rect">
            <a:avLst/>
          </a:prstGeom>
          <a:solidFill>
            <a:srgbClr val="E2D8BE"/>
          </a:solidFill>
          <a:ln w="12700">
            <a:solidFill>
              <a:srgbClr val="B7A683"/>
            </a:solidFill>
            <a:prstDash val="solid"/>
          </a:ln>
        </p:spPr>
      </p:sp>
      <p:pic>
        <p:nvPicPr>
          <p:cNvPr id="8" name="Image 1" descr="gen-dedup-02c34262abc39e433b4265773111ac59.png">    </p:cNvPr>
          <p:cNvPicPr>
            <a:picLocks noChangeAspect="1"/>
          </p:cNvPicPr>
          <p:nvPr/>
        </p:nvPicPr>
        <p:blipFill>
          <a:blip r:embed="rId2"/>
          <a:srcRect l="-408" r="-408" t="0" b="0"/>
          <a:stretch/>
        </p:blipFill>
        <p:spPr>
          <a:xfrm>
            <a:off x="857707" y="2971800"/>
            <a:ext cx="57607" cy="1904695"/>
          </a:xfrm>
          <a:prstGeom prst="rect">
            <a:avLst/>
          </a:prstGeom>
        </p:spPr>
      </p:pic>
      <p:pic>
        <p:nvPicPr>
          <p:cNvPr id="9" name="Image 2" descr="gen-dedup-4ae92bf800f1ef0579b2af4120ebb4a8.png">    </p:cNvPr>
          <p:cNvPicPr>
            <a:picLocks noChangeAspect="1"/>
          </p:cNvPicPr>
          <p:nvPr/>
        </p:nvPicPr>
        <p:blipFill>
          <a:blip r:embed="rId3"/>
          <a:srcRect l="-408" r="-408" t="0" b="0"/>
          <a:stretch/>
        </p:blipFill>
        <p:spPr>
          <a:xfrm>
            <a:off x="4286707" y="2971800"/>
            <a:ext cx="57607" cy="1904695"/>
          </a:xfrm>
          <a:prstGeom prst="rect">
            <a:avLst/>
          </a:prstGeom>
        </p:spPr>
      </p:pic>
      <p:pic>
        <p:nvPicPr>
          <p:cNvPr id="10" name="Image 3" descr="gen-dedup-201f06416c62b61f6442cf18e5732904.png">    </p:cNvPr>
          <p:cNvPicPr>
            <a:picLocks noChangeAspect="1"/>
          </p:cNvPicPr>
          <p:nvPr/>
        </p:nvPicPr>
        <p:blipFill>
          <a:blip r:embed="rId4"/>
          <a:srcRect l="-408" r="-408" t="0" b="0"/>
          <a:stretch/>
        </p:blipFill>
        <p:spPr>
          <a:xfrm>
            <a:off x="857707" y="5048402"/>
            <a:ext cx="57607" cy="1904695"/>
          </a:xfrm>
          <a:prstGeom prst="rect">
            <a:avLst/>
          </a:prstGeom>
        </p:spPr>
      </p:pic>
      <p:pic>
        <p:nvPicPr>
          <p:cNvPr id="11" name="Image 4" descr="gen-dedup-74b93abd327a22993d98e68555edf996.png">    </p:cNvPr>
          <p:cNvPicPr>
            <a:picLocks noChangeAspect="1"/>
          </p:cNvPicPr>
          <p:nvPr/>
        </p:nvPicPr>
        <p:blipFill>
          <a:blip r:embed="rId5"/>
          <a:srcRect l="-408" r="-408" t="0" b="0"/>
          <a:stretch/>
        </p:blipFill>
        <p:spPr>
          <a:xfrm>
            <a:off x="4286707" y="5048402"/>
            <a:ext cx="57607" cy="1904695"/>
          </a:xfrm>
          <a:prstGeom prst="rect">
            <a:avLst/>
          </a:prstGeom>
        </p:spPr>
      </p:pic>
      <p:pic>
        <p:nvPicPr>
          <p:cNvPr id="12" name="Image 5" descr="gen-dedup-65d4e57ec2c6376b08a874614454f387.png">    </p:cNvPr>
          <p:cNvPicPr>
            <a:picLocks noChangeAspect="1"/>
          </p:cNvPicPr>
          <p:nvPr/>
        </p:nvPicPr>
        <p:blipFill>
          <a:blip r:embed="rId6"/>
          <a:srcRect l="0" r="0" t="-398" b="-398"/>
          <a:stretch/>
        </p:blipFill>
        <p:spPr>
          <a:xfrm>
            <a:off x="857707" y="7239305"/>
            <a:ext cx="6667805" cy="19202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7905902" y="2971800"/>
            <a:ext cx="9562795" cy="4610405"/>
          </a:xfrm>
          <a:prstGeom prst="rect">
            <a:avLst/>
          </a:prstGeom>
          <a:solidFill>
            <a:srgbClr val="F2EAD3"/>
          </a:solidFill>
          <a:ln w="25400">
            <a:solidFill>
              <a:srgbClr val="B7A683"/>
            </a:solidFill>
            <a:prstDash val="solid"/>
          </a:ln>
        </p:spPr>
      </p:sp>
      <p:pic>
        <p:nvPicPr>
          <p:cNvPr id="14" name="Image 6" descr="gen-dedup-ab48049c233f3e713e70575ae3a3c548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3066898"/>
            <a:ext cx="9334195" cy="4381805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857707" y="1028700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6E66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03</a:t>
            </a:r>
            <a:endParaRPr lang="en-US" sz="1350" dirty="0"/>
          </a:p>
        </p:txBody>
      </p:sp>
      <p:sp>
        <p:nvSpPr>
          <p:cNvPr id="16" name="Text 7"/>
          <p:cNvSpPr txBox="1"/>
          <p:nvPr/>
        </p:nvSpPr>
        <p:spPr>
          <a:xfrm>
            <a:off x="857707" y="1371600"/>
            <a:ext cx="1047811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50" b="1" spc="-93" kern="0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스크리닝 지표로 본 후보군</a:t>
            </a:r>
            <a:endParaRPr lang="en-US" sz="4650" dirty="0"/>
          </a:p>
        </p:txBody>
      </p:sp>
      <p:sp>
        <p:nvSpPr>
          <p:cNvPr id="17" name="Text 8"/>
          <p:cNvSpPr txBox="1"/>
          <p:nvPr/>
        </p:nvSpPr>
        <p:spPr>
          <a:xfrm>
            <a:off x="857707" y="2247595"/>
            <a:ext cx="9715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A57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Soulié et al., J. Appl. Phys. 136, 171101 (2024) Table II·III와 Sankaran et al., Phys. Rev. Mater. 5, 056002 (2021)의 계산값을 합쳐 재작도</a:t>
            </a:r>
            <a:endParaRPr lang="en-US" sz="1275" dirty="0"/>
          </a:p>
        </p:txBody>
      </p:sp>
      <p:sp>
        <p:nvSpPr>
          <p:cNvPr id="18" name="Text 9"/>
          <p:cNvSpPr txBox="1"/>
          <p:nvPr/>
        </p:nvSpPr>
        <p:spPr>
          <a:xfrm>
            <a:off x="1123798" y="3200400"/>
            <a:ext cx="2762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231" kern="0" dirty="0">
                <a:solidFill>
                  <a:srgbClr val="4A756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25" dirty="0"/>
          </a:p>
        </p:txBody>
      </p:sp>
      <p:sp>
        <p:nvSpPr>
          <p:cNvPr id="19" name="Text 10"/>
          <p:cNvSpPr txBox="1"/>
          <p:nvPr/>
        </p:nvSpPr>
        <p:spPr>
          <a:xfrm>
            <a:off x="1123798" y="3467405"/>
            <a:ext cx="2762402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144" kern="0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</a:t>
            </a:r>
            <a:endParaRPr lang="en-US" sz="4800" dirty="0"/>
          </a:p>
        </p:txBody>
      </p:sp>
      <p:sp>
        <p:nvSpPr>
          <p:cNvPr id="20" name="Text 11"/>
          <p:cNvSpPr txBox="1"/>
          <p:nvPr/>
        </p:nvSpPr>
        <p:spPr>
          <a:xfrm>
            <a:off x="1123798" y="4172407"/>
            <a:ext cx="276240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4A57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루테늄</a:t>
            </a:r>
            <a:endParaRPr lang="en-US" sz="1275" dirty="0"/>
          </a:p>
        </p:txBody>
      </p:sp>
      <p:sp>
        <p:nvSpPr>
          <p:cNvPr id="21" name="Text 12"/>
          <p:cNvSpPr txBox="1"/>
          <p:nvPr/>
        </p:nvSpPr>
        <p:spPr>
          <a:xfrm>
            <a:off x="4552798" y="3200400"/>
            <a:ext cx="2762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231" kern="0" dirty="0">
                <a:solidFill>
                  <a:srgbClr val="3F5F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25" dirty="0"/>
          </a:p>
        </p:txBody>
      </p:sp>
      <p:sp>
        <p:nvSpPr>
          <p:cNvPr id="22" name="Text 13"/>
          <p:cNvSpPr txBox="1"/>
          <p:nvPr/>
        </p:nvSpPr>
        <p:spPr>
          <a:xfrm>
            <a:off x="4552798" y="3467405"/>
            <a:ext cx="2762402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144" kern="0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</a:t>
            </a:r>
            <a:endParaRPr lang="en-US" sz="4800" dirty="0"/>
          </a:p>
        </p:txBody>
      </p:sp>
      <p:sp>
        <p:nvSpPr>
          <p:cNvPr id="23" name="Text 14"/>
          <p:cNvSpPr txBox="1"/>
          <p:nvPr/>
        </p:nvSpPr>
        <p:spPr>
          <a:xfrm>
            <a:off x="4552798" y="4172407"/>
            <a:ext cx="276240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4A57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몰리브덴</a:t>
            </a:r>
            <a:endParaRPr lang="en-US" sz="1275" dirty="0"/>
          </a:p>
        </p:txBody>
      </p:sp>
      <p:sp>
        <p:nvSpPr>
          <p:cNvPr id="24" name="Text 15"/>
          <p:cNvSpPr txBox="1"/>
          <p:nvPr/>
        </p:nvSpPr>
        <p:spPr>
          <a:xfrm>
            <a:off x="1123798" y="5277002"/>
            <a:ext cx="2762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231" kern="0" dirty="0">
                <a:solidFill>
                  <a:srgbClr val="A05E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25" dirty="0"/>
          </a:p>
        </p:txBody>
      </p:sp>
      <p:sp>
        <p:nvSpPr>
          <p:cNvPr id="25" name="Text 16"/>
          <p:cNvSpPr txBox="1"/>
          <p:nvPr/>
        </p:nvSpPr>
        <p:spPr>
          <a:xfrm>
            <a:off x="1123798" y="5544007"/>
            <a:ext cx="2762402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b="1" spc="-51" kern="0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 기반</a:t>
            </a:r>
            <a:pPr algn="l" indent="0" marL="0">
              <a:lnSpc>
                <a:spcPct val="110000"/>
              </a:lnSpc>
              <a:buNone/>
            </a:pPr>
            <a:endParaRPr lang="en-US" sz="25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550" b="1" spc="-51" kern="0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금속간화합물</a:t>
            </a:r>
            <a:endParaRPr lang="en-US" sz="2550" dirty="0"/>
          </a:p>
        </p:txBody>
      </p:sp>
      <p:sp>
        <p:nvSpPr>
          <p:cNvPr id="26" name="Text 17"/>
          <p:cNvSpPr txBox="1"/>
          <p:nvPr/>
        </p:nvSpPr>
        <p:spPr>
          <a:xfrm>
            <a:off x="4552798" y="5238598"/>
            <a:ext cx="2762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231" kern="0" dirty="0">
                <a:solidFill>
                  <a:srgbClr val="8B65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25" dirty="0"/>
          </a:p>
        </p:txBody>
      </p:sp>
      <p:sp>
        <p:nvSpPr>
          <p:cNvPr id="27" name="Text 18"/>
          <p:cNvSpPr txBox="1"/>
          <p:nvPr/>
        </p:nvSpPr>
        <p:spPr>
          <a:xfrm>
            <a:off x="4552798" y="5486400"/>
            <a:ext cx="276240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상</a:t>
            </a:r>
            <a:endParaRPr lang="en-US" sz="3150" dirty="0"/>
          </a:p>
        </p:txBody>
      </p:sp>
      <p:sp>
        <p:nvSpPr>
          <p:cNvPr id="28" name="Text 19"/>
          <p:cNvSpPr txBox="1"/>
          <p:nvPr/>
        </p:nvSpPr>
        <p:spPr>
          <a:xfrm>
            <a:off x="4552798" y="6039612"/>
            <a:ext cx="2762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상이 계산상 가장 낮지만 아직 증착·에칭 실증이 없습니다.</a:t>
            </a:r>
            <a:endParaRPr lang="en-US" sz="1050" dirty="0"/>
          </a:p>
        </p:txBody>
      </p:sp>
      <p:sp>
        <p:nvSpPr>
          <p:cNvPr id="29" name="Text 20"/>
          <p:cNvSpPr txBox="1"/>
          <p:nvPr/>
        </p:nvSpPr>
        <p:spPr>
          <a:xfrm>
            <a:off x="7905902" y="7638898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E66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 · imec-int.com · 18 nm self-aligned via cross-section</a:t>
            </a:r>
            <a:endParaRPr lang="en-US" sz="975" dirty="0"/>
          </a:p>
        </p:txBody>
      </p:sp>
      <p:sp>
        <p:nvSpPr>
          <p:cNvPr id="30" name="Text 21"/>
          <p:cNvSpPr txBox="1"/>
          <p:nvPr/>
        </p:nvSpPr>
        <p:spPr>
          <a:xfrm>
            <a:off x="1181405" y="7563002"/>
            <a:ext cx="6096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B65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300 mm wafer · demonstrated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1181405" y="7925105"/>
            <a:ext cx="6096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실제로 300 mm 웨이퍼에서 돌아간 건 Ru, Mo, 그리고 Al 기반 금속간화합물뿐입니다.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5feadc57867eadaf42ca4b839e3b791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857707" y="761695"/>
            <a:ext cx="16573500" cy="9144"/>
          </a:xfrm>
          <a:prstGeom prst="rect">
            <a:avLst/>
          </a:prstGeom>
        </p:spPr>
      </p:pic>
      <p:pic>
        <p:nvPicPr>
          <p:cNvPr id="3" name="Image 1" descr="gen-dedup-c29dbcb7f14a1f2dd0bd44aee78abf58.png">    </p:cNvPr>
          <p:cNvPicPr>
            <a:picLocks noChangeAspect="1"/>
          </p:cNvPicPr>
          <p:nvPr/>
        </p:nvPicPr>
        <p:blipFill>
          <a:blip r:embed="rId2"/>
          <a:srcRect l="0" r="0" t="-399" b="-399"/>
          <a:stretch/>
        </p:blipFill>
        <p:spPr>
          <a:xfrm>
            <a:off x="857707" y="8287207"/>
            <a:ext cx="11239805" cy="3840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667305" y="8096098"/>
            <a:ext cx="1638605" cy="495605"/>
          </a:xfrm>
          <a:prstGeom prst="rect">
            <a:avLst/>
          </a:prstGeom>
          <a:solidFill>
            <a:srgbClr val="F2EAD3"/>
          </a:solidFill>
          <a:ln w="12700">
            <a:solidFill>
              <a:srgbClr val="B7A683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4476902" y="7905902"/>
            <a:ext cx="1638605" cy="685800"/>
          </a:xfrm>
          <a:prstGeom prst="rect">
            <a:avLst/>
          </a:prstGeom>
          <a:solidFill>
            <a:srgbClr val="F2EAD3"/>
          </a:solidFill>
          <a:ln w="12700">
            <a:solidFill>
              <a:srgbClr val="B7A683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286500" y="7715707"/>
            <a:ext cx="1638605" cy="875995"/>
          </a:xfrm>
          <a:prstGeom prst="rect">
            <a:avLst/>
          </a:prstGeom>
          <a:solidFill>
            <a:srgbClr val="F2EAD3"/>
          </a:solidFill>
          <a:ln w="12700">
            <a:solidFill>
              <a:srgbClr val="B7A683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096098" y="7524598"/>
            <a:ext cx="1619402" cy="1047902"/>
          </a:xfrm>
          <a:prstGeom prst="rect">
            <a:avLst/>
          </a:prstGeom>
          <a:solidFill>
            <a:srgbClr val="8B651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905695" y="7334402"/>
            <a:ext cx="1619402" cy="1238098"/>
          </a:xfrm>
          <a:prstGeom prst="rect">
            <a:avLst/>
          </a:prstGeom>
          <a:solidFill>
            <a:srgbClr val="8B651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2477902" y="6762902"/>
            <a:ext cx="4972507" cy="2686507"/>
          </a:xfrm>
          <a:prstGeom prst="rect">
            <a:avLst/>
          </a:prstGeom>
          <a:solidFill>
            <a:srgbClr val="F2EAD3"/>
          </a:solidFill>
          <a:ln w="12700">
            <a:solidFill>
              <a:srgbClr val="B7A68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57707" y="9430207"/>
            <a:ext cx="11259007" cy="685800"/>
          </a:xfrm>
          <a:prstGeom prst="rect">
            <a:avLst/>
          </a:prstGeom>
          <a:solidFill>
            <a:srgbClr val="E2D8BE"/>
          </a:solidFill>
          <a:ln w="12700">
            <a:solidFill>
              <a:srgbClr val="B7A683"/>
            </a:solidFill>
            <a:prstDash val="solid"/>
          </a:ln>
        </p:spPr>
      </p:sp>
      <p:pic>
        <p:nvPicPr>
          <p:cNvPr id="11" name="Image 2" descr="gen-dedup-49fcbc58c3fa067131f79aaf627fe7b9.png">    </p:cNvPr>
          <p:cNvPicPr>
            <a:picLocks noChangeAspect="1"/>
          </p:cNvPicPr>
          <p:nvPr/>
        </p:nvPicPr>
        <p:blipFill>
          <a:blip r:embed="rId3"/>
          <a:srcRect l="0" r="0" t="-397" b="-397"/>
          <a:stretch/>
        </p:blipFill>
        <p:spPr>
          <a:xfrm>
            <a:off x="12477902" y="6762902"/>
            <a:ext cx="4953305" cy="1920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57707" y="9430207"/>
            <a:ext cx="400507" cy="666598"/>
          </a:xfrm>
          <a:prstGeom prst="rect">
            <a:avLst/>
          </a:prstGeom>
          <a:solidFill>
            <a:srgbClr val="A05E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57707" y="2286000"/>
            <a:ext cx="8134502" cy="3847795"/>
          </a:xfrm>
          <a:prstGeom prst="rect">
            <a:avLst/>
          </a:prstGeom>
          <a:solidFill>
            <a:srgbClr val="F2EAD3"/>
          </a:solidFill>
          <a:ln w="25400">
            <a:solidFill>
              <a:srgbClr val="B7A683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239098" y="2286000"/>
            <a:ext cx="8229600" cy="3847795"/>
          </a:xfrm>
          <a:prstGeom prst="rect">
            <a:avLst/>
          </a:prstGeom>
          <a:solidFill>
            <a:srgbClr val="F2EAD3"/>
          </a:solidFill>
          <a:ln w="25400">
            <a:solidFill>
              <a:srgbClr val="B7A683"/>
            </a:solidFill>
            <a:prstDash val="solid"/>
          </a:ln>
        </p:spPr>
      </p:sp>
      <p:pic>
        <p:nvPicPr>
          <p:cNvPr id="15" name="Image 3" descr="gen-dedup-725b8347cc8958d57208840ba3219bb2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2381098"/>
            <a:ext cx="7905902" cy="3619195"/>
          </a:xfrm>
          <a:prstGeom prst="rect">
            <a:avLst/>
          </a:prstGeom>
        </p:spPr>
      </p:pic>
      <p:pic>
        <p:nvPicPr>
          <p:cNvPr id="16" name="Image 4" descr="gen-dedup-3afa26872f36389976396dc4e7621f84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195" y="2381098"/>
            <a:ext cx="8001000" cy="361919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57707" y="1028700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6E66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03</a:t>
            </a:r>
            <a:endParaRPr lang="en-US" sz="1350" dirty="0"/>
          </a:p>
        </p:txBody>
      </p:sp>
      <p:sp>
        <p:nvSpPr>
          <p:cNvPr id="18" name="Text 11"/>
          <p:cNvSpPr txBox="1"/>
          <p:nvPr/>
        </p:nvSpPr>
        <p:spPr>
          <a:xfrm>
            <a:off x="857707" y="1371600"/>
            <a:ext cx="142875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b="1" spc="-75" kern="0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패터닝·집적: 다마신을 버리고 금속을 직접 깎는다</a:t>
            </a:r>
            <a:endParaRPr lang="en-US" sz="3750" dirty="0"/>
          </a:p>
        </p:txBody>
      </p:sp>
      <p:sp>
        <p:nvSpPr>
          <p:cNvPr id="19" name="Text 12"/>
          <p:cNvSpPr txBox="1"/>
          <p:nvPr/>
        </p:nvSpPr>
        <p:spPr>
          <a:xfrm>
            <a:off x="14287500" y="1371600"/>
            <a:ext cx="31437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198" kern="0" dirty="0">
                <a:solidFill>
                  <a:srgbClr val="6E66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 roadmap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4287500" y="1619402"/>
            <a:ext cx="31437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144" kern="0" dirty="0">
                <a:solidFill>
                  <a:srgbClr val="A05E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damascene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14287500" y="1828800"/>
            <a:ext cx="31437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144" kern="0" dirty="0">
                <a:solidFill>
                  <a:srgbClr val="A05E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semi-damascene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857707" y="6210605"/>
            <a:ext cx="80970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E66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 · imec-int.com · 18 nm pitch article hero</a:t>
            </a:r>
            <a:endParaRPr lang="en-US" sz="975" dirty="0"/>
          </a:p>
        </p:txBody>
      </p:sp>
      <p:sp>
        <p:nvSpPr>
          <p:cNvPr id="23" name="Text 16"/>
          <p:cNvSpPr txBox="1"/>
          <p:nvPr/>
        </p:nvSpPr>
        <p:spPr>
          <a:xfrm>
            <a:off x="9239098" y="6210605"/>
            <a:ext cx="8192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E66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 · imec-int.com · AR=3 vs AR=6 Ru lines</a:t>
            </a:r>
            <a:endParaRPr lang="en-US" sz="975" dirty="0"/>
          </a:p>
        </p:txBody>
      </p:sp>
      <p:sp>
        <p:nvSpPr>
          <p:cNvPr id="24" name="Text 17"/>
          <p:cNvSpPr txBox="1"/>
          <p:nvPr/>
        </p:nvSpPr>
        <p:spPr>
          <a:xfrm>
            <a:off x="857707" y="6762902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52" kern="0" dirty="0">
                <a:solidFill>
                  <a:srgbClr val="A05E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Aspect ratio · 5 generations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857707" y="7638898"/>
            <a:ext cx="133411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6E66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1.6</a:t>
            </a:r>
            <a:endParaRPr lang="en-US" sz="3450" dirty="0"/>
          </a:p>
        </p:txBody>
      </p:sp>
      <p:sp>
        <p:nvSpPr>
          <p:cNvPr id="26" name="Text 19"/>
          <p:cNvSpPr txBox="1"/>
          <p:nvPr/>
        </p:nvSpPr>
        <p:spPr>
          <a:xfrm>
            <a:off x="857707" y="8220456"/>
            <a:ext cx="1334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E66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 baseline</a:t>
            </a:r>
            <a:endParaRPr lang="en-US" sz="825" dirty="0"/>
          </a:p>
        </p:txBody>
      </p:sp>
      <p:sp>
        <p:nvSpPr>
          <p:cNvPr id="27" name="Text 20"/>
          <p:cNvSpPr txBox="1"/>
          <p:nvPr/>
        </p:nvSpPr>
        <p:spPr>
          <a:xfrm>
            <a:off x="2667305" y="8172907"/>
            <a:ext cx="1619402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spc="-24" kern="0" dirty="0">
                <a:solidFill>
                  <a:srgbClr val="1B20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400" dirty="0"/>
          </a:p>
        </p:txBody>
      </p:sp>
      <p:sp>
        <p:nvSpPr>
          <p:cNvPr id="28" name="Text 21"/>
          <p:cNvSpPr txBox="1"/>
          <p:nvPr/>
        </p:nvSpPr>
        <p:spPr>
          <a:xfrm>
            <a:off x="2667305" y="8648395"/>
            <a:ext cx="1619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25" spc="149" kern="0" dirty="0">
                <a:solidFill>
                  <a:srgbClr val="6E66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 1</a:t>
            </a:r>
            <a:endParaRPr lang="en-US" sz="825" dirty="0"/>
          </a:p>
        </p:txBody>
      </p:sp>
      <p:sp>
        <p:nvSpPr>
          <p:cNvPr id="29" name="Text 22"/>
          <p:cNvSpPr txBox="1"/>
          <p:nvPr/>
        </p:nvSpPr>
        <p:spPr>
          <a:xfrm>
            <a:off x="4476902" y="7981798"/>
            <a:ext cx="16194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50" b="1" spc="-29" kern="0" dirty="0">
                <a:solidFill>
                  <a:srgbClr val="1B20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850" dirty="0"/>
          </a:p>
        </p:txBody>
      </p:sp>
      <p:sp>
        <p:nvSpPr>
          <p:cNvPr id="30" name="Text 23"/>
          <p:cNvSpPr txBox="1"/>
          <p:nvPr/>
        </p:nvSpPr>
        <p:spPr>
          <a:xfrm>
            <a:off x="4476902" y="8648395"/>
            <a:ext cx="1619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25" spc="149" kern="0" dirty="0">
                <a:solidFill>
                  <a:srgbClr val="6E66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 2</a:t>
            </a:r>
            <a:endParaRPr lang="en-US" sz="825" dirty="0"/>
          </a:p>
        </p:txBody>
      </p:sp>
      <p:sp>
        <p:nvSpPr>
          <p:cNvPr id="31" name="Text 24"/>
          <p:cNvSpPr txBox="1"/>
          <p:nvPr/>
        </p:nvSpPr>
        <p:spPr>
          <a:xfrm>
            <a:off x="6286500" y="7791602"/>
            <a:ext cx="1619402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50" b="1" spc="-69" kern="0" dirty="0">
                <a:solidFill>
                  <a:srgbClr val="1B20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3450" dirty="0"/>
          </a:p>
        </p:txBody>
      </p:sp>
      <p:sp>
        <p:nvSpPr>
          <p:cNvPr id="32" name="Text 25"/>
          <p:cNvSpPr txBox="1"/>
          <p:nvPr/>
        </p:nvSpPr>
        <p:spPr>
          <a:xfrm>
            <a:off x="6286500" y="8648395"/>
            <a:ext cx="1619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25" spc="149" kern="0" dirty="0">
                <a:solidFill>
                  <a:srgbClr val="6E66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</a:t>
            </a:r>
            <a:endParaRPr lang="en-US" sz="825" dirty="0"/>
          </a:p>
        </p:txBody>
      </p:sp>
      <p:sp>
        <p:nvSpPr>
          <p:cNvPr id="33" name="Text 26"/>
          <p:cNvSpPr txBox="1"/>
          <p:nvPr/>
        </p:nvSpPr>
        <p:spPr>
          <a:xfrm>
            <a:off x="8096098" y="7601407"/>
            <a:ext cx="1619402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50" b="1" spc="-69" kern="0" dirty="0">
                <a:solidFill>
                  <a:srgbClr val="F5E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3450" dirty="0"/>
          </a:p>
        </p:txBody>
      </p:sp>
      <p:sp>
        <p:nvSpPr>
          <p:cNvPr id="34" name="Text 27"/>
          <p:cNvSpPr txBox="1"/>
          <p:nvPr/>
        </p:nvSpPr>
        <p:spPr>
          <a:xfrm>
            <a:off x="8096098" y="8648395"/>
            <a:ext cx="1619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25" spc="149" kern="0" dirty="0">
                <a:solidFill>
                  <a:srgbClr val="6E66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</a:t>
            </a:r>
            <a:endParaRPr lang="en-US" sz="825" dirty="0"/>
          </a:p>
        </p:txBody>
      </p:sp>
      <p:sp>
        <p:nvSpPr>
          <p:cNvPr id="35" name="Text 28"/>
          <p:cNvSpPr txBox="1"/>
          <p:nvPr/>
        </p:nvSpPr>
        <p:spPr>
          <a:xfrm>
            <a:off x="9905695" y="7448702"/>
            <a:ext cx="1619402" cy="676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050" b="1" spc="-81" kern="0" dirty="0">
                <a:solidFill>
                  <a:srgbClr val="F5EE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4050" dirty="0"/>
          </a:p>
        </p:txBody>
      </p:sp>
      <p:sp>
        <p:nvSpPr>
          <p:cNvPr id="36" name="Text 29"/>
          <p:cNvSpPr txBox="1"/>
          <p:nvPr/>
        </p:nvSpPr>
        <p:spPr>
          <a:xfrm>
            <a:off x="9905695" y="8648395"/>
            <a:ext cx="1619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25" spc="149" kern="0" dirty="0">
                <a:solidFill>
                  <a:srgbClr val="8B65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trough · imec</a:t>
            </a:r>
            <a:endParaRPr lang="en-US" sz="825" dirty="0"/>
          </a:p>
        </p:txBody>
      </p:sp>
      <p:sp>
        <p:nvSpPr>
          <p:cNvPr id="37" name="Text 30"/>
          <p:cNvSpPr txBox="1"/>
          <p:nvPr/>
        </p:nvSpPr>
        <p:spPr>
          <a:xfrm>
            <a:off x="12859207" y="7010705"/>
            <a:ext cx="4191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231" kern="0" dirty="0">
                <a:solidFill>
                  <a:srgbClr val="8B65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imec report</a:t>
            </a:r>
            <a:endParaRPr lang="en-US" sz="825" dirty="0"/>
          </a:p>
        </p:txBody>
      </p:sp>
      <p:sp>
        <p:nvSpPr>
          <p:cNvPr id="38" name="Text 31"/>
          <p:cNvSpPr txBox="1"/>
          <p:nvPr/>
        </p:nvSpPr>
        <p:spPr>
          <a:xfrm>
            <a:off x="12859207" y="7353605"/>
            <a:ext cx="2542032" cy="876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00" b="1" spc="-405" kern="0" dirty="0">
                <a:solidFill>
                  <a:srgbClr val="1B20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</a:t>
            </a:r>
            <a:pPr algn="l" indent="0" marL="0">
              <a:buNone/>
            </a:pPr>
            <a:r>
              <a:rPr lang="en-US" sz="8100" b="1" spc="-405" kern="0" dirty="0">
                <a:solidFill>
                  <a:srgbClr val="8B651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</a:t>
            </a:r>
            <a:endParaRPr lang="en-US" sz="8100" dirty="0"/>
          </a:p>
        </p:txBody>
      </p:sp>
      <p:sp>
        <p:nvSpPr>
          <p:cNvPr id="39" name="Text 32"/>
          <p:cNvSpPr txBox="1"/>
          <p:nvPr/>
        </p:nvSpPr>
        <p:spPr>
          <a:xfrm>
            <a:off x="14796821" y="7722108"/>
            <a:ext cx="3429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50" dirty="0">
                <a:solidFill>
                  <a:srgbClr val="8B651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3450" dirty="0"/>
          </a:p>
        </p:txBody>
      </p:sp>
      <p:sp>
        <p:nvSpPr>
          <p:cNvPr id="40" name="Text 33"/>
          <p:cNvSpPr txBox="1"/>
          <p:nvPr/>
        </p:nvSpPr>
        <p:spPr>
          <a:xfrm>
            <a:off x="12859207" y="8361274"/>
            <a:ext cx="4191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6E66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imec은 AR=6 Ru 선이 AR=3 대비 선 저항을 약 40% 낮춘다고 보고했습니다.</a:t>
            </a:r>
            <a:endParaRPr lang="en-US" sz="1125" dirty="0"/>
          </a:p>
        </p:txBody>
      </p:sp>
      <p:sp>
        <p:nvSpPr>
          <p:cNvPr id="41" name="Text 34"/>
          <p:cNvSpPr txBox="1"/>
          <p:nvPr/>
        </p:nvSpPr>
        <p:spPr>
          <a:xfrm>
            <a:off x="1524305" y="9620402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결과 배리어가 필요 없고, CMP가 제한하던 종횡비(AR)를 올릴 수 있습니다.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707" y="2457907"/>
            <a:ext cx="10496398" cy="5352898"/>
          </a:xfrm>
          <a:prstGeom prst="rect">
            <a:avLst/>
          </a:prstGeom>
          <a:solidFill>
            <a:srgbClr val="F2EAD3"/>
          </a:solidFill>
          <a:ln w="12700">
            <a:solidFill>
              <a:srgbClr val="B7A6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7707" y="8191195"/>
            <a:ext cx="16592702" cy="1352398"/>
          </a:xfrm>
          <a:prstGeom prst="rect">
            <a:avLst/>
          </a:prstGeom>
          <a:solidFill>
            <a:srgbClr val="E2D8BE"/>
          </a:solidFill>
          <a:ln w="12700">
            <a:solidFill>
              <a:srgbClr val="B7A68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707" y="2457907"/>
            <a:ext cx="10477195" cy="466344"/>
          </a:xfrm>
          <a:prstGeom prst="rect">
            <a:avLst/>
          </a:prstGeom>
          <a:solidFill>
            <a:srgbClr val="E2D8BE"/>
          </a:solidFill>
          <a:ln/>
        </p:spPr>
      </p:sp>
      <p:sp>
        <p:nvSpPr>
          <p:cNvPr id="5" name="Shape 3"/>
          <p:cNvSpPr/>
          <p:nvPr/>
        </p:nvSpPr>
        <p:spPr>
          <a:xfrm>
            <a:off x="857707" y="2915107"/>
            <a:ext cx="10477195" cy="9144"/>
          </a:xfrm>
          <a:prstGeom prst="rect">
            <a:avLst/>
          </a:prstGeom>
          <a:solidFill>
            <a:srgbClr val="B7A683"/>
          </a:solidFill>
          <a:ln w="12700">
            <a:solidFill>
              <a:srgbClr val="B7A68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" y="3315614"/>
            <a:ext cx="10477195" cy="9144"/>
          </a:xfrm>
          <a:prstGeom prst="rect">
            <a:avLst/>
          </a:prstGeom>
          <a:solidFill>
            <a:srgbClr val="D1C19B"/>
          </a:solidFill>
          <a:ln w="12700">
            <a:solidFill>
              <a:srgbClr val="D1C19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" y="3314700"/>
            <a:ext cx="10477195" cy="409651"/>
          </a:xfrm>
          <a:prstGeom prst="rect">
            <a:avLst/>
          </a:prstGeom>
          <a:solidFill>
            <a:srgbClr val="000000">
              <a:alpha val="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7707" y="3715207"/>
            <a:ext cx="10477195" cy="9144"/>
          </a:xfrm>
          <a:prstGeom prst="rect">
            <a:avLst/>
          </a:prstGeom>
          <a:solidFill>
            <a:srgbClr val="D1C19B"/>
          </a:solidFill>
          <a:ln w="12700">
            <a:solidFill>
              <a:srgbClr val="D1C19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7707" y="4115714"/>
            <a:ext cx="10477195" cy="9144"/>
          </a:xfrm>
          <a:prstGeom prst="rect">
            <a:avLst/>
          </a:prstGeom>
          <a:solidFill>
            <a:srgbClr val="D1C19B"/>
          </a:solidFill>
          <a:ln w="12700">
            <a:solidFill>
              <a:srgbClr val="D1C19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707" y="4114800"/>
            <a:ext cx="10477195" cy="409651"/>
          </a:xfrm>
          <a:prstGeom prst="rect">
            <a:avLst/>
          </a:prstGeom>
          <a:solidFill>
            <a:srgbClr val="000000">
              <a:alpha val="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7707" y="4515307"/>
            <a:ext cx="10477195" cy="9144"/>
          </a:xfrm>
          <a:prstGeom prst="rect">
            <a:avLst/>
          </a:prstGeom>
          <a:solidFill>
            <a:srgbClr val="D1C19B"/>
          </a:solidFill>
          <a:ln w="12700">
            <a:solidFill>
              <a:srgbClr val="D1C19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7707" y="4515307"/>
            <a:ext cx="10477195" cy="409651"/>
          </a:xfrm>
          <a:prstGeom prst="rect">
            <a:avLst/>
          </a:prstGeom>
          <a:solidFill>
            <a:srgbClr val="A05E3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7707" y="4915814"/>
            <a:ext cx="10477195" cy="9144"/>
          </a:xfrm>
          <a:prstGeom prst="rect">
            <a:avLst/>
          </a:prstGeom>
          <a:solidFill>
            <a:srgbClr val="D1C19B"/>
          </a:solidFill>
          <a:ln w="12700">
            <a:solidFill>
              <a:srgbClr val="D1C19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7707" y="5315407"/>
            <a:ext cx="10477195" cy="9144"/>
          </a:xfrm>
          <a:prstGeom prst="rect">
            <a:avLst/>
          </a:prstGeom>
          <a:solidFill>
            <a:srgbClr val="D1C19B"/>
          </a:solidFill>
          <a:ln w="12700">
            <a:solidFill>
              <a:srgbClr val="D1C19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7707" y="5315407"/>
            <a:ext cx="10477195" cy="448056"/>
          </a:xfrm>
          <a:prstGeom prst="rect">
            <a:avLst/>
          </a:prstGeom>
          <a:solidFill>
            <a:srgbClr val="A05E32">
              <a:alpha val="1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57707" y="5754319"/>
            <a:ext cx="10477195" cy="9144"/>
          </a:xfrm>
          <a:prstGeom prst="rect">
            <a:avLst/>
          </a:prstGeom>
          <a:solidFill>
            <a:srgbClr val="D1C19B"/>
          </a:solidFill>
          <a:ln w="12700">
            <a:solidFill>
              <a:srgbClr val="D1C19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7707" y="5753405"/>
            <a:ext cx="10477195" cy="409651"/>
          </a:xfrm>
          <a:prstGeom prst="rect">
            <a:avLst/>
          </a:prstGeom>
          <a:solidFill>
            <a:srgbClr val="000000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57707" y="6153912"/>
            <a:ext cx="10477195" cy="9144"/>
          </a:xfrm>
          <a:prstGeom prst="rect">
            <a:avLst/>
          </a:prstGeom>
          <a:solidFill>
            <a:srgbClr val="D1C19B"/>
          </a:solidFill>
          <a:ln w="12700">
            <a:solidFill>
              <a:srgbClr val="D1C19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707" y="6152998"/>
            <a:ext cx="10477195" cy="409651"/>
          </a:xfrm>
          <a:prstGeom prst="rect">
            <a:avLst/>
          </a:prstGeom>
          <a:solidFill>
            <a:srgbClr val="A05E32">
              <a:alpha val="1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57707" y="6553505"/>
            <a:ext cx="10477195" cy="9144"/>
          </a:xfrm>
          <a:prstGeom prst="rect">
            <a:avLst/>
          </a:prstGeom>
          <a:solidFill>
            <a:srgbClr val="D1C19B"/>
          </a:solidFill>
          <a:ln w="12700">
            <a:solidFill>
              <a:srgbClr val="D1C19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7707" y="6954012"/>
            <a:ext cx="10477195" cy="9144"/>
          </a:xfrm>
          <a:prstGeom prst="rect">
            <a:avLst/>
          </a:prstGeom>
          <a:solidFill>
            <a:srgbClr val="D1C19B"/>
          </a:solidFill>
          <a:ln w="12700">
            <a:solidFill>
              <a:srgbClr val="D1C19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7707" y="6953098"/>
            <a:ext cx="10477195" cy="400507"/>
          </a:xfrm>
          <a:prstGeom prst="rect">
            <a:avLst/>
          </a:prstGeom>
          <a:solidFill>
            <a:srgbClr val="000000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7707" y="8191195"/>
            <a:ext cx="437998" cy="1333195"/>
          </a:xfrm>
          <a:prstGeom prst="rect">
            <a:avLst/>
          </a:prstGeom>
          <a:solidFill>
            <a:srgbClr val="A05E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20195" y="2457907"/>
            <a:ext cx="5753405" cy="4134002"/>
          </a:xfrm>
          <a:prstGeom prst="rect">
            <a:avLst/>
          </a:prstGeom>
          <a:solidFill>
            <a:srgbClr val="F2EAD3"/>
          </a:solidFill>
          <a:ln w="25400">
            <a:solidFill>
              <a:srgbClr val="B7A683"/>
            </a:solidFill>
            <a:prstDash val="solid"/>
          </a:ln>
        </p:spPr>
      </p:sp>
      <p:pic>
        <p:nvPicPr>
          <p:cNvPr id="25" name="Image 0" descr="gen-dedup-38df9db6e161f3392b891db207af05d4.png">    </p:cNvPr>
          <p:cNvPicPr>
            <a:picLocks noChangeAspect="1"/>
          </p:cNvPicPr>
          <p:nvPr/>
        </p:nvPicPr>
        <p:blipFill>
          <a:blip r:embed="rId1"/>
          <a:srcRect l="-342" r="-342" t="0" b="0"/>
          <a:stretch/>
        </p:blipFill>
        <p:spPr>
          <a:xfrm>
            <a:off x="857707" y="4515307"/>
            <a:ext cx="38405" cy="400507"/>
          </a:xfrm>
          <a:prstGeom prst="rect">
            <a:avLst/>
          </a:prstGeom>
        </p:spPr>
      </p:pic>
      <p:pic>
        <p:nvPicPr>
          <p:cNvPr id="26" name="Image 1" descr="gen-dedup-21f847e470f7bc27a896028578adc992.png">    </p:cNvPr>
          <p:cNvPicPr>
            <a:picLocks noChangeAspect="1"/>
          </p:cNvPicPr>
          <p:nvPr/>
        </p:nvPicPr>
        <p:blipFill>
          <a:blip r:embed="rId2"/>
          <a:srcRect l="-417" r="-417" t="0" b="0"/>
          <a:stretch/>
        </p:blipFill>
        <p:spPr>
          <a:xfrm>
            <a:off x="857707" y="5315407"/>
            <a:ext cx="38405" cy="437998"/>
          </a:xfrm>
          <a:prstGeom prst="rect">
            <a:avLst/>
          </a:prstGeom>
        </p:spPr>
      </p:pic>
      <p:pic>
        <p:nvPicPr>
          <p:cNvPr id="27" name="Image 2" descr="gen-dedup-38df9db6e161f3392b891db207af05d4.png">    </p:cNvPr>
          <p:cNvPicPr>
            <a:picLocks noChangeAspect="1"/>
          </p:cNvPicPr>
          <p:nvPr/>
        </p:nvPicPr>
        <p:blipFill>
          <a:blip r:embed="rId3"/>
          <a:srcRect l="-342" r="-342" t="0" b="0"/>
          <a:stretch/>
        </p:blipFill>
        <p:spPr>
          <a:xfrm>
            <a:off x="857707" y="6152998"/>
            <a:ext cx="38405" cy="400507"/>
          </a:xfrm>
          <a:prstGeom prst="rect">
            <a:avLst/>
          </a:prstGeom>
        </p:spPr>
      </p:pic>
      <p:pic>
        <p:nvPicPr>
          <p:cNvPr id="28" name="Image 3" descr="gen-dedup-7c337e1f99df0559dd379adbe97500c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6207" y="2553005"/>
            <a:ext cx="5524805" cy="39054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57707" y="761695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6E66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03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857707" y="1123798"/>
            <a:ext cx="161931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 nm 피치 2소재 완전 자기정렬 비아</a:t>
            </a:r>
            <a:pPr algn="l" indent="0" marL="0">
              <a:buNone/>
            </a:pPr>
            <a:r>
              <a:rPr lang="en-US" sz="1800" b="1" spc="-69" kern="0" dirty="0">
                <a:solidFill>
                  <a:srgbClr val="6E66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(Murdoch, VLSI 2022)</a:t>
            </a:r>
            <a:endParaRPr lang="en-US" sz="3450" dirty="0"/>
          </a:p>
        </p:txBody>
      </p:sp>
      <p:sp>
        <p:nvSpPr>
          <p:cNvPr id="31" name="Text 25"/>
          <p:cNvSpPr txBox="1"/>
          <p:nvPr/>
        </p:nvSpPr>
        <p:spPr>
          <a:xfrm>
            <a:off x="857707" y="1886407"/>
            <a:ext cx="12382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이것이 유명한 </a:t>
            </a:r>
            <a:pPr algn="l" indent="0" marL="0">
              <a:buNone/>
            </a:pPr>
            <a:r>
              <a:rPr lang="en-US" sz="1500" dirty="0">
                <a:solidFill>
                  <a:srgbClr val="A05E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“holy grail”</a:t>
            </a:r>
            <a:pPr algn="l" indent="0" marL="0">
              <a:buNone/>
            </a:pPr>
            <a:r>
              <a:rPr lang="en-US" sz="1500" dirty="0">
                <a:solidFill>
                  <a:srgbClr val="4A57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논문입니다. 핵심 수치: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14287500" y="1886407"/>
            <a:ext cx="31437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198" kern="0" dirty="0">
                <a:solidFill>
                  <a:srgbClr val="A05E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metrics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14287500" y="2133295"/>
            <a:ext cx="31437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162" kern="0" dirty="0">
                <a:solidFill>
                  <a:srgbClr val="6E66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VLSI 2022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1620195" y="6648602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E66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출처 · imec-int.com · AR=3 vs AR=6 18 nm pitch</a:t>
            </a:r>
            <a:endParaRPr lang="en-US" sz="975" dirty="0"/>
          </a:p>
        </p:txBody>
      </p:sp>
      <p:sp>
        <p:nvSpPr>
          <p:cNvPr id="35" name="Text 29"/>
          <p:cNvSpPr txBox="1"/>
          <p:nvPr/>
        </p:nvSpPr>
        <p:spPr>
          <a:xfrm>
            <a:off x="1238098" y="2619756"/>
            <a:ext cx="3620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52" kern="0" dirty="0">
                <a:solidFill>
                  <a:srgbClr val="A05E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항목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5143500" y="2619756"/>
            <a:ext cx="5906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52" kern="0" dirty="0">
                <a:solidFill>
                  <a:srgbClr val="A05E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값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1238098" y="3019349"/>
            <a:ext cx="3620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금속 피치</a:t>
            </a:r>
            <a:endParaRPr lang="en-US" sz="1425" dirty="0"/>
          </a:p>
        </p:txBody>
      </p:sp>
      <p:sp>
        <p:nvSpPr>
          <p:cNvPr id="38" name="Text 32"/>
          <p:cNvSpPr txBox="1"/>
          <p:nvPr/>
        </p:nvSpPr>
        <p:spPr>
          <a:xfrm>
            <a:off x="5143500" y="3019349"/>
            <a:ext cx="5906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A57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 → 18 nm</a:t>
            </a:r>
            <a:pPr algn="l" indent="0" marL="0">
              <a:buNone/>
            </a:pPr>
            <a:r>
              <a:rPr lang="en-US" sz="1425" dirty="0">
                <a:solidFill>
                  <a:srgbClr val="6E66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(2소재 실증)</a:t>
            </a:r>
            <a:endParaRPr lang="en-US" sz="1425" dirty="0"/>
          </a:p>
        </p:txBody>
      </p:sp>
      <p:sp>
        <p:nvSpPr>
          <p:cNvPr id="39" name="Text 33"/>
          <p:cNvSpPr txBox="1"/>
          <p:nvPr/>
        </p:nvSpPr>
        <p:spPr>
          <a:xfrm>
            <a:off x="1238098" y="3419856"/>
            <a:ext cx="3620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선폭(CD)</a:t>
            </a:r>
            <a:endParaRPr lang="en-US" sz="1425" dirty="0"/>
          </a:p>
        </p:txBody>
      </p:sp>
      <p:sp>
        <p:nvSpPr>
          <p:cNvPr id="40" name="Text 34"/>
          <p:cNvSpPr txBox="1"/>
          <p:nvPr/>
        </p:nvSpPr>
        <p:spPr>
          <a:xfrm>
            <a:off x="5143500" y="3419856"/>
            <a:ext cx="5906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A57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 nm, PVD Ru 30 nm → AR ≈ 3</a:t>
            </a:r>
            <a:endParaRPr lang="en-US" sz="1425" dirty="0"/>
          </a:p>
        </p:txBody>
      </p:sp>
      <p:sp>
        <p:nvSpPr>
          <p:cNvPr id="41" name="Text 35"/>
          <p:cNvSpPr txBox="1"/>
          <p:nvPr/>
        </p:nvSpPr>
        <p:spPr>
          <a:xfrm>
            <a:off x="1238098" y="3819449"/>
            <a:ext cx="3620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전도 단면적</a:t>
            </a:r>
            <a:endParaRPr lang="en-US" sz="1425" dirty="0"/>
          </a:p>
        </p:txBody>
      </p:sp>
      <p:sp>
        <p:nvSpPr>
          <p:cNvPr id="42" name="Text 36"/>
          <p:cNvSpPr txBox="1"/>
          <p:nvPr/>
        </p:nvSpPr>
        <p:spPr>
          <a:xfrm>
            <a:off x="5143500" y="3819449"/>
            <a:ext cx="5906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A57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명목 270 nm² / 전기적 250 nm² / 물리적 257 nm²</a:t>
            </a:r>
            <a:endParaRPr lang="en-US" sz="1425" dirty="0"/>
          </a:p>
        </p:txBody>
      </p:sp>
      <p:sp>
        <p:nvSpPr>
          <p:cNvPr id="43" name="Text 37"/>
          <p:cNvSpPr txBox="1"/>
          <p:nvPr/>
        </p:nvSpPr>
        <p:spPr>
          <a:xfrm>
            <a:off x="1238098" y="4219956"/>
            <a:ext cx="3620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EUV 비아 홀</a:t>
            </a:r>
            <a:endParaRPr lang="en-US" sz="1425" dirty="0"/>
          </a:p>
        </p:txBody>
      </p:sp>
      <p:sp>
        <p:nvSpPr>
          <p:cNvPr id="44" name="Text 38"/>
          <p:cNvSpPr txBox="1"/>
          <p:nvPr/>
        </p:nvSpPr>
        <p:spPr>
          <a:xfrm>
            <a:off x="5143500" y="4219956"/>
            <a:ext cx="5906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A57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최소 20 nm → 접촉면적 180 nm²</a:t>
            </a:r>
            <a:endParaRPr lang="en-US" sz="1425" dirty="0"/>
          </a:p>
        </p:txBody>
      </p:sp>
      <p:sp>
        <p:nvSpPr>
          <p:cNvPr id="45" name="Text 39"/>
          <p:cNvSpPr txBox="1"/>
          <p:nvPr/>
        </p:nvSpPr>
        <p:spPr>
          <a:xfrm>
            <a:off x="1238098" y="4619549"/>
            <a:ext cx="3620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비아 저항</a:t>
            </a:r>
            <a:endParaRPr lang="en-US" sz="1425" dirty="0"/>
          </a:p>
        </p:txBody>
      </p:sp>
      <p:sp>
        <p:nvSpPr>
          <p:cNvPr id="46" name="Text 40"/>
          <p:cNvSpPr txBox="1"/>
          <p:nvPr/>
        </p:nvSpPr>
        <p:spPr>
          <a:xfrm>
            <a:off x="5143500" y="4619549"/>
            <a:ext cx="5906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8B65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 Ω &lt; R &lt; 60 Ω</a:t>
            </a:r>
            <a:pPr algn="l" indent="0" marL="0">
              <a:buNone/>
            </a:pPr>
            <a:r>
              <a:rPr lang="en-US" sz="1425" dirty="0">
                <a:solidFill>
                  <a:srgbClr val="6E66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(18–26 nm 피치 전 구간)</a:t>
            </a:r>
            <a:endParaRPr lang="en-US" sz="1425" dirty="0"/>
          </a:p>
        </p:txBody>
      </p:sp>
      <p:sp>
        <p:nvSpPr>
          <p:cNvPr id="47" name="Text 41"/>
          <p:cNvSpPr txBox="1"/>
          <p:nvPr/>
        </p:nvSpPr>
        <p:spPr>
          <a:xfrm>
            <a:off x="1238098" y="5020056"/>
            <a:ext cx="3620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 저항률</a:t>
            </a:r>
            <a:endParaRPr lang="en-US" sz="1425" dirty="0"/>
          </a:p>
        </p:txBody>
      </p:sp>
      <p:sp>
        <p:nvSpPr>
          <p:cNvPr id="48" name="Text 42"/>
          <p:cNvSpPr txBox="1"/>
          <p:nvPr/>
        </p:nvSpPr>
        <p:spPr>
          <a:xfrm>
            <a:off x="5143500" y="5020056"/>
            <a:ext cx="5906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A57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에칭 후 13–15 µΩ·cm, 420 °C 열처리 후 14–15</a:t>
            </a:r>
            <a:endParaRPr lang="en-US" sz="1425" dirty="0"/>
          </a:p>
        </p:txBody>
      </p:sp>
      <p:sp>
        <p:nvSpPr>
          <p:cNvPr id="49" name="Text 43"/>
          <p:cNvSpPr txBox="1"/>
          <p:nvPr/>
        </p:nvSpPr>
        <p:spPr>
          <a:xfrm>
            <a:off x="1238098" y="5429707"/>
            <a:ext cx="3620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Ru가 Cu를 이기는 지점</a:t>
            </a:r>
            <a:endParaRPr lang="en-US" sz="1425" dirty="0"/>
          </a:p>
        </p:txBody>
      </p:sp>
      <p:sp>
        <p:nvSpPr>
          <p:cNvPr id="50" name="Text 44"/>
          <p:cNvSpPr txBox="1"/>
          <p:nvPr/>
        </p:nvSpPr>
        <p:spPr>
          <a:xfrm>
            <a:off x="5143500" y="5429707"/>
            <a:ext cx="5906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8B65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전도 단면적 268 nm² 미만</a:t>
            </a:r>
            <a:pPr algn="l" indent="0" marL="0">
              <a:buNone/>
            </a:pPr>
            <a:r>
              <a:rPr lang="en-US" sz="1425" dirty="0">
                <a:solidFill>
                  <a:srgbClr val="6E66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(≈ CD 12 nm 미만)</a:t>
            </a:r>
            <a:endParaRPr lang="en-US" sz="1425" dirty="0"/>
          </a:p>
        </p:txBody>
      </p:sp>
      <p:sp>
        <p:nvSpPr>
          <p:cNvPr id="51" name="Text 45"/>
          <p:cNvSpPr txBox="1"/>
          <p:nvPr/>
        </p:nvSpPr>
        <p:spPr>
          <a:xfrm>
            <a:off x="1238098" y="5857646"/>
            <a:ext cx="3620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정렬 허용도</a:t>
            </a:r>
            <a:endParaRPr lang="en-US" sz="1425" dirty="0"/>
          </a:p>
        </p:txBody>
      </p:sp>
      <p:sp>
        <p:nvSpPr>
          <p:cNvPr id="52" name="Text 46"/>
          <p:cNvSpPr txBox="1"/>
          <p:nvPr/>
        </p:nvSpPr>
        <p:spPr>
          <a:xfrm>
            <a:off x="5143500" y="5857646"/>
            <a:ext cx="5906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A57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의도적 오정렬 ±5 nm까지 비아 저항 유지</a:t>
            </a:r>
            <a:endParaRPr lang="en-US" sz="1425" dirty="0"/>
          </a:p>
        </p:txBody>
      </p:sp>
      <p:sp>
        <p:nvSpPr>
          <p:cNvPr id="53" name="Text 47"/>
          <p:cNvSpPr txBox="1"/>
          <p:nvPr/>
        </p:nvSpPr>
        <p:spPr>
          <a:xfrm>
            <a:off x="1238098" y="6258154"/>
            <a:ext cx="3620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절연파괴</a:t>
            </a:r>
            <a:endParaRPr lang="en-US" sz="1425" dirty="0"/>
          </a:p>
        </p:txBody>
      </p:sp>
      <p:sp>
        <p:nvSpPr>
          <p:cNvPr id="54" name="Text 48"/>
          <p:cNvSpPr txBox="1"/>
          <p:nvPr/>
        </p:nvSpPr>
        <p:spPr>
          <a:xfrm>
            <a:off x="5143500" y="6258154"/>
            <a:ext cx="5906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8B65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&gt;9 MV/cm @100 °C</a:t>
            </a:r>
            <a:pPr algn="l" indent="0" marL="0">
              <a:buNone/>
            </a:pPr>
            <a:r>
              <a:rPr lang="en-US" sz="1425" dirty="0">
                <a:solidFill>
                  <a:srgbClr val="6E66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26 nm 피치에서 &gt;16 V</a:t>
            </a:r>
            <a:endParaRPr lang="en-US" sz="1425" dirty="0"/>
          </a:p>
        </p:txBody>
      </p:sp>
      <p:sp>
        <p:nvSpPr>
          <p:cNvPr id="55" name="Text 49"/>
          <p:cNvSpPr txBox="1"/>
          <p:nvPr/>
        </p:nvSpPr>
        <p:spPr>
          <a:xfrm>
            <a:off x="1238098" y="6657746"/>
            <a:ext cx="3620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</a:t>
            </a:r>
            <a:endParaRPr lang="en-US" sz="1425" dirty="0"/>
          </a:p>
        </p:txBody>
      </p:sp>
      <p:sp>
        <p:nvSpPr>
          <p:cNvPr id="56" name="Text 50"/>
          <p:cNvSpPr txBox="1"/>
          <p:nvPr/>
        </p:nvSpPr>
        <p:spPr>
          <a:xfrm>
            <a:off x="5143500" y="6657746"/>
            <a:ext cx="5906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A57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MA/cm², 300 h 저항 변화 없음</a:t>
            </a:r>
            <a:endParaRPr lang="en-US" sz="1425" dirty="0"/>
          </a:p>
        </p:txBody>
      </p:sp>
      <p:sp>
        <p:nvSpPr>
          <p:cNvPr id="57" name="Text 51"/>
          <p:cNvSpPr txBox="1"/>
          <p:nvPr/>
        </p:nvSpPr>
        <p:spPr>
          <a:xfrm>
            <a:off x="1238098" y="7058254"/>
            <a:ext cx="3620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열저장</a:t>
            </a:r>
            <a:endParaRPr lang="en-US" sz="1425" dirty="0"/>
          </a:p>
        </p:txBody>
      </p:sp>
      <p:sp>
        <p:nvSpPr>
          <p:cNvPr id="58" name="Text 52"/>
          <p:cNvSpPr txBox="1"/>
          <p:nvPr/>
        </p:nvSpPr>
        <p:spPr>
          <a:xfrm>
            <a:off x="5143500" y="7058254"/>
            <a:ext cx="5906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4A57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 °C, 120 h 저항·수율 손실 없음</a:t>
            </a:r>
            <a:endParaRPr lang="en-US" sz="1425" dirty="0"/>
          </a:p>
        </p:txBody>
      </p:sp>
      <p:sp>
        <p:nvSpPr>
          <p:cNvPr id="59" name="Text 53"/>
          <p:cNvSpPr txBox="1"/>
          <p:nvPr/>
        </p:nvSpPr>
        <p:spPr>
          <a:xfrm>
            <a:off x="1619402" y="8401507"/>
            <a:ext cx="1543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B65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patterning combo · closing</a:t>
            </a:r>
            <a:endParaRPr lang="en-US" sz="900" dirty="0"/>
          </a:p>
        </p:txBody>
      </p:sp>
      <p:sp>
        <p:nvSpPr>
          <p:cNvPr id="60" name="Text 54"/>
          <p:cNvSpPr txBox="1"/>
          <p:nvPr/>
        </p:nvSpPr>
        <p:spPr>
          <a:xfrm>
            <a:off x="1619402" y="8725205"/>
            <a:ext cx="15430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0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패터닝 조합은 Mx가 EUV+SADP, Mx+1과 비아가 EUV 단일 노광입니다. 상부 금속은 정전용량 증가를 상쇄하려고 에어갭과 조합합니다.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2026-10-03T16:47:27Z</dcterms:created>
  <dcterms:modified xsi:type="dcterms:W3CDTF">2026-10-03T16:47:27Z</dcterms:modified>
</cp:coreProperties>
</file>