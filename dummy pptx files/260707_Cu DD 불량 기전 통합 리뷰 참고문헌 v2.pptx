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d0d99e3e-247f-16c8-eefd-ae68312746f6}">
          <p14:sldIdLst>
            <p14:sldId id="256"/>
          </p14:sldIdLst>
        </p14:section>
        <p14:section name="하드마스크·Metal Short" id="{6a49a503-c257-87e6-8895-15540f412346}">
          <p14:sldIdLst>
            <p14:sldId id="257"/>
          </p14:sldIdLst>
        </p14:section>
        <p14:section name="overCMP" id="{00a3aa46-8d69-20dd-fcc2-4aabbd17f70f}">
          <p14:sldIdLst>
            <p14:sldId id="258"/>
            <p14:sldId id="259"/>
          </p14:sldIdLst>
        </p14:section>
        <p14:section name="복구·차세대" id="{f9bd0592-32fb-dcfa-40c4-f6801d8fe752}">
          <p14:sldIdLst>
            <p14:sldId id="260"/>
          </p14:sldIdLst>
        </p14:section>
        <p14:section name="일정" id="{bfb968df-d440-5bc7-e55a-f63a9e1c248a}">
          <p14:sldIdLst>
            <p14:sldId id="261"/>
          </p14:sldIdLst>
        </p14:section>
        <p14:section name="출처" id="{756f0521-12a6-ef6c-6922-c7c5deb4d444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= 1</c:v>
                </c:pt>
              </c:strCache>
            </c:strRef>
          </c:tx>
          <c:spPr>
            <a:solidFill>
              <a:srgbClr val="0085B6"/>
            </a:solidFill>
            <a:ln w="31750" cap="flat">
              <a:solidFill>
                <a:srgbClr val="0085B6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85B6"/>
              </a:solidFill>
              <a:ln w="9525" cap="flat">
                <a:solidFill>
                  <a:srgbClr val="008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83</c:v>
                </c:pt>
                <c:pt idx="2">
                  <c:v>71</c:v>
                </c:pt>
                <c:pt idx="3">
                  <c:v>63</c:v>
                </c:pt>
                <c:pt idx="4">
                  <c:v>56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2</c:v>
                </c:pt>
              </c:strCache>
            </c:strRef>
          </c:tx>
          <c:spPr>
            <a:solidFill>
              <a:srgbClr val="16213E"/>
            </a:solidFill>
            <a:ln w="31750" cap="flat">
              <a:solidFill>
                <a:srgbClr val="16213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6213E"/>
              </a:solidFill>
              <a:ln w="9525" cap="flat">
                <a:solidFill>
                  <a:srgbClr val="1621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69</c:v>
                </c:pt>
                <c:pt idx="2">
                  <c:v>51</c:v>
                </c:pt>
                <c:pt idx="3">
                  <c:v>39</c:v>
                </c:pt>
                <c:pt idx="4">
                  <c:v>31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J / J₀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상대 MTTF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0085B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image" Target="../media/image-3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통합 · 불량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네 가지 불량 기전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927555"/>
                <a:gridCol w="1377086"/>
                <a:gridCol w="2478938"/>
                <a:gridCol w="19275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 유형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직접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파급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고갈 /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트렌치·비아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확장,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 수십 배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 잔류물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Cu/배리어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Cu·TaN 잔류 → 횡방향 누설·단락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Dishing /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과연마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 감소 → 선저항 +10–20%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J↑·줄 발열 → EM MTTF 급감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 과식각 (VFTL)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 → 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Open, 배리어 단절 →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trench_xsec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0619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2387831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트렌치 단면 TEM (기준 / 에어갭 제외 / 포함) — 유사 구조 참고, CC BY ELECTRONICS 2022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식각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침식, 챔퍼 무너짐.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338218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연마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unCMP, overCMP.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19237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HMDS·라이너·에어갭 → Semi-DD·BSPDN.</a:t>
            </a:r>
            <a:endParaRPr lang="en-US" sz="105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마모 결과 정리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2083003"/>
                <a:gridCol w="4464101"/>
                <a:gridCol w="104150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85B6"/>
                </a:solidFill>
              </a:rPr>
              <a:t>수백 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Comb 누설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수십 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TTF 단축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98064"/>
            <a:ext cx="3367735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MTTF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· 전류 밀도와 상대 MTTF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8521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상대 전류 밀도 J/J₀ VS 상대 MTTF(%) — BLACK 식, N=1 / N=2 (온도 고정)</a:t>
            </a:r>
            <a:endParaRPr lang="en-US" sz="800" dirty="0"/>
          </a:p>
        </p:txBody>
      </p:sp>
      <p:pic>
        <p:nvPicPr>
          <p:cNvPr id="7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075" y="1280160"/>
            <a:ext cx="4481465" cy="1645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675120" y="2971800"/>
            <a:ext cx="50593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6675120" y="3328416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블랙 방정식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675120" y="3657600"/>
            <a:ext cx="50593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MTTF = A · J⁻ⁿ · exp(Ea / kB·T)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675120" y="5212080"/>
            <a:ext cx="5059375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0" y="5285232"/>
            <a:ext cx="505937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Fill 트레이드오프 관계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플로팅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평탄도↑, C↑, 안테나 효과.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접지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차폐, 열 분산, 총 C 변동.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피드백.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HMDS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HMDS 실릴화 · 접촉각 회복과 지표별 판독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937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pic>
        <p:nvPicPr>
          <p:cNvPr id="7" name="Image 0" descr="/tmp/claude-0/-home-claude/e70767da-955c-5cc3-beb4-741bbeefa4c6/scratchpad/img/cu_graphene_te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36" y="1280160"/>
            <a:ext cx="3193143" cy="1645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60720" y="2971800"/>
            <a:ext cx="5973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CU/그래핀/SIO₂ 계면 TEM — 2D 배리어 참고, CC BY MATERIALS 2020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3328416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2(Si-OH) + (CH₃)₃Si-NH-Si(CH₃)₃ → 2(Si-O-Si(CH₃)₃) + NH₃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760720" y="3922776"/>
            <a:ext cx="5973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지표별 판독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4233672"/>
          <a:ext cx="5973775" cy="914400"/>
        </p:xfrm>
        <a:graphic>
          <a:graphicData uri="http://schemas.openxmlformats.org/drawingml/2006/table">
            <a:tbl>
              <a:tblPr/>
              <a:tblGrid>
                <a:gridCol w="1944929"/>
                <a:gridCol w="1388974"/>
                <a:gridCol w="1666951"/>
                <a:gridCol w="972922"/>
              </a:tblGrid>
              <a:tr h="307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지표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손상 후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HMDS 처리 후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07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Si-OH 피크 (3350 cm⁻¹)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존재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소멸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07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수분 접촉각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친수성 (저)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80–88° 이상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07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유전율 k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상승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복구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07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단축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수 배 연장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078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벌크 복구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</a:rPr>
                        <a:t>침투 깊이 한계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8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복구·차세대 기술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복구·차세대 기술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증기 처리 조건 확정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 3350 cm⁻¹ 피크 확인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접촉각 측정 (목표 ≥ 80°)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에어갭 샘플 지붕 형상 SEM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TTF 비교 (처리 전/후)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W04–W07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Semi-damascene Ru 샘플 수령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BSPDN DTCO 입력 정리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W08</a:t>
            </a:r>
            <a:endParaRPr lang="en-US" sz="850" dirty="0"/>
          </a:p>
        </p:txBody>
      </p:sp>
      <p:sp>
        <p:nvSpPr>
          <p:cNvPr id="3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참고 자료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참고 자료 · 주제별 주요 출처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75918"/>
                <a:gridCol w="3526841"/>
                <a:gridCol w="352684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출처 1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출처 2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Etching for Dual Damascene Fabrication (RIT)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Metal hardmask DD patterning (ResearchGate)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손상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Plasma Damage on Low-k Dielectric Materials (IntechOpen)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Restoration and pore sealing of plasma damaged porous low-k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Copper CMP: Process, Challenges, Advanced Nodes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Slurry components in metal CMP — review; BTA inhibitor effect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Coverage Layout Design Rules for CMP (MDPI)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Timing-aware dummy metal fill (arXiv 1711.01407)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Black's equation (Cadence / Wikipedia)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Electromigration modelling of void nucleation (IuE)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in Copper Low-k Interconnects (PMC5449018)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Leakage and breakdown reliability with low-k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Mechanism and improvements of Cu voids under via bottom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Via-shape control for Cu DD with low-k organic film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복구·차세대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Effective repair to ULK (k~2.0) by HMDS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Semi-damascene metallization (imec); BSPDN challenges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ru_barrier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280160"/>
            <a:ext cx="2727655" cy="124728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006840" y="2573162"/>
            <a:ext cx="2727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CU/RU/SIO₂ 배리어 단면 TEM — 유사 구조 참고, CC BY MATERIALS 2020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9006840" y="2929778"/>
            <a:ext cx="2727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비고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006840" y="3258962"/>
            <a:ext cx="2727655" cy="291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원문 참고 자료 81건 중 주제별 대표 2건 발췌.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수치 차트 중 '설명용' 표기는 서술(수백 배, 2–3배 등)을 그래프화한 것.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Cu DD Review Refs v2</dc:title>
  <dc:subject>PptxGenJS Presentation</dc:subject>
  <dc:creator>공정 AI팀</dc:creator>
  <cp:lastModifiedBy>공정 AI팀</cp:lastModifiedBy>
  <cp:revision>1</cp:revision>
  <dcterms:created xsi:type="dcterms:W3CDTF">2026-10-03T16:48:16Z</dcterms:created>
  <dcterms:modified xsi:type="dcterms:W3CDTF">2026-10-03T16:48:16Z</dcterms:modified>
</cp:coreProperties>
</file>