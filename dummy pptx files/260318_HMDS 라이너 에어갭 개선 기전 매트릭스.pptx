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복구·차세대" id="{d1b8f357-72cd-6226-4769-4ebe5d463f56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+mj-lt"/>
              </a:rPr>
              <a:t>수분 접촉각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접촉각 (°)</c:v>
                </c:pt>
              </c:strCache>
            </c:strRef>
          </c:tx>
          <c:spPr>
            <a:solidFill>
              <a:srgbClr val="00D9F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D9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8E7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손상 직후</c:v>
                  </c:pt>
                  <c:pt idx="1">
                    <c:v>HMDS 후 (하한)</c:v>
                  </c:pt>
                  <c:pt idx="2">
                    <c:v>HMDS 후 (상한)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80</c:v>
                </c:pt>
                <c:pt idx="2">
                  <c:v>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A5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2E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2E"/>
        </a:solidFill>
        <a:ln>
          <a:noFill/>
        </a:ln>
        <a:effectLst/>
      </c:spPr>
    </c:plotArea>
    <c:plotVisOnly val="1"/>
    <c:dispBlanksAs val="span"/>
  </c:chart>
  <c:spPr>
    <a:solidFill>
      <a:srgbClr val="1A1A2E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+mj-lt"/>
              </a:rPr>
              <a:t>층간 기생 정전용량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상대 C (%)</c:v>
                </c:pt>
              </c:strCache>
            </c:strRef>
          </c:tx>
          <c:spPr>
            <a:solidFill>
              <a:srgbClr val="00D9F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D9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8E7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Low-k 기준</c:v>
                  </c:pt>
                  <c:pt idx="1">
                    <c:v>에어갭 (하한)</c:v>
                  </c:pt>
                  <c:pt idx="2">
                    <c:v>에어갭 (상한)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83</c:v>
                </c:pt>
                <c:pt idx="2">
                  <c:v>80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A5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2E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2E"/>
        </a:solidFill>
        <a:ln>
          <a:noFill/>
        </a:ln>
        <a:effectLst/>
      </c:spPr>
    </c:plotArea>
    <c:plotVisOnly val="1"/>
    <c:dispBlanksAs val="span"/>
  </c:chart>
  <c:spPr>
    <a:solidFill>
      <a:srgbClr val="1A1A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chart" Target="/ppt/charts/chart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SP-FIX · 표 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HMDS · ALD Ru 라이너 · 에어 갭 · 개선 기전과 한계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711135" cy="914400"/>
        </p:xfrm>
        <a:graphic>
          <a:graphicData uri="http://schemas.openxmlformats.org/drawingml/2006/table">
            <a:tbl>
              <a:tblPr/>
              <a:tblGrid>
                <a:gridCol w="1284732"/>
                <a:gridCol w="2313432"/>
                <a:gridCol w="2313432"/>
                <a:gridCol w="1799539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적용 기술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주요 개선 메커니즘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신뢰성 효과 (EM / TDDB)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적용상 한계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HMDS 실릴화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Si-OH → 소수성 트리메틸기 치환, 기공 밀봉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누설 감소, TDDB TTF 대폭 증가, 접촉각 80° 이상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침투 깊이 한계 → 벌크 복구 불완전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ALD Ru 라이너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Ta → Ru 대체, Cu 체적 극대화, Seedless 도금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저항 급감, 오버행/Pinch-off 방지 → Void 억제, EM 연장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Ru–Cu 계면 스캐터링 저항 상승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에어 갭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절연막 일부 제거 → k = 1.0 공기층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기생 C 17–20% 감소, 신호 지연 개선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기계적 강도↓, 갭 지붕 불안정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/tmp/claude-0/-home-claude/e70767da-955c-5cc3-beb4-741bbeefa4c6/scratchpad/img/fsav_18m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4095" y="1280160"/>
            <a:ext cx="3200400" cy="146932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534095" y="2795209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NM 피치 RU SEMI-DAMASCENE FSAV 단면 — © IMEC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HMDS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3913632"/>
            <a:ext cx="351525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FTIR: 3350 cm⁻¹ Si-OH 피크 소멸. 수분 접촉각 80–88° 이상 회복.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유전율 복구, TDDB TTF 수 배 연장. 한계: 침투 깊이 제한 → 벌크 완전 복구는 어려움.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4338218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Ru/Co 라이너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338218" y="3913632"/>
            <a:ext cx="351525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ALD Ru/Co 라이너 1–2 nm: 젖음성·연속성 유지, Ru는 시드 없이 직접 ECP 가능.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챔퍼 무너짐 부근 오버행·핀치오프 확률 획기적 감소.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8219237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에어 갭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8219237" y="3913632"/>
            <a:ext cx="351525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배선 사이 공기층(k = 1.0) 삽입 → 기생 정전용량 17–20% 감소, RC Delay 최소화.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과제: 기계적 강도 저하, 상부 층 증착 시 갭 지붕(Pinch-off) 형상 불안정.</a:t>
            </a:r>
            <a:endParaRPr lang="en-US" sz="1050" dirty="0"/>
          </a:p>
        </p:txBody>
      </p:sp>
      <p:sp>
        <p:nvSpPr>
          <p:cNvPr id="1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SP-FIX · 접촉각 · 정전용량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접촉각 회복과 에어갭 정전용량 감소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455768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977640"/>
            <a:ext cx="545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수분 접촉각(°) — 손상 직후 값은 친수성 표현을 위한 설명용</a:t>
            </a:r>
            <a:endParaRPr lang="en-US" sz="8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78728" y="1280160"/>
          <a:ext cx="5455768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278728" y="3977640"/>
            <a:ext cx="545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층간 기생 정전용량 상대값 (%)</a:t>
            </a:r>
            <a:endParaRPr lang="en-US" sz="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43400"/>
          <a:ext cx="11277295" cy="914400"/>
        </p:xfrm>
        <a:graphic>
          <a:graphicData uri="http://schemas.openxmlformats.org/drawingml/2006/table">
            <a:tbl>
              <a:tblPr/>
              <a:tblGrid>
                <a:gridCol w="3671316"/>
                <a:gridCol w="2622499"/>
                <a:gridCol w="3147365"/>
                <a:gridCol w="183611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지표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손상 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HMDS 처리 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판정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Si-OH 피크 (3350 cm⁻¹)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존재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소멸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ECB71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수분 접촉각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친수성 (저)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80–88° 이상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ECB71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유전율 k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상승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복구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ECB71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TDDB TTF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단축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수 배 연장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ECB71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벌크 복구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침투 깊이 한계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A500"/>
                          </a:solidFill>
                        </a:rPr>
                        <a:t>조건부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924"/>
                    </a:solidFill>
                  </a:tcPr>
                </a:tc>
              </a:tr>
            </a:tbl>
          </a:graphicData>
        </a:graphic>
      </p:graphicFrame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SP-NEXT · SEMI-DAMASCENE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Semi-Damascene · 고종횡비 Ru 배선과 Cu DD 대조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pic>
        <p:nvPicPr>
          <p:cNvPr id="5" name="Image 0" descr="/tmp/claude-0/-home-claude/e70767da-955c-5cc3-beb4-741bbeefa4c6/scratchpad/img/ar3_vs_ar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4389120" cy="2651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9776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 3 VS AR 6 RU LINES · 18 NM PITCH · © IMEC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297680"/>
            <a:ext cx="43891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Ru/Mo 내화 금속 전면 증착 → 서브트랙티브 RIE로 배선 직접 형성 → 사이를 유전막/에어갭 충진.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CMP 완전 배제 → unCMP 단락, overCMP Dishing/Erosion·저항 증가 원천 제거.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금속 선식각 → 고종횡비 배선 → 전류 밀도 획기적 감소.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212080" y="1280160"/>
            <a:ext cx="6522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구조 대조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591056"/>
          <a:ext cx="6522415" cy="914400"/>
        </p:xfrm>
        <a:graphic>
          <a:graphicData uri="http://schemas.openxmlformats.org/drawingml/2006/table">
            <a:tbl>
              <a:tblPr/>
              <a:tblGrid>
                <a:gridCol w="1431950"/>
                <a:gridCol w="2545690"/>
                <a:gridCol w="254569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Cu Dual Damascene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Semi-Damascene (Ru/Mo)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배선 형성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ILD 식각 → 충진 → CMP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금속 증착 → 직접 식각 → 갭필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CMP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필수 (un/overCMP 창 협소)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불필요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배리어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TaN/Ta 필수 (체적 잠식)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불필요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종횡비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≈ 1.6 (CMP 제한)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고종횡비 가능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주요 결함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단락·Dishing·챔퍼 Void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에칭 프로파일·열처리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212080" y="5303520"/>
            <a:ext cx="6522415" cy="0"/>
          </a:xfrm>
          <a:prstGeom prst="line">
            <a:avLst/>
          </a:prstGeom>
          <a:noFill/>
          <a:ln w="9525">
            <a:solidFill>
              <a:srgbClr val="FF8E7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212080" y="5376672"/>
            <a:ext cx="65224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</a:rPr>
              <a:t>단위 공정 최적화(HMDS·ALD 라이너·에어갭)로 기존 공정 수명을 연장하되, 1.5 nm 이후는 Semi-Damascene + BSPDN 패러다임 전환이 필수.</a:t>
            </a:r>
            <a:endParaRPr lang="en-US" sz="100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ink">
  <a:themeElements>
    <a:clrScheme name="Turquoise DS ink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D9FF"/>
      </a:accent1>
      <a:accent2>
        <a:srgbClr val="00B8A9"/>
      </a:accent2>
      <a:accent3>
        <a:srgbClr val="FF8E72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ink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BEOL Liner AirGap HMDS Matrix</dc:title>
  <dc:subject>PptxGenJS Presentation</dc:subject>
  <dc:creator>공정 AI팀</dc:creator>
  <cp:lastModifiedBy>공정 AI팀</cp:lastModifiedBy>
  <cp:revision>1</cp:revision>
  <dcterms:created xsi:type="dcterms:W3CDTF">2026-10-03T16:48:15Z</dcterms:created>
  <dcterms:modified xsi:type="dcterms:W3CDTF">2026-10-03T16:48:15Z</dcterms:modified>
</cp:coreProperties>
</file>