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복구·차세대" id="{c9f7a369-cef6-9fcc-fe0f-5be7e02a0648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접촉각 (°)</c:v>
                </c:pt>
              </c:strCache>
            </c:strRef>
          </c:tx>
          <c:spPr>
            <a:solidFill>
              <a:srgbClr val="0085B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8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213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6B5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손상 직후</c:v>
                  </c:pt>
                  <c:pt idx="1">
                    <c:v>HMDS 후 (하한)</c:v>
                  </c:pt>
                  <c:pt idx="2">
                    <c:v>HMDS 후 (상한)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80</c:v>
                </c:pt>
                <c:pt idx="2">
                  <c:v>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SP-FIX · HMDS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플라즈마 손상 Low-k의 HMDS 실릴화 복구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2(Si-OH) + (CH₃)₃Si-NH-Si(CH₃)₃ → 2(Si-O-Si(CH₃)₃) + NH₃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1277295" cy="0"/>
          </a:xfrm>
          <a:prstGeom prst="line">
            <a:avLst/>
          </a:prstGeom>
          <a:noFill/>
          <a:ln w="9525">
            <a:solidFill>
              <a:srgbClr val="0085B6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6949440" cy="914400"/>
        </p:xfrm>
        <a:graphic>
          <a:graphicData uri="http://schemas.openxmlformats.org/drawingml/2006/table">
            <a:tbl>
              <a:tblPr/>
              <a:tblGrid>
                <a:gridCol w="2262226"/>
                <a:gridCol w="1615745"/>
                <a:gridCol w="1939442"/>
                <a:gridCol w="1131113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지표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손상 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HMDS 처리 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Si-OH 피크 (3350 cm⁻¹)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존재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소멸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수분 접촉각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친수성 (저)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80–88° 이상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유전율 k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상승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복구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TDDB TTF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수 배 연장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벌크 복구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침투 깊이 한계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772400" y="2103120"/>
            <a:ext cx="3962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해석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450592"/>
            <a:ext cx="3962095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O₂·F 라디칼로 메틸기 고갈 + 수분 흡수된 Low-k를 HMDS 증기 또는 H₂/He 플라즈마로 실릴화.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친수성 Si-OH → 소수성 트리메틸실릴 그룹으로 치환, 기공 밀봉(Sealing).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FTIR: 3350 cm⁻¹ Si-OH 피크 소멸. 수분 접촉각 80–88° 이상 회복.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유전율 복구, TDDB TTF 수 배 연장. 한계: 침투 깊이 제한 → 벌크 완전 복구는 어려움.</a:t>
            </a:r>
            <a:endParaRPr lang="en-US" sz="105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SP-FIX · 접촉각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접촉각 80–88° 회복 — 지표별 판정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3035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수분 접촉각(°) — 손상 직후 값은 친수성 표현을 위한 설명용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1280160"/>
            <a:ext cx="5608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판독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1609344"/>
            <a:ext cx="5608015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FTIR 3350 cm⁻¹ Si-OH 피크 소멸 = 수분 유인 결합 제거.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기공 밀봉 → 누설 경로 차단 → k 복구, TTF 수 배 연장.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침투 깊이 한계로 벌크 복구는 불완전 → 조건부.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26480" y="5212080"/>
            <a:ext cx="5608015" cy="0"/>
          </a:xfrm>
          <a:prstGeom prst="line">
            <a:avLst/>
          </a:prstGeom>
          <a:noFill/>
          <a:ln w="9525">
            <a:solidFill>
              <a:srgbClr val="16213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26480" y="5285232"/>
            <a:ext cx="560801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표면 복구 PASS, 벌크 복구 조건부 — 캡/계면 공정과 결합해 평가.</a:t>
            </a:r>
            <a:endParaRPr lang="en-US" sz="100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slate">
  <a:themeElements>
    <a:clrScheme name="Turquoise DS slate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85B6"/>
      </a:accent1>
      <a:accent2>
        <a:srgbClr val="16213E"/>
      </a:accent2>
      <a:accent3>
        <a:srgbClr val="006B5E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slat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ULK Plasma Damage HMDS Repair</dc:title>
  <dc:subject>PptxGenJS Presentation</dc:subject>
  <dc:creator>공정 AI팀</dc:creator>
  <cp:lastModifiedBy>공정 AI팀</cp:lastModifiedBy>
  <cp:revision>1</cp:revision>
  <dcterms:created xsi:type="dcterms:W3CDTF">2026-10-03T16:30:17Z</dcterms:created>
  <dcterms:modified xsi:type="dcterms:W3CDTF">2026-10-03T16:30:17Z</dcterms:modified>
</cp:coreProperties>
</file>