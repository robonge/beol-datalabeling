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영상" id="{1736a243-42fd-0f23-4c13-4d8f93db139a}">
          <p14:sldIdLst>
            <p14:sldId id="256"/>
            <p14:sldId id="257"/>
            <p14:sldId id="258"/>
            <p14:sldId id="259"/>
          </p14:sldIdLst>
        </p14:section>
        <p14:section name="출처" id="{8410f715-9ef7-e534-917e-6bb39b9d9ab1}">
          <p14:sldIdLst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BEOL SPLIT TEST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BEOL SPLIT TEST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영상 인덱스 · 확보 이미지 · IMEC 공개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006B5E"/>
          </a:solidFill>
          <a:ln w="12700">
            <a:solidFill>
              <a:srgbClr val="006B5E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확보한 imec 공개 TEM/STEM — 18 nm 피치 FSAV, AR 3 vs 6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501488" cy="3236976"/>
          </a:xfrm>
          <a:prstGeom prst="roundRect">
            <a:avLst>
              <a:gd name="adj" fmla="val 565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pic>
        <p:nvPicPr>
          <p:cNvPr id="6" name="Image 0" descr="/tmp/claude-0/-home-claude/e70767da-955c-5cc3-beb4-741bbeefa4c6/scratchpad/img/fsav_18m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5318608" cy="2743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" y="4169664"/>
            <a:ext cx="528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 NM PITCH FSAV · X-TEM · 2022-06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233008" y="1280160"/>
            <a:ext cx="5501488" cy="3236976"/>
          </a:xfrm>
          <a:prstGeom prst="roundRect">
            <a:avLst>
              <a:gd name="adj" fmla="val 565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pic>
        <p:nvPicPr>
          <p:cNvPr id="9" name="Image 1" descr="/tmp/claude-0/-home-claude/e70767da-955c-5cc3-beb4-741bbeefa4c6/scratchpad/img/ar3_vs_ar6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24448" y="1371600"/>
            <a:ext cx="5318608" cy="2743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342736" y="4169664"/>
            <a:ext cx="528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 3 VS AR 6 · X-TEM · 2022-06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00600"/>
            <a:ext cx="1127729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</a:rPr>
              <a:t>imec 기사·보도자료의 공개 이미지 (© imec). IEEE·ACS·SPIE figure는 저작권상 미수록 — 번호와 위치만 인덱싱.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</a:rPr>
              <a:t>사내망 IEEE Xplore·ACS 구독으로 원문 figure 직접 열람 권장.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영상 인덱스 · 확보 이미지 · 16 nm 피치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0085B6"/>
          </a:solidFill>
          <a:ln w="12700">
            <a:solidFill>
              <a:srgbClr val="0085B6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16 nm 피치 Ru 선 — 에칭 후 TEM과 광역 STEM (2025-05)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501488" cy="2688336"/>
          </a:xfrm>
          <a:prstGeom prst="roundRect">
            <a:avLst>
              <a:gd name="adj" fmla="val 680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pic>
        <p:nvPicPr>
          <p:cNvPr id="6" name="Image 0" descr="/tmp/claude-0/-home-claude/e70767da-955c-5cc3-beb4-741bbeefa4c6/scratchpad/img/mp16_post_etch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5318608" cy="21945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" y="3621024"/>
            <a:ext cx="528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 RU ETCH · 20 NM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233008" y="1280160"/>
            <a:ext cx="5501488" cy="2688336"/>
          </a:xfrm>
          <a:prstGeom prst="roundRect">
            <a:avLst>
              <a:gd name="adj" fmla="val 680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pic>
        <p:nvPicPr>
          <p:cNvPr id="9" name="Image 1" descr="/tmp/claude-0/-home-claude/e70767da-955c-5cc3-beb4-741bbeefa4c6/scratchpad/img/mp16_wid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24448" y="1371600"/>
            <a:ext cx="5318608" cy="21945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342736" y="3621024"/>
            <a:ext cx="528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WIDE-FIELD STEM · 200 NM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251960"/>
            <a:ext cx="26364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6B5E"/>
                </a:solidFill>
              </a:rPr>
              <a:t>8 nm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4727448"/>
            <a:ext cx="26364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선폭</a:t>
            </a:r>
            <a:endParaRPr lang="en-US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3276524" y="4251960"/>
            <a:ext cx="26364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85B6"/>
                </a:solidFill>
              </a:rPr>
              <a:t>656 Ω/µm</a:t>
            </a:r>
            <a:endParaRPr lang="en-US" sz="2600" dirty="0"/>
          </a:p>
        </p:txBody>
      </p:sp>
      <p:sp>
        <p:nvSpPr>
          <p:cNvPr id="14" name="Text 10"/>
          <p:cNvSpPr txBox="1"/>
          <p:nvPr/>
        </p:nvSpPr>
        <p:spPr>
          <a:xfrm>
            <a:off x="3276524" y="4727448"/>
            <a:ext cx="26364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평균 선저항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6095848" y="4251960"/>
            <a:ext cx="26364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6B7280"/>
                </a:solidFill>
              </a:rPr>
              <a:t>40%</a:t>
            </a:r>
            <a:endParaRPr lang="en-US" sz="2600" dirty="0"/>
          </a:p>
        </p:txBody>
      </p:sp>
      <p:sp>
        <p:nvSpPr>
          <p:cNvPr id="16" name="Text 12"/>
          <p:cNvSpPr txBox="1"/>
          <p:nvPr/>
        </p:nvSpPr>
        <p:spPr>
          <a:xfrm>
            <a:off x="6095848" y="4727448"/>
            <a:ext cx="26364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목표 충족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8915171" y="4251960"/>
            <a:ext cx="26364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B8A9"/>
                </a:solidFill>
              </a:rPr>
              <a:t>&gt;90%</a:t>
            </a:r>
            <a:endParaRPr lang="en-US" sz="2600" dirty="0"/>
          </a:p>
        </p:txBody>
      </p:sp>
      <p:sp>
        <p:nvSpPr>
          <p:cNvPr id="18" name="Text 14"/>
          <p:cNvSpPr txBox="1"/>
          <p:nvPr/>
        </p:nvSpPr>
        <p:spPr>
          <a:xfrm>
            <a:off x="8915171" y="4727448"/>
            <a:ext cx="26364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18–22 nm 수율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영상 인덱스 · 원문 figure (1/2)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원문 figure 인덱스 — 금속화·패터닝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2438705"/>
                <a:gridCol w="1218895"/>
                <a:gridCol w="2133295"/>
                <a:gridCol w="5486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원문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Figure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촬영법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보여주는 것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Soulié JAP 2024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Fig. 17(b)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X-TEM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Mo–Ru 하이브리드 배선 단면 (330 °C·5 MA/cm² 600 h 무고장 구조)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Soulié JAP 2024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Fig. 18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TEM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Ru 배선 EM 보이드 — (a) 입계, (b) 유전체 계면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Soulié JAP 2024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Fig. 1(a)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X-TEM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Intel 4의 16층 배선 스택 전체 단면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Soulié JVST B 2024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Fig. 6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X-TEM + HAADF/EDS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500 °C 열처리 CuAl₂ 막의 대나무형 입계, 자연산화막 ~4 nm, 계면층 1–2 nm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Murdoch VLSI 2022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Fig. 2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X-TEM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18 nm 피치 Ru 선 위 자기정렬 비아 — 선 방향·직교 단면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Murdoch VLSI 2022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Fig. 4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TEM + EDS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18MP 선 사이 누설 경로 없음을 원소분포로 증명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Murdoch VLSI 2022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Fig. 7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HAADF-TEM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9 nm 선 단독 및 2소재 집적 후 Mx 단면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영상 인덱스 · 원문 figure (2/2)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006B5E"/>
          </a:solidFill>
          <a:ln w="12700">
            <a:solidFill>
              <a:srgbClr val="006B5E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원문 figure 인덱스 — 집적·신뢰성·대체 배선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2438705"/>
                <a:gridCol w="1218895"/>
                <a:gridCol w="2133295"/>
                <a:gridCol w="5486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원문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Figure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촬영법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보여주는 것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Montero Alvarez IITC 2022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Fig. 2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HAADF-STEM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챔버 A vs B 에칭 — 언더컷 소거, 측벽 각도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Montero Alvarez IITC 2022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Fig. 3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HAADF-STEM + CD-SEM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8패널: 공정 A–D 하드마스크 침식 / top-down 잔류물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Montero Alvarez IITC 2022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Fig. 4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ABF-STEM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AR 7.7 슈퍼비아 Ru 충진과 M1 착지면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Shah ACS AMI 2026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TEM + ACOM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18 nm 피치 Ru 선 원통형 변형·결정방위 맵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Vanstreels APL 2014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in-situ SEM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BEOL 마이크로빔 굽힘 균열 생성·전파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Xu Micromachines 2022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Fig. 6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SEM 7패널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CNT 비아 공정 전과정, (g) 60 nm 비아 Ni 촉매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Xu Micromachines 2022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Fig. 4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TEM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80/50/28 nm Cu 선 입계 분포 변화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12064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Ru EM 보이드가 입계·계면 두 곳에서 별도로 생긴다는 것(JAP Fig. 18)과 CuAl₂ 대나무형 입계(JVST B Fig. 6)는 사진이 수치를 설명하는 전형.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데이터 공백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0085B6"/>
          </a:solidFill>
          <a:ln w="12700">
            <a:solidFill>
              <a:srgbClr val="0085B6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20편으로는 답이 안 나오는 것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3759098"/>
                <a:gridCol w="3759098"/>
                <a:gridCol w="3759098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미확보 항목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현황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확보 경로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18 nm 피치 2소재 모듈 전기적 수율 수치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'수율 손실 없음'만 기술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imec 직접 문의 / IITC 2025 후속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에어갭 치수 (폭·높이)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미공개 — RC·자기발열 재현 불가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원문 저자 문의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FEOL→BEOL 열결합 기여도 %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Lofrano ITherm 2022 전문 비공개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IEEE Xplore 구독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12층·18 nm 스택 층별 열전도도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제3자 실측치로 대체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ECTC 2024 accepted manuscript (Lirias)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1차원 열모델 오차 %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'significant'만 기술 (JJAP 2023)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원문 보충자료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출처 · 19편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참고 문헌 — 제1저자·연도·출처·접근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2188159"/>
                <a:gridCol w="3703320"/>
                <a:gridCol w="3703320"/>
                <a:gridCol w="168341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</a:rPr>
                        <a:t>제1저자·연도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</a:rPr>
                        <a:t>제목 (요약)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</a:rPr>
                        <a:t>출처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</a:rPr>
                        <a:t>접근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Soulié 2024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Selecting alternative metals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J. Appl. Phys. 136, 171101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CC BY-NC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Soulié 2024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Cu₁₋ₓAlₓ films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JVST B 42, 043203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arXiv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Sankaran 2021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MAX ceramics screening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Phys. Rev. Mater. 5, 056002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arXiv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Moors 2022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Anisotropic metal screening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Phys. Rev. Mater. 6, 123804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arXiv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Shah 2026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18 nm pitch Ru anomaly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ACS AMI 18, 20763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초록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Murdoch 2022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Semi-damascene FSAV 18MP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VLSI Symp. 2022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imec 전문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Montero Alvarez 2022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3-level supervias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IITC 2022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imec 전문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Das 2021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Scatterometry 14 nm HP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Proc. SPIE 11611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벤더 리프린트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Zahedmanesh 2024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EM in mesh networks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Micromachines 15, 956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CC BY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Esposto 2025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Unit-cell EM compliance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IEEE TDMR 25, 232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Green OA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Fang 2025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3D BEOL TDDB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IEEE TED 72, 2165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초록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Croes 2015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TDDB lifetime models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ECS JSS 4, N3094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CC BY-NC-ND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Kocaay 2017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LER &amp; spacing on TDDB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Microelectron. Reliab. 76-77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초록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Vanstreels 2014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In-situ SEM microbeam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Appl. Phys. Lett. 105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초록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Giusi 2025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LF noise MIM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IEEE TED 72, 1933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imec 전문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Chang 2024/2025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BEOL/BSPDN thermal modeling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ECTC / IEEE TCPMT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Green OA / 초록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Chen 2025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Non-uniform power BSPDN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arXiv:2508.02284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오픈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Xu 2022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CNT interconnects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Micromachines 13, 1148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CC BY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Pei 2023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Graphene SRAM interconnect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IEEE TED 70, 230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manuscript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deep">
  <a:themeElements>
    <a:clrScheme name="Turquoise DS deep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006B5E"/>
      </a:accent1>
      <a:accent2>
        <a:srgbClr val="0085B6"/>
      </a:accent2>
      <a:accent3>
        <a:srgbClr val="16213E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deep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BEOL 전자현미경 영상 인덱스와 출처</dc:title>
  <dc:subject>PptxGenJS Presentation</dc:subject>
  <dc:creator>공정 AI팀</dc:creator>
  <cp:lastModifiedBy>공정 AI팀</cp:lastModifiedBy>
  <cp:revision>1</cp:revision>
  <dcterms:created xsi:type="dcterms:W3CDTF">2026-10-03T16:10:14Z</dcterms:created>
  <dcterms:modified xsi:type="dcterms:W3CDTF">2026-10-03T16:10:14Z</dcterms:modified>
</cp:coreProperties>
</file>