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슬라이드는 dummy BEOL 평가 보고서 파일 05의 첫 페이지로, 실험의 목적과 split 정의를 다룹니다.
M2 단에서 low-k etch 가스를 CF4/O2 (Split A, W1~W4) 와 C4F8/N2 (Split B, W5~W8) 두 갈래로 두고 동일 IMD/BM/CMP 흐름에서 진행했다고 가정합니다.
AASI 트치상단 25.3 nm, ASEI 트치중단 16.3 nm, AMI 비아 9.0 nm, ACI 세정후 9.1 nm 네 가지 CD 메트릭으로 보고합니다.
Split B 가 보호막 형성 친화적이라 CD bias 가 작고 균일도가 좋을 것으로 가정하지만, 분 단위 누적 damage 와 후속 ashing 영향은 데이터로 확인되어야 합니다.
모든 수치는 dummy 입니다 — "내부 테스트용 더미(가상) 데이터" 디스클레이머를 매 슬라이드에 일관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2는 단면 분석과 CD 변동을 함께 보여주는 페이지입니다.
왼쪽에는 damascene BEOL 단면 SEM과 imec BEOL toolbox 다이어그램 두 장을 출처 표기해 배치했고, 오른쪽에는 8 wafer × 4 metric (AASI, ASEI, AMI, ACI) 카드형 표를 두었습니다.
각 셀은 mean(상단 큼)과 3σ · Δ vs target(하단 작게)을 함께 보여주며, Δ 색은 split 컬러 (A=clay red, B=deep teal) 로 인코딩했습니다.
더미 데이터이지만 Split A (W1–W4, CF4/O2) 는 모든 메트릭에서 양의 bias 와 더 큰 3σ 를 보이고, Split B (W5–W8, C4F8/N2) 는 거의 target 에 붙어 있는 패턴을 의도했습니다.
특히 ASEI 의 Δ (W3 +1.6, W1 +1.3) 가 가장 큰 폭의 bias 를 보이는 점이 A 의 sidewall damage 와 일관됩니다.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3은 in-wafer 균일도를 다룹니다.
좌측에 49 site (7×7) wafer map 두 장을 두었습니다. 각각 Split A 대표 wafer (W1) 와 Split B 대표 wafer (W7) 의 ASEI bias 를 색 점으로 표현했습니다.
색 코딩은 split 컬러로 일관 — A 는 clay 계열(짙은 갈색 → 밝은 적색)으로 +0.5 ~ +1.6 nm 의 양 편차, B 는 teal + 회색 톤으로 거의 ±0.2 nm 범위에 머무는 패턴을 의도했습니다 (dummy).
우측에는 split 별 within-wafer 통계 카드 두 장 (mean ASEI / within 3σ / range / |Δ|max) 을 배치했습니다.
Split A 의 worst within-3σ 1.20 nm, range 4.1 nm 대비 Split B 는 0.55 / 2.0 nm 로 about 2배 정도 균일도가 더 좋다는 더미 결론을 도출할 수 있도록 설계했습니다.
실제 데이터 검증 시 가장자리 site (edge) 가 center 대비 큰 편차를 보이는 패턴을 보고 싶었다면 A 맵에서 위쪽 row 가 더 진하게 가도록 의도했습니다.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4는 전기 특성 결과를 두 개의 8-row 표로 정리한 페이지입니다.
좌측은 라인/시트 저항 — M2 line resistance 와 sheet resistance, 그리고 split A 평균치 대비 Δ R_L 을 표시했습니다.
우측은 비아 저항 R_V, inter-layer capacitance C_IL, leakage I_L (1V 바이어스 pA/μm) — 모두 더미 수치입니다.
의도한 패턴 — Split A 의 R_L 은 평균 1418 mΩ/μm 로 약 +1.4 ~ +3.6 % 높은 편이고 (line CD 가 +bias 로 약간 넓어진 데 따른 Cu volume 효과 + sidewall damage 영향),
Split B 는 1290 mΩ/μm 근처로 약 −7 ~ −10 % 낮아 저항이 개선됩니다.
누설은 더 큰 폭으로 갈리며 A 평균 0.93 pA/μm, B 평균 0.48 pA/μm 로 Split B 가 약 48 % 낮습니다 — low-k damage 가 leakage 에 큰 영향을 준다는 가설과 일관되게 의도했습니다.
실측에서는 같은 라인 폭이라도 B 가 R_L 낮고 누설 적게 — 실 디바이스 동일 기준 비교로 plot 가능성을 명시합니다.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슬라이드 5는 TDDB Weibull 결과입니다.
좌측에는 TDDB reference 이미지 한 장과 Split A 평균 요약 카드를 두었고, 우측에는 8 wafer 별 β / η / T_63 / T_1% 표를 배치했습니다.
더미 수치이지만 Split A (W1~W4) 의 η 는 5.0 ~ 5.7 yr 범위 (avg 5.40) 로 의도했고 β 도 1.32 ~ 1.51 로 낮은 편을 주었습니다.
Split B (W5~W8) 는 η 7.8 ~ 8.6 yr (avg 8.15), β 1.71 ~ 1.85 로 더 가파른 Weibull 분포, 더 긴 수명을 의도했습니다.
Split B 의 T_1% 도 3.1 ~ 4.0 yr 로 A 의 0.9 ~ 1.6 yr 대비 평균 2.7 배 길어, tail failure 도 개선되었음을 의도했습니다.
본 dummy 데이터에서 C4F8/N2 split 이 β 와 η 모두 우세한 패턴을 보이지만, 실제 split 의존성은 후속 post-etch treatment 나 ash/clean 단계와의 상호작용까지 봐야 확정 가능함을 노트로 명시합니다.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3879b1d8bbc9cc3cada0b9b1c4c9382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rcRect l="-2083" r="-2083" t="0" b="0"/>
          <a:stretch/>
        </p:blipFill>
        <p:spPr>
          <a:xfrm>
            <a:off x="857707" y="857707"/>
            <a:ext cx="16573500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57707" y="3524098"/>
            <a:ext cx="7905902" cy="2286000"/>
          </a:xfrm>
          <a:prstGeom prst="rect">
            <a:avLst/>
          </a:prstGeom>
          <a:solidFill>
            <a:srgbClr val="1B20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857707" y="6476695"/>
            <a:ext cx="3810305" cy="1333195"/>
          </a:xfrm>
          <a:prstGeom prst="rect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4953305" y="6476695"/>
            <a:ext cx="3810305" cy="1333195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525305" y="3524098"/>
            <a:ext cx="7925105" cy="2495398"/>
          </a:xfrm>
          <a:prstGeom prst="rect">
            <a:avLst/>
          </a:prstGeom>
          <a:noFill/>
          <a:ln w="12700">
            <a:solidFill>
              <a:srgbClr val="1B202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525305" y="6667805"/>
            <a:ext cx="2381098" cy="19202"/>
          </a:xfrm>
          <a:prstGeom prst="rect">
            <a:avLst/>
          </a:prstGeom>
          <a:solidFill>
            <a:srgbClr val="1B2027"/>
          </a:solidFill>
          <a:ln w="12700">
            <a:solidFill>
              <a:srgbClr val="1B2027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2096598" y="6667805"/>
            <a:ext cx="2381098" cy="19202"/>
          </a:xfrm>
          <a:prstGeom prst="rect">
            <a:avLst/>
          </a:prstGeom>
          <a:solidFill>
            <a:srgbClr val="1B2027"/>
          </a:solidFill>
          <a:ln w="12700">
            <a:solidFill>
              <a:srgbClr val="1B2027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4668805" y="6667805"/>
            <a:ext cx="2762402" cy="19202"/>
          </a:xfrm>
          <a:prstGeom prst="rect">
            <a:avLst/>
          </a:prstGeom>
          <a:solidFill>
            <a:srgbClr val="2E5C6A"/>
          </a:solidFill>
          <a:ln w="12700">
            <a:solidFill>
              <a:srgbClr val="2E5C6A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57707" y="8667598"/>
            <a:ext cx="16573500" cy="9144"/>
          </a:xfrm>
          <a:prstGeom prst="rect">
            <a:avLst/>
          </a:prstGeom>
          <a:solidFill>
            <a:srgbClr val="1B2027"/>
          </a:solidFill>
          <a:ln w="12700">
            <a:solidFill>
              <a:srgbClr val="1B2027">
                <a:alpha val="0"/>
              </a:srgbClr>
            </a:solidFill>
            <a:prstDash val="solid"/>
          </a:ln>
        </p:spPr>
      </p:sp>
      <p:pic>
        <p:nvPicPr>
          <p:cNvPr id="12" name="Image 1" descr="gen-dedup-33879b1d8bbc9cc3cada0b9b1c4c9382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-2083" r="-2083" t="0" b="0"/>
          <a:stretch/>
        </p:blipFill>
        <p:spPr>
          <a:xfrm>
            <a:off x="857707" y="9620402"/>
            <a:ext cx="16573500" cy="91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57707" y="1028700"/>
            <a:ext cx="338145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BEOL EVAL · FILE 05 / 20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4287500" y="1028700"/>
            <a:ext cx="3143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144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 01 / 05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287500" y="1257300"/>
            <a:ext cx="31437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 · 2-way chemistry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14287500" y="1429207"/>
            <a:ext cx="31437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· M2 · lot · 8 wafer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857707" y="1619402"/>
            <a:ext cx="14287500" cy="12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21" kern="0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Low-k 플라즈마 손상 평가 —</a:t>
            </a:r>
            <a:pPr algn="l" indent="0" marL="0">
              <a:lnSpc>
                <a:spcPct val="108000"/>
              </a:lnSpc>
              <a:buNone/>
            </a:pPr>
            <a:endParaRPr lang="en-US" sz="4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200" b="1" spc="-21" kern="0" dirty="0">
                <a:solidFill>
                  <a:srgbClr val="B85540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CF</a:t>
            </a:r>
            <a:pPr algn="l" indent="0" marL="0">
              <a:lnSpc>
                <a:spcPct val="108000"/>
              </a:lnSpc>
              <a:buNone/>
            </a:pPr>
            <a:r>
              <a:rPr lang="en-US" sz="3500" b="1" spc="-21" kern="0" dirty="0">
                <a:solidFill>
                  <a:srgbClr val="B85540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4</a:t>
            </a:r>
            <a:pPr algn="l" indent="0" marL="0">
              <a:lnSpc>
                <a:spcPct val="108000"/>
              </a:lnSpc>
              <a:buNone/>
            </a:pPr>
            <a:r>
              <a:rPr lang="en-US" sz="4200" b="1" spc="-21" kern="0" dirty="0">
                <a:solidFill>
                  <a:srgbClr val="B85540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/O</a:t>
            </a:r>
            <a:pPr algn="l" indent="0" marL="0">
              <a:lnSpc>
                <a:spcPct val="108000"/>
              </a:lnSpc>
              <a:buNone/>
            </a:pPr>
            <a:r>
              <a:rPr lang="en-US" sz="3500" b="1" spc="-21" kern="0" dirty="0">
                <a:solidFill>
                  <a:srgbClr val="B85540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2</a:t>
            </a:r>
            <a:pPr algn="l" indent="0" marL="0">
              <a:lnSpc>
                <a:spcPct val="108000"/>
              </a:lnSpc>
              <a:buNone/>
            </a:pPr>
            <a:r>
              <a:rPr lang="en-US" sz="2700" b="1" spc="-21" kern="0" dirty="0">
                <a:solidFill>
                  <a:srgbClr val="8A8378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vs</a:t>
            </a:r>
            <a:pPr algn="l" indent="0" marL="0">
              <a:lnSpc>
                <a:spcPct val="108000"/>
              </a:lnSpc>
              <a:buNone/>
            </a:pPr>
            <a:r>
              <a:rPr lang="en-US" sz="4200" b="1" spc="-21" kern="0" dirty="0">
                <a:solidFill>
                  <a:srgbClr val="2E5C6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C</a:t>
            </a:r>
            <a:pPr algn="l" indent="0" marL="0">
              <a:lnSpc>
                <a:spcPct val="108000"/>
              </a:lnSpc>
              <a:buNone/>
            </a:pPr>
            <a:r>
              <a:rPr lang="en-US" sz="3500" b="1" spc="-21" kern="0" dirty="0">
                <a:solidFill>
                  <a:srgbClr val="2E5C6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4</a:t>
            </a:r>
            <a:pPr algn="l" indent="0" marL="0">
              <a:lnSpc>
                <a:spcPct val="108000"/>
              </a:lnSpc>
              <a:buNone/>
            </a:pPr>
            <a:r>
              <a:rPr lang="en-US" sz="4200" b="1" spc="-21" kern="0" dirty="0">
                <a:solidFill>
                  <a:srgbClr val="2E5C6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F</a:t>
            </a:r>
            <a:pPr algn="l" indent="0" marL="0">
              <a:lnSpc>
                <a:spcPct val="108000"/>
              </a:lnSpc>
              <a:buNone/>
            </a:pPr>
            <a:r>
              <a:rPr lang="en-US" sz="3500" b="1" spc="-21" kern="0" dirty="0">
                <a:solidFill>
                  <a:srgbClr val="2E5C6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8</a:t>
            </a:r>
            <a:pPr algn="l" indent="0" marL="0">
              <a:lnSpc>
                <a:spcPct val="108000"/>
              </a:lnSpc>
              <a:buNone/>
            </a:pPr>
            <a:r>
              <a:rPr lang="en-US" sz="4200" b="1" spc="-21" kern="0" dirty="0">
                <a:solidFill>
                  <a:srgbClr val="2E5C6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/N</a:t>
            </a:r>
            <a:pPr algn="l" indent="0" marL="0">
              <a:lnSpc>
                <a:spcPct val="108000"/>
              </a:lnSpc>
              <a:buNone/>
            </a:pPr>
            <a:r>
              <a:rPr lang="en-US" sz="3500" b="1" spc="-21" kern="0" dirty="0">
                <a:solidFill>
                  <a:srgbClr val="2E5C6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2</a:t>
            </a:r>
            <a:pPr algn="l" indent="0" marL="0">
              <a:lnSpc>
                <a:spcPct val="108000"/>
              </a:lnSpc>
              <a:buNone/>
            </a:pPr>
            <a:r>
              <a:rPr lang="en-US" sz="4200" b="1" spc="-21" kern="0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 비교</a:t>
            </a:r>
            <a:endParaRPr lang="en-US" sz="4200" dirty="0"/>
          </a:p>
        </p:txBody>
      </p:sp>
      <p:sp>
        <p:nvSpPr>
          <p:cNvPr id="18" name="Text 13"/>
          <p:cNvSpPr txBox="1"/>
          <p:nvPr/>
        </p:nvSpPr>
        <p:spPr>
          <a:xfrm>
            <a:off x="857707" y="3029407"/>
            <a:ext cx="14287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027">
                    <a:alpha val="72000"/>
                  </a:srgbClr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Metal-2 damascene split — 8 wafer lot · 가스 조합이 CD · 균일도 · 전기 · TDDB 에 미치는 영향 분리 평가</a:t>
            </a:r>
            <a:endParaRPr lang="en-US" sz="165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4009644"/>
            <a:ext cx="3620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1E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실험 목적</a:t>
            </a:r>
            <a:endParaRPr lang="en-US" sz="225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3733495"/>
            <a:ext cx="3620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F4F1EA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PURPOSE</a:t>
            </a:r>
            <a:endParaRPr lang="en-US" sz="975" dirty="0"/>
          </a:p>
        </p:txBody>
      </p:sp>
      <p:sp>
        <p:nvSpPr>
          <p:cNvPr id="21" name="Text 16"/>
          <p:cNvSpPr txBox="1"/>
          <p:nvPr/>
        </p:nvSpPr>
        <p:spPr>
          <a:xfrm>
            <a:off x="1143000" y="4521708"/>
            <a:ext cx="7334402" cy="1022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F4F1E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동일 low-k IMD · 동일 메탈 스택에서</a:t>
            </a:r>
            <a:pPr algn="l" indent="0" marL="0">
              <a:lnSpc>
                <a:spcPts val="2475"/>
              </a:lnSpc>
              <a:buNone/>
            </a:pPr>
            <a:endParaRPr lang="en-US" sz="1650" dirty="0"/>
          </a:p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F4F1E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etch 가스를 </a:t>
            </a:r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EE8A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CF</a:t>
            </a:r>
            <a:pPr algn="l" indent="0" marL="0">
              <a:lnSpc>
                <a:spcPts val="2475"/>
              </a:lnSpc>
              <a:buNone/>
            </a:pPr>
            <a:r>
              <a:rPr lang="en-US" sz="1375" dirty="0">
                <a:solidFill>
                  <a:srgbClr val="EE8A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</a:t>
            </a:r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EE8A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/O</a:t>
            </a:r>
            <a:pPr algn="l" indent="0" marL="0">
              <a:lnSpc>
                <a:spcPts val="2475"/>
              </a:lnSpc>
              <a:buNone/>
            </a:pPr>
            <a:r>
              <a:rPr lang="en-US" sz="1375" dirty="0">
                <a:solidFill>
                  <a:srgbClr val="EE8A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F4F1E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와 </a:t>
            </a:r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7FAFB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</a:t>
            </a:r>
            <a:pPr algn="l" indent="0" marL="0">
              <a:lnSpc>
                <a:spcPts val="2475"/>
              </a:lnSpc>
              <a:buNone/>
            </a:pPr>
            <a:r>
              <a:rPr lang="en-US" sz="1375" dirty="0">
                <a:solidFill>
                  <a:srgbClr val="7FAFB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</a:t>
            </a:r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7FAFB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</a:t>
            </a:r>
            <a:pPr algn="l" indent="0" marL="0">
              <a:lnSpc>
                <a:spcPts val="2475"/>
              </a:lnSpc>
              <a:buNone/>
            </a:pPr>
            <a:r>
              <a:rPr lang="en-US" sz="1375" dirty="0">
                <a:solidFill>
                  <a:srgbClr val="7FAFB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</a:t>
            </a:r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7FAFB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/N</a:t>
            </a:r>
            <a:pPr algn="l" indent="0" marL="0">
              <a:lnSpc>
                <a:spcPts val="2475"/>
              </a:lnSpc>
              <a:buNone/>
            </a:pPr>
            <a:r>
              <a:rPr lang="en-US" sz="1375" dirty="0">
                <a:solidFill>
                  <a:srgbClr val="7FAFB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F4F1E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두 갈래로 두고,</a:t>
            </a:r>
            <a:pPr algn="l" indent="0" marL="0">
              <a:lnSpc>
                <a:spcPts val="2475"/>
              </a:lnSpc>
              <a:buNone/>
            </a:pPr>
            <a:endParaRPr lang="en-US" sz="1650" dirty="0"/>
          </a:p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F4F1E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M2 CD · 균일도 · 라인/비아 저항 · TDDB 수명 차이를 정량 분리 평가한다.</a:t>
            </a:r>
            <a:endParaRPr lang="en-US" sz="1650" dirty="0"/>
          </a:p>
        </p:txBody>
      </p:sp>
      <p:sp>
        <p:nvSpPr>
          <p:cNvPr id="22" name="Text 17"/>
          <p:cNvSpPr txBox="1"/>
          <p:nvPr/>
        </p:nvSpPr>
        <p:spPr>
          <a:xfrm>
            <a:off x="857707" y="6077102"/>
            <a:ext cx="2667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SPLIT</a:t>
            </a:r>
            <a:endParaRPr lang="en-US" sz="975" dirty="0"/>
          </a:p>
        </p:txBody>
      </p:sp>
      <p:sp>
        <p:nvSpPr>
          <p:cNvPr id="23" name="Text 18"/>
          <p:cNvSpPr txBox="1"/>
          <p:nvPr/>
        </p:nvSpPr>
        <p:spPr>
          <a:xfrm>
            <a:off x="1143000" y="6924751"/>
            <a:ext cx="3238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1E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CF</a:t>
            </a:r>
            <a:pPr algn="l" indent="0" marL="0">
              <a:buNone/>
            </a:pPr>
            <a:r>
              <a:rPr lang="en-US" sz="1875" b="1" dirty="0">
                <a:solidFill>
                  <a:srgbClr val="F4F1E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4</a:t>
            </a:r>
            <a:pPr algn="l" indent="0" marL="0">
              <a:buNone/>
            </a:pPr>
            <a:r>
              <a:rPr lang="en-US" sz="2250" b="1" dirty="0">
                <a:solidFill>
                  <a:srgbClr val="F4F1E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/O</a:t>
            </a:r>
            <a:pPr algn="l" indent="0" marL="0">
              <a:buNone/>
            </a:pPr>
            <a:r>
              <a:rPr lang="en-US" sz="1875" b="1" dirty="0">
                <a:solidFill>
                  <a:srgbClr val="F4F1E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2</a:t>
            </a:r>
            <a:pPr algn="l" indent="0" marL="0">
              <a:buNone/>
            </a:pPr>
            <a:r>
              <a:rPr lang="en-US" sz="2250" b="1" dirty="0">
                <a:solidFill>
                  <a:srgbClr val="F4F1E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 · W1–W4</a:t>
            </a:r>
            <a:endParaRPr lang="en-US" sz="2250" dirty="0"/>
          </a:p>
        </p:txBody>
      </p:sp>
      <p:sp>
        <p:nvSpPr>
          <p:cNvPr id="24" name="Text 19"/>
          <p:cNvSpPr txBox="1"/>
          <p:nvPr/>
        </p:nvSpPr>
        <p:spPr>
          <a:xfrm>
            <a:off x="1143000" y="6687007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F4F1EA">
                    <a:alpha val="78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 A</a:t>
            </a:r>
            <a:endParaRPr lang="en-US" sz="975" dirty="0"/>
          </a:p>
        </p:txBody>
      </p:sp>
      <p:sp>
        <p:nvSpPr>
          <p:cNvPr id="25" name="Text 20"/>
          <p:cNvSpPr txBox="1"/>
          <p:nvPr/>
        </p:nvSpPr>
        <p:spPr>
          <a:xfrm>
            <a:off x="1143000" y="7414870"/>
            <a:ext cx="3238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4F1EA">
                    <a:alpha val="92000"/>
                  </a:srgbClr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 F/O 비 · sidewall damage 가중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5238598" y="6924751"/>
            <a:ext cx="36576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1E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C</a:t>
            </a:r>
            <a:pPr algn="l" indent="0" marL="0">
              <a:buNone/>
            </a:pPr>
            <a:r>
              <a:rPr lang="en-US" sz="1875" b="1" dirty="0">
                <a:solidFill>
                  <a:srgbClr val="F4F1E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4</a:t>
            </a:r>
            <a:pPr algn="l" indent="0" marL="0">
              <a:buNone/>
            </a:pPr>
            <a:r>
              <a:rPr lang="en-US" sz="2250" b="1" dirty="0">
                <a:solidFill>
                  <a:srgbClr val="F4F1E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F</a:t>
            </a:r>
            <a:pPr algn="l" indent="0" marL="0">
              <a:buNone/>
            </a:pPr>
            <a:r>
              <a:rPr lang="en-US" sz="1875" b="1" dirty="0">
                <a:solidFill>
                  <a:srgbClr val="F4F1E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8</a:t>
            </a:r>
            <a:pPr algn="l" indent="0" marL="0">
              <a:buNone/>
            </a:pPr>
            <a:r>
              <a:rPr lang="en-US" sz="2250" b="1" dirty="0">
                <a:solidFill>
                  <a:srgbClr val="F4F1E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/N</a:t>
            </a:r>
            <a:pPr algn="l" indent="0" marL="0">
              <a:buNone/>
            </a:pPr>
            <a:r>
              <a:rPr lang="en-US" sz="1875" b="1" dirty="0">
                <a:solidFill>
                  <a:srgbClr val="F4F1E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2</a:t>
            </a:r>
            <a:pPr algn="l" indent="0" marL="0">
              <a:buNone/>
            </a:pPr>
            <a:r>
              <a:rPr lang="en-US" sz="2250" b="1" dirty="0">
                <a:solidFill>
                  <a:srgbClr val="F4F1E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 · W5–W8</a:t>
            </a:r>
            <a:endParaRPr lang="en-US" sz="2250" dirty="0"/>
          </a:p>
        </p:txBody>
      </p:sp>
      <p:sp>
        <p:nvSpPr>
          <p:cNvPr id="27" name="Text 22"/>
          <p:cNvSpPr txBox="1"/>
          <p:nvPr/>
        </p:nvSpPr>
        <p:spPr>
          <a:xfrm>
            <a:off x="5238598" y="6687007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F4F1EA">
                    <a:alpha val="78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 B</a:t>
            </a:r>
            <a:endParaRPr lang="en-US" sz="975" dirty="0"/>
          </a:p>
        </p:txBody>
      </p:sp>
      <p:sp>
        <p:nvSpPr>
          <p:cNvPr id="28" name="Text 23"/>
          <p:cNvSpPr txBox="1"/>
          <p:nvPr/>
        </p:nvSpPr>
        <p:spPr>
          <a:xfrm>
            <a:off x="5238598" y="7414870"/>
            <a:ext cx="3238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4F1EA">
                    <a:alpha val="92000"/>
                  </a:srgbClr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보호막 형성 우세 · 손상 완화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9810598" y="3733495"/>
            <a:ext cx="3620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FILM STACK</a:t>
            </a:r>
            <a:endParaRPr lang="en-US" sz="975" dirty="0"/>
          </a:p>
        </p:txBody>
      </p:sp>
      <p:sp>
        <p:nvSpPr>
          <p:cNvPr id="30" name="Text 25"/>
          <p:cNvSpPr txBox="1"/>
          <p:nvPr/>
        </p:nvSpPr>
        <p:spPr>
          <a:xfrm>
            <a:off x="9810598" y="3991356"/>
            <a:ext cx="3620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적층 &amp; 평가 항목</a:t>
            </a:r>
            <a:endParaRPr lang="en-US" sz="2100" dirty="0"/>
          </a:p>
        </p:txBody>
      </p:sp>
      <p:sp>
        <p:nvSpPr>
          <p:cNvPr id="31" name="Text 26"/>
          <p:cNvSpPr txBox="1"/>
          <p:nvPr/>
        </p:nvSpPr>
        <p:spPr>
          <a:xfrm>
            <a:off x="9810598" y="4533595"/>
            <a:ext cx="22485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LKD</a:t>
            </a:r>
            <a:endParaRPr lang="en-US" sz="975" dirty="0"/>
          </a:p>
        </p:txBody>
      </p:sp>
      <p:sp>
        <p:nvSpPr>
          <p:cNvPr id="32" name="Text 27"/>
          <p:cNvSpPr txBox="1"/>
          <p:nvPr/>
        </p:nvSpPr>
        <p:spPr>
          <a:xfrm>
            <a:off x="9810598" y="4753051"/>
            <a:ext cx="22485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SiOCH (k≈2.7)</a:t>
            </a:r>
            <a:endParaRPr lang="en-US" sz="1650" dirty="0"/>
          </a:p>
        </p:txBody>
      </p:sp>
      <p:sp>
        <p:nvSpPr>
          <p:cNvPr id="33" name="Text 28"/>
          <p:cNvSpPr txBox="1"/>
          <p:nvPr/>
        </p:nvSpPr>
        <p:spPr>
          <a:xfrm>
            <a:off x="12357202" y="4533595"/>
            <a:ext cx="22485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</a:t>
            </a:r>
            <a:endParaRPr lang="en-US" sz="975" dirty="0"/>
          </a:p>
        </p:txBody>
      </p:sp>
      <p:sp>
        <p:nvSpPr>
          <p:cNvPr id="34" name="Text 29"/>
          <p:cNvSpPr txBox="1"/>
          <p:nvPr/>
        </p:nvSpPr>
        <p:spPr>
          <a:xfrm>
            <a:off x="12357202" y="4753051"/>
            <a:ext cx="22485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doped SiOCH</a:t>
            </a:r>
            <a:endParaRPr lang="en-US" sz="1650" dirty="0"/>
          </a:p>
        </p:txBody>
      </p:sp>
      <p:sp>
        <p:nvSpPr>
          <p:cNvPr id="35" name="Text 30"/>
          <p:cNvSpPr txBox="1"/>
          <p:nvPr/>
        </p:nvSpPr>
        <p:spPr>
          <a:xfrm>
            <a:off x="14903806" y="4533595"/>
            <a:ext cx="22485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BM</a:t>
            </a:r>
            <a:endParaRPr lang="en-US" sz="975" dirty="0"/>
          </a:p>
        </p:txBody>
      </p:sp>
      <p:sp>
        <p:nvSpPr>
          <p:cNvPr id="36" name="Text 31"/>
          <p:cNvSpPr txBox="1"/>
          <p:nvPr/>
        </p:nvSpPr>
        <p:spPr>
          <a:xfrm>
            <a:off x="14903806" y="4753051"/>
            <a:ext cx="2478938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 / TaN · Ru liner</a:t>
            </a:r>
            <a:endParaRPr lang="en-US" sz="1650" dirty="0"/>
          </a:p>
        </p:txBody>
      </p:sp>
      <p:sp>
        <p:nvSpPr>
          <p:cNvPr id="37" name="Text 32"/>
          <p:cNvSpPr txBox="1"/>
          <p:nvPr/>
        </p:nvSpPr>
        <p:spPr>
          <a:xfrm>
            <a:off x="9810598" y="5219395"/>
            <a:ext cx="73344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MEASUREMENT</a:t>
            </a:r>
            <a:endParaRPr lang="en-US" sz="975" dirty="0"/>
          </a:p>
        </p:txBody>
      </p:sp>
      <p:sp>
        <p:nvSpPr>
          <p:cNvPr id="38" name="Text 33"/>
          <p:cNvSpPr txBox="1"/>
          <p:nvPr/>
        </p:nvSpPr>
        <p:spPr>
          <a:xfrm>
            <a:off x="9810598" y="5415991"/>
            <a:ext cx="73344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1B202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OCD (AASI·ASEI) · CD-SEM (AMI·ACI) · 49pt map</a:t>
            </a:r>
            <a:pPr algn="l" indent="0" marL="0">
              <a:lnSpc>
                <a:spcPts val="2066"/>
              </a:lnSpc>
              <a:buNone/>
            </a:pPr>
            <a:endParaRPr lang="en-US" sz="1425" dirty="0"/>
          </a:p>
          <a:p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1B202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라인 R</a:t>
            </a:r>
            <a:pPr algn="l" indent="0" marL="0">
              <a:lnSpc>
                <a:spcPts val="2066"/>
              </a:lnSpc>
              <a:buNone/>
            </a:pPr>
            <a:r>
              <a:rPr lang="en-US" sz="1187" dirty="0">
                <a:solidFill>
                  <a:srgbClr val="1B202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</a:t>
            </a:r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1B202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· 비아 R</a:t>
            </a:r>
            <a:pPr algn="l" indent="0" marL="0">
              <a:lnSpc>
                <a:spcPts val="2066"/>
              </a:lnSpc>
              <a:buNone/>
            </a:pPr>
            <a:r>
              <a:rPr lang="en-US" sz="1187" dirty="0">
                <a:solidFill>
                  <a:srgbClr val="1B202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</a:t>
            </a:r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1B202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· 누설 I</a:t>
            </a:r>
            <a:pPr algn="l" indent="0" marL="0">
              <a:lnSpc>
                <a:spcPts val="2066"/>
              </a:lnSpc>
              <a:buNone/>
            </a:pPr>
            <a:r>
              <a:rPr lang="en-US" sz="1187" dirty="0">
                <a:solidFill>
                  <a:srgbClr val="1B202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</a:t>
            </a:r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1B202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· TDDB</a:t>
            </a:r>
            <a:endParaRPr lang="en-US" sz="1425" dirty="0"/>
          </a:p>
        </p:txBody>
      </p:sp>
      <p:sp>
        <p:nvSpPr>
          <p:cNvPr id="39" name="Text 34"/>
          <p:cNvSpPr txBox="1"/>
          <p:nvPr/>
        </p:nvSpPr>
        <p:spPr>
          <a:xfrm>
            <a:off x="9525305" y="6248095"/>
            <a:ext cx="2667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CD TARGETS</a:t>
            </a:r>
            <a:endParaRPr lang="en-US" sz="975" dirty="0"/>
          </a:p>
        </p:txBody>
      </p:sp>
      <p:sp>
        <p:nvSpPr>
          <p:cNvPr id="40" name="Text 35"/>
          <p:cNvSpPr txBox="1"/>
          <p:nvPr/>
        </p:nvSpPr>
        <p:spPr>
          <a:xfrm>
            <a:off x="9715500" y="6801307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 TARGET</a:t>
            </a:r>
            <a:endParaRPr lang="en-US" sz="975" dirty="0"/>
          </a:p>
        </p:txBody>
      </p:sp>
      <p:sp>
        <p:nvSpPr>
          <p:cNvPr id="41" name="Text 36"/>
          <p:cNvSpPr txBox="1"/>
          <p:nvPr/>
        </p:nvSpPr>
        <p:spPr>
          <a:xfrm>
            <a:off x="9715500" y="7019849"/>
            <a:ext cx="20958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25.3</a:t>
            </a:r>
            <a:endParaRPr lang="en-US" sz="3450" dirty="0"/>
          </a:p>
        </p:txBody>
      </p:sp>
      <p:sp>
        <p:nvSpPr>
          <p:cNvPr id="42" name="Text 37"/>
          <p:cNvSpPr txBox="1"/>
          <p:nvPr/>
        </p:nvSpPr>
        <p:spPr>
          <a:xfrm>
            <a:off x="9715500" y="7515454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 · trench top</a:t>
            </a:r>
            <a:endParaRPr lang="en-US" sz="975" dirty="0"/>
          </a:p>
        </p:txBody>
      </p:sp>
      <p:sp>
        <p:nvSpPr>
          <p:cNvPr id="43" name="Text 38"/>
          <p:cNvSpPr txBox="1"/>
          <p:nvPr/>
        </p:nvSpPr>
        <p:spPr>
          <a:xfrm>
            <a:off x="12287707" y="6801307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 TARGET</a:t>
            </a:r>
            <a:endParaRPr lang="en-US" sz="975" dirty="0"/>
          </a:p>
        </p:txBody>
      </p:sp>
      <p:sp>
        <p:nvSpPr>
          <p:cNvPr id="44" name="Text 39"/>
          <p:cNvSpPr txBox="1"/>
          <p:nvPr/>
        </p:nvSpPr>
        <p:spPr>
          <a:xfrm>
            <a:off x="12287707" y="7019849"/>
            <a:ext cx="20958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16.3</a:t>
            </a:r>
            <a:endParaRPr lang="en-US" sz="3450" dirty="0"/>
          </a:p>
        </p:txBody>
      </p:sp>
      <p:sp>
        <p:nvSpPr>
          <p:cNvPr id="45" name="Text 40"/>
          <p:cNvSpPr txBox="1"/>
          <p:nvPr/>
        </p:nvSpPr>
        <p:spPr>
          <a:xfrm>
            <a:off x="12287707" y="7515454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 · trench mid</a:t>
            </a:r>
            <a:endParaRPr lang="en-US" sz="975" dirty="0"/>
          </a:p>
        </p:txBody>
      </p:sp>
      <p:sp>
        <p:nvSpPr>
          <p:cNvPr id="46" name="Text 41"/>
          <p:cNvSpPr txBox="1"/>
          <p:nvPr/>
        </p:nvSpPr>
        <p:spPr>
          <a:xfrm>
            <a:off x="14859000" y="6801307"/>
            <a:ext cx="2477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 · ACI TARGET</a:t>
            </a:r>
            <a:endParaRPr lang="en-US" sz="975" dirty="0"/>
          </a:p>
        </p:txBody>
      </p:sp>
      <p:sp>
        <p:nvSpPr>
          <p:cNvPr id="47" name="Text 42"/>
          <p:cNvSpPr txBox="1"/>
          <p:nvPr/>
        </p:nvSpPr>
        <p:spPr>
          <a:xfrm>
            <a:off x="14859000" y="7019849"/>
            <a:ext cx="24771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9.0</a:t>
            </a:r>
            <a:pPr algn="l" indent="0" marL="0">
              <a:buNone/>
            </a:pPr>
            <a:r>
              <a:rPr lang="en-US" sz="345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</a:t>
            </a:r>
            <a:pPr algn="l" indent="0" marL="0">
              <a:buNone/>
            </a:pPr>
            <a:r>
              <a:rPr lang="en-US" sz="34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9.1</a:t>
            </a:r>
            <a:endParaRPr lang="en-US" sz="3450" dirty="0"/>
          </a:p>
        </p:txBody>
      </p:sp>
      <p:sp>
        <p:nvSpPr>
          <p:cNvPr id="48" name="Text 43"/>
          <p:cNvSpPr txBox="1"/>
          <p:nvPr/>
        </p:nvSpPr>
        <p:spPr>
          <a:xfrm>
            <a:off x="14859000" y="7515454"/>
            <a:ext cx="2477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 · via / clean</a:t>
            </a:r>
            <a:endParaRPr lang="en-US" sz="975" dirty="0"/>
          </a:p>
        </p:txBody>
      </p:sp>
      <p:sp>
        <p:nvSpPr>
          <p:cNvPr id="49" name="Text 44"/>
          <p:cNvSpPr txBox="1"/>
          <p:nvPr/>
        </p:nvSpPr>
        <p:spPr>
          <a:xfrm>
            <a:off x="857707" y="8801100"/>
            <a:ext cx="1143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50" name="Text 45"/>
          <p:cNvSpPr txBox="1"/>
          <p:nvPr/>
        </p:nvSpPr>
        <p:spPr>
          <a:xfrm>
            <a:off x="2190902" y="8762695"/>
            <a:ext cx="1517538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동일 스택에서 두 가스 조합의 CD/전기/신뢰 차이를 8 wafer lot 으로 분리 · Split B 가 CD bias 와 균일도 모두 우세할 것으로 예상</a:t>
            </a:r>
            <a:endParaRPr lang="en-US" sz="1800" dirty="0"/>
          </a:p>
        </p:txBody>
      </p:sp>
      <p:sp>
        <p:nvSpPr>
          <p:cNvPr id="51" name="Text 46"/>
          <p:cNvSpPr txBox="1"/>
          <p:nvPr/>
        </p:nvSpPr>
        <p:spPr>
          <a:xfrm>
            <a:off x="857707" y="97539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A83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050" dirty="0"/>
          </a:p>
        </p:txBody>
      </p:sp>
      <p:sp>
        <p:nvSpPr>
          <p:cNvPr id="52" name="Text 47"/>
          <p:cNvSpPr txBox="1"/>
          <p:nvPr/>
        </p:nvSpPr>
        <p:spPr>
          <a:xfrm>
            <a:off x="14573707" y="9753905"/>
            <a:ext cx="2857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05 · experimental design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3879b1d8bbc9cc3cada0b9b1c4c9382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rcRect l="-2083" r="-2083" t="0" b="0"/>
          <a:stretch/>
        </p:blipFill>
        <p:spPr>
          <a:xfrm>
            <a:off x="857707" y="857707"/>
            <a:ext cx="16573500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57707" y="2857500"/>
            <a:ext cx="7905902" cy="2857500"/>
          </a:xfrm>
          <a:prstGeom prst="rect">
            <a:avLst/>
          </a:prstGeom>
          <a:solidFill>
            <a:srgbClr val="EAE5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857707" y="5905195"/>
            <a:ext cx="7905902" cy="2286000"/>
          </a:xfrm>
          <a:prstGeom prst="rect">
            <a:avLst/>
          </a:prstGeom>
          <a:solidFill>
            <a:srgbClr val="EAE5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239098" y="2857500"/>
            <a:ext cx="8191195" cy="5333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57707" y="8667598"/>
            <a:ext cx="16573500" cy="9144"/>
          </a:xfrm>
          <a:prstGeom prst="rect">
            <a:avLst/>
          </a:prstGeom>
          <a:solidFill>
            <a:srgbClr val="1B2027"/>
          </a:solidFill>
          <a:ln w="12700">
            <a:solidFill>
              <a:srgbClr val="1B2027">
                <a:alpha val="0"/>
              </a:srgbClr>
            </a:solidFill>
            <a:prstDash val="solid"/>
          </a:ln>
        </p:spPr>
      </p:sp>
      <p:pic>
        <p:nvPicPr>
          <p:cNvPr id="8" name="Image 1" descr="gen-dedup-33879b1d8bbc9cc3cada0b9b1c4c9382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-2083" r="-2083" t="0" b="0"/>
          <a:stretch/>
        </p:blipFill>
        <p:spPr>
          <a:xfrm>
            <a:off x="857707" y="9620402"/>
            <a:ext cx="16573500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430207" y="3810305"/>
            <a:ext cx="7810805" cy="342900"/>
          </a:xfrm>
          <a:prstGeom prst="rect">
            <a:avLst/>
          </a:prstGeom>
          <a:solidFill>
            <a:srgbClr val="1B20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430207" y="4610405"/>
            <a:ext cx="7810805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430207" y="5067605"/>
            <a:ext cx="7810805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430207" y="5524805"/>
            <a:ext cx="7810805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9430207" y="5982005"/>
            <a:ext cx="7810805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430207" y="6439205"/>
            <a:ext cx="7810805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430207" y="6896405"/>
            <a:ext cx="7810805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430207" y="7353605"/>
            <a:ext cx="7810805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134295" y="4286707"/>
            <a:ext cx="342900" cy="228600"/>
          </a:xfrm>
          <a:prstGeom prst="rect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134295" y="4743907"/>
            <a:ext cx="342900" cy="228600"/>
          </a:xfrm>
          <a:prstGeom prst="rect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134295" y="5201107"/>
            <a:ext cx="342900" cy="228600"/>
          </a:xfrm>
          <a:prstGeom prst="rect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134295" y="5658307"/>
            <a:ext cx="342900" cy="228600"/>
          </a:xfrm>
          <a:prstGeom prst="rect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134295" y="6115507"/>
            <a:ext cx="342900" cy="228600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134295" y="6572707"/>
            <a:ext cx="342900" cy="228600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134295" y="7029907"/>
            <a:ext cx="342900" cy="228600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0134295" y="7487107"/>
            <a:ext cx="342900" cy="228600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57707" y="1028700"/>
            <a:ext cx="39438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CROSS-SECTION · CD VARIATION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15430500" y="1028700"/>
            <a:ext cx="2000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144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05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57707" y="1524305"/>
            <a:ext cx="165735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단면 형태와 wafer 별 CD variation</a:t>
            </a:r>
            <a:endParaRPr lang="en-US" sz="4050" dirty="0"/>
          </a:p>
        </p:txBody>
      </p:sp>
      <p:sp>
        <p:nvSpPr>
          <p:cNvPr id="28" name="Text 23"/>
          <p:cNvSpPr txBox="1"/>
          <p:nvPr/>
        </p:nvSpPr>
        <p:spPr>
          <a:xfrm>
            <a:off x="857707" y="2197303"/>
            <a:ext cx="16573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027">
                    <a:alpha val="72000"/>
                  </a:srgbClr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Cross-SEM · TEM 이미지 — AASI · ASEI · AMI · ACI 4지표 mean / 3σ / Δ vs target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5524805" y="3047695"/>
            <a:ext cx="3048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 · 01</a:t>
            </a:r>
            <a:endParaRPr lang="en-US" sz="975" dirty="0"/>
          </a:p>
        </p:txBody>
      </p:sp>
      <p:sp>
        <p:nvSpPr>
          <p:cNvPr id="30" name="Text 25"/>
          <p:cNvSpPr txBox="1"/>
          <p:nvPr/>
        </p:nvSpPr>
        <p:spPr>
          <a:xfrm>
            <a:off x="5524805" y="3286354"/>
            <a:ext cx="30486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Cu Dual-Damascene</a:t>
            </a:r>
            <a:pPr algn="l" indent="0" marL="0">
              <a:buNone/>
            </a:pPr>
            <a:endParaRPr lang="en-US" sz="1950" dirty="0"/>
          </a:p>
          <a:p>
            <a:pPr algn="l" indent="0" marL="0">
              <a:buNone/>
            </a:pPr>
            <a:r>
              <a:rPr lang="en-US" sz="195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단면 SEM</a:t>
            </a:r>
            <a:endParaRPr lang="en-US" sz="1950" dirty="0"/>
          </a:p>
        </p:txBody>
      </p:sp>
      <p:sp>
        <p:nvSpPr>
          <p:cNvPr id="31" name="Text 26"/>
          <p:cNvSpPr txBox="1"/>
          <p:nvPr/>
        </p:nvSpPr>
        <p:spPr>
          <a:xfrm>
            <a:off x="5524805" y="4726534"/>
            <a:ext cx="3048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출처 · Springer Nature (ref.)</a:t>
            </a:r>
            <a:endParaRPr lang="en-US" sz="975" dirty="0"/>
          </a:p>
        </p:txBody>
      </p:sp>
      <p:sp>
        <p:nvSpPr>
          <p:cNvPr id="32" name="Text 27"/>
          <p:cNvSpPr txBox="1"/>
          <p:nvPr/>
        </p:nvSpPr>
        <p:spPr>
          <a:xfrm>
            <a:off x="5524805" y="4074566"/>
            <a:ext cx="304861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1B2027">
                    <a:alpha val="78000"/>
                  </a:srgbClr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M2 trench + via 계면</a:t>
            </a:r>
            <a:pPr algn="l" indent="0" marL="0">
              <a:lnSpc>
                <a:spcPts val="1958"/>
              </a:lnSpc>
              <a:buNone/>
            </a:pP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1B2027">
                    <a:alpha val="78000"/>
                  </a:srgbClr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sidewall damage 관찰</a:t>
            </a:r>
            <a:endParaRPr lang="en-US" sz="1350" dirty="0"/>
          </a:p>
        </p:txBody>
      </p:sp>
      <p:sp>
        <p:nvSpPr>
          <p:cNvPr id="33" name="Text 28"/>
          <p:cNvSpPr txBox="1"/>
          <p:nvPr/>
        </p:nvSpPr>
        <p:spPr>
          <a:xfrm>
            <a:off x="5524805" y="6096305"/>
            <a:ext cx="3048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 · 02</a:t>
            </a:r>
            <a:endParaRPr lang="en-US" sz="975" dirty="0"/>
          </a:p>
        </p:txBody>
      </p:sp>
      <p:sp>
        <p:nvSpPr>
          <p:cNvPr id="34" name="Text 29"/>
          <p:cNvSpPr txBox="1"/>
          <p:nvPr/>
        </p:nvSpPr>
        <p:spPr>
          <a:xfrm>
            <a:off x="5524805" y="6334049"/>
            <a:ext cx="30486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BEOL Toolbox</a:t>
            </a:r>
            <a:pPr algn="l" indent="0" marL="0">
              <a:buNone/>
            </a:pPr>
            <a:endParaRPr lang="en-US" sz="1950" dirty="0"/>
          </a:p>
          <a:p>
            <a:pPr algn="l" indent="0" marL="0">
              <a:buNone/>
            </a:pPr>
            <a:r>
              <a:rPr lang="en-US" sz="195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절차 다이어그램</a:t>
            </a:r>
            <a:endParaRPr lang="en-US" sz="1950" dirty="0"/>
          </a:p>
        </p:txBody>
      </p:sp>
      <p:sp>
        <p:nvSpPr>
          <p:cNvPr id="35" name="Text 30"/>
          <p:cNvSpPr txBox="1"/>
          <p:nvPr/>
        </p:nvSpPr>
        <p:spPr>
          <a:xfrm>
            <a:off x="5524805" y="7774229"/>
            <a:ext cx="3048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출처 · imec (ref.)</a:t>
            </a:r>
            <a:endParaRPr lang="en-US" sz="975" dirty="0"/>
          </a:p>
        </p:txBody>
      </p:sp>
      <p:sp>
        <p:nvSpPr>
          <p:cNvPr id="36" name="Text 31"/>
          <p:cNvSpPr txBox="1"/>
          <p:nvPr/>
        </p:nvSpPr>
        <p:spPr>
          <a:xfrm>
            <a:off x="5524805" y="7123176"/>
            <a:ext cx="304861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1B2027">
                    <a:alpha val="78000"/>
                  </a:srgbClr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Low-k ILD step 별</a:t>
            </a:r>
            <a:pPr algn="l" indent="0" marL="0">
              <a:lnSpc>
                <a:spcPts val="1958"/>
              </a:lnSpc>
              <a:buNone/>
            </a:pP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1B2027">
                    <a:alpha val="78000"/>
                  </a:srgbClr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분리 평가 항목 표시</a:t>
            </a:r>
            <a:endParaRPr lang="en-US" sz="1350" dirty="0"/>
          </a:p>
        </p:txBody>
      </p:sp>
      <p:sp>
        <p:nvSpPr>
          <p:cNvPr id="37" name="Text 32"/>
          <p:cNvSpPr txBox="1"/>
          <p:nvPr/>
        </p:nvSpPr>
        <p:spPr>
          <a:xfrm>
            <a:off x="9430207" y="30102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TABLE · nm</a:t>
            </a:r>
            <a:endParaRPr lang="en-US" sz="975" dirty="0"/>
          </a:p>
        </p:txBody>
      </p:sp>
      <p:sp>
        <p:nvSpPr>
          <p:cNvPr id="38" name="Text 33"/>
          <p:cNvSpPr txBox="1"/>
          <p:nvPr/>
        </p:nvSpPr>
        <p:spPr>
          <a:xfrm>
            <a:off x="9430207" y="3228746"/>
            <a:ext cx="5715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Wafer 별 AASI · ASEI · AMI · ACI</a:t>
            </a:r>
            <a:endParaRPr lang="en-US" sz="1800" dirty="0"/>
          </a:p>
        </p:txBody>
      </p:sp>
      <p:sp>
        <p:nvSpPr>
          <p:cNvPr id="39" name="Text 34"/>
          <p:cNvSpPr txBox="1"/>
          <p:nvPr/>
        </p:nvSpPr>
        <p:spPr>
          <a:xfrm>
            <a:off x="14097305" y="3010205"/>
            <a:ext cx="3143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</a:t>
            </a:r>
            <a:pPr algn="r" indent="0" marL="0">
              <a:buNone/>
            </a:pPr>
            <a:r>
              <a:rPr lang="en-US" sz="1125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</a:t>
            </a:r>
            <a:pPr algn="r" indent="0" marL="0">
              <a:buNone/>
            </a:pPr>
            <a:r>
              <a:rPr lang="en-US" sz="1125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Δ</a:t>
            </a:r>
            <a:pPr algn="r" indent="0" marL="0">
              <a:buNone/>
            </a:pPr>
            <a:r>
              <a:rPr lang="en-US" sz="1125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vs target · nm</a:t>
            </a:r>
            <a:endParaRPr lang="en-US" sz="1125" dirty="0"/>
          </a:p>
        </p:txBody>
      </p:sp>
      <p:sp>
        <p:nvSpPr>
          <p:cNvPr id="40" name="Text 35"/>
          <p:cNvSpPr txBox="1"/>
          <p:nvPr/>
        </p:nvSpPr>
        <p:spPr>
          <a:xfrm>
            <a:off x="9506102" y="3895344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W#</a:t>
            </a:r>
            <a:endParaRPr lang="en-US" sz="975" dirty="0"/>
          </a:p>
        </p:txBody>
      </p:sp>
      <p:sp>
        <p:nvSpPr>
          <p:cNvPr id="41" name="Text 36"/>
          <p:cNvSpPr txBox="1"/>
          <p:nvPr/>
        </p:nvSpPr>
        <p:spPr>
          <a:xfrm>
            <a:off x="10077602" y="3895344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975" dirty="0"/>
          </a:p>
        </p:txBody>
      </p:sp>
      <p:sp>
        <p:nvSpPr>
          <p:cNvPr id="42" name="Text 37"/>
          <p:cNvSpPr txBox="1"/>
          <p:nvPr/>
        </p:nvSpPr>
        <p:spPr>
          <a:xfrm>
            <a:off x="10763402" y="3619195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44" kern="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 · t 25.3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12430354" y="3619195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44" kern="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 · t 16.3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14097305" y="3619195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44" kern="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 · v 9.0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15764256" y="3619195"/>
            <a:ext cx="14767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44" kern="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 · v 9.1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9506102" y="4267505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W1</a:t>
            </a:r>
            <a:endParaRPr lang="en-US" sz="1500" dirty="0"/>
          </a:p>
        </p:txBody>
      </p:sp>
      <p:sp>
        <p:nvSpPr>
          <p:cNvPr id="47" name="Text 42"/>
          <p:cNvSpPr txBox="1"/>
          <p:nvPr/>
        </p:nvSpPr>
        <p:spPr>
          <a:xfrm>
            <a:off x="10763402" y="42007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26.4</a:t>
            </a:r>
            <a:endParaRPr lang="en-US" sz="1650" dirty="0"/>
          </a:p>
        </p:txBody>
      </p:sp>
      <p:sp>
        <p:nvSpPr>
          <p:cNvPr id="48" name="Text 43"/>
          <p:cNvSpPr txBox="1"/>
          <p:nvPr/>
        </p:nvSpPr>
        <p:spPr>
          <a:xfrm>
            <a:off x="10763402" y="44769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1.20 · Δ +1.1</a:t>
            </a:r>
            <a:endParaRPr lang="en-US" sz="900" dirty="0"/>
          </a:p>
        </p:txBody>
      </p:sp>
      <p:sp>
        <p:nvSpPr>
          <p:cNvPr id="49" name="Text 44"/>
          <p:cNvSpPr txBox="1"/>
          <p:nvPr/>
        </p:nvSpPr>
        <p:spPr>
          <a:xfrm>
            <a:off x="12430354" y="42007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17.6</a:t>
            </a:r>
            <a:endParaRPr lang="en-US" sz="1650" dirty="0"/>
          </a:p>
        </p:txBody>
      </p:sp>
      <p:sp>
        <p:nvSpPr>
          <p:cNvPr id="50" name="Text 45"/>
          <p:cNvSpPr txBox="1"/>
          <p:nvPr/>
        </p:nvSpPr>
        <p:spPr>
          <a:xfrm>
            <a:off x="12430354" y="44769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0.85 · Δ +1.3</a:t>
            </a:r>
            <a:endParaRPr lang="en-US" sz="900" dirty="0"/>
          </a:p>
        </p:txBody>
      </p:sp>
      <p:sp>
        <p:nvSpPr>
          <p:cNvPr id="51" name="Text 46"/>
          <p:cNvSpPr txBox="1"/>
          <p:nvPr/>
        </p:nvSpPr>
        <p:spPr>
          <a:xfrm>
            <a:off x="14097305" y="42007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9.6</a:t>
            </a:r>
            <a:endParaRPr lang="en-US" sz="1650" dirty="0"/>
          </a:p>
        </p:txBody>
      </p:sp>
      <p:sp>
        <p:nvSpPr>
          <p:cNvPr id="52" name="Text 47"/>
          <p:cNvSpPr txBox="1"/>
          <p:nvPr/>
        </p:nvSpPr>
        <p:spPr>
          <a:xfrm>
            <a:off x="14097305" y="44769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0.42 · Δ +0.6</a:t>
            </a:r>
            <a:endParaRPr lang="en-US" sz="900" dirty="0"/>
          </a:p>
        </p:txBody>
      </p:sp>
      <p:sp>
        <p:nvSpPr>
          <p:cNvPr id="53" name="Text 48"/>
          <p:cNvSpPr txBox="1"/>
          <p:nvPr/>
        </p:nvSpPr>
        <p:spPr>
          <a:xfrm>
            <a:off x="15764256" y="4200754"/>
            <a:ext cx="147675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9.7</a:t>
            </a:r>
            <a:endParaRPr lang="en-US" sz="1650" dirty="0"/>
          </a:p>
        </p:txBody>
      </p:sp>
      <p:sp>
        <p:nvSpPr>
          <p:cNvPr id="54" name="Text 49"/>
          <p:cNvSpPr txBox="1"/>
          <p:nvPr/>
        </p:nvSpPr>
        <p:spPr>
          <a:xfrm>
            <a:off x="15764256" y="4476902"/>
            <a:ext cx="14767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0.45 · Δ +0.6</a:t>
            </a:r>
            <a:endParaRPr lang="en-US" sz="900" dirty="0"/>
          </a:p>
        </p:txBody>
      </p:sp>
      <p:sp>
        <p:nvSpPr>
          <p:cNvPr id="55" name="Text 50"/>
          <p:cNvSpPr txBox="1"/>
          <p:nvPr/>
        </p:nvSpPr>
        <p:spPr>
          <a:xfrm>
            <a:off x="9506102" y="4724705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W2</a:t>
            </a:r>
            <a:endParaRPr lang="en-US" sz="1500" dirty="0"/>
          </a:p>
        </p:txBody>
      </p:sp>
      <p:sp>
        <p:nvSpPr>
          <p:cNvPr id="56" name="Text 51"/>
          <p:cNvSpPr txBox="1"/>
          <p:nvPr/>
        </p:nvSpPr>
        <p:spPr>
          <a:xfrm>
            <a:off x="10763402" y="46579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26.1</a:t>
            </a:r>
            <a:endParaRPr lang="en-US" sz="1650" dirty="0"/>
          </a:p>
        </p:txBody>
      </p:sp>
      <p:sp>
        <p:nvSpPr>
          <p:cNvPr id="57" name="Text 52"/>
          <p:cNvSpPr txBox="1"/>
          <p:nvPr/>
        </p:nvSpPr>
        <p:spPr>
          <a:xfrm>
            <a:off x="10763402" y="49341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1.15 · Δ +0.8</a:t>
            </a:r>
            <a:endParaRPr lang="en-US" sz="900" dirty="0"/>
          </a:p>
        </p:txBody>
      </p:sp>
      <p:sp>
        <p:nvSpPr>
          <p:cNvPr id="58" name="Text 53"/>
          <p:cNvSpPr txBox="1"/>
          <p:nvPr/>
        </p:nvSpPr>
        <p:spPr>
          <a:xfrm>
            <a:off x="12430354" y="46579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17.4</a:t>
            </a:r>
            <a:endParaRPr lang="en-US" sz="1650" dirty="0"/>
          </a:p>
        </p:txBody>
      </p:sp>
      <p:sp>
        <p:nvSpPr>
          <p:cNvPr id="59" name="Text 54"/>
          <p:cNvSpPr txBox="1"/>
          <p:nvPr/>
        </p:nvSpPr>
        <p:spPr>
          <a:xfrm>
            <a:off x="12430354" y="49341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0.82 · Δ +1.1</a:t>
            </a:r>
            <a:endParaRPr lang="en-US" sz="900" dirty="0"/>
          </a:p>
        </p:txBody>
      </p:sp>
      <p:sp>
        <p:nvSpPr>
          <p:cNvPr id="60" name="Text 55"/>
          <p:cNvSpPr txBox="1"/>
          <p:nvPr/>
        </p:nvSpPr>
        <p:spPr>
          <a:xfrm>
            <a:off x="14097305" y="46579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9.5</a:t>
            </a:r>
            <a:endParaRPr lang="en-US" sz="1650" dirty="0"/>
          </a:p>
        </p:txBody>
      </p:sp>
      <p:sp>
        <p:nvSpPr>
          <p:cNvPr id="61" name="Text 56"/>
          <p:cNvSpPr txBox="1"/>
          <p:nvPr/>
        </p:nvSpPr>
        <p:spPr>
          <a:xfrm>
            <a:off x="14097305" y="49341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0.40 · Δ +0.5</a:t>
            </a:r>
            <a:endParaRPr lang="en-US" sz="900" dirty="0"/>
          </a:p>
        </p:txBody>
      </p:sp>
      <p:sp>
        <p:nvSpPr>
          <p:cNvPr id="62" name="Text 57"/>
          <p:cNvSpPr txBox="1"/>
          <p:nvPr/>
        </p:nvSpPr>
        <p:spPr>
          <a:xfrm>
            <a:off x="15764256" y="4657954"/>
            <a:ext cx="147675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9.5</a:t>
            </a:r>
            <a:endParaRPr lang="en-US" sz="1650" dirty="0"/>
          </a:p>
        </p:txBody>
      </p:sp>
      <p:sp>
        <p:nvSpPr>
          <p:cNvPr id="63" name="Text 58"/>
          <p:cNvSpPr txBox="1"/>
          <p:nvPr/>
        </p:nvSpPr>
        <p:spPr>
          <a:xfrm>
            <a:off x="15764256" y="4934102"/>
            <a:ext cx="14767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0.42 · Δ +0.4</a:t>
            </a:r>
            <a:endParaRPr lang="en-US" sz="900" dirty="0"/>
          </a:p>
        </p:txBody>
      </p:sp>
      <p:sp>
        <p:nvSpPr>
          <p:cNvPr id="64" name="Text 59"/>
          <p:cNvSpPr txBox="1"/>
          <p:nvPr/>
        </p:nvSpPr>
        <p:spPr>
          <a:xfrm>
            <a:off x="9506102" y="5181905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W3</a:t>
            </a:r>
            <a:endParaRPr lang="en-US" sz="1500" dirty="0"/>
          </a:p>
        </p:txBody>
      </p:sp>
      <p:sp>
        <p:nvSpPr>
          <p:cNvPr id="65" name="Text 60"/>
          <p:cNvSpPr txBox="1"/>
          <p:nvPr/>
        </p:nvSpPr>
        <p:spPr>
          <a:xfrm>
            <a:off x="10763402" y="51151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26.7</a:t>
            </a:r>
            <a:endParaRPr lang="en-US" sz="1650" dirty="0"/>
          </a:p>
        </p:txBody>
      </p:sp>
      <p:sp>
        <p:nvSpPr>
          <p:cNvPr id="66" name="Text 61"/>
          <p:cNvSpPr txBox="1"/>
          <p:nvPr/>
        </p:nvSpPr>
        <p:spPr>
          <a:xfrm>
            <a:off x="10763402" y="53913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1.30 · Δ +1.4</a:t>
            </a:r>
            <a:endParaRPr lang="en-US" sz="900" dirty="0"/>
          </a:p>
        </p:txBody>
      </p:sp>
      <p:sp>
        <p:nvSpPr>
          <p:cNvPr id="67" name="Text 62"/>
          <p:cNvSpPr txBox="1"/>
          <p:nvPr/>
        </p:nvSpPr>
        <p:spPr>
          <a:xfrm>
            <a:off x="12430354" y="51151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17.9</a:t>
            </a:r>
            <a:endParaRPr lang="en-US" sz="1650" dirty="0"/>
          </a:p>
        </p:txBody>
      </p:sp>
      <p:sp>
        <p:nvSpPr>
          <p:cNvPr id="68" name="Text 63"/>
          <p:cNvSpPr txBox="1"/>
          <p:nvPr/>
        </p:nvSpPr>
        <p:spPr>
          <a:xfrm>
            <a:off x="12430354" y="53913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0.92 · Δ +1.6</a:t>
            </a:r>
            <a:endParaRPr lang="en-US" sz="900" dirty="0"/>
          </a:p>
        </p:txBody>
      </p:sp>
      <p:sp>
        <p:nvSpPr>
          <p:cNvPr id="69" name="Text 64"/>
          <p:cNvSpPr txBox="1"/>
          <p:nvPr/>
        </p:nvSpPr>
        <p:spPr>
          <a:xfrm>
            <a:off x="14097305" y="51151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9.8</a:t>
            </a:r>
            <a:endParaRPr lang="en-US" sz="1650" dirty="0"/>
          </a:p>
        </p:txBody>
      </p:sp>
      <p:sp>
        <p:nvSpPr>
          <p:cNvPr id="70" name="Text 65"/>
          <p:cNvSpPr txBox="1"/>
          <p:nvPr/>
        </p:nvSpPr>
        <p:spPr>
          <a:xfrm>
            <a:off x="14097305" y="53913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0.48 · Δ +0.8</a:t>
            </a:r>
            <a:endParaRPr lang="en-US" sz="900" dirty="0"/>
          </a:p>
        </p:txBody>
      </p:sp>
      <p:sp>
        <p:nvSpPr>
          <p:cNvPr id="71" name="Text 66"/>
          <p:cNvSpPr txBox="1"/>
          <p:nvPr/>
        </p:nvSpPr>
        <p:spPr>
          <a:xfrm>
            <a:off x="15764256" y="5115154"/>
            <a:ext cx="147675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9.8</a:t>
            </a:r>
            <a:endParaRPr lang="en-US" sz="1650" dirty="0"/>
          </a:p>
        </p:txBody>
      </p:sp>
      <p:sp>
        <p:nvSpPr>
          <p:cNvPr id="72" name="Text 67"/>
          <p:cNvSpPr txBox="1"/>
          <p:nvPr/>
        </p:nvSpPr>
        <p:spPr>
          <a:xfrm>
            <a:off x="15764256" y="5391302"/>
            <a:ext cx="14767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0.47 · Δ +0.7</a:t>
            </a:r>
            <a:endParaRPr lang="en-US" sz="900" dirty="0"/>
          </a:p>
        </p:txBody>
      </p:sp>
      <p:sp>
        <p:nvSpPr>
          <p:cNvPr id="73" name="Text 68"/>
          <p:cNvSpPr txBox="1"/>
          <p:nvPr/>
        </p:nvSpPr>
        <p:spPr>
          <a:xfrm>
            <a:off x="9506102" y="5639105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</a:t>
            </a:r>
            <a:endParaRPr lang="en-US" sz="1500" dirty="0"/>
          </a:p>
        </p:txBody>
      </p:sp>
      <p:sp>
        <p:nvSpPr>
          <p:cNvPr id="74" name="Text 69"/>
          <p:cNvSpPr txBox="1"/>
          <p:nvPr/>
        </p:nvSpPr>
        <p:spPr>
          <a:xfrm>
            <a:off x="10763402" y="55723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26.3</a:t>
            </a:r>
            <a:endParaRPr lang="en-US" sz="1650" dirty="0"/>
          </a:p>
        </p:txBody>
      </p:sp>
      <p:sp>
        <p:nvSpPr>
          <p:cNvPr id="75" name="Text 70"/>
          <p:cNvSpPr txBox="1"/>
          <p:nvPr/>
        </p:nvSpPr>
        <p:spPr>
          <a:xfrm>
            <a:off x="10763402" y="58485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1.22 · Δ +1.0</a:t>
            </a:r>
            <a:endParaRPr lang="en-US" sz="900" dirty="0"/>
          </a:p>
        </p:txBody>
      </p:sp>
      <p:sp>
        <p:nvSpPr>
          <p:cNvPr id="76" name="Text 71"/>
          <p:cNvSpPr txBox="1"/>
          <p:nvPr/>
        </p:nvSpPr>
        <p:spPr>
          <a:xfrm>
            <a:off x="12430354" y="55723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17.5</a:t>
            </a:r>
            <a:endParaRPr lang="en-US" sz="1650" dirty="0"/>
          </a:p>
        </p:txBody>
      </p:sp>
      <p:sp>
        <p:nvSpPr>
          <p:cNvPr id="77" name="Text 72"/>
          <p:cNvSpPr txBox="1"/>
          <p:nvPr/>
        </p:nvSpPr>
        <p:spPr>
          <a:xfrm>
            <a:off x="12430354" y="58485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0.88 · Δ +1.2</a:t>
            </a:r>
            <a:endParaRPr lang="en-US" sz="900" dirty="0"/>
          </a:p>
        </p:txBody>
      </p:sp>
      <p:sp>
        <p:nvSpPr>
          <p:cNvPr id="78" name="Text 73"/>
          <p:cNvSpPr txBox="1"/>
          <p:nvPr/>
        </p:nvSpPr>
        <p:spPr>
          <a:xfrm>
            <a:off x="14097305" y="55723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9.6</a:t>
            </a:r>
            <a:endParaRPr lang="en-US" sz="1650" dirty="0"/>
          </a:p>
        </p:txBody>
      </p:sp>
      <p:sp>
        <p:nvSpPr>
          <p:cNvPr id="79" name="Text 74"/>
          <p:cNvSpPr txBox="1"/>
          <p:nvPr/>
        </p:nvSpPr>
        <p:spPr>
          <a:xfrm>
            <a:off x="14097305" y="58485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0.44 · Δ +0.6</a:t>
            </a:r>
            <a:endParaRPr lang="en-US" sz="900" dirty="0"/>
          </a:p>
        </p:txBody>
      </p:sp>
      <p:sp>
        <p:nvSpPr>
          <p:cNvPr id="80" name="Text 75"/>
          <p:cNvSpPr txBox="1"/>
          <p:nvPr/>
        </p:nvSpPr>
        <p:spPr>
          <a:xfrm>
            <a:off x="15764256" y="5572354"/>
            <a:ext cx="147675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9.7</a:t>
            </a:r>
            <a:endParaRPr lang="en-US" sz="1650" dirty="0"/>
          </a:p>
        </p:txBody>
      </p:sp>
      <p:sp>
        <p:nvSpPr>
          <p:cNvPr id="81" name="Text 76"/>
          <p:cNvSpPr txBox="1"/>
          <p:nvPr/>
        </p:nvSpPr>
        <p:spPr>
          <a:xfrm>
            <a:off x="15764256" y="5848502"/>
            <a:ext cx="14767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0.46 · Δ +0.6</a:t>
            </a:r>
            <a:endParaRPr lang="en-US" sz="900" dirty="0"/>
          </a:p>
        </p:txBody>
      </p:sp>
      <p:sp>
        <p:nvSpPr>
          <p:cNvPr id="82" name="Text 77"/>
          <p:cNvSpPr txBox="1"/>
          <p:nvPr/>
        </p:nvSpPr>
        <p:spPr>
          <a:xfrm>
            <a:off x="9506102" y="6096305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W5</a:t>
            </a:r>
            <a:endParaRPr lang="en-US" sz="1500" dirty="0"/>
          </a:p>
        </p:txBody>
      </p:sp>
      <p:sp>
        <p:nvSpPr>
          <p:cNvPr id="83" name="Text 78"/>
          <p:cNvSpPr txBox="1"/>
          <p:nvPr/>
        </p:nvSpPr>
        <p:spPr>
          <a:xfrm>
            <a:off x="10763402" y="60295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25.4</a:t>
            </a:r>
            <a:endParaRPr lang="en-US" sz="1650" dirty="0"/>
          </a:p>
        </p:txBody>
      </p:sp>
      <p:sp>
        <p:nvSpPr>
          <p:cNvPr id="84" name="Text 79"/>
          <p:cNvSpPr txBox="1"/>
          <p:nvPr/>
        </p:nvSpPr>
        <p:spPr>
          <a:xfrm>
            <a:off x="10763402" y="63057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0.78 · Δ +0.1</a:t>
            </a:r>
            <a:endParaRPr lang="en-US" sz="900" dirty="0"/>
          </a:p>
        </p:txBody>
      </p:sp>
      <p:sp>
        <p:nvSpPr>
          <p:cNvPr id="85" name="Text 80"/>
          <p:cNvSpPr txBox="1"/>
          <p:nvPr/>
        </p:nvSpPr>
        <p:spPr>
          <a:xfrm>
            <a:off x="12430354" y="60295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16.4</a:t>
            </a:r>
            <a:endParaRPr lang="en-US" sz="1650" dirty="0"/>
          </a:p>
        </p:txBody>
      </p:sp>
      <p:sp>
        <p:nvSpPr>
          <p:cNvPr id="86" name="Text 81"/>
          <p:cNvSpPr txBox="1"/>
          <p:nvPr/>
        </p:nvSpPr>
        <p:spPr>
          <a:xfrm>
            <a:off x="12430354" y="63057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0.55 · Δ +0.1</a:t>
            </a:r>
            <a:endParaRPr lang="en-US" sz="900" dirty="0"/>
          </a:p>
        </p:txBody>
      </p:sp>
      <p:sp>
        <p:nvSpPr>
          <p:cNvPr id="87" name="Text 82"/>
          <p:cNvSpPr txBox="1"/>
          <p:nvPr/>
        </p:nvSpPr>
        <p:spPr>
          <a:xfrm>
            <a:off x="14097305" y="60295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9.05</a:t>
            </a:r>
            <a:endParaRPr lang="en-US" sz="1650" dirty="0"/>
          </a:p>
        </p:txBody>
      </p:sp>
      <p:sp>
        <p:nvSpPr>
          <p:cNvPr id="88" name="Text 83"/>
          <p:cNvSpPr txBox="1"/>
          <p:nvPr/>
        </p:nvSpPr>
        <p:spPr>
          <a:xfrm>
            <a:off x="14097305" y="63057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0.28 · Δ +0.05</a:t>
            </a:r>
            <a:endParaRPr lang="en-US" sz="900" dirty="0"/>
          </a:p>
        </p:txBody>
      </p:sp>
      <p:sp>
        <p:nvSpPr>
          <p:cNvPr id="89" name="Text 84"/>
          <p:cNvSpPr txBox="1"/>
          <p:nvPr/>
        </p:nvSpPr>
        <p:spPr>
          <a:xfrm>
            <a:off x="15764256" y="6029554"/>
            <a:ext cx="147675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9.15</a:t>
            </a:r>
            <a:endParaRPr lang="en-US" sz="1650" dirty="0"/>
          </a:p>
        </p:txBody>
      </p:sp>
      <p:sp>
        <p:nvSpPr>
          <p:cNvPr id="90" name="Text 85"/>
          <p:cNvSpPr txBox="1"/>
          <p:nvPr/>
        </p:nvSpPr>
        <p:spPr>
          <a:xfrm>
            <a:off x="15764256" y="6305702"/>
            <a:ext cx="14767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0.30 · Δ +0.05</a:t>
            </a:r>
            <a:endParaRPr lang="en-US" sz="900" dirty="0"/>
          </a:p>
        </p:txBody>
      </p:sp>
      <p:sp>
        <p:nvSpPr>
          <p:cNvPr id="91" name="Text 86"/>
          <p:cNvSpPr txBox="1"/>
          <p:nvPr/>
        </p:nvSpPr>
        <p:spPr>
          <a:xfrm>
            <a:off x="9506102" y="6553505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W6</a:t>
            </a:r>
            <a:endParaRPr lang="en-US" sz="1500" dirty="0"/>
          </a:p>
        </p:txBody>
      </p:sp>
      <p:sp>
        <p:nvSpPr>
          <p:cNvPr id="92" name="Text 87"/>
          <p:cNvSpPr txBox="1"/>
          <p:nvPr/>
        </p:nvSpPr>
        <p:spPr>
          <a:xfrm>
            <a:off x="10763402" y="64867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25.5</a:t>
            </a:r>
            <a:endParaRPr lang="en-US" sz="1650" dirty="0"/>
          </a:p>
        </p:txBody>
      </p:sp>
      <p:sp>
        <p:nvSpPr>
          <p:cNvPr id="93" name="Text 88"/>
          <p:cNvSpPr txBox="1"/>
          <p:nvPr/>
        </p:nvSpPr>
        <p:spPr>
          <a:xfrm>
            <a:off x="10763402" y="67629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0.82 · Δ +0.2</a:t>
            </a:r>
            <a:endParaRPr lang="en-US" sz="900" dirty="0"/>
          </a:p>
        </p:txBody>
      </p:sp>
      <p:sp>
        <p:nvSpPr>
          <p:cNvPr id="94" name="Text 89"/>
          <p:cNvSpPr txBox="1"/>
          <p:nvPr/>
        </p:nvSpPr>
        <p:spPr>
          <a:xfrm>
            <a:off x="12430354" y="64867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16.5</a:t>
            </a:r>
            <a:endParaRPr lang="en-US" sz="1650" dirty="0"/>
          </a:p>
        </p:txBody>
      </p:sp>
      <p:sp>
        <p:nvSpPr>
          <p:cNvPr id="95" name="Text 90"/>
          <p:cNvSpPr txBox="1"/>
          <p:nvPr/>
        </p:nvSpPr>
        <p:spPr>
          <a:xfrm>
            <a:off x="12430354" y="67629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0.58 · Δ +0.2</a:t>
            </a:r>
            <a:endParaRPr lang="en-US" sz="900" dirty="0"/>
          </a:p>
        </p:txBody>
      </p:sp>
      <p:sp>
        <p:nvSpPr>
          <p:cNvPr id="96" name="Text 91"/>
          <p:cNvSpPr txBox="1"/>
          <p:nvPr/>
        </p:nvSpPr>
        <p:spPr>
          <a:xfrm>
            <a:off x="14097305" y="64867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9.10</a:t>
            </a:r>
            <a:endParaRPr lang="en-US" sz="1650" dirty="0"/>
          </a:p>
        </p:txBody>
      </p:sp>
      <p:sp>
        <p:nvSpPr>
          <p:cNvPr id="97" name="Text 92"/>
          <p:cNvSpPr txBox="1"/>
          <p:nvPr/>
        </p:nvSpPr>
        <p:spPr>
          <a:xfrm>
            <a:off x="14097305" y="67629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0.31 · Δ +0.10</a:t>
            </a:r>
            <a:endParaRPr lang="en-US" sz="900" dirty="0"/>
          </a:p>
        </p:txBody>
      </p:sp>
      <p:sp>
        <p:nvSpPr>
          <p:cNvPr id="98" name="Text 93"/>
          <p:cNvSpPr txBox="1"/>
          <p:nvPr/>
        </p:nvSpPr>
        <p:spPr>
          <a:xfrm>
            <a:off x="15764256" y="6486754"/>
            <a:ext cx="147675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9.20</a:t>
            </a:r>
            <a:endParaRPr lang="en-US" sz="1650" dirty="0"/>
          </a:p>
        </p:txBody>
      </p:sp>
      <p:sp>
        <p:nvSpPr>
          <p:cNvPr id="99" name="Text 94"/>
          <p:cNvSpPr txBox="1"/>
          <p:nvPr/>
        </p:nvSpPr>
        <p:spPr>
          <a:xfrm>
            <a:off x="15764256" y="6762902"/>
            <a:ext cx="14767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0.32 · Δ +0.10</a:t>
            </a:r>
            <a:endParaRPr lang="en-US" sz="900" dirty="0"/>
          </a:p>
        </p:txBody>
      </p:sp>
      <p:sp>
        <p:nvSpPr>
          <p:cNvPr id="100" name="Text 95"/>
          <p:cNvSpPr txBox="1"/>
          <p:nvPr/>
        </p:nvSpPr>
        <p:spPr>
          <a:xfrm>
            <a:off x="9506102" y="7010705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W7</a:t>
            </a:r>
            <a:endParaRPr lang="en-US" sz="1500" dirty="0"/>
          </a:p>
        </p:txBody>
      </p:sp>
      <p:sp>
        <p:nvSpPr>
          <p:cNvPr id="101" name="Text 96"/>
          <p:cNvSpPr txBox="1"/>
          <p:nvPr/>
        </p:nvSpPr>
        <p:spPr>
          <a:xfrm>
            <a:off x="10763402" y="69439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25.3</a:t>
            </a:r>
            <a:endParaRPr lang="en-US" sz="1650" dirty="0"/>
          </a:p>
        </p:txBody>
      </p:sp>
      <p:sp>
        <p:nvSpPr>
          <p:cNvPr id="102" name="Text 97"/>
          <p:cNvSpPr txBox="1"/>
          <p:nvPr/>
        </p:nvSpPr>
        <p:spPr>
          <a:xfrm>
            <a:off x="10763402" y="72201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0.75 · Δ 0.0</a:t>
            </a:r>
            <a:endParaRPr lang="en-US" sz="900" dirty="0"/>
          </a:p>
        </p:txBody>
      </p:sp>
      <p:sp>
        <p:nvSpPr>
          <p:cNvPr id="103" name="Text 98"/>
          <p:cNvSpPr txBox="1"/>
          <p:nvPr/>
        </p:nvSpPr>
        <p:spPr>
          <a:xfrm>
            <a:off x="12430354" y="69439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16.3</a:t>
            </a:r>
            <a:endParaRPr lang="en-US" sz="1650" dirty="0"/>
          </a:p>
        </p:txBody>
      </p:sp>
      <p:sp>
        <p:nvSpPr>
          <p:cNvPr id="104" name="Text 99"/>
          <p:cNvSpPr txBox="1"/>
          <p:nvPr/>
        </p:nvSpPr>
        <p:spPr>
          <a:xfrm>
            <a:off x="12430354" y="72201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0.52 · Δ 0.0</a:t>
            </a:r>
            <a:endParaRPr lang="en-US" sz="900" dirty="0"/>
          </a:p>
        </p:txBody>
      </p:sp>
      <p:sp>
        <p:nvSpPr>
          <p:cNvPr id="105" name="Text 100"/>
          <p:cNvSpPr txBox="1"/>
          <p:nvPr/>
        </p:nvSpPr>
        <p:spPr>
          <a:xfrm>
            <a:off x="14097305" y="69439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9.00</a:t>
            </a:r>
            <a:endParaRPr lang="en-US" sz="1650" dirty="0"/>
          </a:p>
        </p:txBody>
      </p:sp>
      <p:sp>
        <p:nvSpPr>
          <p:cNvPr id="106" name="Text 101"/>
          <p:cNvSpPr txBox="1"/>
          <p:nvPr/>
        </p:nvSpPr>
        <p:spPr>
          <a:xfrm>
            <a:off x="14097305" y="72201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0.25 · Δ 0.0</a:t>
            </a:r>
            <a:endParaRPr lang="en-US" sz="900" dirty="0"/>
          </a:p>
        </p:txBody>
      </p:sp>
      <p:sp>
        <p:nvSpPr>
          <p:cNvPr id="107" name="Text 102"/>
          <p:cNvSpPr txBox="1"/>
          <p:nvPr/>
        </p:nvSpPr>
        <p:spPr>
          <a:xfrm>
            <a:off x="15764256" y="6943954"/>
            <a:ext cx="147675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9.10</a:t>
            </a:r>
            <a:endParaRPr lang="en-US" sz="1650" dirty="0"/>
          </a:p>
        </p:txBody>
      </p:sp>
      <p:sp>
        <p:nvSpPr>
          <p:cNvPr id="108" name="Text 103"/>
          <p:cNvSpPr txBox="1"/>
          <p:nvPr/>
        </p:nvSpPr>
        <p:spPr>
          <a:xfrm>
            <a:off x="15764256" y="7220102"/>
            <a:ext cx="14767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0.27 · Δ 0.0</a:t>
            </a:r>
            <a:endParaRPr lang="en-US" sz="900" dirty="0"/>
          </a:p>
        </p:txBody>
      </p:sp>
      <p:sp>
        <p:nvSpPr>
          <p:cNvPr id="109" name="Text 104"/>
          <p:cNvSpPr txBox="1"/>
          <p:nvPr/>
        </p:nvSpPr>
        <p:spPr>
          <a:xfrm>
            <a:off x="9506102" y="7467905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W8</a:t>
            </a:r>
            <a:endParaRPr lang="en-US" sz="1500" dirty="0"/>
          </a:p>
        </p:txBody>
      </p:sp>
      <p:sp>
        <p:nvSpPr>
          <p:cNvPr id="110" name="Text 105"/>
          <p:cNvSpPr txBox="1"/>
          <p:nvPr/>
        </p:nvSpPr>
        <p:spPr>
          <a:xfrm>
            <a:off x="10763402" y="74011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25.6</a:t>
            </a:r>
            <a:endParaRPr lang="en-US" sz="1650" dirty="0"/>
          </a:p>
        </p:txBody>
      </p:sp>
      <p:sp>
        <p:nvSpPr>
          <p:cNvPr id="111" name="Text 106"/>
          <p:cNvSpPr txBox="1"/>
          <p:nvPr/>
        </p:nvSpPr>
        <p:spPr>
          <a:xfrm>
            <a:off x="10763402" y="76773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0.85 · Δ +0.3</a:t>
            </a:r>
            <a:endParaRPr lang="en-US" sz="900" dirty="0"/>
          </a:p>
        </p:txBody>
      </p:sp>
      <p:sp>
        <p:nvSpPr>
          <p:cNvPr id="112" name="Text 107"/>
          <p:cNvSpPr txBox="1"/>
          <p:nvPr/>
        </p:nvSpPr>
        <p:spPr>
          <a:xfrm>
            <a:off x="12430354" y="74011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16.6</a:t>
            </a:r>
            <a:endParaRPr lang="en-US" sz="1650" dirty="0"/>
          </a:p>
        </p:txBody>
      </p:sp>
      <p:sp>
        <p:nvSpPr>
          <p:cNvPr id="113" name="Text 108"/>
          <p:cNvSpPr txBox="1"/>
          <p:nvPr/>
        </p:nvSpPr>
        <p:spPr>
          <a:xfrm>
            <a:off x="12430354" y="76773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0.62 · Δ +0.3</a:t>
            </a:r>
            <a:endParaRPr lang="en-US" sz="900" dirty="0"/>
          </a:p>
        </p:txBody>
      </p:sp>
      <p:sp>
        <p:nvSpPr>
          <p:cNvPr id="114" name="Text 109"/>
          <p:cNvSpPr txBox="1"/>
          <p:nvPr/>
        </p:nvSpPr>
        <p:spPr>
          <a:xfrm>
            <a:off x="14097305" y="7401154"/>
            <a:ext cx="1619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9.15</a:t>
            </a:r>
            <a:endParaRPr lang="en-US" sz="1650" dirty="0"/>
          </a:p>
        </p:txBody>
      </p:sp>
      <p:sp>
        <p:nvSpPr>
          <p:cNvPr id="115" name="Text 110"/>
          <p:cNvSpPr txBox="1"/>
          <p:nvPr/>
        </p:nvSpPr>
        <p:spPr>
          <a:xfrm>
            <a:off x="14097305" y="7677302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0.34 · Δ +0.15</a:t>
            </a:r>
            <a:endParaRPr lang="en-US" sz="900" dirty="0"/>
          </a:p>
        </p:txBody>
      </p:sp>
      <p:sp>
        <p:nvSpPr>
          <p:cNvPr id="116" name="Text 111"/>
          <p:cNvSpPr txBox="1"/>
          <p:nvPr/>
        </p:nvSpPr>
        <p:spPr>
          <a:xfrm>
            <a:off x="15764256" y="7401154"/>
            <a:ext cx="147675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9.25</a:t>
            </a:r>
            <a:endParaRPr lang="en-US" sz="1650" dirty="0"/>
          </a:p>
        </p:txBody>
      </p:sp>
      <p:sp>
        <p:nvSpPr>
          <p:cNvPr id="117" name="Text 112"/>
          <p:cNvSpPr txBox="1"/>
          <p:nvPr/>
        </p:nvSpPr>
        <p:spPr>
          <a:xfrm>
            <a:off x="15764256" y="7677302"/>
            <a:ext cx="14767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0.35 · Δ +0.15</a:t>
            </a:r>
            <a:endParaRPr lang="en-US" sz="900" dirty="0"/>
          </a:p>
        </p:txBody>
      </p:sp>
      <p:sp>
        <p:nvSpPr>
          <p:cNvPr id="118" name="Text 113"/>
          <p:cNvSpPr txBox="1"/>
          <p:nvPr/>
        </p:nvSpPr>
        <p:spPr>
          <a:xfrm>
            <a:off x="857707" y="8801100"/>
            <a:ext cx="1143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19" name="Text 114"/>
          <p:cNvSpPr txBox="1"/>
          <p:nvPr/>
        </p:nvSpPr>
        <p:spPr>
          <a:xfrm>
            <a:off x="2190902" y="8762695"/>
            <a:ext cx="1572310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Split A(W1–W4) CD 가 모든 메트릭에서 +0.4 ~ +1.6 nm 양의 bias · Split B(W5–W8) 평균 δ ≤ +0.3 nm · 4지표 모두 Split B 우세</a:t>
            </a:r>
            <a:endParaRPr lang="en-US" sz="1800" dirty="0"/>
          </a:p>
        </p:txBody>
      </p:sp>
      <p:sp>
        <p:nvSpPr>
          <p:cNvPr id="120" name="Text 115"/>
          <p:cNvSpPr txBox="1"/>
          <p:nvPr/>
        </p:nvSpPr>
        <p:spPr>
          <a:xfrm>
            <a:off x="857707" y="97539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A83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050" dirty="0"/>
          </a:p>
        </p:txBody>
      </p:sp>
      <p:sp>
        <p:nvSpPr>
          <p:cNvPr id="121" name="Text 116"/>
          <p:cNvSpPr txBox="1"/>
          <p:nvPr/>
        </p:nvSpPr>
        <p:spPr>
          <a:xfrm>
            <a:off x="14573707" y="9753905"/>
            <a:ext cx="2857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05 · cd &amp; cross-section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3879b1d8bbc9cc3cada0b9b1c4c9382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rcRect l="-2083" r="-2083" t="0" b="0"/>
          <a:stretch/>
        </p:blipFill>
        <p:spPr>
          <a:xfrm>
            <a:off x="857707" y="857707"/>
            <a:ext cx="16573500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57707" y="3047695"/>
            <a:ext cx="4572000" cy="4572000"/>
          </a:xfrm>
          <a:prstGeom prst="rect">
            <a:avLst/>
          </a:prstGeom>
          <a:solidFill>
            <a:srgbClr val="1B20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715000" y="3047695"/>
            <a:ext cx="4572000" cy="4572000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0858500" y="3810305"/>
            <a:ext cx="6590995" cy="1923898"/>
          </a:xfrm>
          <a:prstGeom prst="rect">
            <a:avLst/>
          </a:prstGeom>
          <a:noFill/>
          <a:ln w="12700">
            <a:solidFill>
              <a:srgbClr val="B8554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858500" y="5905195"/>
            <a:ext cx="6590995" cy="1923898"/>
          </a:xfrm>
          <a:prstGeom prst="rect">
            <a:avLst/>
          </a:prstGeom>
          <a:noFill/>
          <a:ln w="12700">
            <a:solidFill>
              <a:srgbClr val="2E5C6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57707" y="8667598"/>
            <a:ext cx="16573500" cy="9144"/>
          </a:xfrm>
          <a:prstGeom prst="rect">
            <a:avLst/>
          </a:prstGeom>
          <a:solidFill>
            <a:srgbClr val="1B2027"/>
          </a:solidFill>
          <a:ln w="12700">
            <a:solidFill>
              <a:srgbClr val="1B2027">
                <a:alpha val="0"/>
              </a:srgbClr>
            </a:solidFill>
            <a:prstDash val="solid"/>
          </a:ln>
        </p:spPr>
      </p:sp>
      <p:pic>
        <p:nvPicPr>
          <p:cNvPr id="9" name="Image 1" descr="gen-dedup-33879b1d8bbc9cc3cada0b9b1c4c9382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-2083" r="-2083" t="0" b="0"/>
          <a:stretch/>
        </p:blipFill>
        <p:spPr>
          <a:xfrm>
            <a:off x="857707" y="9620402"/>
            <a:ext cx="16573500" cy="9144"/>
          </a:xfrm>
          <a:prstGeom prst="rect">
            <a:avLst/>
          </a:prstGeom>
        </p:spPr>
      </p:pic>
      <p:pic>
        <p:nvPicPr>
          <p:cNvPr id="10" name="Image 2" descr="gen-dedup-d51a7e83db8f00705f74670016e39c29.png">    </p:cNvPr>
          <p:cNvPicPr>
            <a:picLocks noChangeAspect="1"/>
          </p:cNvPicPr>
          <p:nvPr/>
        </p:nvPicPr>
        <p:blipFill>
          <a:blip r:embed="rId3"/>
          <a:srcRect l="0" r="0" t="-193" b="-193"/>
          <a:stretch/>
        </p:blipFill>
        <p:spPr>
          <a:xfrm>
            <a:off x="10858500" y="3810305"/>
            <a:ext cx="75895" cy="1904695"/>
          </a:xfrm>
          <a:prstGeom prst="rect">
            <a:avLst/>
          </a:prstGeom>
        </p:spPr>
      </p:pic>
      <p:pic>
        <p:nvPicPr>
          <p:cNvPr id="11" name="Image 3" descr="gen-dedup-d620c8485decdd0616022a16da2cd583.png">    </p:cNvPr>
          <p:cNvPicPr>
            <a:picLocks noChangeAspect="1"/>
          </p:cNvPicPr>
          <p:nvPr/>
        </p:nvPicPr>
        <p:blipFill>
          <a:blip r:embed="rId4"/>
          <a:srcRect l="0" r="0" t="-193" b="-193"/>
          <a:stretch/>
        </p:blipFill>
        <p:spPr>
          <a:xfrm>
            <a:off x="10858500" y="5905195"/>
            <a:ext cx="75895" cy="1904695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1238098" y="3905402"/>
            <a:ext cx="304495" cy="304495"/>
          </a:xfrm>
          <a:prstGeom prst="ellipse">
            <a:avLst/>
          </a:prstGeom>
          <a:solidFill>
            <a:srgbClr val="7E32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1733702" y="3905402"/>
            <a:ext cx="304495" cy="304495"/>
          </a:xfrm>
          <a:prstGeom prst="ellipse">
            <a:avLst/>
          </a:prstGeom>
          <a:solidFill>
            <a:srgbClr val="A6413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2229307" y="3905402"/>
            <a:ext cx="304495" cy="304495"/>
          </a:xfrm>
          <a:prstGeom prst="ellipse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2723998" y="3905402"/>
            <a:ext cx="304495" cy="304495"/>
          </a:xfrm>
          <a:prstGeom prst="ellipse">
            <a:avLst/>
          </a:prstGeom>
          <a:solidFill>
            <a:srgbClr val="A044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3219602" y="3905402"/>
            <a:ext cx="304495" cy="304495"/>
          </a:xfrm>
          <a:prstGeom prst="ellipse">
            <a:avLst/>
          </a:prstGeom>
          <a:solidFill>
            <a:srgbClr val="9A3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3715207" y="3905402"/>
            <a:ext cx="304495" cy="304495"/>
          </a:xfrm>
          <a:prstGeom prst="ellipse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4209898" y="3905402"/>
            <a:ext cx="304495" cy="304495"/>
          </a:xfrm>
          <a:prstGeom prst="ellipse">
            <a:avLst/>
          </a:prstGeom>
          <a:solidFill>
            <a:srgbClr val="7E32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4705502" y="3905402"/>
            <a:ext cx="304495" cy="304495"/>
          </a:xfrm>
          <a:prstGeom prst="ellipse">
            <a:avLst/>
          </a:prstGeom>
          <a:solidFill>
            <a:srgbClr val="9A3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1238098" y="4362602"/>
            <a:ext cx="304495" cy="304495"/>
          </a:xfrm>
          <a:prstGeom prst="ellipse">
            <a:avLst/>
          </a:prstGeom>
          <a:solidFill>
            <a:srgbClr val="923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1733702" y="4362602"/>
            <a:ext cx="304495" cy="304495"/>
          </a:xfrm>
          <a:prstGeom prst="ellipse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2229307" y="4362602"/>
            <a:ext cx="304495" cy="304495"/>
          </a:xfrm>
          <a:prstGeom prst="ellipse">
            <a:avLst/>
          </a:prstGeom>
          <a:solidFill>
            <a:srgbClr val="A6413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2723998" y="4362602"/>
            <a:ext cx="304495" cy="304495"/>
          </a:xfrm>
          <a:prstGeom prst="ellipse">
            <a:avLst/>
          </a:prstGeom>
          <a:solidFill>
            <a:srgbClr val="A044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3219602" y="4362602"/>
            <a:ext cx="304495" cy="304495"/>
          </a:xfrm>
          <a:prstGeom prst="ellipse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715207" y="4362602"/>
            <a:ext cx="304495" cy="304495"/>
          </a:xfrm>
          <a:prstGeom prst="ellipse">
            <a:avLst/>
          </a:prstGeom>
          <a:solidFill>
            <a:srgbClr val="A044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209898" y="4362602"/>
            <a:ext cx="304495" cy="304495"/>
          </a:xfrm>
          <a:prstGeom prst="ellipse">
            <a:avLst/>
          </a:prstGeom>
          <a:solidFill>
            <a:srgbClr val="A6413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705502" y="4362602"/>
            <a:ext cx="304495" cy="304495"/>
          </a:xfrm>
          <a:prstGeom prst="ellipse">
            <a:avLst/>
          </a:prstGeom>
          <a:solidFill>
            <a:srgbClr val="923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238098" y="4819802"/>
            <a:ext cx="304495" cy="304495"/>
          </a:xfrm>
          <a:prstGeom prst="ellipse">
            <a:avLst/>
          </a:prstGeom>
          <a:solidFill>
            <a:srgbClr val="7E32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1733702" y="4819802"/>
            <a:ext cx="304495" cy="304495"/>
          </a:xfrm>
          <a:prstGeom prst="ellipse">
            <a:avLst/>
          </a:prstGeom>
          <a:solidFill>
            <a:srgbClr val="A044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2229307" y="4819802"/>
            <a:ext cx="304495" cy="304495"/>
          </a:xfrm>
          <a:prstGeom prst="ellipse">
            <a:avLst/>
          </a:prstGeom>
          <a:solidFill>
            <a:srgbClr val="C161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2723998" y="4819802"/>
            <a:ext cx="304495" cy="304495"/>
          </a:xfrm>
          <a:prstGeom prst="ellipse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219602" y="4819802"/>
            <a:ext cx="304495" cy="304495"/>
          </a:xfrm>
          <a:prstGeom prst="ellipse">
            <a:avLst/>
          </a:prstGeom>
          <a:solidFill>
            <a:srgbClr val="C161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3715207" y="4819802"/>
            <a:ext cx="304495" cy="304495"/>
          </a:xfrm>
          <a:prstGeom prst="ellipse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209898" y="4819802"/>
            <a:ext cx="304495" cy="304495"/>
          </a:xfrm>
          <a:prstGeom prst="ellipse">
            <a:avLst/>
          </a:prstGeom>
          <a:solidFill>
            <a:srgbClr val="A044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705502" y="4819802"/>
            <a:ext cx="304495" cy="304495"/>
          </a:xfrm>
          <a:prstGeom prst="ellipse">
            <a:avLst/>
          </a:prstGeom>
          <a:solidFill>
            <a:srgbClr val="7E32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238098" y="5277002"/>
            <a:ext cx="304495" cy="304495"/>
          </a:xfrm>
          <a:prstGeom prst="ellipse">
            <a:avLst/>
          </a:prstGeom>
          <a:solidFill>
            <a:srgbClr val="9A3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733702" y="5277002"/>
            <a:ext cx="304495" cy="304495"/>
          </a:xfrm>
          <a:prstGeom prst="ellipse">
            <a:avLst/>
          </a:prstGeom>
          <a:solidFill>
            <a:srgbClr val="A044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2229307" y="5277002"/>
            <a:ext cx="304495" cy="304495"/>
          </a:xfrm>
          <a:prstGeom prst="ellipse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2723998" y="5277002"/>
            <a:ext cx="304495" cy="304495"/>
          </a:xfrm>
          <a:prstGeom prst="ellipse">
            <a:avLst/>
          </a:prstGeom>
          <a:solidFill>
            <a:srgbClr val="7E32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3219602" y="5277002"/>
            <a:ext cx="304495" cy="304495"/>
          </a:xfrm>
          <a:prstGeom prst="ellipse">
            <a:avLst/>
          </a:prstGeom>
          <a:solidFill>
            <a:srgbClr val="923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3715207" y="5277002"/>
            <a:ext cx="304495" cy="304495"/>
          </a:xfrm>
          <a:prstGeom prst="ellipse">
            <a:avLst/>
          </a:prstGeom>
          <a:solidFill>
            <a:srgbClr val="A6413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4209898" y="5277002"/>
            <a:ext cx="304495" cy="304495"/>
          </a:xfrm>
          <a:prstGeom prst="ellipse">
            <a:avLst/>
          </a:prstGeom>
          <a:solidFill>
            <a:srgbClr val="A044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4705502" y="5277002"/>
            <a:ext cx="304495" cy="304495"/>
          </a:xfrm>
          <a:prstGeom prst="ellipse">
            <a:avLst/>
          </a:prstGeom>
          <a:solidFill>
            <a:srgbClr val="9A3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1238098" y="5734202"/>
            <a:ext cx="304495" cy="304495"/>
          </a:xfrm>
          <a:prstGeom prst="ellipse">
            <a:avLst/>
          </a:prstGeom>
          <a:solidFill>
            <a:srgbClr val="7E32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1733702" y="5734202"/>
            <a:ext cx="304495" cy="304495"/>
          </a:xfrm>
          <a:prstGeom prst="ellipse">
            <a:avLst/>
          </a:prstGeom>
          <a:solidFill>
            <a:srgbClr val="923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2229307" y="5734202"/>
            <a:ext cx="304495" cy="304495"/>
          </a:xfrm>
          <a:prstGeom prst="ellipse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2723998" y="5734202"/>
            <a:ext cx="304495" cy="304495"/>
          </a:xfrm>
          <a:prstGeom prst="ellipse">
            <a:avLst/>
          </a:prstGeom>
          <a:solidFill>
            <a:srgbClr val="A044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3219602" y="5734202"/>
            <a:ext cx="304495" cy="304495"/>
          </a:xfrm>
          <a:prstGeom prst="ellipse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3715207" y="5734202"/>
            <a:ext cx="304495" cy="304495"/>
          </a:xfrm>
          <a:prstGeom prst="ellipse">
            <a:avLst/>
          </a:prstGeom>
          <a:solidFill>
            <a:srgbClr val="A6413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4209898" y="5734202"/>
            <a:ext cx="304495" cy="304495"/>
          </a:xfrm>
          <a:prstGeom prst="ellipse">
            <a:avLst/>
          </a:prstGeom>
          <a:solidFill>
            <a:srgbClr val="923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4705502" y="5734202"/>
            <a:ext cx="304495" cy="304495"/>
          </a:xfrm>
          <a:prstGeom prst="ellipse">
            <a:avLst/>
          </a:prstGeom>
          <a:solidFill>
            <a:srgbClr val="7E32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1238098" y="6191402"/>
            <a:ext cx="304495" cy="304495"/>
          </a:xfrm>
          <a:prstGeom prst="ellipse">
            <a:avLst/>
          </a:prstGeom>
          <a:solidFill>
            <a:srgbClr val="5C28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1733702" y="6191402"/>
            <a:ext cx="304495" cy="304495"/>
          </a:xfrm>
          <a:prstGeom prst="ellipse">
            <a:avLst/>
          </a:prstGeom>
          <a:solidFill>
            <a:srgbClr val="7E32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2229307" y="6191402"/>
            <a:ext cx="304495" cy="304495"/>
          </a:xfrm>
          <a:prstGeom prst="ellipse">
            <a:avLst/>
          </a:prstGeom>
          <a:solidFill>
            <a:srgbClr val="923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2723998" y="6191402"/>
            <a:ext cx="304495" cy="304495"/>
          </a:xfrm>
          <a:prstGeom prst="ellipse">
            <a:avLst/>
          </a:prstGeom>
          <a:solidFill>
            <a:srgbClr val="A044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3219602" y="6191402"/>
            <a:ext cx="304495" cy="304495"/>
          </a:xfrm>
          <a:prstGeom prst="ellipse">
            <a:avLst/>
          </a:prstGeom>
          <a:solidFill>
            <a:srgbClr val="A044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3715207" y="6191402"/>
            <a:ext cx="304495" cy="304495"/>
          </a:xfrm>
          <a:prstGeom prst="ellipse">
            <a:avLst/>
          </a:prstGeom>
          <a:solidFill>
            <a:srgbClr val="923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4209898" y="6191402"/>
            <a:ext cx="304495" cy="304495"/>
          </a:xfrm>
          <a:prstGeom prst="ellipse">
            <a:avLst/>
          </a:prstGeom>
          <a:solidFill>
            <a:srgbClr val="7E32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4705502" y="6191402"/>
            <a:ext cx="304495" cy="304495"/>
          </a:xfrm>
          <a:prstGeom prst="ellipse">
            <a:avLst/>
          </a:prstGeom>
          <a:solidFill>
            <a:srgbClr val="5C28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1238098" y="6648602"/>
            <a:ext cx="304495" cy="304495"/>
          </a:xfrm>
          <a:prstGeom prst="ellipse">
            <a:avLst/>
          </a:prstGeom>
          <a:solidFill>
            <a:srgbClr val="5C28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1733702" y="6648602"/>
            <a:ext cx="304495" cy="304495"/>
          </a:xfrm>
          <a:prstGeom prst="ellipse">
            <a:avLst/>
          </a:prstGeom>
          <a:solidFill>
            <a:srgbClr val="7E32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2229307" y="6648602"/>
            <a:ext cx="304495" cy="304495"/>
          </a:xfrm>
          <a:prstGeom prst="ellipse">
            <a:avLst/>
          </a:prstGeom>
          <a:solidFill>
            <a:srgbClr val="7E32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2723998" y="6648602"/>
            <a:ext cx="304495" cy="304495"/>
          </a:xfrm>
          <a:prstGeom prst="ellipse">
            <a:avLst/>
          </a:prstGeom>
          <a:solidFill>
            <a:srgbClr val="923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3219602" y="6648602"/>
            <a:ext cx="304495" cy="304495"/>
          </a:xfrm>
          <a:prstGeom prst="ellipse">
            <a:avLst/>
          </a:prstGeom>
          <a:solidFill>
            <a:srgbClr val="923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3715207" y="6648602"/>
            <a:ext cx="304495" cy="304495"/>
          </a:xfrm>
          <a:prstGeom prst="ellipse">
            <a:avLst/>
          </a:prstGeom>
          <a:solidFill>
            <a:srgbClr val="7E32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4209898" y="6648602"/>
            <a:ext cx="304495" cy="304495"/>
          </a:xfrm>
          <a:prstGeom prst="ellipse">
            <a:avLst/>
          </a:prstGeom>
          <a:solidFill>
            <a:srgbClr val="7E32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4705502" y="6648602"/>
            <a:ext cx="304495" cy="304495"/>
          </a:xfrm>
          <a:prstGeom prst="ellipse">
            <a:avLst/>
          </a:prstGeom>
          <a:solidFill>
            <a:srgbClr val="5C28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6096305" y="3905402"/>
            <a:ext cx="304495" cy="304495"/>
          </a:xfrm>
          <a:prstGeom prst="ellipse">
            <a:avLst/>
          </a:prstGeom>
          <a:solidFill>
            <a:srgbClr val="3F76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6590995" y="3905402"/>
            <a:ext cx="304495" cy="304495"/>
          </a:xfrm>
          <a:prstGeom prst="ellipse">
            <a:avLst/>
          </a:prstGeom>
          <a:solidFill>
            <a:srgbClr val="5494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7086600" y="3905402"/>
            <a:ext cx="304495" cy="304495"/>
          </a:xfrm>
          <a:prstGeom prst="ellipse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7582205" y="3905402"/>
            <a:ext cx="304495" cy="304495"/>
          </a:xfrm>
          <a:prstGeom prst="ellipse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5"/>
          <p:cNvSpPr/>
          <p:nvPr/>
        </p:nvSpPr>
        <p:spPr>
          <a:xfrm>
            <a:off x="8076895" y="3905402"/>
            <a:ext cx="304495" cy="304495"/>
          </a:xfrm>
          <a:prstGeom prst="ellipse">
            <a:avLst/>
          </a:prstGeom>
          <a:solidFill>
            <a:srgbClr val="B0C4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8572500" y="3905402"/>
            <a:ext cx="304495" cy="304495"/>
          </a:xfrm>
          <a:prstGeom prst="ellipse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9068105" y="3905402"/>
            <a:ext cx="304495" cy="304495"/>
          </a:xfrm>
          <a:prstGeom prst="ellipse">
            <a:avLst/>
          </a:prstGeom>
          <a:solidFill>
            <a:srgbClr val="5494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8"/>
          <p:cNvSpPr/>
          <p:nvPr/>
        </p:nvSpPr>
        <p:spPr>
          <a:xfrm>
            <a:off x="9562795" y="3905402"/>
            <a:ext cx="304495" cy="304495"/>
          </a:xfrm>
          <a:prstGeom prst="ellipse">
            <a:avLst/>
          </a:prstGeom>
          <a:solidFill>
            <a:srgbClr val="3F76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9"/>
          <p:cNvSpPr/>
          <p:nvPr/>
        </p:nvSpPr>
        <p:spPr>
          <a:xfrm>
            <a:off x="6096305" y="4362602"/>
            <a:ext cx="304495" cy="304495"/>
          </a:xfrm>
          <a:prstGeom prst="ellipse">
            <a:avLst/>
          </a:prstGeom>
          <a:solidFill>
            <a:srgbClr val="5494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6590995" y="4362602"/>
            <a:ext cx="304495" cy="304495"/>
          </a:xfrm>
          <a:prstGeom prst="ellipse">
            <a:avLst/>
          </a:prstGeom>
          <a:solidFill>
            <a:srgbClr val="3F76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1"/>
          <p:cNvSpPr/>
          <p:nvPr/>
        </p:nvSpPr>
        <p:spPr>
          <a:xfrm>
            <a:off x="7086600" y="4362602"/>
            <a:ext cx="304495" cy="304495"/>
          </a:xfrm>
          <a:prstGeom prst="ellipse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7582205" y="4362602"/>
            <a:ext cx="304495" cy="304495"/>
          </a:xfrm>
          <a:prstGeom prst="ellipse">
            <a:avLst/>
          </a:prstGeom>
          <a:solidFill>
            <a:srgbClr val="B0C4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3"/>
          <p:cNvSpPr/>
          <p:nvPr/>
        </p:nvSpPr>
        <p:spPr>
          <a:xfrm>
            <a:off x="8076895" y="4362602"/>
            <a:ext cx="304495" cy="304495"/>
          </a:xfrm>
          <a:prstGeom prst="ellipse">
            <a:avLst/>
          </a:prstGeom>
          <a:solidFill>
            <a:srgbClr val="B0C4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4"/>
          <p:cNvSpPr/>
          <p:nvPr/>
        </p:nvSpPr>
        <p:spPr>
          <a:xfrm>
            <a:off x="8572500" y="4362602"/>
            <a:ext cx="304495" cy="304495"/>
          </a:xfrm>
          <a:prstGeom prst="ellipse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9068105" y="4362602"/>
            <a:ext cx="304495" cy="304495"/>
          </a:xfrm>
          <a:prstGeom prst="ellipse">
            <a:avLst/>
          </a:prstGeom>
          <a:solidFill>
            <a:srgbClr val="3F76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9562795" y="4362602"/>
            <a:ext cx="304495" cy="304495"/>
          </a:xfrm>
          <a:prstGeom prst="ellipse">
            <a:avLst/>
          </a:prstGeom>
          <a:solidFill>
            <a:srgbClr val="5494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>
            <a:off x="6096305" y="4819802"/>
            <a:ext cx="304495" cy="304495"/>
          </a:xfrm>
          <a:prstGeom prst="ellipse">
            <a:avLst/>
          </a:prstGeom>
          <a:solidFill>
            <a:srgbClr val="3F76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8"/>
          <p:cNvSpPr/>
          <p:nvPr/>
        </p:nvSpPr>
        <p:spPr>
          <a:xfrm>
            <a:off x="6590995" y="4819802"/>
            <a:ext cx="304495" cy="304495"/>
          </a:xfrm>
          <a:prstGeom prst="ellipse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7086600" y="4819802"/>
            <a:ext cx="304495" cy="304495"/>
          </a:xfrm>
          <a:prstGeom prst="ellipse">
            <a:avLst/>
          </a:prstGeom>
          <a:solidFill>
            <a:srgbClr val="B0C4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0"/>
          <p:cNvSpPr/>
          <p:nvPr/>
        </p:nvSpPr>
        <p:spPr>
          <a:xfrm>
            <a:off x="7582205" y="4819802"/>
            <a:ext cx="304495" cy="304495"/>
          </a:xfrm>
          <a:prstGeom prst="ellipse">
            <a:avLst/>
          </a:prstGeom>
          <a:solidFill>
            <a:srgbClr val="B0C4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1"/>
          <p:cNvSpPr/>
          <p:nvPr/>
        </p:nvSpPr>
        <p:spPr>
          <a:xfrm>
            <a:off x="8076895" y="4819802"/>
            <a:ext cx="304495" cy="304495"/>
          </a:xfrm>
          <a:prstGeom prst="ellipse">
            <a:avLst/>
          </a:prstGeom>
          <a:solidFill>
            <a:srgbClr val="B0C4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2"/>
          <p:cNvSpPr/>
          <p:nvPr/>
        </p:nvSpPr>
        <p:spPr>
          <a:xfrm>
            <a:off x="8572500" y="4819802"/>
            <a:ext cx="304495" cy="304495"/>
          </a:xfrm>
          <a:prstGeom prst="ellipse">
            <a:avLst/>
          </a:prstGeom>
          <a:solidFill>
            <a:srgbClr val="B0C4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3"/>
          <p:cNvSpPr/>
          <p:nvPr/>
        </p:nvSpPr>
        <p:spPr>
          <a:xfrm>
            <a:off x="9068105" y="4819802"/>
            <a:ext cx="304495" cy="304495"/>
          </a:xfrm>
          <a:prstGeom prst="ellipse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4"/>
          <p:cNvSpPr/>
          <p:nvPr/>
        </p:nvSpPr>
        <p:spPr>
          <a:xfrm>
            <a:off x="9562795" y="4819802"/>
            <a:ext cx="304495" cy="304495"/>
          </a:xfrm>
          <a:prstGeom prst="ellipse">
            <a:avLst/>
          </a:prstGeom>
          <a:solidFill>
            <a:srgbClr val="3F76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5"/>
          <p:cNvSpPr/>
          <p:nvPr/>
        </p:nvSpPr>
        <p:spPr>
          <a:xfrm>
            <a:off x="6096305" y="5277002"/>
            <a:ext cx="304495" cy="304495"/>
          </a:xfrm>
          <a:prstGeom prst="ellipse">
            <a:avLst/>
          </a:prstGeom>
          <a:solidFill>
            <a:srgbClr val="5494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6"/>
          <p:cNvSpPr/>
          <p:nvPr/>
        </p:nvSpPr>
        <p:spPr>
          <a:xfrm>
            <a:off x="6590995" y="5277002"/>
            <a:ext cx="304495" cy="304495"/>
          </a:xfrm>
          <a:prstGeom prst="ellipse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87"/>
          <p:cNvSpPr/>
          <p:nvPr/>
        </p:nvSpPr>
        <p:spPr>
          <a:xfrm>
            <a:off x="7086600" y="5277002"/>
            <a:ext cx="304495" cy="304495"/>
          </a:xfrm>
          <a:prstGeom prst="ellipse">
            <a:avLst/>
          </a:prstGeom>
          <a:solidFill>
            <a:srgbClr val="B0C4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88"/>
          <p:cNvSpPr/>
          <p:nvPr/>
        </p:nvSpPr>
        <p:spPr>
          <a:xfrm>
            <a:off x="7582205" y="5277002"/>
            <a:ext cx="304495" cy="304495"/>
          </a:xfrm>
          <a:prstGeom prst="ellipse">
            <a:avLst/>
          </a:prstGeom>
          <a:solidFill>
            <a:srgbClr val="DDE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89"/>
          <p:cNvSpPr/>
          <p:nvPr/>
        </p:nvSpPr>
        <p:spPr>
          <a:xfrm>
            <a:off x="8076895" y="5277002"/>
            <a:ext cx="304495" cy="304495"/>
          </a:xfrm>
          <a:prstGeom prst="ellipse">
            <a:avLst/>
          </a:prstGeom>
          <a:solidFill>
            <a:srgbClr val="DDE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0"/>
          <p:cNvSpPr/>
          <p:nvPr/>
        </p:nvSpPr>
        <p:spPr>
          <a:xfrm>
            <a:off x="8572500" y="5277002"/>
            <a:ext cx="304495" cy="304495"/>
          </a:xfrm>
          <a:prstGeom prst="ellipse">
            <a:avLst/>
          </a:prstGeom>
          <a:solidFill>
            <a:srgbClr val="B0C4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1"/>
          <p:cNvSpPr/>
          <p:nvPr/>
        </p:nvSpPr>
        <p:spPr>
          <a:xfrm>
            <a:off x="9068105" y="5277002"/>
            <a:ext cx="304495" cy="304495"/>
          </a:xfrm>
          <a:prstGeom prst="ellipse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2"/>
          <p:cNvSpPr/>
          <p:nvPr/>
        </p:nvSpPr>
        <p:spPr>
          <a:xfrm>
            <a:off x="9562795" y="5277002"/>
            <a:ext cx="304495" cy="304495"/>
          </a:xfrm>
          <a:prstGeom prst="ellipse">
            <a:avLst/>
          </a:prstGeom>
          <a:solidFill>
            <a:srgbClr val="5494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3"/>
          <p:cNvSpPr/>
          <p:nvPr/>
        </p:nvSpPr>
        <p:spPr>
          <a:xfrm>
            <a:off x="6096305" y="5734202"/>
            <a:ext cx="304495" cy="304495"/>
          </a:xfrm>
          <a:prstGeom prst="ellipse">
            <a:avLst/>
          </a:prstGeom>
          <a:solidFill>
            <a:srgbClr val="3F76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4"/>
          <p:cNvSpPr/>
          <p:nvPr/>
        </p:nvSpPr>
        <p:spPr>
          <a:xfrm>
            <a:off x="6590995" y="5734202"/>
            <a:ext cx="304495" cy="304495"/>
          </a:xfrm>
          <a:prstGeom prst="ellipse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5"/>
          <p:cNvSpPr/>
          <p:nvPr/>
        </p:nvSpPr>
        <p:spPr>
          <a:xfrm>
            <a:off x="7086600" y="5734202"/>
            <a:ext cx="304495" cy="304495"/>
          </a:xfrm>
          <a:prstGeom prst="ellipse">
            <a:avLst/>
          </a:prstGeom>
          <a:solidFill>
            <a:srgbClr val="B0C4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6"/>
          <p:cNvSpPr/>
          <p:nvPr/>
        </p:nvSpPr>
        <p:spPr>
          <a:xfrm>
            <a:off x="7582205" y="5734202"/>
            <a:ext cx="304495" cy="304495"/>
          </a:xfrm>
          <a:prstGeom prst="ellipse">
            <a:avLst/>
          </a:prstGeom>
          <a:solidFill>
            <a:srgbClr val="B0C4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97"/>
          <p:cNvSpPr/>
          <p:nvPr/>
        </p:nvSpPr>
        <p:spPr>
          <a:xfrm>
            <a:off x="8076895" y="5734202"/>
            <a:ext cx="304495" cy="304495"/>
          </a:xfrm>
          <a:prstGeom prst="ellipse">
            <a:avLst/>
          </a:prstGeom>
          <a:solidFill>
            <a:srgbClr val="B0C4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98"/>
          <p:cNvSpPr/>
          <p:nvPr/>
        </p:nvSpPr>
        <p:spPr>
          <a:xfrm>
            <a:off x="8572500" y="5734202"/>
            <a:ext cx="304495" cy="304495"/>
          </a:xfrm>
          <a:prstGeom prst="ellipse">
            <a:avLst/>
          </a:prstGeom>
          <a:solidFill>
            <a:srgbClr val="B0C4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99"/>
          <p:cNvSpPr/>
          <p:nvPr/>
        </p:nvSpPr>
        <p:spPr>
          <a:xfrm>
            <a:off x="9068105" y="5734202"/>
            <a:ext cx="304495" cy="304495"/>
          </a:xfrm>
          <a:prstGeom prst="ellipse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0"/>
          <p:cNvSpPr/>
          <p:nvPr/>
        </p:nvSpPr>
        <p:spPr>
          <a:xfrm>
            <a:off x="9562795" y="5734202"/>
            <a:ext cx="304495" cy="304495"/>
          </a:xfrm>
          <a:prstGeom prst="ellipse">
            <a:avLst/>
          </a:prstGeom>
          <a:solidFill>
            <a:srgbClr val="3F76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1"/>
          <p:cNvSpPr/>
          <p:nvPr/>
        </p:nvSpPr>
        <p:spPr>
          <a:xfrm>
            <a:off x="6096305" y="6191402"/>
            <a:ext cx="304495" cy="304495"/>
          </a:xfrm>
          <a:prstGeom prst="ellipse">
            <a:avLst/>
          </a:prstGeom>
          <a:solidFill>
            <a:srgbClr val="5494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2"/>
          <p:cNvSpPr/>
          <p:nvPr/>
        </p:nvSpPr>
        <p:spPr>
          <a:xfrm>
            <a:off x="6590995" y="6191402"/>
            <a:ext cx="304495" cy="304495"/>
          </a:xfrm>
          <a:prstGeom prst="ellipse">
            <a:avLst/>
          </a:prstGeom>
          <a:solidFill>
            <a:srgbClr val="3F76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3"/>
          <p:cNvSpPr/>
          <p:nvPr/>
        </p:nvSpPr>
        <p:spPr>
          <a:xfrm>
            <a:off x="7086600" y="6191402"/>
            <a:ext cx="304495" cy="304495"/>
          </a:xfrm>
          <a:prstGeom prst="ellipse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4"/>
          <p:cNvSpPr/>
          <p:nvPr/>
        </p:nvSpPr>
        <p:spPr>
          <a:xfrm>
            <a:off x="7582205" y="6191402"/>
            <a:ext cx="304495" cy="304495"/>
          </a:xfrm>
          <a:prstGeom prst="ellipse">
            <a:avLst/>
          </a:prstGeom>
          <a:solidFill>
            <a:srgbClr val="B0C4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5"/>
          <p:cNvSpPr/>
          <p:nvPr/>
        </p:nvSpPr>
        <p:spPr>
          <a:xfrm>
            <a:off x="8076895" y="6191402"/>
            <a:ext cx="304495" cy="304495"/>
          </a:xfrm>
          <a:prstGeom prst="ellipse">
            <a:avLst/>
          </a:prstGeom>
          <a:solidFill>
            <a:srgbClr val="B0C4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06"/>
          <p:cNvSpPr/>
          <p:nvPr/>
        </p:nvSpPr>
        <p:spPr>
          <a:xfrm>
            <a:off x="8572500" y="6191402"/>
            <a:ext cx="304495" cy="304495"/>
          </a:xfrm>
          <a:prstGeom prst="ellipse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07"/>
          <p:cNvSpPr/>
          <p:nvPr/>
        </p:nvSpPr>
        <p:spPr>
          <a:xfrm>
            <a:off x="9068105" y="6191402"/>
            <a:ext cx="304495" cy="304495"/>
          </a:xfrm>
          <a:prstGeom prst="ellipse">
            <a:avLst/>
          </a:prstGeom>
          <a:solidFill>
            <a:srgbClr val="3F76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08"/>
          <p:cNvSpPr/>
          <p:nvPr/>
        </p:nvSpPr>
        <p:spPr>
          <a:xfrm>
            <a:off x="9562795" y="6191402"/>
            <a:ext cx="304495" cy="304495"/>
          </a:xfrm>
          <a:prstGeom prst="ellipse">
            <a:avLst/>
          </a:prstGeom>
          <a:solidFill>
            <a:srgbClr val="5494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09"/>
          <p:cNvSpPr/>
          <p:nvPr/>
        </p:nvSpPr>
        <p:spPr>
          <a:xfrm>
            <a:off x="6096305" y="6648602"/>
            <a:ext cx="304495" cy="304495"/>
          </a:xfrm>
          <a:prstGeom prst="ellipse">
            <a:avLst/>
          </a:prstGeom>
          <a:solidFill>
            <a:srgbClr val="3F76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0"/>
          <p:cNvSpPr/>
          <p:nvPr/>
        </p:nvSpPr>
        <p:spPr>
          <a:xfrm>
            <a:off x="6590995" y="6648602"/>
            <a:ext cx="304495" cy="304495"/>
          </a:xfrm>
          <a:prstGeom prst="ellipse">
            <a:avLst/>
          </a:prstGeom>
          <a:solidFill>
            <a:srgbClr val="5494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1"/>
          <p:cNvSpPr/>
          <p:nvPr/>
        </p:nvSpPr>
        <p:spPr>
          <a:xfrm>
            <a:off x="7086600" y="6648602"/>
            <a:ext cx="304495" cy="304495"/>
          </a:xfrm>
          <a:prstGeom prst="ellipse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2"/>
          <p:cNvSpPr/>
          <p:nvPr/>
        </p:nvSpPr>
        <p:spPr>
          <a:xfrm>
            <a:off x="7582205" y="6648602"/>
            <a:ext cx="304495" cy="304495"/>
          </a:xfrm>
          <a:prstGeom prst="ellipse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3"/>
          <p:cNvSpPr/>
          <p:nvPr/>
        </p:nvSpPr>
        <p:spPr>
          <a:xfrm>
            <a:off x="8076895" y="6648602"/>
            <a:ext cx="304495" cy="304495"/>
          </a:xfrm>
          <a:prstGeom prst="ellipse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4"/>
          <p:cNvSpPr/>
          <p:nvPr/>
        </p:nvSpPr>
        <p:spPr>
          <a:xfrm>
            <a:off x="8572500" y="6648602"/>
            <a:ext cx="304495" cy="304495"/>
          </a:xfrm>
          <a:prstGeom prst="ellipse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5"/>
          <p:cNvSpPr/>
          <p:nvPr/>
        </p:nvSpPr>
        <p:spPr>
          <a:xfrm>
            <a:off x="9068105" y="6648602"/>
            <a:ext cx="304495" cy="304495"/>
          </a:xfrm>
          <a:prstGeom prst="ellipse">
            <a:avLst/>
          </a:prstGeom>
          <a:solidFill>
            <a:srgbClr val="5494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16"/>
          <p:cNvSpPr/>
          <p:nvPr/>
        </p:nvSpPr>
        <p:spPr>
          <a:xfrm>
            <a:off x="9562795" y="6648602"/>
            <a:ext cx="304495" cy="304495"/>
          </a:xfrm>
          <a:prstGeom prst="ellipse">
            <a:avLst/>
          </a:prstGeom>
          <a:solidFill>
            <a:srgbClr val="3F76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Text 117"/>
          <p:cNvSpPr txBox="1"/>
          <p:nvPr/>
        </p:nvSpPr>
        <p:spPr>
          <a:xfrm>
            <a:off x="857707" y="1028700"/>
            <a:ext cx="3657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IN-WAFER UNIFORMITY · 49pt</a:t>
            </a:r>
            <a:endParaRPr lang="en-US" sz="1350" dirty="0"/>
          </a:p>
        </p:txBody>
      </p:sp>
      <p:sp>
        <p:nvSpPr>
          <p:cNvPr id="125" name="Text 118"/>
          <p:cNvSpPr txBox="1"/>
          <p:nvPr/>
        </p:nvSpPr>
        <p:spPr>
          <a:xfrm>
            <a:off x="15430500" y="1028700"/>
            <a:ext cx="2000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144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05</a:t>
            </a:r>
            <a:endParaRPr lang="en-US" sz="1200" dirty="0"/>
          </a:p>
        </p:txBody>
      </p:sp>
      <p:sp>
        <p:nvSpPr>
          <p:cNvPr id="126" name="Text 119"/>
          <p:cNvSpPr txBox="1"/>
          <p:nvPr/>
        </p:nvSpPr>
        <p:spPr>
          <a:xfrm>
            <a:off x="857707" y="1524305"/>
            <a:ext cx="142875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Wafer 내 49점 균일도</a:t>
            </a:r>
            <a:endParaRPr lang="en-US" sz="4050" dirty="0"/>
          </a:p>
        </p:txBody>
      </p:sp>
      <p:sp>
        <p:nvSpPr>
          <p:cNvPr id="127" name="Text 120"/>
          <p:cNvSpPr txBox="1"/>
          <p:nvPr/>
        </p:nvSpPr>
        <p:spPr>
          <a:xfrm>
            <a:off x="857707" y="2197303"/>
            <a:ext cx="1428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027">
                    <a:alpha val="72000"/>
                  </a:srgbClr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wafer 49 site CD deviation · 우측은 split 별 within-wafer 통계 요약</a:t>
            </a:r>
            <a:endParaRPr lang="en-US" sz="1800" dirty="0"/>
          </a:p>
        </p:txBody>
      </p:sp>
      <p:sp>
        <p:nvSpPr>
          <p:cNvPr id="128" name="Text 121"/>
          <p:cNvSpPr txBox="1"/>
          <p:nvPr/>
        </p:nvSpPr>
        <p:spPr>
          <a:xfrm>
            <a:off x="857707" y="2857500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 · 03 · MAP</a:t>
            </a:r>
            <a:endParaRPr lang="en-US" sz="975" dirty="0"/>
          </a:p>
        </p:txBody>
      </p:sp>
      <p:sp>
        <p:nvSpPr>
          <p:cNvPr id="129" name="Text 122"/>
          <p:cNvSpPr txBox="1"/>
          <p:nvPr/>
        </p:nvSpPr>
        <p:spPr>
          <a:xfrm>
            <a:off x="1047902" y="3219602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 A · W1 representative</a:t>
            </a:r>
            <a:endParaRPr lang="en-US" sz="975" dirty="0"/>
          </a:p>
        </p:txBody>
      </p:sp>
      <p:sp>
        <p:nvSpPr>
          <p:cNvPr id="130" name="Text 123"/>
          <p:cNvSpPr txBox="1"/>
          <p:nvPr/>
        </p:nvSpPr>
        <p:spPr>
          <a:xfrm>
            <a:off x="1047902" y="3448202"/>
            <a:ext cx="35250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ASEI · 7×7 Cd bias map</a:t>
            </a:r>
            <a:endParaRPr lang="en-US" sz="1800" dirty="0"/>
          </a:p>
        </p:txBody>
      </p:sp>
      <p:sp>
        <p:nvSpPr>
          <p:cNvPr id="131" name="Text 124"/>
          <p:cNvSpPr txBox="1"/>
          <p:nvPr/>
        </p:nvSpPr>
        <p:spPr>
          <a:xfrm>
            <a:off x="1047902" y="7048195"/>
            <a:ext cx="33531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4F1EA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red = +1.6 nm · grey = ±0 · 49 site · unit nm</a:t>
            </a:r>
            <a:endParaRPr lang="en-US" sz="975" dirty="0"/>
          </a:p>
        </p:txBody>
      </p:sp>
      <p:sp>
        <p:nvSpPr>
          <p:cNvPr id="132" name="Text 125"/>
          <p:cNvSpPr txBox="1"/>
          <p:nvPr/>
        </p:nvSpPr>
        <p:spPr>
          <a:xfrm>
            <a:off x="5905195" y="3219602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7FAFB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 B · W7 representative</a:t>
            </a:r>
            <a:endParaRPr lang="en-US" sz="975" dirty="0"/>
          </a:p>
        </p:txBody>
      </p:sp>
      <p:sp>
        <p:nvSpPr>
          <p:cNvPr id="133" name="Text 126"/>
          <p:cNvSpPr txBox="1"/>
          <p:nvPr/>
        </p:nvSpPr>
        <p:spPr>
          <a:xfrm>
            <a:off x="5905195" y="3448202"/>
            <a:ext cx="3620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ASEI · 7×7 Cd bias map</a:t>
            </a:r>
            <a:endParaRPr lang="en-US" sz="1800" dirty="0"/>
          </a:p>
        </p:txBody>
      </p:sp>
      <p:sp>
        <p:nvSpPr>
          <p:cNvPr id="134" name="Text 127"/>
          <p:cNvSpPr txBox="1"/>
          <p:nvPr/>
        </p:nvSpPr>
        <p:spPr>
          <a:xfrm>
            <a:off x="5905195" y="7048195"/>
            <a:ext cx="37911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4F1EA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teal = +0.4 nm · grey-band = ±0 · 49 site · unit nm</a:t>
            </a:r>
            <a:endParaRPr lang="en-US" sz="975" dirty="0"/>
          </a:p>
        </p:txBody>
      </p:sp>
      <p:sp>
        <p:nvSpPr>
          <p:cNvPr id="135" name="Text 128"/>
          <p:cNvSpPr txBox="1"/>
          <p:nvPr/>
        </p:nvSpPr>
        <p:spPr>
          <a:xfrm>
            <a:off x="10858500" y="3047695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UNIFORMITY · NUMERIC</a:t>
            </a:r>
            <a:endParaRPr lang="en-US" sz="975" dirty="0"/>
          </a:p>
        </p:txBody>
      </p:sp>
      <p:sp>
        <p:nvSpPr>
          <p:cNvPr id="136" name="Text 129"/>
          <p:cNvSpPr txBox="1"/>
          <p:nvPr/>
        </p:nvSpPr>
        <p:spPr>
          <a:xfrm>
            <a:off x="10858500" y="3267151"/>
            <a:ext cx="6667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Within-wafer 통계 요약</a:t>
            </a:r>
            <a:endParaRPr lang="en-US" sz="1950" dirty="0"/>
          </a:p>
        </p:txBody>
      </p:sp>
      <p:sp>
        <p:nvSpPr>
          <p:cNvPr id="137" name="Text 130"/>
          <p:cNvSpPr txBox="1"/>
          <p:nvPr/>
        </p:nvSpPr>
        <p:spPr>
          <a:xfrm>
            <a:off x="11239805" y="3981298"/>
            <a:ext cx="145755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 A · W1–W4</a:t>
            </a:r>
            <a:endParaRPr lang="en-US" sz="975" dirty="0"/>
          </a:p>
        </p:txBody>
      </p:sp>
      <p:sp>
        <p:nvSpPr>
          <p:cNvPr id="138" name="Text 131"/>
          <p:cNvSpPr txBox="1"/>
          <p:nvPr/>
        </p:nvSpPr>
        <p:spPr>
          <a:xfrm>
            <a:off x="11239805" y="4286707"/>
            <a:ext cx="1524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ASEI</a:t>
            </a:r>
            <a:endParaRPr lang="en-US" sz="900" dirty="0"/>
          </a:p>
        </p:txBody>
      </p:sp>
      <p:sp>
        <p:nvSpPr>
          <p:cNvPr id="139" name="Text 132"/>
          <p:cNvSpPr txBox="1"/>
          <p:nvPr/>
        </p:nvSpPr>
        <p:spPr>
          <a:xfrm>
            <a:off x="11239805" y="4466844"/>
            <a:ext cx="1524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17.6</a:t>
            </a:r>
            <a:endParaRPr lang="en-US" sz="2850" dirty="0"/>
          </a:p>
        </p:txBody>
      </p:sp>
      <p:sp>
        <p:nvSpPr>
          <p:cNvPr id="140" name="Text 133"/>
          <p:cNvSpPr txBox="1"/>
          <p:nvPr/>
        </p:nvSpPr>
        <p:spPr>
          <a:xfrm>
            <a:off x="11239805" y="4848149"/>
            <a:ext cx="1524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 · wafer-avg</a:t>
            </a:r>
            <a:endParaRPr lang="en-US" sz="900" dirty="0"/>
          </a:p>
        </p:txBody>
      </p:sp>
      <p:sp>
        <p:nvSpPr>
          <p:cNvPr id="141" name="Text 134"/>
          <p:cNvSpPr txBox="1"/>
          <p:nvPr/>
        </p:nvSpPr>
        <p:spPr>
          <a:xfrm>
            <a:off x="12859207" y="4286707"/>
            <a:ext cx="1524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within 3σ</a:t>
            </a:r>
            <a:endParaRPr lang="en-US" sz="900" dirty="0"/>
          </a:p>
        </p:txBody>
      </p:sp>
      <p:sp>
        <p:nvSpPr>
          <p:cNvPr id="142" name="Text 135"/>
          <p:cNvSpPr txBox="1"/>
          <p:nvPr/>
        </p:nvSpPr>
        <p:spPr>
          <a:xfrm>
            <a:off x="12859207" y="4466844"/>
            <a:ext cx="1524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1.20</a:t>
            </a:r>
            <a:endParaRPr lang="en-US" sz="2850" dirty="0"/>
          </a:p>
        </p:txBody>
      </p:sp>
      <p:sp>
        <p:nvSpPr>
          <p:cNvPr id="143" name="Text 136"/>
          <p:cNvSpPr txBox="1"/>
          <p:nvPr/>
        </p:nvSpPr>
        <p:spPr>
          <a:xfrm>
            <a:off x="12859207" y="4848149"/>
            <a:ext cx="1524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 · worst site</a:t>
            </a:r>
            <a:endParaRPr lang="en-US" sz="900" dirty="0"/>
          </a:p>
        </p:txBody>
      </p:sp>
      <p:sp>
        <p:nvSpPr>
          <p:cNvPr id="144" name="Text 137"/>
          <p:cNvSpPr txBox="1"/>
          <p:nvPr/>
        </p:nvSpPr>
        <p:spPr>
          <a:xfrm>
            <a:off x="14477695" y="4286707"/>
            <a:ext cx="1524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range</a:t>
            </a:r>
            <a:endParaRPr lang="en-US" sz="900" dirty="0"/>
          </a:p>
        </p:txBody>
      </p:sp>
      <p:sp>
        <p:nvSpPr>
          <p:cNvPr id="145" name="Text 138"/>
          <p:cNvSpPr txBox="1"/>
          <p:nvPr/>
        </p:nvSpPr>
        <p:spPr>
          <a:xfrm>
            <a:off x="14477695" y="4466844"/>
            <a:ext cx="1524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4.1</a:t>
            </a:r>
            <a:endParaRPr lang="en-US" sz="2850" dirty="0"/>
          </a:p>
        </p:txBody>
      </p:sp>
      <p:sp>
        <p:nvSpPr>
          <p:cNvPr id="146" name="Text 139"/>
          <p:cNvSpPr txBox="1"/>
          <p:nvPr/>
        </p:nvSpPr>
        <p:spPr>
          <a:xfrm>
            <a:off x="14477695" y="4848149"/>
            <a:ext cx="1524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 · max-min</a:t>
            </a:r>
            <a:endParaRPr lang="en-US" sz="900" dirty="0"/>
          </a:p>
        </p:txBody>
      </p:sp>
      <p:sp>
        <p:nvSpPr>
          <p:cNvPr id="147" name="Text 140"/>
          <p:cNvSpPr txBox="1"/>
          <p:nvPr/>
        </p:nvSpPr>
        <p:spPr>
          <a:xfrm>
            <a:off x="16097098" y="4286707"/>
            <a:ext cx="12390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|Δ|max</a:t>
            </a:r>
            <a:endParaRPr lang="en-US" sz="900" dirty="0"/>
          </a:p>
        </p:txBody>
      </p:sp>
      <p:sp>
        <p:nvSpPr>
          <p:cNvPr id="148" name="Text 141"/>
          <p:cNvSpPr txBox="1"/>
          <p:nvPr/>
        </p:nvSpPr>
        <p:spPr>
          <a:xfrm>
            <a:off x="16097098" y="4466844"/>
            <a:ext cx="12390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+1.6</a:t>
            </a:r>
            <a:endParaRPr lang="en-US" sz="2850" dirty="0"/>
          </a:p>
        </p:txBody>
      </p:sp>
      <p:sp>
        <p:nvSpPr>
          <p:cNvPr id="149" name="Text 142"/>
          <p:cNvSpPr txBox="1"/>
          <p:nvPr/>
        </p:nvSpPr>
        <p:spPr>
          <a:xfrm>
            <a:off x="16097098" y="4848149"/>
            <a:ext cx="12390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 vs target</a:t>
            </a:r>
            <a:endParaRPr lang="en-US" sz="900" dirty="0"/>
          </a:p>
        </p:txBody>
      </p:sp>
      <p:sp>
        <p:nvSpPr>
          <p:cNvPr id="150" name="Text 143"/>
          <p:cNvSpPr txBox="1"/>
          <p:nvPr/>
        </p:nvSpPr>
        <p:spPr>
          <a:xfrm>
            <a:off x="11239805" y="6077102"/>
            <a:ext cx="145755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 B · W5–W8</a:t>
            </a:r>
            <a:endParaRPr lang="en-US" sz="975" dirty="0"/>
          </a:p>
        </p:txBody>
      </p:sp>
      <p:sp>
        <p:nvSpPr>
          <p:cNvPr id="151" name="Text 144"/>
          <p:cNvSpPr txBox="1"/>
          <p:nvPr/>
        </p:nvSpPr>
        <p:spPr>
          <a:xfrm>
            <a:off x="11239805" y="6381598"/>
            <a:ext cx="1524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ASEI</a:t>
            </a:r>
            <a:endParaRPr lang="en-US" sz="900" dirty="0"/>
          </a:p>
        </p:txBody>
      </p:sp>
      <p:sp>
        <p:nvSpPr>
          <p:cNvPr id="152" name="Text 145"/>
          <p:cNvSpPr txBox="1"/>
          <p:nvPr/>
        </p:nvSpPr>
        <p:spPr>
          <a:xfrm>
            <a:off x="11239805" y="6562649"/>
            <a:ext cx="1524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16.4</a:t>
            </a:r>
            <a:endParaRPr lang="en-US" sz="2850" dirty="0"/>
          </a:p>
        </p:txBody>
      </p:sp>
      <p:sp>
        <p:nvSpPr>
          <p:cNvPr id="153" name="Text 146"/>
          <p:cNvSpPr txBox="1"/>
          <p:nvPr/>
        </p:nvSpPr>
        <p:spPr>
          <a:xfrm>
            <a:off x="11239805" y="6943954"/>
            <a:ext cx="1524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 · wafer-avg</a:t>
            </a:r>
            <a:endParaRPr lang="en-US" sz="900" dirty="0"/>
          </a:p>
        </p:txBody>
      </p:sp>
      <p:sp>
        <p:nvSpPr>
          <p:cNvPr id="154" name="Text 147"/>
          <p:cNvSpPr txBox="1"/>
          <p:nvPr/>
        </p:nvSpPr>
        <p:spPr>
          <a:xfrm>
            <a:off x="12859207" y="6381598"/>
            <a:ext cx="1524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within 3σ</a:t>
            </a:r>
            <a:endParaRPr lang="en-US" sz="900" dirty="0"/>
          </a:p>
        </p:txBody>
      </p:sp>
      <p:sp>
        <p:nvSpPr>
          <p:cNvPr id="155" name="Text 148"/>
          <p:cNvSpPr txBox="1"/>
          <p:nvPr/>
        </p:nvSpPr>
        <p:spPr>
          <a:xfrm>
            <a:off x="12859207" y="6562649"/>
            <a:ext cx="1524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0.55</a:t>
            </a:r>
            <a:endParaRPr lang="en-US" sz="2850" dirty="0"/>
          </a:p>
        </p:txBody>
      </p:sp>
      <p:sp>
        <p:nvSpPr>
          <p:cNvPr id="156" name="Text 149"/>
          <p:cNvSpPr txBox="1"/>
          <p:nvPr/>
        </p:nvSpPr>
        <p:spPr>
          <a:xfrm>
            <a:off x="12859207" y="6943954"/>
            <a:ext cx="1524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 · worst site</a:t>
            </a:r>
            <a:endParaRPr lang="en-US" sz="900" dirty="0"/>
          </a:p>
        </p:txBody>
      </p:sp>
      <p:sp>
        <p:nvSpPr>
          <p:cNvPr id="157" name="Text 150"/>
          <p:cNvSpPr txBox="1"/>
          <p:nvPr/>
        </p:nvSpPr>
        <p:spPr>
          <a:xfrm>
            <a:off x="14477695" y="6381598"/>
            <a:ext cx="1524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range</a:t>
            </a:r>
            <a:endParaRPr lang="en-US" sz="900" dirty="0"/>
          </a:p>
        </p:txBody>
      </p:sp>
      <p:sp>
        <p:nvSpPr>
          <p:cNvPr id="158" name="Text 151"/>
          <p:cNvSpPr txBox="1"/>
          <p:nvPr/>
        </p:nvSpPr>
        <p:spPr>
          <a:xfrm>
            <a:off x="14477695" y="6562649"/>
            <a:ext cx="1524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</a:t>
            </a:r>
            <a:endParaRPr lang="en-US" sz="2850" dirty="0"/>
          </a:p>
        </p:txBody>
      </p:sp>
      <p:sp>
        <p:nvSpPr>
          <p:cNvPr id="159" name="Text 152"/>
          <p:cNvSpPr txBox="1"/>
          <p:nvPr/>
        </p:nvSpPr>
        <p:spPr>
          <a:xfrm>
            <a:off x="14477695" y="6943954"/>
            <a:ext cx="1524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 · max-min</a:t>
            </a:r>
            <a:endParaRPr lang="en-US" sz="900" dirty="0"/>
          </a:p>
        </p:txBody>
      </p:sp>
      <p:sp>
        <p:nvSpPr>
          <p:cNvPr id="160" name="Text 153"/>
          <p:cNvSpPr txBox="1"/>
          <p:nvPr/>
        </p:nvSpPr>
        <p:spPr>
          <a:xfrm>
            <a:off x="16097098" y="6381598"/>
            <a:ext cx="12390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|Δ|max</a:t>
            </a:r>
            <a:endParaRPr lang="en-US" sz="900" dirty="0"/>
          </a:p>
        </p:txBody>
      </p:sp>
      <p:sp>
        <p:nvSpPr>
          <p:cNvPr id="161" name="Text 154"/>
          <p:cNvSpPr txBox="1"/>
          <p:nvPr/>
        </p:nvSpPr>
        <p:spPr>
          <a:xfrm>
            <a:off x="16097098" y="6562649"/>
            <a:ext cx="12390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+0.3</a:t>
            </a:r>
            <a:endParaRPr lang="en-US" sz="2850" dirty="0"/>
          </a:p>
        </p:txBody>
      </p:sp>
      <p:sp>
        <p:nvSpPr>
          <p:cNvPr id="162" name="Text 155"/>
          <p:cNvSpPr txBox="1"/>
          <p:nvPr/>
        </p:nvSpPr>
        <p:spPr>
          <a:xfrm>
            <a:off x="16097098" y="6943954"/>
            <a:ext cx="12390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 vs target</a:t>
            </a:r>
            <a:endParaRPr lang="en-US" sz="900" dirty="0"/>
          </a:p>
        </p:txBody>
      </p:sp>
      <p:sp>
        <p:nvSpPr>
          <p:cNvPr id="163" name="Text 156"/>
          <p:cNvSpPr txBox="1"/>
          <p:nvPr/>
        </p:nvSpPr>
        <p:spPr>
          <a:xfrm>
            <a:off x="857707" y="8801100"/>
            <a:ext cx="1143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64" name="Text 157"/>
          <p:cNvSpPr txBox="1"/>
          <p:nvPr/>
        </p:nvSpPr>
        <p:spPr>
          <a:xfrm>
            <a:off x="2190902" y="8762695"/>
            <a:ext cx="1505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Split A 내 3σ ≤ 1.20 nm · range 4.1 nm · Split B 3σ ≤ 0.55 nm · range 2.0 nm — B가 edge site 까지 일관되게 안정</a:t>
            </a:r>
            <a:endParaRPr lang="en-US" sz="1800" dirty="0"/>
          </a:p>
        </p:txBody>
      </p:sp>
      <p:sp>
        <p:nvSpPr>
          <p:cNvPr id="165" name="Text 158"/>
          <p:cNvSpPr txBox="1"/>
          <p:nvPr/>
        </p:nvSpPr>
        <p:spPr>
          <a:xfrm>
            <a:off x="857707" y="97539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A83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050" dirty="0"/>
          </a:p>
        </p:txBody>
      </p:sp>
      <p:sp>
        <p:nvSpPr>
          <p:cNvPr id="166" name="Text 159"/>
          <p:cNvSpPr txBox="1"/>
          <p:nvPr/>
        </p:nvSpPr>
        <p:spPr>
          <a:xfrm>
            <a:off x="14573707" y="9753905"/>
            <a:ext cx="2857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05 · within-wafer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3879b1d8bbc9cc3cada0b9b1c4c9382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rcRect l="-2083" r="-2083" t="0" b="0"/>
          <a:stretch/>
        </p:blipFill>
        <p:spPr>
          <a:xfrm>
            <a:off x="857707" y="857707"/>
            <a:ext cx="16573500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57707" y="8667598"/>
            <a:ext cx="16573500" cy="9144"/>
          </a:xfrm>
          <a:prstGeom prst="rect">
            <a:avLst/>
          </a:prstGeom>
          <a:solidFill>
            <a:srgbClr val="1B2027"/>
          </a:solidFill>
          <a:ln w="12700">
            <a:solidFill>
              <a:srgbClr val="1B2027">
                <a:alpha val="0"/>
              </a:srgbClr>
            </a:solidFill>
            <a:prstDash val="solid"/>
          </a:ln>
        </p:spPr>
      </p:sp>
      <p:pic>
        <p:nvPicPr>
          <p:cNvPr id="5" name="Image 1" descr="gen-dedup-33879b1d8bbc9cc3cada0b9b1c4c9382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-2083" r="-2083" t="0" b="0"/>
          <a:stretch/>
        </p:blipFill>
        <p:spPr>
          <a:xfrm>
            <a:off x="857707" y="9620402"/>
            <a:ext cx="16573500" cy="91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857707" y="3810305"/>
            <a:ext cx="7905902" cy="342900"/>
          </a:xfrm>
          <a:prstGeom prst="rect">
            <a:avLst/>
          </a:prstGeom>
          <a:solidFill>
            <a:srgbClr val="1B20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857707" y="4553712"/>
            <a:ext cx="7905902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857707" y="4953305"/>
            <a:ext cx="7905902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57707" y="5353812"/>
            <a:ext cx="7905902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57707" y="5753405"/>
            <a:ext cx="7905902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57707" y="6153912"/>
            <a:ext cx="7905902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57707" y="6553505"/>
            <a:ext cx="7905902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57707" y="6954012"/>
            <a:ext cx="7905902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430207" y="3810305"/>
            <a:ext cx="8001000" cy="342900"/>
          </a:xfrm>
          <a:prstGeom prst="rect">
            <a:avLst/>
          </a:prstGeom>
          <a:solidFill>
            <a:srgbClr val="1B20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430207" y="4553712"/>
            <a:ext cx="8001000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430207" y="4953305"/>
            <a:ext cx="8001000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430207" y="5353812"/>
            <a:ext cx="8001000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430207" y="5753405"/>
            <a:ext cx="8001000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430207" y="6153912"/>
            <a:ext cx="8001000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430207" y="6553505"/>
            <a:ext cx="8001000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430207" y="6954012"/>
            <a:ext cx="8001000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580998" y="4267505"/>
            <a:ext cx="304495" cy="209398"/>
          </a:xfrm>
          <a:prstGeom prst="rect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580998" y="4667098"/>
            <a:ext cx="304495" cy="209398"/>
          </a:xfrm>
          <a:prstGeom prst="rect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580998" y="5067605"/>
            <a:ext cx="304495" cy="209398"/>
          </a:xfrm>
          <a:prstGeom prst="rect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580998" y="5467198"/>
            <a:ext cx="304495" cy="209398"/>
          </a:xfrm>
          <a:prstGeom prst="rect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580998" y="5867705"/>
            <a:ext cx="304495" cy="209398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580998" y="6267298"/>
            <a:ext cx="304495" cy="209398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580998" y="6667805"/>
            <a:ext cx="304495" cy="209398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580998" y="7067398"/>
            <a:ext cx="304495" cy="209398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0134295" y="4267505"/>
            <a:ext cx="304495" cy="209398"/>
          </a:xfrm>
          <a:prstGeom prst="rect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0134295" y="4667098"/>
            <a:ext cx="304495" cy="209398"/>
          </a:xfrm>
          <a:prstGeom prst="rect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0134295" y="5067605"/>
            <a:ext cx="304495" cy="209398"/>
          </a:xfrm>
          <a:prstGeom prst="rect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0134295" y="5467198"/>
            <a:ext cx="304495" cy="209398"/>
          </a:xfrm>
          <a:prstGeom prst="rect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0134295" y="5867705"/>
            <a:ext cx="304495" cy="209398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0134295" y="6267298"/>
            <a:ext cx="304495" cy="209398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0134295" y="6667805"/>
            <a:ext cx="304495" cy="209398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0134295" y="7067398"/>
            <a:ext cx="304495" cy="209398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57707" y="1028700"/>
            <a:ext cx="43626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ELECTRICAL CHARACTERISTICS · M2</a:t>
            </a:r>
            <a:endParaRPr lang="en-US" sz="1350" dirty="0"/>
          </a:p>
        </p:txBody>
      </p:sp>
      <p:sp>
        <p:nvSpPr>
          <p:cNvPr id="39" name="Text 34"/>
          <p:cNvSpPr txBox="1"/>
          <p:nvPr/>
        </p:nvSpPr>
        <p:spPr>
          <a:xfrm>
            <a:off x="15430500" y="1028700"/>
            <a:ext cx="2000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144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05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857707" y="1524305"/>
            <a:ext cx="142875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전기 특성 — 라인 / 비아 / 캐패시턴스 / 누설</a:t>
            </a:r>
            <a:endParaRPr lang="en-US" sz="4050" dirty="0"/>
          </a:p>
        </p:txBody>
      </p:sp>
      <p:sp>
        <p:nvSpPr>
          <p:cNvPr id="41" name="Text 36"/>
          <p:cNvSpPr txBox="1"/>
          <p:nvPr/>
        </p:nvSpPr>
        <p:spPr>
          <a:xfrm>
            <a:off x="857707" y="2197303"/>
            <a:ext cx="1428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027">
                    <a:alpha val="72000"/>
                  </a:srgbClr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 wafer lot · 4개 카테고리 — 좌 라인/시트 · 우 비아/누설/C</a:t>
            </a:r>
            <a:endParaRPr lang="en-US" sz="1800" dirty="0"/>
          </a:p>
        </p:txBody>
      </p:sp>
      <p:sp>
        <p:nvSpPr>
          <p:cNvPr id="42" name="Text 37"/>
          <p:cNvSpPr txBox="1"/>
          <p:nvPr/>
        </p:nvSpPr>
        <p:spPr>
          <a:xfrm>
            <a:off x="857707" y="2857500"/>
            <a:ext cx="79059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CHART · 01</a:t>
            </a:r>
            <a:endParaRPr lang="en-US" sz="975" dirty="0"/>
          </a:p>
        </p:txBody>
      </p:sp>
      <p:sp>
        <p:nvSpPr>
          <p:cNvPr id="43" name="Text 38"/>
          <p:cNvSpPr txBox="1"/>
          <p:nvPr/>
        </p:nvSpPr>
        <p:spPr>
          <a:xfrm>
            <a:off x="857707" y="3076956"/>
            <a:ext cx="790590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라인 / 시트 저항</a:t>
            </a:r>
            <a:endParaRPr lang="en-US" sz="2100" dirty="0"/>
          </a:p>
        </p:txBody>
      </p:sp>
      <p:sp>
        <p:nvSpPr>
          <p:cNvPr id="44" name="Text 39"/>
          <p:cNvSpPr txBox="1"/>
          <p:nvPr/>
        </p:nvSpPr>
        <p:spPr>
          <a:xfrm>
            <a:off x="933602" y="3895344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W#</a:t>
            </a:r>
            <a:endParaRPr lang="en-US" sz="975" dirty="0"/>
          </a:p>
        </p:txBody>
      </p:sp>
      <p:sp>
        <p:nvSpPr>
          <p:cNvPr id="45" name="Text 40"/>
          <p:cNvSpPr txBox="1"/>
          <p:nvPr/>
        </p:nvSpPr>
        <p:spPr>
          <a:xfrm>
            <a:off x="1524305" y="3895344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975" dirty="0"/>
          </a:p>
        </p:txBody>
      </p:sp>
      <p:sp>
        <p:nvSpPr>
          <p:cNvPr id="46" name="Text 41"/>
          <p:cNvSpPr txBox="1"/>
          <p:nvPr/>
        </p:nvSpPr>
        <p:spPr>
          <a:xfrm>
            <a:off x="2190902" y="3895344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</a:t>
            </a:r>
            <a:pPr algn="ctr" indent="0" marL="0">
              <a:buNone/>
            </a:pPr>
            <a:r>
              <a:rPr lang="en-US" sz="812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</a:t>
            </a:r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· mΩ/μm</a:t>
            </a:r>
            <a:endParaRPr lang="en-US" sz="975" dirty="0"/>
          </a:p>
        </p:txBody>
      </p:sp>
      <p:sp>
        <p:nvSpPr>
          <p:cNvPr id="47" name="Text 42"/>
          <p:cNvSpPr txBox="1"/>
          <p:nvPr/>
        </p:nvSpPr>
        <p:spPr>
          <a:xfrm>
            <a:off x="4190695" y="3895344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</a:t>
            </a:r>
            <a:pPr algn="ctr" indent="0" marL="0">
              <a:buNone/>
            </a:pPr>
            <a:r>
              <a:rPr lang="en-US" sz="812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· mΩ/sq</a:t>
            </a:r>
            <a:endParaRPr lang="en-US" sz="975" dirty="0"/>
          </a:p>
        </p:txBody>
      </p:sp>
      <p:sp>
        <p:nvSpPr>
          <p:cNvPr id="48" name="Text 43"/>
          <p:cNvSpPr txBox="1"/>
          <p:nvPr/>
        </p:nvSpPr>
        <p:spPr>
          <a:xfrm>
            <a:off x="6191402" y="3895344"/>
            <a:ext cx="2477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 R</a:t>
            </a:r>
            <a:pPr algn="ctr" indent="0" marL="0">
              <a:buNone/>
            </a:pPr>
            <a:r>
              <a:rPr lang="en-US" sz="812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</a:t>
            </a:r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vs A-mean</a:t>
            </a:r>
            <a:endParaRPr lang="en-US" sz="975" dirty="0"/>
          </a:p>
        </p:txBody>
      </p:sp>
      <p:sp>
        <p:nvSpPr>
          <p:cNvPr id="49" name="Text 44"/>
          <p:cNvSpPr txBox="1"/>
          <p:nvPr/>
        </p:nvSpPr>
        <p:spPr>
          <a:xfrm>
            <a:off x="933602" y="4257446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W1</a:t>
            </a:r>
            <a:endParaRPr lang="en-US" sz="1500" dirty="0"/>
          </a:p>
        </p:txBody>
      </p:sp>
      <p:sp>
        <p:nvSpPr>
          <p:cNvPr id="50" name="Text 45"/>
          <p:cNvSpPr txBox="1"/>
          <p:nvPr/>
        </p:nvSpPr>
        <p:spPr>
          <a:xfrm>
            <a:off x="2190902" y="4219956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1420</a:t>
            </a:r>
            <a:endParaRPr lang="en-US" sz="1650" dirty="0"/>
          </a:p>
        </p:txBody>
      </p:sp>
      <p:sp>
        <p:nvSpPr>
          <p:cNvPr id="51" name="Text 46"/>
          <p:cNvSpPr txBox="1"/>
          <p:nvPr/>
        </p:nvSpPr>
        <p:spPr>
          <a:xfrm>
            <a:off x="4190695" y="4219956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320</a:t>
            </a:r>
            <a:endParaRPr lang="en-US" sz="1650" dirty="0"/>
          </a:p>
        </p:txBody>
      </p:sp>
      <p:sp>
        <p:nvSpPr>
          <p:cNvPr id="52" name="Text 47"/>
          <p:cNvSpPr txBox="1"/>
          <p:nvPr/>
        </p:nvSpPr>
        <p:spPr>
          <a:xfrm>
            <a:off x="6191402" y="4219956"/>
            <a:ext cx="2477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+1.4%</a:t>
            </a:r>
            <a:endParaRPr lang="en-US" sz="1650" dirty="0"/>
          </a:p>
        </p:txBody>
      </p:sp>
      <p:sp>
        <p:nvSpPr>
          <p:cNvPr id="53" name="Text 48"/>
          <p:cNvSpPr txBox="1"/>
          <p:nvPr/>
        </p:nvSpPr>
        <p:spPr>
          <a:xfrm>
            <a:off x="933602" y="4657954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W2</a:t>
            </a:r>
            <a:endParaRPr lang="en-US" sz="1500" dirty="0"/>
          </a:p>
        </p:txBody>
      </p:sp>
      <p:sp>
        <p:nvSpPr>
          <p:cNvPr id="54" name="Text 49"/>
          <p:cNvSpPr txBox="1"/>
          <p:nvPr/>
        </p:nvSpPr>
        <p:spPr>
          <a:xfrm>
            <a:off x="2190902" y="4619549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1390</a:t>
            </a:r>
            <a:endParaRPr lang="en-US" sz="1650" dirty="0"/>
          </a:p>
        </p:txBody>
      </p:sp>
      <p:sp>
        <p:nvSpPr>
          <p:cNvPr id="55" name="Text 50"/>
          <p:cNvSpPr txBox="1"/>
          <p:nvPr/>
        </p:nvSpPr>
        <p:spPr>
          <a:xfrm>
            <a:off x="4190695" y="4619549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318</a:t>
            </a:r>
            <a:endParaRPr lang="en-US" sz="1650" dirty="0"/>
          </a:p>
        </p:txBody>
      </p:sp>
      <p:sp>
        <p:nvSpPr>
          <p:cNvPr id="56" name="Text 51"/>
          <p:cNvSpPr txBox="1"/>
          <p:nvPr/>
        </p:nvSpPr>
        <p:spPr>
          <a:xfrm>
            <a:off x="6191402" y="4619549"/>
            <a:ext cx="2477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−0.7%</a:t>
            </a:r>
            <a:endParaRPr lang="en-US" sz="1650" dirty="0"/>
          </a:p>
        </p:txBody>
      </p:sp>
      <p:sp>
        <p:nvSpPr>
          <p:cNvPr id="57" name="Text 52"/>
          <p:cNvSpPr txBox="1"/>
          <p:nvPr/>
        </p:nvSpPr>
        <p:spPr>
          <a:xfrm>
            <a:off x="933602" y="5057546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W3</a:t>
            </a:r>
            <a:endParaRPr lang="en-US" sz="1500" dirty="0"/>
          </a:p>
        </p:txBody>
      </p:sp>
      <p:sp>
        <p:nvSpPr>
          <p:cNvPr id="58" name="Text 53"/>
          <p:cNvSpPr txBox="1"/>
          <p:nvPr/>
        </p:nvSpPr>
        <p:spPr>
          <a:xfrm>
            <a:off x="2190902" y="5020056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1450</a:t>
            </a:r>
            <a:endParaRPr lang="en-US" sz="1650" dirty="0"/>
          </a:p>
        </p:txBody>
      </p:sp>
      <p:sp>
        <p:nvSpPr>
          <p:cNvPr id="59" name="Text 54"/>
          <p:cNvSpPr txBox="1"/>
          <p:nvPr/>
        </p:nvSpPr>
        <p:spPr>
          <a:xfrm>
            <a:off x="4190695" y="5020056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326</a:t>
            </a:r>
            <a:endParaRPr lang="en-US" sz="1650" dirty="0"/>
          </a:p>
        </p:txBody>
      </p:sp>
      <p:sp>
        <p:nvSpPr>
          <p:cNvPr id="60" name="Text 55"/>
          <p:cNvSpPr txBox="1"/>
          <p:nvPr/>
        </p:nvSpPr>
        <p:spPr>
          <a:xfrm>
            <a:off x="6191402" y="5020056"/>
            <a:ext cx="2477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+3.6%</a:t>
            </a:r>
            <a:endParaRPr lang="en-US" sz="1650" dirty="0"/>
          </a:p>
        </p:txBody>
      </p:sp>
      <p:sp>
        <p:nvSpPr>
          <p:cNvPr id="61" name="Text 56"/>
          <p:cNvSpPr txBox="1"/>
          <p:nvPr/>
        </p:nvSpPr>
        <p:spPr>
          <a:xfrm>
            <a:off x="933602" y="5458054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</a:t>
            </a:r>
            <a:endParaRPr lang="en-US" sz="1500" dirty="0"/>
          </a:p>
        </p:txBody>
      </p:sp>
      <p:sp>
        <p:nvSpPr>
          <p:cNvPr id="62" name="Text 57"/>
          <p:cNvSpPr txBox="1"/>
          <p:nvPr/>
        </p:nvSpPr>
        <p:spPr>
          <a:xfrm>
            <a:off x="2190902" y="5419649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1410</a:t>
            </a:r>
            <a:endParaRPr lang="en-US" sz="1650" dirty="0"/>
          </a:p>
        </p:txBody>
      </p:sp>
      <p:sp>
        <p:nvSpPr>
          <p:cNvPr id="63" name="Text 58"/>
          <p:cNvSpPr txBox="1"/>
          <p:nvPr/>
        </p:nvSpPr>
        <p:spPr>
          <a:xfrm>
            <a:off x="4190695" y="5419649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322</a:t>
            </a:r>
            <a:endParaRPr lang="en-US" sz="1650" dirty="0"/>
          </a:p>
        </p:txBody>
      </p:sp>
      <p:sp>
        <p:nvSpPr>
          <p:cNvPr id="64" name="Text 59"/>
          <p:cNvSpPr txBox="1"/>
          <p:nvPr/>
        </p:nvSpPr>
        <p:spPr>
          <a:xfrm>
            <a:off x="6191402" y="5419649"/>
            <a:ext cx="2477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+0.7%</a:t>
            </a:r>
            <a:endParaRPr lang="en-US" sz="1650" dirty="0"/>
          </a:p>
        </p:txBody>
      </p:sp>
      <p:sp>
        <p:nvSpPr>
          <p:cNvPr id="65" name="Text 60"/>
          <p:cNvSpPr txBox="1"/>
          <p:nvPr/>
        </p:nvSpPr>
        <p:spPr>
          <a:xfrm>
            <a:off x="933602" y="5857646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W5</a:t>
            </a:r>
            <a:endParaRPr lang="en-US" sz="1500" dirty="0"/>
          </a:p>
        </p:txBody>
      </p:sp>
      <p:sp>
        <p:nvSpPr>
          <p:cNvPr id="66" name="Text 61"/>
          <p:cNvSpPr txBox="1"/>
          <p:nvPr/>
        </p:nvSpPr>
        <p:spPr>
          <a:xfrm>
            <a:off x="2190902" y="5820156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1280</a:t>
            </a:r>
            <a:endParaRPr lang="en-US" sz="1650" dirty="0"/>
          </a:p>
        </p:txBody>
      </p:sp>
      <p:sp>
        <p:nvSpPr>
          <p:cNvPr id="67" name="Text 62"/>
          <p:cNvSpPr txBox="1"/>
          <p:nvPr/>
        </p:nvSpPr>
        <p:spPr>
          <a:xfrm>
            <a:off x="4190695" y="5820156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298</a:t>
            </a:r>
            <a:endParaRPr lang="en-US" sz="1650" dirty="0"/>
          </a:p>
        </p:txBody>
      </p:sp>
      <p:sp>
        <p:nvSpPr>
          <p:cNvPr id="68" name="Text 63"/>
          <p:cNvSpPr txBox="1"/>
          <p:nvPr/>
        </p:nvSpPr>
        <p:spPr>
          <a:xfrm>
            <a:off x="6191402" y="5820156"/>
            <a:ext cx="2477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−9.3%</a:t>
            </a:r>
            <a:endParaRPr lang="en-US" sz="1650" dirty="0"/>
          </a:p>
        </p:txBody>
      </p:sp>
      <p:sp>
        <p:nvSpPr>
          <p:cNvPr id="69" name="Text 64"/>
          <p:cNvSpPr txBox="1"/>
          <p:nvPr/>
        </p:nvSpPr>
        <p:spPr>
          <a:xfrm>
            <a:off x="933602" y="6258154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W6</a:t>
            </a:r>
            <a:endParaRPr lang="en-US" sz="1500" dirty="0"/>
          </a:p>
        </p:txBody>
      </p:sp>
      <p:sp>
        <p:nvSpPr>
          <p:cNvPr id="70" name="Text 65"/>
          <p:cNvSpPr txBox="1"/>
          <p:nvPr/>
        </p:nvSpPr>
        <p:spPr>
          <a:xfrm>
            <a:off x="2190902" y="6219749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1300</a:t>
            </a:r>
            <a:endParaRPr lang="en-US" sz="1650" dirty="0"/>
          </a:p>
        </p:txBody>
      </p:sp>
      <p:sp>
        <p:nvSpPr>
          <p:cNvPr id="71" name="Text 66"/>
          <p:cNvSpPr txBox="1"/>
          <p:nvPr/>
        </p:nvSpPr>
        <p:spPr>
          <a:xfrm>
            <a:off x="4190695" y="6219749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302</a:t>
            </a:r>
            <a:endParaRPr lang="en-US" sz="1650" dirty="0"/>
          </a:p>
        </p:txBody>
      </p:sp>
      <p:sp>
        <p:nvSpPr>
          <p:cNvPr id="72" name="Text 67"/>
          <p:cNvSpPr txBox="1"/>
          <p:nvPr/>
        </p:nvSpPr>
        <p:spPr>
          <a:xfrm>
            <a:off x="6191402" y="6219749"/>
            <a:ext cx="2477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−7.9%</a:t>
            </a:r>
            <a:endParaRPr lang="en-US" sz="1650" dirty="0"/>
          </a:p>
        </p:txBody>
      </p:sp>
      <p:sp>
        <p:nvSpPr>
          <p:cNvPr id="73" name="Text 68"/>
          <p:cNvSpPr txBox="1"/>
          <p:nvPr/>
        </p:nvSpPr>
        <p:spPr>
          <a:xfrm>
            <a:off x="933602" y="6657746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W7</a:t>
            </a:r>
            <a:endParaRPr lang="en-US" sz="1500" dirty="0"/>
          </a:p>
        </p:txBody>
      </p:sp>
      <p:sp>
        <p:nvSpPr>
          <p:cNvPr id="74" name="Text 69"/>
          <p:cNvSpPr txBox="1"/>
          <p:nvPr/>
        </p:nvSpPr>
        <p:spPr>
          <a:xfrm>
            <a:off x="2190902" y="6620256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1260</a:t>
            </a:r>
            <a:endParaRPr lang="en-US" sz="1650" dirty="0"/>
          </a:p>
        </p:txBody>
      </p:sp>
      <p:sp>
        <p:nvSpPr>
          <p:cNvPr id="75" name="Text 70"/>
          <p:cNvSpPr txBox="1"/>
          <p:nvPr/>
        </p:nvSpPr>
        <p:spPr>
          <a:xfrm>
            <a:off x="4190695" y="6620256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295</a:t>
            </a:r>
            <a:endParaRPr lang="en-US" sz="1650" dirty="0"/>
          </a:p>
        </p:txBody>
      </p:sp>
      <p:sp>
        <p:nvSpPr>
          <p:cNvPr id="76" name="Text 71"/>
          <p:cNvSpPr txBox="1"/>
          <p:nvPr/>
        </p:nvSpPr>
        <p:spPr>
          <a:xfrm>
            <a:off x="6191402" y="6620256"/>
            <a:ext cx="2477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−10.7%</a:t>
            </a:r>
            <a:endParaRPr lang="en-US" sz="1650" dirty="0"/>
          </a:p>
        </p:txBody>
      </p:sp>
      <p:sp>
        <p:nvSpPr>
          <p:cNvPr id="77" name="Text 72"/>
          <p:cNvSpPr txBox="1"/>
          <p:nvPr/>
        </p:nvSpPr>
        <p:spPr>
          <a:xfrm>
            <a:off x="933602" y="7058254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W8</a:t>
            </a:r>
            <a:endParaRPr lang="en-US" sz="1500" dirty="0"/>
          </a:p>
        </p:txBody>
      </p:sp>
      <p:sp>
        <p:nvSpPr>
          <p:cNvPr id="78" name="Text 73"/>
          <p:cNvSpPr txBox="1"/>
          <p:nvPr/>
        </p:nvSpPr>
        <p:spPr>
          <a:xfrm>
            <a:off x="2190902" y="7019849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1320</a:t>
            </a:r>
            <a:endParaRPr lang="en-US" sz="1650" dirty="0"/>
          </a:p>
        </p:txBody>
      </p:sp>
      <p:sp>
        <p:nvSpPr>
          <p:cNvPr id="79" name="Text 74"/>
          <p:cNvSpPr txBox="1"/>
          <p:nvPr/>
        </p:nvSpPr>
        <p:spPr>
          <a:xfrm>
            <a:off x="4190695" y="7019849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305</a:t>
            </a:r>
            <a:endParaRPr lang="en-US" sz="1650" dirty="0"/>
          </a:p>
        </p:txBody>
      </p:sp>
      <p:sp>
        <p:nvSpPr>
          <p:cNvPr id="80" name="Text 75"/>
          <p:cNvSpPr txBox="1"/>
          <p:nvPr/>
        </p:nvSpPr>
        <p:spPr>
          <a:xfrm>
            <a:off x="6191402" y="7019849"/>
            <a:ext cx="2477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−6.4%</a:t>
            </a:r>
            <a:endParaRPr lang="en-US" sz="1650" dirty="0"/>
          </a:p>
        </p:txBody>
      </p:sp>
      <p:sp>
        <p:nvSpPr>
          <p:cNvPr id="81" name="Text 76"/>
          <p:cNvSpPr txBox="1"/>
          <p:nvPr/>
        </p:nvSpPr>
        <p:spPr>
          <a:xfrm>
            <a:off x="9430207" y="2857500"/>
            <a:ext cx="8097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CHART · 02 / 03</a:t>
            </a:r>
            <a:endParaRPr lang="en-US" sz="975" dirty="0"/>
          </a:p>
        </p:txBody>
      </p:sp>
      <p:sp>
        <p:nvSpPr>
          <p:cNvPr id="82" name="Text 77"/>
          <p:cNvSpPr txBox="1"/>
          <p:nvPr/>
        </p:nvSpPr>
        <p:spPr>
          <a:xfrm>
            <a:off x="9430207" y="3076956"/>
            <a:ext cx="809701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비아 / 캐패시턴스 / 누설</a:t>
            </a:r>
            <a:endParaRPr lang="en-US" sz="2100" dirty="0"/>
          </a:p>
        </p:txBody>
      </p:sp>
      <p:sp>
        <p:nvSpPr>
          <p:cNvPr id="83" name="Text 78"/>
          <p:cNvSpPr txBox="1"/>
          <p:nvPr/>
        </p:nvSpPr>
        <p:spPr>
          <a:xfrm>
            <a:off x="9506102" y="3895344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W#</a:t>
            </a:r>
            <a:endParaRPr lang="en-US" sz="975" dirty="0"/>
          </a:p>
        </p:txBody>
      </p:sp>
      <p:sp>
        <p:nvSpPr>
          <p:cNvPr id="84" name="Text 79"/>
          <p:cNvSpPr txBox="1"/>
          <p:nvPr/>
        </p:nvSpPr>
        <p:spPr>
          <a:xfrm>
            <a:off x="10077602" y="3895344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975" dirty="0"/>
          </a:p>
        </p:txBody>
      </p:sp>
      <p:sp>
        <p:nvSpPr>
          <p:cNvPr id="85" name="Text 80"/>
          <p:cNvSpPr txBox="1"/>
          <p:nvPr/>
        </p:nvSpPr>
        <p:spPr>
          <a:xfrm>
            <a:off x="10763402" y="3895344"/>
            <a:ext cx="2095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</a:t>
            </a:r>
            <a:pPr algn="ctr" indent="0" marL="0">
              <a:buNone/>
            </a:pPr>
            <a:r>
              <a:rPr lang="en-US" sz="812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</a:t>
            </a:r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· Ω/via</a:t>
            </a:r>
            <a:endParaRPr lang="en-US" sz="975" dirty="0"/>
          </a:p>
        </p:txBody>
      </p:sp>
      <p:sp>
        <p:nvSpPr>
          <p:cNvPr id="86" name="Text 81"/>
          <p:cNvSpPr txBox="1"/>
          <p:nvPr/>
        </p:nvSpPr>
        <p:spPr>
          <a:xfrm>
            <a:off x="12954305" y="3895344"/>
            <a:ext cx="2095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pPr algn="ctr" indent="0" marL="0">
              <a:buNone/>
            </a:pPr>
            <a:r>
              <a:rPr lang="en-US" sz="812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IL</a:t>
            </a:r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· aF/μm²</a:t>
            </a:r>
            <a:endParaRPr lang="en-US" sz="975" dirty="0"/>
          </a:p>
        </p:txBody>
      </p:sp>
      <p:sp>
        <p:nvSpPr>
          <p:cNvPr id="87" name="Text 82"/>
          <p:cNvSpPr txBox="1"/>
          <p:nvPr/>
        </p:nvSpPr>
        <p:spPr>
          <a:xfrm>
            <a:off x="15145207" y="3895344"/>
            <a:ext cx="21909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pPr algn="ctr" indent="0" marL="0">
              <a:buNone/>
            </a:pPr>
            <a:r>
              <a:rPr lang="en-US" sz="812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</a:t>
            </a:r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· pA/μm @1V</a:t>
            </a:r>
            <a:endParaRPr lang="en-US" sz="975" dirty="0"/>
          </a:p>
        </p:txBody>
      </p:sp>
      <p:sp>
        <p:nvSpPr>
          <p:cNvPr id="88" name="Text 83"/>
          <p:cNvSpPr txBox="1"/>
          <p:nvPr/>
        </p:nvSpPr>
        <p:spPr>
          <a:xfrm>
            <a:off x="9506102" y="4257446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W1</a:t>
            </a:r>
            <a:endParaRPr lang="en-US" sz="1500" dirty="0"/>
          </a:p>
        </p:txBody>
      </p:sp>
      <p:sp>
        <p:nvSpPr>
          <p:cNvPr id="89" name="Text 84"/>
          <p:cNvSpPr txBox="1"/>
          <p:nvPr/>
        </p:nvSpPr>
        <p:spPr>
          <a:xfrm>
            <a:off x="10763402" y="4219956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4.5</a:t>
            </a:r>
            <a:endParaRPr lang="en-US" sz="1650" dirty="0"/>
          </a:p>
        </p:txBody>
      </p:sp>
      <p:sp>
        <p:nvSpPr>
          <p:cNvPr id="90" name="Text 85"/>
          <p:cNvSpPr txBox="1"/>
          <p:nvPr/>
        </p:nvSpPr>
        <p:spPr>
          <a:xfrm>
            <a:off x="12954305" y="4219956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</a:t>
            </a:r>
            <a:endParaRPr lang="en-US" sz="1650" dirty="0"/>
          </a:p>
        </p:txBody>
      </p:sp>
      <p:sp>
        <p:nvSpPr>
          <p:cNvPr id="91" name="Text 86"/>
          <p:cNvSpPr txBox="1"/>
          <p:nvPr/>
        </p:nvSpPr>
        <p:spPr>
          <a:xfrm>
            <a:off x="15145207" y="4219956"/>
            <a:ext cx="21909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0.85</a:t>
            </a:r>
            <a:endParaRPr lang="en-US" sz="1650" dirty="0"/>
          </a:p>
        </p:txBody>
      </p:sp>
      <p:sp>
        <p:nvSpPr>
          <p:cNvPr id="92" name="Text 87"/>
          <p:cNvSpPr txBox="1"/>
          <p:nvPr/>
        </p:nvSpPr>
        <p:spPr>
          <a:xfrm>
            <a:off x="9506102" y="4657954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W2</a:t>
            </a:r>
            <a:endParaRPr lang="en-US" sz="1500" dirty="0"/>
          </a:p>
        </p:txBody>
      </p:sp>
      <p:sp>
        <p:nvSpPr>
          <p:cNvPr id="93" name="Text 88"/>
          <p:cNvSpPr txBox="1"/>
          <p:nvPr/>
        </p:nvSpPr>
        <p:spPr>
          <a:xfrm>
            <a:off x="10763402" y="4619549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4.4</a:t>
            </a:r>
            <a:endParaRPr lang="en-US" sz="1650" dirty="0"/>
          </a:p>
        </p:txBody>
      </p:sp>
      <p:sp>
        <p:nvSpPr>
          <p:cNvPr id="94" name="Text 89"/>
          <p:cNvSpPr txBox="1"/>
          <p:nvPr/>
        </p:nvSpPr>
        <p:spPr>
          <a:xfrm>
            <a:off x="12954305" y="4619549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92</a:t>
            </a:r>
            <a:endParaRPr lang="en-US" sz="1650" dirty="0"/>
          </a:p>
        </p:txBody>
      </p:sp>
      <p:sp>
        <p:nvSpPr>
          <p:cNvPr id="95" name="Text 90"/>
          <p:cNvSpPr txBox="1"/>
          <p:nvPr/>
        </p:nvSpPr>
        <p:spPr>
          <a:xfrm>
            <a:off x="15145207" y="4619549"/>
            <a:ext cx="21909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0.92</a:t>
            </a:r>
            <a:endParaRPr lang="en-US" sz="1650" dirty="0"/>
          </a:p>
        </p:txBody>
      </p:sp>
      <p:sp>
        <p:nvSpPr>
          <p:cNvPr id="96" name="Text 91"/>
          <p:cNvSpPr txBox="1"/>
          <p:nvPr/>
        </p:nvSpPr>
        <p:spPr>
          <a:xfrm>
            <a:off x="9506102" y="5057546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W3</a:t>
            </a:r>
            <a:endParaRPr lang="en-US" sz="1500" dirty="0"/>
          </a:p>
        </p:txBody>
      </p:sp>
      <p:sp>
        <p:nvSpPr>
          <p:cNvPr id="97" name="Text 92"/>
          <p:cNvSpPr txBox="1"/>
          <p:nvPr/>
        </p:nvSpPr>
        <p:spPr>
          <a:xfrm>
            <a:off x="10763402" y="5020056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4.6</a:t>
            </a:r>
            <a:endParaRPr lang="en-US" sz="1650" dirty="0"/>
          </a:p>
        </p:txBody>
      </p:sp>
      <p:sp>
        <p:nvSpPr>
          <p:cNvPr id="98" name="Text 93"/>
          <p:cNvSpPr txBox="1"/>
          <p:nvPr/>
        </p:nvSpPr>
        <p:spPr>
          <a:xfrm>
            <a:off x="12954305" y="5020056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95</a:t>
            </a:r>
            <a:endParaRPr lang="en-US" sz="1650" dirty="0"/>
          </a:p>
        </p:txBody>
      </p:sp>
      <p:sp>
        <p:nvSpPr>
          <p:cNvPr id="99" name="Text 94"/>
          <p:cNvSpPr txBox="1"/>
          <p:nvPr/>
        </p:nvSpPr>
        <p:spPr>
          <a:xfrm>
            <a:off x="15145207" y="5020056"/>
            <a:ext cx="21909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1.05</a:t>
            </a:r>
            <a:endParaRPr lang="en-US" sz="1650" dirty="0"/>
          </a:p>
        </p:txBody>
      </p:sp>
      <p:sp>
        <p:nvSpPr>
          <p:cNvPr id="100" name="Text 95"/>
          <p:cNvSpPr txBox="1"/>
          <p:nvPr/>
        </p:nvSpPr>
        <p:spPr>
          <a:xfrm>
            <a:off x="9506102" y="5458054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</a:t>
            </a:r>
            <a:endParaRPr lang="en-US" sz="1500" dirty="0"/>
          </a:p>
        </p:txBody>
      </p:sp>
      <p:sp>
        <p:nvSpPr>
          <p:cNvPr id="101" name="Text 96"/>
          <p:cNvSpPr txBox="1"/>
          <p:nvPr/>
        </p:nvSpPr>
        <p:spPr>
          <a:xfrm>
            <a:off x="10763402" y="5419649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4.5</a:t>
            </a:r>
            <a:endParaRPr lang="en-US" sz="1650" dirty="0"/>
          </a:p>
        </p:txBody>
      </p:sp>
      <p:sp>
        <p:nvSpPr>
          <p:cNvPr id="102" name="Text 97"/>
          <p:cNvSpPr txBox="1"/>
          <p:nvPr/>
        </p:nvSpPr>
        <p:spPr>
          <a:xfrm>
            <a:off x="12954305" y="5419649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91</a:t>
            </a:r>
            <a:endParaRPr lang="en-US" sz="1650" dirty="0"/>
          </a:p>
        </p:txBody>
      </p:sp>
      <p:sp>
        <p:nvSpPr>
          <p:cNvPr id="103" name="Text 98"/>
          <p:cNvSpPr txBox="1"/>
          <p:nvPr/>
        </p:nvSpPr>
        <p:spPr>
          <a:xfrm>
            <a:off x="15145207" y="5419649"/>
            <a:ext cx="21909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0.88</a:t>
            </a:r>
            <a:endParaRPr lang="en-US" sz="1650" dirty="0"/>
          </a:p>
        </p:txBody>
      </p:sp>
      <p:sp>
        <p:nvSpPr>
          <p:cNvPr id="104" name="Text 99"/>
          <p:cNvSpPr txBox="1"/>
          <p:nvPr/>
        </p:nvSpPr>
        <p:spPr>
          <a:xfrm>
            <a:off x="9506102" y="5857646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W5</a:t>
            </a:r>
            <a:endParaRPr lang="en-US" sz="1500" dirty="0"/>
          </a:p>
        </p:txBody>
      </p:sp>
      <p:sp>
        <p:nvSpPr>
          <p:cNvPr id="105" name="Text 100"/>
          <p:cNvSpPr txBox="1"/>
          <p:nvPr/>
        </p:nvSpPr>
        <p:spPr>
          <a:xfrm>
            <a:off x="10763402" y="5820156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4.0</a:t>
            </a:r>
            <a:endParaRPr lang="en-US" sz="1650" dirty="0"/>
          </a:p>
        </p:txBody>
      </p:sp>
      <p:sp>
        <p:nvSpPr>
          <p:cNvPr id="106" name="Text 101"/>
          <p:cNvSpPr txBox="1"/>
          <p:nvPr/>
        </p:nvSpPr>
        <p:spPr>
          <a:xfrm>
            <a:off x="12954305" y="5820156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</a:t>
            </a:r>
            <a:endParaRPr lang="en-US" sz="1650" dirty="0"/>
          </a:p>
        </p:txBody>
      </p:sp>
      <p:sp>
        <p:nvSpPr>
          <p:cNvPr id="107" name="Text 102"/>
          <p:cNvSpPr txBox="1"/>
          <p:nvPr/>
        </p:nvSpPr>
        <p:spPr>
          <a:xfrm>
            <a:off x="15145207" y="5820156"/>
            <a:ext cx="21909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0.45</a:t>
            </a:r>
            <a:endParaRPr lang="en-US" sz="1650" dirty="0"/>
          </a:p>
        </p:txBody>
      </p:sp>
      <p:sp>
        <p:nvSpPr>
          <p:cNvPr id="108" name="Text 103"/>
          <p:cNvSpPr txBox="1"/>
          <p:nvPr/>
        </p:nvSpPr>
        <p:spPr>
          <a:xfrm>
            <a:off x="9506102" y="6258154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W6</a:t>
            </a:r>
            <a:endParaRPr lang="en-US" sz="1500" dirty="0"/>
          </a:p>
        </p:txBody>
      </p:sp>
      <p:sp>
        <p:nvSpPr>
          <p:cNvPr id="109" name="Text 104"/>
          <p:cNvSpPr txBox="1"/>
          <p:nvPr/>
        </p:nvSpPr>
        <p:spPr>
          <a:xfrm>
            <a:off x="10763402" y="6219749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4.1</a:t>
            </a:r>
            <a:endParaRPr lang="en-US" sz="1650" dirty="0"/>
          </a:p>
        </p:txBody>
      </p:sp>
      <p:sp>
        <p:nvSpPr>
          <p:cNvPr id="110" name="Text 105"/>
          <p:cNvSpPr txBox="1"/>
          <p:nvPr/>
        </p:nvSpPr>
        <p:spPr>
          <a:xfrm>
            <a:off x="12954305" y="6219749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84</a:t>
            </a:r>
            <a:endParaRPr lang="en-US" sz="1650" dirty="0"/>
          </a:p>
        </p:txBody>
      </p:sp>
      <p:sp>
        <p:nvSpPr>
          <p:cNvPr id="111" name="Text 106"/>
          <p:cNvSpPr txBox="1"/>
          <p:nvPr/>
        </p:nvSpPr>
        <p:spPr>
          <a:xfrm>
            <a:off x="15145207" y="6219749"/>
            <a:ext cx="21909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0.50</a:t>
            </a:r>
            <a:endParaRPr lang="en-US" sz="1650" dirty="0"/>
          </a:p>
        </p:txBody>
      </p:sp>
      <p:sp>
        <p:nvSpPr>
          <p:cNvPr id="112" name="Text 107"/>
          <p:cNvSpPr txBox="1"/>
          <p:nvPr/>
        </p:nvSpPr>
        <p:spPr>
          <a:xfrm>
            <a:off x="9506102" y="6657746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W7</a:t>
            </a:r>
            <a:endParaRPr lang="en-US" sz="1500" dirty="0"/>
          </a:p>
        </p:txBody>
      </p:sp>
      <p:sp>
        <p:nvSpPr>
          <p:cNvPr id="113" name="Text 108"/>
          <p:cNvSpPr txBox="1"/>
          <p:nvPr/>
        </p:nvSpPr>
        <p:spPr>
          <a:xfrm>
            <a:off x="10763402" y="6620256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</a:t>
            </a:r>
            <a:endParaRPr lang="en-US" sz="1650" dirty="0"/>
          </a:p>
        </p:txBody>
      </p:sp>
      <p:sp>
        <p:nvSpPr>
          <p:cNvPr id="114" name="Text 109"/>
          <p:cNvSpPr txBox="1"/>
          <p:nvPr/>
        </p:nvSpPr>
        <p:spPr>
          <a:xfrm>
            <a:off x="12954305" y="6620256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80</a:t>
            </a:r>
            <a:endParaRPr lang="en-US" sz="1650" dirty="0"/>
          </a:p>
        </p:txBody>
      </p:sp>
      <p:sp>
        <p:nvSpPr>
          <p:cNvPr id="115" name="Text 110"/>
          <p:cNvSpPr txBox="1"/>
          <p:nvPr/>
        </p:nvSpPr>
        <p:spPr>
          <a:xfrm>
            <a:off x="15145207" y="6620256"/>
            <a:ext cx="21909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0.40</a:t>
            </a:r>
            <a:endParaRPr lang="en-US" sz="1650" dirty="0"/>
          </a:p>
        </p:txBody>
      </p:sp>
      <p:sp>
        <p:nvSpPr>
          <p:cNvPr id="116" name="Text 111"/>
          <p:cNvSpPr txBox="1"/>
          <p:nvPr/>
        </p:nvSpPr>
        <p:spPr>
          <a:xfrm>
            <a:off x="9506102" y="7058254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W8</a:t>
            </a:r>
            <a:endParaRPr lang="en-US" sz="1500" dirty="0"/>
          </a:p>
        </p:txBody>
      </p:sp>
      <p:sp>
        <p:nvSpPr>
          <p:cNvPr id="117" name="Text 112"/>
          <p:cNvSpPr txBox="1"/>
          <p:nvPr/>
        </p:nvSpPr>
        <p:spPr>
          <a:xfrm>
            <a:off x="10763402" y="7019849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</a:t>
            </a:r>
            <a:endParaRPr lang="en-US" sz="1650" dirty="0"/>
          </a:p>
        </p:txBody>
      </p:sp>
      <p:sp>
        <p:nvSpPr>
          <p:cNvPr id="118" name="Text 113"/>
          <p:cNvSpPr txBox="1"/>
          <p:nvPr/>
        </p:nvSpPr>
        <p:spPr>
          <a:xfrm>
            <a:off x="12954305" y="7019849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86</a:t>
            </a:r>
            <a:endParaRPr lang="en-US" sz="1650" dirty="0"/>
          </a:p>
        </p:txBody>
      </p:sp>
      <p:sp>
        <p:nvSpPr>
          <p:cNvPr id="119" name="Text 114"/>
          <p:cNvSpPr txBox="1"/>
          <p:nvPr/>
        </p:nvSpPr>
        <p:spPr>
          <a:xfrm>
            <a:off x="15145207" y="7019849"/>
            <a:ext cx="21909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0.55</a:t>
            </a:r>
            <a:endParaRPr lang="en-US" sz="1650" dirty="0"/>
          </a:p>
        </p:txBody>
      </p:sp>
      <p:sp>
        <p:nvSpPr>
          <p:cNvPr id="120" name="Text 115"/>
          <p:cNvSpPr txBox="1"/>
          <p:nvPr/>
        </p:nvSpPr>
        <p:spPr>
          <a:xfrm>
            <a:off x="857707" y="8801100"/>
            <a:ext cx="1143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21" name="Text 116"/>
          <p:cNvSpPr txBox="1"/>
          <p:nvPr/>
        </p:nvSpPr>
        <p:spPr>
          <a:xfrm>
            <a:off x="2190902" y="8762695"/>
            <a:ext cx="157359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Split A 의 R</a:t>
            </a:r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L</a:t>
            </a:r>
            <a:pPr algn="l" indent="0" marL="0">
              <a:buNone/>
            </a:pPr>
            <a:r>
              <a:rPr lang="en-US" sz="1800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 평균 1418 mΩ/μm · I</a:t>
            </a:r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L</a:t>
            </a:r>
            <a:pPr algn="l" indent="0" marL="0">
              <a:buNone/>
            </a:pPr>
            <a:r>
              <a:rPr lang="en-US" sz="1800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 0.93 pA/μm · Split B 는 1290 mΩ/μm · 0.48 pA/μm — 라인 저항 −9 %, 누설 −48 % 차이 (dummy)</a:t>
            </a:r>
            <a:endParaRPr lang="en-US" sz="1800" dirty="0"/>
          </a:p>
        </p:txBody>
      </p:sp>
      <p:sp>
        <p:nvSpPr>
          <p:cNvPr id="122" name="Text 117"/>
          <p:cNvSpPr txBox="1"/>
          <p:nvPr/>
        </p:nvSpPr>
        <p:spPr>
          <a:xfrm>
            <a:off x="857707" y="97539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A83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050" dirty="0"/>
          </a:p>
        </p:txBody>
      </p:sp>
      <p:sp>
        <p:nvSpPr>
          <p:cNvPr id="123" name="Text 118"/>
          <p:cNvSpPr txBox="1"/>
          <p:nvPr/>
        </p:nvSpPr>
        <p:spPr>
          <a:xfrm>
            <a:off x="14573707" y="9753905"/>
            <a:ext cx="2857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05 · electrical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3879b1d8bbc9cc3cada0b9b1c4c9382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rcRect l="-2083" r="-2083" t="0" b="0"/>
          <a:stretch/>
        </p:blipFill>
        <p:spPr>
          <a:xfrm>
            <a:off x="857707" y="857707"/>
            <a:ext cx="16573500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57707" y="2857500"/>
            <a:ext cx="5048402" cy="4095598"/>
          </a:xfrm>
          <a:prstGeom prst="rect">
            <a:avLst/>
          </a:prstGeom>
          <a:solidFill>
            <a:srgbClr val="EAE5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857707" y="7239305"/>
            <a:ext cx="5048402" cy="28346"/>
          </a:xfrm>
          <a:prstGeom prst="rect">
            <a:avLst/>
          </a:prstGeom>
          <a:solidFill>
            <a:srgbClr val="B85540"/>
          </a:solidFill>
          <a:ln w="12700">
            <a:solidFill>
              <a:srgbClr val="B85540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57707" y="8667598"/>
            <a:ext cx="16573500" cy="9144"/>
          </a:xfrm>
          <a:prstGeom prst="rect">
            <a:avLst/>
          </a:prstGeom>
          <a:solidFill>
            <a:srgbClr val="1B2027"/>
          </a:solidFill>
          <a:ln w="12700">
            <a:solidFill>
              <a:srgbClr val="1B2027">
                <a:alpha val="0"/>
              </a:srgbClr>
            </a:solidFill>
            <a:prstDash val="solid"/>
          </a:ln>
        </p:spPr>
      </p:sp>
      <p:pic>
        <p:nvPicPr>
          <p:cNvPr id="7" name="Image 1" descr="gen-dedup-33879b1d8bbc9cc3cada0b9b1c4c9382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-2083" r="-2083" t="0" b="0"/>
          <a:stretch/>
        </p:blipFill>
        <p:spPr>
          <a:xfrm>
            <a:off x="857707" y="9620402"/>
            <a:ext cx="16573500" cy="914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286500" y="3810305"/>
            <a:ext cx="11144707" cy="342900"/>
          </a:xfrm>
          <a:prstGeom prst="rect">
            <a:avLst/>
          </a:prstGeom>
          <a:solidFill>
            <a:srgbClr val="1B20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286500" y="4534510"/>
            <a:ext cx="11144707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6286500" y="4914900"/>
            <a:ext cx="11144707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286500" y="5296205"/>
            <a:ext cx="11144707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286500" y="5677510"/>
            <a:ext cx="11144707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286500" y="6057900"/>
            <a:ext cx="11144707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286500" y="6439205"/>
            <a:ext cx="11144707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86500" y="6820510"/>
            <a:ext cx="11144707" cy="9144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125005" y="4257446"/>
            <a:ext cx="342900" cy="209398"/>
          </a:xfrm>
          <a:prstGeom prst="rect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125005" y="4638751"/>
            <a:ext cx="342900" cy="209398"/>
          </a:xfrm>
          <a:prstGeom prst="rect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125005" y="5020056"/>
            <a:ext cx="342900" cy="209398"/>
          </a:xfrm>
          <a:prstGeom prst="rect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25005" y="5400446"/>
            <a:ext cx="342900" cy="209398"/>
          </a:xfrm>
          <a:prstGeom prst="rect">
            <a:avLst/>
          </a:prstGeom>
          <a:solidFill>
            <a:srgbClr val="B85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25005" y="5781751"/>
            <a:ext cx="342900" cy="209398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125005" y="6163056"/>
            <a:ext cx="342900" cy="209398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125005" y="6543446"/>
            <a:ext cx="342900" cy="209398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125005" y="6924751"/>
            <a:ext cx="342900" cy="209398"/>
          </a:xfrm>
          <a:prstGeom prst="rect">
            <a:avLst/>
          </a:prstGeom>
          <a:solidFill>
            <a:srgbClr val="2E5C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57707" y="1028700"/>
            <a:ext cx="30961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TDDB · WEIBULL SUMMARY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15430500" y="1028700"/>
            <a:ext cx="2000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144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05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857707" y="1524305"/>
            <a:ext cx="1428750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TDDB Weibull · β / η / T</a:t>
            </a:r>
            <a:pPr algn="l" indent="0" marL="0">
              <a:buNone/>
            </a:pPr>
            <a:r>
              <a:rPr lang="en-US" sz="3375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63</a:t>
            </a:r>
            <a:pPr algn="l" indent="0" marL="0">
              <a:buNone/>
            </a:pPr>
            <a:r>
              <a:rPr lang="en-US" sz="405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 / T</a:t>
            </a:r>
            <a:pPr algn="l" indent="0" marL="0">
              <a:buNone/>
            </a:pPr>
            <a:r>
              <a:rPr lang="en-US" sz="3375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1%</a:t>
            </a:r>
            <a:endParaRPr lang="en-US" sz="4050" dirty="0"/>
          </a:p>
        </p:txBody>
      </p:sp>
      <p:sp>
        <p:nvSpPr>
          <p:cNvPr id="27" name="Text 22"/>
          <p:cNvSpPr txBox="1"/>
          <p:nvPr/>
        </p:nvSpPr>
        <p:spPr>
          <a:xfrm>
            <a:off x="857707" y="2296058"/>
            <a:ext cx="1428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027">
                    <a:alpha val="72000"/>
                  </a:srgbClr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field-accelerated life · 2.5 MV/cm · use cond. projected (years) — 더미 데이터 기준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3619195" y="3047695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 · 04</a:t>
            </a:r>
            <a:endParaRPr lang="en-US" sz="975" dirty="0"/>
          </a:p>
        </p:txBody>
      </p:sp>
      <p:sp>
        <p:nvSpPr>
          <p:cNvPr id="29" name="Text 24"/>
          <p:cNvSpPr txBox="1"/>
          <p:nvPr/>
        </p:nvSpPr>
        <p:spPr>
          <a:xfrm>
            <a:off x="3619195" y="3286354"/>
            <a:ext cx="20958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BEOL TDDB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3619195" y="4642409"/>
            <a:ext cx="2095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출처 · Semantic Scholar (ref.)</a:t>
            </a:r>
            <a:endParaRPr lang="en-US" sz="975" dirty="0"/>
          </a:p>
        </p:txBody>
      </p:sp>
      <p:sp>
        <p:nvSpPr>
          <p:cNvPr id="31" name="Text 26"/>
          <p:cNvSpPr txBox="1"/>
          <p:nvPr/>
        </p:nvSpPr>
        <p:spPr>
          <a:xfrm>
            <a:off x="3619195" y="4011473"/>
            <a:ext cx="2095805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027">
                    <a:alpha val="78000"/>
                  </a:srgbClr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Cu/Low-k time-to-</a:t>
            </a:r>
            <a:pPr algn="l" indent="0" marL="0">
              <a:lnSpc>
                <a:spcPts val="1890"/>
              </a:lnSpc>
              <a:buNone/>
            </a:pP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2027">
                    <a:alpha val="78000"/>
                  </a:srgbClr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breakdown 모델</a:t>
            </a:r>
            <a:endParaRPr lang="en-US" sz="1350" dirty="0"/>
          </a:p>
        </p:txBody>
      </p:sp>
      <p:sp>
        <p:nvSpPr>
          <p:cNvPr id="32" name="Text 27"/>
          <p:cNvSpPr txBox="1"/>
          <p:nvPr/>
        </p:nvSpPr>
        <p:spPr>
          <a:xfrm>
            <a:off x="1047902" y="7334402"/>
            <a:ext cx="23820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 A · AVG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1047902" y="7534656"/>
            <a:ext cx="23820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β 1.43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1047902" y="7839151"/>
            <a:ext cx="23820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shape · η 5.40 yr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3619195" y="7334402"/>
            <a:ext cx="2095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</a:t>
            </a:r>
            <a:pPr algn="l" indent="0" marL="0">
              <a:buNone/>
            </a:pPr>
            <a:r>
              <a:rPr lang="en-US" sz="800" spc="162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63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3619195" y="7528255"/>
            <a:ext cx="20958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5.4</a:t>
            </a:r>
            <a:pPr algn="l" indent="0" marL="0">
              <a:buNone/>
            </a:pPr>
            <a:r>
              <a:rPr lang="en-US" sz="135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yr</a:t>
            </a:r>
            <a:endParaRPr lang="en-US" sz="3150" dirty="0"/>
          </a:p>
        </p:txBody>
      </p:sp>
      <p:sp>
        <p:nvSpPr>
          <p:cNvPr id="37" name="Text 32"/>
          <p:cNvSpPr txBox="1"/>
          <p:nvPr/>
        </p:nvSpPr>
        <p:spPr>
          <a:xfrm>
            <a:off x="3619195" y="7947965"/>
            <a:ext cx="2095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T</a:t>
            </a:r>
            <a:pPr algn="l" indent="0" marL="0">
              <a:buNone/>
            </a:pPr>
            <a:r>
              <a:rPr lang="en-US" sz="875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1%</a:t>
            </a:r>
            <a:pPr algn="l"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1.3 yr</a:t>
            </a:r>
            <a:endParaRPr lang="en-US" sz="1050" dirty="0"/>
          </a:p>
        </p:txBody>
      </p:sp>
      <p:sp>
        <p:nvSpPr>
          <p:cNvPr id="38" name="Text 33"/>
          <p:cNvSpPr txBox="1"/>
          <p:nvPr/>
        </p:nvSpPr>
        <p:spPr>
          <a:xfrm>
            <a:off x="6286500" y="2857500"/>
            <a:ext cx="11239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CHART · WEIBULL PER WAFER</a:t>
            </a:r>
            <a:endParaRPr lang="en-US" sz="975" dirty="0"/>
          </a:p>
        </p:txBody>
      </p:sp>
      <p:sp>
        <p:nvSpPr>
          <p:cNvPr id="39" name="Text 34"/>
          <p:cNvSpPr txBox="1"/>
          <p:nvPr/>
        </p:nvSpPr>
        <p:spPr>
          <a:xfrm>
            <a:off x="6286500" y="3076956"/>
            <a:ext cx="11239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Wafer 별 TDDB Weibull</a:t>
            </a:r>
            <a:endParaRPr lang="en-US" sz="2100" dirty="0"/>
          </a:p>
        </p:txBody>
      </p:sp>
      <p:sp>
        <p:nvSpPr>
          <p:cNvPr id="40" name="Text 35"/>
          <p:cNvSpPr txBox="1"/>
          <p:nvPr/>
        </p:nvSpPr>
        <p:spPr>
          <a:xfrm>
            <a:off x="6381598" y="3895344"/>
            <a:ext cx="57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W#</a:t>
            </a:r>
            <a:endParaRPr lang="en-US" sz="975" dirty="0"/>
          </a:p>
        </p:txBody>
      </p:sp>
      <p:sp>
        <p:nvSpPr>
          <p:cNvPr id="41" name="Text 36"/>
          <p:cNvSpPr txBox="1"/>
          <p:nvPr/>
        </p:nvSpPr>
        <p:spPr>
          <a:xfrm>
            <a:off x="6991502" y="3895344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975" dirty="0"/>
          </a:p>
        </p:txBody>
      </p:sp>
      <p:sp>
        <p:nvSpPr>
          <p:cNvPr id="42" name="Text 37"/>
          <p:cNvSpPr txBox="1"/>
          <p:nvPr/>
        </p:nvSpPr>
        <p:spPr>
          <a:xfrm>
            <a:off x="7905902" y="3895344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β · shape</a:t>
            </a:r>
            <a:endParaRPr lang="en-US" sz="975" dirty="0"/>
          </a:p>
        </p:txBody>
      </p:sp>
      <p:sp>
        <p:nvSpPr>
          <p:cNvPr id="43" name="Text 38"/>
          <p:cNvSpPr txBox="1"/>
          <p:nvPr/>
        </p:nvSpPr>
        <p:spPr>
          <a:xfrm>
            <a:off x="9905695" y="3895344"/>
            <a:ext cx="2095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η · T</a:t>
            </a:r>
            <a:pPr algn="ctr" indent="0" marL="0">
              <a:buNone/>
            </a:pPr>
            <a:r>
              <a:rPr lang="en-US" sz="812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63</a:t>
            </a:r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yr</a:t>
            </a:r>
            <a:endParaRPr lang="en-US" sz="975" dirty="0"/>
          </a:p>
        </p:txBody>
      </p:sp>
      <p:sp>
        <p:nvSpPr>
          <p:cNvPr id="44" name="Text 39"/>
          <p:cNvSpPr txBox="1"/>
          <p:nvPr/>
        </p:nvSpPr>
        <p:spPr>
          <a:xfrm>
            <a:off x="12096598" y="3895344"/>
            <a:ext cx="2095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</a:t>
            </a:r>
            <a:pPr algn="ctr" indent="0" marL="0">
              <a:buNone/>
            </a:pPr>
            <a:r>
              <a:rPr lang="en-US" sz="812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1%</a:t>
            </a:r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· yr</a:t>
            </a:r>
            <a:endParaRPr lang="en-US" sz="975" dirty="0"/>
          </a:p>
        </p:txBody>
      </p:sp>
      <p:sp>
        <p:nvSpPr>
          <p:cNvPr id="45" name="Text 40"/>
          <p:cNvSpPr txBox="1"/>
          <p:nvPr/>
        </p:nvSpPr>
        <p:spPr>
          <a:xfrm>
            <a:off x="14287500" y="3895344"/>
            <a:ext cx="3048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4F1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rank</a:t>
            </a:r>
            <a:endParaRPr lang="en-US" sz="975" dirty="0"/>
          </a:p>
        </p:txBody>
      </p:sp>
      <p:sp>
        <p:nvSpPr>
          <p:cNvPr id="46" name="Text 41"/>
          <p:cNvSpPr txBox="1"/>
          <p:nvPr/>
        </p:nvSpPr>
        <p:spPr>
          <a:xfrm>
            <a:off x="6381598" y="4238244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W1</a:t>
            </a:r>
            <a:endParaRPr lang="en-US" sz="1500" dirty="0"/>
          </a:p>
        </p:txBody>
      </p:sp>
      <p:sp>
        <p:nvSpPr>
          <p:cNvPr id="47" name="Text 42"/>
          <p:cNvSpPr txBox="1"/>
          <p:nvPr/>
        </p:nvSpPr>
        <p:spPr>
          <a:xfrm>
            <a:off x="7905902" y="4200754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1.45</a:t>
            </a:r>
            <a:endParaRPr lang="en-US" sz="1650" dirty="0"/>
          </a:p>
        </p:txBody>
      </p:sp>
      <p:sp>
        <p:nvSpPr>
          <p:cNvPr id="48" name="Text 43"/>
          <p:cNvSpPr txBox="1"/>
          <p:nvPr/>
        </p:nvSpPr>
        <p:spPr>
          <a:xfrm>
            <a:off x="9905695" y="4200754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5.4</a:t>
            </a:r>
            <a:endParaRPr lang="en-US" sz="1650" dirty="0"/>
          </a:p>
        </p:txBody>
      </p:sp>
      <p:sp>
        <p:nvSpPr>
          <p:cNvPr id="49" name="Text 44"/>
          <p:cNvSpPr txBox="1"/>
          <p:nvPr/>
        </p:nvSpPr>
        <p:spPr>
          <a:xfrm>
            <a:off x="12096598" y="4200754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</a:t>
            </a:r>
            <a:endParaRPr lang="en-US" sz="1650" dirty="0"/>
          </a:p>
        </p:txBody>
      </p:sp>
      <p:sp>
        <p:nvSpPr>
          <p:cNvPr id="50" name="Text 45"/>
          <p:cNvSpPr txBox="1"/>
          <p:nvPr/>
        </p:nvSpPr>
        <p:spPr>
          <a:xfrm>
            <a:off x="14459407" y="4200754"/>
            <a:ext cx="3048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η rank 7 · β low</a:t>
            </a:r>
            <a:endParaRPr lang="en-US" sz="1050" dirty="0"/>
          </a:p>
        </p:txBody>
      </p:sp>
      <p:sp>
        <p:nvSpPr>
          <p:cNvPr id="51" name="Text 46"/>
          <p:cNvSpPr txBox="1"/>
          <p:nvPr/>
        </p:nvSpPr>
        <p:spPr>
          <a:xfrm>
            <a:off x="6381598" y="4619549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W2</a:t>
            </a:r>
            <a:endParaRPr lang="en-US" sz="1500" dirty="0"/>
          </a:p>
        </p:txBody>
      </p:sp>
      <p:sp>
        <p:nvSpPr>
          <p:cNvPr id="52" name="Text 47"/>
          <p:cNvSpPr txBox="1"/>
          <p:nvPr/>
        </p:nvSpPr>
        <p:spPr>
          <a:xfrm>
            <a:off x="7905902" y="4581144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1.51</a:t>
            </a:r>
            <a:endParaRPr lang="en-US" sz="1650" dirty="0"/>
          </a:p>
        </p:txBody>
      </p:sp>
      <p:sp>
        <p:nvSpPr>
          <p:cNvPr id="53" name="Text 48"/>
          <p:cNvSpPr txBox="1"/>
          <p:nvPr/>
        </p:nvSpPr>
        <p:spPr>
          <a:xfrm>
            <a:off x="9905695" y="4581144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5.7</a:t>
            </a:r>
            <a:endParaRPr lang="en-US" sz="1650" dirty="0"/>
          </a:p>
        </p:txBody>
      </p:sp>
      <p:sp>
        <p:nvSpPr>
          <p:cNvPr id="54" name="Text 49"/>
          <p:cNvSpPr txBox="1"/>
          <p:nvPr/>
        </p:nvSpPr>
        <p:spPr>
          <a:xfrm>
            <a:off x="12096598" y="4581144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</a:t>
            </a:r>
            <a:endParaRPr lang="en-US" sz="1650" dirty="0"/>
          </a:p>
        </p:txBody>
      </p:sp>
      <p:sp>
        <p:nvSpPr>
          <p:cNvPr id="55" name="Text 50"/>
          <p:cNvSpPr txBox="1"/>
          <p:nvPr/>
        </p:nvSpPr>
        <p:spPr>
          <a:xfrm>
            <a:off x="14459407" y="4581144"/>
            <a:ext cx="3048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η rank 5</a:t>
            </a:r>
            <a:endParaRPr lang="en-US" sz="1050" dirty="0"/>
          </a:p>
        </p:txBody>
      </p:sp>
      <p:sp>
        <p:nvSpPr>
          <p:cNvPr id="56" name="Text 51"/>
          <p:cNvSpPr txBox="1"/>
          <p:nvPr/>
        </p:nvSpPr>
        <p:spPr>
          <a:xfrm>
            <a:off x="6381598" y="5000854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W3</a:t>
            </a:r>
            <a:endParaRPr lang="en-US" sz="1500" dirty="0"/>
          </a:p>
        </p:txBody>
      </p:sp>
      <p:sp>
        <p:nvSpPr>
          <p:cNvPr id="57" name="Text 52"/>
          <p:cNvSpPr txBox="1"/>
          <p:nvPr/>
        </p:nvSpPr>
        <p:spPr>
          <a:xfrm>
            <a:off x="7905902" y="4962449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1.32</a:t>
            </a:r>
            <a:endParaRPr lang="en-US" sz="1650" dirty="0"/>
          </a:p>
        </p:txBody>
      </p:sp>
      <p:sp>
        <p:nvSpPr>
          <p:cNvPr id="58" name="Text 53"/>
          <p:cNvSpPr txBox="1"/>
          <p:nvPr/>
        </p:nvSpPr>
        <p:spPr>
          <a:xfrm>
            <a:off x="9905695" y="4962449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5.0</a:t>
            </a:r>
            <a:endParaRPr lang="en-US" sz="1650" dirty="0"/>
          </a:p>
        </p:txBody>
      </p:sp>
      <p:sp>
        <p:nvSpPr>
          <p:cNvPr id="59" name="Text 54"/>
          <p:cNvSpPr txBox="1"/>
          <p:nvPr/>
        </p:nvSpPr>
        <p:spPr>
          <a:xfrm>
            <a:off x="12096598" y="4962449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</a:t>
            </a:r>
            <a:endParaRPr lang="en-US" sz="1650" dirty="0"/>
          </a:p>
        </p:txBody>
      </p:sp>
      <p:sp>
        <p:nvSpPr>
          <p:cNvPr id="60" name="Text 55"/>
          <p:cNvSpPr txBox="1"/>
          <p:nvPr/>
        </p:nvSpPr>
        <p:spPr>
          <a:xfrm>
            <a:off x="14459407" y="4962449"/>
            <a:ext cx="3048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η rank 8 · worst β</a:t>
            </a:r>
            <a:endParaRPr lang="en-US" sz="1050" dirty="0"/>
          </a:p>
        </p:txBody>
      </p:sp>
      <p:sp>
        <p:nvSpPr>
          <p:cNvPr id="61" name="Text 56"/>
          <p:cNvSpPr txBox="1"/>
          <p:nvPr/>
        </p:nvSpPr>
        <p:spPr>
          <a:xfrm>
            <a:off x="6381598" y="5381244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</a:t>
            </a:r>
            <a:endParaRPr lang="en-US" sz="1500" dirty="0"/>
          </a:p>
        </p:txBody>
      </p:sp>
      <p:sp>
        <p:nvSpPr>
          <p:cNvPr id="62" name="Text 57"/>
          <p:cNvSpPr txBox="1"/>
          <p:nvPr/>
        </p:nvSpPr>
        <p:spPr>
          <a:xfrm>
            <a:off x="7905902" y="5343754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1.42</a:t>
            </a:r>
            <a:endParaRPr lang="en-US" sz="1650" dirty="0"/>
          </a:p>
        </p:txBody>
      </p:sp>
      <p:sp>
        <p:nvSpPr>
          <p:cNvPr id="63" name="Text 58"/>
          <p:cNvSpPr txBox="1"/>
          <p:nvPr/>
        </p:nvSpPr>
        <p:spPr>
          <a:xfrm>
            <a:off x="9905695" y="5343754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5.5</a:t>
            </a:r>
            <a:endParaRPr lang="en-US" sz="1650" dirty="0"/>
          </a:p>
        </p:txBody>
      </p:sp>
      <p:sp>
        <p:nvSpPr>
          <p:cNvPr id="64" name="Text 59"/>
          <p:cNvSpPr txBox="1"/>
          <p:nvPr/>
        </p:nvSpPr>
        <p:spPr>
          <a:xfrm>
            <a:off x="12096598" y="5343754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</a:t>
            </a:r>
            <a:endParaRPr lang="en-US" sz="1650" dirty="0"/>
          </a:p>
        </p:txBody>
      </p:sp>
      <p:sp>
        <p:nvSpPr>
          <p:cNvPr id="65" name="Text 60"/>
          <p:cNvSpPr txBox="1"/>
          <p:nvPr/>
        </p:nvSpPr>
        <p:spPr>
          <a:xfrm>
            <a:off x="14459407" y="5343754"/>
            <a:ext cx="3048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η rank 6</a:t>
            </a:r>
            <a:endParaRPr lang="en-US" sz="1050" dirty="0"/>
          </a:p>
        </p:txBody>
      </p:sp>
      <p:sp>
        <p:nvSpPr>
          <p:cNvPr id="66" name="Text 61"/>
          <p:cNvSpPr txBox="1"/>
          <p:nvPr/>
        </p:nvSpPr>
        <p:spPr>
          <a:xfrm>
            <a:off x="6381598" y="5762549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W5</a:t>
            </a:r>
            <a:endParaRPr lang="en-US" sz="1500" dirty="0"/>
          </a:p>
        </p:txBody>
      </p:sp>
      <p:sp>
        <p:nvSpPr>
          <p:cNvPr id="67" name="Text 62"/>
          <p:cNvSpPr txBox="1"/>
          <p:nvPr/>
        </p:nvSpPr>
        <p:spPr>
          <a:xfrm>
            <a:off x="7905902" y="5724144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1.78</a:t>
            </a:r>
            <a:endParaRPr lang="en-US" sz="1650" dirty="0"/>
          </a:p>
        </p:txBody>
      </p:sp>
      <p:sp>
        <p:nvSpPr>
          <p:cNvPr id="68" name="Text 63"/>
          <p:cNvSpPr txBox="1"/>
          <p:nvPr/>
        </p:nvSpPr>
        <p:spPr>
          <a:xfrm>
            <a:off x="9905695" y="5724144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8.2</a:t>
            </a:r>
            <a:endParaRPr lang="en-US" sz="1650" dirty="0"/>
          </a:p>
        </p:txBody>
      </p:sp>
      <p:sp>
        <p:nvSpPr>
          <p:cNvPr id="69" name="Text 64"/>
          <p:cNvSpPr txBox="1"/>
          <p:nvPr/>
        </p:nvSpPr>
        <p:spPr>
          <a:xfrm>
            <a:off x="12096598" y="5724144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3.6</a:t>
            </a:r>
            <a:endParaRPr lang="en-US" sz="1650" dirty="0"/>
          </a:p>
        </p:txBody>
      </p:sp>
      <p:sp>
        <p:nvSpPr>
          <p:cNvPr id="70" name="Text 65"/>
          <p:cNvSpPr txBox="1"/>
          <p:nvPr/>
        </p:nvSpPr>
        <p:spPr>
          <a:xfrm>
            <a:off x="14459407" y="5724144"/>
            <a:ext cx="3048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η rank 3</a:t>
            </a:r>
            <a:endParaRPr lang="en-US" sz="1050" dirty="0"/>
          </a:p>
        </p:txBody>
      </p:sp>
      <p:sp>
        <p:nvSpPr>
          <p:cNvPr id="71" name="Text 66"/>
          <p:cNvSpPr txBox="1"/>
          <p:nvPr/>
        </p:nvSpPr>
        <p:spPr>
          <a:xfrm>
            <a:off x="6381598" y="6143854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W6</a:t>
            </a:r>
            <a:endParaRPr lang="en-US" sz="1500" dirty="0"/>
          </a:p>
        </p:txBody>
      </p:sp>
      <p:sp>
        <p:nvSpPr>
          <p:cNvPr id="72" name="Text 67"/>
          <p:cNvSpPr txBox="1"/>
          <p:nvPr/>
        </p:nvSpPr>
        <p:spPr>
          <a:xfrm>
            <a:off x="7905902" y="6105449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1.74</a:t>
            </a:r>
            <a:endParaRPr lang="en-US" sz="1650" dirty="0"/>
          </a:p>
        </p:txBody>
      </p:sp>
      <p:sp>
        <p:nvSpPr>
          <p:cNvPr id="73" name="Text 68"/>
          <p:cNvSpPr txBox="1"/>
          <p:nvPr/>
        </p:nvSpPr>
        <p:spPr>
          <a:xfrm>
            <a:off x="9905695" y="6105449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</a:t>
            </a:r>
            <a:endParaRPr lang="en-US" sz="1650" dirty="0"/>
          </a:p>
        </p:txBody>
      </p:sp>
      <p:sp>
        <p:nvSpPr>
          <p:cNvPr id="74" name="Text 69"/>
          <p:cNvSpPr txBox="1"/>
          <p:nvPr/>
        </p:nvSpPr>
        <p:spPr>
          <a:xfrm>
            <a:off x="12096598" y="6105449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3.3</a:t>
            </a:r>
            <a:endParaRPr lang="en-US" sz="1650" dirty="0"/>
          </a:p>
        </p:txBody>
      </p:sp>
      <p:sp>
        <p:nvSpPr>
          <p:cNvPr id="75" name="Text 70"/>
          <p:cNvSpPr txBox="1"/>
          <p:nvPr/>
        </p:nvSpPr>
        <p:spPr>
          <a:xfrm>
            <a:off x="14459407" y="6105449"/>
            <a:ext cx="3048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η rank 4</a:t>
            </a:r>
            <a:endParaRPr lang="en-US" sz="1050" dirty="0"/>
          </a:p>
        </p:txBody>
      </p:sp>
      <p:sp>
        <p:nvSpPr>
          <p:cNvPr id="76" name="Text 71"/>
          <p:cNvSpPr txBox="1"/>
          <p:nvPr/>
        </p:nvSpPr>
        <p:spPr>
          <a:xfrm>
            <a:off x="6381598" y="6524244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W7</a:t>
            </a:r>
            <a:endParaRPr lang="en-US" sz="1500" dirty="0"/>
          </a:p>
        </p:txBody>
      </p:sp>
      <p:sp>
        <p:nvSpPr>
          <p:cNvPr id="77" name="Text 72"/>
          <p:cNvSpPr txBox="1"/>
          <p:nvPr/>
        </p:nvSpPr>
        <p:spPr>
          <a:xfrm>
            <a:off x="7905902" y="6486754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1.85</a:t>
            </a:r>
            <a:endParaRPr lang="en-US" sz="1650" dirty="0"/>
          </a:p>
        </p:txBody>
      </p:sp>
      <p:sp>
        <p:nvSpPr>
          <p:cNvPr id="78" name="Text 73"/>
          <p:cNvSpPr txBox="1"/>
          <p:nvPr/>
        </p:nvSpPr>
        <p:spPr>
          <a:xfrm>
            <a:off x="9905695" y="6486754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8.6</a:t>
            </a:r>
            <a:endParaRPr lang="en-US" sz="1650" dirty="0"/>
          </a:p>
        </p:txBody>
      </p:sp>
      <p:sp>
        <p:nvSpPr>
          <p:cNvPr id="79" name="Text 74"/>
          <p:cNvSpPr txBox="1"/>
          <p:nvPr/>
        </p:nvSpPr>
        <p:spPr>
          <a:xfrm>
            <a:off x="12096598" y="6486754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4.0</a:t>
            </a:r>
            <a:endParaRPr lang="en-US" sz="1650" dirty="0"/>
          </a:p>
        </p:txBody>
      </p:sp>
      <p:sp>
        <p:nvSpPr>
          <p:cNvPr id="80" name="Text 75"/>
          <p:cNvSpPr txBox="1"/>
          <p:nvPr/>
        </p:nvSpPr>
        <p:spPr>
          <a:xfrm>
            <a:off x="14459407" y="6486754"/>
            <a:ext cx="3048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η rank 1 · best</a:t>
            </a:r>
            <a:endParaRPr lang="en-US" sz="1050" dirty="0"/>
          </a:p>
        </p:txBody>
      </p:sp>
      <p:sp>
        <p:nvSpPr>
          <p:cNvPr id="81" name="Text 76"/>
          <p:cNvSpPr txBox="1"/>
          <p:nvPr/>
        </p:nvSpPr>
        <p:spPr>
          <a:xfrm>
            <a:off x="6381598" y="6905549"/>
            <a:ext cx="571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W8</a:t>
            </a:r>
            <a:endParaRPr lang="en-US" sz="1500" dirty="0"/>
          </a:p>
        </p:txBody>
      </p:sp>
      <p:sp>
        <p:nvSpPr>
          <p:cNvPr id="82" name="Text 77"/>
          <p:cNvSpPr txBox="1"/>
          <p:nvPr/>
        </p:nvSpPr>
        <p:spPr>
          <a:xfrm>
            <a:off x="7905902" y="6867144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1.71</a:t>
            </a:r>
            <a:endParaRPr lang="en-US" sz="1650" dirty="0"/>
          </a:p>
        </p:txBody>
      </p:sp>
      <p:sp>
        <p:nvSpPr>
          <p:cNvPr id="83" name="Text 78"/>
          <p:cNvSpPr txBox="1"/>
          <p:nvPr/>
        </p:nvSpPr>
        <p:spPr>
          <a:xfrm>
            <a:off x="9905695" y="6867144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B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7.8</a:t>
            </a:r>
            <a:endParaRPr lang="en-US" sz="1650" dirty="0"/>
          </a:p>
        </p:txBody>
      </p:sp>
      <p:sp>
        <p:nvSpPr>
          <p:cNvPr id="84" name="Text 79"/>
          <p:cNvSpPr txBox="1"/>
          <p:nvPr/>
        </p:nvSpPr>
        <p:spPr>
          <a:xfrm>
            <a:off x="12096598" y="6867144"/>
            <a:ext cx="2095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5C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</a:t>
            </a:r>
            <a:endParaRPr lang="en-US" sz="1650" dirty="0"/>
          </a:p>
        </p:txBody>
      </p:sp>
      <p:sp>
        <p:nvSpPr>
          <p:cNvPr id="85" name="Text 80"/>
          <p:cNvSpPr txBox="1"/>
          <p:nvPr/>
        </p:nvSpPr>
        <p:spPr>
          <a:xfrm>
            <a:off x="14459407" y="6867144"/>
            <a:ext cx="3048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η rank 2</a:t>
            </a:r>
            <a:endParaRPr lang="en-US" sz="1050" dirty="0"/>
          </a:p>
        </p:txBody>
      </p:sp>
      <p:sp>
        <p:nvSpPr>
          <p:cNvPr id="86" name="Text 81"/>
          <p:cNvSpPr txBox="1"/>
          <p:nvPr/>
        </p:nvSpPr>
        <p:spPr>
          <a:xfrm>
            <a:off x="857707" y="8801100"/>
            <a:ext cx="1143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B855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87" name="Text 82"/>
          <p:cNvSpPr txBox="1"/>
          <p:nvPr/>
        </p:nvSpPr>
        <p:spPr>
          <a:xfrm>
            <a:off x="2190902" y="8762695"/>
            <a:ext cx="157359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Split B 평균 T</a:t>
            </a:r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63</a:t>
            </a:r>
            <a:pPr algn="l" indent="0" marL="0">
              <a:buNone/>
            </a:pPr>
            <a:r>
              <a:rPr lang="en-US" sz="1800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 8.15 yr · T</a:t>
            </a:r>
            <a:pPr algn="l" indent="0" marL="0">
              <a:buNone/>
            </a:pPr>
            <a:r>
              <a:rPr lang="en-US" sz="1500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1%</a:t>
            </a:r>
            <a:pPr algn="l" indent="0" marL="0">
              <a:buNone/>
            </a:pPr>
            <a:r>
              <a:rPr lang="en-US" sz="1800" dirty="0">
                <a:solidFill>
                  <a:srgbClr val="1B20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 3.5 yr · β 1.77 — Split A (5.40 / 1.30 / 1.43) 대비 η +51 % · 더미 데이터로 신뢰 우세 입증</a:t>
            </a:r>
            <a:endParaRPr lang="en-US" sz="1800" dirty="0"/>
          </a:p>
        </p:txBody>
      </p:sp>
      <p:sp>
        <p:nvSpPr>
          <p:cNvPr id="88" name="Text 83"/>
          <p:cNvSpPr txBox="1"/>
          <p:nvPr/>
        </p:nvSpPr>
        <p:spPr>
          <a:xfrm>
            <a:off x="857707" y="97539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A83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050" dirty="0"/>
          </a:p>
        </p:txBody>
      </p:sp>
      <p:sp>
        <p:nvSpPr>
          <p:cNvPr id="89" name="Text 84"/>
          <p:cNvSpPr txBox="1"/>
          <p:nvPr/>
        </p:nvSpPr>
        <p:spPr>
          <a:xfrm>
            <a:off x="14573707" y="9753905"/>
            <a:ext cx="2857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3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05 · tddb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2026-10-03T16:08:51Z</dcterms:created>
  <dcterms:modified xsi:type="dcterms:W3CDTF">2026-10-03T16:08:51Z</dcterms:modified>
</cp:coreProperties>
</file>