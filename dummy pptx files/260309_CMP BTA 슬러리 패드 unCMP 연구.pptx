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4bd8c23b-060a-32ec-399d-4ffa8ce761ad}">
          <p14:sldIdLst>
            <p14:sldId id="256"/>
            <p14:sldId id="257"/>
          </p14:sldIdLst>
        </p14:section>
        <p14:section name="종합" id="{2d07ce2e-e5f5-6e7b-e507-127961fcee39}">
          <p14:sldIdLst>
            <p14:sldId id="258"/>
          </p14:sldIdLst>
        </p14:section>
        <p14:section name="일정" id="{78d63f89-6e09-f94c-c4e5-c9a83e04f3b3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슬러리 화학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슬러리 화학과 패드 상태가 만드는 unCMP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lines_cosi_xs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7785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0373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에어갭 영역 CU 배선 단면 (무보호 VS COSI 보호) — 유사 구조 참고, CC BY ELECTRONICS 2019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860353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100–300 nm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244401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흄드 실리카 입자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3573585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2–3단계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366760" y="3957633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Cu CMP 단계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366760" y="4378257"/>
            <a:ext cx="3367735" cy="1793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BTA는 Cu(I)-BTA 둔화층으로 갈바닉 부식을 막지만, 패드 마찰이 못 뚫으면 잔류의 원인.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평가 · 대응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검증 방법과 대응 옵션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741932"/>
                <a:gridCol w="2613355"/>
                <a:gridCol w="36301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355848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6744"/>
          <a:ext cx="7985455" cy="914400"/>
        </p:xfrm>
        <a:graphic>
          <a:graphicData uri="http://schemas.openxmlformats.org/drawingml/2006/table">
            <a:tbl>
              <a:tblPr/>
              <a:tblGrid>
                <a:gridCol w="2521915"/>
                <a:gridCol w="2941625"/>
                <a:gridCol w="25219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공정 창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↔ overCMP 트레이드오프 축과 제어 수단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167689"/>
                <a:gridCol w="2189074"/>
                <a:gridCol w="2189074"/>
                <a:gridCol w="204368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rdl_fi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498" y="1280160"/>
            <a:ext cx="2474259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3429000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배선 FIB 단면 (AS-FABRICATED) — DISHING/형상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785616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4114800"/>
            <a:ext cx="3367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 단락 방지와 overCMP 저항 증가 사이의 상충 — CMP는 매우 좁은 공정 창에서 제어되어야 함.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BTA Slurry Pad Study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