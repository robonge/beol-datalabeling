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보고서는 BEOL IMD(특히 low-k/ULK, dual-damascene, plasma damage)와 RSBM(TaN/Ta·Ru barrier 비교, line/via 저항, EM 영향) 전반에 걸친
CMP over-polish split 평가의 더미 데이터입니다. 본 슬라이드는 평가 조건의 골격을 보여줍니다.
공정 변수는 CMP over-polish 시간을 reference 대비 +15%, +30% 두 단계로 늘렸고, 동일 lot에서 M3 metal layer 6 wafer를 비교하도록 설계했습니다.
IMD culprit과 RSBM series의 dummy placeholder로 사용되며, 실제 제품 lot / 측정값과 무관합니다.
다음 슬라이드부터 lot 구성 · CD target 정의 · wafer별 수치로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 정보 슬라이드. 6 wafer를 3 lot에 2 wafer씩 묶었습니다. Lot A1이 reference 0%, B1이 15% split, C1이 30% split입니다.
각 lot 내에서는 consumable batch를 동일하게 가져가 dummy 수준에서 split 외 변수의 영향을 통제했다고 가정합니다.
W02·W04·W06은 lot 내 repeat wafer — wafer-to-wafer 분산을 보기 위함입니다. W05·W06은 dishing risk가 의도된 over-polish 케이스입니다.
날짜·lot ID는 모두 dummy이며, 실제 wafer 출하 또는 측정과 무관합니다.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 항목 4종을 정의하고 dummy target 값을 명시합니다. AASI는 post-ash line sidewall CD, ASEI는 post-etch trench,
AMI는 post-CMP line, ACI는 post-CMP via top CD입니다. 본 더미 데이터의 target 값은 25.3 / 16.9 / 8.1 / 9.3 nm이며
이후 슬라이드의 wafer별 mean·range·delta는 모두 이 target 대비로 계산됩니다.
본 명세는 dummy이며 어떤 제품·공정 사양과도 대응하지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AASI CD variation. 6 wafer별로 mean / 3σ / range / target delta / 측정 site 수를 정리한 dummy 표입니다.
CMP 0% 2매는 target 인근 +0.01 ~ +0.12 nm 수준, 15%는 −0.23 ~ −0.34 nm, 30%는 −0.59 ~ −0.78 nm 범위.
CMP가 길어질수록 AASI 단계에서도 Δ는 음의 방향으로 커지는 dummy trend로 정리했습니다. 모든 수치는 dummy입니다.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ASEI variation. dummy 표 형식은 AASI 슬라이드와 동일합니다. ASEI는 etch 후 trench CD를 의미하므로 AASI 대비 분산이 다소 작지만,
CMP 30% dummy wafer에서는 Δ −0.35 ~ −0.48 nm 수준으로 dummy 음의 방향으로 분포를 잡았습니다.
3σ는 0.19 ~ 0.36 nm 사이의 dummy 분포로 단순화한 수치이며, 본 슬라이드의 모든 수치는 dummy 데이터입니다.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AMI(라인 CD)와 ACI(비아 상부 CD) dummy 표입니다. 형식은 직전 슬라이드와 동일하나 한 slide에 두 표를 나란히 배치했습니다.
AMI는 8.1 nm target, ACI는 9.3 nm target이며 두 metric 모두 dummy로 CMP가 길어질수록 Δ가 음의 방향으로 누적되는 형태로 정리했습니다.
AMI는 −0.27 / ACI는 −0.28 nm까지 dummy Δ가 벌어지는 케이스(W05)를 포함합니다. 모든 수치는 dummy입니다.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In-wafer uniformity 요약 슬라이드. NU% = (3σ ÷ mean) × 100 dummy 공식으로 정리했습니다.
4 metric × 3 condition 12 cell dummy matrix입니다. NU%는 dummy로 0% → 15% → 30% 순으로 단조 증가,
post-CMP 단계(AMI·ACI)에서 dummy 증가폭이 가장 크게 잡혀 있습니다. AMI·ACI는 30% 조건에서 동일하게 3.18 % dummy peak.
모든 수치는 dummy이며 lot·wafer 평균값입니다.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49-point wafer map dummy 슬라이드. 6 wafer 모두 7×7 = 49 site dummy Z-score 시각화.
Z-score에 따라 색이 cool blue (#5B8DEF) → cool gray (#94A6C2) → amber (#E89C42) → coral (#E0737D)로 dummy 매핑.
CMP 0% W01·W02는 cool 색조 중심의 좁은 분포 dummy, 15% W03·W04는 amber dummy로 shift, 30% W05·W06는 coral dummy 색조 + spread dummy로 증가.
정성 dummy trend 위주 시각화이며 정량 49 사이트 수치는 텍스트로 처리합니다.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Defect count dummy 슬라이드입니다. 6 카테고리(Particle / Scratch / Void / Residue / Pattern open / Corrosion)
× 6 wafer dummy count 표입니다. 우측 lot avg dummy 카드 3개로 trend를 정리했습니다.
dummy로 평가 시 30% 조건에서 모든 카테고리가 누적되며, 특히 Residue와 Pattern open 채점이 dummy로 함께 증가했습니다.
모든 수치는 dummy이며 검사 기준은 가정입니다.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전기 특성은 도식 대신 누적분포 percentile 표로 정리했습니다. 왼쪽은 M3 line 면저항 Rs, 오른쪽은 via chain 기준 via당 접촉저항 Rc입니다.
P50 기준으로 0% 대비 15%는 Rs 약 4.7%, 30%는 약 12.5% 상승합니다. Rc는 중앙값 변화는 작지만 30% 조건에서 P99 tail이 11 Ω 이상으로 늘어납니다.
over-polish로 Cu 두께가 줄고 via 상부 barrier가 손상된 것으로 해석했으며, 모든 수치는 테스트용 더미입니다.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SEM 이미지는 웹에 공개된 Intel Broadwell 단면(Chipworks 촬영, ExtremeTech 게재)을 참고용으로 넣은 것이며 본 실험 시료가 아닙니다.
오른쪽 표는 조건별 SEM 계측 더미 값입니다. 30% 조건에서 Cu 두께가 약 6 nm 줄고 dishing이 3.7배로 커져 앞 장의 Rs 상승과 같은 방향입니다.
IMD 상부 손실은 cap 계면 신뢰성(TDDB) 측면에서 추가 확인이 필요합니다. 수치는 모두 더미입니다.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 이미지 두 장은 공개 자료(imec 매거진의 low-k·air gap TEM, Springer 챕터의 다층 배선 단면)를 참고용으로 넣었으며 본 실험 시료가 아닙니다.
오른쪽 표는 RSBM 구조(ALD TaN/Ta + Ru liner)의 잔존 두께 더미 값입니다. 측벽과 바닥은 조건 간 차이가 거의 없고, 30%에서 line 상단 corner barrier만 0.9 nm로 얇아집니다.
이 부분은 Cu/cap 계면의 EM 열화와 연결될 수 있어 후속 EM 평가 항목으로 넘깁니다. 모든 수치는 더미입니다.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667305"/>
            <a:ext cx="4019702" cy="19238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43500" y="2667305"/>
            <a:ext cx="4019702" cy="19238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30207" y="2667305"/>
            <a:ext cx="4019702" cy="19238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16000" y="2667305"/>
            <a:ext cx="3733495" cy="19238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707" y="4953305"/>
            <a:ext cx="10877702" cy="28767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01500" y="4953305"/>
            <a:ext cx="5447995" cy="28767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7707" y="8382305"/>
            <a:ext cx="16573500" cy="838505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bd11f302def213855e994ad855c81b0e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38405"/>
          </a:xfrm>
          <a:prstGeom prst="rect">
            <a:avLst/>
          </a:prstGeom>
        </p:spPr>
      </p:pic>
      <p:pic>
        <p:nvPicPr>
          <p:cNvPr id="11" name="Image 1" descr="gen-dedup-e615ca0c2c016fe99dae1f2d6da39838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857707" y="4953305"/>
            <a:ext cx="57607" cy="2857500"/>
          </a:xfrm>
          <a:prstGeom prst="rect">
            <a:avLst/>
          </a:prstGeom>
        </p:spPr>
      </p:pic>
      <p:pic>
        <p:nvPicPr>
          <p:cNvPr id="12" name="Image 2" descr="gen-dedup-2b571a5370ed6ddcc1813812455c4729.png">    </p:cNvPr>
          <p:cNvPicPr>
            <a:picLocks noChangeAspect="1"/>
          </p:cNvPicPr>
          <p:nvPr/>
        </p:nvPicPr>
        <p:blipFill>
          <a:blip r:embed="rId3"/>
          <a:srcRect l="-382" r="-382" t="0" b="0"/>
          <a:stretch/>
        </p:blipFill>
        <p:spPr>
          <a:xfrm>
            <a:off x="857707" y="8382305"/>
            <a:ext cx="57607" cy="8385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7707" y="743407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· EXPERIMENT OVERVIEW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857707" y="1143000"/>
            <a:ext cx="12192610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over-polish split 평가 실험</a:t>
            </a:r>
            <a:endParaRPr lang="en-US" sz="3600" dirty="0"/>
          </a:p>
        </p:txBody>
      </p:sp>
      <p:sp>
        <p:nvSpPr>
          <p:cNvPr id="15" name="Text 9"/>
          <p:cNvSpPr txBox="1"/>
          <p:nvPr/>
        </p:nvSpPr>
        <p:spPr>
          <a:xfrm>
            <a:off x="857707" y="1815998"/>
            <a:ext cx="12192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Logic BEOL · M3 metal layer · 6 wafer · dummy dataset (D07)</a:t>
            </a:r>
            <a:endParaRPr lang="en-US" sz="1650" dirty="0"/>
          </a:p>
        </p:txBody>
      </p:sp>
      <p:sp>
        <p:nvSpPr>
          <p:cNvPr id="16" name="Text 10"/>
          <p:cNvSpPr txBox="1"/>
          <p:nvPr/>
        </p:nvSpPr>
        <p:spPr>
          <a:xfrm>
            <a:off x="14097305" y="857707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89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4097305" y="1104595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BEOL-07 / series #20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5984626" y="1485900"/>
            <a:ext cx="1733702" cy="314554"/>
          </a:xfrm>
          <a:prstGeom prst="rect">
            <a:avLst/>
          </a:prstGeom>
          <a:noFill/>
          <a:ln w="12700">
            <a:solidFill>
              <a:srgbClr val="2C3E5E"/>
            </a:solidFill>
          </a:ln>
        </p:spPr>
        <p:txBody>
          <a:bodyPr wrap="none" lIns="139700" tIns="63500" rIns="139700" bIns="63500" rtlCol="0" anchor="ctr"/>
          <a:lstStyle/>
          <a:p>
            <a:pPr algn="r" indent="0" marL="0">
              <a:buNone/>
            </a:pPr>
            <a:r>
              <a:rPr lang="en-US" sz="975" spc="156" kern="0" dirty="0">
                <a:solidFill>
                  <a:srgbClr val="5BC0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· INTERNAL</a:t>
            </a:r>
            <a:endParaRPr lang="en-US" sz="975" dirty="0"/>
          </a:p>
        </p:txBody>
      </p:sp>
      <p:sp>
        <p:nvSpPr>
          <p:cNvPr id="19" name="Text 13"/>
          <p:cNvSpPr txBox="1"/>
          <p:nvPr/>
        </p:nvSpPr>
        <p:spPr>
          <a:xfrm>
            <a:off x="1086307" y="2857500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 SPLIT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1086307" y="3143707"/>
            <a:ext cx="3911803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</a:t>
            </a:r>
            <a:pPr algn="l" indent="0" marL="0">
              <a:buNone/>
            </a:pPr>
            <a:r>
              <a:rPr lang="en-US" sz="31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over-polish</a:t>
            </a:r>
            <a:endParaRPr lang="en-US" sz="3150" dirty="0"/>
          </a:p>
        </p:txBody>
      </p:sp>
      <p:sp>
        <p:nvSpPr>
          <p:cNvPr id="21" name="Text 15"/>
          <p:cNvSpPr txBox="1"/>
          <p:nvPr/>
        </p:nvSpPr>
        <p:spPr>
          <a:xfrm>
            <a:off x="1086307" y="3676802"/>
            <a:ext cx="2670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428293" y="3676802"/>
            <a:ext cx="6858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552651" y="3676802"/>
            <a:ext cx="3721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996135" y="3676802"/>
            <a:ext cx="6858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2120494" y="3676802"/>
            <a:ext cx="3721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5372100" y="2857500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LAYER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372100" y="3143707"/>
            <a:ext cx="3620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</a:t>
            </a:r>
            <a:endParaRPr lang="en-US" sz="3150" dirty="0"/>
          </a:p>
        </p:txBody>
      </p:sp>
      <p:sp>
        <p:nvSpPr>
          <p:cNvPr id="28" name="Text 22"/>
          <p:cNvSpPr txBox="1"/>
          <p:nvPr/>
        </p:nvSpPr>
        <p:spPr>
          <a:xfrm>
            <a:off x="5372100" y="3653942"/>
            <a:ext cx="362011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Dual-damascene Cu</a:t>
            </a:r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RSBM: ALD TaN/Ta + Ru liner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658807" y="2857500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SAMPLE SIZE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9658807" y="3143707"/>
            <a:ext cx="3620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wafers</a:t>
            </a:r>
            <a:endParaRPr lang="en-US" sz="3150" dirty="0"/>
          </a:p>
        </p:txBody>
      </p:sp>
      <p:sp>
        <p:nvSpPr>
          <p:cNvPr id="31" name="Text 25"/>
          <p:cNvSpPr txBox="1"/>
          <p:nvPr/>
        </p:nvSpPr>
        <p:spPr>
          <a:xfrm>
            <a:off x="9658807" y="3653942"/>
            <a:ext cx="362011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lot · 2 wafer / condition</a:t>
            </a:r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 mm, dummy lot ID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3944600" y="2857500"/>
            <a:ext cx="33723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 SCOPE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13944600" y="3143707"/>
            <a:ext cx="3372307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 · UNI ·</a:t>
            </a:r>
            <a:pPr algn="l" indent="0" marL="0">
              <a:lnSpc>
                <a:spcPct val="110000"/>
              </a:lnSpc>
              <a:buNone/>
            </a:pPr>
            <a:endParaRPr lang="en-US" sz="2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· ELEC</a:t>
            </a:r>
            <a:endParaRPr lang="en-US" sz="2700" dirty="0"/>
          </a:p>
        </p:txBody>
      </p:sp>
      <p:sp>
        <p:nvSpPr>
          <p:cNvPr id="34" name="Text 28"/>
          <p:cNvSpPr txBox="1"/>
          <p:nvPr/>
        </p:nvSpPr>
        <p:spPr>
          <a:xfrm>
            <a:off x="13944600" y="4011473"/>
            <a:ext cx="33723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metrics · 49 pt map</a:t>
            </a:r>
            <a:endParaRPr lang="en-US" sz="1125" dirty="0"/>
          </a:p>
        </p:txBody>
      </p:sp>
      <p:sp>
        <p:nvSpPr>
          <p:cNvPr id="35" name="Text 29"/>
          <p:cNvSpPr txBox="1"/>
          <p:nvPr/>
        </p:nvSpPr>
        <p:spPr>
          <a:xfrm>
            <a:off x="1143000" y="5219395"/>
            <a:ext cx="10287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1143000" y="5544007"/>
            <a:ext cx="10287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 layer Cu dual-damascene에서 CMP over-polish 시간을 split 변수로 두고</a:t>
            </a:r>
            <a:endParaRPr lang="en-US" sz="1800" dirty="0"/>
          </a:p>
        </p:txBody>
      </p:sp>
      <p:sp>
        <p:nvSpPr>
          <p:cNvPr id="37" name="Text 31"/>
          <p:cNvSpPr txBox="1"/>
          <p:nvPr/>
        </p:nvSpPr>
        <p:spPr>
          <a:xfrm>
            <a:off x="1143000" y="5970118"/>
            <a:ext cx="10287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 CD variation · in-wafer uniformity · 표면 defect · 전기저항에 미치는 영향을 정량 비교한다. Reference(0%) 대비 15%·30% 조건의 trade-off를 dummy data로 정렬해 본다.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12287707" y="5219395"/>
            <a:ext cx="48582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 FOCUS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12287707" y="5512918"/>
            <a:ext cx="4858207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700"/>
              </a:lnSpc>
              <a:buNone/>
            </a:pPr>
            <a:r>
              <a:rPr lang="en-US" sz="1350" b="1" dirty="0">
                <a:solidFill>
                  <a:srgbClr val="5BC0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IMD</a:t>
            </a:r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low-k / ULK, plasma damage</a:t>
            </a:r>
            <a:pPr algn="l" indent="0" marL="0">
              <a:lnSpc>
                <a:spcPts val="2700"/>
              </a:lnSpc>
              <a:buNone/>
            </a:pPr>
            <a:endParaRPr lang="en-US" sz="13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700"/>
              </a:lnSpc>
              <a:buNone/>
            </a:pPr>
            <a:r>
              <a:rPr lang="en-US" sz="1350" b="1" dirty="0">
                <a:solidFill>
                  <a:srgbClr val="5BC0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RSBM</a:t>
            </a:r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ALD vs PVD barrier metal</a:t>
            </a:r>
            <a:pPr algn="l" indent="0" marL="0">
              <a:lnSpc>
                <a:spcPts val="2700"/>
              </a:lnSpc>
              <a:buNone/>
            </a:pPr>
            <a:endParaRPr lang="en-US" sz="13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700"/>
              </a:lnSpc>
              <a:buNone/>
            </a:pPr>
            <a:r>
              <a:rPr lang="en-US" sz="1350" b="1" dirty="0">
                <a:solidFill>
                  <a:srgbClr val="5BC0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Reliability</a:t>
            </a:r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TDDB, EM</a:t>
            </a:r>
            <a:pPr algn="l" indent="0" marL="0">
              <a:lnSpc>
                <a:spcPts val="2700"/>
              </a:lnSpc>
              <a:buNone/>
            </a:pPr>
            <a:endParaRPr lang="en-US" sz="13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Air-gap option은 차기 평가로 분리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1143000" y="8553298"/>
            <a:ext cx="16193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TAKEAWAY</a:t>
            </a:r>
            <a:endParaRPr lang="en-US" sz="975" dirty="0"/>
          </a:p>
        </p:txBody>
      </p:sp>
      <p:sp>
        <p:nvSpPr>
          <p:cNvPr id="41" name="Text 35"/>
          <p:cNvSpPr txBox="1"/>
          <p:nvPr/>
        </p:nvSpPr>
        <p:spPr>
          <a:xfrm>
            <a:off x="1143000" y="8810244"/>
            <a:ext cx="161931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wafer · CMP 0 / 15 / 30% 3-level split으로 dummy 정렬 — CD·uniformity·defect·Rs/Rc를 동일 lot에서 비교 가능하도록 설계</a:t>
            </a:r>
            <a:endParaRPr lang="en-US" sz="1650" dirty="0"/>
          </a:p>
        </p:txBody>
      </p:sp>
      <p:sp>
        <p:nvSpPr>
          <p:cNvPr id="42" name="Text 36"/>
          <p:cNvSpPr txBox="1"/>
          <p:nvPr/>
        </p:nvSpPr>
        <p:spPr>
          <a:xfrm>
            <a:off x="12191695" y="9620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39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43" name="Text 37"/>
          <p:cNvSpPr txBox="1"/>
          <p:nvPr/>
        </p:nvSpPr>
        <p:spPr>
          <a:xfrm>
            <a:off x="857707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01 / 12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190902"/>
            <a:ext cx="16592702" cy="53528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7707" y="7810805"/>
            <a:ext cx="16573500" cy="571500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8667598"/>
            <a:ext cx="16592702" cy="5907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pic>
        <p:nvPicPr>
          <p:cNvPr id="6" name="Image 0" descr="gen-dedup-7260ab70e3eb211c330e1cf40ac1b1f9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857707" y="8667598"/>
            <a:ext cx="57607" cy="5715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7707" y="743407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· LOT INFORMATION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57707" y="1123798"/>
            <a:ext cx="12001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 6매 · lot 구성</a:t>
            </a:r>
            <a:endParaRPr lang="en-US" sz="3150" dirty="0"/>
          </a:p>
        </p:txBody>
      </p:sp>
      <p:sp>
        <p:nvSpPr>
          <p:cNvPr id="9" name="Text 5"/>
          <p:cNvSpPr txBox="1"/>
          <p:nvPr/>
        </p:nvSpPr>
        <p:spPr>
          <a:xfrm>
            <a:off x="857707" y="1690726"/>
            <a:ext cx="12001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lot에서 2 wafer / condition, dummy lot ID로 라벨링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4097305" y="1123798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168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CONDITION LEGEND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5922447" y="1410005"/>
            <a:ext cx="4288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0%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6517722" y="1410005"/>
            <a:ext cx="5148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15%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7202607" y="1410005"/>
            <a:ext cx="5148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30%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7707" y="2933395"/>
            <a:ext cx="16573500" cy="9144"/>
          </a:xfrm>
          <a:prstGeom prst="rect">
            <a:avLst/>
          </a:prstGeom>
          <a:solidFill>
            <a:srgbClr val="3F5784"/>
          </a:solidFill>
          <a:ln w="12700">
            <a:solidFill>
              <a:srgbClr val="3F5784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7707" y="2361895"/>
            <a:ext cx="190561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757830" y="2361895"/>
            <a:ext cx="3143707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LOT ID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896966" y="2361895"/>
            <a:ext cx="2220163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SPLIT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112557" y="2361895"/>
            <a:ext cx="3152851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RECEIVED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1261750" y="2361895"/>
            <a:ext cx="2971800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4224406" y="2361895"/>
            <a:ext cx="3210458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92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57707" y="3720694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57707" y="2938882"/>
            <a:ext cx="190561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W01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2757830" y="2938882"/>
            <a:ext cx="31437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D07-LOT-A1</a:t>
            </a:r>
            <a:endParaRPr lang="en-US" sz="1650" dirty="0"/>
          </a:p>
        </p:txBody>
      </p:sp>
      <p:sp>
        <p:nvSpPr>
          <p:cNvPr id="24" name="Text 20"/>
          <p:cNvSpPr txBox="1"/>
          <p:nvPr/>
        </p:nvSpPr>
        <p:spPr>
          <a:xfrm>
            <a:off x="8112557" y="2938882"/>
            <a:ext cx="3152851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2026-08-12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1261750" y="2938882"/>
            <a:ext cx="29718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14224406" y="2938882"/>
            <a:ext cx="321045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baseline · dummy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57707" y="4510735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57707" y="3728923"/>
            <a:ext cx="190561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W02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2757830" y="3728923"/>
            <a:ext cx="31437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D07-LOT-A1</a:t>
            </a:r>
            <a:endParaRPr lang="en-US" sz="1650" dirty="0"/>
          </a:p>
        </p:txBody>
      </p:sp>
      <p:sp>
        <p:nvSpPr>
          <p:cNvPr id="30" name="Text 26"/>
          <p:cNvSpPr txBox="1"/>
          <p:nvPr/>
        </p:nvSpPr>
        <p:spPr>
          <a:xfrm>
            <a:off x="8112557" y="3728923"/>
            <a:ext cx="3152851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2026-08-12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11261750" y="3728923"/>
            <a:ext cx="29718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 repeat</a:t>
            </a:r>
            <a:endParaRPr lang="en-US" sz="1350" dirty="0"/>
          </a:p>
        </p:txBody>
      </p:sp>
      <p:sp>
        <p:nvSpPr>
          <p:cNvPr id="32" name="Text 28"/>
          <p:cNvSpPr txBox="1"/>
          <p:nvPr/>
        </p:nvSpPr>
        <p:spPr>
          <a:xfrm>
            <a:off x="14224406" y="3728923"/>
            <a:ext cx="321045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replicate · dummy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857707" y="5301691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57707" y="4519879"/>
            <a:ext cx="190561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W03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2757830" y="4519879"/>
            <a:ext cx="31437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D07-LOT-B1</a:t>
            </a:r>
            <a:endParaRPr lang="en-US" sz="1650" dirty="0"/>
          </a:p>
        </p:txBody>
      </p:sp>
      <p:sp>
        <p:nvSpPr>
          <p:cNvPr id="36" name="Text 32"/>
          <p:cNvSpPr txBox="1"/>
          <p:nvPr/>
        </p:nvSpPr>
        <p:spPr>
          <a:xfrm>
            <a:off x="8112557" y="4519879"/>
            <a:ext cx="3152851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2026-08-19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11261750" y="4519879"/>
            <a:ext cx="29718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Mid split</a:t>
            </a:r>
            <a:endParaRPr lang="en-US" sz="1350" dirty="0"/>
          </a:p>
        </p:txBody>
      </p:sp>
      <p:sp>
        <p:nvSpPr>
          <p:cNvPr id="38" name="Text 34"/>
          <p:cNvSpPr txBox="1"/>
          <p:nvPr/>
        </p:nvSpPr>
        <p:spPr>
          <a:xfrm>
            <a:off x="14224406" y="4519879"/>
            <a:ext cx="321045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consumable 동일 batch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857707" y="6091733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57707" y="5309921"/>
            <a:ext cx="190561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W04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2757830" y="5309921"/>
            <a:ext cx="31437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D07-LOT-B1</a:t>
            </a:r>
            <a:endParaRPr lang="en-US" sz="1650" dirty="0"/>
          </a:p>
        </p:txBody>
      </p:sp>
      <p:sp>
        <p:nvSpPr>
          <p:cNvPr id="42" name="Text 38"/>
          <p:cNvSpPr txBox="1"/>
          <p:nvPr/>
        </p:nvSpPr>
        <p:spPr>
          <a:xfrm>
            <a:off x="8112557" y="5309921"/>
            <a:ext cx="3152851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2026-08-19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11261750" y="5309921"/>
            <a:ext cx="29718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Mid repeat</a:t>
            </a:r>
            <a:endParaRPr lang="en-US" sz="1350" dirty="0"/>
          </a:p>
        </p:txBody>
      </p:sp>
      <p:sp>
        <p:nvSpPr>
          <p:cNvPr id="44" name="Text 40"/>
          <p:cNvSpPr txBox="1"/>
          <p:nvPr/>
        </p:nvSpPr>
        <p:spPr>
          <a:xfrm>
            <a:off x="14224406" y="5309921"/>
            <a:ext cx="321045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pad 동일 lot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857707" y="6882689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857707" y="6100877"/>
            <a:ext cx="190561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W05</a:t>
            </a:r>
            <a:endParaRPr lang="en-US" sz="1800" dirty="0"/>
          </a:p>
        </p:txBody>
      </p:sp>
      <p:sp>
        <p:nvSpPr>
          <p:cNvPr id="47" name="Text 43"/>
          <p:cNvSpPr txBox="1"/>
          <p:nvPr/>
        </p:nvSpPr>
        <p:spPr>
          <a:xfrm>
            <a:off x="2757830" y="6100877"/>
            <a:ext cx="31437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D07-LOT-C1</a:t>
            </a:r>
            <a:endParaRPr lang="en-US" sz="1650" dirty="0"/>
          </a:p>
        </p:txBody>
      </p:sp>
      <p:sp>
        <p:nvSpPr>
          <p:cNvPr id="48" name="Text 44"/>
          <p:cNvSpPr txBox="1"/>
          <p:nvPr/>
        </p:nvSpPr>
        <p:spPr>
          <a:xfrm>
            <a:off x="8112557" y="6100877"/>
            <a:ext cx="3152851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2026-08-26</a:t>
            </a:r>
            <a:endParaRPr lang="en-US" sz="1500" dirty="0"/>
          </a:p>
        </p:txBody>
      </p:sp>
      <p:sp>
        <p:nvSpPr>
          <p:cNvPr id="49" name="Text 45"/>
          <p:cNvSpPr txBox="1"/>
          <p:nvPr/>
        </p:nvSpPr>
        <p:spPr>
          <a:xfrm>
            <a:off x="11261750" y="6100877"/>
            <a:ext cx="29718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 split</a:t>
            </a:r>
            <a:endParaRPr lang="en-US" sz="1350" dirty="0"/>
          </a:p>
        </p:txBody>
      </p:sp>
      <p:sp>
        <p:nvSpPr>
          <p:cNvPr id="50" name="Text 46"/>
          <p:cNvSpPr txBox="1"/>
          <p:nvPr/>
        </p:nvSpPr>
        <p:spPr>
          <a:xfrm>
            <a:off x="14224406" y="6100877"/>
            <a:ext cx="321045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dishing risk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857707" y="6890918"/>
            <a:ext cx="190561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W06</a:t>
            </a:r>
            <a:endParaRPr lang="en-US" sz="1800" dirty="0"/>
          </a:p>
        </p:txBody>
      </p:sp>
      <p:sp>
        <p:nvSpPr>
          <p:cNvPr id="52" name="Text 48"/>
          <p:cNvSpPr txBox="1"/>
          <p:nvPr/>
        </p:nvSpPr>
        <p:spPr>
          <a:xfrm>
            <a:off x="2757830" y="6890918"/>
            <a:ext cx="3143707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D07-LOT-C1</a:t>
            </a:r>
            <a:endParaRPr lang="en-US" sz="1650" dirty="0"/>
          </a:p>
        </p:txBody>
      </p:sp>
      <p:sp>
        <p:nvSpPr>
          <p:cNvPr id="53" name="Text 49"/>
          <p:cNvSpPr txBox="1"/>
          <p:nvPr/>
        </p:nvSpPr>
        <p:spPr>
          <a:xfrm>
            <a:off x="8112557" y="6890918"/>
            <a:ext cx="3152851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2026-08-26</a:t>
            </a:r>
            <a:endParaRPr lang="en-US" sz="1500" dirty="0"/>
          </a:p>
        </p:txBody>
      </p:sp>
      <p:sp>
        <p:nvSpPr>
          <p:cNvPr id="54" name="Text 50"/>
          <p:cNvSpPr txBox="1"/>
          <p:nvPr/>
        </p:nvSpPr>
        <p:spPr>
          <a:xfrm>
            <a:off x="11261750" y="6890918"/>
            <a:ext cx="297180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 repeat</a:t>
            </a:r>
            <a:endParaRPr lang="en-US" sz="1350" dirty="0"/>
          </a:p>
        </p:txBody>
      </p:sp>
      <p:sp>
        <p:nvSpPr>
          <p:cNvPr id="55" name="Text 51"/>
          <p:cNvSpPr txBox="1"/>
          <p:nvPr/>
        </p:nvSpPr>
        <p:spPr>
          <a:xfrm>
            <a:off x="14224406" y="6890918"/>
            <a:ext cx="321045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dishing risk</a:t>
            </a:r>
            <a:endParaRPr lang="en-US" sz="1200" dirty="0"/>
          </a:p>
        </p:txBody>
      </p:sp>
      <p:sp>
        <p:nvSpPr>
          <p:cNvPr id="56" name="Text 52"/>
          <p:cNvSpPr txBox="1"/>
          <p:nvPr/>
        </p:nvSpPr>
        <p:spPr>
          <a:xfrm>
            <a:off x="6035040" y="3152851"/>
            <a:ext cx="1076249" cy="362102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350" dirty="0"/>
          </a:p>
        </p:txBody>
      </p:sp>
      <p:sp>
        <p:nvSpPr>
          <p:cNvPr id="57" name="Text 53"/>
          <p:cNvSpPr txBox="1"/>
          <p:nvPr/>
        </p:nvSpPr>
        <p:spPr>
          <a:xfrm>
            <a:off x="6035040" y="3943807"/>
            <a:ext cx="1076249" cy="362102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350" dirty="0"/>
          </a:p>
        </p:txBody>
      </p:sp>
      <p:sp>
        <p:nvSpPr>
          <p:cNvPr id="58" name="Text 54"/>
          <p:cNvSpPr txBox="1"/>
          <p:nvPr/>
        </p:nvSpPr>
        <p:spPr>
          <a:xfrm>
            <a:off x="6039612" y="4733849"/>
            <a:ext cx="1182319" cy="362102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350" dirty="0"/>
          </a:p>
        </p:txBody>
      </p:sp>
      <p:sp>
        <p:nvSpPr>
          <p:cNvPr id="59" name="Text 55"/>
          <p:cNvSpPr txBox="1"/>
          <p:nvPr/>
        </p:nvSpPr>
        <p:spPr>
          <a:xfrm>
            <a:off x="6039612" y="5524805"/>
            <a:ext cx="1182319" cy="362102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350" dirty="0"/>
          </a:p>
        </p:txBody>
      </p:sp>
      <p:sp>
        <p:nvSpPr>
          <p:cNvPr id="60" name="Text 56"/>
          <p:cNvSpPr txBox="1"/>
          <p:nvPr/>
        </p:nvSpPr>
        <p:spPr>
          <a:xfrm>
            <a:off x="6039612" y="6314846"/>
            <a:ext cx="1182319" cy="362102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350" dirty="0"/>
          </a:p>
        </p:txBody>
      </p:sp>
      <p:sp>
        <p:nvSpPr>
          <p:cNvPr id="61" name="Text 57"/>
          <p:cNvSpPr txBox="1"/>
          <p:nvPr/>
        </p:nvSpPr>
        <p:spPr>
          <a:xfrm>
            <a:off x="6039612" y="7105802"/>
            <a:ext cx="1182319" cy="362102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350" dirty="0"/>
          </a:p>
        </p:txBody>
      </p:sp>
      <p:sp>
        <p:nvSpPr>
          <p:cNvPr id="62" name="Text 58"/>
          <p:cNvSpPr txBox="1"/>
          <p:nvPr/>
        </p:nvSpPr>
        <p:spPr>
          <a:xfrm>
            <a:off x="1143000" y="7981798"/>
            <a:ext cx="218815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A1</a:t>
            </a:r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2매 · </a:t>
            </a:r>
            <a:pPr algn="l" indent="0" marL="0">
              <a:buNone/>
            </a:pPr>
            <a:r>
              <a:rPr lang="en-US" sz="13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</a:t>
            </a:r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2매 · </a:t>
            </a:r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C1</a:t>
            </a:r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2매</a:t>
            </a:r>
            <a:endParaRPr lang="en-US" sz="1350" dirty="0"/>
          </a:p>
        </p:txBody>
      </p:sp>
      <p:sp>
        <p:nvSpPr>
          <p:cNvPr id="63" name="Text 59"/>
          <p:cNvSpPr txBox="1"/>
          <p:nvPr/>
        </p:nvSpPr>
        <p:spPr>
          <a:xfrm>
            <a:off x="14457578" y="7981798"/>
            <a:ext cx="338602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 window 검토용 dummy split</a:t>
            </a:r>
            <a:endParaRPr lang="en-US" sz="1350" dirty="0"/>
          </a:p>
        </p:txBody>
      </p:sp>
      <p:sp>
        <p:nvSpPr>
          <p:cNvPr id="64" name="Text 60"/>
          <p:cNvSpPr txBox="1"/>
          <p:nvPr/>
        </p:nvSpPr>
        <p:spPr>
          <a:xfrm>
            <a:off x="1143000" y="88011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Lot A1·B1·C1 모두 consumable batch 동일 — split 변수 외의 교란 요인을 dummy 수준에서 통제</a:t>
            </a:r>
            <a:endParaRPr lang="en-US" sz="1500" dirty="0"/>
          </a:p>
        </p:txBody>
      </p:sp>
      <p:sp>
        <p:nvSpPr>
          <p:cNvPr id="65" name="Text 61"/>
          <p:cNvSpPr txBox="1"/>
          <p:nvPr/>
        </p:nvSpPr>
        <p:spPr>
          <a:xfrm>
            <a:off x="12191695" y="9620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66" name="Text 62"/>
          <p:cNvSpPr txBox="1"/>
          <p:nvPr/>
        </p:nvSpPr>
        <p:spPr>
          <a:xfrm>
            <a:off x="857707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02 / 12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286000"/>
            <a:ext cx="4019702" cy="36383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43500" y="2286000"/>
            <a:ext cx="4019702" cy="36383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30207" y="2286000"/>
            <a:ext cx="4019702" cy="36383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716000" y="2286000"/>
            <a:ext cx="3733495" cy="36383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707" y="6286500"/>
            <a:ext cx="16592702" cy="19238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7707" y="8572500"/>
            <a:ext cx="16573500" cy="571500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ae7adddb514ecd7c301cd8972cc9a384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857707" y="2286000"/>
            <a:ext cx="4000500" cy="57607"/>
          </a:xfrm>
          <a:prstGeom prst="rect">
            <a:avLst/>
          </a:prstGeom>
        </p:spPr>
      </p:pic>
      <p:pic>
        <p:nvPicPr>
          <p:cNvPr id="10" name="Image 1" descr="gen-dedup-ac31b08a424471cbea7554f01157116b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5143500" y="2286000"/>
            <a:ext cx="4000500" cy="57607"/>
          </a:xfrm>
          <a:prstGeom prst="rect">
            <a:avLst/>
          </a:prstGeom>
        </p:spPr>
      </p:pic>
      <p:pic>
        <p:nvPicPr>
          <p:cNvPr id="11" name="Image 2" descr="gen-dedup-83bf4a093bb32390467cc5a2723603fb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9430207" y="2286000"/>
            <a:ext cx="4000500" cy="57607"/>
          </a:xfrm>
          <a:prstGeom prst="rect">
            <a:avLst/>
          </a:prstGeom>
        </p:spPr>
      </p:pic>
      <p:pic>
        <p:nvPicPr>
          <p:cNvPr id="12" name="Image 3" descr="gen-dedup-8a264f61a84b5fe6ae1865d6215e4dcf.png">    </p:cNvPr>
          <p:cNvPicPr>
            <a:picLocks noChangeAspect="1"/>
          </p:cNvPicPr>
          <p:nvPr/>
        </p:nvPicPr>
        <p:blipFill>
          <a:blip r:embed="rId4"/>
          <a:srcRect l="0" r="0" t="-394" b="-394"/>
          <a:stretch/>
        </p:blipFill>
        <p:spPr>
          <a:xfrm>
            <a:off x="13716000" y="2286000"/>
            <a:ext cx="3715207" cy="57607"/>
          </a:xfrm>
          <a:prstGeom prst="rect">
            <a:avLst/>
          </a:prstGeom>
        </p:spPr>
      </p:pic>
      <p:pic>
        <p:nvPicPr>
          <p:cNvPr id="13" name="Image 4" descr="gen-dedup-6e4861eba2033af3bbb19258faa5ef0b.png">    </p:cNvPr>
          <p:cNvPicPr>
            <a:picLocks noChangeAspect="1"/>
          </p:cNvPicPr>
          <p:nvPr/>
        </p:nvPicPr>
        <p:blipFill>
          <a:blip r:embed="rId5"/>
          <a:srcRect l="-400" r="-400" t="0" b="0"/>
          <a:stretch/>
        </p:blipFill>
        <p:spPr>
          <a:xfrm>
            <a:off x="857707" y="8572500"/>
            <a:ext cx="57607" cy="57150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857707" y="743407"/>
            <a:ext cx="8572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· CD TARGET DEFINITION</a:t>
            </a:r>
            <a:endParaRPr lang="en-US" sz="1200" dirty="0"/>
          </a:p>
        </p:txBody>
      </p:sp>
      <p:sp>
        <p:nvSpPr>
          <p:cNvPr id="15" name="Text 7"/>
          <p:cNvSpPr txBox="1"/>
          <p:nvPr/>
        </p:nvSpPr>
        <p:spPr>
          <a:xfrm>
            <a:off x="857707" y="1123798"/>
            <a:ext cx="12192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항목 4종 &amp; CD target</a:t>
            </a:r>
            <a:endParaRPr lang="en-US" sz="3150" dirty="0"/>
          </a:p>
        </p:txBody>
      </p:sp>
      <p:sp>
        <p:nvSpPr>
          <p:cNvPr id="16" name="Text 8"/>
          <p:cNvSpPr txBox="1"/>
          <p:nvPr/>
        </p:nvSpPr>
        <p:spPr>
          <a:xfrm>
            <a:off x="857707" y="1690726"/>
            <a:ext cx="12192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 dual-damascene · dummy target spec</a:t>
            </a:r>
            <a:endParaRPr lang="en-US" sz="1350" dirty="0"/>
          </a:p>
        </p:txBody>
      </p:sp>
      <p:sp>
        <p:nvSpPr>
          <p:cNvPr id="17" name="Text 9"/>
          <p:cNvSpPr txBox="1"/>
          <p:nvPr/>
        </p:nvSpPr>
        <p:spPr>
          <a:xfrm>
            <a:off x="1143000" y="2533802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· 01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2838298"/>
            <a:ext cx="36201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</a:t>
            </a:r>
            <a:endParaRPr lang="en-US" sz="2400" dirty="0"/>
          </a:p>
        </p:txBody>
      </p:sp>
      <p:sp>
        <p:nvSpPr>
          <p:cNvPr id="19" name="Text 11"/>
          <p:cNvSpPr txBox="1"/>
          <p:nvPr/>
        </p:nvSpPr>
        <p:spPr>
          <a:xfrm>
            <a:off x="1143000" y="3312871"/>
            <a:ext cx="362011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After-Ash Sidewall Image</a:t>
            </a:r>
            <a:pPr algn="l" indent="0" marL="0">
              <a:lnSpc>
                <a:spcPts val="1688"/>
              </a:lnSpc>
              <a:buNone/>
            </a:pPr>
            <a:endParaRPr lang="en-US" sz="1125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post-strip line CD</a:t>
            </a:r>
            <a:endParaRPr lang="en-US" sz="1125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4095598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4362602"/>
            <a:ext cx="362011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</a:t>
            </a:r>
            <a:pPr algn="l" indent="0" marL="0">
              <a:buNone/>
            </a:pPr>
            <a:r>
              <a:rPr lang="en-US" sz="1800" b="1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nm</a:t>
            </a:r>
            <a:endParaRPr lang="en-US" sz="5100" dirty="0"/>
          </a:p>
        </p:txBody>
      </p:sp>
      <p:sp>
        <p:nvSpPr>
          <p:cNvPr id="22" name="Text 14"/>
          <p:cNvSpPr txBox="1"/>
          <p:nvPr/>
        </p:nvSpPr>
        <p:spPr>
          <a:xfrm>
            <a:off x="1143000" y="5143500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기준치</a:t>
            </a:r>
            <a:endParaRPr lang="en-US" sz="1125" dirty="0"/>
          </a:p>
        </p:txBody>
      </p:sp>
      <p:sp>
        <p:nvSpPr>
          <p:cNvPr id="23" name="Text 15"/>
          <p:cNvSpPr txBox="1"/>
          <p:nvPr/>
        </p:nvSpPr>
        <p:spPr>
          <a:xfrm>
            <a:off x="5429707" y="2533802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· 02</a:t>
            </a:r>
            <a:endParaRPr lang="en-US" sz="1050" dirty="0"/>
          </a:p>
        </p:txBody>
      </p:sp>
      <p:sp>
        <p:nvSpPr>
          <p:cNvPr id="24" name="Text 16"/>
          <p:cNvSpPr txBox="1"/>
          <p:nvPr/>
        </p:nvSpPr>
        <p:spPr>
          <a:xfrm>
            <a:off x="5429707" y="2838298"/>
            <a:ext cx="36201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</a:t>
            </a:r>
            <a:endParaRPr lang="en-US" sz="2400" dirty="0"/>
          </a:p>
        </p:txBody>
      </p:sp>
      <p:sp>
        <p:nvSpPr>
          <p:cNvPr id="25" name="Text 17"/>
          <p:cNvSpPr txBox="1"/>
          <p:nvPr/>
        </p:nvSpPr>
        <p:spPr>
          <a:xfrm>
            <a:off x="5429707" y="3312871"/>
            <a:ext cx="362011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After-Etch Sidewall Image</a:t>
            </a:r>
            <a:pPr algn="l" indent="0" marL="0">
              <a:lnSpc>
                <a:spcPts val="1688"/>
              </a:lnSpc>
              <a:buNone/>
            </a:pPr>
            <a:endParaRPr lang="en-US" sz="1125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trench CD</a:t>
            </a:r>
            <a:endParaRPr lang="en-US" sz="1125" dirty="0"/>
          </a:p>
        </p:txBody>
      </p:sp>
      <p:sp>
        <p:nvSpPr>
          <p:cNvPr id="26" name="Text 18"/>
          <p:cNvSpPr txBox="1"/>
          <p:nvPr/>
        </p:nvSpPr>
        <p:spPr>
          <a:xfrm>
            <a:off x="5429707" y="4095598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1050" dirty="0"/>
          </a:p>
        </p:txBody>
      </p:sp>
      <p:sp>
        <p:nvSpPr>
          <p:cNvPr id="27" name="Text 19"/>
          <p:cNvSpPr txBox="1"/>
          <p:nvPr/>
        </p:nvSpPr>
        <p:spPr>
          <a:xfrm>
            <a:off x="5429707" y="4362602"/>
            <a:ext cx="362011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5BC0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16.9</a:t>
            </a:r>
            <a:pPr algn="l" indent="0" marL="0">
              <a:buNone/>
            </a:pPr>
            <a:r>
              <a:rPr lang="en-US" sz="1800" b="1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nm</a:t>
            </a:r>
            <a:endParaRPr lang="en-US" sz="5100" dirty="0"/>
          </a:p>
        </p:txBody>
      </p:sp>
      <p:sp>
        <p:nvSpPr>
          <p:cNvPr id="28" name="Text 20"/>
          <p:cNvSpPr txBox="1"/>
          <p:nvPr/>
        </p:nvSpPr>
        <p:spPr>
          <a:xfrm>
            <a:off x="5429707" y="5143500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기준치</a:t>
            </a:r>
            <a:endParaRPr lang="en-US" sz="1125" dirty="0"/>
          </a:p>
        </p:txBody>
      </p:sp>
      <p:sp>
        <p:nvSpPr>
          <p:cNvPr id="29" name="Text 21"/>
          <p:cNvSpPr txBox="1"/>
          <p:nvPr/>
        </p:nvSpPr>
        <p:spPr>
          <a:xfrm>
            <a:off x="9715500" y="2533802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· 03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9715500" y="2838298"/>
            <a:ext cx="36201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9715500" y="3312871"/>
            <a:ext cx="3620110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After-Metal Image</a:t>
            </a:r>
            <a:pPr algn="l" indent="0" marL="0">
              <a:lnSpc>
                <a:spcPts val="1688"/>
              </a:lnSpc>
              <a:buNone/>
            </a:pPr>
            <a:endParaRPr lang="en-US" sz="1125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post-CMP line CD</a:t>
            </a:r>
            <a:endParaRPr lang="en-US" sz="1125" dirty="0"/>
          </a:p>
        </p:txBody>
      </p:sp>
      <p:sp>
        <p:nvSpPr>
          <p:cNvPr id="32" name="Text 24"/>
          <p:cNvSpPr txBox="1"/>
          <p:nvPr/>
        </p:nvSpPr>
        <p:spPr>
          <a:xfrm>
            <a:off x="9715500" y="4095598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9715500" y="4362602"/>
            <a:ext cx="3620110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8.1</a:t>
            </a:r>
            <a:pPr algn="l" indent="0" marL="0">
              <a:buNone/>
            </a:pPr>
            <a:r>
              <a:rPr lang="en-US" sz="1800" b="1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nm</a:t>
            </a:r>
            <a:endParaRPr lang="en-US" sz="5100" dirty="0"/>
          </a:p>
        </p:txBody>
      </p:sp>
      <p:sp>
        <p:nvSpPr>
          <p:cNvPr id="34" name="Text 26"/>
          <p:cNvSpPr txBox="1"/>
          <p:nvPr/>
        </p:nvSpPr>
        <p:spPr>
          <a:xfrm>
            <a:off x="9715500" y="5143500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기준치</a:t>
            </a:r>
            <a:endParaRPr lang="en-US" sz="1125" dirty="0"/>
          </a:p>
        </p:txBody>
      </p:sp>
      <p:sp>
        <p:nvSpPr>
          <p:cNvPr id="35" name="Text 27"/>
          <p:cNvSpPr txBox="1"/>
          <p:nvPr/>
        </p:nvSpPr>
        <p:spPr>
          <a:xfrm>
            <a:off x="14002207" y="2533802"/>
            <a:ext cx="33723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· 04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14002207" y="2838298"/>
            <a:ext cx="3372307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</a:t>
            </a:r>
            <a:endParaRPr lang="en-US" sz="2400" dirty="0"/>
          </a:p>
        </p:txBody>
      </p:sp>
      <p:sp>
        <p:nvSpPr>
          <p:cNvPr id="37" name="Text 29"/>
          <p:cNvSpPr txBox="1"/>
          <p:nvPr/>
        </p:nvSpPr>
        <p:spPr>
          <a:xfrm>
            <a:off x="14002207" y="3312871"/>
            <a:ext cx="3372307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After-CMP Image</a:t>
            </a:r>
            <a:pPr algn="l" indent="0" marL="0">
              <a:lnSpc>
                <a:spcPts val="1688"/>
              </a:lnSpc>
              <a:buNone/>
            </a:pPr>
            <a:endParaRPr lang="en-US" sz="1125" dirty="0"/>
          </a:p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via top CD</a:t>
            </a:r>
            <a:endParaRPr lang="en-US" sz="1125" dirty="0"/>
          </a:p>
        </p:txBody>
      </p:sp>
      <p:sp>
        <p:nvSpPr>
          <p:cNvPr id="38" name="Text 30"/>
          <p:cNvSpPr txBox="1"/>
          <p:nvPr/>
        </p:nvSpPr>
        <p:spPr>
          <a:xfrm>
            <a:off x="14002207" y="4095598"/>
            <a:ext cx="33723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68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14002207" y="4362602"/>
            <a:ext cx="3372307" cy="648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9.3</a:t>
            </a:r>
            <a:pPr algn="l" indent="0" marL="0">
              <a:buNone/>
            </a:pPr>
            <a:r>
              <a:rPr lang="en-US" sz="1800" b="1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nm</a:t>
            </a:r>
            <a:endParaRPr lang="en-US" sz="5100" dirty="0"/>
          </a:p>
        </p:txBody>
      </p:sp>
      <p:sp>
        <p:nvSpPr>
          <p:cNvPr id="40" name="Text 32"/>
          <p:cNvSpPr txBox="1"/>
          <p:nvPr/>
        </p:nvSpPr>
        <p:spPr>
          <a:xfrm>
            <a:off x="14002207" y="5143500"/>
            <a:ext cx="337230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기준치</a:t>
            </a:r>
            <a:endParaRPr lang="en-US" sz="1125" dirty="0"/>
          </a:p>
        </p:txBody>
      </p:sp>
      <p:sp>
        <p:nvSpPr>
          <p:cNvPr id="41" name="Text 33"/>
          <p:cNvSpPr txBox="1"/>
          <p:nvPr/>
        </p:nvSpPr>
        <p:spPr>
          <a:xfrm>
            <a:off x="1143000" y="6515100"/>
            <a:ext cx="1600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 FLOW &amp; MEASUREMENT POSITION</a:t>
            </a:r>
            <a:endParaRPr lang="en-US" sz="1050" dirty="0"/>
          </a:p>
        </p:txBody>
      </p:sp>
      <p:sp>
        <p:nvSpPr>
          <p:cNvPr id="42" name="Text 34"/>
          <p:cNvSpPr txBox="1"/>
          <p:nvPr/>
        </p:nvSpPr>
        <p:spPr>
          <a:xfrm>
            <a:off x="1143000" y="6877202"/>
            <a:ext cx="781812" cy="457200"/>
          </a:xfrm>
          <a:prstGeom prst="rect">
            <a:avLst/>
          </a:prstGeom>
          <a:solidFill>
            <a:srgbClr val="243A60"/>
          </a:solidFill>
          <a:ln w="12700">
            <a:solidFill>
              <a:srgbClr val="3F5784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Litho</a:t>
            </a:r>
            <a:endParaRPr lang="en-US" sz="1350" dirty="0"/>
          </a:p>
        </p:txBody>
      </p:sp>
      <p:sp>
        <p:nvSpPr>
          <p:cNvPr id="43" name="Text 35"/>
          <p:cNvSpPr txBox="1"/>
          <p:nvPr/>
        </p:nvSpPr>
        <p:spPr>
          <a:xfrm>
            <a:off x="2050999" y="6981444"/>
            <a:ext cx="1719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44" name="Text 36"/>
          <p:cNvSpPr txBox="1"/>
          <p:nvPr/>
        </p:nvSpPr>
        <p:spPr>
          <a:xfrm>
            <a:off x="2355494" y="6877202"/>
            <a:ext cx="715061" cy="457200"/>
          </a:xfrm>
          <a:prstGeom prst="rect">
            <a:avLst/>
          </a:prstGeom>
          <a:solidFill>
            <a:srgbClr val="243A60"/>
          </a:solidFill>
          <a:ln w="12700">
            <a:solidFill>
              <a:srgbClr val="3F5784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Etch</a:t>
            </a:r>
            <a:endParaRPr lang="en-US" sz="1350" dirty="0"/>
          </a:p>
        </p:txBody>
      </p:sp>
      <p:sp>
        <p:nvSpPr>
          <p:cNvPr id="45" name="Text 37"/>
          <p:cNvSpPr txBox="1"/>
          <p:nvPr/>
        </p:nvSpPr>
        <p:spPr>
          <a:xfrm>
            <a:off x="3200400" y="6981444"/>
            <a:ext cx="1719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46" name="Text 38"/>
          <p:cNvSpPr txBox="1"/>
          <p:nvPr/>
        </p:nvSpPr>
        <p:spPr>
          <a:xfrm>
            <a:off x="3504895" y="6877202"/>
            <a:ext cx="657454" cy="457200"/>
          </a:xfrm>
          <a:prstGeom prst="rect">
            <a:avLst/>
          </a:prstGeom>
          <a:solidFill>
            <a:srgbClr val="243A60"/>
          </a:solidFill>
          <a:ln w="12700">
            <a:solidFill>
              <a:srgbClr val="3F5784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Ash</a:t>
            </a:r>
            <a:endParaRPr lang="en-US" sz="1350" dirty="0"/>
          </a:p>
        </p:txBody>
      </p:sp>
      <p:sp>
        <p:nvSpPr>
          <p:cNvPr id="47" name="Text 39"/>
          <p:cNvSpPr txBox="1"/>
          <p:nvPr/>
        </p:nvSpPr>
        <p:spPr>
          <a:xfrm>
            <a:off x="4293108" y="6981444"/>
            <a:ext cx="1719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48" name="Text 40"/>
          <p:cNvSpPr txBox="1"/>
          <p:nvPr/>
        </p:nvSpPr>
        <p:spPr>
          <a:xfrm>
            <a:off x="4597603" y="6877202"/>
            <a:ext cx="1086307" cy="457200"/>
          </a:xfrm>
          <a:prstGeom prst="rect">
            <a:avLst/>
          </a:prstGeom>
          <a:noFill/>
          <a:ln w="12700">
            <a:solidFill>
              <a:srgbClr val="3F5784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측정</a:t>
            </a:r>
            <a:endParaRPr lang="en-US" sz="1350" dirty="0"/>
          </a:p>
        </p:txBody>
      </p:sp>
      <p:sp>
        <p:nvSpPr>
          <p:cNvPr id="49" name="Text 41"/>
          <p:cNvSpPr txBox="1"/>
          <p:nvPr/>
        </p:nvSpPr>
        <p:spPr>
          <a:xfrm>
            <a:off x="5816498" y="6981444"/>
            <a:ext cx="1719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50" name="Text 42"/>
          <p:cNvSpPr txBox="1"/>
          <p:nvPr/>
        </p:nvSpPr>
        <p:spPr>
          <a:xfrm>
            <a:off x="6120994" y="6877202"/>
            <a:ext cx="1448410" cy="457200"/>
          </a:xfrm>
          <a:prstGeom prst="rect">
            <a:avLst/>
          </a:prstGeom>
          <a:solidFill>
            <a:srgbClr val="243A60"/>
          </a:solidFill>
          <a:ln w="12700">
            <a:solidFill>
              <a:srgbClr val="3F5784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Barrier/Cu fill</a:t>
            </a:r>
            <a:endParaRPr lang="en-US" sz="1350" dirty="0"/>
          </a:p>
        </p:txBody>
      </p:sp>
      <p:sp>
        <p:nvSpPr>
          <p:cNvPr id="51" name="Text 43"/>
          <p:cNvSpPr txBox="1"/>
          <p:nvPr/>
        </p:nvSpPr>
        <p:spPr>
          <a:xfrm>
            <a:off x="7693762" y="6981444"/>
            <a:ext cx="1719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52" name="Text 44"/>
          <p:cNvSpPr txBox="1"/>
          <p:nvPr/>
        </p:nvSpPr>
        <p:spPr>
          <a:xfrm>
            <a:off x="7998257" y="6877202"/>
            <a:ext cx="1571854" cy="457200"/>
          </a:xfrm>
          <a:prstGeom prst="rect">
            <a:avLst/>
          </a:prstGeom>
          <a:noFill/>
          <a:ln w="12700">
            <a:solidFill>
              <a:srgbClr val="3F5784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 · AMI · ACI</a:t>
            </a:r>
            <a:endParaRPr lang="en-US" sz="1350" dirty="0"/>
          </a:p>
        </p:txBody>
      </p:sp>
      <p:sp>
        <p:nvSpPr>
          <p:cNvPr id="53" name="Text 45"/>
          <p:cNvSpPr txBox="1"/>
          <p:nvPr/>
        </p:nvSpPr>
        <p:spPr>
          <a:xfrm>
            <a:off x="9694469" y="6981444"/>
            <a:ext cx="1719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50" dirty="0"/>
          </a:p>
        </p:txBody>
      </p:sp>
      <p:sp>
        <p:nvSpPr>
          <p:cNvPr id="54" name="Text 46"/>
          <p:cNvSpPr txBox="1"/>
          <p:nvPr/>
        </p:nvSpPr>
        <p:spPr>
          <a:xfrm>
            <a:off x="9998964" y="6877202"/>
            <a:ext cx="1781251" cy="457200"/>
          </a:xfrm>
          <a:prstGeom prst="rect">
            <a:avLst/>
          </a:prstGeom>
          <a:solidFill>
            <a:srgbClr val="243A60"/>
          </a:solidFill>
          <a:ln w="12700">
            <a:solidFill>
              <a:srgbClr val="3F5784"/>
            </a:solidFill>
          </a:ln>
        </p:spPr>
        <p:txBody>
          <a:bodyPr wrap="none" lIns="177800" tIns="101600" rIns="177800" bIns="1016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dummy split</a:t>
            </a:r>
            <a:endParaRPr lang="en-US" sz="1350" dirty="0"/>
          </a:p>
        </p:txBody>
      </p:sp>
      <p:sp>
        <p:nvSpPr>
          <p:cNvPr id="55" name="Text 47"/>
          <p:cNvSpPr txBox="1"/>
          <p:nvPr/>
        </p:nvSpPr>
        <p:spPr>
          <a:xfrm>
            <a:off x="1143000" y="7563002"/>
            <a:ext cx="16002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AASI는 etch 직후 sidewall 손상 전 CD, ASEI/AMI/ACI는 post-CMP CD 단계에서 측정. AMI는 line, ACI는 via 상부.</a:t>
            </a:r>
            <a:endParaRPr lang="en-US" sz="1200" dirty="0"/>
          </a:p>
        </p:txBody>
      </p:sp>
      <p:sp>
        <p:nvSpPr>
          <p:cNvPr id="56" name="Text 48"/>
          <p:cNvSpPr txBox="1"/>
          <p:nvPr/>
        </p:nvSpPr>
        <p:spPr>
          <a:xfrm>
            <a:off x="1143000" y="8706002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metric의 target dummy — 25.3 / 16.9 / 8.1 / 9.3 nm — wafer별 delta 계산의 기준선</a:t>
            </a:r>
            <a:endParaRPr lang="en-US" sz="1500" dirty="0"/>
          </a:p>
        </p:txBody>
      </p:sp>
      <p:sp>
        <p:nvSpPr>
          <p:cNvPr id="57" name="Text 49"/>
          <p:cNvSpPr txBox="1"/>
          <p:nvPr/>
        </p:nvSpPr>
        <p:spPr>
          <a:xfrm>
            <a:off x="12191695" y="9620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58" name="Text 50"/>
          <p:cNvSpPr txBox="1"/>
          <p:nvPr/>
        </p:nvSpPr>
        <p:spPr>
          <a:xfrm>
            <a:off x="857707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03 / 12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573707" y="1123798"/>
            <a:ext cx="2876702" cy="8193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7707" y="2286000"/>
            <a:ext cx="16592702" cy="4972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7524598"/>
            <a:ext cx="16573500" cy="761695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7707" y="8572500"/>
            <a:ext cx="16592702" cy="5907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pic>
        <p:nvPicPr>
          <p:cNvPr id="7" name="Image 0" descr="gen-dedup-5e690144bd9400131353eb436ddca5ad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14573707" y="1123798"/>
            <a:ext cx="57607" cy="800100"/>
          </a:xfrm>
          <a:prstGeom prst="rect">
            <a:avLst/>
          </a:prstGeom>
        </p:spPr>
      </p:pic>
      <p:pic>
        <p:nvPicPr>
          <p:cNvPr id="8" name="Image 1" descr="gen-dedup-c8102c58ed97f2eed381b7459f08ee6f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857707" y="8572500"/>
            <a:ext cx="57607" cy="5715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7707" y="743407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· AASI CD VARIATION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57707" y="1123798"/>
            <a:ext cx="12192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· wafer별 CD variation</a:t>
            </a:r>
            <a:endParaRPr lang="en-US" sz="3150" dirty="0"/>
          </a:p>
        </p:txBody>
      </p:sp>
      <p:sp>
        <p:nvSpPr>
          <p:cNvPr id="11" name="Text 6"/>
          <p:cNvSpPr txBox="1"/>
          <p:nvPr/>
        </p:nvSpPr>
        <p:spPr>
          <a:xfrm>
            <a:off x="857707" y="1690726"/>
            <a:ext cx="12192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</a:t>
            </a:r>
            <a:pPr algn="l" indent="0" marL="0">
              <a:buNone/>
            </a:pPr>
            <a:r>
              <a:rPr lang="en-US" sz="13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 nm</a:t>
            </a:r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mean · 3σ · range · Δ to target · 6 wafer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4802307" y="1238098"/>
            <a:ext cx="2572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 TARGET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14802307" y="1457554"/>
            <a:ext cx="25722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25.3 nm</a:t>
            </a:r>
            <a:endParaRPr lang="en-US" sz="2250" dirty="0"/>
          </a:p>
        </p:txBody>
      </p:sp>
      <p:sp>
        <p:nvSpPr>
          <p:cNvPr id="14" name="Shape 9"/>
          <p:cNvSpPr/>
          <p:nvPr/>
        </p:nvSpPr>
        <p:spPr>
          <a:xfrm>
            <a:off x="857707" y="2953512"/>
            <a:ext cx="16573500" cy="9144"/>
          </a:xfrm>
          <a:prstGeom prst="rect">
            <a:avLst/>
          </a:prstGeom>
          <a:solidFill>
            <a:srgbClr val="3F5784"/>
          </a:solidFill>
          <a:ln w="12700">
            <a:solidFill>
              <a:srgbClr val="3F5784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57707" y="2457907"/>
            <a:ext cx="15627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2412187" y="2457907"/>
            <a:ext cx="24387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849978" y="2457907"/>
            <a:ext cx="2800807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MEAN [nm]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642555" y="2457907"/>
            <a:ext cx="242956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3σ [nm]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10067544" y="2457907"/>
            <a:ext cx="242956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RANGE [nm]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12496190" y="2457907"/>
            <a:ext cx="24387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 vs TARGET [nm]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4933066" y="2457907"/>
            <a:ext cx="2505456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57707" y="3767328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57707" y="2957170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W01</a:t>
            </a:r>
            <a:endParaRPr lang="en-US" sz="1950" dirty="0"/>
          </a:p>
        </p:txBody>
      </p:sp>
      <p:sp>
        <p:nvSpPr>
          <p:cNvPr id="24" name="Text 19"/>
          <p:cNvSpPr txBox="1"/>
          <p:nvPr/>
        </p:nvSpPr>
        <p:spPr>
          <a:xfrm>
            <a:off x="4849978" y="2957170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25.31</a:t>
            </a:r>
            <a:endParaRPr lang="en-US" sz="1950" dirty="0"/>
          </a:p>
        </p:txBody>
      </p:sp>
      <p:sp>
        <p:nvSpPr>
          <p:cNvPr id="25" name="Text 20"/>
          <p:cNvSpPr txBox="1"/>
          <p:nvPr/>
        </p:nvSpPr>
        <p:spPr>
          <a:xfrm>
            <a:off x="7642555" y="2957170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0.24</a:t>
            </a:r>
            <a:endParaRPr lang="en-US" sz="1650" dirty="0"/>
          </a:p>
        </p:txBody>
      </p:sp>
      <p:sp>
        <p:nvSpPr>
          <p:cNvPr id="26" name="Text 21"/>
          <p:cNvSpPr txBox="1"/>
          <p:nvPr/>
        </p:nvSpPr>
        <p:spPr>
          <a:xfrm>
            <a:off x="10067544" y="2957170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1.18</a:t>
            </a:r>
            <a:endParaRPr lang="en-US" sz="1650" dirty="0"/>
          </a:p>
        </p:txBody>
      </p:sp>
      <p:sp>
        <p:nvSpPr>
          <p:cNvPr id="27" name="Text 22"/>
          <p:cNvSpPr txBox="1"/>
          <p:nvPr/>
        </p:nvSpPr>
        <p:spPr>
          <a:xfrm>
            <a:off x="12496190" y="2957170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5CB9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+0.01</a:t>
            </a:r>
            <a:endParaRPr lang="en-US" sz="1650" dirty="0"/>
          </a:p>
        </p:txBody>
      </p:sp>
      <p:sp>
        <p:nvSpPr>
          <p:cNvPr id="28" name="Text 23"/>
          <p:cNvSpPr txBox="1"/>
          <p:nvPr/>
        </p:nvSpPr>
        <p:spPr>
          <a:xfrm>
            <a:off x="14933066" y="2957170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857707" y="4586630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57707" y="3776472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W02</a:t>
            </a:r>
            <a:endParaRPr lang="en-US" sz="1950" dirty="0"/>
          </a:p>
        </p:txBody>
      </p:sp>
      <p:sp>
        <p:nvSpPr>
          <p:cNvPr id="31" name="Text 26"/>
          <p:cNvSpPr txBox="1"/>
          <p:nvPr/>
        </p:nvSpPr>
        <p:spPr>
          <a:xfrm>
            <a:off x="4849978" y="3776472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25.42</a:t>
            </a:r>
            <a:endParaRPr lang="en-US" sz="1950" dirty="0"/>
          </a:p>
        </p:txBody>
      </p:sp>
      <p:sp>
        <p:nvSpPr>
          <p:cNvPr id="32" name="Text 27"/>
          <p:cNvSpPr txBox="1"/>
          <p:nvPr/>
        </p:nvSpPr>
        <p:spPr>
          <a:xfrm>
            <a:off x="7642555" y="3776472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0.21</a:t>
            </a:r>
            <a:endParaRPr lang="en-US" sz="1650" dirty="0"/>
          </a:p>
        </p:txBody>
      </p:sp>
      <p:sp>
        <p:nvSpPr>
          <p:cNvPr id="33" name="Text 28"/>
          <p:cNvSpPr txBox="1"/>
          <p:nvPr/>
        </p:nvSpPr>
        <p:spPr>
          <a:xfrm>
            <a:off x="10067544" y="3776472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1.05</a:t>
            </a:r>
            <a:endParaRPr lang="en-US" sz="1650" dirty="0"/>
          </a:p>
        </p:txBody>
      </p:sp>
      <p:sp>
        <p:nvSpPr>
          <p:cNvPr id="34" name="Text 29"/>
          <p:cNvSpPr txBox="1"/>
          <p:nvPr/>
        </p:nvSpPr>
        <p:spPr>
          <a:xfrm>
            <a:off x="12496190" y="3776472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5CB9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+0.12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14933066" y="3776472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857707" y="5405933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57707" y="4595774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W03</a:t>
            </a:r>
            <a:endParaRPr lang="en-US" sz="1950" dirty="0"/>
          </a:p>
        </p:txBody>
      </p:sp>
      <p:sp>
        <p:nvSpPr>
          <p:cNvPr id="38" name="Text 33"/>
          <p:cNvSpPr txBox="1"/>
          <p:nvPr/>
        </p:nvSpPr>
        <p:spPr>
          <a:xfrm>
            <a:off x="4849978" y="4595774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24.96</a:t>
            </a:r>
            <a:endParaRPr lang="en-US" sz="1950" dirty="0"/>
          </a:p>
        </p:txBody>
      </p:sp>
      <p:sp>
        <p:nvSpPr>
          <p:cNvPr id="39" name="Text 34"/>
          <p:cNvSpPr txBox="1"/>
          <p:nvPr/>
        </p:nvSpPr>
        <p:spPr>
          <a:xfrm>
            <a:off x="7642555" y="4595774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0.31</a:t>
            </a:r>
            <a:endParaRPr lang="en-US" sz="1650" dirty="0"/>
          </a:p>
        </p:txBody>
      </p:sp>
      <p:sp>
        <p:nvSpPr>
          <p:cNvPr id="40" name="Text 35"/>
          <p:cNvSpPr txBox="1"/>
          <p:nvPr/>
        </p:nvSpPr>
        <p:spPr>
          <a:xfrm>
            <a:off x="10067544" y="4595774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1.43</a:t>
            </a:r>
            <a:endParaRPr lang="en-US" sz="1650" dirty="0"/>
          </a:p>
        </p:txBody>
      </p:sp>
      <p:sp>
        <p:nvSpPr>
          <p:cNvPr id="41" name="Text 36"/>
          <p:cNvSpPr txBox="1"/>
          <p:nvPr/>
        </p:nvSpPr>
        <p:spPr>
          <a:xfrm>
            <a:off x="12496190" y="4595774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B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−0.34</a:t>
            </a:r>
            <a:endParaRPr lang="en-US" sz="1650" dirty="0"/>
          </a:p>
        </p:txBody>
      </p:sp>
      <p:sp>
        <p:nvSpPr>
          <p:cNvPr id="42" name="Text 37"/>
          <p:cNvSpPr txBox="1"/>
          <p:nvPr/>
        </p:nvSpPr>
        <p:spPr>
          <a:xfrm>
            <a:off x="14933066" y="4595774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43" name="Shape 38"/>
          <p:cNvSpPr/>
          <p:nvPr/>
        </p:nvSpPr>
        <p:spPr>
          <a:xfrm>
            <a:off x="857707" y="6225235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57707" y="5415077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W04</a:t>
            </a:r>
            <a:endParaRPr lang="en-US" sz="1950" dirty="0"/>
          </a:p>
        </p:txBody>
      </p:sp>
      <p:sp>
        <p:nvSpPr>
          <p:cNvPr id="45" name="Text 40"/>
          <p:cNvSpPr txBox="1"/>
          <p:nvPr/>
        </p:nvSpPr>
        <p:spPr>
          <a:xfrm>
            <a:off x="4849978" y="5415077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25.07</a:t>
            </a:r>
            <a:endParaRPr lang="en-US" sz="1950" dirty="0"/>
          </a:p>
        </p:txBody>
      </p:sp>
      <p:sp>
        <p:nvSpPr>
          <p:cNvPr id="46" name="Text 41"/>
          <p:cNvSpPr txBox="1"/>
          <p:nvPr/>
        </p:nvSpPr>
        <p:spPr>
          <a:xfrm>
            <a:off x="7642555" y="5415077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0.27</a:t>
            </a:r>
            <a:endParaRPr lang="en-US" sz="1650" dirty="0"/>
          </a:p>
        </p:txBody>
      </p:sp>
      <p:sp>
        <p:nvSpPr>
          <p:cNvPr id="47" name="Text 42"/>
          <p:cNvSpPr txBox="1"/>
          <p:nvPr/>
        </p:nvSpPr>
        <p:spPr>
          <a:xfrm>
            <a:off x="10067544" y="5415077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1.28</a:t>
            </a:r>
            <a:endParaRPr lang="en-US" sz="1650" dirty="0"/>
          </a:p>
        </p:txBody>
      </p:sp>
      <p:sp>
        <p:nvSpPr>
          <p:cNvPr id="48" name="Text 43"/>
          <p:cNvSpPr txBox="1"/>
          <p:nvPr/>
        </p:nvSpPr>
        <p:spPr>
          <a:xfrm>
            <a:off x="12496190" y="5415077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B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−0.23</a:t>
            </a:r>
            <a:endParaRPr lang="en-US" sz="1650" dirty="0"/>
          </a:p>
        </p:txBody>
      </p:sp>
      <p:sp>
        <p:nvSpPr>
          <p:cNvPr id="49" name="Text 44"/>
          <p:cNvSpPr txBox="1"/>
          <p:nvPr/>
        </p:nvSpPr>
        <p:spPr>
          <a:xfrm>
            <a:off x="14933066" y="5415077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50" name="Shape 45"/>
          <p:cNvSpPr/>
          <p:nvPr/>
        </p:nvSpPr>
        <p:spPr>
          <a:xfrm>
            <a:off x="857707" y="7044538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57707" y="6234379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W05</a:t>
            </a:r>
            <a:endParaRPr lang="en-US" sz="1950" dirty="0"/>
          </a:p>
        </p:txBody>
      </p:sp>
      <p:sp>
        <p:nvSpPr>
          <p:cNvPr id="52" name="Text 47"/>
          <p:cNvSpPr txBox="1"/>
          <p:nvPr/>
        </p:nvSpPr>
        <p:spPr>
          <a:xfrm>
            <a:off x="4849978" y="6234379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24.52</a:t>
            </a:r>
            <a:endParaRPr lang="en-US" sz="1950" dirty="0"/>
          </a:p>
        </p:txBody>
      </p:sp>
      <p:sp>
        <p:nvSpPr>
          <p:cNvPr id="53" name="Text 48"/>
          <p:cNvSpPr txBox="1"/>
          <p:nvPr/>
        </p:nvSpPr>
        <p:spPr>
          <a:xfrm>
            <a:off x="7642555" y="6234379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0.42</a:t>
            </a:r>
            <a:endParaRPr lang="en-US" sz="1650" dirty="0"/>
          </a:p>
        </p:txBody>
      </p:sp>
      <p:sp>
        <p:nvSpPr>
          <p:cNvPr id="54" name="Text 49"/>
          <p:cNvSpPr txBox="1"/>
          <p:nvPr/>
        </p:nvSpPr>
        <p:spPr>
          <a:xfrm>
            <a:off x="10067544" y="6234379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1.84</a:t>
            </a:r>
            <a:endParaRPr lang="en-US" sz="1650" dirty="0"/>
          </a:p>
        </p:txBody>
      </p:sp>
      <p:sp>
        <p:nvSpPr>
          <p:cNvPr id="55" name="Text 50"/>
          <p:cNvSpPr txBox="1"/>
          <p:nvPr/>
        </p:nvSpPr>
        <p:spPr>
          <a:xfrm>
            <a:off x="12496190" y="6234379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−0.78</a:t>
            </a:r>
            <a:endParaRPr lang="en-US" sz="1650" dirty="0"/>
          </a:p>
        </p:txBody>
      </p:sp>
      <p:sp>
        <p:nvSpPr>
          <p:cNvPr id="56" name="Text 51"/>
          <p:cNvSpPr txBox="1"/>
          <p:nvPr/>
        </p:nvSpPr>
        <p:spPr>
          <a:xfrm>
            <a:off x="14933066" y="6234379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57" name="Text 52"/>
          <p:cNvSpPr txBox="1"/>
          <p:nvPr/>
        </p:nvSpPr>
        <p:spPr>
          <a:xfrm>
            <a:off x="857707" y="7053682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W06</a:t>
            </a:r>
            <a:endParaRPr lang="en-US" sz="1950" dirty="0"/>
          </a:p>
        </p:txBody>
      </p:sp>
      <p:sp>
        <p:nvSpPr>
          <p:cNvPr id="58" name="Text 53"/>
          <p:cNvSpPr txBox="1"/>
          <p:nvPr/>
        </p:nvSpPr>
        <p:spPr>
          <a:xfrm>
            <a:off x="4849978" y="7053682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24.71</a:t>
            </a:r>
            <a:endParaRPr lang="en-US" sz="1950" dirty="0"/>
          </a:p>
        </p:txBody>
      </p:sp>
      <p:sp>
        <p:nvSpPr>
          <p:cNvPr id="59" name="Text 54"/>
          <p:cNvSpPr txBox="1"/>
          <p:nvPr/>
        </p:nvSpPr>
        <p:spPr>
          <a:xfrm>
            <a:off x="7642555" y="7053682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0.38</a:t>
            </a:r>
            <a:endParaRPr lang="en-US" sz="1650" dirty="0"/>
          </a:p>
        </p:txBody>
      </p:sp>
      <p:sp>
        <p:nvSpPr>
          <p:cNvPr id="60" name="Text 55"/>
          <p:cNvSpPr txBox="1"/>
          <p:nvPr/>
        </p:nvSpPr>
        <p:spPr>
          <a:xfrm>
            <a:off x="10067544" y="7053682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1.71</a:t>
            </a:r>
            <a:endParaRPr lang="en-US" sz="1650" dirty="0"/>
          </a:p>
        </p:txBody>
      </p:sp>
      <p:sp>
        <p:nvSpPr>
          <p:cNvPr id="61" name="Text 56"/>
          <p:cNvSpPr txBox="1"/>
          <p:nvPr/>
        </p:nvSpPr>
        <p:spPr>
          <a:xfrm>
            <a:off x="12496190" y="7053682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−0.59</a:t>
            </a:r>
            <a:endParaRPr lang="en-US" sz="1650" dirty="0"/>
          </a:p>
        </p:txBody>
      </p:sp>
      <p:sp>
        <p:nvSpPr>
          <p:cNvPr id="62" name="Text 57"/>
          <p:cNvSpPr txBox="1"/>
          <p:nvPr/>
        </p:nvSpPr>
        <p:spPr>
          <a:xfrm>
            <a:off x="14933066" y="7053682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63" name="Text 58"/>
          <p:cNvSpPr txBox="1"/>
          <p:nvPr/>
        </p:nvSpPr>
        <p:spPr>
          <a:xfrm>
            <a:off x="2507285" y="3195828"/>
            <a:ext cx="1076249" cy="342900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350" dirty="0"/>
          </a:p>
        </p:txBody>
      </p:sp>
      <p:sp>
        <p:nvSpPr>
          <p:cNvPr id="64" name="Text 59"/>
          <p:cNvSpPr txBox="1"/>
          <p:nvPr/>
        </p:nvSpPr>
        <p:spPr>
          <a:xfrm>
            <a:off x="2507285" y="4015130"/>
            <a:ext cx="1076249" cy="342900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350" dirty="0"/>
          </a:p>
        </p:txBody>
      </p:sp>
      <p:sp>
        <p:nvSpPr>
          <p:cNvPr id="65" name="Text 60"/>
          <p:cNvSpPr txBox="1"/>
          <p:nvPr/>
        </p:nvSpPr>
        <p:spPr>
          <a:xfrm>
            <a:off x="2501798" y="4833518"/>
            <a:ext cx="1182319" cy="342900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350" dirty="0"/>
          </a:p>
        </p:txBody>
      </p:sp>
      <p:sp>
        <p:nvSpPr>
          <p:cNvPr id="66" name="Text 61"/>
          <p:cNvSpPr txBox="1"/>
          <p:nvPr/>
        </p:nvSpPr>
        <p:spPr>
          <a:xfrm>
            <a:off x="2501798" y="5652821"/>
            <a:ext cx="1182319" cy="342900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350" dirty="0"/>
          </a:p>
        </p:txBody>
      </p:sp>
      <p:sp>
        <p:nvSpPr>
          <p:cNvPr id="67" name="Text 62"/>
          <p:cNvSpPr txBox="1"/>
          <p:nvPr/>
        </p:nvSpPr>
        <p:spPr>
          <a:xfrm>
            <a:off x="2501798" y="6472123"/>
            <a:ext cx="1182319" cy="342900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350" dirty="0"/>
          </a:p>
        </p:txBody>
      </p:sp>
      <p:sp>
        <p:nvSpPr>
          <p:cNvPr id="68" name="Text 63"/>
          <p:cNvSpPr txBox="1"/>
          <p:nvPr/>
        </p:nvSpPr>
        <p:spPr>
          <a:xfrm>
            <a:off x="2501798" y="7291426"/>
            <a:ext cx="1182319" cy="342900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350" dirty="0"/>
          </a:p>
        </p:txBody>
      </p:sp>
      <p:sp>
        <p:nvSpPr>
          <p:cNvPr id="69" name="Text 64"/>
          <p:cNvSpPr txBox="1"/>
          <p:nvPr/>
        </p:nvSpPr>
        <p:spPr>
          <a:xfrm>
            <a:off x="1143000" y="7696505"/>
            <a:ext cx="36969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AASI는 etch 단계 CD 변동이 누적되는 지표</a:t>
            </a:r>
            <a:endParaRPr lang="en-US" sz="1350" dirty="0"/>
          </a:p>
        </p:txBody>
      </p:sp>
      <p:sp>
        <p:nvSpPr>
          <p:cNvPr id="70" name="Text 65"/>
          <p:cNvSpPr txBox="1"/>
          <p:nvPr/>
        </p:nvSpPr>
        <p:spPr>
          <a:xfrm>
            <a:off x="12426696" y="7696505"/>
            <a:ext cx="151607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평균 Δ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+0.07</a:t>
            </a:r>
            <a:endParaRPr lang="en-US" sz="1350" dirty="0"/>
          </a:p>
        </p:txBody>
      </p:sp>
      <p:sp>
        <p:nvSpPr>
          <p:cNvPr id="71" name="Text 66"/>
          <p:cNvSpPr txBox="1"/>
          <p:nvPr/>
        </p:nvSpPr>
        <p:spPr>
          <a:xfrm>
            <a:off x="14103706" y="7696505"/>
            <a:ext cx="162214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평균 Δ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−0.28</a:t>
            </a:r>
            <a:endParaRPr lang="en-US" sz="1350" dirty="0"/>
          </a:p>
        </p:txBody>
      </p:sp>
      <p:sp>
        <p:nvSpPr>
          <p:cNvPr id="72" name="Text 67"/>
          <p:cNvSpPr txBox="1"/>
          <p:nvPr/>
        </p:nvSpPr>
        <p:spPr>
          <a:xfrm>
            <a:off x="15881299" y="7696505"/>
            <a:ext cx="162214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평균 Δ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−0.68</a:t>
            </a:r>
            <a:endParaRPr lang="en-US" sz="1350" dirty="0"/>
          </a:p>
        </p:txBody>
      </p:sp>
      <p:sp>
        <p:nvSpPr>
          <p:cNvPr id="73" name="Text 68"/>
          <p:cNvSpPr txBox="1"/>
          <p:nvPr/>
        </p:nvSpPr>
        <p:spPr>
          <a:xfrm>
            <a:off x="1143000" y="8706002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AASI는 ash 측정이지만 pattern CD가 CMP 쪽으로 끌려가며 30%에서 Δ −0.7 nm 수준의 under-cut</a:t>
            </a:r>
            <a:endParaRPr lang="en-US" sz="1500" dirty="0"/>
          </a:p>
        </p:txBody>
      </p:sp>
      <p:sp>
        <p:nvSpPr>
          <p:cNvPr id="74" name="Text 69"/>
          <p:cNvSpPr txBox="1"/>
          <p:nvPr/>
        </p:nvSpPr>
        <p:spPr>
          <a:xfrm>
            <a:off x="12191695" y="9620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75" name="Text 70"/>
          <p:cNvSpPr txBox="1"/>
          <p:nvPr/>
        </p:nvSpPr>
        <p:spPr>
          <a:xfrm>
            <a:off x="857707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04 / 12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573707" y="1123798"/>
            <a:ext cx="2876702" cy="8193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7707" y="2286000"/>
            <a:ext cx="16592702" cy="4972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7524598"/>
            <a:ext cx="16573500" cy="761695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7707" y="8572500"/>
            <a:ext cx="16592702" cy="5907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pic>
        <p:nvPicPr>
          <p:cNvPr id="7" name="Image 0" descr="gen-dedup-e89635f7571d2a6078388318643486e7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14573707" y="1123798"/>
            <a:ext cx="57607" cy="800100"/>
          </a:xfrm>
          <a:prstGeom prst="rect">
            <a:avLst/>
          </a:prstGeom>
        </p:spPr>
      </p:pic>
      <p:pic>
        <p:nvPicPr>
          <p:cNvPr id="8" name="Image 1" descr="gen-dedup-6e4861eba2033af3bbb19258faa5ef0b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857707" y="8572500"/>
            <a:ext cx="57607" cy="5715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57707" y="743407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· ASEI CD VARIATION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57707" y="1123798"/>
            <a:ext cx="121926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 · wafer별 CD variation</a:t>
            </a:r>
            <a:endParaRPr lang="en-US" sz="3150" dirty="0"/>
          </a:p>
        </p:txBody>
      </p:sp>
      <p:sp>
        <p:nvSpPr>
          <p:cNvPr id="11" name="Text 6"/>
          <p:cNvSpPr txBox="1"/>
          <p:nvPr/>
        </p:nvSpPr>
        <p:spPr>
          <a:xfrm>
            <a:off x="857707" y="1690726"/>
            <a:ext cx="12192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</a:t>
            </a:r>
            <a:pPr algn="l" indent="0" marL="0">
              <a:buNone/>
            </a:pPr>
            <a:r>
              <a:rPr lang="en-US" sz="1350" b="1" dirty="0">
                <a:solidFill>
                  <a:srgbClr val="5BC0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16.9 nm</a:t>
            </a:r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dummy · 6 wafer 동일 format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14802307" y="1238098"/>
            <a:ext cx="2572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 TARGET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14802307" y="1457554"/>
            <a:ext cx="25722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BC0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16.9 nm</a:t>
            </a:r>
            <a:endParaRPr lang="en-US" sz="2250" dirty="0"/>
          </a:p>
        </p:txBody>
      </p:sp>
      <p:sp>
        <p:nvSpPr>
          <p:cNvPr id="14" name="Shape 9"/>
          <p:cNvSpPr/>
          <p:nvPr/>
        </p:nvSpPr>
        <p:spPr>
          <a:xfrm>
            <a:off x="857707" y="2953512"/>
            <a:ext cx="16573500" cy="9144"/>
          </a:xfrm>
          <a:prstGeom prst="rect">
            <a:avLst/>
          </a:prstGeom>
          <a:solidFill>
            <a:srgbClr val="3F5784"/>
          </a:solidFill>
          <a:ln w="12700">
            <a:solidFill>
              <a:srgbClr val="3F5784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57707" y="2457907"/>
            <a:ext cx="15627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WAFER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2412187" y="2457907"/>
            <a:ext cx="24387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849978" y="2457907"/>
            <a:ext cx="2800807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MEAN [nm]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642555" y="2457907"/>
            <a:ext cx="242956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3σ [nm]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10067544" y="2457907"/>
            <a:ext cx="242956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RANGE [nm]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12496190" y="2457907"/>
            <a:ext cx="24387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 vs TARGET [nm]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14933066" y="2457907"/>
            <a:ext cx="2505456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SITES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57707" y="3767328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57707" y="2957170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W01</a:t>
            </a:r>
            <a:endParaRPr lang="en-US" sz="1950" dirty="0"/>
          </a:p>
        </p:txBody>
      </p:sp>
      <p:sp>
        <p:nvSpPr>
          <p:cNvPr id="24" name="Text 19"/>
          <p:cNvSpPr txBox="1"/>
          <p:nvPr/>
        </p:nvSpPr>
        <p:spPr>
          <a:xfrm>
            <a:off x="4849978" y="2957170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16.94</a:t>
            </a:r>
            <a:endParaRPr lang="en-US" sz="1950" dirty="0"/>
          </a:p>
        </p:txBody>
      </p:sp>
      <p:sp>
        <p:nvSpPr>
          <p:cNvPr id="25" name="Text 20"/>
          <p:cNvSpPr txBox="1"/>
          <p:nvPr/>
        </p:nvSpPr>
        <p:spPr>
          <a:xfrm>
            <a:off x="7642555" y="2957170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0.19</a:t>
            </a:r>
            <a:endParaRPr lang="en-US" sz="1650" dirty="0"/>
          </a:p>
        </p:txBody>
      </p:sp>
      <p:sp>
        <p:nvSpPr>
          <p:cNvPr id="26" name="Text 21"/>
          <p:cNvSpPr txBox="1"/>
          <p:nvPr/>
        </p:nvSpPr>
        <p:spPr>
          <a:xfrm>
            <a:off x="10067544" y="2957170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0.92</a:t>
            </a:r>
            <a:endParaRPr lang="en-US" sz="1650" dirty="0"/>
          </a:p>
        </p:txBody>
      </p:sp>
      <p:sp>
        <p:nvSpPr>
          <p:cNvPr id="27" name="Text 22"/>
          <p:cNvSpPr txBox="1"/>
          <p:nvPr/>
        </p:nvSpPr>
        <p:spPr>
          <a:xfrm>
            <a:off x="12496190" y="2957170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5CB9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+0.04</a:t>
            </a:r>
            <a:endParaRPr lang="en-US" sz="1650" dirty="0"/>
          </a:p>
        </p:txBody>
      </p:sp>
      <p:sp>
        <p:nvSpPr>
          <p:cNvPr id="28" name="Text 23"/>
          <p:cNvSpPr txBox="1"/>
          <p:nvPr/>
        </p:nvSpPr>
        <p:spPr>
          <a:xfrm>
            <a:off x="14933066" y="2957170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857707" y="4586630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57707" y="3776472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W02</a:t>
            </a:r>
            <a:endParaRPr lang="en-US" sz="1950" dirty="0"/>
          </a:p>
        </p:txBody>
      </p:sp>
      <p:sp>
        <p:nvSpPr>
          <p:cNvPr id="31" name="Text 26"/>
          <p:cNvSpPr txBox="1"/>
          <p:nvPr/>
        </p:nvSpPr>
        <p:spPr>
          <a:xfrm>
            <a:off x="4849978" y="3776472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16.88</a:t>
            </a:r>
            <a:endParaRPr lang="en-US" sz="1950" dirty="0"/>
          </a:p>
        </p:txBody>
      </p:sp>
      <p:sp>
        <p:nvSpPr>
          <p:cNvPr id="32" name="Text 27"/>
          <p:cNvSpPr txBox="1"/>
          <p:nvPr/>
        </p:nvSpPr>
        <p:spPr>
          <a:xfrm>
            <a:off x="7642555" y="3776472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0.22</a:t>
            </a:r>
            <a:endParaRPr lang="en-US" sz="1650" dirty="0"/>
          </a:p>
        </p:txBody>
      </p:sp>
      <p:sp>
        <p:nvSpPr>
          <p:cNvPr id="33" name="Text 28"/>
          <p:cNvSpPr txBox="1"/>
          <p:nvPr/>
        </p:nvSpPr>
        <p:spPr>
          <a:xfrm>
            <a:off x="10067544" y="3776472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1.04</a:t>
            </a:r>
            <a:endParaRPr lang="en-US" sz="1650" dirty="0"/>
          </a:p>
        </p:txBody>
      </p:sp>
      <p:sp>
        <p:nvSpPr>
          <p:cNvPr id="34" name="Text 29"/>
          <p:cNvSpPr txBox="1"/>
          <p:nvPr/>
        </p:nvSpPr>
        <p:spPr>
          <a:xfrm>
            <a:off x="12496190" y="3776472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5CB9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−0.02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14933066" y="3776472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857707" y="5405933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57707" y="4595774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W03</a:t>
            </a:r>
            <a:endParaRPr lang="en-US" sz="1950" dirty="0"/>
          </a:p>
        </p:txBody>
      </p:sp>
      <p:sp>
        <p:nvSpPr>
          <p:cNvPr id="38" name="Text 33"/>
          <p:cNvSpPr txBox="1"/>
          <p:nvPr/>
        </p:nvSpPr>
        <p:spPr>
          <a:xfrm>
            <a:off x="4849978" y="4595774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16.71</a:t>
            </a:r>
            <a:endParaRPr lang="en-US" sz="1950" dirty="0"/>
          </a:p>
        </p:txBody>
      </p:sp>
      <p:sp>
        <p:nvSpPr>
          <p:cNvPr id="39" name="Text 34"/>
          <p:cNvSpPr txBox="1"/>
          <p:nvPr/>
        </p:nvSpPr>
        <p:spPr>
          <a:xfrm>
            <a:off x="7642555" y="4595774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0.28</a:t>
            </a:r>
            <a:endParaRPr lang="en-US" sz="1650" dirty="0"/>
          </a:p>
        </p:txBody>
      </p:sp>
      <p:sp>
        <p:nvSpPr>
          <p:cNvPr id="40" name="Text 35"/>
          <p:cNvSpPr txBox="1"/>
          <p:nvPr/>
        </p:nvSpPr>
        <p:spPr>
          <a:xfrm>
            <a:off x="10067544" y="4595774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1.22</a:t>
            </a:r>
            <a:endParaRPr lang="en-US" sz="1650" dirty="0"/>
          </a:p>
        </p:txBody>
      </p:sp>
      <p:sp>
        <p:nvSpPr>
          <p:cNvPr id="41" name="Text 36"/>
          <p:cNvSpPr txBox="1"/>
          <p:nvPr/>
        </p:nvSpPr>
        <p:spPr>
          <a:xfrm>
            <a:off x="12496190" y="4595774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B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−0.19</a:t>
            </a:r>
            <a:endParaRPr lang="en-US" sz="1650" dirty="0"/>
          </a:p>
        </p:txBody>
      </p:sp>
      <p:sp>
        <p:nvSpPr>
          <p:cNvPr id="42" name="Text 37"/>
          <p:cNvSpPr txBox="1"/>
          <p:nvPr/>
        </p:nvSpPr>
        <p:spPr>
          <a:xfrm>
            <a:off x="14933066" y="4595774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43" name="Shape 38"/>
          <p:cNvSpPr/>
          <p:nvPr/>
        </p:nvSpPr>
        <p:spPr>
          <a:xfrm>
            <a:off x="857707" y="6225235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57707" y="5415077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W04</a:t>
            </a:r>
            <a:endParaRPr lang="en-US" sz="1950" dirty="0"/>
          </a:p>
        </p:txBody>
      </p:sp>
      <p:sp>
        <p:nvSpPr>
          <p:cNvPr id="45" name="Text 40"/>
          <p:cNvSpPr txBox="1"/>
          <p:nvPr/>
        </p:nvSpPr>
        <p:spPr>
          <a:xfrm>
            <a:off x="4849978" y="5415077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16.83</a:t>
            </a:r>
            <a:endParaRPr lang="en-US" sz="1950" dirty="0"/>
          </a:p>
        </p:txBody>
      </p:sp>
      <p:sp>
        <p:nvSpPr>
          <p:cNvPr id="46" name="Text 41"/>
          <p:cNvSpPr txBox="1"/>
          <p:nvPr/>
        </p:nvSpPr>
        <p:spPr>
          <a:xfrm>
            <a:off x="7642555" y="5415077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0.24</a:t>
            </a:r>
            <a:endParaRPr lang="en-US" sz="1650" dirty="0"/>
          </a:p>
        </p:txBody>
      </p:sp>
      <p:sp>
        <p:nvSpPr>
          <p:cNvPr id="47" name="Text 42"/>
          <p:cNvSpPr txBox="1"/>
          <p:nvPr/>
        </p:nvSpPr>
        <p:spPr>
          <a:xfrm>
            <a:off x="10067544" y="5415077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1.11</a:t>
            </a:r>
            <a:endParaRPr lang="en-US" sz="1650" dirty="0"/>
          </a:p>
        </p:txBody>
      </p:sp>
      <p:sp>
        <p:nvSpPr>
          <p:cNvPr id="48" name="Text 43"/>
          <p:cNvSpPr txBox="1"/>
          <p:nvPr/>
        </p:nvSpPr>
        <p:spPr>
          <a:xfrm>
            <a:off x="12496190" y="5415077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B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−0.07</a:t>
            </a:r>
            <a:endParaRPr lang="en-US" sz="1650" dirty="0"/>
          </a:p>
        </p:txBody>
      </p:sp>
      <p:sp>
        <p:nvSpPr>
          <p:cNvPr id="49" name="Text 44"/>
          <p:cNvSpPr txBox="1"/>
          <p:nvPr/>
        </p:nvSpPr>
        <p:spPr>
          <a:xfrm>
            <a:off x="14933066" y="5415077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50" name="Shape 45"/>
          <p:cNvSpPr/>
          <p:nvPr/>
        </p:nvSpPr>
        <p:spPr>
          <a:xfrm>
            <a:off x="857707" y="7044538"/>
            <a:ext cx="16573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857707" y="6234379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W05</a:t>
            </a:r>
            <a:endParaRPr lang="en-US" sz="1950" dirty="0"/>
          </a:p>
        </p:txBody>
      </p:sp>
      <p:sp>
        <p:nvSpPr>
          <p:cNvPr id="52" name="Text 47"/>
          <p:cNvSpPr txBox="1"/>
          <p:nvPr/>
        </p:nvSpPr>
        <p:spPr>
          <a:xfrm>
            <a:off x="4849978" y="6234379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16.42</a:t>
            </a:r>
            <a:endParaRPr lang="en-US" sz="1950" dirty="0"/>
          </a:p>
        </p:txBody>
      </p:sp>
      <p:sp>
        <p:nvSpPr>
          <p:cNvPr id="53" name="Text 48"/>
          <p:cNvSpPr txBox="1"/>
          <p:nvPr/>
        </p:nvSpPr>
        <p:spPr>
          <a:xfrm>
            <a:off x="7642555" y="6234379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0.36</a:t>
            </a:r>
            <a:endParaRPr lang="en-US" sz="1650" dirty="0"/>
          </a:p>
        </p:txBody>
      </p:sp>
      <p:sp>
        <p:nvSpPr>
          <p:cNvPr id="54" name="Text 49"/>
          <p:cNvSpPr txBox="1"/>
          <p:nvPr/>
        </p:nvSpPr>
        <p:spPr>
          <a:xfrm>
            <a:off x="10067544" y="6234379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1.62</a:t>
            </a:r>
            <a:endParaRPr lang="en-US" sz="1650" dirty="0"/>
          </a:p>
        </p:txBody>
      </p:sp>
      <p:sp>
        <p:nvSpPr>
          <p:cNvPr id="55" name="Text 50"/>
          <p:cNvSpPr txBox="1"/>
          <p:nvPr/>
        </p:nvSpPr>
        <p:spPr>
          <a:xfrm>
            <a:off x="12496190" y="6234379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−0.48</a:t>
            </a:r>
            <a:endParaRPr lang="en-US" sz="1650" dirty="0"/>
          </a:p>
        </p:txBody>
      </p:sp>
      <p:sp>
        <p:nvSpPr>
          <p:cNvPr id="56" name="Text 51"/>
          <p:cNvSpPr txBox="1"/>
          <p:nvPr/>
        </p:nvSpPr>
        <p:spPr>
          <a:xfrm>
            <a:off x="14933066" y="6234379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57" name="Text 52"/>
          <p:cNvSpPr txBox="1"/>
          <p:nvPr/>
        </p:nvSpPr>
        <p:spPr>
          <a:xfrm>
            <a:off x="857707" y="7053682"/>
            <a:ext cx="1562710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W06</a:t>
            </a:r>
            <a:endParaRPr lang="en-US" sz="1950" dirty="0"/>
          </a:p>
        </p:txBody>
      </p:sp>
      <p:sp>
        <p:nvSpPr>
          <p:cNvPr id="58" name="Text 53"/>
          <p:cNvSpPr txBox="1"/>
          <p:nvPr/>
        </p:nvSpPr>
        <p:spPr>
          <a:xfrm>
            <a:off x="4849978" y="7053682"/>
            <a:ext cx="2800807" cy="819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16.55</a:t>
            </a:r>
            <a:endParaRPr lang="en-US" sz="1950" dirty="0"/>
          </a:p>
        </p:txBody>
      </p:sp>
      <p:sp>
        <p:nvSpPr>
          <p:cNvPr id="59" name="Text 54"/>
          <p:cNvSpPr txBox="1"/>
          <p:nvPr/>
        </p:nvSpPr>
        <p:spPr>
          <a:xfrm>
            <a:off x="7642555" y="7053682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0.32</a:t>
            </a:r>
            <a:endParaRPr lang="en-US" sz="1650" dirty="0"/>
          </a:p>
        </p:txBody>
      </p:sp>
      <p:sp>
        <p:nvSpPr>
          <p:cNvPr id="60" name="Text 55"/>
          <p:cNvSpPr txBox="1"/>
          <p:nvPr/>
        </p:nvSpPr>
        <p:spPr>
          <a:xfrm>
            <a:off x="10067544" y="7053682"/>
            <a:ext cx="242956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1.48</a:t>
            </a:r>
            <a:endParaRPr lang="en-US" sz="1650" dirty="0"/>
          </a:p>
        </p:txBody>
      </p:sp>
      <p:sp>
        <p:nvSpPr>
          <p:cNvPr id="61" name="Text 56"/>
          <p:cNvSpPr txBox="1"/>
          <p:nvPr/>
        </p:nvSpPr>
        <p:spPr>
          <a:xfrm>
            <a:off x="12496190" y="7053682"/>
            <a:ext cx="243870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−0.35</a:t>
            </a:r>
            <a:endParaRPr lang="en-US" sz="1650" dirty="0"/>
          </a:p>
        </p:txBody>
      </p:sp>
      <p:sp>
        <p:nvSpPr>
          <p:cNvPr id="62" name="Text 57"/>
          <p:cNvSpPr txBox="1"/>
          <p:nvPr/>
        </p:nvSpPr>
        <p:spPr>
          <a:xfrm>
            <a:off x="14933066" y="7053682"/>
            <a:ext cx="250545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1500" dirty="0"/>
          </a:p>
        </p:txBody>
      </p:sp>
      <p:sp>
        <p:nvSpPr>
          <p:cNvPr id="63" name="Text 58"/>
          <p:cNvSpPr txBox="1"/>
          <p:nvPr/>
        </p:nvSpPr>
        <p:spPr>
          <a:xfrm>
            <a:off x="2507285" y="3195828"/>
            <a:ext cx="1076249" cy="342900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350" dirty="0"/>
          </a:p>
        </p:txBody>
      </p:sp>
      <p:sp>
        <p:nvSpPr>
          <p:cNvPr id="64" name="Text 59"/>
          <p:cNvSpPr txBox="1"/>
          <p:nvPr/>
        </p:nvSpPr>
        <p:spPr>
          <a:xfrm>
            <a:off x="2507285" y="4015130"/>
            <a:ext cx="1076249" cy="342900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350" dirty="0"/>
          </a:p>
        </p:txBody>
      </p:sp>
      <p:sp>
        <p:nvSpPr>
          <p:cNvPr id="65" name="Text 60"/>
          <p:cNvSpPr txBox="1"/>
          <p:nvPr/>
        </p:nvSpPr>
        <p:spPr>
          <a:xfrm>
            <a:off x="2501798" y="4833518"/>
            <a:ext cx="1182319" cy="342900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350" dirty="0"/>
          </a:p>
        </p:txBody>
      </p:sp>
      <p:sp>
        <p:nvSpPr>
          <p:cNvPr id="66" name="Text 61"/>
          <p:cNvSpPr txBox="1"/>
          <p:nvPr/>
        </p:nvSpPr>
        <p:spPr>
          <a:xfrm>
            <a:off x="2501798" y="5652821"/>
            <a:ext cx="1182319" cy="342900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350" dirty="0"/>
          </a:p>
        </p:txBody>
      </p:sp>
      <p:sp>
        <p:nvSpPr>
          <p:cNvPr id="67" name="Text 62"/>
          <p:cNvSpPr txBox="1"/>
          <p:nvPr/>
        </p:nvSpPr>
        <p:spPr>
          <a:xfrm>
            <a:off x="2501798" y="6472123"/>
            <a:ext cx="1182319" cy="342900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350" dirty="0"/>
          </a:p>
        </p:txBody>
      </p:sp>
      <p:sp>
        <p:nvSpPr>
          <p:cNvPr id="68" name="Text 63"/>
          <p:cNvSpPr txBox="1"/>
          <p:nvPr/>
        </p:nvSpPr>
        <p:spPr>
          <a:xfrm>
            <a:off x="2501798" y="7291426"/>
            <a:ext cx="1182319" cy="342900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350" dirty="0"/>
          </a:p>
        </p:txBody>
      </p:sp>
      <p:sp>
        <p:nvSpPr>
          <p:cNvPr id="69" name="Text 64"/>
          <p:cNvSpPr txBox="1"/>
          <p:nvPr/>
        </p:nvSpPr>
        <p:spPr>
          <a:xfrm>
            <a:off x="1143000" y="7696505"/>
            <a:ext cx="386059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ASEI는 trench CD — etch profile 직접 반영</a:t>
            </a:r>
            <a:endParaRPr lang="en-US" sz="1350" dirty="0"/>
          </a:p>
        </p:txBody>
      </p:sp>
      <p:sp>
        <p:nvSpPr>
          <p:cNvPr id="70" name="Text 65"/>
          <p:cNvSpPr txBox="1"/>
          <p:nvPr/>
        </p:nvSpPr>
        <p:spPr>
          <a:xfrm>
            <a:off x="12573000" y="7696505"/>
            <a:ext cx="149321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3σ avg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0.21</a:t>
            </a:r>
            <a:endParaRPr lang="en-US" sz="1350" dirty="0"/>
          </a:p>
        </p:txBody>
      </p:sp>
      <p:sp>
        <p:nvSpPr>
          <p:cNvPr id="71" name="Text 66"/>
          <p:cNvSpPr txBox="1"/>
          <p:nvPr/>
        </p:nvSpPr>
        <p:spPr>
          <a:xfrm>
            <a:off x="14201546" y="7696505"/>
            <a:ext cx="16002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3σ avg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0.26</a:t>
            </a:r>
            <a:endParaRPr lang="en-US" sz="1350" dirty="0"/>
          </a:p>
        </p:txBody>
      </p:sp>
      <p:sp>
        <p:nvSpPr>
          <p:cNvPr id="72" name="Text 67"/>
          <p:cNvSpPr txBox="1"/>
          <p:nvPr/>
        </p:nvSpPr>
        <p:spPr>
          <a:xfrm>
            <a:off x="15930677" y="7696505"/>
            <a:ext cx="16002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3σ avg </a:t>
            </a:r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0.34</a:t>
            </a:r>
            <a:endParaRPr lang="en-US" sz="1350" dirty="0"/>
          </a:p>
        </p:txBody>
      </p:sp>
      <p:sp>
        <p:nvSpPr>
          <p:cNvPr id="73" name="Text 68"/>
          <p:cNvSpPr txBox="1"/>
          <p:nvPr/>
        </p:nvSpPr>
        <p:spPr>
          <a:xfrm>
            <a:off x="1143000" y="8706002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 Δ −0.48 nm까지 벌어지는 dummy — 30% 조건은 trench profile 손실이 누적된 결과로 정리</a:t>
            </a:r>
            <a:endParaRPr lang="en-US" sz="1500" dirty="0"/>
          </a:p>
        </p:txBody>
      </p:sp>
      <p:sp>
        <p:nvSpPr>
          <p:cNvPr id="74" name="Text 69"/>
          <p:cNvSpPr txBox="1"/>
          <p:nvPr/>
        </p:nvSpPr>
        <p:spPr>
          <a:xfrm>
            <a:off x="12191695" y="9620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75" name="Text 70"/>
          <p:cNvSpPr txBox="1"/>
          <p:nvPr/>
        </p:nvSpPr>
        <p:spPr>
          <a:xfrm>
            <a:off x="857707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05 / 12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190902"/>
            <a:ext cx="8210398" cy="57342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239098" y="2190902"/>
            <a:ext cx="8210398" cy="57342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8096098"/>
            <a:ext cx="16573500" cy="476402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7707" y="8762695"/>
            <a:ext cx="16592702" cy="495605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pic>
        <p:nvPicPr>
          <p:cNvPr id="7" name="Image 0" descr="gen-dedup-a7268e0317a91ad8c0e07bce0257c415.png">    </p:cNvPr>
          <p:cNvPicPr>
            <a:picLocks noChangeAspect="1"/>
          </p:cNvPicPr>
          <p:nvPr/>
        </p:nvPicPr>
        <p:blipFill>
          <a:blip r:embed="rId1"/>
          <a:srcRect l="0" r="0" t="-402" b="-402"/>
          <a:stretch/>
        </p:blipFill>
        <p:spPr>
          <a:xfrm>
            <a:off x="857707" y="2190902"/>
            <a:ext cx="8191195" cy="57607"/>
          </a:xfrm>
          <a:prstGeom prst="rect">
            <a:avLst/>
          </a:prstGeom>
        </p:spPr>
      </p:pic>
      <p:pic>
        <p:nvPicPr>
          <p:cNvPr id="8" name="Image 1" descr="gen-dedup-bfb0950ffde85435223f1de84a11bee6.png">    </p:cNvPr>
          <p:cNvPicPr>
            <a:picLocks noChangeAspect="1"/>
          </p:cNvPicPr>
          <p:nvPr/>
        </p:nvPicPr>
        <p:blipFill>
          <a:blip r:embed="rId2"/>
          <a:srcRect l="0" r="0" t="-402" b="-402"/>
          <a:stretch/>
        </p:blipFill>
        <p:spPr>
          <a:xfrm>
            <a:off x="9239098" y="2190902"/>
            <a:ext cx="8191195" cy="57607"/>
          </a:xfrm>
          <a:prstGeom prst="rect">
            <a:avLst/>
          </a:prstGeom>
        </p:spPr>
      </p:pic>
      <p:pic>
        <p:nvPicPr>
          <p:cNvPr id="9" name="Image 2" descr="gen-dedup-80ebe23ce68bb7ff91f8276d8f8d2775.png">    </p:cNvPr>
          <p:cNvPicPr>
            <a:picLocks noChangeAspect="1"/>
          </p:cNvPicPr>
          <p:nvPr/>
        </p:nvPicPr>
        <p:blipFill>
          <a:blip r:embed="rId3"/>
          <a:srcRect l="-384" r="-384" t="0" b="0"/>
          <a:stretch/>
        </p:blipFill>
        <p:spPr>
          <a:xfrm>
            <a:off x="857707" y="8762695"/>
            <a:ext cx="57607" cy="476402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57707" y="743407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· AMI / ACI CD VARIATION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857707" y="1123798"/>
            <a:ext cx="121926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· ACI · 동일 wafer에서 동시 측정</a:t>
            </a:r>
            <a:endParaRPr lang="en-US" sz="3000" dirty="0"/>
          </a:p>
        </p:txBody>
      </p:sp>
      <p:sp>
        <p:nvSpPr>
          <p:cNvPr id="12" name="Text 6"/>
          <p:cNvSpPr txBox="1"/>
          <p:nvPr/>
        </p:nvSpPr>
        <p:spPr>
          <a:xfrm>
            <a:off x="857707" y="1668780"/>
            <a:ext cx="12192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 AMI </a:t>
            </a:r>
            <a:pPr algn="l" indent="0" marL="0">
              <a:buNone/>
            </a:pPr>
            <a:r>
              <a:rPr lang="en-US" sz="13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8.1 nm</a:t>
            </a:r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ACI </a:t>
            </a:r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9.3 nm</a:t>
            </a:r>
            <a:endParaRPr lang="en-US" sz="135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2419502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· 03 · LINE CD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2667305"/>
            <a:ext cx="5715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</a:t>
            </a:r>
            <a:endParaRPr lang="en-US" sz="2400" dirty="0"/>
          </a:p>
        </p:txBody>
      </p:sp>
      <p:sp>
        <p:nvSpPr>
          <p:cNvPr id="15" name="Text 9"/>
          <p:cNvSpPr txBox="1"/>
          <p:nvPr/>
        </p:nvSpPr>
        <p:spPr>
          <a:xfrm>
            <a:off x="7429500" y="2419502"/>
            <a:ext cx="1524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7429500" y="2638044"/>
            <a:ext cx="1524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8.1</a:t>
            </a:r>
            <a:endParaRPr lang="en-US" sz="2400" dirty="0"/>
          </a:p>
        </p:txBody>
      </p:sp>
      <p:sp>
        <p:nvSpPr>
          <p:cNvPr id="17" name="Shape 11"/>
          <p:cNvSpPr/>
          <p:nvPr/>
        </p:nvSpPr>
        <p:spPr>
          <a:xfrm>
            <a:off x="1143000" y="3648456"/>
            <a:ext cx="7619695" cy="9144"/>
          </a:xfrm>
          <a:prstGeom prst="rect">
            <a:avLst/>
          </a:prstGeom>
          <a:solidFill>
            <a:srgbClr val="3F5784"/>
          </a:solidFill>
          <a:ln w="12700">
            <a:solidFill>
              <a:srgbClr val="3F5784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143000" y="3238805"/>
            <a:ext cx="8961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</a:t>
            </a:r>
            <a:endParaRPr lang="en-US" sz="975" dirty="0"/>
          </a:p>
        </p:txBody>
      </p:sp>
      <p:sp>
        <p:nvSpPr>
          <p:cNvPr id="19" name="Text 13"/>
          <p:cNvSpPr txBox="1"/>
          <p:nvPr/>
        </p:nvSpPr>
        <p:spPr>
          <a:xfrm>
            <a:off x="2036369" y="3238805"/>
            <a:ext cx="191475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</a:t>
            </a:r>
            <a:endParaRPr lang="en-US" sz="975" dirty="0"/>
          </a:p>
        </p:txBody>
      </p:sp>
      <p:sp>
        <p:nvSpPr>
          <p:cNvPr id="20" name="Text 14"/>
          <p:cNvSpPr txBox="1"/>
          <p:nvPr/>
        </p:nvSpPr>
        <p:spPr>
          <a:xfrm>
            <a:off x="3948379" y="3238805"/>
            <a:ext cx="13716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MEAN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5313578" y="3238805"/>
            <a:ext cx="12198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3σ</a:t>
            </a:r>
            <a:endParaRPr lang="en-US" sz="975" dirty="0"/>
          </a:p>
        </p:txBody>
      </p:sp>
      <p:sp>
        <p:nvSpPr>
          <p:cNvPr id="22" name="Text 16"/>
          <p:cNvSpPr txBox="1"/>
          <p:nvPr/>
        </p:nvSpPr>
        <p:spPr>
          <a:xfrm>
            <a:off x="6530645" y="3238805"/>
            <a:ext cx="12198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RNG</a:t>
            </a:r>
            <a:endParaRPr lang="en-US" sz="975" dirty="0"/>
          </a:p>
        </p:txBody>
      </p:sp>
      <p:sp>
        <p:nvSpPr>
          <p:cNvPr id="23" name="Text 17"/>
          <p:cNvSpPr txBox="1"/>
          <p:nvPr/>
        </p:nvSpPr>
        <p:spPr>
          <a:xfrm>
            <a:off x="7747711" y="3238805"/>
            <a:ext cx="101955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</a:t>
            </a:r>
            <a:endParaRPr lang="en-US" sz="975" dirty="0"/>
          </a:p>
        </p:txBody>
      </p:sp>
      <p:sp>
        <p:nvSpPr>
          <p:cNvPr id="24" name="Shape 18"/>
          <p:cNvSpPr/>
          <p:nvPr/>
        </p:nvSpPr>
        <p:spPr>
          <a:xfrm>
            <a:off x="1143000" y="4301338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1143000" y="3653028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W01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3948379" y="3653028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8.12</a:t>
            </a:r>
            <a:endParaRPr lang="en-US" sz="1650" dirty="0"/>
          </a:p>
        </p:txBody>
      </p:sp>
      <p:sp>
        <p:nvSpPr>
          <p:cNvPr id="27" name="Text 21"/>
          <p:cNvSpPr txBox="1"/>
          <p:nvPr/>
        </p:nvSpPr>
        <p:spPr>
          <a:xfrm>
            <a:off x="5313578" y="3653028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0.18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6530645" y="3653028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0.74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7747711" y="3653028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B9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+0.02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1143000" y="4958791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143000" y="4310482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W02</a:t>
            </a:r>
            <a:endParaRPr lang="en-US" sz="1650" dirty="0"/>
          </a:p>
        </p:txBody>
      </p:sp>
      <p:sp>
        <p:nvSpPr>
          <p:cNvPr id="32" name="Text 26"/>
          <p:cNvSpPr txBox="1"/>
          <p:nvPr/>
        </p:nvSpPr>
        <p:spPr>
          <a:xfrm>
            <a:off x="3948379" y="4310482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8.09</a:t>
            </a:r>
            <a:endParaRPr lang="en-US" sz="1650" dirty="0"/>
          </a:p>
        </p:txBody>
      </p:sp>
      <p:sp>
        <p:nvSpPr>
          <p:cNvPr id="33" name="Text 27"/>
          <p:cNvSpPr txBox="1"/>
          <p:nvPr/>
        </p:nvSpPr>
        <p:spPr>
          <a:xfrm>
            <a:off x="5313578" y="4310482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0.16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530645" y="4310482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0.69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7747711" y="4310482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B9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−0.01</a:t>
            </a:r>
            <a:endParaRPr lang="en-US" sz="1350" dirty="0"/>
          </a:p>
        </p:txBody>
      </p:sp>
      <p:sp>
        <p:nvSpPr>
          <p:cNvPr id="36" name="Shape 30"/>
          <p:cNvSpPr/>
          <p:nvPr/>
        </p:nvSpPr>
        <p:spPr>
          <a:xfrm>
            <a:off x="1143000" y="5615330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143000" y="4967021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W03</a:t>
            </a:r>
            <a:endParaRPr lang="en-US" sz="1650" dirty="0"/>
          </a:p>
        </p:txBody>
      </p:sp>
      <p:sp>
        <p:nvSpPr>
          <p:cNvPr id="38" name="Text 32"/>
          <p:cNvSpPr txBox="1"/>
          <p:nvPr/>
        </p:nvSpPr>
        <p:spPr>
          <a:xfrm>
            <a:off x="3948379" y="4967021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8.04</a:t>
            </a:r>
            <a:endParaRPr lang="en-US" sz="1650" dirty="0"/>
          </a:p>
        </p:txBody>
      </p:sp>
      <p:sp>
        <p:nvSpPr>
          <p:cNvPr id="39" name="Text 33"/>
          <p:cNvSpPr txBox="1"/>
          <p:nvPr/>
        </p:nvSpPr>
        <p:spPr>
          <a:xfrm>
            <a:off x="5313578" y="4967021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0.21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6530645" y="4967021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0.81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7747711" y="4967021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B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−0.06</a:t>
            </a:r>
            <a:endParaRPr lang="en-US" sz="1350" dirty="0"/>
          </a:p>
        </p:txBody>
      </p:sp>
      <p:sp>
        <p:nvSpPr>
          <p:cNvPr id="42" name="Shape 36"/>
          <p:cNvSpPr/>
          <p:nvPr/>
        </p:nvSpPr>
        <p:spPr>
          <a:xfrm>
            <a:off x="1143000" y="6272784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1143000" y="5624474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W04</a:t>
            </a:r>
            <a:endParaRPr lang="en-US" sz="1650" dirty="0"/>
          </a:p>
        </p:txBody>
      </p:sp>
      <p:sp>
        <p:nvSpPr>
          <p:cNvPr id="44" name="Text 38"/>
          <p:cNvSpPr txBox="1"/>
          <p:nvPr/>
        </p:nvSpPr>
        <p:spPr>
          <a:xfrm>
            <a:off x="3948379" y="5624474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7.98</a:t>
            </a:r>
            <a:endParaRPr lang="en-US" sz="1650" dirty="0"/>
          </a:p>
        </p:txBody>
      </p:sp>
      <p:sp>
        <p:nvSpPr>
          <p:cNvPr id="45" name="Text 39"/>
          <p:cNvSpPr txBox="1"/>
          <p:nvPr/>
        </p:nvSpPr>
        <p:spPr>
          <a:xfrm>
            <a:off x="5313578" y="5624474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0.19</a:t>
            </a:r>
            <a:endParaRPr 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6530645" y="5624474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0.76</a:t>
            </a:r>
            <a:endParaRPr lang="en-US" sz="1350" dirty="0"/>
          </a:p>
        </p:txBody>
      </p:sp>
      <p:sp>
        <p:nvSpPr>
          <p:cNvPr id="47" name="Text 41"/>
          <p:cNvSpPr txBox="1"/>
          <p:nvPr/>
        </p:nvSpPr>
        <p:spPr>
          <a:xfrm>
            <a:off x="7747711" y="5624474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B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−0.12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1143000" y="6930238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1143000" y="6281928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W05</a:t>
            </a:r>
            <a:endParaRPr lang="en-US" sz="1650" dirty="0"/>
          </a:p>
        </p:txBody>
      </p:sp>
      <p:sp>
        <p:nvSpPr>
          <p:cNvPr id="50" name="Text 44"/>
          <p:cNvSpPr txBox="1"/>
          <p:nvPr/>
        </p:nvSpPr>
        <p:spPr>
          <a:xfrm>
            <a:off x="3948379" y="6281928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7.83</a:t>
            </a:r>
            <a:endParaRPr lang="en-US" sz="1650" dirty="0"/>
          </a:p>
        </p:txBody>
      </p:sp>
      <p:sp>
        <p:nvSpPr>
          <p:cNvPr id="51" name="Text 45"/>
          <p:cNvSpPr txBox="1"/>
          <p:nvPr/>
        </p:nvSpPr>
        <p:spPr>
          <a:xfrm>
            <a:off x="5313578" y="6281928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0.27</a:t>
            </a:r>
            <a:endParaRPr lang="en-US" sz="1350" dirty="0"/>
          </a:p>
        </p:txBody>
      </p:sp>
      <p:sp>
        <p:nvSpPr>
          <p:cNvPr id="52" name="Text 46"/>
          <p:cNvSpPr txBox="1"/>
          <p:nvPr/>
        </p:nvSpPr>
        <p:spPr>
          <a:xfrm>
            <a:off x="6530645" y="6281928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1.08</a:t>
            </a:r>
            <a:endParaRPr lang="en-US" sz="1350" dirty="0"/>
          </a:p>
        </p:txBody>
      </p:sp>
      <p:sp>
        <p:nvSpPr>
          <p:cNvPr id="53" name="Text 47"/>
          <p:cNvSpPr txBox="1"/>
          <p:nvPr/>
        </p:nvSpPr>
        <p:spPr>
          <a:xfrm>
            <a:off x="7747711" y="6281928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−0.27</a:t>
            </a:r>
            <a:endParaRPr lang="en-US" sz="1350" dirty="0"/>
          </a:p>
        </p:txBody>
      </p:sp>
      <p:sp>
        <p:nvSpPr>
          <p:cNvPr id="54" name="Text 48"/>
          <p:cNvSpPr txBox="1"/>
          <p:nvPr/>
        </p:nvSpPr>
        <p:spPr>
          <a:xfrm>
            <a:off x="1143000" y="6939382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W06</a:t>
            </a:r>
            <a:endParaRPr lang="en-US" sz="1650" dirty="0"/>
          </a:p>
        </p:txBody>
      </p:sp>
      <p:sp>
        <p:nvSpPr>
          <p:cNvPr id="55" name="Text 49"/>
          <p:cNvSpPr txBox="1"/>
          <p:nvPr/>
        </p:nvSpPr>
        <p:spPr>
          <a:xfrm>
            <a:off x="3948379" y="6939382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7.91</a:t>
            </a:r>
            <a:endParaRPr lang="en-US" sz="1650" dirty="0"/>
          </a:p>
        </p:txBody>
      </p:sp>
      <p:sp>
        <p:nvSpPr>
          <p:cNvPr id="56" name="Text 50"/>
          <p:cNvSpPr txBox="1"/>
          <p:nvPr/>
        </p:nvSpPr>
        <p:spPr>
          <a:xfrm>
            <a:off x="5313578" y="6939382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0.23</a:t>
            </a:r>
            <a:endParaRPr lang="en-US" sz="1350" dirty="0"/>
          </a:p>
        </p:txBody>
      </p:sp>
      <p:sp>
        <p:nvSpPr>
          <p:cNvPr id="57" name="Text 51"/>
          <p:cNvSpPr txBox="1"/>
          <p:nvPr/>
        </p:nvSpPr>
        <p:spPr>
          <a:xfrm>
            <a:off x="6530645" y="6939382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0.96</a:t>
            </a:r>
            <a:endParaRPr lang="en-US" sz="1350" dirty="0"/>
          </a:p>
        </p:txBody>
      </p:sp>
      <p:sp>
        <p:nvSpPr>
          <p:cNvPr id="58" name="Text 52"/>
          <p:cNvSpPr txBox="1"/>
          <p:nvPr/>
        </p:nvSpPr>
        <p:spPr>
          <a:xfrm>
            <a:off x="7747711" y="6939382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−0.19</a:t>
            </a:r>
            <a:endParaRPr lang="en-US" sz="1350" dirty="0"/>
          </a:p>
        </p:txBody>
      </p:sp>
      <p:sp>
        <p:nvSpPr>
          <p:cNvPr id="59" name="Text 53"/>
          <p:cNvSpPr txBox="1"/>
          <p:nvPr/>
        </p:nvSpPr>
        <p:spPr>
          <a:xfrm>
            <a:off x="2548433" y="3847795"/>
            <a:ext cx="896112" cy="267005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050" dirty="0"/>
          </a:p>
        </p:txBody>
      </p:sp>
      <p:sp>
        <p:nvSpPr>
          <p:cNvPr id="60" name="Text 54"/>
          <p:cNvSpPr txBox="1"/>
          <p:nvPr/>
        </p:nvSpPr>
        <p:spPr>
          <a:xfrm>
            <a:off x="2548433" y="4505249"/>
            <a:ext cx="896112" cy="267005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050" dirty="0"/>
          </a:p>
        </p:txBody>
      </p:sp>
      <p:sp>
        <p:nvSpPr>
          <p:cNvPr id="61" name="Text 55"/>
          <p:cNvSpPr txBox="1"/>
          <p:nvPr/>
        </p:nvSpPr>
        <p:spPr>
          <a:xfrm>
            <a:off x="2505456" y="5162702"/>
            <a:ext cx="979322" cy="267005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050" dirty="0"/>
          </a:p>
        </p:txBody>
      </p:sp>
      <p:sp>
        <p:nvSpPr>
          <p:cNvPr id="62" name="Text 56"/>
          <p:cNvSpPr txBox="1"/>
          <p:nvPr/>
        </p:nvSpPr>
        <p:spPr>
          <a:xfrm>
            <a:off x="2505456" y="5820156"/>
            <a:ext cx="979322" cy="267005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050" dirty="0"/>
          </a:p>
        </p:txBody>
      </p:sp>
      <p:sp>
        <p:nvSpPr>
          <p:cNvPr id="63" name="Text 57"/>
          <p:cNvSpPr txBox="1"/>
          <p:nvPr/>
        </p:nvSpPr>
        <p:spPr>
          <a:xfrm>
            <a:off x="2505456" y="6476695"/>
            <a:ext cx="979322" cy="267005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050" dirty="0"/>
          </a:p>
        </p:txBody>
      </p:sp>
      <p:sp>
        <p:nvSpPr>
          <p:cNvPr id="64" name="Text 58"/>
          <p:cNvSpPr txBox="1"/>
          <p:nvPr/>
        </p:nvSpPr>
        <p:spPr>
          <a:xfrm>
            <a:off x="2505456" y="7134149"/>
            <a:ext cx="979322" cy="267005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050" dirty="0"/>
          </a:p>
        </p:txBody>
      </p:sp>
      <p:sp>
        <p:nvSpPr>
          <p:cNvPr id="65" name="Text 59"/>
          <p:cNvSpPr txBox="1"/>
          <p:nvPr/>
        </p:nvSpPr>
        <p:spPr>
          <a:xfrm>
            <a:off x="9525305" y="2419502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METRIC · 04 · VIA TOP CD</a:t>
            </a:r>
            <a:endParaRPr lang="en-US" sz="1050" dirty="0"/>
          </a:p>
        </p:txBody>
      </p:sp>
      <p:sp>
        <p:nvSpPr>
          <p:cNvPr id="66" name="Text 60"/>
          <p:cNvSpPr txBox="1"/>
          <p:nvPr/>
        </p:nvSpPr>
        <p:spPr>
          <a:xfrm>
            <a:off x="9525305" y="2667305"/>
            <a:ext cx="5715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ACI</a:t>
            </a:r>
            <a:endParaRPr lang="en-US" sz="2400" dirty="0"/>
          </a:p>
        </p:txBody>
      </p:sp>
      <p:sp>
        <p:nvSpPr>
          <p:cNvPr id="67" name="Text 61"/>
          <p:cNvSpPr txBox="1"/>
          <p:nvPr/>
        </p:nvSpPr>
        <p:spPr>
          <a:xfrm>
            <a:off x="15811805" y="2419502"/>
            <a:ext cx="1524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</a:t>
            </a:r>
            <a:endParaRPr lang="en-US" sz="975" dirty="0"/>
          </a:p>
        </p:txBody>
      </p:sp>
      <p:sp>
        <p:nvSpPr>
          <p:cNvPr id="68" name="Text 62"/>
          <p:cNvSpPr txBox="1"/>
          <p:nvPr/>
        </p:nvSpPr>
        <p:spPr>
          <a:xfrm>
            <a:off x="15811805" y="2638044"/>
            <a:ext cx="15243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9.3</a:t>
            </a:r>
            <a:endParaRPr lang="en-US" sz="2400" dirty="0"/>
          </a:p>
        </p:txBody>
      </p:sp>
      <p:sp>
        <p:nvSpPr>
          <p:cNvPr id="69" name="Shape 63"/>
          <p:cNvSpPr/>
          <p:nvPr/>
        </p:nvSpPr>
        <p:spPr>
          <a:xfrm>
            <a:off x="9525305" y="3648456"/>
            <a:ext cx="7619695" cy="9144"/>
          </a:xfrm>
          <a:prstGeom prst="rect">
            <a:avLst/>
          </a:prstGeom>
          <a:solidFill>
            <a:srgbClr val="3F5784"/>
          </a:solidFill>
          <a:ln w="12700">
            <a:solidFill>
              <a:srgbClr val="3F5784">
                <a:alpha val="0"/>
              </a:srgbClr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9525305" y="3238805"/>
            <a:ext cx="896112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</a:t>
            </a:r>
            <a:endParaRPr lang="en-US" sz="975" dirty="0"/>
          </a:p>
        </p:txBody>
      </p:sp>
      <p:sp>
        <p:nvSpPr>
          <p:cNvPr id="71" name="Text 65"/>
          <p:cNvSpPr txBox="1"/>
          <p:nvPr/>
        </p:nvSpPr>
        <p:spPr>
          <a:xfrm>
            <a:off x="10417759" y="3238805"/>
            <a:ext cx="1914754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</a:t>
            </a:r>
            <a:endParaRPr lang="en-US" sz="975" dirty="0"/>
          </a:p>
        </p:txBody>
      </p:sp>
      <p:sp>
        <p:nvSpPr>
          <p:cNvPr id="72" name="Text 66"/>
          <p:cNvSpPr txBox="1"/>
          <p:nvPr/>
        </p:nvSpPr>
        <p:spPr>
          <a:xfrm>
            <a:off x="12329770" y="3238805"/>
            <a:ext cx="13716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MEAN</a:t>
            </a:r>
            <a:endParaRPr lang="en-US" sz="975" dirty="0"/>
          </a:p>
        </p:txBody>
      </p:sp>
      <p:sp>
        <p:nvSpPr>
          <p:cNvPr id="73" name="Text 67"/>
          <p:cNvSpPr txBox="1"/>
          <p:nvPr/>
        </p:nvSpPr>
        <p:spPr>
          <a:xfrm>
            <a:off x="13694969" y="3238805"/>
            <a:ext cx="12198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3σ</a:t>
            </a:r>
            <a:endParaRPr lang="en-US" sz="975" dirty="0"/>
          </a:p>
        </p:txBody>
      </p:sp>
      <p:sp>
        <p:nvSpPr>
          <p:cNvPr id="74" name="Text 68"/>
          <p:cNvSpPr txBox="1"/>
          <p:nvPr/>
        </p:nvSpPr>
        <p:spPr>
          <a:xfrm>
            <a:off x="14912950" y="3238805"/>
            <a:ext cx="12198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RNG</a:t>
            </a:r>
            <a:endParaRPr lang="en-US" sz="975" dirty="0"/>
          </a:p>
        </p:txBody>
      </p:sp>
      <p:sp>
        <p:nvSpPr>
          <p:cNvPr id="75" name="Text 69"/>
          <p:cNvSpPr txBox="1"/>
          <p:nvPr/>
        </p:nvSpPr>
        <p:spPr>
          <a:xfrm>
            <a:off x="16130016" y="3238805"/>
            <a:ext cx="1019556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spc="13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Δ</a:t>
            </a:r>
            <a:endParaRPr lang="en-US" sz="975" dirty="0"/>
          </a:p>
        </p:txBody>
      </p:sp>
      <p:sp>
        <p:nvSpPr>
          <p:cNvPr id="76" name="Shape 70"/>
          <p:cNvSpPr/>
          <p:nvPr/>
        </p:nvSpPr>
        <p:spPr>
          <a:xfrm>
            <a:off x="9525305" y="4301338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9525305" y="3653028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W01</a:t>
            </a:r>
            <a:endParaRPr lang="en-US" sz="1650" dirty="0"/>
          </a:p>
        </p:txBody>
      </p:sp>
      <p:sp>
        <p:nvSpPr>
          <p:cNvPr id="78" name="Text 72"/>
          <p:cNvSpPr txBox="1"/>
          <p:nvPr/>
        </p:nvSpPr>
        <p:spPr>
          <a:xfrm>
            <a:off x="12329770" y="3653028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9.31</a:t>
            </a:r>
            <a:endParaRPr lang="en-US" sz="1650" dirty="0"/>
          </a:p>
        </p:txBody>
      </p:sp>
      <p:sp>
        <p:nvSpPr>
          <p:cNvPr id="79" name="Text 73"/>
          <p:cNvSpPr txBox="1"/>
          <p:nvPr/>
        </p:nvSpPr>
        <p:spPr>
          <a:xfrm>
            <a:off x="13694969" y="3653028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0.20</a:t>
            </a:r>
            <a:endParaRPr lang="en-US" sz="1350" dirty="0"/>
          </a:p>
        </p:txBody>
      </p:sp>
      <p:sp>
        <p:nvSpPr>
          <p:cNvPr id="80" name="Text 74"/>
          <p:cNvSpPr txBox="1"/>
          <p:nvPr/>
        </p:nvSpPr>
        <p:spPr>
          <a:xfrm>
            <a:off x="14912950" y="3653028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0.81</a:t>
            </a:r>
            <a:endParaRPr lang="en-US" sz="1350" dirty="0"/>
          </a:p>
        </p:txBody>
      </p:sp>
      <p:sp>
        <p:nvSpPr>
          <p:cNvPr id="81" name="Text 75"/>
          <p:cNvSpPr txBox="1"/>
          <p:nvPr/>
        </p:nvSpPr>
        <p:spPr>
          <a:xfrm>
            <a:off x="16130016" y="3653028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B9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+0.01</a:t>
            </a:r>
            <a:endParaRPr lang="en-US" sz="1350" dirty="0"/>
          </a:p>
        </p:txBody>
      </p:sp>
      <p:sp>
        <p:nvSpPr>
          <p:cNvPr id="82" name="Shape 76"/>
          <p:cNvSpPr/>
          <p:nvPr/>
        </p:nvSpPr>
        <p:spPr>
          <a:xfrm>
            <a:off x="9525305" y="4958791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9525305" y="4310482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W02</a:t>
            </a:r>
            <a:endParaRPr lang="en-US" sz="1650" dirty="0"/>
          </a:p>
        </p:txBody>
      </p:sp>
      <p:sp>
        <p:nvSpPr>
          <p:cNvPr id="84" name="Text 78"/>
          <p:cNvSpPr txBox="1"/>
          <p:nvPr/>
        </p:nvSpPr>
        <p:spPr>
          <a:xfrm>
            <a:off x="12329770" y="4310482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9.28</a:t>
            </a:r>
            <a:endParaRPr lang="en-US" sz="1650" dirty="0"/>
          </a:p>
        </p:txBody>
      </p:sp>
      <p:sp>
        <p:nvSpPr>
          <p:cNvPr id="85" name="Text 79"/>
          <p:cNvSpPr txBox="1"/>
          <p:nvPr/>
        </p:nvSpPr>
        <p:spPr>
          <a:xfrm>
            <a:off x="13694969" y="4310482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0.17</a:t>
            </a:r>
            <a:endParaRPr lang="en-US" sz="1350" dirty="0"/>
          </a:p>
        </p:txBody>
      </p:sp>
      <p:sp>
        <p:nvSpPr>
          <p:cNvPr id="86" name="Text 80"/>
          <p:cNvSpPr txBox="1"/>
          <p:nvPr/>
        </p:nvSpPr>
        <p:spPr>
          <a:xfrm>
            <a:off x="14912950" y="4310482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0.74</a:t>
            </a:r>
            <a:endParaRPr lang="en-US" sz="1350" dirty="0"/>
          </a:p>
        </p:txBody>
      </p:sp>
      <p:sp>
        <p:nvSpPr>
          <p:cNvPr id="87" name="Text 81"/>
          <p:cNvSpPr txBox="1"/>
          <p:nvPr/>
        </p:nvSpPr>
        <p:spPr>
          <a:xfrm>
            <a:off x="16130016" y="4310482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CB9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−0.02</a:t>
            </a:r>
            <a:endParaRPr lang="en-US" sz="1350" dirty="0"/>
          </a:p>
        </p:txBody>
      </p:sp>
      <p:sp>
        <p:nvSpPr>
          <p:cNvPr id="88" name="Shape 82"/>
          <p:cNvSpPr/>
          <p:nvPr/>
        </p:nvSpPr>
        <p:spPr>
          <a:xfrm>
            <a:off x="9525305" y="5615330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9525305" y="4967021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W03</a:t>
            </a:r>
            <a:endParaRPr lang="en-US" sz="1650" dirty="0"/>
          </a:p>
        </p:txBody>
      </p:sp>
      <p:sp>
        <p:nvSpPr>
          <p:cNvPr id="90" name="Text 84"/>
          <p:cNvSpPr txBox="1"/>
          <p:nvPr/>
        </p:nvSpPr>
        <p:spPr>
          <a:xfrm>
            <a:off x="12329770" y="4967021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9.18</a:t>
            </a:r>
            <a:endParaRPr lang="en-US" sz="1650" dirty="0"/>
          </a:p>
        </p:txBody>
      </p:sp>
      <p:sp>
        <p:nvSpPr>
          <p:cNvPr id="91" name="Text 85"/>
          <p:cNvSpPr txBox="1"/>
          <p:nvPr/>
        </p:nvSpPr>
        <p:spPr>
          <a:xfrm>
            <a:off x="13694969" y="4967021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0.23</a:t>
            </a:r>
            <a:endParaRPr lang="en-US" sz="1350" dirty="0"/>
          </a:p>
        </p:txBody>
      </p:sp>
      <p:sp>
        <p:nvSpPr>
          <p:cNvPr id="92" name="Text 86"/>
          <p:cNvSpPr txBox="1"/>
          <p:nvPr/>
        </p:nvSpPr>
        <p:spPr>
          <a:xfrm>
            <a:off x="14912950" y="4967021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0.91</a:t>
            </a:r>
            <a:endParaRPr lang="en-US" sz="1350" dirty="0"/>
          </a:p>
        </p:txBody>
      </p:sp>
      <p:sp>
        <p:nvSpPr>
          <p:cNvPr id="93" name="Text 87"/>
          <p:cNvSpPr txBox="1"/>
          <p:nvPr/>
        </p:nvSpPr>
        <p:spPr>
          <a:xfrm>
            <a:off x="16130016" y="4967021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B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−0.12</a:t>
            </a:r>
            <a:endParaRPr lang="en-US" sz="1350" dirty="0"/>
          </a:p>
        </p:txBody>
      </p:sp>
      <p:sp>
        <p:nvSpPr>
          <p:cNvPr id="94" name="Shape 88"/>
          <p:cNvSpPr/>
          <p:nvPr/>
        </p:nvSpPr>
        <p:spPr>
          <a:xfrm>
            <a:off x="9525305" y="6272784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95" name="Text 89"/>
          <p:cNvSpPr txBox="1"/>
          <p:nvPr/>
        </p:nvSpPr>
        <p:spPr>
          <a:xfrm>
            <a:off x="9525305" y="5624474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W04</a:t>
            </a:r>
            <a:endParaRPr lang="en-US" sz="1650" dirty="0"/>
          </a:p>
        </p:txBody>
      </p:sp>
      <p:sp>
        <p:nvSpPr>
          <p:cNvPr id="96" name="Text 90"/>
          <p:cNvSpPr txBox="1"/>
          <p:nvPr/>
        </p:nvSpPr>
        <p:spPr>
          <a:xfrm>
            <a:off x="12329770" y="5624474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9.21</a:t>
            </a:r>
            <a:endParaRPr lang="en-US" sz="1650" dirty="0"/>
          </a:p>
        </p:txBody>
      </p:sp>
      <p:sp>
        <p:nvSpPr>
          <p:cNvPr id="97" name="Text 91"/>
          <p:cNvSpPr txBox="1"/>
          <p:nvPr/>
        </p:nvSpPr>
        <p:spPr>
          <a:xfrm>
            <a:off x="13694969" y="5624474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0.21</a:t>
            </a:r>
            <a:endParaRPr lang="en-US" sz="1350" dirty="0"/>
          </a:p>
        </p:txBody>
      </p:sp>
      <p:sp>
        <p:nvSpPr>
          <p:cNvPr id="98" name="Text 92"/>
          <p:cNvSpPr txBox="1"/>
          <p:nvPr/>
        </p:nvSpPr>
        <p:spPr>
          <a:xfrm>
            <a:off x="14912950" y="5624474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0.84</a:t>
            </a:r>
            <a:endParaRPr lang="en-US" sz="1350" dirty="0"/>
          </a:p>
        </p:txBody>
      </p:sp>
      <p:sp>
        <p:nvSpPr>
          <p:cNvPr id="99" name="Text 93"/>
          <p:cNvSpPr txBox="1"/>
          <p:nvPr/>
        </p:nvSpPr>
        <p:spPr>
          <a:xfrm>
            <a:off x="16130016" y="5624474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B54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−0.09</a:t>
            </a:r>
            <a:endParaRPr lang="en-US" sz="1350" dirty="0"/>
          </a:p>
        </p:txBody>
      </p:sp>
      <p:sp>
        <p:nvSpPr>
          <p:cNvPr id="100" name="Shape 94"/>
          <p:cNvSpPr/>
          <p:nvPr/>
        </p:nvSpPr>
        <p:spPr>
          <a:xfrm>
            <a:off x="9525305" y="6930238"/>
            <a:ext cx="7619695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101" name="Text 95"/>
          <p:cNvSpPr txBox="1"/>
          <p:nvPr/>
        </p:nvSpPr>
        <p:spPr>
          <a:xfrm>
            <a:off x="9525305" y="6281928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W05</a:t>
            </a:r>
            <a:endParaRPr lang="en-US" sz="1650" dirty="0"/>
          </a:p>
        </p:txBody>
      </p:sp>
      <p:sp>
        <p:nvSpPr>
          <p:cNvPr id="102" name="Text 96"/>
          <p:cNvSpPr txBox="1"/>
          <p:nvPr/>
        </p:nvSpPr>
        <p:spPr>
          <a:xfrm>
            <a:off x="12329770" y="6281928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9.02</a:t>
            </a:r>
            <a:endParaRPr lang="en-US" sz="1650" dirty="0"/>
          </a:p>
        </p:txBody>
      </p:sp>
      <p:sp>
        <p:nvSpPr>
          <p:cNvPr id="103" name="Text 97"/>
          <p:cNvSpPr txBox="1"/>
          <p:nvPr/>
        </p:nvSpPr>
        <p:spPr>
          <a:xfrm>
            <a:off x="13694969" y="6281928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0.31</a:t>
            </a:r>
            <a:endParaRPr lang="en-US" sz="1350" dirty="0"/>
          </a:p>
        </p:txBody>
      </p:sp>
      <p:sp>
        <p:nvSpPr>
          <p:cNvPr id="104" name="Text 98"/>
          <p:cNvSpPr txBox="1"/>
          <p:nvPr/>
        </p:nvSpPr>
        <p:spPr>
          <a:xfrm>
            <a:off x="14912950" y="6281928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1.24</a:t>
            </a:r>
            <a:endParaRPr lang="en-US" sz="1350" dirty="0"/>
          </a:p>
        </p:txBody>
      </p:sp>
      <p:sp>
        <p:nvSpPr>
          <p:cNvPr id="105" name="Text 99"/>
          <p:cNvSpPr txBox="1"/>
          <p:nvPr/>
        </p:nvSpPr>
        <p:spPr>
          <a:xfrm>
            <a:off x="16130016" y="6281928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−0.28</a:t>
            </a:r>
            <a:endParaRPr lang="en-US" sz="1350" dirty="0"/>
          </a:p>
        </p:txBody>
      </p:sp>
      <p:sp>
        <p:nvSpPr>
          <p:cNvPr id="106" name="Text 100"/>
          <p:cNvSpPr txBox="1"/>
          <p:nvPr/>
        </p:nvSpPr>
        <p:spPr>
          <a:xfrm>
            <a:off x="9525305" y="6939382"/>
            <a:ext cx="896112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W06</a:t>
            </a:r>
            <a:endParaRPr lang="en-US" sz="1650" dirty="0"/>
          </a:p>
        </p:txBody>
      </p:sp>
      <p:sp>
        <p:nvSpPr>
          <p:cNvPr id="107" name="Text 101"/>
          <p:cNvSpPr txBox="1"/>
          <p:nvPr/>
        </p:nvSpPr>
        <p:spPr>
          <a:xfrm>
            <a:off x="12329770" y="6939382"/>
            <a:ext cx="1371600" cy="6574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9.08</a:t>
            </a:r>
            <a:endParaRPr lang="en-US" sz="1650" dirty="0"/>
          </a:p>
        </p:txBody>
      </p:sp>
      <p:sp>
        <p:nvSpPr>
          <p:cNvPr id="108" name="Text 102"/>
          <p:cNvSpPr txBox="1"/>
          <p:nvPr/>
        </p:nvSpPr>
        <p:spPr>
          <a:xfrm>
            <a:off x="13694969" y="6939382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0.28</a:t>
            </a:r>
            <a:endParaRPr lang="en-US" sz="1350" dirty="0"/>
          </a:p>
        </p:txBody>
      </p:sp>
      <p:sp>
        <p:nvSpPr>
          <p:cNvPr id="109" name="Text 103"/>
          <p:cNvSpPr txBox="1"/>
          <p:nvPr/>
        </p:nvSpPr>
        <p:spPr>
          <a:xfrm>
            <a:off x="14912950" y="6939382"/>
            <a:ext cx="12198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1.16</a:t>
            </a:r>
            <a:endParaRPr lang="en-US" sz="1350" dirty="0"/>
          </a:p>
        </p:txBody>
      </p:sp>
      <p:sp>
        <p:nvSpPr>
          <p:cNvPr id="110" name="Text 104"/>
          <p:cNvSpPr txBox="1"/>
          <p:nvPr/>
        </p:nvSpPr>
        <p:spPr>
          <a:xfrm>
            <a:off x="16130016" y="6939382"/>
            <a:ext cx="101955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−0.22</a:t>
            </a:r>
            <a:endParaRPr lang="en-US" sz="1350" dirty="0"/>
          </a:p>
        </p:txBody>
      </p:sp>
      <p:sp>
        <p:nvSpPr>
          <p:cNvPr id="111" name="Text 105"/>
          <p:cNvSpPr txBox="1"/>
          <p:nvPr/>
        </p:nvSpPr>
        <p:spPr>
          <a:xfrm>
            <a:off x="10929823" y="3847795"/>
            <a:ext cx="896112" cy="267005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050" dirty="0"/>
          </a:p>
        </p:txBody>
      </p:sp>
      <p:sp>
        <p:nvSpPr>
          <p:cNvPr id="112" name="Text 106"/>
          <p:cNvSpPr txBox="1"/>
          <p:nvPr/>
        </p:nvSpPr>
        <p:spPr>
          <a:xfrm>
            <a:off x="10929823" y="4505249"/>
            <a:ext cx="896112" cy="267005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050" dirty="0"/>
          </a:p>
        </p:txBody>
      </p:sp>
      <p:sp>
        <p:nvSpPr>
          <p:cNvPr id="113" name="Text 107"/>
          <p:cNvSpPr txBox="1"/>
          <p:nvPr/>
        </p:nvSpPr>
        <p:spPr>
          <a:xfrm>
            <a:off x="10887761" y="5162702"/>
            <a:ext cx="979322" cy="267005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050" dirty="0"/>
          </a:p>
        </p:txBody>
      </p:sp>
      <p:sp>
        <p:nvSpPr>
          <p:cNvPr id="114" name="Text 108"/>
          <p:cNvSpPr txBox="1"/>
          <p:nvPr/>
        </p:nvSpPr>
        <p:spPr>
          <a:xfrm>
            <a:off x="10887761" y="5820156"/>
            <a:ext cx="979322" cy="267005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050" dirty="0"/>
          </a:p>
        </p:txBody>
      </p:sp>
      <p:sp>
        <p:nvSpPr>
          <p:cNvPr id="115" name="Text 109"/>
          <p:cNvSpPr txBox="1"/>
          <p:nvPr/>
        </p:nvSpPr>
        <p:spPr>
          <a:xfrm>
            <a:off x="10887761" y="6476695"/>
            <a:ext cx="979322" cy="267005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050" dirty="0"/>
          </a:p>
        </p:txBody>
      </p:sp>
      <p:sp>
        <p:nvSpPr>
          <p:cNvPr id="116" name="Text 110"/>
          <p:cNvSpPr txBox="1"/>
          <p:nvPr/>
        </p:nvSpPr>
        <p:spPr>
          <a:xfrm>
            <a:off x="10887761" y="7134149"/>
            <a:ext cx="979322" cy="267005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050" dirty="0"/>
          </a:p>
        </p:txBody>
      </p:sp>
      <p:sp>
        <p:nvSpPr>
          <p:cNvPr id="117" name="Text 111"/>
          <p:cNvSpPr txBox="1"/>
          <p:nvPr/>
        </p:nvSpPr>
        <p:spPr>
          <a:xfrm>
            <a:off x="1143000" y="8229600"/>
            <a:ext cx="58110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· ACI 모두 6 wafer 동일 site에서 측정 · dummy target 대비 음의 Δ로 누적</a:t>
            </a:r>
            <a:endParaRPr lang="en-US" sz="1200" dirty="0"/>
          </a:p>
        </p:txBody>
      </p:sp>
      <p:sp>
        <p:nvSpPr>
          <p:cNvPr id="118" name="Text 112"/>
          <p:cNvSpPr txBox="1"/>
          <p:nvPr/>
        </p:nvSpPr>
        <p:spPr>
          <a:xfrm>
            <a:off x="15232075" y="8229600"/>
            <a:ext cx="21058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spread 0.27 / 0.28 nm</a:t>
            </a:r>
            <a:endParaRPr lang="en-US" sz="1200" dirty="0"/>
          </a:p>
        </p:txBody>
      </p:sp>
      <p:sp>
        <p:nvSpPr>
          <p:cNvPr id="119" name="Text 113"/>
          <p:cNvSpPr txBox="1"/>
          <p:nvPr/>
        </p:nvSpPr>
        <p:spPr>
          <a:xfrm>
            <a:off x="1143000" y="8896198"/>
            <a:ext cx="16193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post-CMP CD(AMI·ACI)에서도 dummy로 pattern 치수 손실이 일정 부분 누적 — line·via 모두 동일 방향으로 Δ 음수화</a:t>
            </a:r>
            <a:endParaRPr lang="en-US" sz="1350" dirty="0"/>
          </a:p>
        </p:txBody>
      </p:sp>
      <p:sp>
        <p:nvSpPr>
          <p:cNvPr id="120" name="Text 114"/>
          <p:cNvSpPr txBox="1"/>
          <p:nvPr/>
        </p:nvSpPr>
        <p:spPr>
          <a:xfrm>
            <a:off x="12191695" y="9620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121" name="Text 115"/>
          <p:cNvSpPr txBox="1"/>
          <p:nvPr/>
        </p:nvSpPr>
        <p:spPr>
          <a:xfrm>
            <a:off x="857707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06 / 12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287500" y="1123798"/>
            <a:ext cx="3161995" cy="8193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57707" y="2286000"/>
            <a:ext cx="10496398" cy="53528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620195" y="2286000"/>
            <a:ext cx="5829300" cy="1638605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20195" y="4095598"/>
            <a:ext cx="5829300" cy="1638605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20195" y="5905195"/>
            <a:ext cx="5829300" cy="17337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7707" y="7905902"/>
            <a:ext cx="16573500" cy="571500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e073ace0375183f3344f5afd45cdb0f4.png">    </p:cNvPr>
          <p:cNvPicPr>
            <a:picLocks noChangeAspect="1"/>
          </p:cNvPicPr>
          <p:nvPr/>
        </p:nvPicPr>
        <p:blipFill>
          <a:blip r:embed="rId1"/>
          <a:srcRect l="-395" r="-395" t="0" b="0"/>
          <a:stretch/>
        </p:blipFill>
        <p:spPr>
          <a:xfrm>
            <a:off x="11620195" y="2286000"/>
            <a:ext cx="57607" cy="1619402"/>
          </a:xfrm>
          <a:prstGeom prst="rect">
            <a:avLst/>
          </a:prstGeom>
        </p:spPr>
      </p:pic>
      <p:pic>
        <p:nvPicPr>
          <p:cNvPr id="10" name="Image 1" descr="gen-dedup-ecde526bbb19a0593482e7bfc28e0d08.png">    </p:cNvPr>
          <p:cNvPicPr>
            <a:picLocks noChangeAspect="1"/>
          </p:cNvPicPr>
          <p:nvPr/>
        </p:nvPicPr>
        <p:blipFill>
          <a:blip r:embed="rId2"/>
          <a:srcRect l="-395" r="-395" t="0" b="0"/>
          <a:stretch/>
        </p:blipFill>
        <p:spPr>
          <a:xfrm>
            <a:off x="11620195" y="4095598"/>
            <a:ext cx="57607" cy="1619402"/>
          </a:xfrm>
          <a:prstGeom prst="rect">
            <a:avLst/>
          </a:prstGeom>
        </p:spPr>
      </p:pic>
      <p:pic>
        <p:nvPicPr>
          <p:cNvPr id="11" name="Image 2" descr="gen-dedup-c8102c58ed97f2eed381b7459f08ee6f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857707" y="7905902"/>
            <a:ext cx="57607" cy="5715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57707" y="743407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· IN-WAFER UNIFORMITY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857707" y="1123798"/>
            <a:ext cx="123828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In-wafer uniformity · NU% 요약</a:t>
            </a:r>
            <a:endParaRPr lang="en-US" sz="3150" dirty="0"/>
          </a:p>
        </p:txBody>
      </p:sp>
      <p:sp>
        <p:nvSpPr>
          <p:cNvPr id="14" name="Text 8"/>
          <p:cNvSpPr txBox="1"/>
          <p:nvPr/>
        </p:nvSpPr>
        <p:spPr>
          <a:xfrm>
            <a:off x="857707" y="1690726"/>
            <a:ext cx="123828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metric × 3 condition · lot별 평균 NU% · dummy</a:t>
            </a:r>
            <a:endParaRPr lang="en-US" sz="1350" dirty="0"/>
          </a:p>
        </p:txBody>
      </p:sp>
      <p:sp>
        <p:nvSpPr>
          <p:cNvPr id="15" name="Text 9"/>
          <p:cNvSpPr txBox="1"/>
          <p:nvPr/>
        </p:nvSpPr>
        <p:spPr>
          <a:xfrm>
            <a:off x="14477695" y="1238098"/>
            <a:ext cx="2857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NU% FORMULA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14477695" y="1476756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BC0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(3σ / mean) × 100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7707" y="2476195"/>
          <a:ext cx="10478110" cy="4686300"/>
        </p:xfrm>
        <a:graphic>
          <a:graphicData uri="http://schemas.openxmlformats.org/drawingml/2006/table">
            <a:tbl>
              <a:tblPr/>
              <a:tblGrid>
                <a:gridCol w="2564892"/>
                <a:gridCol w="2270455"/>
                <a:gridCol w="2270455"/>
                <a:gridCol w="2270455"/>
                <a:gridCol w="1101852"/>
              </a:tblGrid>
              <a:tr h="937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METRIC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228600" marR="171907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F8A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 (×2)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71907" marR="171907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E89C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 (×2)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71907" marR="171907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 (×2)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71907" marR="171907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71907" marR="228600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AASI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post-ash line · dummy</a:t>
                      </a:r>
                      <a:endParaRPr lang="en-US" sz="1200" dirty="0"/>
                    </a:p>
                  </a:txBody>
                  <a:tcPr marL="228600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4F8A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0.95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E89C4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1.16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1.62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+0.67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22860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ASEI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trench CD · dummy</a:t>
                      </a:r>
                      <a:endParaRPr lang="en-US" sz="1200" dirty="0"/>
                    </a:p>
                  </a:txBody>
                  <a:tcPr marL="228600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4F8A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1.21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E89C4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1.55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2.07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+0.86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22860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AMI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post-CMP line · dummy</a:t>
                      </a:r>
                      <a:endParaRPr lang="en-US" sz="1200" dirty="0"/>
                    </a:p>
                  </a:txBody>
                  <a:tcPr marL="228600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4F8A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2.10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E89C4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2.49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3.18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+1.08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22860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7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ACI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via top · dummy</a:t>
                      </a:r>
                      <a:endParaRPr lang="en-US" sz="1200" dirty="0"/>
                    </a:p>
                  </a:txBody>
                  <a:tcPr marL="228600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4F8A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1.99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E89C4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2.39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50" b="1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3.18</a:t>
                      </a:r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4A6C2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%</a:t>
                      </a:r>
                      <a:endParaRPr lang="en-US" sz="1200" dirty="0"/>
                    </a:p>
                  </a:txBody>
                  <a:tcPr marL="171907" marR="171907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+1.19</a:t>
                      </a:r>
                      <a:endParaRPr lang="en-US" sz="13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228600" marT="247802" marB="2478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11887200" y="2457907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 NU% (dummy)</a:t>
            </a:r>
            <a:endParaRPr lang="en-US" sz="975" dirty="0"/>
          </a:p>
        </p:txBody>
      </p:sp>
      <p:sp>
        <p:nvSpPr>
          <p:cNvPr id="19" name="Text 12"/>
          <p:cNvSpPr txBox="1"/>
          <p:nvPr/>
        </p:nvSpPr>
        <p:spPr>
          <a:xfrm>
            <a:off x="11887200" y="2714854"/>
            <a:ext cx="5334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5CB9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2.07</a:t>
            </a:r>
            <a:pPr algn="l" indent="0" marL="0">
              <a:buNone/>
            </a:pPr>
            <a:r>
              <a:rPr lang="en-US" sz="1650" b="1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3900" dirty="0"/>
          </a:p>
        </p:txBody>
      </p:sp>
      <p:sp>
        <p:nvSpPr>
          <p:cNvPr id="20" name="Text 13"/>
          <p:cNvSpPr txBox="1"/>
          <p:nvPr/>
        </p:nvSpPr>
        <p:spPr>
          <a:xfrm>
            <a:off x="11887200" y="3286354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ASEI · CMP 30% lot 평균 — dummy lowest CD NU%도 함께 증가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1887200" y="4267505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 NU% (dummy worst)</a:t>
            </a:r>
            <a:endParaRPr lang="en-US" sz="975" dirty="0"/>
          </a:p>
        </p:txBody>
      </p:sp>
      <p:sp>
        <p:nvSpPr>
          <p:cNvPr id="22" name="Text 15"/>
          <p:cNvSpPr txBox="1"/>
          <p:nvPr/>
        </p:nvSpPr>
        <p:spPr>
          <a:xfrm>
            <a:off x="11887200" y="4524451"/>
            <a:ext cx="5334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3.18</a:t>
            </a:r>
            <a:pPr algn="l" indent="0" marL="0">
              <a:buNone/>
            </a:pPr>
            <a:r>
              <a:rPr lang="en-US" sz="1650" b="1" dirty="0">
                <a:solidFill>
                  <a:srgbClr val="94A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3900" dirty="0"/>
          </a:p>
        </p:txBody>
      </p:sp>
      <p:sp>
        <p:nvSpPr>
          <p:cNvPr id="23" name="Text 16"/>
          <p:cNvSpPr txBox="1"/>
          <p:nvPr/>
        </p:nvSpPr>
        <p:spPr>
          <a:xfrm>
            <a:off x="11887200" y="5095951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AMI·ACI · CMP 30% — dummy AMI와 ACI 동일 NU% peak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1887200" y="6077102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OBSERVATION</a:t>
            </a:r>
            <a:endParaRPr lang="en-US" sz="975" dirty="0"/>
          </a:p>
        </p:txBody>
      </p:sp>
      <p:sp>
        <p:nvSpPr>
          <p:cNvPr id="25" name="Text 18"/>
          <p:cNvSpPr txBox="1"/>
          <p:nvPr/>
        </p:nvSpPr>
        <p:spPr>
          <a:xfrm>
            <a:off x="11887200" y="6351422"/>
            <a:ext cx="5334610" cy="867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post-CMP 단계(AMI·ACI)에서 NU% dummy 증가폭 가장 큼</a:t>
            </a:r>
            <a:pPr algn="l" indent="0" marL="0">
              <a:lnSpc>
                <a:spcPts val="2167"/>
              </a:lnSpc>
              <a:buNone/>
            </a:pPr>
            <a:endParaRPr lang="en-US" sz="1275" dirty="0"/>
          </a:p>
          <a:p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AASI 단계에서도 30%에서 dummy +0.67 %p 누적</a:t>
            </a:r>
            <a:pPr algn="l" indent="0" marL="0">
              <a:lnSpc>
                <a:spcPts val="2167"/>
              </a:lnSpc>
              <a:buNone/>
            </a:pPr>
            <a:endParaRPr lang="en-US" sz="1275" dirty="0"/>
          </a:p>
          <a:p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167"/>
              </a:lnSpc>
              <a:buNone/>
            </a:pPr>
            <a:r>
              <a:rPr lang="en-US" sz="127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0%·15% 구간은 dummy로 1 % 이내 안정 구간</a:t>
            </a:r>
            <a:endParaRPr lang="en-US" sz="1275" dirty="0"/>
          </a:p>
        </p:txBody>
      </p:sp>
      <p:sp>
        <p:nvSpPr>
          <p:cNvPr id="26" name="Text 19"/>
          <p:cNvSpPr txBox="1"/>
          <p:nvPr/>
        </p:nvSpPr>
        <p:spPr>
          <a:xfrm>
            <a:off x="1143000" y="80394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uniformity는 CMP split과 함께 dummy로 단조 증가 — 0%는 1 % 내외, 30%는 post-CMP metric에서 3 %대 진입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2191695" y="9620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28" name="Text 21"/>
          <p:cNvSpPr txBox="1"/>
          <p:nvPr/>
        </p:nvSpPr>
        <p:spPr>
          <a:xfrm>
            <a:off x="857707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07 / 12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1524305"/>
            <a:ext cx="5162702" cy="2686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286500" y="1524305"/>
            <a:ext cx="5162702" cy="2686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716207" y="1524305"/>
            <a:ext cx="5734202" cy="2686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7707" y="4476902"/>
            <a:ext cx="5162702" cy="2686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86500" y="4476902"/>
            <a:ext cx="5162702" cy="2686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716207" y="4476902"/>
            <a:ext cx="5734202" cy="2686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7707" y="7429500"/>
            <a:ext cx="16592702" cy="9720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7707" y="8572500"/>
            <a:ext cx="16573500" cy="571500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gen-dedup-1fbbb0b393fab43b0307a8c46ea0de23.png">    </p:cNvPr>
          <p:cNvPicPr>
            <a:picLocks noChangeAspect="1"/>
          </p:cNvPicPr>
          <p:nvPr/>
        </p:nvPicPr>
        <p:blipFill>
          <a:blip r:embed="rId1"/>
          <a:srcRect l="-384" r="-384" t="0" b="0"/>
          <a:stretch/>
        </p:blipFill>
        <p:spPr>
          <a:xfrm>
            <a:off x="857707" y="7429500"/>
            <a:ext cx="57607" cy="952805"/>
          </a:xfrm>
          <a:prstGeom prst="rect">
            <a:avLst/>
          </a:prstGeom>
        </p:spPr>
      </p:pic>
      <p:pic>
        <p:nvPicPr>
          <p:cNvPr id="12" name="Image 1" descr="gen-dedup-6e4861eba2033af3bbb19258faa5ef0b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857707" y="8572500"/>
            <a:ext cx="57607" cy="5715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7707" y="514807"/>
            <a:ext cx="10478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spc="36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· 49-POINT WAFER MAP</a:t>
            </a:r>
            <a:endParaRPr lang="en-US" sz="1125" dirty="0"/>
          </a:p>
        </p:txBody>
      </p:sp>
      <p:sp>
        <p:nvSpPr>
          <p:cNvPr id="14" name="Text 9"/>
          <p:cNvSpPr txBox="1"/>
          <p:nvPr/>
        </p:nvSpPr>
        <p:spPr>
          <a:xfrm>
            <a:off x="857707" y="800100"/>
            <a:ext cx="125730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7×7 wafer map · AMI · dummy Z</a:t>
            </a:r>
            <a:endParaRPr lang="en-US" sz="2550" dirty="0"/>
          </a:p>
        </p:txBody>
      </p:sp>
      <p:sp>
        <p:nvSpPr>
          <p:cNvPr id="15" name="Text 10"/>
          <p:cNvSpPr txBox="1"/>
          <p:nvPr/>
        </p:nvSpPr>
        <p:spPr>
          <a:xfrm>
            <a:off x="13620902" y="761695"/>
            <a:ext cx="4000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Z-SCORE TO COLOR (DUMMY)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13620902" y="1037844"/>
            <a:ext cx="25603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−2σ</a:t>
            </a:r>
            <a:endParaRPr lang="en-US" sz="975" dirty="0"/>
          </a:p>
        </p:txBody>
      </p:sp>
      <p:pic>
        <p:nvPicPr>
          <p:cNvPr id="17" name="Image 2" descr="gen-dedup-85d6b8c3b443e5824d6bc405bc4cf66b.png">    </p:cNvPr>
          <p:cNvPicPr>
            <a:picLocks noChangeAspect="1"/>
          </p:cNvPicPr>
          <p:nvPr/>
        </p:nvPicPr>
        <p:blipFill>
          <a:blip r:embed="rId3"/>
          <a:srcRect l="0" r="0" t="-98" b="-98"/>
          <a:stretch/>
        </p:blipFill>
        <p:spPr>
          <a:xfrm>
            <a:off x="13929055" y="1052474"/>
            <a:ext cx="3384194" cy="15270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408347" y="1037844"/>
            <a:ext cx="25603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+2σ</a:t>
            </a:r>
            <a:endParaRPr lang="en-US" sz="975" dirty="0"/>
          </a:p>
        </p:txBody>
      </p:sp>
      <p:sp>
        <p:nvSpPr>
          <p:cNvPr id="19" name="Text 13"/>
          <p:cNvSpPr txBox="1"/>
          <p:nvPr/>
        </p:nvSpPr>
        <p:spPr>
          <a:xfrm>
            <a:off x="1047902" y="1657807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W01 · CMP 0%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1047902" y="186720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8.12 · 3σ 0.18 · dummy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6476695" y="1657807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W02 · CMP 0%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6476695" y="186720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8.09 · 3σ 0.16 · dummy</a:t>
            </a:r>
            <a:endParaRPr lang="en-US" sz="975" dirty="0"/>
          </a:p>
        </p:txBody>
      </p:sp>
      <p:sp>
        <p:nvSpPr>
          <p:cNvPr id="23" name="Text 17"/>
          <p:cNvSpPr txBox="1"/>
          <p:nvPr/>
        </p:nvSpPr>
        <p:spPr>
          <a:xfrm>
            <a:off x="11906402" y="1657807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W03 · CMP 15%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11906402" y="1867205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8.04 · 3σ 0.21 · dummy</a:t>
            </a:r>
            <a:endParaRPr lang="en-US" sz="975" dirty="0"/>
          </a:p>
        </p:txBody>
      </p:sp>
      <p:sp>
        <p:nvSpPr>
          <p:cNvPr id="25" name="Text 19"/>
          <p:cNvSpPr txBox="1"/>
          <p:nvPr/>
        </p:nvSpPr>
        <p:spPr>
          <a:xfrm>
            <a:off x="1047902" y="4610405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W04 · CMP 15%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4819802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7.98 · 3σ 0.19 · dummy</a:t>
            </a:r>
            <a:endParaRPr lang="en-US" sz="975" dirty="0"/>
          </a:p>
        </p:txBody>
      </p:sp>
      <p:sp>
        <p:nvSpPr>
          <p:cNvPr id="27" name="Text 21"/>
          <p:cNvSpPr txBox="1"/>
          <p:nvPr/>
        </p:nvSpPr>
        <p:spPr>
          <a:xfrm>
            <a:off x="6476695" y="4610405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W05 · CMP 30%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6476695" y="4819802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7.83 · 3σ 0.27 · dummy</a:t>
            </a:r>
            <a:endParaRPr lang="en-US" sz="975" dirty="0"/>
          </a:p>
        </p:txBody>
      </p:sp>
      <p:sp>
        <p:nvSpPr>
          <p:cNvPr id="29" name="Text 23"/>
          <p:cNvSpPr txBox="1"/>
          <p:nvPr/>
        </p:nvSpPr>
        <p:spPr>
          <a:xfrm>
            <a:off x="11906402" y="4610405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89" kern="0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W06 · CMP 30%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11906402" y="4819802"/>
            <a:ext cx="3620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AMI 7.91 · 3σ 0.23 · dummy</a:t>
            </a:r>
            <a:endParaRPr lang="en-US" sz="975" dirty="0"/>
          </a:p>
        </p:txBody>
      </p:sp>
      <p:pic>
        <p:nvPicPr>
          <p:cNvPr id="31" name="Image 3" descr="gen-dedup-edde755ec6805b8bac69c28d1dce65bd.png">    </p:cNvPr>
          <p:cNvPicPr>
            <a:picLocks noChangeAspect="1"/>
          </p:cNvPicPr>
          <p:nvPr/>
        </p:nvPicPr>
        <p:blipFill>
          <a:blip r:embed="rId4"/>
          <a:srcRect l="-8" r="-8" t="0" b="0"/>
          <a:stretch/>
        </p:blipFill>
        <p:spPr>
          <a:xfrm>
            <a:off x="1143000" y="2190902"/>
            <a:ext cx="4572000" cy="1904695"/>
          </a:xfrm>
          <a:prstGeom prst="rect">
            <a:avLst/>
          </a:prstGeom>
        </p:spPr>
      </p:pic>
      <p:pic>
        <p:nvPicPr>
          <p:cNvPr id="32" name="Image 4" descr="gen-dedup-fe407b516ad177c30eca89d5f42d760f.png">    </p:cNvPr>
          <p:cNvPicPr>
            <a:picLocks noChangeAspect="1"/>
          </p:cNvPicPr>
          <p:nvPr/>
        </p:nvPicPr>
        <p:blipFill>
          <a:blip r:embed="rId5"/>
          <a:srcRect l="-8" r="-8" t="0" b="0"/>
          <a:stretch/>
        </p:blipFill>
        <p:spPr>
          <a:xfrm>
            <a:off x="6572707" y="2190902"/>
            <a:ext cx="4572000" cy="1904695"/>
          </a:xfrm>
          <a:prstGeom prst="rect">
            <a:avLst/>
          </a:prstGeom>
        </p:spPr>
      </p:pic>
      <p:pic>
        <p:nvPicPr>
          <p:cNvPr id="33" name="Image 5" descr="gen-dedup-4f9758522d078ddb4bddb09e32561e68.png">    </p:cNvPr>
          <p:cNvPicPr>
            <a:picLocks noChangeAspect="1"/>
          </p:cNvPicPr>
          <p:nvPr/>
        </p:nvPicPr>
        <p:blipFill>
          <a:blip r:embed="rId6"/>
          <a:srcRect l="-8" r="-8" t="0" b="0"/>
          <a:stretch/>
        </p:blipFill>
        <p:spPr>
          <a:xfrm>
            <a:off x="12001500" y="2190902"/>
            <a:ext cx="5143500" cy="1904695"/>
          </a:xfrm>
          <a:prstGeom prst="rect">
            <a:avLst/>
          </a:prstGeom>
        </p:spPr>
      </p:pic>
      <p:pic>
        <p:nvPicPr>
          <p:cNvPr id="34" name="Image 6" descr="gen-dedup-bdee7f4904f7368da75987b17d240667.png">    </p:cNvPr>
          <p:cNvPicPr>
            <a:picLocks noChangeAspect="1"/>
          </p:cNvPicPr>
          <p:nvPr/>
        </p:nvPicPr>
        <p:blipFill>
          <a:blip r:embed="rId7"/>
          <a:srcRect l="-8" r="-8" t="0" b="0"/>
          <a:stretch/>
        </p:blipFill>
        <p:spPr>
          <a:xfrm>
            <a:off x="1143000" y="5143500"/>
            <a:ext cx="4572000" cy="1904695"/>
          </a:xfrm>
          <a:prstGeom prst="rect">
            <a:avLst/>
          </a:prstGeom>
        </p:spPr>
      </p:pic>
      <p:pic>
        <p:nvPicPr>
          <p:cNvPr id="35" name="Image 7" descr="gen-dedup-5b2268deaf07f93281acdceedd4d79ff.png">    </p:cNvPr>
          <p:cNvPicPr>
            <a:picLocks noChangeAspect="1"/>
          </p:cNvPicPr>
          <p:nvPr/>
        </p:nvPicPr>
        <p:blipFill>
          <a:blip r:embed="rId8"/>
          <a:srcRect l="-8" r="-8" t="0" b="0"/>
          <a:stretch/>
        </p:blipFill>
        <p:spPr>
          <a:xfrm>
            <a:off x="6572707" y="5143500"/>
            <a:ext cx="4572000" cy="1904695"/>
          </a:xfrm>
          <a:prstGeom prst="rect">
            <a:avLst/>
          </a:prstGeom>
        </p:spPr>
      </p:pic>
      <p:pic>
        <p:nvPicPr>
          <p:cNvPr id="36" name="Image 8" descr="gen-dedup-388cae7b42adcca448bb824ede903996.png">    </p:cNvPr>
          <p:cNvPicPr>
            <a:picLocks noChangeAspect="1"/>
          </p:cNvPicPr>
          <p:nvPr/>
        </p:nvPicPr>
        <p:blipFill>
          <a:blip r:embed="rId9"/>
          <a:srcRect l="-8" r="-8" t="0" b="0"/>
          <a:stretch/>
        </p:blipFill>
        <p:spPr>
          <a:xfrm>
            <a:off x="12001500" y="5143500"/>
            <a:ext cx="5143500" cy="190469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143000" y="7582205"/>
            <a:ext cx="16193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OBSERVATION</a:t>
            </a:r>
            <a:endParaRPr lang="en-US" sz="975" dirty="0"/>
          </a:p>
        </p:txBody>
      </p:sp>
      <p:sp>
        <p:nvSpPr>
          <p:cNvPr id="38" name="Text 26"/>
          <p:cNvSpPr txBox="1"/>
          <p:nvPr/>
        </p:nvSpPr>
        <p:spPr>
          <a:xfrm>
            <a:off x="1143000" y="7839151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49-point dummy map — CMP 0%는 cool palette 중심 좁은 분포 · 15%는 amber-shift dummy · 30%는 coral 더미 shift + spread 확대</a:t>
            </a:r>
            <a:endParaRPr lang="en-US" sz="1350" dirty="0"/>
          </a:p>
        </p:txBody>
      </p:sp>
      <p:sp>
        <p:nvSpPr>
          <p:cNvPr id="39" name="Text 27"/>
          <p:cNvSpPr txBox="1"/>
          <p:nvPr/>
        </p:nvSpPr>
        <p:spPr>
          <a:xfrm>
            <a:off x="1143000" y="8706002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7×7 wafer map — split별 색조와 분산이 dummy로 단계적 차이</a:t>
            </a:r>
            <a:endParaRPr lang="en-US" sz="1500" dirty="0"/>
          </a:p>
        </p:txBody>
      </p:sp>
      <p:sp>
        <p:nvSpPr>
          <p:cNvPr id="40" name="Text 28"/>
          <p:cNvSpPr txBox="1"/>
          <p:nvPr/>
        </p:nvSpPr>
        <p:spPr>
          <a:xfrm>
            <a:off x="12191695" y="9620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41" name="Text 29"/>
          <p:cNvSpPr txBox="1"/>
          <p:nvPr/>
        </p:nvSpPr>
        <p:spPr>
          <a:xfrm>
            <a:off x="857707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08 / 12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190902"/>
            <a:ext cx="13163702" cy="53528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287500" y="2190902"/>
            <a:ext cx="3161995" cy="1638605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287500" y="4000500"/>
            <a:ext cx="3161995" cy="1638605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287500" y="5810098"/>
            <a:ext cx="3161995" cy="17337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707" y="7810805"/>
            <a:ext cx="16573500" cy="571500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7707" y="8572500"/>
            <a:ext cx="16592702" cy="590702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pic>
        <p:nvPicPr>
          <p:cNvPr id="9" name="Image 0" descr="gen-dedup-49212da4c5f35e4fbf7fe40a8b5bcebe.png">    </p:cNvPr>
          <p:cNvPicPr>
            <a:picLocks noChangeAspect="1"/>
          </p:cNvPicPr>
          <p:nvPr/>
        </p:nvPicPr>
        <p:blipFill>
          <a:blip r:embed="rId1"/>
          <a:srcRect l="-395" r="-395" t="0" b="0"/>
          <a:stretch/>
        </p:blipFill>
        <p:spPr>
          <a:xfrm>
            <a:off x="14287500" y="4000500"/>
            <a:ext cx="57607" cy="1619402"/>
          </a:xfrm>
          <a:prstGeom prst="rect">
            <a:avLst/>
          </a:prstGeom>
        </p:spPr>
      </p:pic>
      <p:pic>
        <p:nvPicPr>
          <p:cNvPr id="10" name="Image 1" descr="gen-dedup-b1eae04f15c9290a24ce2bd9bb29a122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14287500" y="5810098"/>
            <a:ext cx="57607" cy="1714500"/>
          </a:xfrm>
          <a:prstGeom prst="rect">
            <a:avLst/>
          </a:prstGeom>
        </p:spPr>
      </p:pic>
      <p:pic>
        <p:nvPicPr>
          <p:cNvPr id="11" name="Image 2" descr="gen-dedup-c8102c58ed97f2eed381b7459f08ee6f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857707" y="8572500"/>
            <a:ext cx="57607" cy="5715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57707" y="743407"/>
            <a:ext cx="10478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· DEFECT COUNT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857707" y="1123798"/>
            <a:ext cx="12573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Defect count · 카테고리별 wafer dummy</a:t>
            </a:r>
            <a:endParaRPr lang="en-US" sz="3150" dirty="0"/>
          </a:p>
        </p:txBody>
      </p:sp>
      <p:sp>
        <p:nvSpPr>
          <p:cNvPr id="14" name="Text 8"/>
          <p:cNvSpPr txBox="1"/>
          <p:nvPr/>
        </p:nvSpPr>
        <p:spPr>
          <a:xfrm>
            <a:off x="857707" y="1690726"/>
            <a:ext cx="12573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wafer · 6 defect 카테고리 · 합계 · dummy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857707" y="2857500"/>
            <a:ext cx="13144500" cy="9144"/>
          </a:xfrm>
          <a:prstGeom prst="rect">
            <a:avLst/>
          </a:prstGeom>
          <a:solidFill>
            <a:srgbClr val="3F5784"/>
          </a:solidFill>
          <a:ln w="12700">
            <a:solidFill>
              <a:srgbClr val="3F5784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857707" y="2361895"/>
            <a:ext cx="13341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2184502" y="2361895"/>
            <a:ext cx="1724558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3903574" y="2361895"/>
            <a:ext cx="151516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Particle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5411419" y="2361895"/>
            <a:ext cx="1505102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Scratch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6908292" y="2361895"/>
            <a:ext cx="14100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Void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8311896" y="2361895"/>
            <a:ext cx="151516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Residue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9819742" y="2361895"/>
            <a:ext cx="1495958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 open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11312957" y="2361895"/>
            <a:ext cx="137160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Corros.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12683642" y="2361895"/>
            <a:ext cx="1324051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147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857707" y="3586277"/>
            <a:ext cx="13144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57707" y="2862072"/>
            <a:ext cx="133411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W01</a:t>
            </a:r>
            <a:endParaRPr lang="en-US" sz="1650" dirty="0"/>
          </a:p>
        </p:txBody>
      </p:sp>
      <p:sp>
        <p:nvSpPr>
          <p:cNvPr id="27" name="Text 21"/>
          <p:cNvSpPr txBox="1"/>
          <p:nvPr/>
        </p:nvSpPr>
        <p:spPr>
          <a:xfrm>
            <a:off x="3903574" y="2862072"/>
            <a:ext cx="151516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650" dirty="0"/>
          </a:p>
        </p:txBody>
      </p:sp>
      <p:sp>
        <p:nvSpPr>
          <p:cNvPr id="28" name="Text 22"/>
          <p:cNvSpPr txBox="1"/>
          <p:nvPr/>
        </p:nvSpPr>
        <p:spPr>
          <a:xfrm>
            <a:off x="5411419" y="2862072"/>
            <a:ext cx="1505102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650" dirty="0"/>
          </a:p>
        </p:txBody>
      </p:sp>
      <p:sp>
        <p:nvSpPr>
          <p:cNvPr id="29" name="Text 23"/>
          <p:cNvSpPr txBox="1"/>
          <p:nvPr/>
        </p:nvSpPr>
        <p:spPr>
          <a:xfrm>
            <a:off x="6908292" y="2862072"/>
            <a:ext cx="14100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50" dirty="0"/>
          </a:p>
        </p:txBody>
      </p:sp>
      <p:sp>
        <p:nvSpPr>
          <p:cNvPr id="30" name="Text 24"/>
          <p:cNvSpPr txBox="1"/>
          <p:nvPr/>
        </p:nvSpPr>
        <p:spPr>
          <a:xfrm>
            <a:off x="8311896" y="2862072"/>
            <a:ext cx="151516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50" dirty="0"/>
          </a:p>
        </p:txBody>
      </p:sp>
      <p:sp>
        <p:nvSpPr>
          <p:cNvPr id="31" name="Text 25"/>
          <p:cNvSpPr txBox="1"/>
          <p:nvPr/>
        </p:nvSpPr>
        <p:spPr>
          <a:xfrm>
            <a:off x="9819742" y="2862072"/>
            <a:ext cx="1495958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50" dirty="0"/>
          </a:p>
        </p:txBody>
      </p:sp>
      <p:sp>
        <p:nvSpPr>
          <p:cNvPr id="32" name="Text 26"/>
          <p:cNvSpPr txBox="1"/>
          <p:nvPr/>
        </p:nvSpPr>
        <p:spPr>
          <a:xfrm>
            <a:off x="11312957" y="2862072"/>
            <a:ext cx="137160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650" dirty="0"/>
          </a:p>
        </p:txBody>
      </p:sp>
      <p:sp>
        <p:nvSpPr>
          <p:cNvPr id="33" name="Text 27"/>
          <p:cNvSpPr txBox="1"/>
          <p:nvPr/>
        </p:nvSpPr>
        <p:spPr>
          <a:xfrm>
            <a:off x="12683642" y="2862072"/>
            <a:ext cx="132405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F8A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1800" dirty="0"/>
          </a:p>
        </p:txBody>
      </p:sp>
      <p:sp>
        <p:nvSpPr>
          <p:cNvPr id="34" name="Shape 28"/>
          <p:cNvSpPr/>
          <p:nvPr/>
        </p:nvSpPr>
        <p:spPr>
          <a:xfrm>
            <a:off x="857707" y="4319626"/>
            <a:ext cx="13144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57707" y="3595421"/>
            <a:ext cx="133411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W02</a:t>
            </a:r>
            <a:endParaRPr lang="en-US" sz="1650" dirty="0"/>
          </a:p>
        </p:txBody>
      </p:sp>
      <p:sp>
        <p:nvSpPr>
          <p:cNvPr id="36" name="Text 30"/>
          <p:cNvSpPr txBox="1"/>
          <p:nvPr/>
        </p:nvSpPr>
        <p:spPr>
          <a:xfrm>
            <a:off x="3903574" y="3595421"/>
            <a:ext cx="151516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650" dirty="0"/>
          </a:p>
        </p:txBody>
      </p:sp>
      <p:sp>
        <p:nvSpPr>
          <p:cNvPr id="37" name="Text 31"/>
          <p:cNvSpPr txBox="1"/>
          <p:nvPr/>
        </p:nvSpPr>
        <p:spPr>
          <a:xfrm>
            <a:off x="5411419" y="3595421"/>
            <a:ext cx="1505102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50" dirty="0"/>
          </a:p>
        </p:txBody>
      </p:sp>
      <p:sp>
        <p:nvSpPr>
          <p:cNvPr id="38" name="Text 32"/>
          <p:cNvSpPr txBox="1"/>
          <p:nvPr/>
        </p:nvSpPr>
        <p:spPr>
          <a:xfrm>
            <a:off x="6908292" y="3595421"/>
            <a:ext cx="14100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50" dirty="0"/>
          </a:p>
        </p:txBody>
      </p:sp>
      <p:sp>
        <p:nvSpPr>
          <p:cNvPr id="39" name="Text 33"/>
          <p:cNvSpPr txBox="1"/>
          <p:nvPr/>
        </p:nvSpPr>
        <p:spPr>
          <a:xfrm>
            <a:off x="8311896" y="3595421"/>
            <a:ext cx="151516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650" dirty="0"/>
          </a:p>
        </p:txBody>
      </p:sp>
      <p:sp>
        <p:nvSpPr>
          <p:cNvPr id="40" name="Text 34"/>
          <p:cNvSpPr txBox="1"/>
          <p:nvPr/>
        </p:nvSpPr>
        <p:spPr>
          <a:xfrm>
            <a:off x="9819742" y="3595421"/>
            <a:ext cx="1495958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50" dirty="0"/>
          </a:p>
        </p:txBody>
      </p:sp>
      <p:sp>
        <p:nvSpPr>
          <p:cNvPr id="41" name="Text 35"/>
          <p:cNvSpPr txBox="1"/>
          <p:nvPr/>
        </p:nvSpPr>
        <p:spPr>
          <a:xfrm>
            <a:off x="11312957" y="3595421"/>
            <a:ext cx="137160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650" dirty="0"/>
          </a:p>
        </p:txBody>
      </p:sp>
      <p:sp>
        <p:nvSpPr>
          <p:cNvPr id="42" name="Text 36"/>
          <p:cNvSpPr txBox="1"/>
          <p:nvPr/>
        </p:nvSpPr>
        <p:spPr>
          <a:xfrm>
            <a:off x="12683642" y="3595421"/>
            <a:ext cx="132405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4F8A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endParaRPr lang="en-US" sz="1800" dirty="0"/>
          </a:p>
        </p:txBody>
      </p:sp>
      <p:sp>
        <p:nvSpPr>
          <p:cNvPr id="43" name="Shape 37"/>
          <p:cNvSpPr/>
          <p:nvPr/>
        </p:nvSpPr>
        <p:spPr>
          <a:xfrm>
            <a:off x="857707" y="5052974"/>
            <a:ext cx="13144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57707" y="4328770"/>
            <a:ext cx="133411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W03</a:t>
            </a:r>
            <a:endParaRPr lang="en-US" sz="1650" dirty="0"/>
          </a:p>
        </p:txBody>
      </p:sp>
      <p:sp>
        <p:nvSpPr>
          <p:cNvPr id="45" name="Text 39"/>
          <p:cNvSpPr txBox="1"/>
          <p:nvPr/>
        </p:nvSpPr>
        <p:spPr>
          <a:xfrm>
            <a:off x="3903574" y="4328770"/>
            <a:ext cx="151516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1650" dirty="0"/>
          </a:p>
        </p:txBody>
      </p:sp>
      <p:sp>
        <p:nvSpPr>
          <p:cNvPr id="46" name="Text 40"/>
          <p:cNvSpPr txBox="1"/>
          <p:nvPr/>
        </p:nvSpPr>
        <p:spPr>
          <a:xfrm>
            <a:off x="5411419" y="4328770"/>
            <a:ext cx="1505102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50" dirty="0"/>
          </a:p>
        </p:txBody>
      </p:sp>
      <p:sp>
        <p:nvSpPr>
          <p:cNvPr id="47" name="Text 41"/>
          <p:cNvSpPr txBox="1"/>
          <p:nvPr/>
        </p:nvSpPr>
        <p:spPr>
          <a:xfrm>
            <a:off x="6908292" y="4328770"/>
            <a:ext cx="14100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650" dirty="0"/>
          </a:p>
        </p:txBody>
      </p:sp>
      <p:sp>
        <p:nvSpPr>
          <p:cNvPr id="48" name="Text 42"/>
          <p:cNvSpPr txBox="1"/>
          <p:nvPr/>
        </p:nvSpPr>
        <p:spPr>
          <a:xfrm>
            <a:off x="8311896" y="4328770"/>
            <a:ext cx="151516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650" dirty="0"/>
          </a:p>
        </p:txBody>
      </p:sp>
      <p:sp>
        <p:nvSpPr>
          <p:cNvPr id="49" name="Text 43"/>
          <p:cNvSpPr txBox="1"/>
          <p:nvPr/>
        </p:nvSpPr>
        <p:spPr>
          <a:xfrm>
            <a:off x="9819742" y="4328770"/>
            <a:ext cx="1495958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50" dirty="0"/>
          </a:p>
        </p:txBody>
      </p:sp>
      <p:sp>
        <p:nvSpPr>
          <p:cNvPr id="50" name="Text 44"/>
          <p:cNvSpPr txBox="1"/>
          <p:nvPr/>
        </p:nvSpPr>
        <p:spPr>
          <a:xfrm>
            <a:off x="11312957" y="4328770"/>
            <a:ext cx="137160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50" dirty="0"/>
          </a:p>
        </p:txBody>
      </p:sp>
      <p:sp>
        <p:nvSpPr>
          <p:cNvPr id="51" name="Text 45"/>
          <p:cNvSpPr txBox="1"/>
          <p:nvPr/>
        </p:nvSpPr>
        <p:spPr>
          <a:xfrm>
            <a:off x="12683642" y="4328770"/>
            <a:ext cx="132405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</a:t>
            </a:r>
            <a:endParaRPr lang="en-US" sz="1800" dirty="0"/>
          </a:p>
        </p:txBody>
      </p:sp>
      <p:sp>
        <p:nvSpPr>
          <p:cNvPr id="52" name="Shape 46"/>
          <p:cNvSpPr/>
          <p:nvPr/>
        </p:nvSpPr>
        <p:spPr>
          <a:xfrm>
            <a:off x="857707" y="5786323"/>
            <a:ext cx="13144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857707" y="5062118"/>
            <a:ext cx="133411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W04</a:t>
            </a:r>
            <a:endParaRPr lang="en-US" sz="1650" dirty="0"/>
          </a:p>
        </p:txBody>
      </p:sp>
      <p:sp>
        <p:nvSpPr>
          <p:cNvPr id="54" name="Text 48"/>
          <p:cNvSpPr txBox="1"/>
          <p:nvPr/>
        </p:nvSpPr>
        <p:spPr>
          <a:xfrm>
            <a:off x="3903574" y="5062118"/>
            <a:ext cx="151516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650" dirty="0"/>
          </a:p>
        </p:txBody>
      </p:sp>
      <p:sp>
        <p:nvSpPr>
          <p:cNvPr id="55" name="Text 49"/>
          <p:cNvSpPr txBox="1"/>
          <p:nvPr/>
        </p:nvSpPr>
        <p:spPr>
          <a:xfrm>
            <a:off x="5411419" y="5062118"/>
            <a:ext cx="1505102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50" dirty="0"/>
          </a:p>
        </p:txBody>
      </p:sp>
      <p:sp>
        <p:nvSpPr>
          <p:cNvPr id="56" name="Text 50"/>
          <p:cNvSpPr txBox="1"/>
          <p:nvPr/>
        </p:nvSpPr>
        <p:spPr>
          <a:xfrm>
            <a:off x="6908292" y="5062118"/>
            <a:ext cx="1410005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650" dirty="0"/>
          </a:p>
        </p:txBody>
      </p:sp>
      <p:sp>
        <p:nvSpPr>
          <p:cNvPr id="57" name="Text 51"/>
          <p:cNvSpPr txBox="1"/>
          <p:nvPr/>
        </p:nvSpPr>
        <p:spPr>
          <a:xfrm>
            <a:off x="8311896" y="5062118"/>
            <a:ext cx="151516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650" dirty="0"/>
          </a:p>
        </p:txBody>
      </p:sp>
      <p:sp>
        <p:nvSpPr>
          <p:cNvPr id="58" name="Text 52"/>
          <p:cNvSpPr txBox="1"/>
          <p:nvPr/>
        </p:nvSpPr>
        <p:spPr>
          <a:xfrm>
            <a:off x="9819742" y="5062118"/>
            <a:ext cx="1495958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50" dirty="0"/>
          </a:p>
        </p:txBody>
      </p:sp>
      <p:sp>
        <p:nvSpPr>
          <p:cNvPr id="59" name="Text 53"/>
          <p:cNvSpPr txBox="1"/>
          <p:nvPr/>
        </p:nvSpPr>
        <p:spPr>
          <a:xfrm>
            <a:off x="11312957" y="5062118"/>
            <a:ext cx="1371600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E3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50" dirty="0"/>
          </a:p>
        </p:txBody>
      </p:sp>
      <p:sp>
        <p:nvSpPr>
          <p:cNvPr id="60" name="Text 54"/>
          <p:cNvSpPr txBox="1"/>
          <p:nvPr/>
        </p:nvSpPr>
        <p:spPr>
          <a:xfrm>
            <a:off x="12683642" y="5062118"/>
            <a:ext cx="1324051" cy="734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43</a:t>
            </a:r>
            <a:endParaRPr lang="en-US" sz="1800" dirty="0"/>
          </a:p>
        </p:txBody>
      </p:sp>
      <p:sp>
        <p:nvSpPr>
          <p:cNvPr id="61" name="Shape 55"/>
          <p:cNvSpPr/>
          <p:nvPr/>
        </p:nvSpPr>
        <p:spPr>
          <a:xfrm>
            <a:off x="857707" y="6548933"/>
            <a:ext cx="13144500" cy="9144"/>
          </a:xfrm>
          <a:prstGeom prst="rect">
            <a:avLst/>
          </a:prstGeom>
          <a:solidFill>
            <a:srgbClr val="2C3E5E"/>
          </a:solidFill>
          <a:ln w="12700">
            <a:solidFill>
              <a:srgbClr val="2C3E5E">
                <a:alpha val="0"/>
              </a:srgbClr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857707" y="5796382"/>
            <a:ext cx="1334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W05</a:t>
            </a:r>
            <a:endParaRPr lang="en-US" sz="1650" dirty="0"/>
          </a:p>
        </p:txBody>
      </p:sp>
      <p:sp>
        <p:nvSpPr>
          <p:cNvPr id="63" name="Text 57"/>
          <p:cNvSpPr txBox="1"/>
          <p:nvPr/>
        </p:nvSpPr>
        <p:spPr>
          <a:xfrm>
            <a:off x="3903574" y="5796382"/>
            <a:ext cx="151516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endParaRPr lang="en-US" sz="1650" dirty="0"/>
          </a:p>
        </p:txBody>
      </p:sp>
      <p:sp>
        <p:nvSpPr>
          <p:cNvPr id="64" name="Text 58"/>
          <p:cNvSpPr txBox="1"/>
          <p:nvPr/>
        </p:nvSpPr>
        <p:spPr>
          <a:xfrm>
            <a:off x="5411419" y="5796382"/>
            <a:ext cx="150510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650" dirty="0"/>
          </a:p>
        </p:txBody>
      </p:sp>
      <p:sp>
        <p:nvSpPr>
          <p:cNvPr id="65" name="Text 59"/>
          <p:cNvSpPr txBox="1"/>
          <p:nvPr/>
        </p:nvSpPr>
        <p:spPr>
          <a:xfrm>
            <a:off x="6908292" y="5796382"/>
            <a:ext cx="14100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650" dirty="0"/>
          </a:p>
        </p:txBody>
      </p:sp>
      <p:sp>
        <p:nvSpPr>
          <p:cNvPr id="66" name="Text 60"/>
          <p:cNvSpPr txBox="1"/>
          <p:nvPr/>
        </p:nvSpPr>
        <p:spPr>
          <a:xfrm>
            <a:off x="8311896" y="5796382"/>
            <a:ext cx="151516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650" dirty="0"/>
          </a:p>
        </p:txBody>
      </p:sp>
      <p:sp>
        <p:nvSpPr>
          <p:cNvPr id="67" name="Text 61"/>
          <p:cNvSpPr txBox="1"/>
          <p:nvPr/>
        </p:nvSpPr>
        <p:spPr>
          <a:xfrm>
            <a:off x="9819742" y="5796382"/>
            <a:ext cx="1495958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650" dirty="0"/>
          </a:p>
        </p:txBody>
      </p:sp>
      <p:sp>
        <p:nvSpPr>
          <p:cNvPr id="68" name="Text 62"/>
          <p:cNvSpPr txBox="1"/>
          <p:nvPr/>
        </p:nvSpPr>
        <p:spPr>
          <a:xfrm>
            <a:off x="11312957" y="5796382"/>
            <a:ext cx="13716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650" dirty="0"/>
          </a:p>
        </p:txBody>
      </p:sp>
      <p:sp>
        <p:nvSpPr>
          <p:cNvPr id="69" name="Text 63"/>
          <p:cNvSpPr txBox="1"/>
          <p:nvPr/>
        </p:nvSpPr>
        <p:spPr>
          <a:xfrm>
            <a:off x="12683642" y="5796382"/>
            <a:ext cx="1324051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93</a:t>
            </a:r>
            <a:endParaRPr lang="en-US" sz="1950" dirty="0"/>
          </a:p>
        </p:txBody>
      </p:sp>
      <p:sp>
        <p:nvSpPr>
          <p:cNvPr id="70" name="Text 64"/>
          <p:cNvSpPr txBox="1"/>
          <p:nvPr/>
        </p:nvSpPr>
        <p:spPr>
          <a:xfrm>
            <a:off x="857707" y="6558077"/>
            <a:ext cx="1334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W06</a:t>
            </a:r>
            <a:endParaRPr lang="en-US" sz="1650" dirty="0"/>
          </a:p>
        </p:txBody>
      </p:sp>
      <p:sp>
        <p:nvSpPr>
          <p:cNvPr id="71" name="Text 65"/>
          <p:cNvSpPr txBox="1"/>
          <p:nvPr/>
        </p:nvSpPr>
        <p:spPr>
          <a:xfrm>
            <a:off x="3903574" y="6558077"/>
            <a:ext cx="151516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</a:t>
            </a:r>
            <a:endParaRPr lang="en-US" sz="1650" dirty="0"/>
          </a:p>
        </p:txBody>
      </p:sp>
      <p:sp>
        <p:nvSpPr>
          <p:cNvPr id="72" name="Text 66"/>
          <p:cNvSpPr txBox="1"/>
          <p:nvPr/>
        </p:nvSpPr>
        <p:spPr>
          <a:xfrm>
            <a:off x="5411419" y="6558077"/>
            <a:ext cx="150510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650" dirty="0"/>
          </a:p>
        </p:txBody>
      </p:sp>
      <p:sp>
        <p:nvSpPr>
          <p:cNvPr id="73" name="Text 67"/>
          <p:cNvSpPr txBox="1"/>
          <p:nvPr/>
        </p:nvSpPr>
        <p:spPr>
          <a:xfrm>
            <a:off x="6908292" y="6558077"/>
            <a:ext cx="14100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650" dirty="0"/>
          </a:p>
        </p:txBody>
      </p:sp>
      <p:sp>
        <p:nvSpPr>
          <p:cNvPr id="74" name="Text 68"/>
          <p:cNvSpPr txBox="1"/>
          <p:nvPr/>
        </p:nvSpPr>
        <p:spPr>
          <a:xfrm>
            <a:off x="8311896" y="6558077"/>
            <a:ext cx="151516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650" dirty="0"/>
          </a:p>
        </p:txBody>
      </p:sp>
      <p:sp>
        <p:nvSpPr>
          <p:cNvPr id="75" name="Text 69"/>
          <p:cNvSpPr txBox="1"/>
          <p:nvPr/>
        </p:nvSpPr>
        <p:spPr>
          <a:xfrm>
            <a:off x="9819742" y="6558077"/>
            <a:ext cx="1495958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1650" dirty="0"/>
          </a:p>
        </p:txBody>
      </p:sp>
      <p:sp>
        <p:nvSpPr>
          <p:cNvPr id="76" name="Text 70"/>
          <p:cNvSpPr txBox="1"/>
          <p:nvPr/>
        </p:nvSpPr>
        <p:spPr>
          <a:xfrm>
            <a:off x="11312957" y="6558077"/>
            <a:ext cx="13716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650" dirty="0"/>
          </a:p>
        </p:txBody>
      </p:sp>
      <p:sp>
        <p:nvSpPr>
          <p:cNvPr id="77" name="Text 71"/>
          <p:cNvSpPr txBox="1"/>
          <p:nvPr/>
        </p:nvSpPr>
        <p:spPr>
          <a:xfrm>
            <a:off x="12683642" y="6558077"/>
            <a:ext cx="1324051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88</a:t>
            </a:r>
            <a:endParaRPr lang="en-US" sz="1950" dirty="0"/>
          </a:p>
        </p:txBody>
      </p:sp>
      <p:sp>
        <p:nvSpPr>
          <p:cNvPr id="78" name="Text 72"/>
          <p:cNvSpPr txBox="1"/>
          <p:nvPr/>
        </p:nvSpPr>
        <p:spPr>
          <a:xfrm>
            <a:off x="2277770" y="3076956"/>
            <a:ext cx="967435" cy="305410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200" dirty="0"/>
          </a:p>
        </p:txBody>
      </p:sp>
      <p:sp>
        <p:nvSpPr>
          <p:cNvPr id="79" name="Text 73"/>
          <p:cNvSpPr txBox="1"/>
          <p:nvPr/>
        </p:nvSpPr>
        <p:spPr>
          <a:xfrm>
            <a:off x="2277770" y="3810305"/>
            <a:ext cx="967435" cy="305410"/>
          </a:xfrm>
          <a:prstGeom prst="rect">
            <a:avLst/>
          </a:prstGeom>
          <a:solidFill>
            <a:srgbClr val="4F8AE8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8A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0%</a:t>
            </a:r>
            <a:endParaRPr lang="en-US" sz="1200" dirty="0"/>
          </a:p>
        </p:txBody>
      </p:sp>
      <p:sp>
        <p:nvSpPr>
          <p:cNvPr id="80" name="Text 74"/>
          <p:cNvSpPr txBox="1"/>
          <p:nvPr/>
        </p:nvSpPr>
        <p:spPr>
          <a:xfrm>
            <a:off x="2273198" y="4543654"/>
            <a:ext cx="1061618" cy="305410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200" dirty="0"/>
          </a:p>
        </p:txBody>
      </p:sp>
      <p:sp>
        <p:nvSpPr>
          <p:cNvPr id="81" name="Text 75"/>
          <p:cNvSpPr txBox="1"/>
          <p:nvPr/>
        </p:nvSpPr>
        <p:spPr>
          <a:xfrm>
            <a:off x="2273198" y="5277002"/>
            <a:ext cx="1061618" cy="305410"/>
          </a:xfrm>
          <a:prstGeom prst="rect">
            <a:avLst/>
          </a:prstGeom>
          <a:solidFill>
            <a:srgbClr val="E89C42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15%</a:t>
            </a:r>
            <a:endParaRPr lang="en-US" sz="1200" dirty="0"/>
          </a:p>
        </p:txBody>
      </p:sp>
      <p:sp>
        <p:nvSpPr>
          <p:cNvPr id="82" name="Text 76"/>
          <p:cNvSpPr txBox="1"/>
          <p:nvPr/>
        </p:nvSpPr>
        <p:spPr>
          <a:xfrm>
            <a:off x="2273198" y="6024982"/>
            <a:ext cx="1061618" cy="305410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200" dirty="0"/>
          </a:p>
        </p:txBody>
      </p:sp>
      <p:sp>
        <p:nvSpPr>
          <p:cNvPr id="83" name="Text 77"/>
          <p:cNvSpPr txBox="1"/>
          <p:nvPr/>
        </p:nvSpPr>
        <p:spPr>
          <a:xfrm>
            <a:off x="2273198" y="6786677"/>
            <a:ext cx="1061618" cy="305410"/>
          </a:xfrm>
          <a:prstGeom prst="rect">
            <a:avLst/>
          </a:prstGeom>
          <a:solidFill>
            <a:srgbClr val="E0737D">
              <a:alpha val="18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CMP 30%</a:t>
            </a:r>
            <a:endParaRPr lang="en-US" sz="1200" dirty="0"/>
          </a:p>
        </p:txBody>
      </p:sp>
      <p:sp>
        <p:nvSpPr>
          <p:cNvPr id="84" name="Text 78"/>
          <p:cNvSpPr txBox="1"/>
          <p:nvPr/>
        </p:nvSpPr>
        <p:spPr>
          <a:xfrm>
            <a:off x="14573707" y="2361895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0% AVG TOTAL</a:t>
            </a:r>
            <a:endParaRPr lang="en-US" sz="975" dirty="0"/>
          </a:p>
        </p:txBody>
      </p:sp>
      <p:sp>
        <p:nvSpPr>
          <p:cNvPr id="85" name="Text 79"/>
          <p:cNvSpPr txBox="1"/>
          <p:nvPr/>
        </p:nvSpPr>
        <p:spPr>
          <a:xfrm>
            <a:off x="14573707" y="2619756"/>
            <a:ext cx="2667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3600" dirty="0"/>
          </a:p>
        </p:txBody>
      </p:sp>
      <p:sp>
        <p:nvSpPr>
          <p:cNvPr id="86" name="Text 80"/>
          <p:cNvSpPr txBox="1"/>
          <p:nvPr/>
        </p:nvSpPr>
        <p:spPr>
          <a:xfrm>
            <a:off x="14573707" y="3152851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lot avg</a:t>
            </a:r>
            <a:endParaRPr lang="en-US" sz="1125" dirty="0"/>
          </a:p>
        </p:txBody>
      </p:sp>
      <p:sp>
        <p:nvSpPr>
          <p:cNvPr id="87" name="Text 81"/>
          <p:cNvSpPr txBox="1"/>
          <p:nvPr/>
        </p:nvSpPr>
        <p:spPr>
          <a:xfrm>
            <a:off x="14573707" y="4172407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AVG TOTAL</a:t>
            </a:r>
            <a:endParaRPr lang="en-US" sz="975" dirty="0"/>
          </a:p>
        </p:txBody>
      </p:sp>
      <p:sp>
        <p:nvSpPr>
          <p:cNvPr id="88" name="Text 82"/>
          <p:cNvSpPr txBox="1"/>
          <p:nvPr/>
        </p:nvSpPr>
        <p:spPr>
          <a:xfrm>
            <a:off x="14573707" y="4429354"/>
            <a:ext cx="2667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9C4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44</a:t>
            </a:r>
            <a:endParaRPr lang="en-US" sz="3600" dirty="0"/>
          </a:p>
        </p:txBody>
      </p:sp>
      <p:sp>
        <p:nvSpPr>
          <p:cNvPr id="89" name="Text 83"/>
          <p:cNvSpPr txBox="1"/>
          <p:nvPr/>
        </p:nvSpPr>
        <p:spPr>
          <a:xfrm>
            <a:off x="14573707" y="4962449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lot avg</a:t>
            </a:r>
            <a:endParaRPr lang="en-US" sz="1125" dirty="0"/>
          </a:p>
        </p:txBody>
      </p:sp>
      <p:sp>
        <p:nvSpPr>
          <p:cNvPr id="90" name="Text 84"/>
          <p:cNvSpPr txBox="1"/>
          <p:nvPr/>
        </p:nvSpPr>
        <p:spPr>
          <a:xfrm>
            <a:off x="14573707" y="5982005"/>
            <a:ext cx="2667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 AVG TOTAL</a:t>
            </a:r>
            <a:endParaRPr lang="en-US" sz="975" dirty="0"/>
          </a:p>
        </p:txBody>
      </p:sp>
      <p:sp>
        <p:nvSpPr>
          <p:cNvPr id="91" name="Text 85"/>
          <p:cNvSpPr txBox="1"/>
          <p:nvPr/>
        </p:nvSpPr>
        <p:spPr>
          <a:xfrm>
            <a:off x="14573707" y="6238951"/>
            <a:ext cx="2667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91</a:t>
            </a:r>
            <a:endParaRPr lang="en-US" sz="3600" dirty="0"/>
          </a:p>
        </p:txBody>
      </p:sp>
      <p:sp>
        <p:nvSpPr>
          <p:cNvPr id="92" name="Text 86"/>
          <p:cNvSpPr txBox="1"/>
          <p:nvPr/>
        </p:nvSpPr>
        <p:spPr>
          <a:xfrm>
            <a:off x="14573707" y="6772046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lot avg</a:t>
            </a:r>
            <a:endParaRPr lang="en-US" sz="1125" dirty="0"/>
          </a:p>
        </p:txBody>
      </p:sp>
      <p:sp>
        <p:nvSpPr>
          <p:cNvPr id="93" name="Text 87"/>
          <p:cNvSpPr txBox="1"/>
          <p:nvPr/>
        </p:nvSpPr>
        <p:spPr>
          <a:xfrm>
            <a:off x="1143000" y="7981798"/>
            <a:ext cx="57634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residue / void / pattern-open 카테고리에서 dummy 증가폭 가장 큼</a:t>
            </a:r>
            <a:endParaRPr lang="en-US" sz="1350" dirty="0"/>
          </a:p>
        </p:txBody>
      </p:sp>
      <p:sp>
        <p:nvSpPr>
          <p:cNvPr id="94" name="Text 88"/>
          <p:cNvSpPr txBox="1"/>
          <p:nvPr/>
        </p:nvSpPr>
        <p:spPr>
          <a:xfrm>
            <a:off x="15381122" y="7981798"/>
            <a:ext cx="19623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0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 ×4 dummy rise</a:t>
            </a:r>
            <a:endParaRPr lang="en-US" sz="1350" dirty="0"/>
          </a:p>
        </p:txBody>
      </p:sp>
      <p:sp>
        <p:nvSpPr>
          <p:cNvPr id="95" name="Text 89"/>
          <p:cNvSpPr txBox="1"/>
          <p:nvPr/>
        </p:nvSpPr>
        <p:spPr>
          <a:xfrm>
            <a:off x="1143000" y="8706002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dummy wafer 1매당 total defect는 0% 22~28 → 15% 43~45 → 30% 88~93, lot avg로 dummy ×3.6</a:t>
            </a:r>
            <a:endParaRPr lang="en-US" sz="1500" dirty="0"/>
          </a:p>
        </p:txBody>
      </p:sp>
      <p:sp>
        <p:nvSpPr>
          <p:cNvPr id="96" name="Text 90"/>
          <p:cNvSpPr txBox="1"/>
          <p:nvPr/>
        </p:nvSpPr>
        <p:spPr>
          <a:xfrm>
            <a:off x="12191695" y="9620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975" dirty="0"/>
          </a:p>
        </p:txBody>
      </p:sp>
      <p:sp>
        <p:nvSpPr>
          <p:cNvPr id="97" name="Text 91"/>
          <p:cNvSpPr txBox="1"/>
          <p:nvPr/>
        </p:nvSpPr>
        <p:spPr>
          <a:xfrm>
            <a:off x="857707" y="9620402"/>
            <a:ext cx="1905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09 / 12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286000"/>
            <a:ext cx="8210398" cy="5639105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239098" y="2286000"/>
            <a:ext cx="8210398" cy="5639105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8096098"/>
            <a:ext cx="16573500" cy="476402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7707" y="8762695"/>
            <a:ext cx="16592702" cy="552298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pic>
        <p:nvPicPr>
          <p:cNvPr id="7" name="Image 0" descr="gen-dedup-dd6354fb75b3e05f00508f53205ff32e.png">    </p:cNvPr>
          <p:cNvPicPr>
            <a:picLocks noChangeAspect="1"/>
          </p:cNvPicPr>
          <p:nvPr/>
        </p:nvPicPr>
        <p:blipFill>
          <a:blip r:embed="rId1"/>
          <a:srcRect l="0" r="0" t="-402" b="-402"/>
          <a:stretch/>
        </p:blipFill>
        <p:spPr>
          <a:xfrm>
            <a:off x="857707" y="2286000"/>
            <a:ext cx="8191195" cy="57607"/>
          </a:xfrm>
          <a:prstGeom prst="rect">
            <a:avLst/>
          </a:prstGeom>
        </p:spPr>
      </p:pic>
      <p:pic>
        <p:nvPicPr>
          <p:cNvPr id="8" name="Image 1" descr="gen-dedup-98d9a202efc2cb442b9d5f95ce55c526.png">    </p:cNvPr>
          <p:cNvPicPr>
            <a:picLocks noChangeAspect="1"/>
          </p:cNvPicPr>
          <p:nvPr/>
        </p:nvPicPr>
        <p:blipFill>
          <a:blip r:embed="rId2"/>
          <a:srcRect l="0" r="0" t="-402" b="-402"/>
          <a:stretch/>
        </p:blipFill>
        <p:spPr>
          <a:xfrm>
            <a:off x="9239098" y="2286000"/>
            <a:ext cx="8191195" cy="57607"/>
          </a:xfrm>
          <a:prstGeom prst="rect">
            <a:avLst/>
          </a:prstGeom>
        </p:spPr>
      </p:pic>
      <p:pic>
        <p:nvPicPr>
          <p:cNvPr id="9" name="Image 2" descr="gen-dedup-0cd436042822bb56fd940b8efea0ccbc.png">    </p:cNvPr>
          <p:cNvPicPr>
            <a:picLocks noChangeAspect="1"/>
          </p:cNvPicPr>
          <p:nvPr/>
        </p:nvPicPr>
        <p:blipFill>
          <a:blip r:embed="rId3"/>
          <a:srcRect l="-429" r="-429" t="0" b="0"/>
          <a:stretch/>
        </p:blipFill>
        <p:spPr>
          <a:xfrm>
            <a:off x="857707" y="8762695"/>
            <a:ext cx="57607" cy="53309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57707" y="743407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· ELECTRICAL · Rs / Rc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857707" y="1123798"/>
            <a:ext cx="12573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Rs · Rc 누적분포 (percentile table)</a:t>
            </a:r>
            <a:endParaRPr lang="en-US" sz="3150" dirty="0"/>
          </a:p>
        </p:txBody>
      </p:sp>
      <p:sp>
        <p:nvSpPr>
          <p:cNvPr id="12" name="Text 6"/>
          <p:cNvSpPr txBox="1"/>
          <p:nvPr/>
        </p:nvSpPr>
        <p:spPr>
          <a:xfrm>
            <a:off x="857707" y="1690726"/>
            <a:ext cx="12573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 line Rs [Ω/sq] · V2–M3 via chain Rc [Ω/via] · wafer당 49 die · dummy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24953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LINE SHEET RESISTANCE</a:t>
            </a:r>
            <a:endParaRPr lang="en-US" sz="1125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2734056"/>
            <a:ext cx="7620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Rs </a:t>
            </a:r>
            <a:pPr algn="l" indent="0" marL="0">
              <a:buNone/>
            </a:pPr>
            <a:r>
              <a:rPr lang="en-US" sz="1500" b="1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[Ω/sq]</a:t>
            </a:r>
            <a:endParaRPr lang="en-US" sz="2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3333902"/>
          <a:ext cx="7620610" cy="4029761"/>
        </p:xfrm>
        <a:graphic>
          <a:graphicData uri="http://schemas.openxmlformats.org/drawingml/2006/table">
            <a:tbl>
              <a:tblPr/>
              <a:tblGrid>
                <a:gridCol w="1034186"/>
                <a:gridCol w="887882"/>
                <a:gridCol w="1139342"/>
                <a:gridCol w="1139342"/>
                <a:gridCol w="1139342"/>
                <a:gridCol w="1139342"/>
                <a:gridCol w="1140257"/>
              </a:tblGrid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CMP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P1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P10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P50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P90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P99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8A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1.82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1.86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1.91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1.97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2.04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W02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8A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1.83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1.87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1.92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W03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9C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1.90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1.95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2.01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2.17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W04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9C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1.89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1.94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2.00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2.07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2.15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2.01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2.16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2.26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2.41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W06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1.99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2.06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2.14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2.23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2.37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9"/>
          <p:cNvSpPr txBox="1"/>
          <p:nvPr/>
        </p:nvSpPr>
        <p:spPr>
          <a:xfrm>
            <a:off x="9525305" y="24953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VIA CONTACT RESISTANCE</a:t>
            </a:r>
            <a:endParaRPr lang="en-US" sz="1125" dirty="0"/>
          </a:p>
        </p:txBody>
      </p:sp>
      <p:sp>
        <p:nvSpPr>
          <p:cNvPr id="17" name="Text 10"/>
          <p:cNvSpPr txBox="1"/>
          <p:nvPr/>
        </p:nvSpPr>
        <p:spPr>
          <a:xfrm>
            <a:off x="9525305" y="2734056"/>
            <a:ext cx="76206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Rc </a:t>
            </a:r>
            <a:pPr algn="l" indent="0" marL="0">
              <a:buNone/>
            </a:pPr>
            <a:r>
              <a:rPr lang="en-US" sz="1500" b="1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[Ω/via]</a:t>
            </a:r>
            <a:endParaRPr lang="en-US" sz="22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305" y="3333902"/>
          <a:ext cx="7620610" cy="4029761"/>
        </p:xfrm>
        <a:graphic>
          <a:graphicData uri="http://schemas.openxmlformats.org/drawingml/2006/table">
            <a:tbl>
              <a:tblPr/>
              <a:tblGrid>
                <a:gridCol w="1160374"/>
                <a:gridCol w="996696"/>
                <a:gridCol w="1046074"/>
                <a:gridCol w="1046074"/>
                <a:gridCol w="1046074"/>
                <a:gridCol w="1046074"/>
                <a:gridCol w="1278331"/>
              </a:tblGrid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CMP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P1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P10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P50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P90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P99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W01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8A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7.4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7.7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8.1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9.3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W02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8A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7.5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8.2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8.7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9.4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W03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9C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7.9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8.3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8.9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3EC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W04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89C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7.9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8.4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9.0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9.9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W05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8.2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8.8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9.6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11.2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5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W06</a:t>
                      </a:r>
                      <a:endParaRPr lang="en-US" sz="16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7.7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8.1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8.7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9.5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5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10.9</a:t>
                      </a:r>
                      <a:endParaRPr lang="en-US" sz="16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42646" marB="142646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1"/>
          <p:cNvSpPr txBox="1"/>
          <p:nvPr/>
        </p:nvSpPr>
        <p:spPr>
          <a:xfrm>
            <a:off x="1143000" y="819119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P50 vs 0% 평균: Rs </a:t>
            </a:r>
            <a:pPr algn="l" indent="0" marL="0">
              <a:buNone/>
            </a:pPr>
            <a:r>
              <a:rPr lang="en-US" sz="150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+4.7%</a:t>
            </a:r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</a:t>
            </a:r>
            <a:pPr algn="l" indent="0" marL="0">
              <a:buNone/>
            </a:pPr>
            <a:r>
              <a:rPr lang="en-US" sz="150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+12.5%</a:t>
            </a:r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Rc </a:t>
            </a:r>
            <a:pPr algn="l" indent="0" marL="0">
              <a:buNone/>
            </a:pPr>
            <a:r>
              <a:rPr lang="en-US" sz="1500" b="1" dirty="0">
                <a:solidFill>
                  <a:srgbClr val="E89C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+3.0%</a:t>
            </a:r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/ </a:t>
            </a:r>
            <a:pPr algn="l" indent="0" marL="0">
              <a:buNone/>
            </a:pPr>
            <a:r>
              <a:rPr lang="en-US" sz="1500" b="1" dirty="0">
                <a:solidFill>
                  <a:srgbClr val="E0737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+7.3%</a:t>
            </a:r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(15% / 30%)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8876995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 두께 손실로 Rs P50 +12.5%, Rc P99 tail 11 Ω 이상 — 30%는 저항 spec 관점에서 부적합</a:t>
            </a:r>
            <a:endParaRPr lang="en-US" sz="1650" dirty="0"/>
          </a:p>
        </p:txBody>
      </p:sp>
      <p:sp>
        <p:nvSpPr>
          <p:cNvPr id="21" name="Text 13"/>
          <p:cNvSpPr txBox="1"/>
          <p:nvPr/>
        </p:nvSpPr>
        <p:spPr>
          <a:xfrm>
            <a:off x="12191695" y="9620402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050" dirty="0"/>
          </a:p>
        </p:txBody>
      </p:sp>
      <p:sp>
        <p:nvSpPr>
          <p:cNvPr id="22" name="Text 14"/>
          <p:cNvSpPr txBox="1"/>
          <p:nvPr/>
        </p:nvSpPr>
        <p:spPr>
          <a:xfrm>
            <a:off x="857707" y="9620402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10 / 12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190902"/>
            <a:ext cx="8210398" cy="6115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34195" y="2190902"/>
            <a:ext cx="8115300" cy="6115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7707" y="8667598"/>
            <a:ext cx="16573500" cy="571500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gen-dedup-c8102c58ed97f2eed381b7459f08ee6f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857707" y="8667598"/>
            <a:ext cx="57607" cy="571500"/>
          </a:xfrm>
          <a:prstGeom prst="rect">
            <a:avLst/>
          </a:prstGeom>
        </p:spPr>
      </p:pic>
      <p:pic>
        <p:nvPicPr>
          <p:cNvPr id="7" name="Image 1" descr="gen-dedup-88d7df1ad6c0467cac6d9988991f4bf8.jpg">    </p:cNvPr>
          <p:cNvPicPr>
            <a:picLocks noChangeAspect="1"/>
          </p:cNvPicPr>
          <p:nvPr/>
        </p:nvPicPr>
        <p:blipFill>
          <a:blip r:embed="rId2"/>
          <a:srcRect l="-50" r="-50" t="0" b="0"/>
          <a:stretch/>
        </p:blipFill>
        <p:spPr>
          <a:xfrm>
            <a:off x="1047902" y="2381098"/>
            <a:ext cx="7810805" cy="53336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57707" y="743407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· SEM CROSS-SECTION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857707" y="1123798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 단면 · M3 Cu 두께 / dishing / erosion</a:t>
            </a:r>
            <a:endParaRPr lang="en-US" sz="3150" dirty="0"/>
          </a:p>
        </p:txBody>
      </p:sp>
      <p:sp>
        <p:nvSpPr>
          <p:cNvPr id="10" name="Text 5"/>
          <p:cNvSpPr txBox="1"/>
          <p:nvPr/>
        </p:nvSpPr>
        <p:spPr>
          <a:xfrm>
            <a:off x="857707" y="1690726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 이미지: 공개 BEOL 다층 배선 단면 (본 실험 시료 아님)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047902" y="7830007"/>
            <a:ext cx="797814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Intel Broadwell(14 nm) 단면 SEM · Chipworks / ExtremeTech (chegg.com 게시 자료 경유)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620402" y="2400300"/>
            <a:ext cx="75255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 계측 · 조건별 평균 (5 site)</a:t>
            </a:r>
            <a:endParaRPr lang="en-US" sz="1125" dirty="0"/>
          </a:p>
        </p:txBody>
      </p:sp>
      <p:sp>
        <p:nvSpPr>
          <p:cNvPr id="13" name="Text 8"/>
          <p:cNvSpPr txBox="1"/>
          <p:nvPr/>
        </p:nvSpPr>
        <p:spPr>
          <a:xfrm>
            <a:off x="9620402" y="2638044"/>
            <a:ext cx="752551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 profile [nm]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3238805"/>
          <a:ext cx="7525512" cy="2524658"/>
        </p:xfrm>
        <a:graphic>
          <a:graphicData uri="http://schemas.openxmlformats.org/drawingml/2006/table">
            <a:tbl>
              <a:tblPr/>
              <a:tblGrid>
                <a:gridCol w="2356409"/>
                <a:gridCol w="1204265"/>
                <a:gridCol w="1283818"/>
                <a:gridCol w="1289304"/>
                <a:gridCol w="1390802"/>
              </a:tblGrid>
              <a:tr h="631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CMP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두께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Dishing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Erosion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IMD loss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133502" marB="133502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4F8A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 (W01·02)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36.2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1.8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89C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 (W03·04)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33.5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4.3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2.9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3.6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1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 (W05·06)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30.1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7.8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5.2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6.4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14300" marR="114300" marT="190195" marB="190195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9620402" y="6054242"/>
            <a:ext cx="7525512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30%: Cu 두께 −6.1 nm (−17%), dishing 3.7배</a:t>
            </a:r>
            <a:pPr algn="l" indent="0" marL="0">
              <a:lnSpc>
                <a:spcPts val="2640"/>
              </a:lnSpc>
              <a:buNone/>
            </a:pPr>
            <a:endParaRPr lang="en-US" sz="165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넓은 line(dense array)에서 erosion 집중</a:t>
            </a:r>
            <a:pPr algn="l" indent="0" marL="0">
              <a:lnSpc>
                <a:spcPts val="2640"/>
              </a:lnSpc>
              <a:buNone/>
            </a:pPr>
            <a:endParaRPr lang="en-US" sz="165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IMD(ULK) 상부 손실 → cap 접촉면 plasma damage 우려</a:t>
            </a:r>
            <a:endParaRPr lang="en-US" sz="165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8801100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SEM상 Cu 두께 손실이 Rs 상승(+12.5%)과 일치 — over-polish 상한은 15% 이내로 판단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12191695" y="9620402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857707" y="9620402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11 / 12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7707" y="2190902"/>
            <a:ext cx="4209898" cy="6115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238598" y="2190902"/>
            <a:ext cx="4209898" cy="6115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20402" y="2190902"/>
            <a:ext cx="7830007" cy="6115507"/>
          </a:xfrm>
          <a:prstGeom prst="rect">
            <a:avLst/>
          </a:prstGeom>
          <a:solidFill>
            <a:srgbClr val="162340"/>
          </a:solidFill>
          <a:ln w="12700">
            <a:solidFill>
              <a:srgbClr val="2C3E5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7707" y="8667598"/>
            <a:ext cx="16573500" cy="571500"/>
          </a:xfrm>
          <a:prstGeom prst="rect">
            <a:avLst/>
          </a:prstGeom>
          <a:solidFill>
            <a:srgbClr val="243A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6e4861eba2033af3bbb19258faa5ef0b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857707" y="8667598"/>
            <a:ext cx="57607" cy="571500"/>
          </a:xfrm>
          <a:prstGeom prst="rect">
            <a:avLst/>
          </a:prstGeom>
        </p:spPr>
      </p:pic>
      <p:pic>
        <p:nvPicPr>
          <p:cNvPr id="8" name="Image 1" descr="gen-dedup-e033d6840a1decaeb5cf72ba20c9800a.jpg">    </p:cNvPr>
          <p:cNvPicPr>
            <a:picLocks noChangeAspect="1"/>
          </p:cNvPicPr>
          <p:nvPr/>
        </p:nvPicPr>
        <p:blipFill>
          <a:blip r:embed="rId2"/>
          <a:srcRect l="0" r="0" t="-30" b="-30"/>
          <a:stretch/>
        </p:blipFill>
        <p:spPr>
          <a:xfrm>
            <a:off x="1009498" y="2343607"/>
            <a:ext cx="3886200" cy="4114800"/>
          </a:xfrm>
          <a:prstGeom prst="rect">
            <a:avLst/>
          </a:prstGeom>
        </p:spPr>
      </p:pic>
      <p:pic>
        <p:nvPicPr>
          <p:cNvPr id="9" name="Image 2" descr="gen-dedup-b4d1814459a965ddc4a29fcbf06873e3.jpg">    </p:cNvPr>
          <p:cNvPicPr>
            <a:picLocks noChangeAspect="1"/>
          </p:cNvPicPr>
          <p:nvPr/>
        </p:nvPicPr>
        <p:blipFill>
          <a:blip r:embed="rId3"/>
          <a:srcRect l="-13974" r="-13974" t="0" b="0"/>
          <a:stretch/>
        </p:blipFill>
        <p:spPr>
          <a:xfrm>
            <a:off x="5391302" y="2343607"/>
            <a:ext cx="3886200" cy="41148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857707" y="743407"/>
            <a:ext cx="9525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· TEM CROSS-SECTION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857707" y="1123798"/>
            <a:ext cx="142875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 단면 · RSBM barrier / liner 잔존 두께</a:t>
            </a:r>
            <a:endParaRPr lang="en-US" sz="3150" dirty="0"/>
          </a:p>
        </p:txBody>
      </p:sp>
      <p:sp>
        <p:nvSpPr>
          <p:cNvPr id="12" name="Text 6"/>
          <p:cNvSpPr txBox="1"/>
          <p:nvPr/>
        </p:nvSpPr>
        <p:spPr>
          <a:xfrm>
            <a:off x="857707" y="1690726"/>
            <a:ext cx="14287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 이미지: 공개 low-k / 다층 배선 TEM (본 실험 시료 아님)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009498" y="6590995"/>
            <a:ext cx="38862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(a) M1/M2 low-k · air gap TEM</a:t>
            </a:r>
            <a:endParaRPr lang="en-US" sz="1350" dirty="0"/>
          </a:p>
        </p:txBody>
      </p:sp>
      <p:sp>
        <p:nvSpPr>
          <p:cNvPr id="14" name="Text 8"/>
          <p:cNvSpPr txBox="1"/>
          <p:nvPr/>
        </p:nvSpPr>
        <p:spPr>
          <a:xfrm>
            <a:off x="1009498" y="6915607"/>
            <a:ext cx="38862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imec Magazine (2019.09) "Scaling the BEOL: a toolbox filled with new processes, boosters and conductors"</a:t>
            </a:r>
            <a:endParaRPr lang="en-US" sz="1125" dirty="0"/>
          </a:p>
        </p:txBody>
      </p:sp>
      <p:sp>
        <p:nvSpPr>
          <p:cNvPr id="15" name="Text 9"/>
          <p:cNvSpPr txBox="1"/>
          <p:nvPr/>
        </p:nvSpPr>
        <p:spPr>
          <a:xfrm>
            <a:off x="5391302" y="6590995"/>
            <a:ext cx="38862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(b) M0–M15 다층 배선 단면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5391302" y="6915607"/>
            <a:ext cx="38862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Springer Nature Link, "Interconnect" chapter (link.springer.com/chapter/10.1007/978-3-032-04000-8_3)</a:t>
            </a:r>
            <a:endParaRPr lang="en-US" sz="1125" dirty="0"/>
          </a:p>
        </p:txBody>
      </p:sp>
      <p:sp>
        <p:nvSpPr>
          <p:cNvPr id="17" name="Text 11"/>
          <p:cNvSpPr txBox="1"/>
          <p:nvPr/>
        </p:nvSpPr>
        <p:spPr>
          <a:xfrm>
            <a:off x="9868205" y="2400300"/>
            <a:ext cx="73344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 계측 · ALD TaN/Ta + Ru liner</a:t>
            </a:r>
            <a:endParaRPr lang="en-US" sz="1125" dirty="0"/>
          </a:p>
        </p:txBody>
      </p:sp>
      <p:sp>
        <p:nvSpPr>
          <p:cNvPr id="18" name="Text 12"/>
          <p:cNvSpPr txBox="1"/>
          <p:nvPr/>
        </p:nvSpPr>
        <p:spPr>
          <a:xfrm>
            <a:off x="9868205" y="2638044"/>
            <a:ext cx="733440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잔존 두께 [nm]</a:t>
            </a:r>
            <a:endParaRPr lang="en-US" sz="2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68205" y="3238805"/>
          <a:ext cx="7334402" cy="2371954"/>
        </p:xfrm>
        <a:graphic>
          <a:graphicData uri="http://schemas.openxmlformats.org/drawingml/2006/table">
            <a:tbl>
              <a:tblPr/>
              <a:tblGrid>
                <a:gridCol w="970178"/>
                <a:gridCol w="1704442"/>
                <a:gridCol w="1704442"/>
                <a:gridCol w="1300277"/>
                <a:gridCol w="1655064"/>
              </a:tblGrid>
              <a:tr h="5929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CMP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TaN/Ta 측벽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TaN/Ta 바닥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 liner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5F729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상단 corner</a:t>
                      </a:r>
                      <a:endParaRPr lang="en-US" sz="1125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9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4F8AE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1.5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2.2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9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89C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3.1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1.4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1.7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9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E0737D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2.3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3.0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E3ECF7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1.3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E0737D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0.9</a:t>
                      </a:r>
                      <a:endParaRPr lang="en-US" sz="18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5098" marR="95098" marT="171907" marB="171907" anchor="ctr">
                    <a:lnL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2C3E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3"/>
          <p:cNvSpPr txBox="1"/>
          <p:nvPr/>
        </p:nvSpPr>
        <p:spPr>
          <a:xfrm>
            <a:off x="9868205" y="5959145"/>
            <a:ext cx="7334402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측벽·바닥 barrier는 조건 간 차이 미미</a:t>
            </a:r>
            <a:pPr algn="l" indent="0" marL="0">
              <a:lnSpc>
                <a:spcPts val="2640"/>
              </a:lnSpc>
              <a:buNone/>
            </a:pPr>
            <a:endParaRPr lang="en-US" sz="165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30%: line 상단 corner barrier 0.9 nm로 얇아짐</a:t>
            </a:r>
            <a:pPr algn="l" indent="0" marL="0">
              <a:lnSpc>
                <a:spcPts val="2640"/>
              </a:lnSpc>
              <a:buNone/>
            </a:pPr>
            <a:endParaRPr lang="en-US" sz="165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​</a:t>
            </a:r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94A6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Cu/cap 계면 EM 열화 가능성 → EM 추가 평가 필요</a:t>
            </a:r>
            <a:endParaRPr lang="en-US" sz="165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8801100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3EC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barrier 손실은 상단 corner에 국한 — 30%는 EM 리스크로 제외, 15%까지 공정 window 유지</a:t>
            </a:r>
            <a:endParaRPr lang="en-US" sz="1650" dirty="0"/>
          </a:p>
        </p:txBody>
      </p:sp>
      <p:sp>
        <p:nvSpPr>
          <p:cNvPr id="22" name="Text 15"/>
          <p:cNvSpPr txBox="1"/>
          <p:nvPr/>
        </p:nvSpPr>
        <p:spPr>
          <a:xfrm>
            <a:off x="12191695" y="9620402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내부 테스트용 더미(가상) 데이터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857707" y="9620402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5F729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D07 · 12 / 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2026-10-03T16:09:37Z</dcterms:created>
  <dcterms:modified xsi:type="dcterms:W3CDTF">2026-10-03T16:09:37Z</dcterms:modified>
</cp:coreProperties>
</file>