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 — 실험의 큰 의도와 평가 조건을 함께 보여주는 오프닝 슬라이드입니다. 좌측에 큰 제목과 의도, 우측 표에 평가 조건 8행을 배치했습니다.
핵심은 'ES film만 단일 변인으로 두고 8 wafer를 비교한다'는 점. 같은 9 nm line CD target 레시피 위에서 AlOx와 SiCN split을 가르기 때문에, 이후 슬라이드에서 보이는 CD/전기적 차이는 거의 ES film에서 비롯된다고 해석할 수 있습니다.
시선은 좌측 헤드라인 → 우측 조건 표 → 좌측 하단의 '한 줄 결론'으로 흐르도록 짰습니다. 말할 때는 "이 deck은 dummy이고, 시뮬레이션/통합 비교용 보고서"라는 점도 가볍게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2 — 스플릿 매트릭스와 8 wafer 배치를 한 페이지에 묶었습니다. 좌측에는 AlOx/SiCN 두 split을 각각 chip과 wafer-id로 표기, factor 목록에서 마지막 칸인 ESC(etch stop choice)만 VARIABLE로 강조했습니다.
우측에는 300 mm wafer 위에 8개 점을 split 색으로 칠하고 edge 5 mm는 dashed 라인으로 제외했습니다. 위치는 symmetry 보다 가독성을 우선해 단순화했습니다.
발표 시에는 "한 wafer 만 뽑으면 안 된다, 같은 split이라도 wafer-to-wafer 변동이 있다"는 점을 짚어 주세요. 이후 슬라이드의 4 wafer 평균은 그 분산을 누그러뜨리는 데 의의가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3 — 다크 캔버스로 리듬 전환합니다. 네 가지 CD 항목을 2x2 카드에 풀어 정의했습니다.
AASI(array-after-spacer-isolation) 25.4 nm, ASEI 15.7 nm, AMI 9.0 nm, ACI 8.4 nm — density / line / via 의 대표값입니다.
"왜 네 가지냐"는 발문을 받으면, 같은 die 안에서 density 쪽 CD(A/B), line-bottom CD(C), via-bottom CD(D) 가 분기되면 표정이 다 다르게 움직인다고 답하면 됩니다. AASI/ASEI 는 top-down SEM, AMI/ACI 는 cross-section 으로 측정합니다.
이후 슬라이드 6~9에서 한 wafer 당 한 항목씩 풀어 보여줄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4 — SEM 단면 이미지 한 컷을 큰 카피로 좌측에 두고, 우측에 두 split 의 관찰을 따로 적었습니다.
좌측 이미지는 Intel 4 공정의 Cu interconnect 단면을 차용했고, 출처는 Semiconductor Digest 입니다. dummy 평가용이라 wafer 실물은 아니라는 점도 작게 표기했습니다.
AlOx 쪽에서 trench 바닥에 notching / undercut 흔적이 4 wafer 중 3에 관찰됐다는 메모, SiCN 은 pseudo-vertical profile 로 안정적이었다는 메모로 갈라놨습니다.
이후 TEM 슬라이드에서 같은 wafer 의 interface seam 도 비슷한 결로 갈라지는지를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5 — slide 04 와 짝을 이루는 TEM 슬라이드이지만 다크 캔버스로 만들었습니다. SEM 보다 작은 feature 까지 보인다는 점이 의도된 차이입니다.
두 가지 수치 봉을 좌측에 두고 우측에 짧은 코멘트로 묶었습니다. Seam thickness 가 split 간에 18 % 차이, LER_3σ 도 SiCN 쪽이 우세.
출처는 IntechOpen 의 Cu interconnect image 1 컷을 차용. dummy 평가 자료라는 점은 그대로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6 — AASI 25.4 nm 의미의 CD 변동을 wafer 별로 펼쳐놓은 메인 테이블 슬라이드. 좌측에 8 wafer 의 mean/3σ/range/delta, 우측에는 sign gap 요약 카드와 한 줄 결론 카드.
AlOx 행은 옅은 rust 배경으로, SiCN 행은 옅은 teal 배경으로 칠해 split semantic 을 그대로 시각화했습니다.
강조 포인트는 W06 가 가장 작은 mean (24.78 nm), W03 가 가장 큰 3σ (0.45 nm) 라는 점. 발표 시 "Δ3σ" 와 "Δmean" 둘 다로 SiCN 우세라고 정리합니다.
이후 7/8/9 슬라이드는 같은 골격이지만 항목만 ASEI/AMI/ACI 로 바뀝니다.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7 — ASEI 15.7 nm 의 wafer 별 변동. 6번 슬라이드의 다크 버전으로 짝을 지었습니다. 같은 8 wafer 표인데 dark canvas + light 카드 + 라이트-크림 우측 패널로 변환 점만 다릅니다.
강조: W06 가 mean 15.10 nm 로 가장 작고, 3σ 0.20 nm 로 가장 tight. AlOx 쪽 W03 가 mean 16.34, 3σ 0.36 으로 가장 큰 변동.
발표 시 "mid-etch 시점에 spacer 가 살아있어서 plasma damage 가 가장 표면에 누적되는 단계" 라는 점을 짚어 주세요. ASEI 의 gap (0.94 nm) 이 AASI (0.70 nm) 보다 크다는 사실도 분기 효과의 강도 차이를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8 — AMI 9.0 nm 의 line-bottom CD. 우측 다크 카드에 8-row 막대 묶음, 좌측엔 8-row 표 + 하단 3-라벨.
좌측 8-row 표 + 평균 요약 / 우측 다크 카드에 8-row 막대 차트. row 각각이 wafer 하나의 위치를 target 9.0 nm 의 상대치로 보여줍니다.
강조: 분포 모양은 split 사이 갈라진다 (AlOx 0.13~0.20, SiCN 0.09~0.14). 색 톤 정리: AlOx #B5632A / SiCN #1F4250.
0.31 nm 의 sign gap 은 6번 AASI 슬라이드 대비 44 % 수준이지만 sign 자체는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9 — 4개의 CD 표 시리즈 마지막. ACI 8.4 nm 의미의 via-bottom CD.
6/7/8 과 같은 8-row 표이지만 우측에 다크 사이드 카드를 두고 σ-median 만 두 큰 숫자로 정리했습니다. 분포 모양을 강조하는 페이지.
강조: SiCN 의 σ 가 0.10 nm median 으로 가장 작고, AlOx 는 0.15 nm. Δ 33 % 는 이 4장 시리즈에서 가장 큰 σ 차 — 작은 feature 일수록 split 효과가 σ 쪽으로 더 또렷이 나타난다는 메시지.
다음 슬라이드는 69-pt wafer map 으로 같은 wafer 의 사이트별 분포를 시각화합니다.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10 — 69-pt wafer map + 8-row within-wafer uniformity 표를 한 페이지에 묶었습니다.
좌측 big SVG wafer map 은 W04 AlOx 의 69 site. 1+6+12+18+24+8 = 69 로 동심 링 + 가장자리 8개. 색은 Δ vs target. 우상단 quadrant 에 일부 rust 점이 몰려있는데, 발표 시 "상단 우측 — 14 / 69 site 가 +0.20 nm 초과" 라고 짚습니다.
가운데 컬럼엔 wafer 설명 + drift count + legend 가 들어가고, 우측엔 8-row uniformity 표와 median σ 카드 두 개가 들어갑니다. color-tone 도 살짝 조정해서 contrast 보강.
마지막 dark band 안에 한 줄 결론 chip + 본문이 인라인으로 들어가서 슬라이드를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슬라이드 11 — 전기 특성을 4 cell 로 정리한 마지막 슬라이드. 도식이 아닌 숫자 표 위주. 4 cards 2x2 (870x294 each). Row 1 at y=178, Row 2 at y=496.
A · Line R (light) / B · Via R (dark) / C · EM TTF (dark with 1.33x ratio callout) / D · Leakage (light).
다듬은 컬러 팔레트: AlOx 진영 #8C3F1B (darker rust), SiCN 진영 #1F4250 (deep teal). 표 안 row background tint 살짝 깔고 chip-tag 로 split 표시.
마지막 dark band 안에 한 줄 결론 + 4-metric delta 요약으로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905695" y="1619402"/>
            <a:ext cx="7619695" cy="6476695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gen-dedup-f877fa13478ca5cd1a698ae707cf666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1695" y="8305495"/>
            <a:ext cx="8382305" cy="857707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131debe999ebef2fde6567cbdac0f866.png">    </p:cNvPr>
          <p:cNvPicPr>
            <a:picLocks noChangeAspect="1"/>
          </p:cNvPicPr>
          <p:nvPr/>
        </p:nvPicPr>
        <p:blipFill>
          <a:blip r:embed="rId2"/>
          <a:srcRect l="0" r="0" t="-420" b="-420"/>
          <a:stretch/>
        </p:blipFill>
        <p:spPr>
          <a:xfrm>
            <a:off x="761695" y="4552798"/>
            <a:ext cx="761695" cy="5760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61695" y="743407"/>
            <a:ext cx="5334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264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BEOL 평가 실험 보고서 · 20 / 20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15430500" y="761695"/>
            <a:ext cx="2095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spc="210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20 · ETA STOP</a:t>
            </a:r>
            <a:endParaRPr lang="en-US" sz="105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1619402"/>
            <a:ext cx="8382305" cy="1724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7200" b="1" spc="-180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Etch Stop 분기,</a:t>
            </a:r>
            <a:pPr algn="l" indent="0" marL="0">
              <a:lnSpc>
                <a:spcPct val="94000"/>
              </a:lnSpc>
              <a:buNone/>
            </a:pPr>
            <a:endParaRPr lang="en-US" sz="72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200" b="1" spc="-180" kern="0" dirty="0">
                <a:solidFill>
                  <a:srgbClr val="B563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CD</a:t>
            </a:r>
            <a:pPr algn="l" indent="0" marL="0">
              <a:lnSpc>
                <a:spcPct val="94000"/>
              </a:lnSpc>
              <a:buNone/>
            </a:pPr>
            <a:r>
              <a:rPr lang="en-US" sz="7200" b="1" spc="-180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와 </a:t>
            </a:r>
            <a:pPr algn="l" indent="0" marL="0">
              <a:lnSpc>
                <a:spcPct val="94000"/>
              </a:lnSpc>
              <a:buNone/>
            </a:pPr>
            <a:r>
              <a:rPr lang="en-US" sz="7200" b="1" spc="-180" kern="0" dirty="0">
                <a:solidFill>
                  <a:srgbClr val="2D5F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전류-저항</a:t>
            </a:r>
            <a:pPr algn="l" indent="0" marL="0">
              <a:lnSpc>
                <a:spcPct val="94000"/>
              </a:lnSpc>
              <a:buNone/>
            </a:pPr>
            <a:r>
              <a:rPr lang="en-US" sz="7200" b="1" spc="-180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사이</a:t>
            </a:r>
            <a:endParaRPr lang="en-US" sz="72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3604565"/>
            <a:ext cx="7239305" cy="1000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180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와 SiCN 두 ES film 후보를 단일 분리 변인으로 두고, 동일 M2 / 9 nm line CD target 레시피에서 CD 변동·profile·전기적 signature를 8 wafer 규모로 비교한다.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4819802"/>
            <a:ext cx="8382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01.1 · 평가 의도</a:t>
            </a:r>
            <a:endParaRPr lang="en-US" sz="1125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5116068"/>
            <a:ext cx="8382305" cy="1017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 film이 두꺼울수록 damascene profile 변동을 키우고 via-bottom CD를 흔든다는 가설을</a:t>
            </a:r>
            <a:pPr algn="l" indent="0" marL="0">
              <a:lnSpc>
                <a:spcPts val="2558"/>
              </a:lnSpc>
              <a:buNone/>
            </a:pPr>
            <a:endParaRPr lang="en-US" sz="1650" dirty="0"/>
          </a:p>
          <a:p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B563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2D5F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</a:t>
            </a:r>
            <a:pPr algn="l" indent="0" marL="0">
              <a:lnSpc>
                <a:spcPts val="2558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의 4 vs 4 wafer 비교로 정량 확인한다 — 측정 항목은 CD 4종·profile SEM·TEM·전기 4종.</a:t>
            </a:r>
            <a:endParaRPr lang="en-US" sz="1650" dirty="0"/>
          </a:p>
        </p:txBody>
      </p:sp>
      <p:sp>
        <p:nvSpPr>
          <p:cNvPr id="13" name="Text 8"/>
          <p:cNvSpPr txBox="1"/>
          <p:nvPr/>
        </p:nvSpPr>
        <p:spPr>
          <a:xfrm>
            <a:off x="10191902" y="1904695"/>
            <a:ext cx="7049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03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01.2 · 평가 조건</a:t>
            </a:r>
            <a:endParaRPr lang="en-US" sz="1125" dirty="0"/>
          </a:p>
        </p:txBody>
      </p:sp>
      <p:sp>
        <p:nvSpPr>
          <p:cNvPr id="14" name="Shape 9"/>
          <p:cNvSpPr/>
          <p:nvPr/>
        </p:nvSpPr>
        <p:spPr>
          <a:xfrm>
            <a:off x="10191902" y="2867558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0191902" y="2361895"/>
            <a:ext cx="1905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Metal layer</a:t>
            </a:r>
            <a:endParaRPr lang="en-US" sz="1125" dirty="0"/>
          </a:p>
        </p:txBody>
      </p:sp>
      <p:sp>
        <p:nvSpPr>
          <p:cNvPr id="16" name="Text 11"/>
          <p:cNvSpPr txBox="1"/>
          <p:nvPr/>
        </p:nvSpPr>
        <p:spPr>
          <a:xfrm>
            <a:off x="12096598" y="2361895"/>
            <a:ext cx="5143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 (damascene, Cu)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10191902" y="3377794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10191902" y="2872130"/>
            <a:ext cx="190561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CD target</a:t>
            </a:r>
            <a:endParaRPr lang="en-US" sz="1125" dirty="0"/>
          </a:p>
        </p:txBody>
      </p:sp>
      <p:sp>
        <p:nvSpPr>
          <p:cNvPr id="19" name="Text 14"/>
          <p:cNvSpPr txBox="1"/>
          <p:nvPr/>
        </p:nvSpPr>
        <p:spPr>
          <a:xfrm>
            <a:off x="12096598" y="2872130"/>
            <a:ext cx="5143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 nm (AMI)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10191902" y="3909974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191902" y="3386023"/>
            <a:ext cx="1905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IL D / ILD</a:t>
            </a:r>
            <a:endParaRPr lang="en-US" sz="1125" dirty="0"/>
          </a:p>
        </p:txBody>
      </p:sp>
      <p:sp>
        <p:nvSpPr>
          <p:cNvPr id="22" name="Text 17"/>
          <p:cNvSpPr txBox="1"/>
          <p:nvPr/>
        </p:nvSpPr>
        <p:spPr>
          <a:xfrm>
            <a:off x="12096598" y="3386023"/>
            <a:ext cx="5143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ULK (k≈2.5)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10191902" y="4453128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10191902" y="3919118"/>
            <a:ext cx="19056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Etch stop layer</a:t>
            </a:r>
            <a:endParaRPr lang="en-US" sz="1125" dirty="0"/>
          </a:p>
        </p:txBody>
      </p:sp>
      <p:sp>
        <p:nvSpPr>
          <p:cNvPr id="25" name="Shape 20"/>
          <p:cNvSpPr/>
          <p:nvPr/>
        </p:nvSpPr>
        <p:spPr>
          <a:xfrm>
            <a:off x="10191902" y="4986223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0191902" y="4462272"/>
            <a:ext cx="1905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set</a:t>
            </a:r>
            <a:endParaRPr lang="en-US" sz="1125" dirty="0"/>
          </a:p>
        </p:txBody>
      </p:sp>
      <p:sp>
        <p:nvSpPr>
          <p:cNvPr id="27" name="Text 22"/>
          <p:cNvSpPr txBox="1"/>
          <p:nvPr/>
        </p:nvSpPr>
        <p:spPr>
          <a:xfrm>
            <a:off x="12096598" y="4462272"/>
            <a:ext cx="5143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매 — AlOx ×4 / SiCN ×4</a:t>
            </a:r>
            <a:endParaRPr lang="en-US" sz="1500" dirty="0"/>
          </a:p>
        </p:txBody>
      </p:sp>
      <p:sp>
        <p:nvSpPr>
          <p:cNvPr id="28" name="Shape 23"/>
          <p:cNvSpPr/>
          <p:nvPr/>
        </p:nvSpPr>
        <p:spPr>
          <a:xfrm>
            <a:off x="10191902" y="5520233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10191902" y="4996282"/>
            <a:ext cx="1905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사이트</a:t>
            </a:r>
            <a:endParaRPr lang="en-US" sz="1125" dirty="0"/>
          </a:p>
        </p:txBody>
      </p:sp>
      <p:sp>
        <p:nvSpPr>
          <p:cNvPr id="30" name="Text 25"/>
          <p:cNvSpPr txBox="1"/>
          <p:nvPr/>
        </p:nvSpPr>
        <p:spPr>
          <a:xfrm>
            <a:off x="12096598" y="4996282"/>
            <a:ext cx="5143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당 69 pt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10191902" y="6053328"/>
            <a:ext cx="7048195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10191902" y="5529377"/>
            <a:ext cx="19056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항목</a:t>
            </a:r>
            <a:endParaRPr lang="en-US" sz="1125" dirty="0"/>
          </a:p>
        </p:txBody>
      </p:sp>
      <p:sp>
        <p:nvSpPr>
          <p:cNvPr id="33" name="Text 28"/>
          <p:cNvSpPr txBox="1"/>
          <p:nvPr/>
        </p:nvSpPr>
        <p:spPr>
          <a:xfrm>
            <a:off x="12096598" y="5529377"/>
            <a:ext cx="51435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4종 · Line R · Via R · EM · 누설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10191902" y="6062472"/>
            <a:ext cx="19056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도구</a:t>
            </a:r>
            <a:endParaRPr lang="en-US" sz="1125" dirty="0"/>
          </a:p>
        </p:txBody>
      </p:sp>
      <p:sp>
        <p:nvSpPr>
          <p:cNvPr id="35" name="Text 30"/>
          <p:cNvSpPr txBox="1"/>
          <p:nvPr/>
        </p:nvSpPr>
        <p:spPr>
          <a:xfrm>
            <a:off x="12096598" y="6062472"/>
            <a:ext cx="51435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CD-SEM · TEM · wafer mapped parametric tester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12096598" y="4095598"/>
            <a:ext cx="476402" cy="247802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12645238" y="4095598"/>
            <a:ext cx="495605" cy="247802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990295" y="8419795"/>
            <a:ext cx="8001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D4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975" dirty="0"/>
          </a:p>
        </p:txBody>
      </p:sp>
      <p:sp>
        <p:nvSpPr>
          <p:cNvPr id="39" name="Text 34"/>
          <p:cNvSpPr txBox="1"/>
          <p:nvPr/>
        </p:nvSpPr>
        <p:spPr>
          <a:xfrm>
            <a:off x="990295" y="8658454"/>
            <a:ext cx="868680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 film 변화만으로 line/via CD 가 0.5 nm 가까이 움직이는지를 8 wafer 정량 비교로 분리해 본다.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목적 및 평가 조건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61695" y="2762402"/>
            <a:ext cx="8382305" cy="5715000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715500" y="3143707"/>
            <a:ext cx="4953305" cy="4953305"/>
          </a:xfrm>
          <a:prstGeom prst="ellipse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f877fa13478ca5cd1a698ae707cf666a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pic>
        <p:nvPicPr>
          <p:cNvPr id="6" name="Image 1" descr="gen-dedup-955d45c92ba24c340914b064b4c055be.png">    </p:cNvPr>
          <p:cNvPicPr>
            <a:picLocks noChangeAspect="1"/>
          </p:cNvPicPr>
          <p:nvPr/>
        </p:nvPicPr>
        <p:blipFill>
          <a:blip r:embed="rId2"/>
          <a:srcRect l="0" r="0" t="-2089" b="-2089"/>
          <a:stretch/>
        </p:blipFill>
        <p:spPr>
          <a:xfrm>
            <a:off x="4953305" y="4496105"/>
            <a:ext cx="9144" cy="266730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1239805" y="3429000"/>
            <a:ext cx="8020202" cy="4401007"/>
          </a:xfrm>
          <a:prstGeom prst="roundRect">
            <a:avLst>
              <a:gd name="adj" fmla="val 49990"/>
            </a:avLst>
          </a:prstGeom>
          <a:noFill/>
          <a:ln w="12700">
            <a:solidFill>
              <a:srgbClr val="B5AC8E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13868705" y="5467198"/>
            <a:ext cx="228600" cy="228600"/>
          </a:xfrm>
          <a:prstGeom prst="rect">
            <a:avLst/>
          </a:prstGeom>
          <a:solidFill>
            <a:srgbClr val="B56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3068605" y="4724705"/>
            <a:ext cx="228600" cy="228600"/>
          </a:xfrm>
          <a:prstGeom prst="rect">
            <a:avLst/>
          </a:prstGeom>
          <a:solidFill>
            <a:srgbClr val="B56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3068605" y="6210605"/>
            <a:ext cx="228600" cy="228600"/>
          </a:xfrm>
          <a:prstGeom prst="rect">
            <a:avLst/>
          </a:prstGeom>
          <a:solidFill>
            <a:srgbClr val="B56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4668805" y="4724705"/>
            <a:ext cx="228600" cy="228600"/>
          </a:xfrm>
          <a:prstGeom prst="rect">
            <a:avLst/>
          </a:prstGeom>
          <a:solidFill>
            <a:srgbClr val="B563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15697505" y="5467198"/>
            <a:ext cx="228600" cy="228600"/>
          </a:xfrm>
          <a:prstGeom prst="rect">
            <a:avLst/>
          </a:prstGeom>
          <a:solidFill>
            <a:srgbClr val="2D5F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4668805" y="6210605"/>
            <a:ext cx="228600" cy="228600"/>
          </a:xfrm>
          <a:prstGeom prst="rect">
            <a:avLst/>
          </a:prstGeom>
          <a:solidFill>
            <a:srgbClr val="2D5F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3868705" y="6953098"/>
            <a:ext cx="228600" cy="228600"/>
          </a:xfrm>
          <a:prstGeom prst="rect">
            <a:avLst/>
          </a:prstGeom>
          <a:solidFill>
            <a:srgbClr val="2D5F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6611905" y="4724705"/>
            <a:ext cx="228600" cy="228600"/>
          </a:xfrm>
          <a:prstGeom prst="rect">
            <a:avLst/>
          </a:prstGeom>
          <a:solidFill>
            <a:srgbClr val="2D5F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5697505" y="6953098"/>
            <a:ext cx="228600" cy="228600"/>
          </a:xfrm>
          <a:prstGeom prst="rect">
            <a:avLst/>
          </a:prstGeom>
          <a:solidFill>
            <a:srgbClr val="2D5F70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02 · DoE</a:t>
            </a:r>
            <a:endParaRPr lang="en-US" sz="1125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1076249"/>
            <a:ext cx="11430000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spc="-106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단일 변인 분기 —</a:t>
            </a:r>
            <a:pPr algn="l" indent="0" marL="0">
              <a:lnSpc>
                <a:spcPct val="100000"/>
              </a:lnSpc>
              <a:buNone/>
            </a:pPr>
            <a:endParaRPr lang="en-US" sz="4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800" b="1" spc="-106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 wafer, 두 ES film만 바꾼다</a:t>
            </a:r>
            <a:endParaRPr lang="en-US" sz="48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3029407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02.1 · Split matrix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3886200"/>
            <a:ext cx="3620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spc="-126" kern="0" dirty="0">
                <a:solidFill>
                  <a:srgbClr val="B563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× 4</a:t>
            </a:r>
            <a:endParaRPr lang="en-US" sz="63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4789627"/>
            <a:ext cx="36201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· W02 · W03 · W04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CVD Al</a:t>
            </a:r>
            <a:pPr algn="l" indent="0" marL="0">
              <a:lnSpc>
                <a:spcPts val="2092"/>
              </a:lnSpc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</a:t>
            </a:r>
            <a:pPr algn="l" indent="0" marL="0">
              <a:lnSpc>
                <a:spcPts val="2092"/>
              </a:lnSpc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k ≈ 7, 두께 4.0 nm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step / 동일 챔버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3409798"/>
            <a:ext cx="1181405" cy="305410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· AlOx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5333695" y="3886200"/>
            <a:ext cx="36201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spc="-126" kern="0" dirty="0">
                <a:solidFill>
                  <a:srgbClr val="2D5F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× 4</a:t>
            </a:r>
            <a:endParaRPr lang="en-US" sz="6300" dirty="0"/>
          </a:p>
        </p:txBody>
      </p:sp>
      <p:sp>
        <p:nvSpPr>
          <p:cNvPr id="24" name="Text 19"/>
          <p:cNvSpPr txBox="1"/>
          <p:nvPr/>
        </p:nvSpPr>
        <p:spPr>
          <a:xfrm>
            <a:off x="5333695" y="4789627"/>
            <a:ext cx="362011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 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 · W06 · W07 · W08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PECVD SiC</a:t>
            </a:r>
            <a:pPr algn="l" indent="0" marL="0">
              <a:lnSpc>
                <a:spcPts val="2092"/>
              </a:lnSpc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</a:t>
            </a:r>
            <a:pPr algn="l" indent="0" marL="0">
              <a:lnSpc>
                <a:spcPts val="2092"/>
              </a:lnSpc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</a:t>
            </a:r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k ≈ 4.8, 두께 3.5 nm</a:t>
            </a:r>
            <a:pPr algn="l" indent="0" marL="0">
              <a:lnSpc>
                <a:spcPts val="2092"/>
              </a:lnSpc>
              <a:buNone/>
            </a:pPr>
            <a:endParaRPr lang="en-US" sz="1350" dirty="0"/>
          </a:p>
          <a:p>
            <a:pPr algn="l" indent="0" marL="0">
              <a:lnSpc>
                <a:spcPts val="2092"/>
              </a:lnSpc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step / 동일 챔버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5333695" y="3409798"/>
            <a:ext cx="1200607" cy="305410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· SiCN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143000" y="7543800"/>
            <a:ext cx="7620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FACTOR LITHO ETCH CMP CMP-CLEAN ANNEAL ESC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1143000" y="7848295"/>
            <a:ext cx="619963" cy="257861"/>
          </a:xfrm>
          <a:prstGeom prst="rect">
            <a:avLst/>
          </a:prstGeom>
          <a:solidFill>
            <a:srgbClr val="1A212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1893722" y="7848295"/>
            <a:ext cx="619963" cy="257861"/>
          </a:xfrm>
          <a:prstGeom prst="rect">
            <a:avLst/>
          </a:prstGeom>
          <a:solidFill>
            <a:srgbClr val="1A212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2644445" y="7848295"/>
            <a:ext cx="619963" cy="257861"/>
          </a:xfrm>
          <a:prstGeom prst="rect">
            <a:avLst/>
          </a:prstGeom>
          <a:solidFill>
            <a:srgbClr val="1A212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</a:t>
            </a:r>
            <a:endParaRPr lang="en-US" sz="975" dirty="0"/>
          </a:p>
        </p:txBody>
      </p:sp>
      <p:sp>
        <p:nvSpPr>
          <p:cNvPr id="30" name="Text 25"/>
          <p:cNvSpPr txBox="1"/>
          <p:nvPr/>
        </p:nvSpPr>
        <p:spPr>
          <a:xfrm>
            <a:off x="3395167" y="7848295"/>
            <a:ext cx="619963" cy="257861"/>
          </a:xfrm>
          <a:prstGeom prst="rect">
            <a:avLst/>
          </a:prstGeom>
          <a:solidFill>
            <a:srgbClr val="1A212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</a:t>
            </a:r>
            <a:endParaRPr lang="en-US" sz="975" dirty="0"/>
          </a:p>
        </p:txBody>
      </p:sp>
      <p:sp>
        <p:nvSpPr>
          <p:cNvPr id="31" name="Text 26"/>
          <p:cNvSpPr txBox="1"/>
          <p:nvPr/>
        </p:nvSpPr>
        <p:spPr>
          <a:xfrm>
            <a:off x="4145890" y="7848295"/>
            <a:ext cx="619963" cy="257861"/>
          </a:xfrm>
          <a:prstGeom prst="rect">
            <a:avLst/>
          </a:prstGeom>
          <a:solidFill>
            <a:srgbClr val="1A212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</a:t>
            </a:r>
            <a:endParaRPr lang="en-US" sz="975" dirty="0"/>
          </a:p>
        </p:txBody>
      </p:sp>
      <p:sp>
        <p:nvSpPr>
          <p:cNvPr id="32" name="Text 27"/>
          <p:cNvSpPr txBox="1"/>
          <p:nvPr/>
        </p:nvSpPr>
        <p:spPr>
          <a:xfrm>
            <a:off x="4896612" y="7848295"/>
            <a:ext cx="619963" cy="257861"/>
          </a:xfrm>
          <a:prstGeom prst="rect">
            <a:avLst/>
          </a:prstGeom>
          <a:solidFill>
            <a:srgbClr val="1A212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FROZEN</a:t>
            </a:r>
            <a:endParaRPr lang="en-US" sz="975" dirty="0"/>
          </a:p>
        </p:txBody>
      </p:sp>
      <p:sp>
        <p:nvSpPr>
          <p:cNvPr id="33" name="Text 28"/>
          <p:cNvSpPr txBox="1"/>
          <p:nvPr/>
        </p:nvSpPr>
        <p:spPr>
          <a:xfrm>
            <a:off x="5647334" y="7848295"/>
            <a:ext cx="771754" cy="257861"/>
          </a:xfrm>
          <a:prstGeom prst="rect">
            <a:avLst/>
          </a:prstGeom>
          <a:solidFill>
            <a:srgbClr val="D4A3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88900" tIns="50800" rIns="88900" bIns="5080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VARIABLE</a:t>
            </a:r>
            <a:endParaRPr lang="en-US" sz="975" dirty="0"/>
          </a:p>
        </p:txBody>
      </p:sp>
      <p:sp>
        <p:nvSpPr>
          <p:cNvPr id="34" name="Text 29"/>
          <p:cNvSpPr txBox="1"/>
          <p:nvPr/>
        </p:nvSpPr>
        <p:spPr>
          <a:xfrm>
            <a:off x="1143000" y="8238744"/>
            <a:ext cx="7620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인자 7종 모두 동결 — ES film 만 유일한 변수, eight wafer pair 비교.</a:t>
            </a:r>
            <a:endParaRPr lang="en-US" sz="1350" dirty="0"/>
          </a:p>
        </p:txBody>
      </p:sp>
      <p:sp>
        <p:nvSpPr>
          <p:cNvPr id="35" name="Text 30"/>
          <p:cNvSpPr txBox="1"/>
          <p:nvPr/>
        </p:nvSpPr>
        <p:spPr>
          <a:xfrm>
            <a:off x="9715500" y="2762402"/>
            <a:ext cx="7810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10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02.2 · 8 wafer 배치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10934395" y="3161995"/>
            <a:ext cx="762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 mm</a:t>
            </a:r>
            <a:endParaRPr lang="en-US" sz="975" dirty="0"/>
          </a:p>
        </p:txBody>
      </p:sp>
      <p:sp>
        <p:nvSpPr>
          <p:cNvPr id="37" name="Text 32"/>
          <p:cNvSpPr txBox="1"/>
          <p:nvPr/>
        </p:nvSpPr>
        <p:spPr>
          <a:xfrm>
            <a:off x="17030700" y="5447995"/>
            <a:ext cx="571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spc="90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</a:t>
            </a:r>
            <a:pPr algn="l" indent="0" marL="0">
              <a:lnSpc>
                <a:spcPct val="135000"/>
              </a:lnSpc>
              <a:buNone/>
            </a:pP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spc="90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mm</a:t>
            </a:r>
            <a:pPr algn="l" indent="0" marL="0">
              <a:lnSpc>
                <a:spcPct val="135000"/>
              </a:lnSpc>
              <a:buNone/>
            </a:pP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spc="90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excl.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14192402" y="5467198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12668098" y="4724705"/>
            <a:ext cx="3429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050" dirty="0"/>
          </a:p>
        </p:txBody>
      </p:sp>
      <p:sp>
        <p:nvSpPr>
          <p:cNvPr id="40" name="Text 35"/>
          <p:cNvSpPr txBox="1"/>
          <p:nvPr/>
        </p:nvSpPr>
        <p:spPr>
          <a:xfrm>
            <a:off x="12668098" y="6200546"/>
            <a:ext cx="3429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14973300" y="4724705"/>
            <a:ext cx="381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16002000" y="5467198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14973300" y="6200546"/>
            <a:ext cx="762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14192402" y="6933895"/>
            <a:ext cx="5715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</a:t>
            </a:r>
            <a:endParaRPr lang="en-US" sz="1050" dirty="0"/>
          </a:p>
        </p:txBody>
      </p:sp>
      <p:sp>
        <p:nvSpPr>
          <p:cNvPr id="45" name="Text 40"/>
          <p:cNvSpPr txBox="1"/>
          <p:nvPr/>
        </p:nvSpPr>
        <p:spPr>
          <a:xfrm>
            <a:off x="16916400" y="4724705"/>
            <a:ext cx="381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</a:t>
            </a:r>
            <a:endParaRPr lang="en-US" sz="1050" dirty="0"/>
          </a:p>
        </p:txBody>
      </p:sp>
      <p:sp>
        <p:nvSpPr>
          <p:cNvPr id="46" name="Text 41"/>
          <p:cNvSpPr txBox="1"/>
          <p:nvPr/>
        </p:nvSpPr>
        <p:spPr>
          <a:xfrm>
            <a:off x="9715500" y="8382305"/>
            <a:ext cx="1246327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× AlOx split</a:t>
            </a:r>
            <a:endParaRPr lang="en-US" sz="1125" dirty="0"/>
          </a:p>
        </p:txBody>
      </p:sp>
      <p:sp>
        <p:nvSpPr>
          <p:cNvPr id="47" name="Text 42"/>
          <p:cNvSpPr txBox="1"/>
          <p:nvPr/>
        </p:nvSpPr>
        <p:spPr>
          <a:xfrm>
            <a:off x="11087100" y="8382305"/>
            <a:ext cx="124724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× SiCN split</a:t>
            </a:r>
            <a:endParaRPr lang="en-US" sz="1125" dirty="0"/>
          </a:p>
        </p:txBody>
      </p:sp>
      <p:sp>
        <p:nvSpPr>
          <p:cNvPr id="48" name="Text 43"/>
          <p:cNvSpPr txBox="1"/>
          <p:nvPr/>
        </p:nvSpPr>
        <p:spPr>
          <a:xfrm>
            <a:off x="12476074" y="8382305"/>
            <a:ext cx="1286561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5 mm 제외</a:t>
            </a:r>
            <a:endParaRPr lang="en-US" sz="1125" dirty="0"/>
          </a:p>
        </p:txBody>
      </p:sp>
      <p:sp>
        <p:nvSpPr>
          <p:cNvPr id="49" name="Text 44"/>
          <p:cNvSpPr txBox="1"/>
          <p:nvPr/>
        </p:nvSpPr>
        <p:spPr>
          <a:xfrm>
            <a:off x="761695" y="8762695"/>
            <a:ext cx="8763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B58A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■ 한 줄 결론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761695" y="9010498"/>
            <a:ext cx="8763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wafer pair 비교로 모든 인자를 동결하고 ES film 만 가른다 — 분기 외 노이즈를 최대한 억제.</a:t>
            </a:r>
            <a:endParaRPr lang="en-US" sz="1425" dirty="0"/>
          </a:p>
        </p:txBody>
      </p:sp>
      <p:sp>
        <p:nvSpPr>
          <p:cNvPr id="51" name="Text 46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스플릿 매트릭스</a:t>
            </a:r>
            <a:endParaRPr lang="en-US" sz="1200" dirty="0"/>
          </a:p>
        </p:txBody>
      </p:sp>
      <p:sp>
        <p:nvSpPr>
          <p:cNvPr id="52" name="Text 47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6cf7de0413b779d6da46073155979082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3047695"/>
            <a:ext cx="16192195" cy="9144"/>
          </a:xfrm>
          <a:prstGeom prst="rect">
            <a:avLst/>
          </a:prstGeom>
        </p:spPr>
      </p:pic>
      <p:pic>
        <p:nvPicPr>
          <p:cNvPr id="4" name="Image 1" descr="gen-dedup-6cf7de0413b779d6da46073155979082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3238805"/>
            <a:ext cx="7905902" cy="28575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8858707" y="3238805"/>
            <a:ext cx="8096098" cy="28575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761695" y="6286500"/>
            <a:ext cx="7905902" cy="22860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858707" y="6286500"/>
            <a:ext cx="8096098" cy="22860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03 · CD METRICS</a:t>
            </a:r>
            <a:endParaRPr lang="en-US" sz="1125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076249"/>
            <a:ext cx="11430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06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네 가지 CD, 같은 site, 같은 lot</a:t>
            </a:r>
            <a:endParaRPr lang="en-US" sz="48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914754"/>
            <a:ext cx="83823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wafer 의 동일 die 안에서 density / line / via 각각 다른 site 4곳에서 CD 를 끌어온다 — 같은 recipe 안에서 분기된 변수만 다룬다.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1143000" y="35433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AASI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1143000" y="3829507"/>
            <a:ext cx="72393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array-after-spacer-isolation</a:t>
            </a:r>
            <a:endParaRPr lang="en-US" sz="285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4342486"/>
            <a:ext cx="79251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 array 의 Mx spacer 가 다 빠지고 난 뒤의 isolation-CD. </a:t>
            </a:r>
            <a:pPr algn="l" indent="0" marL="0">
              <a:buNone/>
            </a:pPr>
            <a:r>
              <a:rPr lang="en-US" sz="1350" dirty="0">
                <a:solidFill>
                  <a:srgbClr val="D4A3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density signature</a:t>
            </a:r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를 본다.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143000" y="5333695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25.4 nm · POST-ETCH · TOP-DOWN SEM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9239098" y="3543300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ASEI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9239098" y="3829507"/>
            <a:ext cx="7429500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29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array-after-spacer-etch-inside</a:t>
            </a:r>
            <a:endParaRPr lang="en-US" sz="2850" dirty="0"/>
          </a:p>
        </p:txBody>
      </p:sp>
      <p:sp>
        <p:nvSpPr>
          <p:cNvPr id="18" name="Text 13"/>
          <p:cNvSpPr txBox="1"/>
          <p:nvPr/>
        </p:nvSpPr>
        <p:spPr>
          <a:xfrm>
            <a:off x="9239098" y="4342486"/>
            <a:ext cx="7429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spacer 가 아직 남아있는 시점의 array 내부 CD. etch 진행 중 profile 흔적을 본다.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9239098" y="5333695"/>
            <a:ext cx="7429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15.7 nm · MID-ETCH · TOP-DOWN SEM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655350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· AMI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6819595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after-metal-isolation</a:t>
            </a:r>
            <a:endParaRPr lang="en-US" sz="27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7294169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 bottom CD. via 가 시작되는 면.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143000" y="7962595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9.0 nm · POST-METAL · CROSS-SECTION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9239098" y="6553505"/>
            <a:ext cx="11430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 · ACI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9239098" y="6819595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spc="-27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after-contact-isolation</a:t>
            </a:r>
            <a:endParaRPr lang="en-US" sz="2700" dirty="0"/>
          </a:p>
        </p:txBody>
      </p:sp>
      <p:sp>
        <p:nvSpPr>
          <p:cNvPr id="26" name="Text 21"/>
          <p:cNvSpPr txBox="1"/>
          <p:nvPr/>
        </p:nvSpPr>
        <p:spPr>
          <a:xfrm>
            <a:off x="9239098" y="7294169"/>
            <a:ext cx="74295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via-bottom CD. 가장 작은 feature — split 흔적이 가장 먼저 드러난다.</a:t>
            </a:r>
            <a:endParaRPr lang="en-US" sz="1350" dirty="0"/>
          </a:p>
        </p:txBody>
      </p:sp>
      <p:sp>
        <p:nvSpPr>
          <p:cNvPr id="27" name="Text 22"/>
          <p:cNvSpPr txBox="1"/>
          <p:nvPr/>
        </p:nvSpPr>
        <p:spPr>
          <a:xfrm>
            <a:off x="9239098" y="7962595"/>
            <a:ext cx="7429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· 8.4 nm · POST-VIA · CROSS-SECTION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761695" y="8762695"/>
            <a:ext cx="16193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D4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761695" y="9001354"/>
            <a:ext cx="16193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25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density(A·B), line(C), via(D) — 같은 die, 같은 lot 안에서 네 항목의 평균·분포·delta 를 동시 추적한다.</a:t>
            </a:r>
            <a:endParaRPr lang="en-US" sz="1425" dirty="0"/>
          </a:p>
        </p:txBody>
      </p:sp>
      <p:sp>
        <p:nvSpPr>
          <p:cNvPr id="30" name="Text 25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11</a:t>
            </a:r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평가 항목 정의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72f0d523bdc32362d4aad407980129a8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11430000" y="2800807"/>
            <a:ext cx="6096305" cy="9144"/>
          </a:xfrm>
          <a:prstGeom prst="rect">
            <a:avLst/>
          </a:prstGeom>
        </p:spPr>
      </p:pic>
      <p:pic>
        <p:nvPicPr>
          <p:cNvPr id="4" name="Image 1" descr="gen-dedup-f877fa13478ca5cd1a698ae707cf666a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1430000" y="7048195"/>
            <a:ext cx="6096305" cy="1524305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761695" y="2286000"/>
            <a:ext cx="10287000" cy="6286500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200a0112c459832e5ba334d5cb9dc7ce.jp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761695" y="2286000"/>
            <a:ext cx="10287000" cy="62865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04 · SEM IMAGE</a:t>
            </a:r>
            <a:endParaRPr lang="en-US" sz="1125" dirty="0"/>
          </a:p>
        </p:txBody>
      </p:sp>
      <p:sp>
        <p:nvSpPr>
          <p:cNvPr id="9" name="Text 3"/>
          <p:cNvSpPr txBox="1"/>
          <p:nvPr/>
        </p:nvSpPr>
        <p:spPr>
          <a:xfrm>
            <a:off x="761695" y="1076249"/>
            <a:ext cx="1181496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9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단면 profile, 두 ES film 의 표정 차이</a:t>
            </a:r>
            <a:endParaRPr lang="en-US" sz="4500" dirty="0"/>
          </a:p>
        </p:txBody>
      </p:sp>
      <p:sp>
        <p:nvSpPr>
          <p:cNvPr id="10" name="Text 4"/>
          <p:cNvSpPr txBox="1"/>
          <p:nvPr/>
        </p:nvSpPr>
        <p:spPr>
          <a:xfrm>
            <a:off x="952805" y="8725205"/>
            <a:ext cx="9906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Fig.04 · M2 dual-damascene cross-section · representative wafer · 출처 Semiconductor Digest</a:t>
            </a:r>
            <a:endParaRPr lang="en-US" sz="975" dirty="0"/>
          </a:p>
        </p:txBody>
      </p:sp>
      <p:sp>
        <p:nvSpPr>
          <p:cNvPr id="11" name="Text 5"/>
          <p:cNvSpPr txBox="1"/>
          <p:nvPr/>
        </p:nvSpPr>
        <p:spPr>
          <a:xfrm>
            <a:off x="952805" y="8973922"/>
            <a:ext cx="9906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i="1" spc="36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dummy data · wafer 실물은 별도 평가 lot 의 split 비교컷을 상징적으로 표현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1430000" y="2286000"/>
            <a:ext cx="6096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04.1 · 관찰</a:t>
            </a:r>
            <a:endParaRPr lang="en-US" sz="1125" dirty="0"/>
          </a:p>
        </p:txBody>
      </p:sp>
      <p:sp>
        <p:nvSpPr>
          <p:cNvPr id="13" name="Text 7"/>
          <p:cNvSpPr txBox="1"/>
          <p:nvPr/>
        </p:nvSpPr>
        <p:spPr>
          <a:xfrm>
            <a:off x="11430000" y="3362249"/>
            <a:ext cx="6096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trench 저부에서 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B563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undercut 흔적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4 wafer 중 3 wafer 에서 관찰. profile 이 notching 쪽으로 치우침.</a:t>
            </a:r>
            <a:endParaRPr lang="en-US" sz="1650" dirty="0"/>
          </a:p>
        </p:txBody>
      </p:sp>
      <p:sp>
        <p:nvSpPr>
          <p:cNvPr id="14" name="Text 8"/>
          <p:cNvSpPr txBox="1"/>
          <p:nvPr/>
        </p:nvSpPr>
        <p:spPr>
          <a:xfrm>
            <a:off x="11430000" y="2971800"/>
            <a:ext cx="1077163" cy="257861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· AlOx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11430000" y="5343754"/>
            <a:ext cx="609630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거의 symmetric 한 profile, undercut 없음. 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2D5F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pseudo-vertical</a:t>
            </a:r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에 가깝게 떨어짐.</a:t>
            </a:r>
            <a:endParaRPr lang="en-US" sz="165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0" y="4953305"/>
            <a:ext cx="1095451" cy="257861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· SiCN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11658600" y="7200900"/>
            <a:ext cx="56391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98" kern="0" dirty="0">
                <a:solidFill>
                  <a:srgbClr val="D4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■ 한 줄 결론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1658600" y="7467905"/>
            <a:ext cx="56391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split 에서 bottom-side profile 변동이 더 큼 — CD 표정과는 별개로 profile 자체에 흔적이 남는다.</a:t>
            </a:r>
            <a:endParaRPr lang="en-US" sz="1275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SEM 단면 관찰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6cf7de0413b779d6da46073155979082.png">    </p:cNvPr>
          <p:cNvPicPr>
            <a:picLocks noChangeAspect="1"/>
          </p:cNvPicPr>
          <p:nvPr/>
        </p:nvPicPr>
        <p:blipFill>
          <a:blip r:embed="rId1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0" y="7791602"/>
            <a:ext cx="6096305" cy="1410005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761695" y="2857500"/>
            <a:ext cx="10287000" cy="57150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e4ff9494d521eaa62bf09a323e39d2d5.jpg">    </p:cNvPr>
          <p:cNvPicPr>
            <a:picLocks noChangeAspect="1"/>
          </p:cNvPicPr>
          <p:nvPr/>
        </p:nvPicPr>
        <p:blipFill>
          <a:blip r:embed="rId2">
            <a:alphaModFix amt="95000"/>
          </a:blip>
          <a:stretch>
            <a:fillRect/>
          </a:stretch>
        </p:blipFill>
        <p:spPr>
          <a:xfrm>
            <a:off x="761695" y="2857500"/>
            <a:ext cx="10287000" cy="57150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05 · TEM IMAGE</a:t>
            </a:r>
            <a:endParaRPr lang="en-US" sz="1125" dirty="0"/>
          </a:p>
        </p:txBody>
      </p:sp>
      <p:sp>
        <p:nvSpPr>
          <p:cNvPr id="8" name="Text 3"/>
          <p:cNvSpPr txBox="1"/>
          <p:nvPr/>
        </p:nvSpPr>
        <p:spPr>
          <a:xfrm>
            <a:off x="761695" y="1076249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99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interface seam thickness,</a:t>
            </a:r>
            <a:pPr algn="l" indent="0" marL="0">
              <a:lnSpc>
                <a:spcPct val="100000"/>
              </a:lnSpc>
              <a:buNone/>
            </a:pPr>
            <a:endParaRPr lang="en-US" sz="4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0" b="1" spc="-99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한눈에 갈라지는 차이</a:t>
            </a:r>
            <a:endParaRPr lang="en-US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2428646"/>
            <a:ext cx="8382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die 의 Cu / ES film / ULK 3중 계면을 STEM 으로 측정한 두 split 의 비교 컷.</a:t>
            </a:r>
            <a:endParaRPr lang="en-US" sz="1350" dirty="0"/>
          </a:p>
        </p:txBody>
      </p:sp>
      <p:sp>
        <p:nvSpPr>
          <p:cNvPr id="10" name="Text 5"/>
          <p:cNvSpPr txBox="1"/>
          <p:nvPr/>
        </p:nvSpPr>
        <p:spPr>
          <a:xfrm>
            <a:off x="952805" y="8667598"/>
            <a:ext cx="9906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Fig.05 · Cu/ULK interface · representative split A · 출처 IntechOpen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11430000" y="2857500"/>
            <a:ext cx="6096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05.1 · Interface reads</a:t>
            </a:r>
            <a:endParaRPr lang="en-US" sz="1125" dirty="0"/>
          </a:p>
        </p:txBody>
      </p:sp>
      <p:pic>
        <p:nvPicPr>
          <p:cNvPr id="12" name="Image 2" descr="gen-dedup-1a8636d93162aef3997891d26dddccdf.png">    </p:cNvPr>
          <p:cNvPicPr>
            <a:picLocks noChangeAspect="1"/>
          </p:cNvPicPr>
          <p:nvPr/>
        </p:nvPicPr>
        <p:blipFill>
          <a:blip r:embed="rId3"/>
          <a:srcRect l="-2072" r="-2072" t="0" b="0"/>
          <a:stretch/>
        </p:blipFill>
        <p:spPr>
          <a:xfrm>
            <a:off x="11430000" y="3209544"/>
            <a:ext cx="1904695" cy="914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1430000" y="3333902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SEAM THICKNESS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11430000" y="3590849"/>
            <a:ext cx="1794053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B563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2.6 nm</a:t>
            </a:r>
            <a:endParaRPr lang="en-US" sz="3600" dirty="0"/>
          </a:p>
        </p:txBody>
      </p:sp>
      <p:sp>
        <p:nvSpPr>
          <p:cNvPr id="15" name="Text 9"/>
          <p:cNvSpPr txBox="1"/>
          <p:nvPr/>
        </p:nvSpPr>
        <p:spPr>
          <a:xfrm>
            <a:off x="13101523" y="3838651"/>
            <a:ext cx="133776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split 평균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1430000" y="4248302"/>
            <a:ext cx="1793138" cy="5815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36" kern="0" dirty="0">
                <a:solidFill>
                  <a:srgbClr val="2D5F7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2.2 nm</a:t>
            </a:r>
            <a:endParaRPr lang="en-US" sz="3600" dirty="0"/>
          </a:p>
        </p:txBody>
      </p:sp>
      <p:sp>
        <p:nvSpPr>
          <p:cNvPr id="17" name="Text 11"/>
          <p:cNvSpPr txBox="1"/>
          <p:nvPr/>
        </p:nvSpPr>
        <p:spPr>
          <a:xfrm>
            <a:off x="13096037" y="4496105"/>
            <a:ext cx="136062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split 평균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0" y="4962449"/>
            <a:ext cx="6096305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쪽 seam 두께가 +18 % 두꺼움 — 양 split 모두 interface 깨끗하지만 두께 분포가 갈라짐.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1430000" y="6286500"/>
            <a:ext cx="6096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EDGE ROUGHNESS</a:t>
            </a:r>
            <a:endParaRPr lang="en-US" sz="975" dirty="0"/>
          </a:p>
        </p:txBody>
      </p:sp>
      <p:sp>
        <p:nvSpPr>
          <p:cNvPr id="20" name="Text 14"/>
          <p:cNvSpPr txBox="1"/>
          <p:nvPr/>
        </p:nvSpPr>
        <p:spPr>
          <a:xfrm>
            <a:off x="11430000" y="6553505"/>
            <a:ext cx="6096305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ULK 측 line-edge LER</a:t>
            </a:r>
            <a:pPr algn="l" indent="0" marL="0">
              <a:lnSpc>
                <a:spcPts val="2250"/>
              </a:lnSpc>
              <a:buNone/>
            </a:pPr>
            <a:r>
              <a:rPr lang="en-US" sz="12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AlOx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0.92 nm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SiCN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0.71 nm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쪽이 line-edge 거칠기에서도 우세.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1658600" y="8296351"/>
            <a:ext cx="56391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의 interface seam 이 더 얇고 edge 거칠기도 작다 — AlOx 의 두꺼운 seam 은 etch gas 화학 차로 추정.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658600" y="7991856"/>
            <a:ext cx="800100" cy="210312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25400" rIns="1143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825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11</a:t>
            </a:r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TEM 단면 관찰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06e5e5e04515924236d7e84402fe3989.png">    </p:cNvPr>
          <p:cNvPicPr>
            <a:picLocks noChangeAspect="1"/>
          </p:cNvPicPr>
          <p:nvPr/>
        </p:nvPicPr>
        <p:blipFill>
          <a:blip r:embed="rId1"/>
          <a:srcRect l="0" r="0" t="-2061" b="-2061"/>
          <a:stretch/>
        </p:blipFill>
        <p:spPr>
          <a:xfrm>
            <a:off x="13049402" y="4324198"/>
            <a:ext cx="9144" cy="76169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2286000"/>
            <a:ext cx="11716207" cy="6096305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620e3f6b31f59401f62d2cc573c73cef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7239305"/>
            <a:ext cx="10953598" cy="9144"/>
          </a:xfrm>
          <a:prstGeom prst="rect">
            <a:avLst/>
          </a:prstGeom>
        </p:spPr>
      </p:pic>
      <p:pic>
        <p:nvPicPr>
          <p:cNvPr id="6" name="Image 2" descr="gen-dedup-f877fa13478ca5cd1a698ae707cf666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2763195" y="2800807"/>
            <a:ext cx="4762195" cy="3619195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2763195" y="6705295"/>
            <a:ext cx="4762195" cy="1676095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06 · AASI · array-after-spacer-isolation</a:t>
            </a:r>
            <a:endParaRPr lang="en-US" sz="1125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1076249"/>
            <a:ext cx="11430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06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AASI </a:t>
            </a:r>
            <a:pPr algn="l" indent="0" marL="0">
              <a:buNone/>
            </a:pPr>
            <a:r>
              <a:rPr lang="en-US" sz="3150" b="1" spc="-106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25.4 nm</a:t>
            </a:r>
            <a:endParaRPr lang="en-US" sz="4800" dirty="0"/>
          </a:p>
        </p:txBody>
      </p:sp>
      <p:sp>
        <p:nvSpPr>
          <p:cNvPr id="11" name="Text 5"/>
          <p:cNvSpPr txBox="1"/>
          <p:nvPr/>
        </p:nvSpPr>
        <p:spPr>
          <a:xfrm>
            <a:off x="1143000" y="255300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06.1 · per-wafer reading · 8 wafer, 69 site 평균 / wafer</a:t>
            </a:r>
            <a:endParaRPr lang="en-US" sz="975" dirty="0"/>
          </a:p>
        </p:txBody>
      </p:sp>
      <p:sp>
        <p:nvSpPr>
          <p:cNvPr id="12" name="Shape 6"/>
          <p:cNvSpPr/>
          <p:nvPr/>
        </p:nvSpPr>
        <p:spPr>
          <a:xfrm>
            <a:off x="1143000" y="3409798"/>
            <a:ext cx="10953598" cy="19202"/>
          </a:xfrm>
          <a:prstGeom prst="rect">
            <a:avLst/>
          </a:prstGeom>
          <a:solidFill>
            <a:srgbClr val="1A212B"/>
          </a:solidFill>
          <a:ln w="12700">
            <a:solidFill>
              <a:srgbClr val="1A212B">
                <a:alpha val="0"/>
              </a:srgbClr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1143000" y="2971800"/>
            <a:ext cx="11338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2270455" y="2971800"/>
            <a:ext cx="11338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3396996" y="297180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(nm)</a:t>
            </a:r>
            <a:endParaRPr lang="en-US" sz="975" dirty="0"/>
          </a:p>
        </p:txBody>
      </p:sp>
      <p:sp>
        <p:nvSpPr>
          <p:cNvPr id="16" name="Text 10"/>
          <p:cNvSpPr txBox="1"/>
          <p:nvPr/>
        </p:nvSpPr>
        <p:spPr>
          <a:xfrm>
            <a:off x="5266944" y="297180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(nm)</a:t>
            </a:r>
            <a:endParaRPr lang="en-US" sz="975" dirty="0"/>
          </a:p>
        </p:txBody>
      </p:sp>
      <p:sp>
        <p:nvSpPr>
          <p:cNvPr id="17" name="Text 11"/>
          <p:cNvSpPr txBox="1"/>
          <p:nvPr/>
        </p:nvSpPr>
        <p:spPr>
          <a:xfrm>
            <a:off x="7135063" y="297180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 (nm)</a:t>
            </a:r>
            <a:endParaRPr lang="en-US" sz="975" dirty="0"/>
          </a:p>
        </p:txBody>
      </p:sp>
      <p:sp>
        <p:nvSpPr>
          <p:cNvPr id="18" name="Text 12"/>
          <p:cNvSpPr txBox="1"/>
          <p:nvPr/>
        </p:nvSpPr>
        <p:spPr>
          <a:xfrm>
            <a:off x="9005011" y="297180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975" dirty="0"/>
          </a:p>
        </p:txBody>
      </p:sp>
      <p:sp>
        <p:nvSpPr>
          <p:cNvPr id="19" name="Shape 13"/>
          <p:cNvSpPr/>
          <p:nvPr/>
        </p:nvSpPr>
        <p:spPr>
          <a:xfrm>
            <a:off x="1143000" y="3429000"/>
            <a:ext cx="10953598" cy="523951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1143000" y="3943807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2270455" y="3429000"/>
            <a:ext cx="1133856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396996" y="3429000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25.62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5266944" y="3429000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7135063" y="3429000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1.81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9005011" y="3429000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+0.22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0875874" y="3429000"/>
            <a:ext cx="12289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avg within σ</a:t>
            </a:r>
            <a:endParaRPr lang="en-US" sz="975" dirty="0"/>
          </a:p>
        </p:txBody>
      </p:sp>
      <p:sp>
        <p:nvSpPr>
          <p:cNvPr id="27" name="Shape 21"/>
          <p:cNvSpPr/>
          <p:nvPr/>
        </p:nvSpPr>
        <p:spPr>
          <a:xfrm>
            <a:off x="1143000" y="3948379"/>
            <a:ext cx="10953598" cy="514807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1143000" y="4454042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270455" y="3948379"/>
            <a:ext cx="11338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350" dirty="0"/>
          </a:p>
        </p:txBody>
      </p:sp>
      <p:sp>
        <p:nvSpPr>
          <p:cNvPr id="30" name="Text 24"/>
          <p:cNvSpPr txBox="1"/>
          <p:nvPr/>
        </p:nvSpPr>
        <p:spPr>
          <a:xfrm>
            <a:off x="3396996" y="3948379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25.55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5266944" y="3948379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7135063" y="3948379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1.67</a:t>
            </a:r>
            <a:endParaRPr lang="en-US" sz="1350" dirty="0"/>
          </a:p>
        </p:txBody>
      </p:sp>
      <p:sp>
        <p:nvSpPr>
          <p:cNvPr id="33" name="Text 27"/>
          <p:cNvSpPr txBox="1"/>
          <p:nvPr/>
        </p:nvSpPr>
        <p:spPr>
          <a:xfrm>
            <a:off x="9005011" y="3948379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+0.15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1143000" y="4462272"/>
            <a:ext cx="10953598" cy="514807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35" name="Shape 29"/>
          <p:cNvSpPr/>
          <p:nvPr/>
        </p:nvSpPr>
        <p:spPr>
          <a:xfrm>
            <a:off x="1143000" y="4967935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2270455" y="4462272"/>
            <a:ext cx="11338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350" dirty="0"/>
          </a:p>
        </p:txBody>
      </p:sp>
      <p:sp>
        <p:nvSpPr>
          <p:cNvPr id="37" name="Text 31"/>
          <p:cNvSpPr txBox="1"/>
          <p:nvPr/>
        </p:nvSpPr>
        <p:spPr>
          <a:xfrm>
            <a:off x="3396996" y="4462272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25.71</a:t>
            </a:r>
            <a:endParaRPr lang="en-US" sz="1350" dirty="0"/>
          </a:p>
        </p:txBody>
      </p:sp>
      <p:sp>
        <p:nvSpPr>
          <p:cNvPr id="38" name="Text 32"/>
          <p:cNvSpPr txBox="1"/>
          <p:nvPr/>
        </p:nvSpPr>
        <p:spPr>
          <a:xfrm>
            <a:off x="5266944" y="4462272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0.45</a:t>
            </a:r>
            <a:endParaRPr lang="en-US" sz="1350" dirty="0"/>
          </a:p>
        </p:txBody>
      </p:sp>
      <p:sp>
        <p:nvSpPr>
          <p:cNvPr id="39" name="Text 33"/>
          <p:cNvSpPr txBox="1"/>
          <p:nvPr/>
        </p:nvSpPr>
        <p:spPr>
          <a:xfrm>
            <a:off x="7135063" y="4462272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1.94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9005011" y="4462272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+0.31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10875874" y="4462272"/>
            <a:ext cx="12289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highest σ</a:t>
            </a:r>
            <a:endParaRPr lang="en-US" sz="975" dirty="0"/>
          </a:p>
        </p:txBody>
      </p:sp>
      <p:sp>
        <p:nvSpPr>
          <p:cNvPr id="42" name="Shape 36"/>
          <p:cNvSpPr/>
          <p:nvPr/>
        </p:nvSpPr>
        <p:spPr>
          <a:xfrm>
            <a:off x="1143000" y="4977079"/>
            <a:ext cx="10953598" cy="523951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43" name="Shape 37"/>
          <p:cNvSpPr/>
          <p:nvPr/>
        </p:nvSpPr>
        <p:spPr>
          <a:xfrm>
            <a:off x="1143000" y="5481828"/>
            <a:ext cx="10953598" cy="19202"/>
          </a:xfrm>
          <a:prstGeom prst="rect">
            <a:avLst/>
          </a:prstGeom>
          <a:solidFill>
            <a:srgbClr val="B5632A"/>
          </a:solidFill>
          <a:ln w="12700">
            <a:solidFill>
              <a:srgbClr val="B5632A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2270455" y="4977079"/>
            <a:ext cx="1133856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350" dirty="0"/>
          </a:p>
        </p:txBody>
      </p:sp>
      <p:sp>
        <p:nvSpPr>
          <p:cNvPr id="45" name="Text 39"/>
          <p:cNvSpPr txBox="1"/>
          <p:nvPr/>
        </p:nvSpPr>
        <p:spPr>
          <a:xfrm>
            <a:off x="3396996" y="4977079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25.40</a:t>
            </a:r>
            <a:endParaRPr lang="en-US" sz="1350" dirty="0"/>
          </a:p>
        </p:txBody>
      </p:sp>
      <p:sp>
        <p:nvSpPr>
          <p:cNvPr id="46" name="Text 40"/>
          <p:cNvSpPr txBox="1"/>
          <p:nvPr/>
        </p:nvSpPr>
        <p:spPr>
          <a:xfrm>
            <a:off x="5266944" y="4977079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0.36</a:t>
            </a:r>
            <a:endParaRPr lang="en-US" sz="1350" dirty="0"/>
          </a:p>
        </p:txBody>
      </p:sp>
      <p:sp>
        <p:nvSpPr>
          <p:cNvPr id="47" name="Text 41"/>
          <p:cNvSpPr txBox="1"/>
          <p:nvPr/>
        </p:nvSpPr>
        <p:spPr>
          <a:xfrm>
            <a:off x="7135063" y="4977079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1.55</a:t>
            </a:r>
            <a:endParaRPr lang="en-US" sz="1350" dirty="0"/>
          </a:p>
        </p:txBody>
      </p:sp>
      <p:sp>
        <p:nvSpPr>
          <p:cNvPr id="48" name="Text 42"/>
          <p:cNvSpPr txBox="1"/>
          <p:nvPr/>
        </p:nvSpPr>
        <p:spPr>
          <a:xfrm>
            <a:off x="9005011" y="4977079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±0.00</a:t>
            </a:r>
            <a:endParaRPr lang="en-US" sz="1350" dirty="0"/>
          </a:p>
        </p:txBody>
      </p:sp>
      <p:sp>
        <p:nvSpPr>
          <p:cNvPr id="49" name="Text 43"/>
          <p:cNvSpPr txBox="1"/>
          <p:nvPr/>
        </p:nvSpPr>
        <p:spPr>
          <a:xfrm>
            <a:off x="10875874" y="4977079"/>
            <a:ext cx="1228954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on-target</a:t>
            </a:r>
            <a:endParaRPr lang="en-US" sz="975" dirty="0"/>
          </a:p>
        </p:txBody>
      </p:sp>
      <p:sp>
        <p:nvSpPr>
          <p:cNvPr id="50" name="Shape 44"/>
          <p:cNvSpPr/>
          <p:nvPr/>
        </p:nvSpPr>
        <p:spPr>
          <a:xfrm>
            <a:off x="1143000" y="5495544"/>
            <a:ext cx="10953598" cy="523951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51" name="Shape 45"/>
          <p:cNvSpPr/>
          <p:nvPr/>
        </p:nvSpPr>
        <p:spPr>
          <a:xfrm>
            <a:off x="1143000" y="6010351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2270455" y="5495544"/>
            <a:ext cx="1133856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350" dirty="0"/>
          </a:p>
        </p:txBody>
      </p:sp>
      <p:sp>
        <p:nvSpPr>
          <p:cNvPr id="53" name="Text 47"/>
          <p:cNvSpPr txBox="1"/>
          <p:nvPr/>
        </p:nvSpPr>
        <p:spPr>
          <a:xfrm>
            <a:off x="3396996" y="5495544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24.91</a:t>
            </a:r>
            <a:endParaRPr lang="en-US" sz="1350" dirty="0"/>
          </a:p>
        </p:txBody>
      </p:sp>
      <p:sp>
        <p:nvSpPr>
          <p:cNvPr id="54" name="Text 48"/>
          <p:cNvSpPr txBox="1"/>
          <p:nvPr/>
        </p:nvSpPr>
        <p:spPr>
          <a:xfrm>
            <a:off x="5266944" y="5495544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</a:t>
            </a:r>
            <a:endParaRPr lang="en-US" sz="1350" dirty="0"/>
          </a:p>
        </p:txBody>
      </p:sp>
      <p:sp>
        <p:nvSpPr>
          <p:cNvPr id="55" name="Text 49"/>
          <p:cNvSpPr txBox="1"/>
          <p:nvPr/>
        </p:nvSpPr>
        <p:spPr>
          <a:xfrm>
            <a:off x="7135063" y="5495544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1.32</a:t>
            </a:r>
            <a:endParaRPr lang="en-US" sz="1350" dirty="0"/>
          </a:p>
        </p:txBody>
      </p:sp>
      <p:sp>
        <p:nvSpPr>
          <p:cNvPr id="56" name="Text 50"/>
          <p:cNvSpPr txBox="1"/>
          <p:nvPr/>
        </p:nvSpPr>
        <p:spPr>
          <a:xfrm>
            <a:off x="9005011" y="5495544"/>
            <a:ext cx="1877263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−0.49</a:t>
            </a:r>
            <a:endParaRPr lang="en-US" sz="1350" dirty="0"/>
          </a:p>
        </p:txBody>
      </p:sp>
      <p:sp>
        <p:nvSpPr>
          <p:cNvPr id="57" name="Shape 51"/>
          <p:cNvSpPr/>
          <p:nvPr/>
        </p:nvSpPr>
        <p:spPr>
          <a:xfrm>
            <a:off x="1143000" y="6014923"/>
            <a:ext cx="10953598" cy="514807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58" name="Shape 52"/>
          <p:cNvSpPr/>
          <p:nvPr/>
        </p:nvSpPr>
        <p:spPr>
          <a:xfrm>
            <a:off x="1143000" y="6520586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59" name="Text 53"/>
          <p:cNvSpPr txBox="1"/>
          <p:nvPr/>
        </p:nvSpPr>
        <p:spPr>
          <a:xfrm>
            <a:off x="2270455" y="6014923"/>
            <a:ext cx="11338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1350" dirty="0"/>
          </a:p>
        </p:txBody>
      </p:sp>
      <p:sp>
        <p:nvSpPr>
          <p:cNvPr id="60" name="Text 54"/>
          <p:cNvSpPr txBox="1"/>
          <p:nvPr/>
        </p:nvSpPr>
        <p:spPr>
          <a:xfrm>
            <a:off x="3396996" y="60149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24.78</a:t>
            </a:r>
            <a:endParaRPr lang="en-US" sz="1350" dirty="0"/>
          </a:p>
        </p:txBody>
      </p:sp>
      <p:sp>
        <p:nvSpPr>
          <p:cNvPr id="61" name="Text 55"/>
          <p:cNvSpPr txBox="1"/>
          <p:nvPr/>
        </p:nvSpPr>
        <p:spPr>
          <a:xfrm>
            <a:off x="5266944" y="60149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0.28</a:t>
            </a:r>
            <a:endParaRPr lang="en-US" sz="1350" dirty="0"/>
          </a:p>
        </p:txBody>
      </p:sp>
      <p:sp>
        <p:nvSpPr>
          <p:cNvPr id="62" name="Text 56"/>
          <p:cNvSpPr txBox="1"/>
          <p:nvPr/>
        </p:nvSpPr>
        <p:spPr>
          <a:xfrm>
            <a:off x="7135063" y="60149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350" dirty="0"/>
          </a:p>
        </p:txBody>
      </p:sp>
      <p:sp>
        <p:nvSpPr>
          <p:cNvPr id="63" name="Text 57"/>
          <p:cNvSpPr txBox="1"/>
          <p:nvPr/>
        </p:nvSpPr>
        <p:spPr>
          <a:xfrm>
            <a:off x="9005011" y="60149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−0.62</a:t>
            </a:r>
            <a:endParaRPr lang="en-US" sz="1350" dirty="0"/>
          </a:p>
        </p:txBody>
      </p:sp>
      <p:sp>
        <p:nvSpPr>
          <p:cNvPr id="64" name="Text 58"/>
          <p:cNvSpPr txBox="1"/>
          <p:nvPr/>
        </p:nvSpPr>
        <p:spPr>
          <a:xfrm>
            <a:off x="10875874" y="6014923"/>
            <a:ext cx="12289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lowest mean</a:t>
            </a:r>
            <a:endParaRPr lang="en-US" sz="975" dirty="0"/>
          </a:p>
        </p:txBody>
      </p:sp>
      <p:sp>
        <p:nvSpPr>
          <p:cNvPr id="65" name="Shape 59"/>
          <p:cNvSpPr/>
          <p:nvPr/>
        </p:nvSpPr>
        <p:spPr>
          <a:xfrm>
            <a:off x="1143000" y="6529730"/>
            <a:ext cx="10953598" cy="514807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66" name="Shape 60"/>
          <p:cNvSpPr/>
          <p:nvPr/>
        </p:nvSpPr>
        <p:spPr>
          <a:xfrm>
            <a:off x="1143000" y="7035394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67" name="Text 61"/>
          <p:cNvSpPr txBox="1"/>
          <p:nvPr/>
        </p:nvSpPr>
        <p:spPr>
          <a:xfrm>
            <a:off x="2270455" y="6529730"/>
            <a:ext cx="11338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</a:t>
            </a:r>
            <a:endParaRPr lang="en-US" sz="1350" dirty="0"/>
          </a:p>
        </p:txBody>
      </p:sp>
      <p:sp>
        <p:nvSpPr>
          <p:cNvPr id="68" name="Text 62"/>
          <p:cNvSpPr txBox="1"/>
          <p:nvPr/>
        </p:nvSpPr>
        <p:spPr>
          <a:xfrm>
            <a:off x="3396996" y="6529730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24.96</a:t>
            </a:r>
            <a:endParaRPr lang="en-US" sz="1350" dirty="0"/>
          </a:p>
        </p:txBody>
      </p:sp>
      <p:sp>
        <p:nvSpPr>
          <p:cNvPr id="69" name="Text 63"/>
          <p:cNvSpPr txBox="1"/>
          <p:nvPr/>
        </p:nvSpPr>
        <p:spPr>
          <a:xfrm>
            <a:off x="5266944" y="6529730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350" dirty="0"/>
          </a:p>
        </p:txBody>
      </p:sp>
      <p:sp>
        <p:nvSpPr>
          <p:cNvPr id="70" name="Text 64"/>
          <p:cNvSpPr txBox="1"/>
          <p:nvPr/>
        </p:nvSpPr>
        <p:spPr>
          <a:xfrm>
            <a:off x="7135063" y="6529730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1.41</a:t>
            </a:r>
            <a:endParaRPr lang="en-US" sz="1350" dirty="0"/>
          </a:p>
        </p:txBody>
      </p:sp>
      <p:sp>
        <p:nvSpPr>
          <p:cNvPr id="71" name="Text 65"/>
          <p:cNvSpPr txBox="1"/>
          <p:nvPr/>
        </p:nvSpPr>
        <p:spPr>
          <a:xfrm>
            <a:off x="9005011" y="6529730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−0.44</a:t>
            </a:r>
            <a:endParaRPr lang="en-US" sz="1350" dirty="0"/>
          </a:p>
        </p:txBody>
      </p:sp>
      <p:sp>
        <p:nvSpPr>
          <p:cNvPr id="72" name="Shape 66"/>
          <p:cNvSpPr/>
          <p:nvPr/>
        </p:nvSpPr>
        <p:spPr>
          <a:xfrm>
            <a:off x="1143000" y="7043623"/>
            <a:ext cx="10953598" cy="514807"/>
          </a:xfrm>
          <a:prstGeom prst="rect">
            <a:avLst/>
          </a:prstGeom>
          <a:solidFill>
            <a:srgbClr val="2D5F7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2270455" y="7043623"/>
            <a:ext cx="1133856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</a:t>
            </a:r>
            <a:endParaRPr lang="en-US" sz="1350" dirty="0"/>
          </a:p>
        </p:txBody>
      </p:sp>
      <p:sp>
        <p:nvSpPr>
          <p:cNvPr id="74" name="Text 68"/>
          <p:cNvSpPr txBox="1"/>
          <p:nvPr/>
        </p:nvSpPr>
        <p:spPr>
          <a:xfrm>
            <a:off x="3396996" y="70436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24.83</a:t>
            </a:r>
            <a:endParaRPr lang="en-US" sz="1350" dirty="0"/>
          </a:p>
        </p:txBody>
      </p:sp>
      <p:sp>
        <p:nvSpPr>
          <p:cNvPr id="75" name="Text 69"/>
          <p:cNvSpPr txBox="1"/>
          <p:nvPr/>
        </p:nvSpPr>
        <p:spPr>
          <a:xfrm>
            <a:off x="5266944" y="70436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0.30</a:t>
            </a:r>
            <a:endParaRPr lang="en-US" sz="1350" dirty="0"/>
          </a:p>
        </p:txBody>
      </p:sp>
      <p:sp>
        <p:nvSpPr>
          <p:cNvPr id="76" name="Text 70"/>
          <p:cNvSpPr txBox="1"/>
          <p:nvPr/>
        </p:nvSpPr>
        <p:spPr>
          <a:xfrm>
            <a:off x="7135063" y="70436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1.25</a:t>
            </a:r>
            <a:endParaRPr lang="en-US" sz="1350" dirty="0"/>
          </a:p>
        </p:txBody>
      </p:sp>
      <p:sp>
        <p:nvSpPr>
          <p:cNvPr id="77" name="Text 71"/>
          <p:cNvSpPr txBox="1"/>
          <p:nvPr/>
        </p:nvSpPr>
        <p:spPr>
          <a:xfrm>
            <a:off x="9005011" y="7043623"/>
            <a:ext cx="1877263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−0.57</a:t>
            </a:r>
            <a:endParaRPr lang="en-US" sz="1350" dirty="0"/>
          </a:p>
        </p:txBody>
      </p:sp>
      <p:sp>
        <p:nvSpPr>
          <p:cNvPr id="78" name="Text 72"/>
          <p:cNvSpPr txBox="1"/>
          <p:nvPr/>
        </p:nvSpPr>
        <p:spPr>
          <a:xfrm>
            <a:off x="10875874" y="7043623"/>
            <a:ext cx="1228954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tighter σ</a:t>
            </a:r>
            <a:endParaRPr lang="en-US" sz="975" dirty="0"/>
          </a:p>
        </p:txBody>
      </p:sp>
      <p:sp>
        <p:nvSpPr>
          <p:cNvPr id="79" name="Text 73"/>
          <p:cNvSpPr txBox="1"/>
          <p:nvPr/>
        </p:nvSpPr>
        <p:spPr>
          <a:xfrm>
            <a:off x="1200607" y="3590849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80" name="Text 74"/>
          <p:cNvSpPr txBox="1"/>
          <p:nvPr/>
        </p:nvSpPr>
        <p:spPr>
          <a:xfrm>
            <a:off x="1200607" y="4105656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81" name="Text 75"/>
          <p:cNvSpPr txBox="1"/>
          <p:nvPr/>
        </p:nvSpPr>
        <p:spPr>
          <a:xfrm>
            <a:off x="1200607" y="4619549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82" name="Text 76"/>
          <p:cNvSpPr txBox="1"/>
          <p:nvPr/>
        </p:nvSpPr>
        <p:spPr>
          <a:xfrm>
            <a:off x="1200607" y="5134356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83" name="Text 77"/>
          <p:cNvSpPr txBox="1"/>
          <p:nvPr/>
        </p:nvSpPr>
        <p:spPr>
          <a:xfrm>
            <a:off x="1200607" y="5658307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4" name="Text 78"/>
          <p:cNvSpPr txBox="1"/>
          <p:nvPr/>
        </p:nvSpPr>
        <p:spPr>
          <a:xfrm>
            <a:off x="1200607" y="6172200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5" name="Text 79"/>
          <p:cNvSpPr txBox="1"/>
          <p:nvPr/>
        </p:nvSpPr>
        <p:spPr>
          <a:xfrm>
            <a:off x="1200607" y="6687007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6" name="Text 80"/>
          <p:cNvSpPr txBox="1"/>
          <p:nvPr/>
        </p:nvSpPr>
        <p:spPr>
          <a:xfrm>
            <a:off x="1200607" y="7200900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7" name="Text 81"/>
          <p:cNvSpPr txBox="1"/>
          <p:nvPr/>
        </p:nvSpPr>
        <p:spPr>
          <a:xfrm>
            <a:off x="1143000" y="739109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 split 평균</a:t>
            </a:r>
            <a:endParaRPr lang="en-US" sz="975" dirty="0"/>
          </a:p>
        </p:txBody>
      </p:sp>
      <p:sp>
        <p:nvSpPr>
          <p:cNvPr id="88" name="Text 82"/>
          <p:cNvSpPr txBox="1"/>
          <p:nvPr/>
        </p:nvSpPr>
        <p:spPr>
          <a:xfrm>
            <a:off x="1143000" y="7648956"/>
            <a:ext cx="5334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+0.17 nm</a:t>
            </a:r>
            <a:endParaRPr lang="en-US" sz="2850" dirty="0"/>
          </a:p>
        </p:txBody>
      </p:sp>
      <p:sp>
        <p:nvSpPr>
          <p:cNvPr id="89" name="Text 83"/>
          <p:cNvSpPr txBox="1"/>
          <p:nvPr/>
        </p:nvSpPr>
        <p:spPr>
          <a:xfrm>
            <a:off x="1143000" y="8172907"/>
            <a:ext cx="533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range · range span 1.55~1.94</a:t>
            </a:r>
            <a:endParaRPr lang="en-US" sz="1050" dirty="0"/>
          </a:p>
        </p:txBody>
      </p:sp>
      <p:sp>
        <p:nvSpPr>
          <p:cNvPr id="90" name="Text 84"/>
          <p:cNvSpPr txBox="1"/>
          <p:nvPr/>
        </p:nvSpPr>
        <p:spPr>
          <a:xfrm>
            <a:off x="6762902" y="7391095"/>
            <a:ext cx="5334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 split 평균</a:t>
            </a:r>
            <a:endParaRPr lang="en-US" sz="975" dirty="0"/>
          </a:p>
        </p:txBody>
      </p:sp>
      <p:sp>
        <p:nvSpPr>
          <p:cNvPr id="91" name="Text 85"/>
          <p:cNvSpPr txBox="1"/>
          <p:nvPr/>
        </p:nvSpPr>
        <p:spPr>
          <a:xfrm>
            <a:off x="6762902" y="7648956"/>
            <a:ext cx="53346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−0.53 nm</a:t>
            </a:r>
            <a:endParaRPr lang="en-US" sz="2850" dirty="0"/>
          </a:p>
        </p:txBody>
      </p:sp>
      <p:sp>
        <p:nvSpPr>
          <p:cNvPr id="92" name="Text 86"/>
          <p:cNvSpPr txBox="1"/>
          <p:nvPr/>
        </p:nvSpPr>
        <p:spPr>
          <a:xfrm>
            <a:off x="6762902" y="8172907"/>
            <a:ext cx="5334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range · range span 1.18~1.41</a:t>
            </a:r>
            <a:endParaRPr lang="en-US" sz="1050" dirty="0"/>
          </a:p>
        </p:txBody>
      </p:sp>
      <p:sp>
        <p:nvSpPr>
          <p:cNvPr id="93" name="Text 87"/>
          <p:cNvSpPr txBox="1"/>
          <p:nvPr/>
        </p:nvSpPr>
        <p:spPr>
          <a:xfrm>
            <a:off x="12763195" y="2286000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06.2 · 요약</a:t>
            </a:r>
            <a:endParaRPr lang="en-US" sz="1125" dirty="0"/>
          </a:p>
        </p:txBody>
      </p:sp>
      <p:sp>
        <p:nvSpPr>
          <p:cNvPr id="94" name="Text 88"/>
          <p:cNvSpPr txBox="1"/>
          <p:nvPr/>
        </p:nvSpPr>
        <p:spPr>
          <a:xfrm>
            <a:off x="13049402" y="3010205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D4A33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GAP (mean)</a:t>
            </a:r>
            <a:endParaRPr lang="en-US" sz="975" dirty="0"/>
          </a:p>
        </p:txBody>
      </p:sp>
      <p:sp>
        <p:nvSpPr>
          <p:cNvPr id="95" name="Text 89"/>
          <p:cNvSpPr txBox="1"/>
          <p:nvPr/>
        </p:nvSpPr>
        <p:spPr>
          <a:xfrm>
            <a:off x="13049402" y="3305556"/>
            <a:ext cx="4191610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0.70 </a:t>
            </a:r>
            <a:pPr algn="l" indent="0" marL="0">
              <a:buNone/>
            </a:pPr>
            <a:r>
              <a:rPr lang="en-US" sz="1650" b="1" spc="-96" kern="0" dirty="0">
                <a:solidFill>
                  <a:srgbClr val="B6BAC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4800" dirty="0"/>
          </a:p>
        </p:txBody>
      </p:sp>
      <p:sp>
        <p:nvSpPr>
          <p:cNvPr id="96" name="Text 90"/>
          <p:cNvSpPr txBox="1"/>
          <p:nvPr/>
        </p:nvSpPr>
        <p:spPr>
          <a:xfrm>
            <a:off x="13049402" y="4162349"/>
            <a:ext cx="4191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avg 와 SiCN avg 의 부호 포함 차이</a:t>
            </a:r>
            <a:endParaRPr lang="en-US" sz="1050" dirty="0"/>
          </a:p>
        </p:txBody>
      </p:sp>
      <p:sp>
        <p:nvSpPr>
          <p:cNvPr id="97" name="Text 91"/>
          <p:cNvSpPr txBox="1"/>
          <p:nvPr/>
        </p:nvSpPr>
        <p:spPr>
          <a:xfrm>
            <a:off x="13049402" y="4552798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3σ · MEDIAN</a:t>
            </a:r>
            <a:endParaRPr lang="en-US" sz="975" dirty="0"/>
          </a:p>
        </p:txBody>
      </p:sp>
      <p:sp>
        <p:nvSpPr>
          <p:cNvPr id="98" name="Text 92"/>
          <p:cNvSpPr txBox="1"/>
          <p:nvPr/>
        </p:nvSpPr>
        <p:spPr>
          <a:xfrm>
            <a:off x="13049402" y="4809744"/>
            <a:ext cx="433242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</a:t>
            </a:r>
            <a:pPr algn="l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0.40</a:t>
            </a:r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SiCN </a:t>
            </a:r>
            <a:pPr algn="l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</a:t>
            </a:r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SiCN 22 % tighter</a:t>
            </a:r>
            <a:endParaRPr lang="en-US" sz="1350" dirty="0"/>
          </a:p>
        </p:txBody>
      </p:sp>
      <p:sp>
        <p:nvSpPr>
          <p:cNvPr id="99" name="Text 93"/>
          <p:cNvSpPr txBox="1"/>
          <p:nvPr/>
        </p:nvSpPr>
        <p:spPr>
          <a:xfrm>
            <a:off x="13049402" y="7286854"/>
            <a:ext cx="419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split 평균이 +0.17 nm 측으로, SiCN 은 −0.53 nm 측으로 — sign 자체가 갈라진다.</a:t>
            </a:r>
            <a:endParaRPr lang="en-US" sz="1200" dirty="0"/>
          </a:p>
        </p:txBody>
      </p:sp>
      <p:sp>
        <p:nvSpPr>
          <p:cNvPr id="100" name="Text 94"/>
          <p:cNvSpPr txBox="1"/>
          <p:nvPr/>
        </p:nvSpPr>
        <p:spPr>
          <a:xfrm>
            <a:off x="13049402" y="6905549"/>
            <a:ext cx="848563" cy="247802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900" dirty="0"/>
          </a:p>
        </p:txBody>
      </p:sp>
      <p:sp>
        <p:nvSpPr>
          <p:cNvPr id="101" name="Text 95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· AASI</a:t>
            </a:r>
            <a:endParaRPr lang="en-US" sz="1200" dirty="0"/>
          </a:p>
        </p:txBody>
      </p:sp>
      <p:sp>
        <p:nvSpPr>
          <p:cNvPr id="102" name="Text 96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98ce30f4b38c5d0e87fd298578d7a41d.png">    </p:cNvPr>
          <p:cNvPicPr>
            <a:picLocks noChangeAspect="1"/>
          </p:cNvPicPr>
          <p:nvPr/>
        </p:nvPicPr>
        <p:blipFill>
          <a:blip r:embed="rId1"/>
          <a:srcRect l="0" r="0" t="-2061" b="-2061"/>
          <a:stretch/>
        </p:blipFill>
        <p:spPr>
          <a:xfrm>
            <a:off x="13049402" y="4629607"/>
            <a:ext cx="9144" cy="761695"/>
          </a:xfrm>
          <a:prstGeom prst="rect">
            <a:avLst/>
          </a:prstGeom>
        </p:spPr>
      </p:pic>
      <p:pic>
        <p:nvPicPr>
          <p:cNvPr id="4" name="Image 1" descr="gen-dedup-dd9fde18a5f2ee2b73aab7bc47dbf67b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6476695" y="8515807"/>
            <a:ext cx="9144" cy="571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2667305"/>
            <a:ext cx="11716207" cy="57150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8edf622ae210721514352b2163bb9152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761695" y="8287207"/>
            <a:ext cx="11716207" cy="9144"/>
          </a:xfrm>
          <a:prstGeom prst="rect">
            <a:avLst/>
          </a:prstGeom>
        </p:spPr>
      </p:pic>
      <p:pic>
        <p:nvPicPr>
          <p:cNvPr id="7" name="Image 3" descr="gen-dedup-6cf7de0413b779d6da46073155979082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8" name="Shape 1"/>
          <p:cNvSpPr/>
          <p:nvPr/>
        </p:nvSpPr>
        <p:spPr>
          <a:xfrm>
            <a:off x="12763195" y="3161995"/>
            <a:ext cx="4762195" cy="2667305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2"/>
          <p:cNvSpPr/>
          <p:nvPr/>
        </p:nvSpPr>
        <p:spPr>
          <a:xfrm>
            <a:off x="12763195" y="6096305"/>
            <a:ext cx="4762195" cy="2286000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07 · ASEI · array-after-spacer-etch-inside</a:t>
            </a:r>
            <a:endParaRPr lang="en-US" sz="1125" dirty="0"/>
          </a:p>
        </p:txBody>
      </p:sp>
      <p:sp>
        <p:nvSpPr>
          <p:cNvPr id="11" name="Text 4"/>
          <p:cNvSpPr txBox="1"/>
          <p:nvPr/>
        </p:nvSpPr>
        <p:spPr>
          <a:xfrm>
            <a:off x="761695" y="1076249"/>
            <a:ext cx="11430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06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ASEI </a:t>
            </a:r>
            <a:pPr algn="l" indent="0" marL="0">
              <a:buNone/>
            </a:pPr>
            <a:r>
              <a:rPr lang="en-US" sz="3150" b="1" spc="-106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15.7 nm</a:t>
            </a:r>
            <a:endParaRPr lang="en-US" sz="4800" dirty="0"/>
          </a:p>
        </p:txBody>
      </p:sp>
      <p:sp>
        <p:nvSpPr>
          <p:cNvPr id="12" name="Text 5"/>
          <p:cNvSpPr txBox="1"/>
          <p:nvPr/>
        </p:nvSpPr>
        <p:spPr>
          <a:xfrm>
            <a:off x="761695" y="1857146"/>
            <a:ext cx="8382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spacer 가 아직 살아있는 시점 — split 의 mid-etch signature 가 의미가 있는 slide.</a:t>
            </a:r>
            <a:endParaRPr lang="en-US" sz="1350" dirty="0"/>
          </a:p>
        </p:txBody>
      </p:sp>
      <p:sp>
        <p:nvSpPr>
          <p:cNvPr id="13" name="Text 6"/>
          <p:cNvSpPr txBox="1"/>
          <p:nvPr/>
        </p:nvSpPr>
        <p:spPr>
          <a:xfrm>
            <a:off x="1143000" y="2933395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07.1 · per-wafer reading · 8 wafer, 69 site 평균 / wafer</a:t>
            </a:r>
            <a:endParaRPr lang="en-US" sz="975" dirty="0"/>
          </a:p>
        </p:txBody>
      </p:sp>
      <p:sp>
        <p:nvSpPr>
          <p:cNvPr id="14" name="Shape 7"/>
          <p:cNvSpPr/>
          <p:nvPr/>
        </p:nvSpPr>
        <p:spPr>
          <a:xfrm>
            <a:off x="1143000" y="3791102"/>
            <a:ext cx="10953598" cy="19202"/>
          </a:xfrm>
          <a:prstGeom prst="rect">
            <a:avLst/>
          </a:prstGeom>
          <a:solidFill>
            <a:srgbClr val="ECE5CD"/>
          </a:solidFill>
          <a:ln w="12700">
            <a:solidFill>
              <a:srgbClr val="ECE5CD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1143000" y="3353105"/>
            <a:ext cx="12673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2406701" y="3353105"/>
            <a:ext cx="12673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975" dirty="0"/>
          </a:p>
        </p:txBody>
      </p:sp>
      <p:sp>
        <p:nvSpPr>
          <p:cNvPr id="17" name="Text 10"/>
          <p:cNvSpPr txBox="1"/>
          <p:nvPr/>
        </p:nvSpPr>
        <p:spPr>
          <a:xfrm>
            <a:off x="3670402" y="3353105"/>
            <a:ext cx="21150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(nm)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5777179" y="3353105"/>
            <a:ext cx="21150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(nm)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7883042" y="3353105"/>
            <a:ext cx="21150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 (nm)</a:t>
            </a:r>
            <a:endParaRPr lang="en-US" sz="975" dirty="0"/>
          </a:p>
        </p:txBody>
      </p:sp>
      <p:sp>
        <p:nvSpPr>
          <p:cNvPr id="20" name="Text 13"/>
          <p:cNvSpPr txBox="1"/>
          <p:nvPr/>
        </p:nvSpPr>
        <p:spPr>
          <a:xfrm>
            <a:off x="9989820" y="3353105"/>
            <a:ext cx="2115007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975" dirty="0"/>
          </a:p>
        </p:txBody>
      </p:sp>
      <p:sp>
        <p:nvSpPr>
          <p:cNvPr id="21" name="Shape 14"/>
          <p:cNvSpPr/>
          <p:nvPr/>
        </p:nvSpPr>
        <p:spPr>
          <a:xfrm>
            <a:off x="1143000" y="3810305"/>
            <a:ext cx="10953598" cy="523951"/>
          </a:xfrm>
          <a:prstGeom prst="rect">
            <a:avLst/>
          </a:prstGeom>
          <a:solidFill>
            <a:srgbClr val="B5632A">
              <a:alpha val="14000"/>
            </a:srgbClr>
          </a:solidFill>
          <a:ln/>
        </p:spPr>
      </p:sp>
      <p:sp>
        <p:nvSpPr>
          <p:cNvPr id="22" name="Shape 15"/>
          <p:cNvSpPr/>
          <p:nvPr/>
        </p:nvSpPr>
        <p:spPr>
          <a:xfrm>
            <a:off x="1143000" y="4325112"/>
            <a:ext cx="10953598" cy="9144"/>
          </a:xfrm>
          <a:prstGeom prst="rect">
            <a:avLst/>
          </a:prstGeom>
          <a:solidFill>
            <a:srgbClr val="48535D"/>
          </a:solidFill>
          <a:ln w="12700">
            <a:solidFill>
              <a:srgbClr val="48535D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2406701" y="3810305"/>
            <a:ext cx="1267358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3670402" y="3810305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16.21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5777179" y="3810305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0.32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7883042" y="3810305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1.42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9989820" y="3810305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+0.51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1143000" y="4328770"/>
            <a:ext cx="10953598" cy="514807"/>
          </a:xfrm>
          <a:prstGeom prst="rect">
            <a:avLst/>
          </a:prstGeom>
          <a:solidFill>
            <a:srgbClr val="B5632A">
              <a:alpha val="14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1143000" y="4834433"/>
            <a:ext cx="10953598" cy="9144"/>
          </a:xfrm>
          <a:prstGeom prst="rect">
            <a:avLst/>
          </a:prstGeom>
          <a:solidFill>
            <a:srgbClr val="48535D"/>
          </a:solidFill>
          <a:ln w="12700">
            <a:solidFill>
              <a:srgbClr val="48535D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2406701" y="4328770"/>
            <a:ext cx="126735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3670402" y="4328770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16.10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5777179" y="4328770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0.29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7883042" y="4328770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1.28</a:t>
            </a:r>
            <a:endParaRPr lang="en-US" sz="1350" dirty="0"/>
          </a:p>
        </p:txBody>
      </p:sp>
      <p:sp>
        <p:nvSpPr>
          <p:cNvPr id="34" name="Text 27"/>
          <p:cNvSpPr txBox="1"/>
          <p:nvPr/>
        </p:nvSpPr>
        <p:spPr>
          <a:xfrm>
            <a:off x="9989820" y="4328770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+0.40</a:t>
            </a:r>
            <a:endParaRPr lang="en-US" sz="1350" dirty="0"/>
          </a:p>
        </p:txBody>
      </p:sp>
      <p:sp>
        <p:nvSpPr>
          <p:cNvPr id="35" name="Shape 28"/>
          <p:cNvSpPr/>
          <p:nvPr/>
        </p:nvSpPr>
        <p:spPr>
          <a:xfrm>
            <a:off x="1143000" y="4843577"/>
            <a:ext cx="10953598" cy="514807"/>
          </a:xfrm>
          <a:prstGeom prst="rect">
            <a:avLst/>
          </a:prstGeom>
          <a:solidFill>
            <a:srgbClr val="B5632A">
              <a:alpha val="14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1143000" y="5349240"/>
            <a:ext cx="10953598" cy="9144"/>
          </a:xfrm>
          <a:prstGeom prst="rect">
            <a:avLst/>
          </a:prstGeom>
          <a:solidFill>
            <a:srgbClr val="48535D"/>
          </a:solidFill>
          <a:ln w="12700">
            <a:solidFill>
              <a:srgbClr val="48535D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2406701" y="4843577"/>
            <a:ext cx="126735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3670402" y="4843577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16.34</a:t>
            </a:r>
            <a:endParaRPr lang="en-US" sz="1350" dirty="0"/>
          </a:p>
        </p:txBody>
      </p:sp>
      <p:sp>
        <p:nvSpPr>
          <p:cNvPr id="39" name="Text 32"/>
          <p:cNvSpPr txBox="1"/>
          <p:nvPr/>
        </p:nvSpPr>
        <p:spPr>
          <a:xfrm>
            <a:off x="5777179" y="4843577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0.36</a:t>
            </a:r>
            <a:endParaRPr lang="en-US" sz="1350" dirty="0"/>
          </a:p>
        </p:txBody>
      </p:sp>
      <p:sp>
        <p:nvSpPr>
          <p:cNvPr id="40" name="Text 33"/>
          <p:cNvSpPr txBox="1"/>
          <p:nvPr/>
        </p:nvSpPr>
        <p:spPr>
          <a:xfrm>
            <a:off x="7883042" y="4843577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1.55</a:t>
            </a:r>
            <a:endParaRPr lang="en-US" sz="1350" dirty="0"/>
          </a:p>
        </p:txBody>
      </p:sp>
      <p:sp>
        <p:nvSpPr>
          <p:cNvPr id="41" name="Text 34"/>
          <p:cNvSpPr txBox="1"/>
          <p:nvPr/>
        </p:nvSpPr>
        <p:spPr>
          <a:xfrm>
            <a:off x="9989820" y="4843577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+0.64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1143000" y="5357470"/>
            <a:ext cx="10953598" cy="523951"/>
          </a:xfrm>
          <a:prstGeom prst="rect">
            <a:avLst/>
          </a:prstGeom>
          <a:solidFill>
            <a:srgbClr val="B5632A">
              <a:alpha val="14000"/>
            </a:srgbClr>
          </a:solidFill>
          <a:ln/>
        </p:spPr>
      </p:sp>
      <p:sp>
        <p:nvSpPr>
          <p:cNvPr id="43" name="Shape 36"/>
          <p:cNvSpPr/>
          <p:nvPr/>
        </p:nvSpPr>
        <p:spPr>
          <a:xfrm>
            <a:off x="1143000" y="5862218"/>
            <a:ext cx="10953598" cy="19202"/>
          </a:xfrm>
          <a:prstGeom prst="rect">
            <a:avLst/>
          </a:prstGeom>
          <a:solidFill>
            <a:srgbClr val="B5632A"/>
          </a:solidFill>
          <a:ln w="12700">
            <a:solidFill>
              <a:srgbClr val="B5632A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2406701" y="5357470"/>
            <a:ext cx="1267358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350" dirty="0"/>
          </a:p>
        </p:txBody>
      </p:sp>
      <p:sp>
        <p:nvSpPr>
          <p:cNvPr id="45" name="Text 38"/>
          <p:cNvSpPr txBox="1"/>
          <p:nvPr/>
        </p:nvSpPr>
        <p:spPr>
          <a:xfrm>
            <a:off x="3670402" y="5357470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15.93</a:t>
            </a:r>
            <a:endParaRPr lang="en-US" sz="1350" dirty="0"/>
          </a:p>
        </p:txBody>
      </p:sp>
      <p:sp>
        <p:nvSpPr>
          <p:cNvPr id="46" name="Text 39"/>
          <p:cNvSpPr txBox="1"/>
          <p:nvPr/>
        </p:nvSpPr>
        <p:spPr>
          <a:xfrm>
            <a:off x="5777179" y="5357470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0.27</a:t>
            </a:r>
            <a:endParaRPr lang="en-US" sz="1350" dirty="0"/>
          </a:p>
        </p:txBody>
      </p:sp>
      <p:sp>
        <p:nvSpPr>
          <p:cNvPr id="47" name="Text 40"/>
          <p:cNvSpPr txBox="1"/>
          <p:nvPr/>
        </p:nvSpPr>
        <p:spPr>
          <a:xfrm>
            <a:off x="7883042" y="5357470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1.21</a:t>
            </a:r>
            <a:endParaRPr lang="en-US" sz="1350" dirty="0"/>
          </a:p>
        </p:txBody>
      </p:sp>
      <p:sp>
        <p:nvSpPr>
          <p:cNvPr id="48" name="Text 41"/>
          <p:cNvSpPr txBox="1"/>
          <p:nvPr/>
        </p:nvSpPr>
        <p:spPr>
          <a:xfrm>
            <a:off x="9989820" y="5357470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+0.23</a:t>
            </a:r>
            <a:endParaRPr lang="en-US" sz="1350" dirty="0"/>
          </a:p>
        </p:txBody>
      </p:sp>
      <p:sp>
        <p:nvSpPr>
          <p:cNvPr id="49" name="Shape 42"/>
          <p:cNvSpPr/>
          <p:nvPr/>
        </p:nvSpPr>
        <p:spPr>
          <a:xfrm>
            <a:off x="1143000" y="5876849"/>
            <a:ext cx="10953598" cy="523951"/>
          </a:xfrm>
          <a:prstGeom prst="rect">
            <a:avLst/>
          </a:prstGeom>
          <a:solidFill>
            <a:srgbClr val="2D5F70">
              <a:alpha val="16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1143000" y="6391656"/>
            <a:ext cx="10953598" cy="9144"/>
          </a:xfrm>
          <a:prstGeom prst="rect">
            <a:avLst/>
          </a:prstGeom>
          <a:solidFill>
            <a:srgbClr val="48535D"/>
          </a:solidFill>
          <a:ln w="12700">
            <a:solidFill>
              <a:srgbClr val="48535D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2406701" y="5876849"/>
            <a:ext cx="1267358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350" dirty="0"/>
          </a:p>
        </p:txBody>
      </p:sp>
      <p:sp>
        <p:nvSpPr>
          <p:cNvPr id="52" name="Text 45"/>
          <p:cNvSpPr txBox="1"/>
          <p:nvPr/>
        </p:nvSpPr>
        <p:spPr>
          <a:xfrm>
            <a:off x="3670402" y="5876849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15.22</a:t>
            </a:r>
            <a:endParaRPr lang="en-US" sz="1350" dirty="0"/>
          </a:p>
        </p:txBody>
      </p:sp>
      <p:sp>
        <p:nvSpPr>
          <p:cNvPr id="53" name="Text 46"/>
          <p:cNvSpPr txBox="1"/>
          <p:nvPr/>
        </p:nvSpPr>
        <p:spPr>
          <a:xfrm>
            <a:off x="5777179" y="5876849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0.22</a:t>
            </a:r>
            <a:endParaRPr lang="en-US" sz="1350" dirty="0"/>
          </a:p>
        </p:txBody>
      </p:sp>
      <p:sp>
        <p:nvSpPr>
          <p:cNvPr id="54" name="Text 47"/>
          <p:cNvSpPr txBox="1"/>
          <p:nvPr/>
        </p:nvSpPr>
        <p:spPr>
          <a:xfrm>
            <a:off x="7883042" y="5876849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0.96</a:t>
            </a:r>
            <a:endParaRPr lang="en-US" sz="1350" dirty="0"/>
          </a:p>
        </p:txBody>
      </p:sp>
      <p:sp>
        <p:nvSpPr>
          <p:cNvPr id="55" name="Text 48"/>
          <p:cNvSpPr txBox="1"/>
          <p:nvPr/>
        </p:nvSpPr>
        <p:spPr>
          <a:xfrm>
            <a:off x="9989820" y="5876849"/>
            <a:ext cx="2115007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−0.48</a:t>
            </a:r>
            <a:endParaRPr lang="en-US" sz="1350" dirty="0"/>
          </a:p>
        </p:txBody>
      </p:sp>
      <p:sp>
        <p:nvSpPr>
          <p:cNvPr id="56" name="Shape 49"/>
          <p:cNvSpPr/>
          <p:nvPr/>
        </p:nvSpPr>
        <p:spPr>
          <a:xfrm>
            <a:off x="1143000" y="6396228"/>
            <a:ext cx="10953598" cy="514807"/>
          </a:xfrm>
          <a:prstGeom prst="rect">
            <a:avLst/>
          </a:prstGeom>
          <a:solidFill>
            <a:srgbClr val="2D5F70">
              <a:alpha val="16000"/>
            </a:srgbClr>
          </a:solidFill>
          <a:ln/>
        </p:spPr>
      </p:sp>
      <p:sp>
        <p:nvSpPr>
          <p:cNvPr id="57" name="Shape 50"/>
          <p:cNvSpPr/>
          <p:nvPr/>
        </p:nvSpPr>
        <p:spPr>
          <a:xfrm>
            <a:off x="1143000" y="6901891"/>
            <a:ext cx="10953598" cy="9144"/>
          </a:xfrm>
          <a:prstGeom prst="rect">
            <a:avLst/>
          </a:prstGeom>
          <a:solidFill>
            <a:srgbClr val="48535D"/>
          </a:solidFill>
          <a:ln w="12700">
            <a:solidFill>
              <a:srgbClr val="48535D">
                <a:alpha val="0"/>
              </a:srgbClr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2406701" y="6396228"/>
            <a:ext cx="126735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1350" dirty="0"/>
          </a:p>
        </p:txBody>
      </p:sp>
      <p:sp>
        <p:nvSpPr>
          <p:cNvPr id="59" name="Text 52"/>
          <p:cNvSpPr txBox="1"/>
          <p:nvPr/>
        </p:nvSpPr>
        <p:spPr>
          <a:xfrm>
            <a:off x="3670402" y="63962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15.10</a:t>
            </a:r>
            <a:endParaRPr lang="en-US" sz="1350" dirty="0"/>
          </a:p>
        </p:txBody>
      </p:sp>
      <p:sp>
        <p:nvSpPr>
          <p:cNvPr id="60" name="Text 53"/>
          <p:cNvSpPr txBox="1"/>
          <p:nvPr/>
        </p:nvSpPr>
        <p:spPr>
          <a:xfrm>
            <a:off x="5777179" y="63962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0.20</a:t>
            </a:r>
            <a:endParaRPr lang="en-US" sz="1350" dirty="0"/>
          </a:p>
        </p:txBody>
      </p:sp>
      <p:sp>
        <p:nvSpPr>
          <p:cNvPr id="61" name="Text 54"/>
          <p:cNvSpPr txBox="1"/>
          <p:nvPr/>
        </p:nvSpPr>
        <p:spPr>
          <a:xfrm>
            <a:off x="7883042" y="63962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0.89</a:t>
            </a:r>
            <a:endParaRPr lang="en-US" sz="1350" dirty="0"/>
          </a:p>
        </p:txBody>
      </p:sp>
      <p:sp>
        <p:nvSpPr>
          <p:cNvPr id="62" name="Text 55"/>
          <p:cNvSpPr txBox="1"/>
          <p:nvPr/>
        </p:nvSpPr>
        <p:spPr>
          <a:xfrm>
            <a:off x="9989820" y="63962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−0.60</a:t>
            </a:r>
            <a:endParaRPr lang="en-US" sz="1350" dirty="0"/>
          </a:p>
        </p:txBody>
      </p:sp>
      <p:sp>
        <p:nvSpPr>
          <p:cNvPr id="63" name="Shape 56"/>
          <p:cNvSpPr/>
          <p:nvPr/>
        </p:nvSpPr>
        <p:spPr>
          <a:xfrm>
            <a:off x="1143000" y="6910121"/>
            <a:ext cx="10953598" cy="514807"/>
          </a:xfrm>
          <a:prstGeom prst="rect">
            <a:avLst/>
          </a:prstGeom>
          <a:solidFill>
            <a:srgbClr val="2D5F70">
              <a:alpha val="16000"/>
            </a:srgbClr>
          </a:solidFill>
          <a:ln/>
        </p:spPr>
      </p:sp>
      <p:sp>
        <p:nvSpPr>
          <p:cNvPr id="64" name="Shape 57"/>
          <p:cNvSpPr/>
          <p:nvPr/>
        </p:nvSpPr>
        <p:spPr>
          <a:xfrm>
            <a:off x="1143000" y="7415784"/>
            <a:ext cx="10953598" cy="9144"/>
          </a:xfrm>
          <a:prstGeom prst="rect">
            <a:avLst/>
          </a:prstGeom>
          <a:solidFill>
            <a:srgbClr val="48535D"/>
          </a:solidFill>
          <a:ln w="12700">
            <a:solidFill>
              <a:srgbClr val="48535D">
                <a:alpha val="0"/>
              </a:srgbClr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2406701" y="6910121"/>
            <a:ext cx="126735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</a:t>
            </a:r>
            <a:endParaRPr lang="en-US" sz="1350" dirty="0"/>
          </a:p>
        </p:txBody>
      </p:sp>
      <p:sp>
        <p:nvSpPr>
          <p:cNvPr id="66" name="Text 59"/>
          <p:cNvSpPr txBox="1"/>
          <p:nvPr/>
        </p:nvSpPr>
        <p:spPr>
          <a:xfrm>
            <a:off x="3670402" y="6910121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15.28</a:t>
            </a:r>
            <a:endParaRPr lang="en-US" sz="1350" dirty="0"/>
          </a:p>
        </p:txBody>
      </p:sp>
      <p:sp>
        <p:nvSpPr>
          <p:cNvPr id="67" name="Text 60"/>
          <p:cNvSpPr txBox="1"/>
          <p:nvPr/>
        </p:nvSpPr>
        <p:spPr>
          <a:xfrm>
            <a:off x="5777179" y="6910121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0.24</a:t>
            </a:r>
            <a:endParaRPr lang="en-US" sz="1350" dirty="0"/>
          </a:p>
        </p:txBody>
      </p:sp>
      <p:sp>
        <p:nvSpPr>
          <p:cNvPr id="68" name="Text 61"/>
          <p:cNvSpPr txBox="1"/>
          <p:nvPr/>
        </p:nvSpPr>
        <p:spPr>
          <a:xfrm>
            <a:off x="7883042" y="6910121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1.07</a:t>
            </a:r>
            <a:endParaRPr lang="en-US" sz="1350" dirty="0"/>
          </a:p>
        </p:txBody>
      </p:sp>
      <p:sp>
        <p:nvSpPr>
          <p:cNvPr id="69" name="Text 62"/>
          <p:cNvSpPr txBox="1"/>
          <p:nvPr/>
        </p:nvSpPr>
        <p:spPr>
          <a:xfrm>
            <a:off x="9989820" y="6910121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−0.42</a:t>
            </a:r>
            <a:endParaRPr lang="en-US" sz="1350" dirty="0"/>
          </a:p>
        </p:txBody>
      </p:sp>
      <p:sp>
        <p:nvSpPr>
          <p:cNvPr id="70" name="Shape 63"/>
          <p:cNvSpPr/>
          <p:nvPr/>
        </p:nvSpPr>
        <p:spPr>
          <a:xfrm>
            <a:off x="1143000" y="7424928"/>
            <a:ext cx="10953598" cy="514807"/>
          </a:xfrm>
          <a:prstGeom prst="rect">
            <a:avLst/>
          </a:prstGeom>
          <a:solidFill>
            <a:srgbClr val="2D5F70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4"/>
          <p:cNvSpPr txBox="1"/>
          <p:nvPr/>
        </p:nvSpPr>
        <p:spPr>
          <a:xfrm>
            <a:off x="2406701" y="7424928"/>
            <a:ext cx="1267358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</a:t>
            </a:r>
            <a:endParaRPr lang="en-US" sz="1350" dirty="0"/>
          </a:p>
        </p:txBody>
      </p:sp>
      <p:sp>
        <p:nvSpPr>
          <p:cNvPr id="72" name="Text 65"/>
          <p:cNvSpPr txBox="1"/>
          <p:nvPr/>
        </p:nvSpPr>
        <p:spPr>
          <a:xfrm>
            <a:off x="3670402" y="74249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15.16</a:t>
            </a:r>
            <a:endParaRPr lang="en-US" sz="1350" dirty="0"/>
          </a:p>
        </p:txBody>
      </p:sp>
      <p:sp>
        <p:nvSpPr>
          <p:cNvPr id="73" name="Text 66"/>
          <p:cNvSpPr txBox="1"/>
          <p:nvPr/>
        </p:nvSpPr>
        <p:spPr>
          <a:xfrm>
            <a:off x="5777179" y="74249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0.21</a:t>
            </a:r>
            <a:endParaRPr lang="en-US" sz="1350" dirty="0"/>
          </a:p>
        </p:txBody>
      </p:sp>
      <p:sp>
        <p:nvSpPr>
          <p:cNvPr id="74" name="Text 67"/>
          <p:cNvSpPr txBox="1"/>
          <p:nvPr/>
        </p:nvSpPr>
        <p:spPr>
          <a:xfrm>
            <a:off x="7883042" y="74249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0.93</a:t>
            </a:r>
            <a:endParaRPr lang="en-US" sz="1350" dirty="0"/>
          </a:p>
        </p:txBody>
      </p:sp>
      <p:sp>
        <p:nvSpPr>
          <p:cNvPr id="75" name="Text 68"/>
          <p:cNvSpPr txBox="1"/>
          <p:nvPr/>
        </p:nvSpPr>
        <p:spPr>
          <a:xfrm>
            <a:off x="9989820" y="7424928"/>
            <a:ext cx="2115007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−0.54</a:t>
            </a:r>
            <a:endParaRPr lang="en-US" sz="1350" dirty="0"/>
          </a:p>
        </p:txBody>
      </p:sp>
      <p:sp>
        <p:nvSpPr>
          <p:cNvPr id="76" name="Text 69"/>
          <p:cNvSpPr txBox="1"/>
          <p:nvPr/>
        </p:nvSpPr>
        <p:spPr>
          <a:xfrm>
            <a:off x="1200607" y="3972154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77" name="Text 70"/>
          <p:cNvSpPr txBox="1"/>
          <p:nvPr/>
        </p:nvSpPr>
        <p:spPr>
          <a:xfrm>
            <a:off x="1200607" y="4486046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78" name="Text 71"/>
          <p:cNvSpPr txBox="1"/>
          <p:nvPr/>
        </p:nvSpPr>
        <p:spPr>
          <a:xfrm>
            <a:off x="1200607" y="5000854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79" name="Text 72"/>
          <p:cNvSpPr txBox="1"/>
          <p:nvPr/>
        </p:nvSpPr>
        <p:spPr>
          <a:xfrm>
            <a:off x="1200607" y="5514746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80" name="Text 73"/>
          <p:cNvSpPr txBox="1"/>
          <p:nvPr/>
        </p:nvSpPr>
        <p:spPr>
          <a:xfrm>
            <a:off x="1200607" y="6038698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1" name="Text 74"/>
          <p:cNvSpPr txBox="1"/>
          <p:nvPr/>
        </p:nvSpPr>
        <p:spPr>
          <a:xfrm>
            <a:off x="1200607" y="6553505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2" name="Text 75"/>
          <p:cNvSpPr txBox="1"/>
          <p:nvPr/>
        </p:nvSpPr>
        <p:spPr>
          <a:xfrm>
            <a:off x="1200607" y="7067398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3" name="Text 76"/>
          <p:cNvSpPr txBox="1"/>
          <p:nvPr/>
        </p:nvSpPr>
        <p:spPr>
          <a:xfrm>
            <a:off x="1200607" y="7582205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4" name="Text 77"/>
          <p:cNvSpPr txBox="1"/>
          <p:nvPr/>
        </p:nvSpPr>
        <p:spPr>
          <a:xfrm>
            <a:off x="12763195" y="2667305"/>
            <a:ext cx="4763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25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07.2 · 요약</a:t>
            </a:r>
            <a:endParaRPr lang="en-US" sz="1125" dirty="0"/>
          </a:p>
        </p:txBody>
      </p:sp>
      <p:sp>
        <p:nvSpPr>
          <p:cNvPr id="85" name="Text 78"/>
          <p:cNvSpPr txBox="1"/>
          <p:nvPr/>
        </p:nvSpPr>
        <p:spPr>
          <a:xfrm>
            <a:off x="13049402" y="3372307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SIGN GAP (mean)</a:t>
            </a:r>
            <a:endParaRPr lang="en-US" sz="975" dirty="0"/>
          </a:p>
        </p:txBody>
      </p:sp>
      <p:sp>
        <p:nvSpPr>
          <p:cNvPr id="86" name="Text 79"/>
          <p:cNvSpPr txBox="1"/>
          <p:nvPr/>
        </p:nvSpPr>
        <p:spPr>
          <a:xfrm>
            <a:off x="13049402" y="3666744"/>
            <a:ext cx="4191610" cy="781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0.94 </a:t>
            </a:r>
            <a:pPr algn="l" indent="0" marL="0">
              <a:buNone/>
            </a:pPr>
            <a:r>
              <a:rPr lang="en-US" sz="1650" b="1" spc="-96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4800" dirty="0"/>
          </a:p>
        </p:txBody>
      </p:sp>
      <p:sp>
        <p:nvSpPr>
          <p:cNvPr id="87" name="Text 80"/>
          <p:cNvSpPr txBox="1"/>
          <p:nvPr/>
        </p:nvSpPr>
        <p:spPr>
          <a:xfrm>
            <a:off x="13049402" y="4524451"/>
            <a:ext cx="4191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AASI 대비 split 사이 간극이 더 벌어짐</a:t>
            </a:r>
            <a:endParaRPr lang="en-US" sz="1050" dirty="0"/>
          </a:p>
        </p:txBody>
      </p:sp>
      <p:sp>
        <p:nvSpPr>
          <p:cNvPr id="88" name="Text 81"/>
          <p:cNvSpPr txBox="1"/>
          <p:nvPr/>
        </p:nvSpPr>
        <p:spPr>
          <a:xfrm>
            <a:off x="13049402" y="4819802"/>
            <a:ext cx="4191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Δ 3σ · MEDIAN</a:t>
            </a:r>
            <a:endParaRPr lang="en-US" sz="975" dirty="0"/>
          </a:p>
        </p:txBody>
      </p:sp>
      <p:sp>
        <p:nvSpPr>
          <p:cNvPr id="89" name="Text 82"/>
          <p:cNvSpPr txBox="1"/>
          <p:nvPr/>
        </p:nvSpPr>
        <p:spPr>
          <a:xfrm>
            <a:off x="13049402" y="5076749"/>
            <a:ext cx="4332427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</a:t>
            </a:r>
            <a:pPr algn="l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</a:t>
            </a:r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SiCN </a:t>
            </a:r>
            <a:pPr algn="l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0.22</a:t>
            </a:r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SiCN 29 % tighter</a:t>
            </a:r>
            <a:endParaRPr lang="en-US" sz="1350" dirty="0"/>
          </a:p>
        </p:txBody>
      </p:sp>
      <p:sp>
        <p:nvSpPr>
          <p:cNvPr id="90" name="Text 83"/>
          <p:cNvSpPr txBox="1"/>
          <p:nvPr/>
        </p:nvSpPr>
        <p:spPr>
          <a:xfrm>
            <a:off x="1143000" y="8496605"/>
            <a:ext cx="5334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 split 평균</a:t>
            </a:r>
            <a:endParaRPr lang="en-US" sz="900" dirty="0"/>
          </a:p>
        </p:txBody>
      </p:sp>
      <p:sp>
        <p:nvSpPr>
          <p:cNvPr id="91" name="Text 84"/>
          <p:cNvSpPr txBox="1"/>
          <p:nvPr/>
        </p:nvSpPr>
        <p:spPr>
          <a:xfrm>
            <a:off x="1143000" y="8725205"/>
            <a:ext cx="533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+0.45 nm</a:t>
            </a:r>
            <a:endParaRPr lang="en-US" sz="2250" dirty="0"/>
          </a:p>
        </p:txBody>
      </p:sp>
      <p:sp>
        <p:nvSpPr>
          <p:cNvPr id="92" name="Text 85"/>
          <p:cNvSpPr txBox="1"/>
          <p:nvPr/>
        </p:nvSpPr>
        <p:spPr>
          <a:xfrm>
            <a:off x="6762902" y="8496605"/>
            <a:ext cx="533461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98A0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 split 평균</a:t>
            </a:r>
            <a:endParaRPr lang="en-US" sz="900" dirty="0"/>
          </a:p>
        </p:txBody>
      </p:sp>
      <p:sp>
        <p:nvSpPr>
          <p:cNvPr id="93" name="Text 86"/>
          <p:cNvSpPr txBox="1"/>
          <p:nvPr/>
        </p:nvSpPr>
        <p:spPr>
          <a:xfrm>
            <a:off x="6762902" y="8725205"/>
            <a:ext cx="533461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−0.51 nm</a:t>
            </a:r>
            <a:endParaRPr lang="en-US" sz="2250" dirty="0"/>
          </a:p>
        </p:txBody>
      </p:sp>
      <p:sp>
        <p:nvSpPr>
          <p:cNvPr id="94" name="Text 87"/>
          <p:cNvSpPr txBox="1"/>
          <p:nvPr/>
        </p:nvSpPr>
        <p:spPr>
          <a:xfrm>
            <a:off x="13049402" y="6734556"/>
            <a:ext cx="4191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ASEI 가 sign gap 도 σ 도 split 신뢰도가 가장 또렷한 항목 — mid-etch signature 가 split 사이 0.94 nm 벌어진다.</a:t>
            </a:r>
            <a:endParaRPr lang="en-US" sz="1200" dirty="0"/>
          </a:p>
        </p:txBody>
      </p:sp>
      <p:sp>
        <p:nvSpPr>
          <p:cNvPr id="95" name="Text 88"/>
          <p:cNvSpPr txBox="1"/>
          <p:nvPr/>
        </p:nvSpPr>
        <p:spPr>
          <a:xfrm>
            <a:off x="13049402" y="6353251"/>
            <a:ext cx="848563" cy="247802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900" dirty="0"/>
          </a:p>
        </p:txBody>
      </p:sp>
      <p:sp>
        <p:nvSpPr>
          <p:cNvPr id="96" name="Text 89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11</a:t>
            </a:r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· ASEI</a:t>
            </a:r>
            <a:endParaRPr lang="en-US" sz="1200" dirty="0"/>
          </a:p>
        </p:txBody>
      </p:sp>
      <p:sp>
        <p:nvSpPr>
          <p:cNvPr id="97" name="Text 90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5b430472c91201dd1933017769f2b158.png">    </p:cNvPr>
          <p:cNvPicPr>
            <a:picLocks noChangeAspect="1"/>
          </p:cNvPicPr>
          <p:nvPr/>
        </p:nvPicPr>
        <p:blipFill>
          <a:blip r:embed="rId1"/>
          <a:srcRect l="-2078" r="-2078" t="0" b="0"/>
          <a:stretch/>
        </p:blipFill>
        <p:spPr>
          <a:xfrm>
            <a:off x="761695" y="7733995"/>
            <a:ext cx="3619195" cy="9144"/>
          </a:xfrm>
          <a:prstGeom prst="rect">
            <a:avLst/>
          </a:prstGeom>
        </p:spPr>
      </p:pic>
      <p:pic>
        <p:nvPicPr>
          <p:cNvPr id="4" name="Image 1" descr="gen-dedup-a37135699df538e2314f64c5f92c49f9.png">    </p:cNvPr>
          <p:cNvPicPr>
            <a:picLocks noChangeAspect="1"/>
          </p:cNvPicPr>
          <p:nvPr/>
        </p:nvPicPr>
        <p:blipFill>
          <a:blip r:embed="rId2"/>
          <a:srcRect l="0" r="0" t="-2083" b="-2083"/>
          <a:stretch/>
        </p:blipFill>
        <p:spPr>
          <a:xfrm>
            <a:off x="5715000" y="7925105"/>
            <a:ext cx="9144" cy="4572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61695" y="2495398"/>
            <a:ext cx="11716207" cy="4953305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f877fa13478ca5cd1a698ae707cf666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12763195" y="2819095"/>
            <a:ext cx="4762195" cy="4724705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761695" y="8667598"/>
            <a:ext cx="11716207" cy="705002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1695" y="7050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08 · AMI · after-metal-isolation</a:t>
            </a:r>
            <a:endParaRPr lang="en-US" sz="1125" dirty="0"/>
          </a:p>
        </p:txBody>
      </p:sp>
      <p:sp>
        <p:nvSpPr>
          <p:cNvPr id="10" name="Text 4"/>
          <p:cNvSpPr txBox="1"/>
          <p:nvPr/>
        </p:nvSpPr>
        <p:spPr>
          <a:xfrm>
            <a:off x="761695" y="1019556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00" b="1" spc="-99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AMI </a:t>
            </a:r>
            <a:pPr algn="l" indent="0" marL="0">
              <a:buNone/>
            </a:pPr>
            <a:r>
              <a:rPr lang="en-US" sz="3000" b="1" spc="-99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9.0 nm</a:t>
            </a:r>
            <a:endParaRPr lang="en-US" sz="4500" dirty="0"/>
          </a:p>
        </p:txBody>
      </p:sp>
      <p:sp>
        <p:nvSpPr>
          <p:cNvPr id="11" name="Text 5"/>
          <p:cNvSpPr txBox="1"/>
          <p:nvPr/>
        </p:nvSpPr>
        <p:spPr>
          <a:xfrm>
            <a:off x="761695" y="1723644"/>
            <a:ext cx="93351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line-bottom CD — 스케일이 작아지면서 절대 gap 은 줄어들지만 분포 모양은 살아있는지 확인.</a:t>
            </a:r>
            <a:endParaRPr lang="en-US" sz="1275" dirty="0"/>
          </a:p>
        </p:txBody>
      </p:sp>
      <p:sp>
        <p:nvSpPr>
          <p:cNvPr id="12" name="Text 6"/>
          <p:cNvSpPr txBox="1"/>
          <p:nvPr/>
        </p:nvSpPr>
        <p:spPr>
          <a:xfrm>
            <a:off x="1143000" y="2723998"/>
            <a:ext cx="10478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08.1 · per-wafer reading · 8 wafer, line-bottom 5 site 평균 / wafer</a:t>
            </a:r>
            <a:endParaRPr lang="en-US" sz="975" dirty="0"/>
          </a:p>
        </p:txBody>
      </p:sp>
      <p:sp>
        <p:nvSpPr>
          <p:cNvPr id="13" name="Shape 7"/>
          <p:cNvSpPr/>
          <p:nvPr/>
        </p:nvSpPr>
        <p:spPr>
          <a:xfrm>
            <a:off x="1143000" y="3505810"/>
            <a:ext cx="10953598" cy="19202"/>
          </a:xfrm>
          <a:prstGeom prst="rect">
            <a:avLst/>
          </a:prstGeom>
          <a:solidFill>
            <a:srgbClr val="1A212B"/>
          </a:solidFill>
          <a:ln w="12700">
            <a:solidFill>
              <a:srgbClr val="1A212B">
                <a:alpha val="0"/>
              </a:srgbClr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1143000" y="3124505"/>
            <a:ext cx="113385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2270455" y="3124505"/>
            <a:ext cx="1133856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900" dirty="0"/>
          </a:p>
        </p:txBody>
      </p:sp>
      <p:sp>
        <p:nvSpPr>
          <p:cNvPr id="16" name="Text 10"/>
          <p:cNvSpPr txBox="1"/>
          <p:nvPr/>
        </p:nvSpPr>
        <p:spPr>
          <a:xfrm>
            <a:off x="3396082" y="3124505"/>
            <a:ext cx="18772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(nm)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5265115" y="3124505"/>
            <a:ext cx="18772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(nm)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134149" y="3124505"/>
            <a:ext cx="18772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 (nm)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9004097" y="3124505"/>
            <a:ext cx="1877263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b="1" spc="90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1143000" y="3524098"/>
            <a:ext cx="10953598" cy="457200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1143000" y="3972154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2270455" y="3524098"/>
            <a:ext cx="11338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275" dirty="0"/>
          </a:p>
        </p:txBody>
      </p:sp>
      <p:sp>
        <p:nvSpPr>
          <p:cNvPr id="23" name="Text 17"/>
          <p:cNvSpPr txBox="1"/>
          <p:nvPr/>
        </p:nvSpPr>
        <p:spPr>
          <a:xfrm>
            <a:off x="3396082" y="3524098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9.18</a:t>
            </a:r>
            <a:endParaRPr lang="en-US" sz="1275" dirty="0"/>
          </a:p>
        </p:txBody>
      </p:sp>
      <p:sp>
        <p:nvSpPr>
          <p:cNvPr id="24" name="Text 18"/>
          <p:cNvSpPr txBox="1"/>
          <p:nvPr/>
        </p:nvSpPr>
        <p:spPr>
          <a:xfrm>
            <a:off x="5265115" y="3524098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0.18</a:t>
            </a:r>
            <a:endParaRPr lang="en-US" sz="1275" dirty="0"/>
          </a:p>
        </p:txBody>
      </p:sp>
      <p:sp>
        <p:nvSpPr>
          <p:cNvPr id="25" name="Text 19"/>
          <p:cNvSpPr txBox="1"/>
          <p:nvPr/>
        </p:nvSpPr>
        <p:spPr>
          <a:xfrm>
            <a:off x="7134149" y="3524098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0.74</a:t>
            </a:r>
            <a:endParaRPr lang="en-US" sz="1275" dirty="0"/>
          </a:p>
        </p:txBody>
      </p:sp>
      <p:sp>
        <p:nvSpPr>
          <p:cNvPr id="26" name="Text 20"/>
          <p:cNvSpPr txBox="1"/>
          <p:nvPr/>
        </p:nvSpPr>
        <p:spPr>
          <a:xfrm>
            <a:off x="9004097" y="3524098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+0.18</a:t>
            </a:r>
            <a:endParaRPr lang="en-US" sz="1275" dirty="0"/>
          </a:p>
        </p:txBody>
      </p:sp>
      <p:sp>
        <p:nvSpPr>
          <p:cNvPr id="27" name="Shape 21"/>
          <p:cNvSpPr/>
          <p:nvPr/>
        </p:nvSpPr>
        <p:spPr>
          <a:xfrm>
            <a:off x="1143000" y="3976726"/>
            <a:ext cx="10953598" cy="504749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1143000" y="4472330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270455" y="3976726"/>
            <a:ext cx="1133856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275" dirty="0"/>
          </a:p>
        </p:txBody>
      </p:sp>
      <p:sp>
        <p:nvSpPr>
          <p:cNvPr id="30" name="Text 24"/>
          <p:cNvSpPr txBox="1"/>
          <p:nvPr/>
        </p:nvSpPr>
        <p:spPr>
          <a:xfrm>
            <a:off x="3396082" y="3976726"/>
            <a:ext cx="18772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9.12</a:t>
            </a:r>
            <a:endParaRPr lang="en-US" sz="1275" dirty="0"/>
          </a:p>
        </p:txBody>
      </p:sp>
      <p:sp>
        <p:nvSpPr>
          <p:cNvPr id="31" name="Text 25"/>
          <p:cNvSpPr txBox="1"/>
          <p:nvPr/>
        </p:nvSpPr>
        <p:spPr>
          <a:xfrm>
            <a:off x="5265115" y="3976726"/>
            <a:ext cx="18772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0.16</a:t>
            </a:r>
            <a:endParaRPr lang="en-US" sz="1275" dirty="0"/>
          </a:p>
        </p:txBody>
      </p:sp>
      <p:sp>
        <p:nvSpPr>
          <p:cNvPr id="32" name="Text 26"/>
          <p:cNvSpPr txBox="1"/>
          <p:nvPr/>
        </p:nvSpPr>
        <p:spPr>
          <a:xfrm>
            <a:off x="7134149" y="3976726"/>
            <a:ext cx="18772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0.66</a:t>
            </a:r>
            <a:endParaRPr lang="en-US" sz="1275" dirty="0"/>
          </a:p>
        </p:txBody>
      </p:sp>
      <p:sp>
        <p:nvSpPr>
          <p:cNvPr id="33" name="Text 27"/>
          <p:cNvSpPr txBox="1"/>
          <p:nvPr/>
        </p:nvSpPr>
        <p:spPr>
          <a:xfrm>
            <a:off x="9004097" y="3976726"/>
            <a:ext cx="187726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+0.12</a:t>
            </a:r>
            <a:endParaRPr lang="en-US" sz="1275" dirty="0"/>
          </a:p>
        </p:txBody>
      </p:sp>
      <p:sp>
        <p:nvSpPr>
          <p:cNvPr id="34" name="Text 28"/>
          <p:cNvSpPr txBox="1"/>
          <p:nvPr/>
        </p:nvSpPr>
        <p:spPr>
          <a:xfrm>
            <a:off x="10874959" y="3976726"/>
            <a:ext cx="1228954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tightest среди AlOx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1143000" y="4481474"/>
            <a:ext cx="10953598" cy="448056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1143000" y="4920386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2270455" y="4481474"/>
            <a:ext cx="11338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275" dirty="0"/>
          </a:p>
        </p:txBody>
      </p:sp>
      <p:sp>
        <p:nvSpPr>
          <p:cNvPr id="38" name="Text 32"/>
          <p:cNvSpPr txBox="1"/>
          <p:nvPr/>
        </p:nvSpPr>
        <p:spPr>
          <a:xfrm>
            <a:off x="3396082" y="4481474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9.24</a:t>
            </a:r>
            <a:endParaRPr lang="en-US" sz="1275" dirty="0"/>
          </a:p>
        </p:txBody>
      </p:sp>
      <p:sp>
        <p:nvSpPr>
          <p:cNvPr id="39" name="Text 33"/>
          <p:cNvSpPr txBox="1"/>
          <p:nvPr/>
        </p:nvSpPr>
        <p:spPr>
          <a:xfrm>
            <a:off x="5265115" y="4481474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0.20</a:t>
            </a:r>
            <a:endParaRPr lang="en-US" sz="1275" dirty="0"/>
          </a:p>
        </p:txBody>
      </p:sp>
      <p:sp>
        <p:nvSpPr>
          <p:cNvPr id="40" name="Text 34"/>
          <p:cNvSpPr txBox="1"/>
          <p:nvPr/>
        </p:nvSpPr>
        <p:spPr>
          <a:xfrm>
            <a:off x="7134149" y="4481474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0.81</a:t>
            </a:r>
            <a:endParaRPr lang="en-US" sz="1275" dirty="0"/>
          </a:p>
        </p:txBody>
      </p:sp>
      <p:sp>
        <p:nvSpPr>
          <p:cNvPr id="41" name="Text 35"/>
          <p:cNvSpPr txBox="1"/>
          <p:nvPr/>
        </p:nvSpPr>
        <p:spPr>
          <a:xfrm>
            <a:off x="9004097" y="4481474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+0.24</a:t>
            </a:r>
            <a:endParaRPr lang="en-US" sz="1275" dirty="0"/>
          </a:p>
        </p:txBody>
      </p:sp>
      <p:sp>
        <p:nvSpPr>
          <p:cNvPr id="42" name="Text 36"/>
          <p:cNvSpPr txBox="1"/>
          <p:nvPr/>
        </p:nvSpPr>
        <p:spPr>
          <a:xfrm>
            <a:off x="10874959" y="4481474"/>
            <a:ext cx="12289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highest σ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1143000" y="4929530"/>
            <a:ext cx="10953598" cy="457200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44" name="Shape 38"/>
          <p:cNvSpPr/>
          <p:nvPr/>
        </p:nvSpPr>
        <p:spPr>
          <a:xfrm>
            <a:off x="1143000" y="5367528"/>
            <a:ext cx="10953598" cy="19202"/>
          </a:xfrm>
          <a:prstGeom prst="rect">
            <a:avLst/>
          </a:prstGeom>
          <a:solidFill>
            <a:srgbClr val="8C3F1B"/>
          </a:solidFill>
          <a:ln w="12700">
            <a:solidFill>
              <a:srgbClr val="8C3F1B">
                <a:alpha val="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2270455" y="4929530"/>
            <a:ext cx="11338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275" dirty="0"/>
          </a:p>
        </p:txBody>
      </p:sp>
      <p:sp>
        <p:nvSpPr>
          <p:cNvPr id="46" name="Text 40"/>
          <p:cNvSpPr txBox="1"/>
          <p:nvPr/>
        </p:nvSpPr>
        <p:spPr>
          <a:xfrm>
            <a:off x="3396082" y="492953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9.05</a:t>
            </a:r>
            <a:endParaRPr lang="en-US" sz="1275" dirty="0"/>
          </a:p>
        </p:txBody>
      </p:sp>
      <p:sp>
        <p:nvSpPr>
          <p:cNvPr id="47" name="Text 41"/>
          <p:cNvSpPr txBox="1"/>
          <p:nvPr/>
        </p:nvSpPr>
        <p:spPr>
          <a:xfrm>
            <a:off x="5265115" y="492953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0.15</a:t>
            </a:r>
            <a:endParaRPr lang="en-US" sz="1275" dirty="0"/>
          </a:p>
        </p:txBody>
      </p:sp>
      <p:sp>
        <p:nvSpPr>
          <p:cNvPr id="48" name="Text 42"/>
          <p:cNvSpPr txBox="1"/>
          <p:nvPr/>
        </p:nvSpPr>
        <p:spPr>
          <a:xfrm>
            <a:off x="7134149" y="492953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0.62</a:t>
            </a:r>
            <a:endParaRPr lang="en-US" sz="1275" dirty="0"/>
          </a:p>
        </p:txBody>
      </p:sp>
      <p:sp>
        <p:nvSpPr>
          <p:cNvPr id="49" name="Text 43"/>
          <p:cNvSpPr txBox="1"/>
          <p:nvPr/>
        </p:nvSpPr>
        <p:spPr>
          <a:xfrm>
            <a:off x="9004097" y="4929530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+0.05</a:t>
            </a:r>
            <a:endParaRPr lang="en-US" sz="1275" dirty="0"/>
          </a:p>
        </p:txBody>
      </p:sp>
      <p:sp>
        <p:nvSpPr>
          <p:cNvPr id="50" name="Text 44"/>
          <p:cNvSpPr txBox="1"/>
          <p:nvPr/>
        </p:nvSpPr>
        <p:spPr>
          <a:xfrm>
            <a:off x="10874959" y="4929530"/>
            <a:ext cx="1228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on-target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1143000" y="5381244"/>
            <a:ext cx="10953598" cy="457200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52" name="Shape 46"/>
          <p:cNvSpPr/>
          <p:nvPr/>
        </p:nvSpPr>
        <p:spPr>
          <a:xfrm>
            <a:off x="1143000" y="5829300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2270455" y="5381244"/>
            <a:ext cx="113385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275" dirty="0"/>
          </a:p>
        </p:txBody>
      </p:sp>
      <p:sp>
        <p:nvSpPr>
          <p:cNvPr id="54" name="Text 48"/>
          <p:cNvSpPr txBox="1"/>
          <p:nvPr/>
        </p:nvSpPr>
        <p:spPr>
          <a:xfrm>
            <a:off x="3396082" y="5381244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8.86</a:t>
            </a:r>
            <a:endParaRPr lang="en-US" sz="1275" dirty="0"/>
          </a:p>
        </p:txBody>
      </p:sp>
      <p:sp>
        <p:nvSpPr>
          <p:cNvPr id="55" name="Text 49"/>
          <p:cNvSpPr txBox="1"/>
          <p:nvPr/>
        </p:nvSpPr>
        <p:spPr>
          <a:xfrm>
            <a:off x="5265115" y="5381244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0.13</a:t>
            </a:r>
            <a:endParaRPr lang="en-US" sz="1275" dirty="0"/>
          </a:p>
        </p:txBody>
      </p:sp>
      <p:sp>
        <p:nvSpPr>
          <p:cNvPr id="56" name="Text 50"/>
          <p:cNvSpPr txBox="1"/>
          <p:nvPr/>
        </p:nvSpPr>
        <p:spPr>
          <a:xfrm>
            <a:off x="7134149" y="5381244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0.51</a:t>
            </a:r>
            <a:endParaRPr lang="en-US" sz="1275" dirty="0"/>
          </a:p>
        </p:txBody>
      </p:sp>
      <p:sp>
        <p:nvSpPr>
          <p:cNvPr id="57" name="Text 51"/>
          <p:cNvSpPr txBox="1"/>
          <p:nvPr/>
        </p:nvSpPr>
        <p:spPr>
          <a:xfrm>
            <a:off x="9004097" y="5381244"/>
            <a:ext cx="187726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1275" dirty="0"/>
          </a:p>
        </p:txBody>
      </p:sp>
      <p:sp>
        <p:nvSpPr>
          <p:cNvPr id="58" name="Shape 52"/>
          <p:cNvSpPr/>
          <p:nvPr/>
        </p:nvSpPr>
        <p:spPr>
          <a:xfrm>
            <a:off x="1143000" y="5833872"/>
            <a:ext cx="10953598" cy="448056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59" name="Shape 53"/>
          <p:cNvSpPr/>
          <p:nvPr/>
        </p:nvSpPr>
        <p:spPr>
          <a:xfrm>
            <a:off x="1143000" y="6272784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2270455" y="5833872"/>
            <a:ext cx="11338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1275" dirty="0"/>
          </a:p>
        </p:txBody>
      </p:sp>
      <p:sp>
        <p:nvSpPr>
          <p:cNvPr id="61" name="Text 55"/>
          <p:cNvSpPr txBox="1"/>
          <p:nvPr/>
        </p:nvSpPr>
        <p:spPr>
          <a:xfrm>
            <a:off x="3396082" y="5833872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8.79</a:t>
            </a:r>
            <a:endParaRPr lang="en-US" sz="1275" dirty="0"/>
          </a:p>
        </p:txBody>
      </p:sp>
      <p:sp>
        <p:nvSpPr>
          <p:cNvPr id="62" name="Text 56"/>
          <p:cNvSpPr txBox="1"/>
          <p:nvPr/>
        </p:nvSpPr>
        <p:spPr>
          <a:xfrm>
            <a:off x="5265115" y="5833872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0.12</a:t>
            </a:r>
            <a:endParaRPr lang="en-US" sz="1275" dirty="0"/>
          </a:p>
        </p:txBody>
      </p:sp>
      <p:sp>
        <p:nvSpPr>
          <p:cNvPr id="63" name="Text 57"/>
          <p:cNvSpPr txBox="1"/>
          <p:nvPr/>
        </p:nvSpPr>
        <p:spPr>
          <a:xfrm>
            <a:off x="7134149" y="5833872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0.47</a:t>
            </a:r>
            <a:endParaRPr lang="en-US" sz="1275" dirty="0"/>
          </a:p>
        </p:txBody>
      </p:sp>
      <p:sp>
        <p:nvSpPr>
          <p:cNvPr id="64" name="Text 58"/>
          <p:cNvSpPr txBox="1"/>
          <p:nvPr/>
        </p:nvSpPr>
        <p:spPr>
          <a:xfrm>
            <a:off x="9004097" y="5833872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−0.21</a:t>
            </a:r>
            <a:endParaRPr lang="en-US" sz="1275" dirty="0"/>
          </a:p>
        </p:txBody>
      </p:sp>
      <p:sp>
        <p:nvSpPr>
          <p:cNvPr id="65" name="Text 59"/>
          <p:cNvSpPr txBox="1"/>
          <p:nvPr/>
        </p:nvSpPr>
        <p:spPr>
          <a:xfrm>
            <a:off x="10874959" y="5833872"/>
            <a:ext cx="122895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lowest mean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1143000" y="6281928"/>
            <a:ext cx="10953598" cy="448056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67" name="Shape 61"/>
          <p:cNvSpPr/>
          <p:nvPr/>
        </p:nvSpPr>
        <p:spPr>
          <a:xfrm>
            <a:off x="1143000" y="6720840"/>
            <a:ext cx="10953598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2270455" y="6281928"/>
            <a:ext cx="11338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</a:t>
            </a:r>
            <a:endParaRPr lang="en-US" sz="1275" dirty="0"/>
          </a:p>
        </p:txBody>
      </p:sp>
      <p:sp>
        <p:nvSpPr>
          <p:cNvPr id="69" name="Text 63"/>
          <p:cNvSpPr txBox="1"/>
          <p:nvPr/>
        </p:nvSpPr>
        <p:spPr>
          <a:xfrm>
            <a:off x="3396082" y="6281928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8.91</a:t>
            </a:r>
            <a:endParaRPr lang="en-US" sz="1275" dirty="0"/>
          </a:p>
        </p:txBody>
      </p:sp>
      <p:sp>
        <p:nvSpPr>
          <p:cNvPr id="70" name="Text 64"/>
          <p:cNvSpPr txBox="1"/>
          <p:nvPr/>
        </p:nvSpPr>
        <p:spPr>
          <a:xfrm>
            <a:off x="5265115" y="6281928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0.14</a:t>
            </a:r>
            <a:endParaRPr lang="en-US" sz="1275" dirty="0"/>
          </a:p>
        </p:txBody>
      </p:sp>
      <p:sp>
        <p:nvSpPr>
          <p:cNvPr id="71" name="Text 65"/>
          <p:cNvSpPr txBox="1"/>
          <p:nvPr/>
        </p:nvSpPr>
        <p:spPr>
          <a:xfrm>
            <a:off x="7134149" y="6281928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0.55</a:t>
            </a:r>
            <a:endParaRPr lang="en-US" sz="1275" dirty="0"/>
          </a:p>
        </p:txBody>
      </p:sp>
      <p:sp>
        <p:nvSpPr>
          <p:cNvPr id="72" name="Text 66"/>
          <p:cNvSpPr txBox="1"/>
          <p:nvPr/>
        </p:nvSpPr>
        <p:spPr>
          <a:xfrm>
            <a:off x="9004097" y="6281928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−0.09</a:t>
            </a:r>
            <a:endParaRPr lang="en-US" sz="1275" dirty="0"/>
          </a:p>
        </p:txBody>
      </p:sp>
      <p:sp>
        <p:nvSpPr>
          <p:cNvPr id="73" name="Shape 67"/>
          <p:cNvSpPr/>
          <p:nvPr/>
        </p:nvSpPr>
        <p:spPr>
          <a:xfrm>
            <a:off x="1143000" y="6729070"/>
            <a:ext cx="10953598" cy="448056"/>
          </a:xfrm>
          <a:prstGeom prst="rect">
            <a:avLst/>
          </a:prstGeom>
          <a:solidFill>
            <a:srgbClr val="2D5F7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2270455" y="6729070"/>
            <a:ext cx="1133856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</a:t>
            </a:r>
            <a:endParaRPr lang="en-US" sz="1275" dirty="0"/>
          </a:p>
        </p:txBody>
      </p:sp>
      <p:sp>
        <p:nvSpPr>
          <p:cNvPr id="75" name="Text 69"/>
          <p:cNvSpPr txBox="1"/>
          <p:nvPr/>
        </p:nvSpPr>
        <p:spPr>
          <a:xfrm>
            <a:off x="3396082" y="6729070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8.82</a:t>
            </a:r>
            <a:endParaRPr lang="en-US" sz="1275" dirty="0"/>
          </a:p>
        </p:txBody>
      </p:sp>
      <p:sp>
        <p:nvSpPr>
          <p:cNvPr id="76" name="Text 70"/>
          <p:cNvSpPr txBox="1"/>
          <p:nvPr/>
        </p:nvSpPr>
        <p:spPr>
          <a:xfrm>
            <a:off x="5265115" y="6729070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0.12</a:t>
            </a:r>
            <a:endParaRPr lang="en-US" sz="1275" dirty="0"/>
          </a:p>
        </p:txBody>
      </p:sp>
      <p:sp>
        <p:nvSpPr>
          <p:cNvPr id="77" name="Text 71"/>
          <p:cNvSpPr txBox="1"/>
          <p:nvPr/>
        </p:nvSpPr>
        <p:spPr>
          <a:xfrm>
            <a:off x="7134149" y="6729070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0.49</a:t>
            </a:r>
            <a:endParaRPr lang="en-US" sz="1275" dirty="0"/>
          </a:p>
        </p:txBody>
      </p:sp>
      <p:sp>
        <p:nvSpPr>
          <p:cNvPr id="78" name="Text 72"/>
          <p:cNvSpPr txBox="1"/>
          <p:nvPr/>
        </p:nvSpPr>
        <p:spPr>
          <a:xfrm>
            <a:off x="9004097" y="6729070"/>
            <a:ext cx="1877263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75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1275" dirty="0"/>
          </a:p>
        </p:txBody>
      </p:sp>
      <p:sp>
        <p:nvSpPr>
          <p:cNvPr id="79" name="Text 73"/>
          <p:cNvSpPr txBox="1"/>
          <p:nvPr/>
        </p:nvSpPr>
        <p:spPr>
          <a:xfrm>
            <a:off x="1200607" y="3657600"/>
            <a:ext cx="645566" cy="210312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00" dirty="0"/>
          </a:p>
        </p:txBody>
      </p:sp>
      <p:sp>
        <p:nvSpPr>
          <p:cNvPr id="80" name="Text 74"/>
          <p:cNvSpPr txBox="1"/>
          <p:nvPr/>
        </p:nvSpPr>
        <p:spPr>
          <a:xfrm>
            <a:off x="1200607" y="4134002"/>
            <a:ext cx="645566" cy="210312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00" dirty="0"/>
          </a:p>
        </p:txBody>
      </p:sp>
      <p:sp>
        <p:nvSpPr>
          <p:cNvPr id="81" name="Text 75"/>
          <p:cNvSpPr txBox="1"/>
          <p:nvPr/>
        </p:nvSpPr>
        <p:spPr>
          <a:xfrm>
            <a:off x="1200607" y="4610405"/>
            <a:ext cx="645566" cy="210312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00" dirty="0"/>
          </a:p>
        </p:txBody>
      </p:sp>
      <p:sp>
        <p:nvSpPr>
          <p:cNvPr id="82" name="Text 76"/>
          <p:cNvSpPr txBox="1"/>
          <p:nvPr/>
        </p:nvSpPr>
        <p:spPr>
          <a:xfrm>
            <a:off x="1200607" y="5057546"/>
            <a:ext cx="645566" cy="210312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00" dirty="0"/>
          </a:p>
        </p:txBody>
      </p:sp>
      <p:sp>
        <p:nvSpPr>
          <p:cNvPr id="83" name="Text 77"/>
          <p:cNvSpPr txBox="1"/>
          <p:nvPr/>
        </p:nvSpPr>
        <p:spPr>
          <a:xfrm>
            <a:off x="1200607" y="5514746"/>
            <a:ext cx="645566" cy="210312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00" dirty="0"/>
          </a:p>
        </p:txBody>
      </p:sp>
      <p:sp>
        <p:nvSpPr>
          <p:cNvPr id="84" name="Text 78"/>
          <p:cNvSpPr txBox="1"/>
          <p:nvPr/>
        </p:nvSpPr>
        <p:spPr>
          <a:xfrm>
            <a:off x="1200607" y="5962802"/>
            <a:ext cx="645566" cy="210312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00" dirty="0"/>
          </a:p>
        </p:txBody>
      </p:sp>
      <p:sp>
        <p:nvSpPr>
          <p:cNvPr id="85" name="Text 79"/>
          <p:cNvSpPr txBox="1"/>
          <p:nvPr/>
        </p:nvSpPr>
        <p:spPr>
          <a:xfrm>
            <a:off x="1200607" y="6409944"/>
            <a:ext cx="645566" cy="210312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00" dirty="0"/>
          </a:p>
        </p:txBody>
      </p:sp>
      <p:sp>
        <p:nvSpPr>
          <p:cNvPr id="86" name="Text 80"/>
          <p:cNvSpPr txBox="1"/>
          <p:nvPr/>
        </p:nvSpPr>
        <p:spPr>
          <a:xfrm>
            <a:off x="1200607" y="6858000"/>
            <a:ext cx="645566" cy="210312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00" b="1" spc="90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00" dirty="0"/>
          </a:p>
        </p:txBody>
      </p:sp>
      <p:sp>
        <p:nvSpPr>
          <p:cNvPr id="87" name="Text 81"/>
          <p:cNvSpPr txBox="1"/>
          <p:nvPr/>
        </p:nvSpPr>
        <p:spPr>
          <a:xfrm>
            <a:off x="761695" y="8124444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+0.15 nm</a:t>
            </a:r>
            <a:endParaRPr lang="en-US" sz="1950" dirty="0"/>
          </a:p>
        </p:txBody>
      </p:sp>
      <p:sp>
        <p:nvSpPr>
          <p:cNvPr id="88" name="Text 82"/>
          <p:cNvSpPr txBox="1"/>
          <p:nvPr/>
        </p:nvSpPr>
        <p:spPr>
          <a:xfrm>
            <a:off x="761695" y="7877556"/>
            <a:ext cx="819302" cy="191110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 avg</a:t>
            </a:r>
            <a:endParaRPr lang="en-US" sz="825" dirty="0"/>
          </a:p>
        </p:txBody>
      </p:sp>
      <p:sp>
        <p:nvSpPr>
          <p:cNvPr id="89" name="Text 83"/>
          <p:cNvSpPr txBox="1"/>
          <p:nvPr/>
        </p:nvSpPr>
        <p:spPr>
          <a:xfrm>
            <a:off x="3238805" y="8124444"/>
            <a:ext cx="22860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−0.16 nm</a:t>
            </a:r>
            <a:endParaRPr lang="en-US" sz="1950" dirty="0"/>
          </a:p>
        </p:txBody>
      </p:sp>
      <p:sp>
        <p:nvSpPr>
          <p:cNvPr id="90" name="Text 84"/>
          <p:cNvSpPr txBox="1"/>
          <p:nvPr/>
        </p:nvSpPr>
        <p:spPr>
          <a:xfrm>
            <a:off x="3238805" y="7877556"/>
            <a:ext cx="790956" cy="191110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 avg</a:t>
            </a:r>
            <a:endParaRPr lang="en-US" sz="825" dirty="0"/>
          </a:p>
        </p:txBody>
      </p:sp>
      <p:sp>
        <p:nvSpPr>
          <p:cNvPr id="91" name="Text 85"/>
          <p:cNvSpPr txBox="1"/>
          <p:nvPr/>
        </p:nvSpPr>
        <p:spPr>
          <a:xfrm>
            <a:off x="5905195" y="7830007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 gap (mean)</a:t>
            </a:r>
            <a:endParaRPr lang="en-US" sz="825" dirty="0"/>
          </a:p>
        </p:txBody>
      </p:sp>
      <p:sp>
        <p:nvSpPr>
          <p:cNvPr id="92" name="Text 86"/>
          <p:cNvSpPr txBox="1"/>
          <p:nvPr/>
        </p:nvSpPr>
        <p:spPr>
          <a:xfrm>
            <a:off x="5905195" y="8020202"/>
            <a:ext cx="929945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b="1" spc="-45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0.31 </a:t>
            </a:r>
            <a:pPr algn="l" indent="0" marL="0">
              <a:buNone/>
            </a:pPr>
            <a:r>
              <a:rPr lang="en-US" sz="975" b="1" spc="-45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nm</a:t>
            </a:r>
            <a:endParaRPr lang="en-US" sz="2250" dirty="0"/>
          </a:p>
        </p:txBody>
      </p:sp>
      <p:sp>
        <p:nvSpPr>
          <p:cNvPr id="93" name="Text 87"/>
          <p:cNvSpPr txBox="1"/>
          <p:nvPr/>
        </p:nvSpPr>
        <p:spPr>
          <a:xfrm>
            <a:off x="6812280" y="8162849"/>
            <a:ext cx="135788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AASI 의 약 44 %</a:t>
            </a:r>
            <a:endParaRPr lang="en-US" sz="975" dirty="0"/>
          </a:p>
        </p:txBody>
      </p:sp>
      <p:sp>
        <p:nvSpPr>
          <p:cNvPr id="94" name="Text 88"/>
          <p:cNvSpPr txBox="1"/>
          <p:nvPr/>
        </p:nvSpPr>
        <p:spPr>
          <a:xfrm>
            <a:off x="12763195" y="2495398"/>
            <a:ext cx="47631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B58A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08.2 · split 막대</a:t>
            </a:r>
            <a:endParaRPr lang="en-US" sz="975" dirty="0"/>
          </a:p>
        </p:txBody>
      </p:sp>
      <p:sp>
        <p:nvSpPr>
          <p:cNvPr id="95" name="Text 89"/>
          <p:cNvSpPr txBox="1"/>
          <p:nvPr/>
        </p:nvSpPr>
        <p:spPr>
          <a:xfrm>
            <a:off x="13049402" y="3057754"/>
            <a:ext cx="2210105" cy="19111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± window · 9.0 nm</a:t>
            </a:r>
            <a:endParaRPr lang="en-US" sz="825" dirty="0"/>
          </a:p>
        </p:txBody>
      </p:sp>
      <p:sp>
        <p:nvSpPr>
          <p:cNvPr id="96" name="Shape 90"/>
          <p:cNvSpPr/>
          <p:nvPr/>
        </p:nvSpPr>
        <p:spPr>
          <a:xfrm>
            <a:off x="13049402" y="3381451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7" name="Image 3" descr="gen-dedup-0350876acdcd4a3de977f02f192c2c5b.png">    </p:cNvPr>
          <p:cNvPicPr>
            <a:picLocks noChangeAspect="1"/>
          </p:cNvPicPr>
          <p:nvPr/>
        </p:nvPicPr>
        <p:blipFill>
          <a:blip r:embed="rId4"/>
          <a:srcRect l="-400" r="-400" t="0" b="0"/>
          <a:stretch/>
        </p:blipFill>
        <p:spPr>
          <a:xfrm>
            <a:off x="15145207" y="3381451"/>
            <a:ext cx="19202" cy="228600"/>
          </a:xfrm>
          <a:prstGeom prst="rect">
            <a:avLst/>
          </a:prstGeom>
        </p:spPr>
      </p:pic>
      <p:sp>
        <p:nvSpPr>
          <p:cNvPr id="98" name="Text 91"/>
          <p:cNvSpPr txBox="1"/>
          <p:nvPr/>
        </p:nvSpPr>
        <p:spPr>
          <a:xfrm>
            <a:off x="13300862" y="3666744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−0.30</a:t>
            </a:r>
            <a:endParaRPr lang="en-US" sz="825" dirty="0"/>
          </a:p>
        </p:txBody>
      </p:sp>
      <p:sp>
        <p:nvSpPr>
          <p:cNvPr id="99" name="Text 92"/>
          <p:cNvSpPr txBox="1"/>
          <p:nvPr/>
        </p:nvSpPr>
        <p:spPr>
          <a:xfrm>
            <a:off x="16674998" y="3666744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+0.30</a:t>
            </a:r>
            <a:endParaRPr lang="en-US" sz="825" dirty="0"/>
          </a:p>
        </p:txBody>
      </p:sp>
      <p:sp>
        <p:nvSpPr>
          <p:cNvPr id="100" name="Text 93"/>
          <p:cNvSpPr txBox="1"/>
          <p:nvPr/>
        </p:nvSpPr>
        <p:spPr>
          <a:xfrm>
            <a:off x="13049402" y="3829507"/>
            <a:ext cx="4191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AlOx ROW · all W01~W04</a:t>
            </a:r>
            <a:endParaRPr lang="en-US" sz="900" dirty="0"/>
          </a:p>
        </p:txBody>
      </p:sp>
      <p:sp>
        <p:nvSpPr>
          <p:cNvPr id="101" name="Text 94"/>
          <p:cNvSpPr txBox="1"/>
          <p:nvPr/>
        </p:nvSpPr>
        <p:spPr>
          <a:xfrm>
            <a:off x="13049402" y="5266944"/>
            <a:ext cx="41916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SiCN ROW · all W05~W08</a:t>
            </a:r>
            <a:endParaRPr lang="en-US" sz="900" dirty="0"/>
          </a:p>
        </p:txBody>
      </p:sp>
      <p:sp>
        <p:nvSpPr>
          <p:cNvPr id="102" name="Shape 95"/>
          <p:cNvSpPr/>
          <p:nvPr/>
        </p:nvSpPr>
        <p:spPr>
          <a:xfrm>
            <a:off x="13049402" y="4048049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96"/>
          <p:cNvSpPr/>
          <p:nvPr/>
        </p:nvSpPr>
        <p:spPr>
          <a:xfrm>
            <a:off x="15564002" y="4067251"/>
            <a:ext cx="267005" cy="190195"/>
          </a:xfrm>
          <a:prstGeom prst="rect">
            <a:avLst/>
          </a:prstGeom>
          <a:solidFill>
            <a:srgbClr val="B563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Text 97"/>
          <p:cNvSpPr txBox="1"/>
          <p:nvPr/>
        </p:nvSpPr>
        <p:spPr>
          <a:xfrm>
            <a:off x="16849649" y="4086454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+0.18</a:t>
            </a:r>
            <a:endParaRPr lang="en-US" sz="825" dirty="0"/>
          </a:p>
        </p:txBody>
      </p:sp>
      <p:sp>
        <p:nvSpPr>
          <p:cNvPr id="105" name="Shape 98"/>
          <p:cNvSpPr/>
          <p:nvPr/>
        </p:nvSpPr>
        <p:spPr>
          <a:xfrm>
            <a:off x="13049402" y="4334256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15395753" y="4352544"/>
            <a:ext cx="267005" cy="190195"/>
          </a:xfrm>
          <a:prstGeom prst="rect">
            <a:avLst/>
          </a:prstGeom>
          <a:solidFill>
            <a:srgbClr val="B563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Text 100"/>
          <p:cNvSpPr txBox="1"/>
          <p:nvPr/>
        </p:nvSpPr>
        <p:spPr>
          <a:xfrm>
            <a:off x="16849649" y="4371746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+0.12</a:t>
            </a:r>
            <a:endParaRPr lang="en-US" sz="825" dirty="0"/>
          </a:p>
        </p:txBody>
      </p:sp>
      <p:sp>
        <p:nvSpPr>
          <p:cNvPr id="108" name="Shape 101"/>
          <p:cNvSpPr/>
          <p:nvPr/>
        </p:nvSpPr>
        <p:spPr>
          <a:xfrm>
            <a:off x="13049402" y="4619549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2"/>
          <p:cNvSpPr/>
          <p:nvPr/>
        </p:nvSpPr>
        <p:spPr>
          <a:xfrm>
            <a:off x="15647213" y="4638751"/>
            <a:ext cx="267005" cy="190195"/>
          </a:xfrm>
          <a:prstGeom prst="rect">
            <a:avLst/>
          </a:prstGeom>
          <a:solidFill>
            <a:srgbClr val="B563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Text 103"/>
          <p:cNvSpPr txBox="1"/>
          <p:nvPr/>
        </p:nvSpPr>
        <p:spPr>
          <a:xfrm>
            <a:off x="16849649" y="4657954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+0.24</a:t>
            </a:r>
            <a:endParaRPr lang="en-US" sz="825" dirty="0"/>
          </a:p>
        </p:txBody>
      </p:sp>
      <p:sp>
        <p:nvSpPr>
          <p:cNvPr id="111" name="Shape 104"/>
          <p:cNvSpPr/>
          <p:nvPr/>
        </p:nvSpPr>
        <p:spPr>
          <a:xfrm>
            <a:off x="13049402" y="4905756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05"/>
          <p:cNvSpPr/>
          <p:nvPr/>
        </p:nvSpPr>
        <p:spPr>
          <a:xfrm>
            <a:off x="15312542" y="4924044"/>
            <a:ext cx="267005" cy="190195"/>
          </a:xfrm>
          <a:prstGeom prst="rect">
            <a:avLst/>
          </a:prstGeom>
          <a:solidFill>
            <a:srgbClr val="B5632A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Text 106"/>
          <p:cNvSpPr txBox="1"/>
          <p:nvPr/>
        </p:nvSpPr>
        <p:spPr>
          <a:xfrm>
            <a:off x="16849649" y="4943246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+0.05</a:t>
            </a:r>
            <a:endParaRPr lang="en-US" sz="825" dirty="0"/>
          </a:p>
        </p:txBody>
      </p:sp>
      <p:sp>
        <p:nvSpPr>
          <p:cNvPr id="114" name="Shape 107"/>
          <p:cNvSpPr/>
          <p:nvPr/>
        </p:nvSpPr>
        <p:spPr>
          <a:xfrm>
            <a:off x="13049402" y="5486400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08"/>
          <p:cNvSpPr/>
          <p:nvPr/>
        </p:nvSpPr>
        <p:spPr>
          <a:xfrm>
            <a:off x="14558162" y="5505602"/>
            <a:ext cx="267005" cy="190195"/>
          </a:xfrm>
          <a:prstGeom prst="rect">
            <a:avLst/>
          </a:prstGeom>
          <a:solidFill>
            <a:srgbClr val="2D5F7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Text 109"/>
          <p:cNvSpPr txBox="1"/>
          <p:nvPr/>
        </p:nvSpPr>
        <p:spPr>
          <a:xfrm>
            <a:off x="16849649" y="5524805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−0.14</a:t>
            </a:r>
            <a:endParaRPr lang="en-US" sz="825" dirty="0"/>
          </a:p>
        </p:txBody>
      </p:sp>
      <p:sp>
        <p:nvSpPr>
          <p:cNvPr id="117" name="Shape 110"/>
          <p:cNvSpPr/>
          <p:nvPr/>
        </p:nvSpPr>
        <p:spPr>
          <a:xfrm>
            <a:off x="13049402" y="5772607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1"/>
          <p:cNvSpPr/>
          <p:nvPr/>
        </p:nvSpPr>
        <p:spPr>
          <a:xfrm>
            <a:off x="14306702" y="5790895"/>
            <a:ext cx="267005" cy="190195"/>
          </a:xfrm>
          <a:prstGeom prst="rect">
            <a:avLst/>
          </a:prstGeom>
          <a:solidFill>
            <a:srgbClr val="2D5F7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Text 112"/>
          <p:cNvSpPr txBox="1"/>
          <p:nvPr/>
        </p:nvSpPr>
        <p:spPr>
          <a:xfrm>
            <a:off x="16849649" y="5810098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−0.21</a:t>
            </a:r>
            <a:endParaRPr lang="en-US" sz="825" dirty="0"/>
          </a:p>
        </p:txBody>
      </p:sp>
      <p:sp>
        <p:nvSpPr>
          <p:cNvPr id="120" name="Shape 113"/>
          <p:cNvSpPr/>
          <p:nvPr/>
        </p:nvSpPr>
        <p:spPr>
          <a:xfrm>
            <a:off x="13049402" y="6057900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4"/>
          <p:cNvSpPr/>
          <p:nvPr/>
        </p:nvSpPr>
        <p:spPr>
          <a:xfrm>
            <a:off x="14809622" y="6077102"/>
            <a:ext cx="267005" cy="190195"/>
          </a:xfrm>
          <a:prstGeom prst="rect">
            <a:avLst/>
          </a:prstGeom>
          <a:solidFill>
            <a:srgbClr val="2D5F7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Text 115"/>
          <p:cNvSpPr txBox="1"/>
          <p:nvPr/>
        </p:nvSpPr>
        <p:spPr>
          <a:xfrm>
            <a:off x="16849649" y="6096305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−0.09</a:t>
            </a:r>
            <a:endParaRPr lang="en-US" sz="825" dirty="0"/>
          </a:p>
        </p:txBody>
      </p:sp>
      <p:sp>
        <p:nvSpPr>
          <p:cNvPr id="123" name="Shape 116"/>
          <p:cNvSpPr/>
          <p:nvPr/>
        </p:nvSpPr>
        <p:spPr>
          <a:xfrm>
            <a:off x="13049402" y="6344107"/>
            <a:ext cx="4190695" cy="228600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17"/>
          <p:cNvSpPr/>
          <p:nvPr/>
        </p:nvSpPr>
        <p:spPr>
          <a:xfrm>
            <a:off x="14474038" y="6362395"/>
            <a:ext cx="267005" cy="190195"/>
          </a:xfrm>
          <a:prstGeom prst="rect">
            <a:avLst/>
          </a:prstGeom>
          <a:solidFill>
            <a:srgbClr val="2D5F70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Text 118"/>
          <p:cNvSpPr txBox="1"/>
          <p:nvPr/>
        </p:nvSpPr>
        <p:spPr>
          <a:xfrm>
            <a:off x="16849649" y="6381598"/>
            <a:ext cx="3145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825" dirty="0"/>
          </a:p>
        </p:txBody>
      </p:sp>
      <p:sp>
        <p:nvSpPr>
          <p:cNvPr id="126" name="Text 119"/>
          <p:cNvSpPr txBox="1"/>
          <p:nvPr/>
        </p:nvSpPr>
        <p:spPr>
          <a:xfrm>
            <a:off x="990295" y="8801100"/>
            <a:ext cx="800100" cy="22860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825" dirty="0"/>
          </a:p>
        </p:txBody>
      </p:sp>
      <p:sp>
        <p:nvSpPr>
          <p:cNvPr id="127" name="Text 120"/>
          <p:cNvSpPr txBox="1"/>
          <p:nvPr/>
        </p:nvSpPr>
        <p:spPr>
          <a:xfrm>
            <a:off x="1955902" y="8815730"/>
            <a:ext cx="7191756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 gap 은 한 자리 줄었지만 sign 과 3σ 패턴은 유지 — split 의 효과가 line-bottom CD 에서도 trace 된다.</a:t>
            </a:r>
            <a:endParaRPr lang="en-US" sz="1125" dirty="0"/>
          </a:p>
        </p:txBody>
      </p:sp>
      <p:sp>
        <p:nvSpPr>
          <p:cNvPr id="128" name="Text 121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· AMI</a:t>
            </a:r>
            <a:endParaRPr lang="en-US" sz="1200" dirty="0"/>
          </a:p>
        </p:txBody>
      </p:sp>
      <p:sp>
        <p:nvSpPr>
          <p:cNvPr id="129" name="Text 122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442fcc16522244124b66c840e1e0e691.png">    </p:cNvPr>
          <p:cNvPicPr>
            <a:picLocks noChangeAspect="1"/>
          </p:cNvPicPr>
          <p:nvPr/>
        </p:nvPicPr>
        <p:blipFill>
          <a:blip r:embed="rId1"/>
          <a:srcRect l="0" r="0" t="-2083" b="-2083"/>
          <a:stretch/>
        </p:blipFill>
        <p:spPr>
          <a:xfrm>
            <a:off x="6286500" y="8382305"/>
            <a:ext cx="9144" cy="571500"/>
          </a:xfrm>
          <a:prstGeom prst="rect">
            <a:avLst/>
          </a:prstGeom>
        </p:spPr>
      </p:pic>
      <p:pic>
        <p:nvPicPr>
          <p:cNvPr id="4" name="Image 1" descr="gen-dedup-be36a7659ba6ec5d4d1ceb697703a7f6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2191695" y="4552798"/>
            <a:ext cx="5143500" cy="9144"/>
          </a:xfrm>
          <a:prstGeom prst="rect">
            <a:avLst/>
          </a:prstGeom>
        </p:spPr>
      </p:pic>
      <p:pic>
        <p:nvPicPr>
          <p:cNvPr id="5" name="Image 2" descr="gen-dedup-be36a7659ba6ec5d4d1ceb697703a7f6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2191695" y="6057900"/>
            <a:ext cx="5143500" cy="9144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2857500"/>
            <a:ext cx="10763402" cy="5715000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3" descr="gen-dedup-620e3f6b31f59401f62d2cc573c73cef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1143000" y="7487107"/>
            <a:ext cx="10001707" cy="9144"/>
          </a:xfrm>
          <a:prstGeom prst="rect">
            <a:avLst/>
          </a:prstGeom>
        </p:spPr>
      </p:pic>
      <p:pic>
        <p:nvPicPr>
          <p:cNvPr id="8" name="Image 4" descr="gen-dedup-f877fa13478ca5cd1a698ae707cf666a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11811305" y="2857500"/>
            <a:ext cx="5715000" cy="5715000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2"/>
          <p:cNvSpPr txBox="1"/>
          <p:nvPr/>
        </p:nvSpPr>
        <p:spPr>
          <a:xfrm>
            <a:off x="761695" y="761695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09 · ACI · after-contact-isolation</a:t>
            </a:r>
            <a:endParaRPr lang="en-US" sz="1125" dirty="0"/>
          </a:p>
        </p:txBody>
      </p:sp>
      <p:sp>
        <p:nvSpPr>
          <p:cNvPr id="11" name="Text 3"/>
          <p:cNvSpPr txBox="1"/>
          <p:nvPr/>
        </p:nvSpPr>
        <p:spPr>
          <a:xfrm>
            <a:off x="761695" y="1076249"/>
            <a:ext cx="11430000" cy="609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800" b="1" spc="-106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ACI </a:t>
            </a:r>
            <a:pPr algn="l" indent="0" marL="0">
              <a:buNone/>
            </a:pPr>
            <a:r>
              <a:rPr lang="en-US" sz="3150" b="1" spc="-106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target 8.4 nm</a:t>
            </a:r>
            <a:endParaRPr lang="en-US" sz="4800" dirty="0"/>
          </a:p>
        </p:txBody>
      </p:sp>
      <p:sp>
        <p:nvSpPr>
          <p:cNvPr id="12" name="Text 4"/>
          <p:cNvSpPr txBox="1"/>
          <p:nvPr/>
        </p:nvSpPr>
        <p:spPr>
          <a:xfrm>
            <a:off x="761695" y="1857146"/>
            <a:ext cx="90681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작은 feature — via-bottom CD. 표정이 가장 먼저 갈라지는 항목이지만 절대값이 작아 분포 모양을 같이 본다.</a:t>
            </a:r>
            <a:endParaRPr lang="en-US" sz="1350" dirty="0"/>
          </a:p>
        </p:txBody>
      </p:sp>
      <p:sp>
        <p:nvSpPr>
          <p:cNvPr id="13" name="Text 5"/>
          <p:cNvSpPr txBox="1"/>
          <p:nvPr/>
        </p:nvSpPr>
        <p:spPr>
          <a:xfrm>
            <a:off x="1143000" y="3124505"/>
            <a:ext cx="100017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09.1 · per-wafer reading · 8 wafer, via-bottom 5 site 평균 / wafer</a:t>
            </a:r>
            <a:endParaRPr lang="en-US" sz="975" dirty="0"/>
          </a:p>
        </p:txBody>
      </p:sp>
      <p:sp>
        <p:nvSpPr>
          <p:cNvPr id="14" name="Shape 6"/>
          <p:cNvSpPr/>
          <p:nvPr/>
        </p:nvSpPr>
        <p:spPr>
          <a:xfrm>
            <a:off x="1143000" y="3981298"/>
            <a:ext cx="10001707" cy="19202"/>
          </a:xfrm>
          <a:prstGeom prst="rect">
            <a:avLst/>
          </a:prstGeom>
          <a:solidFill>
            <a:srgbClr val="1A212B"/>
          </a:solidFill>
          <a:ln w="12700">
            <a:solidFill>
              <a:srgbClr val="1A212B">
                <a:alpha val="0"/>
              </a:srgbClr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1143000" y="3543300"/>
            <a:ext cx="11622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975" dirty="0"/>
          </a:p>
        </p:txBody>
      </p:sp>
      <p:sp>
        <p:nvSpPr>
          <p:cNvPr id="16" name="Text 8"/>
          <p:cNvSpPr txBox="1"/>
          <p:nvPr/>
        </p:nvSpPr>
        <p:spPr>
          <a:xfrm>
            <a:off x="2296973" y="3543300"/>
            <a:ext cx="11622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975" dirty="0"/>
          </a:p>
        </p:txBody>
      </p:sp>
      <p:sp>
        <p:nvSpPr>
          <p:cNvPr id="17" name="Text 9"/>
          <p:cNvSpPr txBox="1"/>
          <p:nvPr/>
        </p:nvSpPr>
        <p:spPr>
          <a:xfrm>
            <a:off x="3450946" y="3543300"/>
            <a:ext cx="19248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(nm)</a:t>
            </a:r>
            <a:endParaRPr lang="en-US" sz="975" dirty="0"/>
          </a:p>
        </p:txBody>
      </p:sp>
      <p:sp>
        <p:nvSpPr>
          <p:cNvPr id="18" name="Text 10"/>
          <p:cNvSpPr txBox="1"/>
          <p:nvPr/>
        </p:nvSpPr>
        <p:spPr>
          <a:xfrm>
            <a:off x="5373929" y="3543300"/>
            <a:ext cx="19248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 (nm)</a:t>
            </a:r>
            <a:endParaRPr lang="en-US" sz="975" dirty="0"/>
          </a:p>
        </p:txBody>
      </p:sp>
      <p:sp>
        <p:nvSpPr>
          <p:cNvPr id="19" name="Text 11"/>
          <p:cNvSpPr txBox="1"/>
          <p:nvPr/>
        </p:nvSpPr>
        <p:spPr>
          <a:xfrm>
            <a:off x="7296912" y="3543300"/>
            <a:ext cx="19248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 (nm)</a:t>
            </a:r>
            <a:endParaRPr lang="en-US" sz="975" dirty="0"/>
          </a:p>
        </p:txBody>
      </p:sp>
      <p:sp>
        <p:nvSpPr>
          <p:cNvPr id="20" name="Text 12"/>
          <p:cNvSpPr txBox="1"/>
          <p:nvPr/>
        </p:nvSpPr>
        <p:spPr>
          <a:xfrm>
            <a:off x="9220810" y="3543300"/>
            <a:ext cx="19248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spc="98" kern="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vs target</a:t>
            </a:r>
            <a:endParaRPr lang="en-US" sz="975" dirty="0"/>
          </a:p>
        </p:txBody>
      </p:sp>
      <p:sp>
        <p:nvSpPr>
          <p:cNvPr id="21" name="Shape 13"/>
          <p:cNvSpPr/>
          <p:nvPr/>
        </p:nvSpPr>
        <p:spPr>
          <a:xfrm>
            <a:off x="1143000" y="4000500"/>
            <a:ext cx="10001707" cy="485546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22" name="Shape 14"/>
          <p:cNvSpPr/>
          <p:nvPr/>
        </p:nvSpPr>
        <p:spPr>
          <a:xfrm>
            <a:off x="1143000" y="4476902"/>
            <a:ext cx="10001707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2296973" y="4000500"/>
            <a:ext cx="116220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3450946" y="4000500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8.55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5373929" y="4000500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0.16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7296912" y="4000500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0.67</a:t>
            </a:r>
            <a:endParaRPr lang="en-US" sz="1350" dirty="0"/>
          </a:p>
        </p:txBody>
      </p:sp>
      <p:sp>
        <p:nvSpPr>
          <p:cNvPr id="27" name="Text 19"/>
          <p:cNvSpPr txBox="1"/>
          <p:nvPr/>
        </p:nvSpPr>
        <p:spPr>
          <a:xfrm>
            <a:off x="9220810" y="4000500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+0.15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1143000" y="4481474"/>
            <a:ext cx="10001707" cy="476402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29" name="Shape 21"/>
          <p:cNvSpPr/>
          <p:nvPr/>
        </p:nvSpPr>
        <p:spPr>
          <a:xfrm>
            <a:off x="1143000" y="4948733"/>
            <a:ext cx="10001707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2296973" y="4481474"/>
            <a:ext cx="11622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3450946" y="4481474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8.49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5373929" y="4481474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0.14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296912" y="4481474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0.59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9220810" y="4481474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+0.09</a:t>
            </a:r>
            <a:endParaRPr lang="en-US" sz="1350" dirty="0"/>
          </a:p>
        </p:txBody>
      </p:sp>
      <p:sp>
        <p:nvSpPr>
          <p:cNvPr id="35" name="Shape 27"/>
          <p:cNvSpPr/>
          <p:nvPr/>
        </p:nvSpPr>
        <p:spPr>
          <a:xfrm>
            <a:off x="1143000" y="4957877"/>
            <a:ext cx="10001707" cy="476402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36" name="Shape 28"/>
          <p:cNvSpPr/>
          <p:nvPr/>
        </p:nvSpPr>
        <p:spPr>
          <a:xfrm>
            <a:off x="1143000" y="5425135"/>
            <a:ext cx="10001707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2296973" y="4957877"/>
            <a:ext cx="11622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350" dirty="0"/>
          </a:p>
        </p:txBody>
      </p:sp>
      <p:sp>
        <p:nvSpPr>
          <p:cNvPr id="38" name="Text 30"/>
          <p:cNvSpPr txBox="1"/>
          <p:nvPr/>
        </p:nvSpPr>
        <p:spPr>
          <a:xfrm>
            <a:off x="3450946" y="4957877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8.61</a:t>
            </a:r>
            <a:endParaRPr lang="en-US" sz="1350" dirty="0"/>
          </a:p>
        </p:txBody>
      </p:sp>
      <p:sp>
        <p:nvSpPr>
          <p:cNvPr id="39" name="Text 31"/>
          <p:cNvSpPr txBox="1"/>
          <p:nvPr/>
        </p:nvSpPr>
        <p:spPr>
          <a:xfrm>
            <a:off x="5373929" y="4957877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0.18</a:t>
            </a:r>
            <a:endParaRPr lang="en-US" sz="1350" dirty="0"/>
          </a:p>
        </p:txBody>
      </p:sp>
      <p:sp>
        <p:nvSpPr>
          <p:cNvPr id="40" name="Text 32"/>
          <p:cNvSpPr txBox="1"/>
          <p:nvPr/>
        </p:nvSpPr>
        <p:spPr>
          <a:xfrm>
            <a:off x="7296912" y="4957877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0.73</a:t>
            </a:r>
            <a:endParaRPr lang="en-US" sz="1350" dirty="0"/>
          </a:p>
        </p:txBody>
      </p:sp>
      <p:sp>
        <p:nvSpPr>
          <p:cNvPr id="41" name="Text 33"/>
          <p:cNvSpPr txBox="1"/>
          <p:nvPr/>
        </p:nvSpPr>
        <p:spPr>
          <a:xfrm>
            <a:off x="9220810" y="4957877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+0.21</a:t>
            </a:r>
            <a:endParaRPr lang="en-US" sz="1350" dirty="0"/>
          </a:p>
        </p:txBody>
      </p:sp>
      <p:sp>
        <p:nvSpPr>
          <p:cNvPr id="42" name="Shape 34"/>
          <p:cNvSpPr/>
          <p:nvPr/>
        </p:nvSpPr>
        <p:spPr>
          <a:xfrm>
            <a:off x="1143000" y="5434279"/>
            <a:ext cx="10001707" cy="485546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43" name="Shape 35"/>
          <p:cNvSpPr/>
          <p:nvPr/>
        </p:nvSpPr>
        <p:spPr>
          <a:xfrm>
            <a:off x="1143000" y="5900623"/>
            <a:ext cx="10001707" cy="19202"/>
          </a:xfrm>
          <a:prstGeom prst="rect">
            <a:avLst/>
          </a:prstGeom>
          <a:solidFill>
            <a:srgbClr val="B5632A"/>
          </a:solidFill>
          <a:ln w="12700">
            <a:solidFill>
              <a:srgbClr val="B5632A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2296973" y="5434279"/>
            <a:ext cx="116220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350" dirty="0"/>
          </a:p>
        </p:txBody>
      </p:sp>
      <p:sp>
        <p:nvSpPr>
          <p:cNvPr id="45" name="Text 37"/>
          <p:cNvSpPr txBox="1"/>
          <p:nvPr/>
        </p:nvSpPr>
        <p:spPr>
          <a:xfrm>
            <a:off x="3450946" y="5434279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8.42</a:t>
            </a:r>
            <a:endParaRPr lang="en-US" sz="1350" dirty="0"/>
          </a:p>
        </p:txBody>
      </p:sp>
      <p:sp>
        <p:nvSpPr>
          <p:cNvPr id="46" name="Text 38"/>
          <p:cNvSpPr txBox="1"/>
          <p:nvPr/>
        </p:nvSpPr>
        <p:spPr>
          <a:xfrm>
            <a:off x="5373929" y="5434279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0.13</a:t>
            </a:r>
            <a:endParaRPr lang="en-US" sz="1350" dirty="0"/>
          </a:p>
        </p:txBody>
      </p:sp>
      <p:sp>
        <p:nvSpPr>
          <p:cNvPr id="47" name="Text 39"/>
          <p:cNvSpPr txBox="1"/>
          <p:nvPr/>
        </p:nvSpPr>
        <p:spPr>
          <a:xfrm>
            <a:off x="7296912" y="5434279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0.55</a:t>
            </a:r>
            <a:endParaRPr lang="en-US" sz="1350" dirty="0"/>
          </a:p>
        </p:txBody>
      </p:sp>
      <p:sp>
        <p:nvSpPr>
          <p:cNvPr id="48" name="Text 40"/>
          <p:cNvSpPr txBox="1"/>
          <p:nvPr/>
        </p:nvSpPr>
        <p:spPr>
          <a:xfrm>
            <a:off x="9220810" y="5434279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+0.02</a:t>
            </a:r>
            <a:endParaRPr lang="en-US" sz="1350" dirty="0"/>
          </a:p>
        </p:txBody>
      </p:sp>
      <p:sp>
        <p:nvSpPr>
          <p:cNvPr id="49" name="Shape 41"/>
          <p:cNvSpPr/>
          <p:nvPr/>
        </p:nvSpPr>
        <p:spPr>
          <a:xfrm>
            <a:off x="1143000" y="5915254"/>
            <a:ext cx="10001707" cy="485546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50" name="Shape 42"/>
          <p:cNvSpPr/>
          <p:nvPr/>
        </p:nvSpPr>
        <p:spPr>
          <a:xfrm>
            <a:off x="1143000" y="6391656"/>
            <a:ext cx="10001707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2296973" y="5915254"/>
            <a:ext cx="116220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350" dirty="0"/>
          </a:p>
        </p:txBody>
      </p:sp>
      <p:sp>
        <p:nvSpPr>
          <p:cNvPr id="52" name="Text 44"/>
          <p:cNvSpPr txBox="1"/>
          <p:nvPr/>
        </p:nvSpPr>
        <p:spPr>
          <a:xfrm>
            <a:off x="3450946" y="5915254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8.22</a:t>
            </a:r>
            <a:endParaRPr lang="en-US" sz="1350" dirty="0"/>
          </a:p>
        </p:txBody>
      </p:sp>
      <p:sp>
        <p:nvSpPr>
          <p:cNvPr id="53" name="Text 45"/>
          <p:cNvSpPr txBox="1"/>
          <p:nvPr/>
        </p:nvSpPr>
        <p:spPr>
          <a:xfrm>
            <a:off x="5373929" y="5915254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0.10</a:t>
            </a:r>
            <a:endParaRPr lang="en-US" sz="1350" dirty="0"/>
          </a:p>
        </p:txBody>
      </p:sp>
      <p:sp>
        <p:nvSpPr>
          <p:cNvPr id="54" name="Text 46"/>
          <p:cNvSpPr txBox="1"/>
          <p:nvPr/>
        </p:nvSpPr>
        <p:spPr>
          <a:xfrm>
            <a:off x="7296912" y="5915254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350" dirty="0"/>
          </a:p>
        </p:txBody>
      </p:sp>
      <p:sp>
        <p:nvSpPr>
          <p:cNvPr id="55" name="Text 47"/>
          <p:cNvSpPr txBox="1"/>
          <p:nvPr/>
        </p:nvSpPr>
        <p:spPr>
          <a:xfrm>
            <a:off x="9220810" y="5915254"/>
            <a:ext cx="192481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−0.18</a:t>
            </a:r>
            <a:endParaRPr lang="en-US" sz="1350" dirty="0"/>
          </a:p>
        </p:txBody>
      </p:sp>
      <p:sp>
        <p:nvSpPr>
          <p:cNvPr id="56" name="Shape 48"/>
          <p:cNvSpPr/>
          <p:nvPr/>
        </p:nvSpPr>
        <p:spPr>
          <a:xfrm>
            <a:off x="1143000" y="6396228"/>
            <a:ext cx="10001707" cy="476402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57" name="Shape 49"/>
          <p:cNvSpPr/>
          <p:nvPr/>
        </p:nvSpPr>
        <p:spPr>
          <a:xfrm>
            <a:off x="1143000" y="6863486"/>
            <a:ext cx="10001707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2296973" y="6396228"/>
            <a:ext cx="11622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1350" dirty="0"/>
          </a:p>
        </p:txBody>
      </p:sp>
      <p:sp>
        <p:nvSpPr>
          <p:cNvPr id="59" name="Text 51"/>
          <p:cNvSpPr txBox="1"/>
          <p:nvPr/>
        </p:nvSpPr>
        <p:spPr>
          <a:xfrm>
            <a:off x="3450946" y="639622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8.15</a:t>
            </a:r>
            <a:endParaRPr lang="en-US" sz="1350" dirty="0"/>
          </a:p>
        </p:txBody>
      </p:sp>
      <p:sp>
        <p:nvSpPr>
          <p:cNvPr id="60" name="Text 52"/>
          <p:cNvSpPr txBox="1"/>
          <p:nvPr/>
        </p:nvSpPr>
        <p:spPr>
          <a:xfrm>
            <a:off x="5373929" y="639622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0.09</a:t>
            </a:r>
            <a:endParaRPr lang="en-US" sz="1350" dirty="0"/>
          </a:p>
        </p:txBody>
      </p:sp>
      <p:sp>
        <p:nvSpPr>
          <p:cNvPr id="61" name="Text 53"/>
          <p:cNvSpPr txBox="1"/>
          <p:nvPr/>
        </p:nvSpPr>
        <p:spPr>
          <a:xfrm>
            <a:off x="7296912" y="639622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0.39</a:t>
            </a:r>
            <a:endParaRPr lang="en-US" sz="1350" dirty="0"/>
          </a:p>
        </p:txBody>
      </p:sp>
      <p:sp>
        <p:nvSpPr>
          <p:cNvPr id="62" name="Text 54"/>
          <p:cNvSpPr txBox="1"/>
          <p:nvPr/>
        </p:nvSpPr>
        <p:spPr>
          <a:xfrm>
            <a:off x="9220810" y="639622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−0.25</a:t>
            </a:r>
            <a:endParaRPr lang="en-US" sz="1350" dirty="0"/>
          </a:p>
        </p:txBody>
      </p:sp>
      <p:sp>
        <p:nvSpPr>
          <p:cNvPr id="63" name="Shape 55"/>
          <p:cNvSpPr/>
          <p:nvPr/>
        </p:nvSpPr>
        <p:spPr>
          <a:xfrm>
            <a:off x="1143000" y="6872630"/>
            <a:ext cx="10001707" cy="476402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64" name="Shape 56"/>
          <p:cNvSpPr/>
          <p:nvPr/>
        </p:nvSpPr>
        <p:spPr>
          <a:xfrm>
            <a:off x="1143000" y="7339889"/>
            <a:ext cx="10001707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2296973" y="6872630"/>
            <a:ext cx="11622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</a:t>
            </a:r>
            <a:endParaRPr lang="en-US" sz="1350" dirty="0"/>
          </a:p>
        </p:txBody>
      </p:sp>
      <p:sp>
        <p:nvSpPr>
          <p:cNvPr id="66" name="Text 58"/>
          <p:cNvSpPr txBox="1"/>
          <p:nvPr/>
        </p:nvSpPr>
        <p:spPr>
          <a:xfrm>
            <a:off x="3450946" y="6872630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8.27</a:t>
            </a:r>
            <a:endParaRPr lang="en-US" sz="1350" dirty="0"/>
          </a:p>
        </p:txBody>
      </p:sp>
      <p:sp>
        <p:nvSpPr>
          <p:cNvPr id="67" name="Text 59"/>
          <p:cNvSpPr txBox="1"/>
          <p:nvPr/>
        </p:nvSpPr>
        <p:spPr>
          <a:xfrm>
            <a:off x="5373929" y="6872630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0.11</a:t>
            </a:r>
            <a:endParaRPr lang="en-US" sz="1350" dirty="0"/>
          </a:p>
        </p:txBody>
      </p:sp>
      <p:sp>
        <p:nvSpPr>
          <p:cNvPr id="68" name="Text 60"/>
          <p:cNvSpPr txBox="1"/>
          <p:nvPr/>
        </p:nvSpPr>
        <p:spPr>
          <a:xfrm>
            <a:off x="7296912" y="6872630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0.46</a:t>
            </a:r>
            <a:endParaRPr lang="en-US" sz="1350" dirty="0"/>
          </a:p>
        </p:txBody>
      </p:sp>
      <p:sp>
        <p:nvSpPr>
          <p:cNvPr id="69" name="Text 61"/>
          <p:cNvSpPr txBox="1"/>
          <p:nvPr/>
        </p:nvSpPr>
        <p:spPr>
          <a:xfrm>
            <a:off x="9220810" y="6872630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−0.13</a:t>
            </a:r>
            <a:endParaRPr lang="en-US" sz="1350" dirty="0"/>
          </a:p>
        </p:txBody>
      </p:sp>
      <p:sp>
        <p:nvSpPr>
          <p:cNvPr id="70" name="Shape 62"/>
          <p:cNvSpPr/>
          <p:nvPr/>
        </p:nvSpPr>
        <p:spPr>
          <a:xfrm>
            <a:off x="1143000" y="7348118"/>
            <a:ext cx="10001707" cy="476402"/>
          </a:xfrm>
          <a:prstGeom prst="rect">
            <a:avLst/>
          </a:prstGeom>
          <a:solidFill>
            <a:srgbClr val="2D5F7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3"/>
          <p:cNvSpPr txBox="1"/>
          <p:nvPr/>
        </p:nvSpPr>
        <p:spPr>
          <a:xfrm>
            <a:off x="2296973" y="7348118"/>
            <a:ext cx="116220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</a:t>
            </a:r>
            <a:endParaRPr lang="en-US" sz="1350" dirty="0"/>
          </a:p>
        </p:txBody>
      </p:sp>
      <p:sp>
        <p:nvSpPr>
          <p:cNvPr id="72" name="Text 64"/>
          <p:cNvSpPr txBox="1"/>
          <p:nvPr/>
        </p:nvSpPr>
        <p:spPr>
          <a:xfrm>
            <a:off x="3450946" y="734811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8.18</a:t>
            </a:r>
            <a:endParaRPr lang="en-US" sz="1350" dirty="0"/>
          </a:p>
        </p:txBody>
      </p:sp>
      <p:sp>
        <p:nvSpPr>
          <p:cNvPr id="73" name="Text 65"/>
          <p:cNvSpPr txBox="1"/>
          <p:nvPr/>
        </p:nvSpPr>
        <p:spPr>
          <a:xfrm>
            <a:off x="5373929" y="734811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0.10</a:t>
            </a:r>
            <a:endParaRPr lang="en-US" sz="1350" dirty="0"/>
          </a:p>
        </p:txBody>
      </p:sp>
      <p:sp>
        <p:nvSpPr>
          <p:cNvPr id="74" name="Text 66"/>
          <p:cNvSpPr txBox="1"/>
          <p:nvPr/>
        </p:nvSpPr>
        <p:spPr>
          <a:xfrm>
            <a:off x="7296912" y="734811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0.41</a:t>
            </a:r>
            <a:endParaRPr lang="en-US" sz="1350" dirty="0"/>
          </a:p>
        </p:txBody>
      </p:sp>
      <p:sp>
        <p:nvSpPr>
          <p:cNvPr id="75" name="Text 67"/>
          <p:cNvSpPr txBox="1"/>
          <p:nvPr/>
        </p:nvSpPr>
        <p:spPr>
          <a:xfrm>
            <a:off x="9220810" y="7348118"/>
            <a:ext cx="1924812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−0.22</a:t>
            </a:r>
            <a:endParaRPr lang="en-US" sz="1350" dirty="0"/>
          </a:p>
        </p:txBody>
      </p:sp>
      <p:sp>
        <p:nvSpPr>
          <p:cNvPr id="76" name="Text 68"/>
          <p:cNvSpPr txBox="1"/>
          <p:nvPr/>
        </p:nvSpPr>
        <p:spPr>
          <a:xfrm>
            <a:off x="1200607" y="4143146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77" name="Text 69"/>
          <p:cNvSpPr txBox="1"/>
          <p:nvPr/>
        </p:nvSpPr>
        <p:spPr>
          <a:xfrm>
            <a:off x="1200607" y="4619549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78" name="Text 70"/>
          <p:cNvSpPr txBox="1"/>
          <p:nvPr/>
        </p:nvSpPr>
        <p:spPr>
          <a:xfrm>
            <a:off x="1200607" y="5095951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79" name="Text 71"/>
          <p:cNvSpPr txBox="1"/>
          <p:nvPr/>
        </p:nvSpPr>
        <p:spPr>
          <a:xfrm>
            <a:off x="1200607" y="5572354"/>
            <a:ext cx="669341" cy="219456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975" dirty="0"/>
          </a:p>
        </p:txBody>
      </p:sp>
      <p:sp>
        <p:nvSpPr>
          <p:cNvPr id="80" name="Text 72"/>
          <p:cNvSpPr txBox="1"/>
          <p:nvPr/>
        </p:nvSpPr>
        <p:spPr>
          <a:xfrm>
            <a:off x="1200607" y="6057900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1" name="Text 73"/>
          <p:cNvSpPr txBox="1"/>
          <p:nvPr/>
        </p:nvSpPr>
        <p:spPr>
          <a:xfrm>
            <a:off x="1200607" y="6534302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2" name="Text 74"/>
          <p:cNvSpPr txBox="1"/>
          <p:nvPr/>
        </p:nvSpPr>
        <p:spPr>
          <a:xfrm>
            <a:off x="1200607" y="7010705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3" name="Text 75"/>
          <p:cNvSpPr txBox="1"/>
          <p:nvPr/>
        </p:nvSpPr>
        <p:spPr>
          <a:xfrm>
            <a:off x="1200607" y="7487107"/>
            <a:ext cx="669341" cy="219456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975" dirty="0"/>
          </a:p>
        </p:txBody>
      </p:sp>
      <p:sp>
        <p:nvSpPr>
          <p:cNvPr id="84" name="Text 76"/>
          <p:cNvSpPr txBox="1"/>
          <p:nvPr/>
        </p:nvSpPr>
        <p:spPr>
          <a:xfrm>
            <a:off x="1143000" y="8581644"/>
            <a:ext cx="2286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563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+0.12 nm</a:t>
            </a:r>
            <a:endParaRPr lang="en-US" sz="2100" dirty="0"/>
          </a:p>
        </p:txBody>
      </p:sp>
      <p:sp>
        <p:nvSpPr>
          <p:cNvPr id="85" name="Text 77"/>
          <p:cNvSpPr txBox="1"/>
          <p:nvPr/>
        </p:nvSpPr>
        <p:spPr>
          <a:xfrm>
            <a:off x="1143000" y="8315554"/>
            <a:ext cx="838505" cy="191110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 avg</a:t>
            </a:r>
            <a:endParaRPr lang="en-US" sz="825" dirty="0"/>
          </a:p>
        </p:txBody>
      </p:sp>
      <p:sp>
        <p:nvSpPr>
          <p:cNvPr id="86" name="Text 78"/>
          <p:cNvSpPr txBox="1"/>
          <p:nvPr/>
        </p:nvSpPr>
        <p:spPr>
          <a:xfrm>
            <a:off x="3619195" y="8581644"/>
            <a:ext cx="2286000" cy="3529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D5F7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−0.20 nm</a:t>
            </a:r>
            <a:endParaRPr lang="en-US" sz="2100" dirty="0"/>
          </a:p>
        </p:txBody>
      </p:sp>
      <p:sp>
        <p:nvSpPr>
          <p:cNvPr id="87" name="Text 79"/>
          <p:cNvSpPr txBox="1"/>
          <p:nvPr/>
        </p:nvSpPr>
        <p:spPr>
          <a:xfrm>
            <a:off x="3619195" y="8315554"/>
            <a:ext cx="810158" cy="191110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 avg</a:t>
            </a:r>
            <a:endParaRPr lang="en-US" sz="825" dirty="0"/>
          </a:p>
        </p:txBody>
      </p:sp>
      <p:sp>
        <p:nvSpPr>
          <p:cNvPr id="88" name="Text 80"/>
          <p:cNvSpPr txBox="1"/>
          <p:nvPr/>
        </p:nvSpPr>
        <p:spPr>
          <a:xfrm>
            <a:off x="6667805" y="8268005"/>
            <a:ext cx="4572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σ 분포 차이</a:t>
            </a:r>
            <a:endParaRPr lang="en-US" sz="900" dirty="0"/>
          </a:p>
        </p:txBody>
      </p:sp>
      <p:sp>
        <p:nvSpPr>
          <p:cNvPr id="89" name="Text 81"/>
          <p:cNvSpPr txBox="1"/>
          <p:nvPr/>
        </p:nvSpPr>
        <p:spPr>
          <a:xfrm>
            <a:off x="6667805" y="8497519"/>
            <a:ext cx="4572000" cy="43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 σ 0.13~0.18 · SiCN σ 0.09~0.11</a:t>
            </a:r>
            <a:pPr algn="l" indent="0" marL="0">
              <a:lnSpc>
                <a:spcPts val="1631"/>
              </a:lnSpc>
              <a:buNone/>
            </a:pPr>
            <a:endParaRPr lang="en-US" sz="1125" dirty="0"/>
          </a:p>
          <a:p>
            <a:pPr algn="l" indent="0" marL="0">
              <a:lnSpc>
                <a:spcPts val="1631"/>
              </a:lnSpc>
              <a:buNone/>
            </a:pPr>
            <a:r>
              <a:rPr lang="en-US" sz="1125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3σ 가 가장 stable</a:t>
            </a:r>
            <a:endParaRPr lang="en-US" sz="1125" dirty="0"/>
          </a:p>
        </p:txBody>
      </p:sp>
      <p:sp>
        <p:nvSpPr>
          <p:cNvPr id="90" name="Text 82"/>
          <p:cNvSpPr txBox="1"/>
          <p:nvPr/>
        </p:nvSpPr>
        <p:spPr>
          <a:xfrm>
            <a:off x="12191695" y="3200400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215" kern="0" dirty="0">
                <a:solidFill>
                  <a:srgbClr val="D4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09.2 · σ per wafer</a:t>
            </a:r>
            <a:endParaRPr lang="en-US" sz="975" dirty="0"/>
          </a:p>
        </p:txBody>
      </p:sp>
      <p:sp>
        <p:nvSpPr>
          <p:cNvPr id="91" name="Text 83"/>
          <p:cNvSpPr txBox="1"/>
          <p:nvPr/>
        </p:nvSpPr>
        <p:spPr>
          <a:xfrm>
            <a:off x="12191695" y="3467405"/>
            <a:ext cx="5143500" cy="599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작은 feature 인 만큼 절대 차이는 0.32 nm 수준이지만,</a:t>
            </a:r>
            <a:pPr algn="l" indent="0" marL="0">
              <a:lnSpc>
                <a:spcPts val="2250"/>
              </a:lnSpc>
              <a:buNone/>
            </a:pP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σ 자체가 분기 효과를 가장 또렷하게 보여준다.</a:t>
            </a:r>
            <a:endParaRPr lang="en-US" sz="1500" dirty="0"/>
          </a:p>
        </p:txBody>
      </p:sp>
      <p:sp>
        <p:nvSpPr>
          <p:cNvPr id="92" name="Text 84"/>
          <p:cNvSpPr txBox="1"/>
          <p:nvPr/>
        </p:nvSpPr>
        <p:spPr>
          <a:xfrm>
            <a:off x="12191695" y="4743907"/>
            <a:ext cx="5143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98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σ-MEDIAN</a:t>
            </a:r>
            <a:endParaRPr lang="en-US" sz="975" dirty="0"/>
          </a:p>
        </p:txBody>
      </p:sp>
      <p:sp>
        <p:nvSpPr>
          <p:cNvPr id="93" name="Text 85"/>
          <p:cNvSpPr txBox="1"/>
          <p:nvPr/>
        </p:nvSpPr>
        <p:spPr>
          <a:xfrm>
            <a:off x="12191695" y="5038344"/>
            <a:ext cx="65745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AlOx</a:t>
            </a:r>
            <a:endParaRPr lang="en-US" sz="1050" dirty="0"/>
          </a:p>
        </p:txBody>
      </p:sp>
      <p:sp>
        <p:nvSpPr>
          <p:cNvPr id="94" name="Text 86"/>
          <p:cNvSpPr txBox="1"/>
          <p:nvPr/>
        </p:nvSpPr>
        <p:spPr>
          <a:xfrm>
            <a:off x="12191695" y="5229454"/>
            <a:ext cx="903427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563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0.15</a:t>
            </a:r>
            <a:endParaRPr lang="en-US" sz="2700" dirty="0"/>
          </a:p>
        </p:txBody>
      </p:sp>
      <p:sp>
        <p:nvSpPr>
          <p:cNvPr id="95" name="Text 87"/>
          <p:cNvSpPr txBox="1"/>
          <p:nvPr/>
        </p:nvSpPr>
        <p:spPr>
          <a:xfrm>
            <a:off x="13191134" y="5038344"/>
            <a:ext cx="676656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8A0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</a:t>
            </a:r>
            <a:endParaRPr lang="en-US" sz="1050" dirty="0"/>
          </a:p>
        </p:txBody>
      </p:sp>
      <p:sp>
        <p:nvSpPr>
          <p:cNvPr id="96" name="Text 88"/>
          <p:cNvSpPr txBox="1"/>
          <p:nvPr/>
        </p:nvSpPr>
        <p:spPr>
          <a:xfrm>
            <a:off x="13191134" y="5229454"/>
            <a:ext cx="90525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FB7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0.10</a:t>
            </a:r>
            <a:endParaRPr lang="en-US" sz="2700" dirty="0"/>
          </a:p>
        </p:txBody>
      </p:sp>
      <p:sp>
        <p:nvSpPr>
          <p:cNvPr id="97" name="Text 89"/>
          <p:cNvSpPr txBox="1"/>
          <p:nvPr/>
        </p:nvSpPr>
        <p:spPr>
          <a:xfrm>
            <a:off x="14207033" y="5038344"/>
            <a:ext cx="72877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6BA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Δ 33 %</a:t>
            </a:r>
            <a:endParaRPr lang="en-US" sz="1050" dirty="0"/>
          </a:p>
        </p:txBody>
      </p:sp>
      <p:sp>
        <p:nvSpPr>
          <p:cNvPr id="98" name="Text 90"/>
          <p:cNvSpPr txBox="1"/>
          <p:nvPr/>
        </p:nvSpPr>
        <p:spPr>
          <a:xfrm>
            <a:off x="12191695" y="6734556"/>
            <a:ext cx="5143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via-bottom CD 의 σ 가 가장 작은 feature 의 분기 효과를 또렷이 보여주는 지표 — SiCN 쪽 σ 33 % 작음.</a:t>
            </a:r>
            <a:endParaRPr lang="en-US" sz="1200" dirty="0"/>
          </a:p>
        </p:txBody>
      </p:sp>
      <p:sp>
        <p:nvSpPr>
          <p:cNvPr id="99" name="Text 91"/>
          <p:cNvSpPr txBox="1"/>
          <p:nvPr/>
        </p:nvSpPr>
        <p:spPr>
          <a:xfrm>
            <a:off x="12191695" y="6353251"/>
            <a:ext cx="848563" cy="247802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900" dirty="0"/>
          </a:p>
        </p:txBody>
      </p:sp>
      <p:sp>
        <p:nvSpPr>
          <p:cNvPr id="100" name="Text 92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 · ACI</a:t>
            </a:r>
            <a:endParaRPr lang="en-US" sz="1200" dirty="0"/>
          </a:p>
        </p:txBody>
      </p:sp>
      <p:sp>
        <p:nvSpPr>
          <p:cNvPr id="101" name="Text 93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775d921a1ad345f8a1442916cfbabafb.png">    </p:cNvPr>
          <p:cNvPicPr>
            <a:picLocks noChangeAspect="1"/>
          </p:cNvPicPr>
          <p:nvPr/>
        </p:nvPicPr>
        <p:blipFill>
          <a:blip r:embed="rId1"/>
          <a:srcRect l="-2072" r="-2072" t="0" b="0"/>
          <a:stretch/>
        </p:blipFill>
        <p:spPr>
          <a:xfrm>
            <a:off x="7677302" y="4496105"/>
            <a:ext cx="1904695" cy="9144"/>
          </a:xfrm>
          <a:prstGeom prst="rect">
            <a:avLst/>
          </a:prstGeom>
        </p:spPr>
      </p:pic>
      <p:pic>
        <p:nvPicPr>
          <p:cNvPr id="4" name="Image 1" descr="gen-dedup-775d921a1ad345f8a1442916cfbabafb.png">    </p:cNvPr>
          <p:cNvPicPr>
            <a:picLocks noChangeAspect="1"/>
          </p:cNvPicPr>
          <p:nvPr/>
        </p:nvPicPr>
        <p:blipFill>
          <a:blip r:embed="rId2"/>
          <a:srcRect l="-2072" r="-2072" t="0" b="0"/>
          <a:stretch/>
        </p:blipFill>
        <p:spPr>
          <a:xfrm>
            <a:off x="7677302" y="6286500"/>
            <a:ext cx="1904695" cy="9144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487107" y="2533802"/>
            <a:ext cx="2286000" cy="5715000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10001707" y="2533802"/>
            <a:ext cx="7524598" cy="5715000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f877fa13478ca5cd1a698ae707cf666a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0344607" y="6476695"/>
            <a:ext cx="3238805" cy="1619402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13811098" y="6476695"/>
            <a:ext cx="3715207" cy="1619402"/>
          </a:xfrm>
          <a:prstGeom prst="rect">
            <a:avLst/>
          </a:prstGeom>
          <a:solidFill>
            <a:srgbClr val="2832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761695" y="8382305"/>
            <a:ext cx="16763695" cy="838505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3" descr="gen-dedup-ca2385ff8d00736250eec77fe4970d2f.png">    </p:cNvPr>
          <p:cNvPicPr>
            <a:picLocks noChangeAspect="1"/>
          </p:cNvPicPr>
          <p:nvPr/>
        </p:nvPicPr>
        <p:blipFill>
          <a:blip r:embed="rId4"/>
          <a:srcRect l="0" r="0" t="-2" b="-2"/>
          <a:stretch/>
        </p:blipFill>
        <p:spPr>
          <a:xfrm>
            <a:off x="761695" y="2533802"/>
            <a:ext cx="6476695" cy="57150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61695" y="705002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10 · UNIFORMITY · 69pt wafer map</a:t>
            </a:r>
            <a:endParaRPr lang="en-US" sz="1125" dirty="0"/>
          </a:p>
        </p:txBody>
      </p:sp>
      <p:sp>
        <p:nvSpPr>
          <p:cNvPr id="13" name="Text 6"/>
          <p:cNvSpPr txBox="1"/>
          <p:nvPr/>
        </p:nvSpPr>
        <p:spPr>
          <a:xfrm>
            <a:off x="761695" y="1019556"/>
            <a:ext cx="1143000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50" b="1" spc="-96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69 개 site, 한 wafer 의 분포</a:t>
            </a:r>
            <a:endParaRPr lang="en-US" sz="4350" dirty="0"/>
          </a:p>
        </p:txBody>
      </p:sp>
      <p:sp>
        <p:nvSpPr>
          <p:cNvPr id="14" name="Text 7"/>
          <p:cNvSpPr txBox="1"/>
          <p:nvPr/>
        </p:nvSpPr>
        <p:spPr>
          <a:xfrm>
            <a:off x="761695" y="1705356"/>
            <a:ext cx="99066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(AlOx) 의 69-pt 측정 결과를 AASI Δ vs target 으로 색화 — 우상단 quadrant 로 drift site 가 살짝 쌓인다.</a:t>
            </a:r>
            <a:endParaRPr lang="en-US" sz="1275" dirty="0"/>
          </a:p>
        </p:txBody>
      </p:sp>
      <p:sp>
        <p:nvSpPr>
          <p:cNvPr id="15" name="Text 8"/>
          <p:cNvSpPr txBox="1"/>
          <p:nvPr/>
        </p:nvSpPr>
        <p:spPr>
          <a:xfrm>
            <a:off x="7677302" y="2743200"/>
            <a:ext cx="1905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10.1 · wafer · W04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7677302" y="3029407"/>
            <a:ext cx="190561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AASI</a:t>
            </a:r>
            <a:pPr algn="l" indent="0" marL="0">
              <a:lnSpc>
                <a:spcPct val="100000"/>
              </a:lnSpc>
              <a:buNone/>
            </a:pPr>
            <a:endParaRPr lang="en-US" sz="2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550" b="1" spc="-38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Δ map</a:t>
            </a:r>
            <a:endParaRPr lang="en-US" sz="2550" dirty="0"/>
          </a:p>
        </p:txBody>
      </p:sp>
      <p:sp>
        <p:nvSpPr>
          <p:cNvPr id="17" name="Text 10"/>
          <p:cNvSpPr txBox="1"/>
          <p:nvPr/>
        </p:nvSpPr>
        <p:spPr>
          <a:xfrm>
            <a:off x="7677302" y="3788359"/>
            <a:ext cx="1905610" cy="413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 sites</a:t>
            </a:r>
            <a:pPr algn="l" indent="0" marL="0">
              <a:lnSpc>
                <a:spcPts val="1511"/>
              </a:lnSpc>
              <a:buNone/>
            </a:pPr>
            <a:endParaRPr lang="en-US" sz="97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97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edge 5 mm 제외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7677302" y="4705502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DRIFT SITE</a:t>
            </a:r>
            <a:endParaRPr lang="en-US" sz="825" dirty="0"/>
          </a:p>
        </p:txBody>
      </p:sp>
      <p:sp>
        <p:nvSpPr>
          <p:cNvPr id="19" name="Text 12"/>
          <p:cNvSpPr txBox="1"/>
          <p:nvPr/>
        </p:nvSpPr>
        <p:spPr>
          <a:xfrm>
            <a:off x="7677302" y="4953305"/>
            <a:ext cx="232349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050" b="1" spc="-81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</a:t>
            </a:r>
            <a:pPr algn="l" indent="0" marL="0">
              <a:buNone/>
            </a:pPr>
            <a:r>
              <a:rPr lang="en-US" sz="1350" b="1" spc="-81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/ 69</a:t>
            </a:r>
            <a:endParaRPr lang="en-US" sz="4050" dirty="0"/>
          </a:p>
        </p:txBody>
      </p:sp>
      <p:sp>
        <p:nvSpPr>
          <p:cNvPr id="20" name="Text 13"/>
          <p:cNvSpPr txBox="1"/>
          <p:nvPr/>
        </p:nvSpPr>
        <p:spPr>
          <a:xfrm>
            <a:off x="7677302" y="5525719"/>
            <a:ext cx="1905610" cy="39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우측 quadrant,</a:t>
            </a:r>
            <a:pPr algn="l" indent="0" marL="0">
              <a:lnSpc>
                <a:spcPts val="1463"/>
              </a:lnSpc>
              <a:buNone/>
            </a:pPr>
            <a:endParaRPr lang="en-US" sz="975" dirty="0"/>
          </a:p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+0.20 nm 초과</a:t>
            </a:r>
            <a:endParaRPr lang="en-US" sz="975" dirty="0"/>
          </a:p>
        </p:txBody>
      </p:sp>
      <p:sp>
        <p:nvSpPr>
          <p:cNvPr id="21" name="Text 14"/>
          <p:cNvSpPr txBox="1"/>
          <p:nvPr/>
        </p:nvSpPr>
        <p:spPr>
          <a:xfrm>
            <a:off x="7677302" y="647669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83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LEGEND</a:t>
            </a:r>
            <a:endParaRPr lang="en-US" sz="825" dirty="0"/>
          </a:p>
        </p:txBody>
      </p:sp>
      <p:sp>
        <p:nvSpPr>
          <p:cNvPr id="22" name="Text 15"/>
          <p:cNvSpPr txBox="1"/>
          <p:nvPr/>
        </p:nvSpPr>
        <p:spPr>
          <a:xfrm>
            <a:off x="7677302" y="67052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&lt; −0.30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7677302" y="69338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−0.30 ~ −0.10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7677302" y="71624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−0.10 ~ +0.10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677302" y="73910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+0.10 ~ +0.30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7677302" y="7619695"/>
            <a:ext cx="1905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Δ &gt; +0.30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344607" y="2743200"/>
            <a:ext cx="68580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10.2 · within-wafer stats · AASI 기반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10344607" y="3457346"/>
            <a:ext cx="6858000" cy="19202"/>
          </a:xfrm>
          <a:prstGeom prst="rect">
            <a:avLst/>
          </a:prstGeom>
          <a:solidFill>
            <a:srgbClr val="1A212B"/>
          </a:solidFill>
          <a:ln w="12700">
            <a:solidFill>
              <a:srgbClr val="1A212B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10344607" y="3161995"/>
            <a:ext cx="8577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825" dirty="0"/>
          </a:p>
        </p:txBody>
      </p:sp>
      <p:sp>
        <p:nvSpPr>
          <p:cNvPr id="30" name="Text 23"/>
          <p:cNvSpPr txBox="1"/>
          <p:nvPr/>
        </p:nvSpPr>
        <p:spPr>
          <a:xfrm>
            <a:off x="11201400" y="3161995"/>
            <a:ext cx="8577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WAFER</a:t>
            </a:r>
            <a:endParaRPr lang="en-US" sz="825" dirty="0"/>
          </a:p>
        </p:txBody>
      </p:sp>
      <p:sp>
        <p:nvSpPr>
          <p:cNvPr id="31" name="Text 24"/>
          <p:cNvSpPr txBox="1"/>
          <p:nvPr/>
        </p:nvSpPr>
        <p:spPr>
          <a:xfrm>
            <a:off x="12059107" y="3161995"/>
            <a:ext cx="1457554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b="1" spc="83" kern="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3σ_w/in</a:t>
            </a:r>
            <a:endParaRPr lang="en-US" sz="825" dirty="0"/>
          </a:p>
        </p:txBody>
      </p:sp>
      <p:sp>
        <p:nvSpPr>
          <p:cNvPr id="32" name="Text 25"/>
          <p:cNvSpPr txBox="1"/>
          <p:nvPr/>
        </p:nvSpPr>
        <p:spPr>
          <a:xfrm>
            <a:off x="13506602" y="3161995"/>
            <a:ext cx="1200607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b="1" spc="83" kern="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RANGE</a:t>
            </a:r>
            <a:endParaRPr lang="en-US" sz="825" dirty="0"/>
          </a:p>
        </p:txBody>
      </p:sp>
      <p:sp>
        <p:nvSpPr>
          <p:cNvPr id="33" name="Text 26"/>
          <p:cNvSpPr txBox="1"/>
          <p:nvPr/>
        </p:nvSpPr>
        <p:spPr>
          <a:xfrm>
            <a:off x="14707210" y="3161995"/>
            <a:ext cx="1248156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b="1" spc="83" kern="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</a:t>
            </a:r>
            <a:endParaRPr lang="en-US" sz="825" dirty="0"/>
          </a:p>
        </p:txBody>
      </p:sp>
      <p:sp>
        <p:nvSpPr>
          <p:cNvPr id="34" name="Text 27"/>
          <p:cNvSpPr txBox="1"/>
          <p:nvPr/>
        </p:nvSpPr>
        <p:spPr>
          <a:xfrm>
            <a:off x="15954451" y="3161995"/>
            <a:ext cx="1248156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b="1" spc="83" kern="0" dirty="0">
                <a:solidFill>
                  <a:srgbClr val="1A21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</a:t>
            </a:r>
            <a:endParaRPr lang="en-US" sz="825" dirty="0"/>
          </a:p>
        </p:txBody>
      </p:sp>
      <p:sp>
        <p:nvSpPr>
          <p:cNvPr id="35" name="Shape 28"/>
          <p:cNvSpPr/>
          <p:nvPr/>
        </p:nvSpPr>
        <p:spPr>
          <a:xfrm>
            <a:off x="10344607" y="3476549"/>
            <a:ext cx="6858000" cy="333756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36" name="Shape 29"/>
          <p:cNvSpPr/>
          <p:nvPr/>
        </p:nvSpPr>
        <p:spPr>
          <a:xfrm>
            <a:off x="10344607" y="3801161"/>
            <a:ext cx="6858000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11201400" y="3476549"/>
            <a:ext cx="857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12059107" y="3476549"/>
            <a:ext cx="1457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0.42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13506602" y="3476549"/>
            <a:ext cx="1200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1.81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14707210" y="3476549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26.32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15954451" y="3476549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24.51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10344607" y="3804818"/>
            <a:ext cx="6858000" cy="323698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43" name="Shape 36"/>
          <p:cNvSpPr/>
          <p:nvPr/>
        </p:nvSpPr>
        <p:spPr>
          <a:xfrm>
            <a:off x="10344607" y="4119372"/>
            <a:ext cx="6858000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11201400" y="3804818"/>
            <a:ext cx="8577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</a:t>
            </a:r>
            <a:endParaRPr lang="en-US" sz="1050" dirty="0"/>
          </a:p>
        </p:txBody>
      </p:sp>
      <p:sp>
        <p:nvSpPr>
          <p:cNvPr id="45" name="Text 38"/>
          <p:cNvSpPr txBox="1"/>
          <p:nvPr/>
        </p:nvSpPr>
        <p:spPr>
          <a:xfrm>
            <a:off x="12059107" y="3804818"/>
            <a:ext cx="1457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0.38</a:t>
            </a:r>
            <a:endParaRPr lang="en-US" sz="1050" dirty="0"/>
          </a:p>
        </p:txBody>
      </p:sp>
      <p:sp>
        <p:nvSpPr>
          <p:cNvPr id="46" name="Text 39"/>
          <p:cNvSpPr txBox="1"/>
          <p:nvPr/>
        </p:nvSpPr>
        <p:spPr>
          <a:xfrm>
            <a:off x="13506602" y="3804818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1.67</a:t>
            </a:r>
            <a:endParaRPr lang="en-US" sz="1050" dirty="0"/>
          </a:p>
        </p:txBody>
      </p:sp>
      <p:sp>
        <p:nvSpPr>
          <p:cNvPr id="47" name="Text 40"/>
          <p:cNvSpPr txBox="1"/>
          <p:nvPr/>
        </p:nvSpPr>
        <p:spPr>
          <a:xfrm>
            <a:off x="14707210" y="3804818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26.18</a:t>
            </a:r>
            <a:endParaRPr lang="en-US" sz="1050" dirty="0"/>
          </a:p>
        </p:txBody>
      </p:sp>
      <p:sp>
        <p:nvSpPr>
          <p:cNvPr id="48" name="Text 41"/>
          <p:cNvSpPr txBox="1"/>
          <p:nvPr/>
        </p:nvSpPr>
        <p:spPr>
          <a:xfrm>
            <a:off x="15954451" y="3804818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24.51</a:t>
            </a:r>
            <a:endParaRPr lang="en-US" sz="1050" dirty="0"/>
          </a:p>
        </p:txBody>
      </p:sp>
      <p:sp>
        <p:nvSpPr>
          <p:cNvPr id="49" name="Shape 42"/>
          <p:cNvSpPr/>
          <p:nvPr/>
        </p:nvSpPr>
        <p:spPr>
          <a:xfrm>
            <a:off x="10344607" y="4129430"/>
            <a:ext cx="6858000" cy="323698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50" name="Shape 43"/>
          <p:cNvSpPr/>
          <p:nvPr/>
        </p:nvSpPr>
        <p:spPr>
          <a:xfrm>
            <a:off x="10344607" y="4443984"/>
            <a:ext cx="6858000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11201400" y="4129430"/>
            <a:ext cx="8577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</a:t>
            </a:r>
            <a:endParaRPr lang="en-US" sz="1050" dirty="0"/>
          </a:p>
        </p:txBody>
      </p:sp>
      <p:sp>
        <p:nvSpPr>
          <p:cNvPr id="52" name="Text 45"/>
          <p:cNvSpPr txBox="1"/>
          <p:nvPr/>
        </p:nvSpPr>
        <p:spPr>
          <a:xfrm>
            <a:off x="12059107" y="4129430"/>
            <a:ext cx="1457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0.45</a:t>
            </a:r>
            <a:endParaRPr lang="en-US" sz="1050" dirty="0"/>
          </a:p>
        </p:txBody>
      </p:sp>
      <p:sp>
        <p:nvSpPr>
          <p:cNvPr id="53" name="Text 46"/>
          <p:cNvSpPr txBox="1"/>
          <p:nvPr/>
        </p:nvSpPr>
        <p:spPr>
          <a:xfrm>
            <a:off x="13506602" y="4129430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1.94</a:t>
            </a:r>
            <a:endParaRPr lang="en-US" sz="1050" dirty="0"/>
          </a:p>
        </p:txBody>
      </p:sp>
      <p:sp>
        <p:nvSpPr>
          <p:cNvPr id="54" name="Text 47"/>
          <p:cNvSpPr txBox="1"/>
          <p:nvPr/>
        </p:nvSpPr>
        <p:spPr>
          <a:xfrm>
            <a:off x="14707210" y="4129430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26.41</a:t>
            </a:r>
            <a:endParaRPr lang="en-US" sz="1050" dirty="0"/>
          </a:p>
        </p:txBody>
      </p:sp>
      <p:sp>
        <p:nvSpPr>
          <p:cNvPr id="55" name="Text 48"/>
          <p:cNvSpPr txBox="1"/>
          <p:nvPr/>
        </p:nvSpPr>
        <p:spPr>
          <a:xfrm>
            <a:off x="15954451" y="4129430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24.47</a:t>
            </a:r>
            <a:endParaRPr lang="en-US" sz="1050" dirty="0"/>
          </a:p>
        </p:txBody>
      </p:sp>
      <p:sp>
        <p:nvSpPr>
          <p:cNvPr id="56" name="Shape 49"/>
          <p:cNvSpPr/>
          <p:nvPr/>
        </p:nvSpPr>
        <p:spPr>
          <a:xfrm>
            <a:off x="10344607" y="4453128"/>
            <a:ext cx="6858000" cy="333756"/>
          </a:xfrm>
          <a:prstGeom prst="rect">
            <a:avLst/>
          </a:prstGeom>
          <a:solidFill>
            <a:srgbClr val="B5632A">
              <a:alpha val="10000"/>
            </a:srgbClr>
          </a:solidFill>
          <a:ln/>
        </p:spPr>
      </p:sp>
      <p:sp>
        <p:nvSpPr>
          <p:cNvPr id="57" name="Shape 50"/>
          <p:cNvSpPr/>
          <p:nvPr/>
        </p:nvSpPr>
        <p:spPr>
          <a:xfrm>
            <a:off x="10344607" y="4767682"/>
            <a:ext cx="6858000" cy="19202"/>
          </a:xfrm>
          <a:prstGeom prst="rect">
            <a:avLst/>
          </a:prstGeom>
          <a:solidFill>
            <a:srgbClr val="8C3F1B"/>
          </a:solidFill>
          <a:ln w="12700">
            <a:solidFill>
              <a:srgbClr val="8C3F1B">
                <a:alpha val="0"/>
              </a:srgbClr>
            </a:solidFill>
            <a:prstDash val="solid"/>
          </a:ln>
        </p:spPr>
      </p:sp>
      <p:sp>
        <p:nvSpPr>
          <p:cNvPr id="58" name="Text 51"/>
          <p:cNvSpPr txBox="1"/>
          <p:nvPr/>
        </p:nvSpPr>
        <p:spPr>
          <a:xfrm>
            <a:off x="11201400" y="4453128"/>
            <a:ext cx="857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</a:t>
            </a:r>
            <a:endParaRPr lang="en-US" sz="1050" dirty="0"/>
          </a:p>
        </p:txBody>
      </p:sp>
      <p:sp>
        <p:nvSpPr>
          <p:cNvPr id="59" name="Text 52"/>
          <p:cNvSpPr txBox="1"/>
          <p:nvPr/>
        </p:nvSpPr>
        <p:spPr>
          <a:xfrm>
            <a:off x="12059107" y="4453128"/>
            <a:ext cx="1457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0.36</a:t>
            </a:r>
            <a:endParaRPr lang="en-US" sz="1050" dirty="0"/>
          </a:p>
        </p:txBody>
      </p:sp>
      <p:sp>
        <p:nvSpPr>
          <p:cNvPr id="60" name="Text 53"/>
          <p:cNvSpPr txBox="1"/>
          <p:nvPr/>
        </p:nvSpPr>
        <p:spPr>
          <a:xfrm>
            <a:off x="13506602" y="4453128"/>
            <a:ext cx="1200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1.55</a:t>
            </a:r>
            <a:endParaRPr lang="en-US" sz="1050" dirty="0"/>
          </a:p>
        </p:txBody>
      </p:sp>
      <p:sp>
        <p:nvSpPr>
          <p:cNvPr id="61" name="Text 54"/>
          <p:cNvSpPr txBox="1"/>
          <p:nvPr/>
        </p:nvSpPr>
        <p:spPr>
          <a:xfrm>
            <a:off x="14707210" y="4453128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26.04</a:t>
            </a:r>
            <a:endParaRPr lang="en-US" sz="1050" dirty="0"/>
          </a:p>
        </p:txBody>
      </p:sp>
      <p:sp>
        <p:nvSpPr>
          <p:cNvPr id="62" name="Text 55"/>
          <p:cNvSpPr txBox="1"/>
          <p:nvPr/>
        </p:nvSpPr>
        <p:spPr>
          <a:xfrm>
            <a:off x="15954451" y="4453128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24.49</a:t>
            </a:r>
            <a:endParaRPr lang="en-US" sz="1050" dirty="0"/>
          </a:p>
        </p:txBody>
      </p:sp>
      <p:sp>
        <p:nvSpPr>
          <p:cNvPr id="63" name="Shape 56"/>
          <p:cNvSpPr/>
          <p:nvPr/>
        </p:nvSpPr>
        <p:spPr>
          <a:xfrm>
            <a:off x="10344607" y="4781398"/>
            <a:ext cx="6858000" cy="333756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64" name="Shape 57"/>
          <p:cNvSpPr/>
          <p:nvPr/>
        </p:nvSpPr>
        <p:spPr>
          <a:xfrm>
            <a:off x="10344607" y="5106010"/>
            <a:ext cx="6858000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11201400" y="4781398"/>
            <a:ext cx="857707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</a:t>
            </a:r>
            <a:endParaRPr lang="en-US" sz="1050" dirty="0"/>
          </a:p>
        </p:txBody>
      </p:sp>
      <p:sp>
        <p:nvSpPr>
          <p:cNvPr id="66" name="Text 59"/>
          <p:cNvSpPr txBox="1"/>
          <p:nvPr/>
        </p:nvSpPr>
        <p:spPr>
          <a:xfrm>
            <a:off x="12059107" y="4781398"/>
            <a:ext cx="14575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0.31</a:t>
            </a:r>
            <a:endParaRPr lang="en-US" sz="1050" dirty="0"/>
          </a:p>
        </p:txBody>
      </p:sp>
      <p:sp>
        <p:nvSpPr>
          <p:cNvPr id="67" name="Text 60"/>
          <p:cNvSpPr txBox="1"/>
          <p:nvPr/>
        </p:nvSpPr>
        <p:spPr>
          <a:xfrm>
            <a:off x="13506602" y="4781398"/>
            <a:ext cx="12006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1.32</a:t>
            </a:r>
            <a:endParaRPr lang="en-US" sz="1050" dirty="0"/>
          </a:p>
        </p:txBody>
      </p:sp>
      <p:sp>
        <p:nvSpPr>
          <p:cNvPr id="68" name="Text 61"/>
          <p:cNvSpPr txBox="1"/>
          <p:nvPr/>
        </p:nvSpPr>
        <p:spPr>
          <a:xfrm>
            <a:off x="14707210" y="4781398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25.43</a:t>
            </a:r>
            <a:endParaRPr lang="en-US" sz="1050" dirty="0"/>
          </a:p>
        </p:txBody>
      </p:sp>
      <p:sp>
        <p:nvSpPr>
          <p:cNvPr id="69" name="Text 62"/>
          <p:cNvSpPr txBox="1"/>
          <p:nvPr/>
        </p:nvSpPr>
        <p:spPr>
          <a:xfrm>
            <a:off x="15954451" y="4781398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24.11</a:t>
            </a:r>
            <a:endParaRPr lang="en-US" sz="1050" dirty="0"/>
          </a:p>
        </p:txBody>
      </p:sp>
      <p:sp>
        <p:nvSpPr>
          <p:cNvPr id="70" name="Shape 63"/>
          <p:cNvSpPr/>
          <p:nvPr/>
        </p:nvSpPr>
        <p:spPr>
          <a:xfrm>
            <a:off x="10344607" y="5110582"/>
            <a:ext cx="6858000" cy="323698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71" name="Shape 64"/>
          <p:cNvSpPr/>
          <p:nvPr/>
        </p:nvSpPr>
        <p:spPr>
          <a:xfrm>
            <a:off x="10344607" y="5425135"/>
            <a:ext cx="6858000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11201400" y="5110582"/>
            <a:ext cx="8577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</a:t>
            </a:r>
            <a:endParaRPr lang="en-US" sz="1050" dirty="0"/>
          </a:p>
        </p:txBody>
      </p:sp>
      <p:sp>
        <p:nvSpPr>
          <p:cNvPr id="73" name="Text 66"/>
          <p:cNvSpPr txBox="1"/>
          <p:nvPr/>
        </p:nvSpPr>
        <p:spPr>
          <a:xfrm>
            <a:off x="12059107" y="5110582"/>
            <a:ext cx="1457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0.28</a:t>
            </a:r>
            <a:endParaRPr lang="en-US" sz="1050" dirty="0"/>
          </a:p>
        </p:txBody>
      </p:sp>
      <p:sp>
        <p:nvSpPr>
          <p:cNvPr id="74" name="Text 67"/>
          <p:cNvSpPr txBox="1"/>
          <p:nvPr/>
        </p:nvSpPr>
        <p:spPr>
          <a:xfrm>
            <a:off x="13506602" y="5110582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1.18</a:t>
            </a:r>
            <a:endParaRPr lang="en-US" sz="1050" dirty="0"/>
          </a:p>
        </p:txBody>
      </p:sp>
      <p:sp>
        <p:nvSpPr>
          <p:cNvPr id="75" name="Text 68"/>
          <p:cNvSpPr txBox="1"/>
          <p:nvPr/>
        </p:nvSpPr>
        <p:spPr>
          <a:xfrm>
            <a:off x="14707210" y="5110582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25.28</a:t>
            </a:r>
            <a:endParaRPr lang="en-US" sz="1050" dirty="0"/>
          </a:p>
        </p:txBody>
      </p:sp>
      <p:sp>
        <p:nvSpPr>
          <p:cNvPr id="76" name="Text 69"/>
          <p:cNvSpPr txBox="1"/>
          <p:nvPr/>
        </p:nvSpPr>
        <p:spPr>
          <a:xfrm>
            <a:off x="15954451" y="5110582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24.10</a:t>
            </a:r>
            <a:endParaRPr lang="en-US" sz="1050" dirty="0"/>
          </a:p>
        </p:txBody>
      </p:sp>
      <p:sp>
        <p:nvSpPr>
          <p:cNvPr id="77" name="Shape 70"/>
          <p:cNvSpPr/>
          <p:nvPr/>
        </p:nvSpPr>
        <p:spPr>
          <a:xfrm>
            <a:off x="10344607" y="5434279"/>
            <a:ext cx="6858000" cy="323698"/>
          </a:xfrm>
          <a:prstGeom prst="rect">
            <a:avLst/>
          </a:prstGeom>
          <a:solidFill>
            <a:srgbClr val="2D5F70">
              <a:alpha val="10000"/>
            </a:srgbClr>
          </a:solidFill>
          <a:ln/>
        </p:spPr>
      </p:sp>
      <p:sp>
        <p:nvSpPr>
          <p:cNvPr id="78" name="Shape 71"/>
          <p:cNvSpPr/>
          <p:nvPr/>
        </p:nvSpPr>
        <p:spPr>
          <a:xfrm>
            <a:off x="10344607" y="5748833"/>
            <a:ext cx="6858000" cy="9144"/>
          </a:xfrm>
          <a:prstGeom prst="rect">
            <a:avLst/>
          </a:prstGeom>
          <a:solidFill>
            <a:srgbClr val="B5AC8E"/>
          </a:solidFill>
          <a:ln w="12700">
            <a:solidFill>
              <a:srgbClr val="B5AC8E">
                <a:alpha val="0"/>
              </a:srgbClr>
            </a:solidFill>
            <a:prstDash val="solid"/>
          </a:ln>
        </p:spPr>
      </p:sp>
      <p:sp>
        <p:nvSpPr>
          <p:cNvPr id="79" name="Text 72"/>
          <p:cNvSpPr txBox="1"/>
          <p:nvPr/>
        </p:nvSpPr>
        <p:spPr>
          <a:xfrm>
            <a:off x="11201400" y="5434279"/>
            <a:ext cx="8577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</a:t>
            </a:r>
            <a:endParaRPr lang="en-US" sz="1050" dirty="0"/>
          </a:p>
        </p:txBody>
      </p:sp>
      <p:sp>
        <p:nvSpPr>
          <p:cNvPr id="80" name="Text 73"/>
          <p:cNvSpPr txBox="1"/>
          <p:nvPr/>
        </p:nvSpPr>
        <p:spPr>
          <a:xfrm>
            <a:off x="12059107" y="5434279"/>
            <a:ext cx="1457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0.34</a:t>
            </a:r>
            <a:endParaRPr lang="en-US" sz="1050" dirty="0"/>
          </a:p>
        </p:txBody>
      </p:sp>
      <p:sp>
        <p:nvSpPr>
          <p:cNvPr id="81" name="Text 74"/>
          <p:cNvSpPr txBox="1"/>
          <p:nvPr/>
        </p:nvSpPr>
        <p:spPr>
          <a:xfrm>
            <a:off x="13506602" y="5434279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1.41</a:t>
            </a:r>
            <a:endParaRPr lang="en-US" sz="1050" dirty="0"/>
          </a:p>
        </p:txBody>
      </p:sp>
      <p:sp>
        <p:nvSpPr>
          <p:cNvPr id="82" name="Text 75"/>
          <p:cNvSpPr txBox="1"/>
          <p:nvPr/>
        </p:nvSpPr>
        <p:spPr>
          <a:xfrm>
            <a:off x="14707210" y="5434279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25.51</a:t>
            </a:r>
            <a:endParaRPr lang="en-US" sz="1050" dirty="0"/>
          </a:p>
        </p:txBody>
      </p:sp>
      <p:sp>
        <p:nvSpPr>
          <p:cNvPr id="83" name="Text 76"/>
          <p:cNvSpPr txBox="1"/>
          <p:nvPr/>
        </p:nvSpPr>
        <p:spPr>
          <a:xfrm>
            <a:off x="15954451" y="5434279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24.10</a:t>
            </a:r>
            <a:endParaRPr lang="en-US" sz="1050" dirty="0"/>
          </a:p>
        </p:txBody>
      </p:sp>
      <p:sp>
        <p:nvSpPr>
          <p:cNvPr id="84" name="Shape 77"/>
          <p:cNvSpPr/>
          <p:nvPr/>
        </p:nvSpPr>
        <p:spPr>
          <a:xfrm>
            <a:off x="10344607" y="5757977"/>
            <a:ext cx="6858000" cy="323698"/>
          </a:xfrm>
          <a:prstGeom prst="rect">
            <a:avLst/>
          </a:prstGeom>
          <a:solidFill>
            <a:srgbClr val="2D5F7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11201400" y="5757977"/>
            <a:ext cx="85770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</a:t>
            </a:r>
            <a:endParaRPr lang="en-US" sz="1050" dirty="0"/>
          </a:p>
        </p:txBody>
      </p:sp>
      <p:sp>
        <p:nvSpPr>
          <p:cNvPr id="86" name="Text 79"/>
          <p:cNvSpPr txBox="1"/>
          <p:nvPr/>
        </p:nvSpPr>
        <p:spPr>
          <a:xfrm>
            <a:off x="12059107" y="5757977"/>
            <a:ext cx="1457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0.30</a:t>
            </a:r>
            <a:endParaRPr lang="en-US" sz="1050" dirty="0"/>
          </a:p>
        </p:txBody>
      </p:sp>
      <p:sp>
        <p:nvSpPr>
          <p:cNvPr id="87" name="Text 80"/>
          <p:cNvSpPr txBox="1"/>
          <p:nvPr/>
        </p:nvSpPr>
        <p:spPr>
          <a:xfrm>
            <a:off x="13506602" y="5757977"/>
            <a:ext cx="120060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1.25</a:t>
            </a:r>
            <a:endParaRPr lang="en-US" sz="1050" dirty="0"/>
          </a:p>
        </p:txBody>
      </p:sp>
      <p:sp>
        <p:nvSpPr>
          <p:cNvPr id="88" name="Text 81"/>
          <p:cNvSpPr txBox="1"/>
          <p:nvPr/>
        </p:nvSpPr>
        <p:spPr>
          <a:xfrm>
            <a:off x="14707210" y="5757977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25.38</a:t>
            </a:r>
            <a:endParaRPr lang="en-US" sz="1050" dirty="0"/>
          </a:p>
        </p:txBody>
      </p:sp>
      <p:sp>
        <p:nvSpPr>
          <p:cNvPr id="89" name="Text 82"/>
          <p:cNvSpPr txBox="1"/>
          <p:nvPr/>
        </p:nvSpPr>
        <p:spPr>
          <a:xfrm>
            <a:off x="15954451" y="5757977"/>
            <a:ext cx="124815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24.13</a:t>
            </a:r>
            <a:endParaRPr lang="en-US" sz="1050" dirty="0"/>
          </a:p>
        </p:txBody>
      </p:sp>
      <p:sp>
        <p:nvSpPr>
          <p:cNvPr id="90" name="Text 83"/>
          <p:cNvSpPr txBox="1"/>
          <p:nvPr/>
        </p:nvSpPr>
        <p:spPr>
          <a:xfrm>
            <a:off x="10401300" y="3562502"/>
            <a:ext cx="584302" cy="171907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825" dirty="0"/>
          </a:p>
        </p:txBody>
      </p:sp>
      <p:sp>
        <p:nvSpPr>
          <p:cNvPr id="91" name="Text 84"/>
          <p:cNvSpPr txBox="1"/>
          <p:nvPr/>
        </p:nvSpPr>
        <p:spPr>
          <a:xfrm>
            <a:off x="10401300" y="3886200"/>
            <a:ext cx="584302" cy="171907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825" dirty="0"/>
          </a:p>
        </p:txBody>
      </p:sp>
      <p:sp>
        <p:nvSpPr>
          <p:cNvPr id="92" name="Text 85"/>
          <p:cNvSpPr txBox="1"/>
          <p:nvPr/>
        </p:nvSpPr>
        <p:spPr>
          <a:xfrm>
            <a:off x="10401300" y="4209898"/>
            <a:ext cx="584302" cy="171907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825" dirty="0"/>
          </a:p>
        </p:txBody>
      </p:sp>
      <p:sp>
        <p:nvSpPr>
          <p:cNvPr id="93" name="Text 86"/>
          <p:cNvSpPr txBox="1"/>
          <p:nvPr/>
        </p:nvSpPr>
        <p:spPr>
          <a:xfrm>
            <a:off x="10401300" y="4533595"/>
            <a:ext cx="584302" cy="171907"/>
          </a:xfrm>
          <a:prstGeom prst="rect">
            <a:avLst/>
          </a:prstGeom>
          <a:solidFill>
            <a:srgbClr val="B563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AlOx</a:t>
            </a:r>
            <a:endParaRPr lang="en-US" sz="825" dirty="0"/>
          </a:p>
        </p:txBody>
      </p:sp>
      <p:sp>
        <p:nvSpPr>
          <p:cNvPr id="94" name="Text 87"/>
          <p:cNvSpPr txBox="1"/>
          <p:nvPr/>
        </p:nvSpPr>
        <p:spPr>
          <a:xfrm>
            <a:off x="10401300" y="4867351"/>
            <a:ext cx="584302" cy="171907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825" dirty="0"/>
          </a:p>
        </p:txBody>
      </p:sp>
      <p:sp>
        <p:nvSpPr>
          <p:cNvPr id="95" name="Text 88"/>
          <p:cNvSpPr txBox="1"/>
          <p:nvPr/>
        </p:nvSpPr>
        <p:spPr>
          <a:xfrm>
            <a:off x="10401300" y="5191049"/>
            <a:ext cx="584302" cy="171907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825" dirty="0"/>
          </a:p>
        </p:txBody>
      </p:sp>
      <p:sp>
        <p:nvSpPr>
          <p:cNvPr id="96" name="Text 89"/>
          <p:cNvSpPr txBox="1"/>
          <p:nvPr/>
        </p:nvSpPr>
        <p:spPr>
          <a:xfrm>
            <a:off x="10401300" y="5514746"/>
            <a:ext cx="584302" cy="171907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825" dirty="0"/>
          </a:p>
        </p:txBody>
      </p:sp>
      <p:sp>
        <p:nvSpPr>
          <p:cNvPr id="97" name="Text 90"/>
          <p:cNvSpPr txBox="1"/>
          <p:nvPr/>
        </p:nvSpPr>
        <p:spPr>
          <a:xfrm>
            <a:off x="10401300" y="5838444"/>
            <a:ext cx="584302" cy="171907"/>
          </a:xfrm>
          <a:prstGeom prst="rect">
            <a:avLst/>
          </a:prstGeom>
          <a:solidFill>
            <a:srgbClr val="1F425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SiCN</a:t>
            </a:r>
            <a:endParaRPr lang="en-US" sz="825" dirty="0"/>
          </a:p>
        </p:txBody>
      </p:sp>
      <p:sp>
        <p:nvSpPr>
          <p:cNvPr id="98" name="Text 91"/>
          <p:cNvSpPr txBox="1"/>
          <p:nvPr/>
        </p:nvSpPr>
        <p:spPr>
          <a:xfrm>
            <a:off x="10534802" y="7077456"/>
            <a:ext cx="2857500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B563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0.40</a:t>
            </a:r>
            <a:endParaRPr lang="en-US" sz="3450" dirty="0"/>
          </a:p>
        </p:txBody>
      </p:sp>
      <p:sp>
        <p:nvSpPr>
          <p:cNvPr id="99" name="Text 92"/>
          <p:cNvSpPr txBox="1"/>
          <p:nvPr/>
        </p:nvSpPr>
        <p:spPr>
          <a:xfrm>
            <a:off x="10534802" y="7686446"/>
            <a:ext cx="285750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 σ · nm</a:t>
            </a:r>
            <a:endParaRPr lang="en-US" sz="975" dirty="0"/>
          </a:p>
        </p:txBody>
      </p:sp>
      <p:sp>
        <p:nvSpPr>
          <p:cNvPr id="100" name="Text 93"/>
          <p:cNvSpPr txBox="1"/>
          <p:nvPr/>
        </p:nvSpPr>
        <p:spPr>
          <a:xfrm>
            <a:off x="10534802" y="6734556"/>
            <a:ext cx="1286561" cy="19111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MEDIAN · AlOx</a:t>
            </a:r>
            <a:endParaRPr lang="en-US" sz="825" dirty="0"/>
          </a:p>
        </p:txBody>
      </p:sp>
      <p:sp>
        <p:nvSpPr>
          <p:cNvPr id="101" name="Text 94"/>
          <p:cNvSpPr txBox="1"/>
          <p:nvPr/>
        </p:nvSpPr>
        <p:spPr>
          <a:xfrm>
            <a:off x="14002207" y="7077456"/>
            <a:ext cx="3333902" cy="553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spc="-69" kern="0" dirty="0">
                <a:solidFill>
                  <a:srgbClr val="7FB7C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0.31</a:t>
            </a:r>
            <a:endParaRPr lang="en-US" sz="3450" dirty="0"/>
          </a:p>
        </p:txBody>
      </p:sp>
      <p:sp>
        <p:nvSpPr>
          <p:cNvPr id="102" name="Text 95"/>
          <p:cNvSpPr txBox="1"/>
          <p:nvPr/>
        </p:nvSpPr>
        <p:spPr>
          <a:xfrm>
            <a:off x="14002207" y="7686446"/>
            <a:ext cx="33339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within σ · Δ −22 %</a:t>
            </a:r>
            <a:endParaRPr lang="en-US" sz="975" dirty="0"/>
          </a:p>
        </p:txBody>
      </p:sp>
      <p:sp>
        <p:nvSpPr>
          <p:cNvPr id="103" name="Text 96"/>
          <p:cNvSpPr txBox="1"/>
          <p:nvPr/>
        </p:nvSpPr>
        <p:spPr>
          <a:xfrm>
            <a:off x="14002207" y="6734556"/>
            <a:ext cx="1286561" cy="191110"/>
          </a:xfrm>
          <a:prstGeom prst="rect">
            <a:avLst/>
          </a:prstGeom>
          <a:solidFill>
            <a:srgbClr val="2D5F70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ECE5C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MEDIAN · SiCN</a:t>
            </a:r>
            <a:endParaRPr lang="en-US" sz="825" dirty="0"/>
          </a:p>
        </p:txBody>
      </p:sp>
      <p:sp>
        <p:nvSpPr>
          <p:cNvPr id="104" name="Text 97"/>
          <p:cNvSpPr txBox="1"/>
          <p:nvPr/>
        </p:nvSpPr>
        <p:spPr>
          <a:xfrm>
            <a:off x="1143000" y="8553298"/>
            <a:ext cx="800100" cy="22860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825" dirty="0"/>
          </a:p>
        </p:txBody>
      </p:sp>
      <p:sp>
        <p:nvSpPr>
          <p:cNvPr id="105" name="Text 98"/>
          <p:cNvSpPr txBox="1"/>
          <p:nvPr/>
        </p:nvSpPr>
        <p:spPr>
          <a:xfrm>
            <a:off x="2107692" y="8556955"/>
            <a:ext cx="93634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W04 의 69 pt 가운데 14 site 가 우상단 quadrant 에 +0.20 nm 초과 — partial ring signature 가 분기 효과의 마지막 흔적으로 보인다.</a:t>
            </a:r>
            <a:endParaRPr lang="en-US" sz="1200" dirty="0"/>
          </a:p>
        </p:txBody>
      </p:sp>
      <p:sp>
        <p:nvSpPr>
          <p:cNvPr id="106" name="Text 99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In-wafer uniformity · 69 pt</a:t>
            </a:r>
            <a:endParaRPr lang="en-US" sz="1200" dirty="0"/>
          </a:p>
        </p:txBody>
      </p:sp>
      <p:sp>
        <p:nvSpPr>
          <p:cNvPr id="107" name="Text 100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2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gen-dedup-7c45e75deb604e0e41212de23553b336.png">    </p:cNvPr>
          <p:cNvPicPr>
            <a:picLocks noChangeAspect="1"/>
          </p:cNvPicPr>
          <p:nvPr/>
        </p:nvPicPr>
        <p:blipFill>
          <a:blip r:embed="rId1"/>
          <a:srcRect l="0" r="0" t="-2089" b="-2089"/>
          <a:stretch/>
        </p:blipFill>
        <p:spPr>
          <a:xfrm>
            <a:off x="4953305" y="2667305"/>
            <a:ext cx="9144" cy="1619402"/>
          </a:xfrm>
          <a:prstGeom prst="rect">
            <a:avLst/>
          </a:prstGeom>
        </p:spPr>
      </p:pic>
      <p:pic>
        <p:nvPicPr>
          <p:cNvPr id="4" name="Image 1" descr="gen-dedup-569774f10da694a949ee5bc6dd3412b2.png">    </p:cNvPr>
          <p:cNvPicPr>
            <a:picLocks noChangeAspect="1"/>
          </p:cNvPicPr>
          <p:nvPr/>
        </p:nvPicPr>
        <p:blipFill>
          <a:blip r:embed="rId2"/>
          <a:srcRect l="0" r="0" t="-2078" b="-2078"/>
          <a:stretch/>
        </p:blipFill>
        <p:spPr>
          <a:xfrm>
            <a:off x="4953305" y="5619902"/>
            <a:ext cx="9144" cy="1238098"/>
          </a:xfrm>
          <a:prstGeom prst="rect">
            <a:avLst/>
          </a:prstGeom>
        </p:spPr>
      </p:pic>
      <p:pic>
        <p:nvPicPr>
          <p:cNvPr id="5" name="Image 2" descr="gen-dedup-9777bf3e47665333339d6152e08dda97.png">    </p:cNvPr>
          <p:cNvPicPr>
            <a:picLocks noChangeAspect="1"/>
          </p:cNvPicPr>
          <p:nvPr/>
        </p:nvPicPr>
        <p:blipFill>
          <a:blip r:embed="rId3"/>
          <a:srcRect l="0" r="0" t="-2078" b="-2078"/>
          <a:stretch/>
        </p:blipFill>
        <p:spPr>
          <a:xfrm>
            <a:off x="8572500" y="8020202"/>
            <a:ext cx="9144" cy="1009498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61695" y="1695298"/>
            <a:ext cx="8287207" cy="2800807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9239098" y="1695298"/>
            <a:ext cx="8287207" cy="2800807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761695" y="4724705"/>
            <a:ext cx="8287207" cy="2800807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9239098" y="4724705"/>
            <a:ext cx="8287207" cy="2800807"/>
          </a:xfrm>
          <a:prstGeom prst="rect">
            <a:avLst/>
          </a:prstGeom>
          <a:solidFill>
            <a:srgbClr val="F2EB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3" descr="gen-dedup-f877fa13478ca5cd1a698ae707cf666a.png">    </p:cNvPr>
          <p:cNvPicPr>
            <a:picLocks noChangeAspect="1"/>
          </p:cNvPicPr>
          <p:nvPr/>
        </p:nvPicPr>
        <p:blipFill>
          <a:blip r:embed="rId4"/>
          <a:srcRect l="-2083" r="-2083" t="0" b="0"/>
          <a:stretch/>
        </p:blipFill>
        <p:spPr>
          <a:xfrm>
            <a:off x="761695" y="9430207"/>
            <a:ext cx="16763695" cy="9144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761695" y="7810805"/>
            <a:ext cx="16763695" cy="1429207"/>
          </a:xfrm>
          <a:prstGeom prst="rect">
            <a:avLst/>
          </a:prstGeom>
          <a:solidFill>
            <a:srgbClr val="1A212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1695" y="571500"/>
            <a:ext cx="1143000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247" kern="0" dirty="0">
                <a:solidFill>
                  <a:srgbClr val="6F6A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SLIDE 11 · ELECTRICAL · 4 metrics</a:t>
            </a:r>
            <a:endParaRPr lang="en-US" sz="1125" dirty="0"/>
          </a:p>
        </p:txBody>
      </p:sp>
      <p:sp>
        <p:nvSpPr>
          <p:cNvPr id="13" name="Text 6"/>
          <p:cNvSpPr txBox="1"/>
          <p:nvPr/>
        </p:nvSpPr>
        <p:spPr>
          <a:xfrm>
            <a:off x="761695" y="886054"/>
            <a:ext cx="11430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50" b="1" spc="-82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전기 특성, 네 항목의 합</a:t>
            </a:r>
            <a:endParaRPr lang="en-US" sz="3750" dirty="0"/>
          </a:p>
        </p:txBody>
      </p:sp>
      <p:sp>
        <p:nvSpPr>
          <p:cNvPr id="14" name="Text 7"/>
          <p:cNvSpPr txBox="1"/>
          <p:nvPr/>
        </p:nvSpPr>
        <p:spPr>
          <a:xfrm>
            <a:off x="12573000" y="743407"/>
            <a:ext cx="49533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M2 레시피 · 4 vs 4 wafer · 도식 아닌 숫자 표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1143000" y="2238451"/>
            <a:ext cx="7525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M2 line · 9 nm width · 100 μm length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143000" y="1952244"/>
            <a:ext cx="1828800" cy="19111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25400" rIns="1143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· LINE RESISTANCE</a:t>
            </a:r>
            <a:endParaRPr lang="en-US" sz="825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2628900"/>
          <a:ext cx="3620110" cy="1828800"/>
        </p:xfrm>
        <a:graphic>
          <a:graphicData uri="http://schemas.openxmlformats.org/drawingml/2006/table">
            <a:tbl>
              <a:tblPr/>
              <a:tblGrid>
                <a:gridCol w="1006754"/>
                <a:gridCol w="2612441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W01 102.4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W02 100.8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W03 103.9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99.7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 84.1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 82.4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 85.0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 83.3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" name="Text 10"/>
          <p:cNvSpPr txBox="1"/>
          <p:nvPr/>
        </p:nvSpPr>
        <p:spPr>
          <a:xfrm>
            <a:off x="5143500" y="2628900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AlOx mean</a:t>
            </a:r>
            <a:endParaRPr lang="en-US" sz="825" dirty="0"/>
          </a:p>
        </p:txBody>
      </p:sp>
      <p:sp>
        <p:nvSpPr>
          <p:cNvPr id="19" name="Text 11"/>
          <p:cNvSpPr txBox="1"/>
          <p:nvPr/>
        </p:nvSpPr>
        <p:spPr>
          <a:xfrm>
            <a:off x="5143500" y="2819095"/>
            <a:ext cx="3620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101.7</a:t>
            </a:r>
            <a:endParaRPr lang="en-US" sz="2850" dirty="0"/>
          </a:p>
        </p:txBody>
      </p:sp>
      <p:sp>
        <p:nvSpPr>
          <p:cNvPr id="20" name="Text 12"/>
          <p:cNvSpPr txBox="1"/>
          <p:nvPr/>
        </p:nvSpPr>
        <p:spPr>
          <a:xfrm>
            <a:off x="5143500" y="3305556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Ω/μm · 8 site 평균</a:t>
            </a:r>
            <a:endParaRPr lang="en-US" sz="825" dirty="0"/>
          </a:p>
        </p:txBody>
      </p:sp>
      <p:pic>
        <p:nvPicPr>
          <p:cNvPr id="21" name="Image 4" descr="gen-dedup-304f8ee011dc86b1e9242e2c0ad78b72.png">    </p:cNvPr>
          <p:cNvPicPr>
            <a:picLocks noChangeAspect="1"/>
          </p:cNvPicPr>
          <p:nvPr/>
        </p:nvPicPr>
        <p:blipFill>
          <a:blip r:embed="rId5"/>
          <a:srcRect l="-2083" r="-2083" t="0" b="0"/>
          <a:stretch/>
        </p:blipFill>
        <p:spPr>
          <a:xfrm>
            <a:off x="5143500" y="3590849"/>
            <a:ext cx="2286000" cy="914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143500" y="37334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SiCN mean</a:t>
            </a:r>
            <a:endParaRPr lang="en-US" sz="825" dirty="0"/>
          </a:p>
        </p:txBody>
      </p:sp>
      <p:sp>
        <p:nvSpPr>
          <p:cNvPr id="23" name="Text 14"/>
          <p:cNvSpPr txBox="1"/>
          <p:nvPr/>
        </p:nvSpPr>
        <p:spPr>
          <a:xfrm>
            <a:off x="5143500" y="3924605"/>
            <a:ext cx="3620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83.7</a:t>
            </a:r>
            <a:endParaRPr lang="en-US" sz="2850" dirty="0"/>
          </a:p>
        </p:txBody>
      </p:sp>
      <p:sp>
        <p:nvSpPr>
          <p:cNvPr id="24" name="Text 15"/>
          <p:cNvSpPr txBox="1"/>
          <p:nvPr/>
        </p:nvSpPr>
        <p:spPr>
          <a:xfrm>
            <a:off x="5143500" y="4410151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Ω/μm · Δ −18 %</a:t>
            </a:r>
            <a:endParaRPr lang="en-US" sz="825" dirty="0"/>
          </a:p>
        </p:txBody>
      </p:sp>
      <p:sp>
        <p:nvSpPr>
          <p:cNvPr id="25" name="Text 16"/>
          <p:cNvSpPr txBox="1"/>
          <p:nvPr/>
        </p:nvSpPr>
        <p:spPr>
          <a:xfrm>
            <a:off x="9620402" y="2238451"/>
            <a:ext cx="752551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M1→M2 via · 10× chain</a:t>
            </a:r>
            <a:endParaRPr lang="en-US" sz="1500" dirty="0"/>
          </a:p>
        </p:txBody>
      </p:sp>
      <p:sp>
        <p:nvSpPr>
          <p:cNvPr id="26" name="Text 17"/>
          <p:cNvSpPr txBox="1"/>
          <p:nvPr/>
        </p:nvSpPr>
        <p:spPr>
          <a:xfrm>
            <a:off x="9620402" y="1952244"/>
            <a:ext cx="1743761" cy="191110"/>
          </a:xfrm>
          <a:prstGeom prst="rect">
            <a:avLst/>
          </a:prstGeom>
          <a:solidFill>
            <a:srgbClr val="D4A3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25400" rIns="1143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· VIA RESISTANCE</a:t>
            </a:r>
            <a:endParaRPr lang="en-US" sz="825" dirty="0"/>
          </a:p>
        </p:txBody>
      </p:sp>
      <p:sp>
        <p:nvSpPr>
          <p:cNvPr id="27" name="Text 18"/>
          <p:cNvSpPr txBox="1"/>
          <p:nvPr/>
        </p:nvSpPr>
        <p:spPr>
          <a:xfrm>
            <a:off x="9620402" y="2533802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AlOx mean</a:t>
            </a:r>
            <a:endParaRPr lang="en-US" sz="825" dirty="0"/>
          </a:p>
        </p:txBody>
      </p:sp>
      <p:sp>
        <p:nvSpPr>
          <p:cNvPr id="28" name="Text 19"/>
          <p:cNvSpPr txBox="1"/>
          <p:nvPr/>
        </p:nvSpPr>
        <p:spPr>
          <a:xfrm>
            <a:off x="9620402" y="2704795"/>
            <a:ext cx="36201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3.31</a:t>
            </a:r>
            <a:endParaRPr lang="en-US" sz="3150" dirty="0"/>
          </a:p>
        </p:txBody>
      </p:sp>
      <p:sp>
        <p:nvSpPr>
          <p:cNvPr id="29" name="Text 20"/>
          <p:cNvSpPr txBox="1"/>
          <p:nvPr/>
        </p:nvSpPr>
        <p:spPr>
          <a:xfrm>
            <a:off x="9620402" y="3247949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Ω / via</a:t>
            </a:r>
            <a:endParaRPr lang="en-US" sz="825" dirty="0"/>
          </a:p>
        </p:txBody>
      </p:sp>
      <p:pic>
        <p:nvPicPr>
          <p:cNvPr id="30" name="Image 5" descr="gen-dedup-f23e5ea661fa3321cb5ee8c7bb06ffb2.png">    </p:cNvPr>
          <p:cNvPicPr>
            <a:picLocks noChangeAspect="1"/>
          </p:cNvPicPr>
          <p:nvPr/>
        </p:nvPicPr>
        <p:blipFill>
          <a:blip r:embed="rId6"/>
          <a:srcRect l="-2083" r="-2083" t="0" b="0"/>
          <a:stretch/>
        </p:blipFill>
        <p:spPr>
          <a:xfrm>
            <a:off x="9620402" y="3514954"/>
            <a:ext cx="2286000" cy="91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620402" y="3638398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SiCN mean</a:t>
            </a:r>
            <a:endParaRPr lang="en-US" sz="825" dirty="0"/>
          </a:p>
        </p:txBody>
      </p:sp>
      <p:sp>
        <p:nvSpPr>
          <p:cNvPr id="32" name="Text 22"/>
          <p:cNvSpPr txBox="1"/>
          <p:nvPr/>
        </p:nvSpPr>
        <p:spPr>
          <a:xfrm>
            <a:off x="9620402" y="3810305"/>
            <a:ext cx="36201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2.90</a:t>
            </a:r>
            <a:endParaRPr lang="en-US" sz="3150" dirty="0"/>
          </a:p>
        </p:txBody>
      </p:sp>
      <p:sp>
        <p:nvSpPr>
          <p:cNvPr id="33" name="Text 23"/>
          <p:cNvSpPr txBox="1"/>
          <p:nvPr/>
        </p:nvSpPr>
        <p:spPr>
          <a:xfrm>
            <a:off x="9620402" y="4352544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Ω / via · Δ −12 %</a:t>
            </a:r>
            <a:endParaRPr lang="en-US" sz="825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25805" y="2628900"/>
          <a:ext cx="3620110" cy="1828800"/>
        </p:xfrm>
        <a:graphic>
          <a:graphicData uri="http://schemas.openxmlformats.org/drawingml/2006/table">
            <a:tbl>
              <a:tblPr/>
              <a:tblGrid>
                <a:gridCol w="1094537"/>
                <a:gridCol w="2524658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0A57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3.34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0A57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3.28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0A57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3.41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E0A57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3.22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CC9D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 2.91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CC9D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 2.84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CC9D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 2.96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9CC9D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ECE5CD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 2.88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7C5">
                        <a:alpha val="1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5" name="Text 24"/>
          <p:cNvSpPr txBox="1"/>
          <p:nvPr/>
        </p:nvSpPr>
        <p:spPr>
          <a:xfrm>
            <a:off x="1143000" y="5266944"/>
            <a:ext cx="7525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CE5C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300 °C · J = 2 MA/cm² · single via</a:t>
            </a:r>
            <a:endParaRPr lang="en-US" sz="1500" dirty="0"/>
          </a:p>
        </p:txBody>
      </p:sp>
      <p:sp>
        <p:nvSpPr>
          <p:cNvPr id="36" name="Text 25"/>
          <p:cNvSpPr txBox="1"/>
          <p:nvPr/>
        </p:nvSpPr>
        <p:spPr>
          <a:xfrm>
            <a:off x="1143000" y="4981651"/>
            <a:ext cx="1828800" cy="191110"/>
          </a:xfrm>
          <a:prstGeom prst="rect">
            <a:avLst/>
          </a:prstGeom>
          <a:solidFill>
            <a:srgbClr val="D4A3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25400" rIns="1143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· EM TTF (median)</a:t>
            </a:r>
            <a:endParaRPr lang="en-US" sz="825" dirty="0"/>
          </a:p>
        </p:txBody>
      </p:sp>
      <p:sp>
        <p:nvSpPr>
          <p:cNvPr id="37" name="Text 26"/>
          <p:cNvSpPr txBox="1"/>
          <p:nvPr/>
        </p:nvSpPr>
        <p:spPr>
          <a:xfrm>
            <a:off x="1143000" y="56765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AlOx split</a:t>
            </a:r>
            <a:endParaRPr lang="en-US" sz="825" dirty="0"/>
          </a:p>
        </p:txBody>
      </p:sp>
      <p:sp>
        <p:nvSpPr>
          <p:cNvPr id="38" name="Text 27"/>
          <p:cNvSpPr txBox="1"/>
          <p:nvPr/>
        </p:nvSpPr>
        <p:spPr>
          <a:xfrm>
            <a:off x="1143000" y="5867705"/>
            <a:ext cx="36201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308 </a:t>
            </a:r>
            <a:pPr algn="l" indent="0" marL="0">
              <a:buNone/>
            </a:pPr>
            <a:r>
              <a:rPr lang="en-US" sz="1350" b="1" spc="-63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</a:t>
            </a:r>
            <a:endParaRPr lang="en-US" sz="3150" dirty="0"/>
          </a:p>
        </p:txBody>
      </p:sp>
      <p:sp>
        <p:nvSpPr>
          <p:cNvPr id="39" name="Text 28"/>
          <p:cNvSpPr txBox="1"/>
          <p:nvPr/>
        </p:nvSpPr>
        <p:spPr>
          <a:xfrm>
            <a:off x="1143000" y="6467551"/>
            <a:ext cx="17437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W01 312</a:t>
            </a:r>
            <a:endParaRPr lang="en-US" sz="825" dirty="0"/>
          </a:p>
        </p:txBody>
      </p:sp>
      <p:sp>
        <p:nvSpPr>
          <p:cNvPr id="40" name="Text 29"/>
          <p:cNvSpPr txBox="1"/>
          <p:nvPr/>
        </p:nvSpPr>
        <p:spPr>
          <a:xfrm>
            <a:off x="3019349" y="6467551"/>
            <a:ext cx="17437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W02 296</a:t>
            </a:r>
            <a:endParaRPr lang="en-US" sz="825" dirty="0"/>
          </a:p>
        </p:txBody>
      </p:sp>
      <p:sp>
        <p:nvSpPr>
          <p:cNvPr id="41" name="Text 30"/>
          <p:cNvSpPr txBox="1"/>
          <p:nvPr/>
        </p:nvSpPr>
        <p:spPr>
          <a:xfrm>
            <a:off x="1143000" y="6629400"/>
            <a:ext cx="17437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W03 304</a:t>
            </a:r>
            <a:endParaRPr lang="en-US" sz="825" dirty="0"/>
          </a:p>
        </p:txBody>
      </p:sp>
      <p:sp>
        <p:nvSpPr>
          <p:cNvPr id="42" name="Text 31"/>
          <p:cNvSpPr txBox="1"/>
          <p:nvPr/>
        </p:nvSpPr>
        <p:spPr>
          <a:xfrm>
            <a:off x="3019349" y="6629400"/>
            <a:ext cx="17437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W04 322</a:t>
            </a:r>
            <a:endParaRPr lang="en-US" sz="825" dirty="0"/>
          </a:p>
        </p:txBody>
      </p:sp>
      <p:sp>
        <p:nvSpPr>
          <p:cNvPr id="43" name="Text 32"/>
          <p:cNvSpPr txBox="1"/>
          <p:nvPr/>
        </p:nvSpPr>
        <p:spPr>
          <a:xfrm>
            <a:off x="5143500" y="5676595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RATIO</a:t>
            </a:r>
            <a:endParaRPr lang="en-US" sz="825" dirty="0"/>
          </a:p>
        </p:txBody>
      </p:sp>
      <p:sp>
        <p:nvSpPr>
          <p:cNvPr id="44" name="Text 33"/>
          <p:cNvSpPr txBox="1"/>
          <p:nvPr/>
        </p:nvSpPr>
        <p:spPr>
          <a:xfrm>
            <a:off x="5143500" y="5867705"/>
            <a:ext cx="15243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550" b="1" spc="-51" kern="0" dirty="0">
                <a:solidFill>
                  <a:srgbClr val="D4A33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1.33 ×</a:t>
            </a:r>
            <a:endParaRPr lang="en-US" sz="2550" dirty="0"/>
          </a:p>
        </p:txBody>
      </p:sp>
      <p:sp>
        <p:nvSpPr>
          <p:cNvPr id="45" name="Text 34"/>
          <p:cNvSpPr txBox="1"/>
          <p:nvPr/>
        </p:nvSpPr>
        <p:spPr>
          <a:xfrm>
            <a:off x="5143500" y="6314846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4D8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/ AlOx</a:t>
            </a:r>
            <a:endParaRPr lang="en-US" sz="800" dirty="0"/>
          </a:p>
        </p:txBody>
      </p:sp>
      <p:sp>
        <p:nvSpPr>
          <p:cNvPr id="46" name="Text 35"/>
          <p:cNvSpPr txBox="1"/>
          <p:nvPr/>
        </p:nvSpPr>
        <p:spPr>
          <a:xfrm>
            <a:off x="6858000" y="5676595"/>
            <a:ext cx="1905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7CCD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SiCN split</a:t>
            </a:r>
            <a:endParaRPr lang="en-US" sz="825" dirty="0"/>
          </a:p>
        </p:txBody>
      </p:sp>
      <p:sp>
        <p:nvSpPr>
          <p:cNvPr id="47" name="Text 36"/>
          <p:cNvSpPr txBox="1"/>
          <p:nvPr/>
        </p:nvSpPr>
        <p:spPr>
          <a:xfrm>
            <a:off x="6858000" y="5867705"/>
            <a:ext cx="1905610" cy="523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150" b="1" spc="-63" kern="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410 </a:t>
            </a:r>
            <a:pPr algn="l" indent="0" marL="0">
              <a:buNone/>
            </a:pPr>
            <a:r>
              <a:rPr lang="en-US" sz="1350" b="1" spc="-63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</a:t>
            </a:r>
            <a:endParaRPr lang="en-US" sz="3150" dirty="0"/>
          </a:p>
        </p:txBody>
      </p:sp>
      <p:sp>
        <p:nvSpPr>
          <p:cNvPr id="48" name="Text 37"/>
          <p:cNvSpPr txBox="1"/>
          <p:nvPr/>
        </p:nvSpPr>
        <p:spPr>
          <a:xfrm>
            <a:off x="6858000" y="6467551"/>
            <a:ext cx="8860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W05 412</a:t>
            </a:r>
            <a:endParaRPr lang="en-US" sz="825" dirty="0"/>
          </a:p>
        </p:txBody>
      </p:sp>
      <p:sp>
        <p:nvSpPr>
          <p:cNvPr id="49" name="Text 38"/>
          <p:cNvSpPr txBox="1"/>
          <p:nvPr/>
        </p:nvSpPr>
        <p:spPr>
          <a:xfrm>
            <a:off x="7877556" y="6467551"/>
            <a:ext cx="8860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W06 398</a:t>
            </a:r>
            <a:endParaRPr lang="en-US" sz="825" dirty="0"/>
          </a:p>
        </p:txBody>
      </p:sp>
      <p:sp>
        <p:nvSpPr>
          <p:cNvPr id="50" name="Text 39"/>
          <p:cNvSpPr txBox="1"/>
          <p:nvPr/>
        </p:nvSpPr>
        <p:spPr>
          <a:xfrm>
            <a:off x="6858000" y="6629400"/>
            <a:ext cx="8860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W07 422</a:t>
            </a:r>
            <a:endParaRPr lang="en-US" sz="825" dirty="0"/>
          </a:p>
        </p:txBody>
      </p:sp>
      <p:sp>
        <p:nvSpPr>
          <p:cNvPr id="51" name="Text 40"/>
          <p:cNvSpPr txBox="1"/>
          <p:nvPr/>
        </p:nvSpPr>
        <p:spPr>
          <a:xfrm>
            <a:off x="7877556" y="6629400"/>
            <a:ext cx="886054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D4D8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W08 408</a:t>
            </a:r>
            <a:endParaRPr lang="en-US" sz="825" dirty="0"/>
          </a:p>
        </p:txBody>
      </p:sp>
      <p:sp>
        <p:nvSpPr>
          <p:cNvPr id="52" name="Text 41"/>
          <p:cNvSpPr txBox="1"/>
          <p:nvPr/>
        </p:nvSpPr>
        <p:spPr>
          <a:xfrm>
            <a:off x="9620402" y="5266944"/>
            <a:ext cx="752551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combo structure · comb-cap</a:t>
            </a:r>
            <a:endParaRPr lang="en-US" sz="1500" dirty="0"/>
          </a:p>
        </p:txBody>
      </p:sp>
      <p:sp>
        <p:nvSpPr>
          <p:cNvPr id="53" name="Text 42"/>
          <p:cNvSpPr txBox="1"/>
          <p:nvPr/>
        </p:nvSpPr>
        <p:spPr>
          <a:xfrm>
            <a:off x="9620402" y="4981651"/>
            <a:ext cx="1991563" cy="19111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25400" rIns="114300" bIns="254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 · LEAKAGE @ 2 MV/cm</a:t>
            </a:r>
            <a:endParaRPr lang="en-US" sz="825" dirty="0"/>
          </a:p>
        </p:txBody>
      </p:sp>
      <p:sp>
        <p:nvSpPr>
          <p:cNvPr id="54" name="Text 43"/>
          <p:cNvSpPr txBox="1"/>
          <p:nvPr/>
        </p:nvSpPr>
        <p:spPr>
          <a:xfrm>
            <a:off x="9620402" y="567659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AlOx mean</a:t>
            </a:r>
            <a:endParaRPr lang="en-US" sz="825" dirty="0"/>
          </a:p>
        </p:txBody>
      </p:sp>
      <p:sp>
        <p:nvSpPr>
          <p:cNvPr id="55" name="Text 44"/>
          <p:cNvSpPr txBox="1"/>
          <p:nvPr/>
        </p:nvSpPr>
        <p:spPr>
          <a:xfrm>
            <a:off x="9620402" y="5867705"/>
            <a:ext cx="3620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3.3 × 10</a:t>
            </a:r>
            <a:pPr algn="l" indent="0" marL="0">
              <a:buNone/>
            </a:pPr>
            <a:r>
              <a:rPr lang="en-US" sz="1500" b="1" spc="-57" kern="0" dirty="0">
                <a:solidFill>
                  <a:srgbClr val="8C3F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−9</a:t>
            </a:r>
            <a:endParaRPr lang="en-US" sz="2850" dirty="0"/>
          </a:p>
        </p:txBody>
      </p:sp>
      <p:sp>
        <p:nvSpPr>
          <p:cNvPr id="56" name="Text 45"/>
          <p:cNvSpPr txBox="1"/>
          <p:nvPr/>
        </p:nvSpPr>
        <p:spPr>
          <a:xfrm>
            <a:off x="9620402" y="6353251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A/cm² · 8 site 평균</a:t>
            </a:r>
            <a:endParaRPr lang="en-US" sz="825" dirty="0"/>
          </a:p>
        </p:txBody>
      </p:sp>
      <p:pic>
        <p:nvPicPr>
          <p:cNvPr id="57" name="Image 6" descr="gen-dedup-304f8ee011dc86b1e9242e2c0ad78b72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9620402" y="6638544"/>
            <a:ext cx="2286000" cy="9144"/>
          </a:xfrm>
          <a:prstGeom prst="rect">
            <a:avLst/>
          </a:prstGeom>
        </p:spPr>
      </p:pic>
      <p:sp>
        <p:nvSpPr>
          <p:cNvPr id="58" name="Text 46"/>
          <p:cNvSpPr txBox="1"/>
          <p:nvPr/>
        </p:nvSpPr>
        <p:spPr>
          <a:xfrm>
            <a:off x="9620402" y="6782105"/>
            <a:ext cx="36201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SiCN mean</a:t>
            </a:r>
            <a:endParaRPr lang="en-US" sz="825" dirty="0"/>
          </a:p>
        </p:txBody>
      </p:sp>
      <p:sp>
        <p:nvSpPr>
          <p:cNvPr id="59" name="Text 47"/>
          <p:cNvSpPr txBox="1"/>
          <p:nvPr/>
        </p:nvSpPr>
        <p:spPr>
          <a:xfrm>
            <a:off x="9620402" y="6972300"/>
            <a:ext cx="36201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spc="-57" kern="0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2.2 × 10</a:t>
            </a:r>
            <a:pPr algn="l" indent="0" marL="0">
              <a:buNone/>
            </a:pPr>
            <a:r>
              <a:rPr lang="en-US" sz="1500" b="1" spc="-57" kern="0" dirty="0">
                <a:solidFill>
                  <a:srgbClr val="1F425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−9</a:t>
            </a:r>
            <a:endParaRPr lang="en-US" sz="2850" dirty="0"/>
          </a:p>
        </p:txBody>
      </p:sp>
      <p:sp>
        <p:nvSpPr>
          <p:cNvPr id="60" name="Text 48"/>
          <p:cNvSpPr txBox="1"/>
          <p:nvPr/>
        </p:nvSpPr>
        <p:spPr>
          <a:xfrm>
            <a:off x="9620402" y="7457846"/>
            <a:ext cx="36201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3F3A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A/cm² · Δ −36 %</a:t>
            </a:r>
            <a:endParaRPr lang="en-US" sz="825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25805" y="5676595"/>
          <a:ext cx="3620110" cy="1828800"/>
        </p:xfrm>
        <a:graphic>
          <a:graphicData uri="http://schemas.openxmlformats.org/drawingml/2006/table">
            <a:tbl>
              <a:tblPr/>
              <a:tblGrid>
                <a:gridCol w="534924"/>
                <a:gridCol w="1542593"/>
                <a:gridCol w="1542593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W01 3.4e−9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W02 3.1e−9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W03 3.6e−9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8C3F1B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AlOx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W04 3.0e−9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632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W05 2.2e−9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75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W06 2.0e−9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W07 2.4e−9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1F4250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SiCN</a:t>
                      </a:r>
                      <a:endParaRPr lang="en-US" sz="75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212B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W08 2.1e−9</a:t>
                      </a:r>
                      <a:endParaRPr lang="en-US" sz="975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0" marR="0" marT="28346" marB="283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F70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2" name="Text 49"/>
          <p:cNvSpPr txBox="1"/>
          <p:nvPr/>
        </p:nvSpPr>
        <p:spPr>
          <a:xfrm>
            <a:off x="1143000" y="8376818"/>
            <a:ext cx="7239305" cy="51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SiCN 쪽이 line R −18 %, via R −12 %, EM +33 %, leakage −36 % —</a:t>
            </a:r>
            <a:pPr algn="l" indent="0" marL="0">
              <a:lnSpc>
                <a:spcPts val="1913"/>
              </a:lnSpc>
              <a:buNone/>
            </a:pPr>
            <a:endParaRPr lang="en-US" sz="127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ECE5C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 항목 모두에서 SiCN 우세.</a:t>
            </a:r>
            <a:endParaRPr lang="en-US" sz="1275" dirty="0"/>
          </a:p>
        </p:txBody>
      </p:sp>
      <p:sp>
        <p:nvSpPr>
          <p:cNvPr id="63" name="Text 50"/>
          <p:cNvSpPr txBox="1"/>
          <p:nvPr/>
        </p:nvSpPr>
        <p:spPr>
          <a:xfrm>
            <a:off x="1143000" y="8039405"/>
            <a:ext cx="800100" cy="228600"/>
          </a:xfrm>
          <a:prstGeom prst="rect">
            <a:avLst/>
          </a:prstGeom>
          <a:solidFill>
            <a:srgbClr val="B58A2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14300" tIns="38100" rIns="114300" bIns="38100" rtlCol="0" anchor="ctr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1A21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한 줄 결론</a:t>
            </a:r>
            <a:endParaRPr lang="en-US" sz="825" dirty="0"/>
          </a:p>
        </p:txBody>
      </p:sp>
      <p:sp>
        <p:nvSpPr>
          <p:cNvPr id="64" name="Text 51"/>
          <p:cNvSpPr txBox="1"/>
          <p:nvPr/>
        </p:nvSpPr>
        <p:spPr>
          <a:xfrm>
            <a:off x="8762695" y="8020202"/>
            <a:ext cx="8572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98A0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 DELTA · 4 METRICS</a:t>
            </a:r>
            <a:endParaRPr lang="en-US" sz="825" dirty="0"/>
          </a:p>
        </p:txBody>
      </p:sp>
      <p:sp>
        <p:nvSpPr>
          <p:cNvPr id="65" name="Text 52"/>
          <p:cNvSpPr txBox="1"/>
          <p:nvPr/>
        </p:nvSpPr>
        <p:spPr>
          <a:xfrm>
            <a:off x="8762695" y="8268005"/>
            <a:ext cx="8860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 R</a:t>
            </a:r>
            <a:endParaRPr lang="en-US" sz="900" dirty="0"/>
          </a:p>
        </p:txBody>
      </p:sp>
      <p:sp>
        <p:nvSpPr>
          <p:cNvPr id="66" name="Text 53"/>
          <p:cNvSpPr txBox="1"/>
          <p:nvPr/>
        </p:nvSpPr>
        <p:spPr>
          <a:xfrm>
            <a:off x="8762695" y="8449056"/>
            <a:ext cx="92628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−18 %</a:t>
            </a:r>
            <a:endParaRPr lang="en-US" sz="2400" dirty="0"/>
          </a:p>
        </p:txBody>
      </p:sp>
      <p:sp>
        <p:nvSpPr>
          <p:cNvPr id="67" name="Text 54"/>
          <p:cNvSpPr txBox="1"/>
          <p:nvPr/>
        </p:nvSpPr>
        <p:spPr>
          <a:xfrm>
            <a:off x="9875520" y="8268005"/>
            <a:ext cx="8860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VIA R</a:t>
            </a:r>
            <a:endParaRPr lang="en-US" sz="900" dirty="0"/>
          </a:p>
        </p:txBody>
      </p:sp>
      <p:sp>
        <p:nvSpPr>
          <p:cNvPr id="68" name="Text 55"/>
          <p:cNvSpPr txBox="1"/>
          <p:nvPr/>
        </p:nvSpPr>
        <p:spPr>
          <a:xfrm>
            <a:off x="9875520" y="8449056"/>
            <a:ext cx="92628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E0A57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−12 %</a:t>
            </a:r>
            <a:endParaRPr lang="en-US" sz="2400" dirty="0"/>
          </a:p>
        </p:txBody>
      </p:sp>
      <p:sp>
        <p:nvSpPr>
          <p:cNvPr id="69" name="Text 56"/>
          <p:cNvSpPr txBox="1"/>
          <p:nvPr/>
        </p:nvSpPr>
        <p:spPr>
          <a:xfrm>
            <a:off x="10988345" y="8268005"/>
            <a:ext cx="8860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 TTF</a:t>
            </a:r>
            <a:endParaRPr lang="en-US" sz="900" dirty="0"/>
          </a:p>
        </p:txBody>
      </p:sp>
      <p:sp>
        <p:nvSpPr>
          <p:cNvPr id="70" name="Text 57"/>
          <p:cNvSpPr txBox="1"/>
          <p:nvPr/>
        </p:nvSpPr>
        <p:spPr>
          <a:xfrm>
            <a:off x="10988345" y="8449056"/>
            <a:ext cx="92628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+33 %</a:t>
            </a:r>
            <a:endParaRPr lang="en-US" sz="2400" dirty="0"/>
          </a:p>
        </p:txBody>
      </p:sp>
      <p:sp>
        <p:nvSpPr>
          <p:cNvPr id="71" name="Text 58"/>
          <p:cNvSpPr txBox="1"/>
          <p:nvPr/>
        </p:nvSpPr>
        <p:spPr>
          <a:xfrm>
            <a:off x="12101170" y="8268005"/>
            <a:ext cx="88605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LEAK</a:t>
            </a:r>
            <a:endParaRPr lang="en-US" sz="900" dirty="0"/>
          </a:p>
        </p:txBody>
      </p:sp>
      <p:sp>
        <p:nvSpPr>
          <p:cNvPr id="72" name="Text 59"/>
          <p:cNvSpPr txBox="1"/>
          <p:nvPr/>
        </p:nvSpPr>
        <p:spPr>
          <a:xfrm>
            <a:off x="12101170" y="8449056"/>
            <a:ext cx="926287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7FB7C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−36 %</a:t>
            </a:r>
            <a:endParaRPr lang="en-US" sz="2400" dirty="0"/>
          </a:p>
        </p:txBody>
      </p:sp>
      <p:sp>
        <p:nvSpPr>
          <p:cNvPr id="73" name="Text 60"/>
          <p:cNvSpPr txBox="1"/>
          <p:nvPr/>
        </p:nvSpPr>
        <p:spPr>
          <a:xfrm>
            <a:off x="761695" y="9562795"/>
            <a:ext cx="362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11</a:t>
            </a:r>
            <a:pPr algn="l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 특성</a:t>
            </a:r>
            <a:endParaRPr lang="en-US" sz="1200" dirty="0"/>
          </a:p>
        </p:txBody>
      </p:sp>
      <p:sp>
        <p:nvSpPr>
          <p:cNvPr id="74" name="Text 61"/>
          <p:cNvSpPr txBox="1"/>
          <p:nvPr/>
        </p:nvSpPr>
        <p:spPr>
          <a:xfrm>
            <a:off x="11239805" y="9562795"/>
            <a:ext cx="6286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F6A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내부 테스트용 더미(가상) 데이터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2026-10-03T16:15:27Z</dcterms:created>
  <dcterms:modified xsi:type="dcterms:W3CDTF">2026-10-03T16:15:27Z</dcterms:modified>
</cp:coreProperties>
</file>