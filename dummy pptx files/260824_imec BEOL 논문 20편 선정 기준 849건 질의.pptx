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eg"/><Relationship Id="rId5" Type="http://schemas.openxmlformats.org/officeDocument/2006/relationships/image" Target="../media/image-3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161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173200" y="-875995"/>
            <a:ext cx="6305702" cy="6305702"/>
          </a:xfrm>
          <a:prstGeom prst="ellipse">
            <a:avLst/>
          </a:prstGeom>
          <a:noFill/>
          <a:ln w="12700">
            <a:solidFill>
              <a:srgbClr val="ECE5D6">
                <a:alpha val="6000"/>
              </a:srgbClr>
            </a:solidFill>
            <a:prstDash val="solid"/>
          </a:ln>
        </p:spPr>
      </p:sp>
      <p:pic>
        <p:nvPicPr>
          <p:cNvPr id="4" name="Image 0" descr="gen-dedup-04c39822bf0300cac19bf8dfaddee9a8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-2083" r="-2083" t="0" b="0"/>
          <a:stretch/>
        </p:blipFill>
        <p:spPr>
          <a:xfrm>
            <a:off x="990295" y="1218895"/>
            <a:ext cx="914400" cy="9144"/>
          </a:xfrm>
          <a:prstGeom prst="rect">
            <a:avLst/>
          </a:prstGeom>
        </p:spPr>
      </p:pic>
      <p:pic>
        <p:nvPicPr>
          <p:cNvPr id="5" name="Image 1" descr="gen-dedup-0f4fa94fce5fce8c1837dc17f9db667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005" y="990295"/>
            <a:ext cx="6858000" cy="55622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90295" y="800100"/>
            <a:ext cx="1677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spc="300" kern="0" dirty="0">
                <a:solidFill>
                  <a:srgbClr val="A39B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 01 / 30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10554005" y="6743700"/>
            <a:ext cx="6858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Nature Communications · 2026</a:t>
            </a:r>
            <a:endParaRPr lang="en-US" sz="1125" dirty="0"/>
          </a:p>
        </p:txBody>
      </p:sp>
      <p:sp>
        <p:nvSpPr>
          <p:cNvPr id="8" name="Text 4"/>
          <p:cNvSpPr txBox="1"/>
          <p:nvPr/>
        </p:nvSpPr>
        <p:spPr>
          <a:xfrm>
            <a:off x="990295" y="1981505"/>
            <a:ext cx="9335110" cy="2181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400" b="1" spc="-252" kern="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선정 기준과</a:t>
            </a:r>
            <a:pPr algn="l" indent="0" marL="0">
              <a:lnSpc>
                <a:spcPct val="102000"/>
              </a:lnSpc>
              <a:buNone/>
            </a:pPr>
            <a:endParaRPr lang="en-US" sz="84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8400" b="1" spc="-252" kern="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20편</a:t>
            </a:r>
            <a:endParaRPr lang="en-US" sz="8400" dirty="0"/>
          </a:p>
        </p:txBody>
      </p:sp>
      <p:sp>
        <p:nvSpPr>
          <p:cNvPr id="9" name="Text 5"/>
          <p:cNvSpPr txBox="1"/>
          <p:nvPr/>
        </p:nvSpPr>
        <p:spPr>
          <a:xfrm>
            <a:off x="990295" y="5081321"/>
            <a:ext cx="9335110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19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imec Institutional Repository에서 BEOL 질의가 849건,</a:t>
            </a:r>
            <a:pPr algn="l" indent="0" marL="0">
              <a:lnSpc>
                <a:spcPts val="3023"/>
              </a:lnSpc>
              <a:buNone/>
            </a:pPr>
            <a:endParaRPr lang="en-US" sz="1950" dirty="0"/>
          </a:p>
          <a:p>
            <a:pPr algn="l" indent="0" marL="0">
              <a:lnSpc>
                <a:spcPts val="3023"/>
              </a:lnSpc>
              <a:buNone/>
            </a:pPr>
            <a:r>
              <a:rPr lang="en-US" sz="19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subject:(interconnect)가 27건을 돌려줍니다.</a:t>
            </a:r>
            <a:endParaRPr lang="en-US" sz="1950" dirty="0"/>
          </a:p>
        </p:txBody>
      </p:sp>
      <p:sp>
        <p:nvSpPr>
          <p:cNvPr id="10" name="Text 6"/>
          <p:cNvSpPr txBox="1"/>
          <p:nvPr/>
        </p:nvSpPr>
        <p:spPr>
          <a:xfrm>
            <a:off x="990295" y="6482182"/>
            <a:ext cx="9335110" cy="767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5"/>
              </a:lnSpc>
              <a:buNone/>
            </a:pPr>
            <a:r>
              <a:rPr lang="en-US" sz="16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849건 중 BEOL 코어 이슈(금속화·패터닝·신뢰성·열)를 다루고,</a:t>
            </a:r>
            <a:pPr algn="l" indent="0" marL="0">
              <a:lnSpc>
                <a:spcPts val="2805"/>
              </a:lnSpc>
              <a:buNone/>
            </a:pPr>
            <a:endParaRPr lang="en-US" sz="1650" dirty="0"/>
          </a:p>
          <a:p>
            <a:pPr algn="l" indent="0" marL="0">
              <a:lnSpc>
                <a:spcPts val="2805"/>
              </a:lnSpc>
              <a:buNone/>
            </a:pPr>
            <a:r>
              <a:rPr lang="en-US" sz="16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전문 또는 수치가 담긴 초록에 접근 가능한 논문 20편을 골랐습니다.</a:t>
            </a:r>
            <a:endParaRPr lang="en-US" sz="1650" dirty="0"/>
          </a:p>
        </p:txBody>
      </p:sp>
      <p:pic>
        <p:nvPicPr>
          <p:cNvPr id="11" name="Image 2" descr="gen-dedup-25f935aed68e744ef2d3d42d47434ce7.png">    </p:cNvPr>
          <p:cNvPicPr>
            <a:picLocks noChangeAspect="1"/>
          </p:cNvPicPr>
          <p:nvPr/>
        </p:nvPicPr>
        <p:blipFill>
          <a:blip r:embed="rId3"/>
          <a:srcRect l="-342" r="-342" t="0" b="0"/>
          <a:stretch/>
        </p:blipFill>
        <p:spPr>
          <a:xfrm>
            <a:off x="990295" y="8210398"/>
            <a:ext cx="38405" cy="4005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23798" y="8238744"/>
            <a:ext cx="7251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금속화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824228" y="8287207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878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pic>
        <p:nvPicPr>
          <p:cNvPr id="14" name="Image 3" descr="gen-dedup-e3b37d4041b32efb0bcd21d27cf896c7.png">    </p:cNvPr>
          <p:cNvPicPr>
            <a:picLocks noChangeAspect="1"/>
          </p:cNvPicPr>
          <p:nvPr/>
        </p:nvPicPr>
        <p:blipFill>
          <a:blip r:embed="rId4"/>
          <a:srcRect l="-342" r="-342" t="0" b="0"/>
          <a:stretch/>
        </p:blipFill>
        <p:spPr>
          <a:xfrm>
            <a:off x="2186330" y="8210398"/>
            <a:ext cx="38405" cy="40050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319833" y="8238744"/>
            <a:ext cx="7251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패터닝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3019349" y="8287207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C9A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pic>
        <p:nvPicPr>
          <p:cNvPr id="17" name="Image 4" descr="gen-dedup-bded46add54221a3535ad7758fa5e98b.png">    </p:cNvPr>
          <p:cNvPicPr>
            <a:picLocks noChangeAspect="1"/>
          </p:cNvPicPr>
          <p:nvPr/>
        </p:nvPicPr>
        <p:blipFill>
          <a:blip r:embed="rId5"/>
          <a:srcRect l="-342" r="-342" t="0" b="0"/>
          <a:stretch/>
        </p:blipFill>
        <p:spPr>
          <a:xfrm>
            <a:off x="3381451" y="8210398"/>
            <a:ext cx="38405" cy="40050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514954" y="8238744"/>
            <a:ext cx="7251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신뢰성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4215384" y="8287207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4A8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500" dirty="0"/>
          </a:p>
        </p:txBody>
      </p:sp>
      <p:pic>
        <p:nvPicPr>
          <p:cNvPr id="20" name="Image 5" descr="gen-dedup-2f56f5ea0b0592bdfc9f5f09d5d5f0d4.png">    </p:cNvPr>
          <p:cNvPicPr>
            <a:picLocks noChangeAspect="1"/>
          </p:cNvPicPr>
          <p:nvPr/>
        </p:nvPicPr>
        <p:blipFill>
          <a:blip r:embed="rId6"/>
          <a:srcRect l="-342" r="-342" t="0" b="0"/>
          <a:stretch/>
        </p:blipFill>
        <p:spPr>
          <a:xfrm>
            <a:off x="4577486" y="8210398"/>
            <a:ext cx="38405" cy="400507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710989" y="8238744"/>
            <a:ext cx="24414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</a:t>
            </a:r>
            <a:endParaRPr lang="en-US" sz="1800" dirty="0"/>
          </a:p>
        </p:txBody>
      </p:sp>
      <p:sp>
        <p:nvSpPr>
          <p:cNvPr id="22" name="Text 14"/>
          <p:cNvSpPr txBox="1"/>
          <p:nvPr/>
        </p:nvSpPr>
        <p:spPr>
          <a:xfrm>
            <a:off x="5007254" y="8287207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89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pic>
        <p:nvPicPr>
          <p:cNvPr id="23" name="Image 6" descr="gen-dedup-16e1f9403c4f5468c03f11b9fe5fb68c.png">    </p:cNvPr>
          <p:cNvPicPr>
            <a:picLocks noChangeAspect="1"/>
          </p:cNvPicPr>
          <p:nvPr/>
        </p:nvPicPr>
        <p:blipFill>
          <a:blip r:embed="rId7"/>
          <a:srcRect l="-342" r="-342" t="0" b="0"/>
          <a:stretch/>
        </p:blipFill>
        <p:spPr>
          <a:xfrm>
            <a:off x="5369357" y="8210398"/>
            <a:ext cx="38405" cy="400507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502859" y="8238744"/>
            <a:ext cx="110916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대체 배선</a:t>
            </a:r>
            <a:endParaRPr lang="en-US" sz="1800" dirty="0"/>
          </a:p>
        </p:txBody>
      </p:sp>
      <p:sp>
        <p:nvSpPr>
          <p:cNvPr id="25" name="Text 16"/>
          <p:cNvSpPr txBox="1"/>
          <p:nvPr/>
        </p:nvSpPr>
        <p:spPr>
          <a:xfrm>
            <a:off x="6456578" y="8287207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B9D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990295" y="8839505"/>
            <a:ext cx="1167689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192" kern="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849</a:t>
            </a:r>
            <a:endParaRPr lang="en-US" sz="4800" dirty="0"/>
          </a:p>
        </p:txBody>
      </p:sp>
      <p:sp>
        <p:nvSpPr>
          <p:cNvPr id="27" name="Text 18"/>
          <p:cNvSpPr txBox="1"/>
          <p:nvPr/>
        </p:nvSpPr>
        <p:spPr>
          <a:xfrm>
            <a:off x="990295" y="9525305"/>
            <a:ext cx="10287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BEOL 질의</a:t>
            </a:r>
            <a:endParaRPr lang="en-US" sz="1275" dirty="0"/>
          </a:p>
        </p:txBody>
      </p:sp>
      <p:sp>
        <p:nvSpPr>
          <p:cNvPr id="28" name="Text 19"/>
          <p:cNvSpPr txBox="1"/>
          <p:nvPr/>
        </p:nvSpPr>
        <p:spPr>
          <a:xfrm>
            <a:off x="3548786" y="8839505"/>
            <a:ext cx="17529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192" kern="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4800" dirty="0"/>
          </a:p>
        </p:txBody>
      </p:sp>
      <p:sp>
        <p:nvSpPr>
          <p:cNvPr id="29" name="Text 20"/>
          <p:cNvSpPr txBox="1"/>
          <p:nvPr/>
        </p:nvSpPr>
        <p:spPr>
          <a:xfrm>
            <a:off x="3548786" y="9525305"/>
            <a:ext cx="208574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subject:(interconnect)</a:t>
            </a:r>
            <a:endParaRPr lang="en-US" sz="1275" dirty="0"/>
          </a:p>
        </p:txBody>
      </p:sp>
      <p:sp>
        <p:nvSpPr>
          <p:cNvPr id="30" name="Text 21"/>
          <p:cNvSpPr txBox="1"/>
          <p:nvPr/>
        </p:nvSpPr>
        <p:spPr>
          <a:xfrm>
            <a:off x="6831482" y="8839505"/>
            <a:ext cx="786384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192" kern="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4800" dirty="0"/>
          </a:p>
        </p:txBody>
      </p:sp>
      <p:sp>
        <p:nvSpPr>
          <p:cNvPr id="31" name="Text 22"/>
          <p:cNvSpPr txBox="1"/>
          <p:nvPr/>
        </p:nvSpPr>
        <p:spPr>
          <a:xfrm>
            <a:off x="6831482" y="9525305"/>
            <a:ext cx="6858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 선정</a:t>
            </a:r>
            <a:endParaRPr lang="en-US" sz="1275" dirty="0"/>
          </a:p>
        </p:txBody>
      </p:sp>
      <p:pic>
        <p:nvPicPr>
          <p:cNvPr id="32" name="Image 7" descr="gen-dedup-cceb2866de696215d348a28c52fe4f47.png">    </p:cNvPr>
          <p:cNvPicPr>
            <a:picLocks noChangeAspect="1"/>
          </p:cNvPicPr>
          <p:nvPr/>
        </p:nvPicPr>
        <p:blipFill>
          <a:blip r:embed="rId8">
            <a:alphaModFix amt="18000"/>
          </a:blip>
          <a:srcRect l="0" r="0" t="-2111" b="-2111"/>
          <a:stretch/>
        </p:blipFill>
        <p:spPr>
          <a:xfrm>
            <a:off x="2777033" y="9153144"/>
            <a:ext cx="9144" cy="609905"/>
          </a:xfrm>
          <a:prstGeom prst="rect">
            <a:avLst/>
          </a:prstGeom>
        </p:spPr>
      </p:pic>
      <p:pic>
        <p:nvPicPr>
          <p:cNvPr id="33" name="Image 8" descr="gen-dedup-cceb2866de696215d348a28c52fe4f47.png">    </p:cNvPr>
          <p:cNvPicPr>
            <a:picLocks noChangeAspect="1"/>
          </p:cNvPicPr>
          <p:nvPr/>
        </p:nvPicPr>
        <p:blipFill>
          <a:blip r:embed="rId9">
            <a:alphaModFix amt="18000"/>
          </a:blip>
          <a:srcRect l="0" r="0" t="-2111" b="-2111"/>
          <a:stretch/>
        </p:blipFill>
        <p:spPr>
          <a:xfrm>
            <a:off x="6059729" y="9153144"/>
            <a:ext cx="9144" cy="6099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161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ac43535d998c5bf8b9efef58f7573332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rcRect l="-2083" r="-2083" t="0" b="0"/>
          <a:stretch/>
        </p:blipFill>
        <p:spPr>
          <a:xfrm>
            <a:off x="990295" y="2438705"/>
            <a:ext cx="12668098" cy="9144"/>
          </a:xfrm>
          <a:prstGeom prst="rect">
            <a:avLst/>
          </a:prstGeom>
        </p:spPr>
      </p:pic>
      <p:pic>
        <p:nvPicPr>
          <p:cNvPr id="4" name="Image 1" descr="gen-dedup-ac43535d998c5bf8b9efef58f7573332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 t="0" b="0"/>
          <a:stretch/>
        </p:blipFill>
        <p:spPr>
          <a:xfrm>
            <a:off x="990295" y="2876702"/>
            <a:ext cx="12668098" cy="9144"/>
          </a:xfrm>
          <a:prstGeom prst="rect">
            <a:avLst/>
          </a:prstGeom>
        </p:spPr>
      </p:pic>
      <p:pic>
        <p:nvPicPr>
          <p:cNvPr id="5" name="Image 2" descr="gen-dedup-ac43535d998c5bf8b9efef58f7573332.png">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 t="0" b="0"/>
          <a:stretch/>
        </p:blipFill>
        <p:spPr>
          <a:xfrm>
            <a:off x="990295" y="8458200"/>
            <a:ext cx="12668098" cy="9144"/>
          </a:xfrm>
          <a:prstGeom prst="rect">
            <a:avLst/>
          </a:prstGeom>
        </p:spPr>
      </p:pic>
      <p:pic>
        <p:nvPicPr>
          <p:cNvPr id="6" name="Image 3" descr="gen-dedup-b0b7fa5da1a912cc9804db9d17e2a4f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7907" y="990295"/>
            <a:ext cx="3619195" cy="39620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990295" y="685800"/>
            <a:ext cx="28867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A39B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SELECTION · BEOL · 20</a:t>
            </a:r>
            <a:endParaRPr lang="en-US" sz="1350" dirty="0"/>
          </a:p>
        </p:txBody>
      </p:sp>
      <p:sp>
        <p:nvSpPr>
          <p:cNvPr id="8" name="Text 2"/>
          <p:cNvSpPr txBox="1"/>
          <p:nvPr/>
        </p:nvSpPr>
        <p:spPr>
          <a:xfrm>
            <a:off x="990295" y="1086307"/>
            <a:ext cx="1028700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849건 중 20편</a:t>
            </a:r>
            <a:endParaRPr lang="en-US" sz="4200" dirty="0"/>
          </a:p>
        </p:txBody>
      </p:sp>
      <p:sp>
        <p:nvSpPr>
          <p:cNvPr id="9" name="Text 3"/>
          <p:cNvSpPr txBox="1"/>
          <p:nvPr/>
        </p:nvSpPr>
        <p:spPr>
          <a:xfrm>
            <a:off x="990295" y="1809598"/>
            <a:ext cx="102870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전문 또는 수치가 담긴 초록에 접근 가능한 논문 20편을 골랐습니다.</a:t>
            </a:r>
            <a:endParaRPr lang="en-US" sz="1650" dirty="0"/>
          </a:p>
        </p:txBody>
      </p:sp>
      <p:sp>
        <p:nvSpPr>
          <p:cNvPr id="10" name="Text 4"/>
          <p:cNvSpPr txBox="1"/>
          <p:nvPr/>
        </p:nvSpPr>
        <p:spPr>
          <a:xfrm>
            <a:off x="13887907" y="5067605"/>
            <a:ext cx="3620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ScienceDirect · 2012</a:t>
            </a:r>
            <a:endParaRPr lang="en-US" sz="1050" dirty="0"/>
          </a:p>
        </p:txBody>
      </p:sp>
      <p:sp>
        <p:nvSpPr>
          <p:cNvPr id="11" name="Text 5"/>
          <p:cNvSpPr txBox="1"/>
          <p:nvPr/>
        </p:nvSpPr>
        <p:spPr>
          <a:xfrm>
            <a:off x="990295" y="2514600"/>
            <a:ext cx="4764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A39B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endParaRPr lang="en-US" sz="975" dirty="0"/>
          </a:p>
        </p:txBody>
      </p:sp>
      <p:sp>
        <p:nvSpPr>
          <p:cNvPr id="12" name="Text 6"/>
          <p:cNvSpPr txBox="1"/>
          <p:nvPr/>
        </p:nvSpPr>
        <p:spPr>
          <a:xfrm>
            <a:off x="1600200" y="2514600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A39B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논문 (제1저자, 연도)</a:t>
            </a:r>
            <a:endParaRPr lang="en-US" sz="975" dirty="0"/>
          </a:p>
        </p:txBody>
      </p:sp>
      <p:sp>
        <p:nvSpPr>
          <p:cNvPr id="13" name="Text 7"/>
          <p:cNvSpPr txBox="1"/>
          <p:nvPr/>
        </p:nvSpPr>
        <p:spPr>
          <a:xfrm>
            <a:off x="7467905" y="2514600"/>
            <a:ext cx="3333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A39B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</a:t>
            </a:r>
            <a:endParaRPr lang="en-US" sz="975" dirty="0"/>
          </a:p>
        </p:txBody>
      </p:sp>
      <p:sp>
        <p:nvSpPr>
          <p:cNvPr id="14" name="Text 8"/>
          <p:cNvSpPr txBox="1"/>
          <p:nvPr/>
        </p:nvSpPr>
        <p:spPr>
          <a:xfrm>
            <a:off x="10992002" y="2514600"/>
            <a:ext cx="12390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A39B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축</a:t>
            </a:r>
            <a:endParaRPr lang="en-US" sz="975" dirty="0"/>
          </a:p>
        </p:txBody>
      </p:sp>
      <p:sp>
        <p:nvSpPr>
          <p:cNvPr id="15" name="Text 9"/>
          <p:cNvSpPr txBox="1"/>
          <p:nvPr/>
        </p:nvSpPr>
        <p:spPr>
          <a:xfrm>
            <a:off x="12363602" y="2514600"/>
            <a:ext cx="12957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A39B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전문 접근</a:t>
            </a:r>
            <a:endParaRPr lang="en-US" sz="975" dirty="0"/>
          </a:p>
        </p:txBody>
      </p:sp>
      <p:sp>
        <p:nvSpPr>
          <p:cNvPr id="16" name="Text 10"/>
          <p:cNvSpPr txBox="1"/>
          <p:nvPr/>
        </p:nvSpPr>
        <p:spPr>
          <a:xfrm>
            <a:off x="990295" y="2991002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600200" y="2991002"/>
            <a:ext cx="5715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Selecting alternative metals for advanced interconnects (Soulié, 2024)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467905" y="299100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J. Appl. Phys. 136, 171101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10992002" y="3090672"/>
            <a:ext cx="66751" cy="66751"/>
          </a:xfrm>
          <a:prstGeom prst="ellipse">
            <a:avLst/>
          </a:prstGeom>
          <a:solidFill>
            <a:srgbClr val="D878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11134649" y="2991002"/>
            <a:ext cx="5312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금속화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12363602" y="2991002"/>
            <a:ext cx="154167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CC BY-NC · arXiv</a:t>
            </a:r>
            <a:endParaRPr lang="en-US" sz="1275" dirty="0"/>
          </a:p>
        </p:txBody>
      </p:sp>
      <p:sp>
        <p:nvSpPr>
          <p:cNvPr id="22" name="Text 16"/>
          <p:cNvSpPr txBox="1"/>
          <p:nvPr/>
        </p:nvSpPr>
        <p:spPr>
          <a:xfrm>
            <a:off x="990295" y="3258007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600200" y="3258007"/>
            <a:ext cx="64008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</a:t>
            </a:r>
            <a:pPr algn="l" indent="0" marL="0">
              <a:buNone/>
            </a:pPr>
            <a:r>
              <a:rPr lang="en-US" sz="12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1−x</a:t>
            </a:r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</a:t>
            </a:r>
            <a:pPr algn="l" indent="0" marL="0">
              <a:buNone/>
            </a:pPr>
            <a:r>
              <a:rPr lang="en-US" sz="12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films as alternatives to copper (Soulié, 2024)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467905" y="32580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JVST B 42, 043203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10992002" y="3357677"/>
            <a:ext cx="66751" cy="66751"/>
          </a:xfrm>
          <a:prstGeom prst="ellipse">
            <a:avLst/>
          </a:prstGeom>
          <a:solidFill>
            <a:srgbClr val="D878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11134649" y="3258007"/>
            <a:ext cx="5312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금속화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12363602" y="3258007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arXiv</a:t>
            </a:r>
            <a:endParaRPr lang="en-US" sz="1275" dirty="0"/>
          </a:p>
        </p:txBody>
      </p:sp>
      <p:sp>
        <p:nvSpPr>
          <p:cNvPr id="28" name="Text 22"/>
          <p:cNvSpPr txBox="1"/>
          <p:nvPr/>
        </p:nvSpPr>
        <p:spPr>
          <a:xfrm>
            <a:off x="990295" y="3524098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600200" y="3524098"/>
            <a:ext cx="64008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First-principles screening of anisotropic metals (Moors, 2022)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7467905" y="352409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Phys. Rev. Mater. 6, 123804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10992002" y="3624682"/>
            <a:ext cx="66751" cy="66751"/>
          </a:xfrm>
          <a:prstGeom prst="ellipse">
            <a:avLst/>
          </a:prstGeom>
          <a:solidFill>
            <a:srgbClr val="D878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1134649" y="3524098"/>
            <a:ext cx="5312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금속화</a:t>
            </a:r>
            <a:endParaRPr lang="en-US" sz="1350" dirty="0"/>
          </a:p>
        </p:txBody>
      </p:sp>
      <p:sp>
        <p:nvSpPr>
          <p:cNvPr id="33" name="Text 27"/>
          <p:cNvSpPr txBox="1"/>
          <p:nvPr/>
        </p:nvSpPr>
        <p:spPr>
          <a:xfrm>
            <a:off x="12363602" y="3524098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arXiv</a:t>
            </a:r>
            <a:endParaRPr lang="en-US" sz="1275" dirty="0"/>
          </a:p>
        </p:txBody>
      </p:sp>
      <p:sp>
        <p:nvSpPr>
          <p:cNvPr id="34" name="Text 28"/>
          <p:cNvSpPr txBox="1"/>
          <p:nvPr/>
        </p:nvSpPr>
        <p:spPr>
          <a:xfrm>
            <a:off x="990295" y="3791102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1600200" y="3791102"/>
            <a:ext cx="64008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 initio screening of metallic MAX ceramics (Sankaran, 2021)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7467905" y="379110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Phys. Rev. Mater. 5, 056002</a:t>
            </a:r>
            <a:endParaRPr lang="en-US" sz="1350" dirty="0"/>
          </a:p>
        </p:txBody>
      </p:sp>
      <p:sp>
        <p:nvSpPr>
          <p:cNvPr id="37" name="Shape 31"/>
          <p:cNvSpPr/>
          <p:nvPr/>
        </p:nvSpPr>
        <p:spPr>
          <a:xfrm>
            <a:off x="10992002" y="3890772"/>
            <a:ext cx="66751" cy="66751"/>
          </a:xfrm>
          <a:prstGeom prst="ellipse">
            <a:avLst/>
          </a:prstGeom>
          <a:solidFill>
            <a:srgbClr val="D878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11134649" y="3791102"/>
            <a:ext cx="5312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금속화</a:t>
            </a:r>
            <a:endParaRPr lang="en-US" sz="1350" dirty="0"/>
          </a:p>
        </p:txBody>
      </p:sp>
      <p:sp>
        <p:nvSpPr>
          <p:cNvPr id="39" name="Text 33"/>
          <p:cNvSpPr txBox="1"/>
          <p:nvPr/>
        </p:nvSpPr>
        <p:spPr>
          <a:xfrm>
            <a:off x="12363602" y="3791102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arXiv</a:t>
            </a:r>
            <a:endParaRPr lang="en-US" sz="1275" dirty="0"/>
          </a:p>
        </p:txBody>
      </p:sp>
      <p:sp>
        <p:nvSpPr>
          <p:cNvPr id="40" name="Text 34"/>
          <p:cNvSpPr txBox="1"/>
          <p:nvPr/>
        </p:nvSpPr>
        <p:spPr>
          <a:xfrm>
            <a:off x="990295" y="4058107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1600200" y="4058107"/>
            <a:ext cx="64008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Thermally induced anomaly in 18 nm pitch Ru (Shah, 2026)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7467905" y="4058107"/>
            <a:ext cx="392094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ACS Appl. Mater. Interfaces 18, 20763</a:t>
            </a:r>
            <a:endParaRPr lang="en-US" sz="1350" dirty="0"/>
          </a:p>
        </p:txBody>
      </p:sp>
      <p:sp>
        <p:nvSpPr>
          <p:cNvPr id="43" name="Shape 37"/>
          <p:cNvSpPr/>
          <p:nvPr/>
        </p:nvSpPr>
        <p:spPr>
          <a:xfrm>
            <a:off x="10992002" y="4157777"/>
            <a:ext cx="66751" cy="66751"/>
          </a:xfrm>
          <a:prstGeom prst="ellipse">
            <a:avLst/>
          </a:prstGeom>
          <a:solidFill>
            <a:srgbClr val="D878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11134649" y="4058107"/>
            <a:ext cx="5312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금속화</a:t>
            </a:r>
            <a:endParaRPr lang="en-US" sz="1350" dirty="0"/>
          </a:p>
        </p:txBody>
      </p:sp>
      <p:sp>
        <p:nvSpPr>
          <p:cNvPr id="45" name="Text 39"/>
          <p:cNvSpPr txBox="1"/>
          <p:nvPr/>
        </p:nvSpPr>
        <p:spPr>
          <a:xfrm>
            <a:off x="12363602" y="4058107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(초록만)</a:t>
            </a:r>
            <a:endParaRPr lang="en-US" sz="1275" dirty="0"/>
          </a:p>
        </p:txBody>
      </p:sp>
      <p:sp>
        <p:nvSpPr>
          <p:cNvPr id="46" name="Text 40"/>
          <p:cNvSpPr txBox="1"/>
          <p:nvPr/>
        </p:nvSpPr>
        <p:spPr>
          <a:xfrm>
            <a:off x="990295" y="4324198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200" dirty="0"/>
          </a:p>
        </p:txBody>
      </p:sp>
      <p:sp>
        <p:nvSpPr>
          <p:cNvPr id="47" name="Text 41"/>
          <p:cNvSpPr txBox="1"/>
          <p:nvPr/>
        </p:nvSpPr>
        <p:spPr>
          <a:xfrm>
            <a:off x="1600200" y="4324198"/>
            <a:ext cx="5715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Two metal level semi-damascene with FSAV at 18MP (Murdoch, 2022)</a:t>
            </a:r>
            <a:endParaRPr lang="en-US" sz="1500" dirty="0"/>
          </a:p>
        </p:txBody>
      </p:sp>
      <p:sp>
        <p:nvSpPr>
          <p:cNvPr id="48" name="Text 42"/>
          <p:cNvSpPr txBox="1"/>
          <p:nvPr/>
        </p:nvSpPr>
        <p:spPr>
          <a:xfrm>
            <a:off x="7467905" y="432419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VLSI Symp. 2022</a:t>
            </a:r>
            <a:endParaRPr lang="en-US" sz="1350" dirty="0"/>
          </a:p>
        </p:txBody>
      </p:sp>
      <p:sp>
        <p:nvSpPr>
          <p:cNvPr id="49" name="Shape 43"/>
          <p:cNvSpPr/>
          <p:nvPr/>
        </p:nvSpPr>
        <p:spPr>
          <a:xfrm>
            <a:off x="10992002" y="4424782"/>
            <a:ext cx="66751" cy="66751"/>
          </a:xfrm>
          <a:prstGeom prst="ellipse">
            <a:avLst/>
          </a:prstGeom>
          <a:solidFill>
            <a:srgbClr val="5C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11134649" y="4324198"/>
            <a:ext cx="5312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패터닝</a:t>
            </a:r>
            <a:endParaRPr lang="en-US" sz="1350" dirty="0"/>
          </a:p>
        </p:txBody>
      </p:sp>
      <p:sp>
        <p:nvSpPr>
          <p:cNvPr id="51" name="Text 45"/>
          <p:cNvSpPr txBox="1"/>
          <p:nvPr/>
        </p:nvSpPr>
        <p:spPr>
          <a:xfrm>
            <a:off x="12363602" y="4324198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imec 무료 전문</a:t>
            </a:r>
            <a:endParaRPr lang="en-US" sz="1275" dirty="0"/>
          </a:p>
        </p:txBody>
      </p:sp>
      <p:sp>
        <p:nvSpPr>
          <p:cNvPr id="52" name="Text 46"/>
          <p:cNvSpPr txBox="1"/>
          <p:nvPr/>
        </p:nvSpPr>
        <p:spPr>
          <a:xfrm>
            <a:off x="990295" y="4591202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200" dirty="0"/>
          </a:p>
        </p:txBody>
      </p:sp>
      <p:sp>
        <p:nvSpPr>
          <p:cNvPr id="53" name="Text 47"/>
          <p:cNvSpPr txBox="1"/>
          <p:nvPr/>
        </p:nvSpPr>
        <p:spPr>
          <a:xfrm>
            <a:off x="1600200" y="4591202"/>
            <a:ext cx="64008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3-level high aspect ratio supervias (Montero Alvarez, 2022)</a:t>
            </a:r>
            <a:endParaRPr lang="en-US" sz="1500" dirty="0"/>
          </a:p>
        </p:txBody>
      </p:sp>
      <p:sp>
        <p:nvSpPr>
          <p:cNvPr id="54" name="Text 48"/>
          <p:cNvSpPr txBox="1"/>
          <p:nvPr/>
        </p:nvSpPr>
        <p:spPr>
          <a:xfrm>
            <a:off x="7467905" y="459120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IITC 2022</a:t>
            </a:r>
            <a:endParaRPr lang="en-US" sz="1350" dirty="0"/>
          </a:p>
        </p:txBody>
      </p:sp>
      <p:sp>
        <p:nvSpPr>
          <p:cNvPr id="55" name="Shape 49"/>
          <p:cNvSpPr/>
          <p:nvPr/>
        </p:nvSpPr>
        <p:spPr>
          <a:xfrm>
            <a:off x="10992002" y="4690872"/>
            <a:ext cx="66751" cy="66751"/>
          </a:xfrm>
          <a:prstGeom prst="ellipse">
            <a:avLst/>
          </a:prstGeom>
          <a:solidFill>
            <a:srgbClr val="5C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11134649" y="4591202"/>
            <a:ext cx="5312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패터닝</a:t>
            </a:r>
            <a:endParaRPr lang="en-US" sz="1350" dirty="0"/>
          </a:p>
        </p:txBody>
      </p:sp>
      <p:sp>
        <p:nvSpPr>
          <p:cNvPr id="57" name="Text 51"/>
          <p:cNvSpPr txBox="1"/>
          <p:nvPr/>
        </p:nvSpPr>
        <p:spPr>
          <a:xfrm>
            <a:off x="12363602" y="4591202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imec 무료 전문</a:t>
            </a:r>
            <a:endParaRPr lang="en-US" sz="1275" dirty="0"/>
          </a:p>
        </p:txBody>
      </p:sp>
      <p:sp>
        <p:nvSpPr>
          <p:cNvPr id="58" name="Text 52"/>
          <p:cNvSpPr txBox="1"/>
          <p:nvPr/>
        </p:nvSpPr>
        <p:spPr>
          <a:xfrm>
            <a:off x="990295" y="4858207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200" dirty="0"/>
          </a:p>
        </p:txBody>
      </p:sp>
      <p:sp>
        <p:nvSpPr>
          <p:cNvPr id="59" name="Text 53"/>
          <p:cNvSpPr txBox="1"/>
          <p:nvPr/>
        </p:nvSpPr>
        <p:spPr>
          <a:xfrm>
            <a:off x="1600200" y="4858207"/>
            <a:ext cx="64008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Scatterometry for 14 nm half-pitch BEOL EUV (Das, 2021)</a:t>
            </a:r>
            <a:endParaRPr lang="en-US" sz="1500" dirty="0"/>
          </a:p>
        </p:txBody>
      </p:sp>
      <p:sp>
        <p:nvSpPr>
          <p:cNvPr id="60" name="Text 54"/>
          <p:cNvSpPr txBox="1"/>
          <p:nvPr/>
        </p:nvSpPr>
        <p:spPr>
          <a:xfrm>
            <a:off x="7467905" y="4858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Proc. SPIE 11611, 116112A</a:t>
            </a:r>
            <a:endParaRPr lang="en-US" sz="1350" dirty="0"/>
          </a:p>
        </p:txBody>
      </p:sp>
      <p:sp>
        <p:nvSpPr>
          <p:cNvPr id="61" name="Shape 55"/>
          <p:cNvSpPr/>
          <p:nvPr/>
        </p:nvSpPr>
        <p:spPr>
          <a:xfrm>
            <a:off x="10992002" y="4957877"/>
            <a:ext cx="66751" cy="66751"/>
          </a:xfrm>
          <a:prstGeom prst="ellipse">
            <a:avLst/>
          </a:prstGeom>
          <a:solidFill>
            <a:srgbClr val="5C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11134649" y="4858207"/>
            <a:ext cx="5312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패터닝</a:t>
            </a:r>
            <a:endParaRPr lang="en-US" sz="1350" dirty="0"/>
          </a:p>
        </p:txBody>
      </p:sp>
      <p:sp>
        <p:nvSpPr>
          <p:cNvPr id="63" name="Text 57"/>
          <p:cNvSpPr txBox="1"/>
          <p:nvPr/>
        </p:nvSpPr>
        <p:spPr>
          <a:xfrm>
            <a:off x="12363602" y="4858207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벤더 리프린트</a:t>
            </a:r>
            <a:endParaRPr lang="en-US" sz="1275" dirty="0"/>
          </a:p>
        </p:txBody>
      </p:sp>
      <p:sp>
        <p:nvSpPr>
          <p:cNvPr id="64" name="Text 58"/>
          <p:cNvSpPr txBox="1"/>
          <p:nvPr/>
        </p:nvSpPr>
        <p:spPr>
          <a:xfrm>
            <a:off x="990295" y="5124298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200" dirty="0"/>
          </a:p>
        </p:txBody>
      </p:sp>
      <p:sp>
        <p:nvSpPr>
          <p:cNvPr id="65" name="Text 59"/>
          <p:cNvSpPr txBox="1"/>
          <p:nvPr/>
        </p:nvSpPr>
        <p:spPr>
          <a:xfrm>
            <a:off x="1600200" y="5124298"/>
            <a:ext cx="5715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 in redundant mesh networks (Zahedmanesh, 2024)</a:t>
            </a:r>
            <a:endParaRPr lang="en-US" sz="1500" dirty="0"/>
          </a:p>
        </p:txBody>
      </p:sp>
      <p:sp>
        <p:nvSpPr>
          <p:cNvPr id="66" name="Text 60"/>
          <p:cNvSpPr txBox="1"/>
          <p:nvPr/>
        </p:nvSpPr>
        <p:spPr>
          <a:xfrm>
            <a:off x="7467905" y="512429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Micromachines 15, 956</a:t>
            </a:r>
            <a:endParaRPr lang="en-US" sz="1350" dirty="0"/>
          </a:p>
        </p:txBody>
      </p:sp>
      <p:sp>
        <p:nvSpPr>
          <p:cNvPr id="67" name="Shape 61"/>
          <p:cNvSpPr/>
          <p:nvPr/>
        </p:nvSpPr>
        <p:spPr>
          <a:xfrm>
            <a:off x="10992002" y="5224882"/>
            <a:ext cx="66751" cy="66751"/>
          </a:xfrm>
          <a:prstGeom prst="ellipse">
            <a:avLst/>
          </a:prstGeom>
          <a:solidFill>
            <a:srgbClr val="D4A8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11134649" y="5124298"/>
            <a:ext cx="5312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신뢰성</a:t>
            </a:r>
            <a:endParaRPr lang="en-US" sz="1350" dirty="0"/>
          </a:p>
        </p:txBody>
      </p:sp>
      <p:sp>
        <p:nvSpPr>
          <p:cNvPr id="69" name="Text 63"/>
          <p:cNvSpPr txBox="1"/>
          <p:nvPr/>
        </p:nvSpPr>
        <p:spPr>
          <a:xfrm>
            <a:off x="12363602" y="5124298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CC BY</a:t>
            </a:r>
            <a:endParaRPr lang="en-US" sz="1275" dirty="0"/>
          </a:p>
        </p:txBody>
      </p:sp>
      <p:sp>
        <p:nvSpPr>
          <p:cNvPr id="70" name="Text 64"/>
          <p:cNvSpPr txBox="1"/>
          <p:nvPr/>
        </p:nvSpPr>
        <p:spPr>
          <a:xfrm>
            <a:off x="990295" y="5391302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200" dirty="0"/>
          </a:p>
        </p:txBody>
      </p:sp>
      <p:sp>
        <p:nvSpPr>
          <p:cNvPr id="71" name="Text 65"/>
          <p:cNvSpPr txBox="1"/>
          <p:nvPr/>
        </p:nvSpPr>
        <p:spPr>
          <a:xfrm>
            <a:off x="1600200" y="5391302"/>
            <a:ext cx="59436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Unit-cell EM compliance in VLSI PDN (Esposto, 2025)</a:t>
            </a:r>
            <a:endParaRPr lang="en-US" sz="1500" dirty="0"/>
          </a:p>
        </p:txBody>
      </p:sp>
      <p:sp>
        <p:nvSpPr>
          <p:cNvPr id="72" name="Text 66"/>
          <p:cNvSpPr txBox="1"/>
          <p:nvPr/>
        </p:nvSpPr>
        <p:spPr>
          <a:xfrm>
            <a:off x="7467905" y="539130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IEEE TDMR 25, 232</a:t>
            </a:r>
            <a:endParaRPr lang="en-US" sz="1350" dirty="0"/>
          </a:p>
        </p:txBody>
      </p:sp>
      <p:sp>
        <p:nvSpPr>
          <p:cNvPr id="73" name="Shape 67"/>
          <p:cNvSpPr/>
          <p:nvPr/>
        </p:nvSpPr>
        <p:spPr>
          <a:xfrm>
            <a:off x="10992002" y="5490972"/>
            <a:ext cx="66751" cy="66751"/>
          </a:xfrm>
          <a:prstGeom prst="ellipse">
            <a:avLst/>
          </a:prstGeom>
          <a:solidFill>
            <a:srgbClr val="D4A8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68"/>
          <p:cNvSpPr txBox="1"/>
          <p:nvPr/>
        </p:nvSpPr>
        <p:spPr>
          <a:xfrm>
            <a:off x="11134649" y="5391302"/>
            <a:ext cx="5312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신뢰성</a:t>
            </a:r>
            <a:endParaRPr lang="en-US" sz="1350" dirty="0"/>
          </a:p>
        </p:txBody>
      </p:sp>
      <p:sp>
        <p:nvSpPr>
          <p:cNvPr id="75" name="Text 69"/>
          <p:cNvSpPr txBox="1"/>
          <p:nvPr/>
        </p:nvSpPr>
        <p:spPr>
          <a:xfrm>
            <a:off x="12363602" y="5391302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Green OA</a:t>
            </a:r>
            <a:endParaRPr lang="en-US" sz="1275" dirty="0"/>
          </a:p>
        </p:txBody>
      </p:sp>
      <p:sp>
        <p:nvSpPr>
          <p:cNvPr id="76" name="Text 70"/>
          <p:cNvSpPr txBox="1"/>
          <p:nvPr/>
        </p:nvSpPr>
        <p:spPr>
          <a:xfrm>
            <a:off x="990295" y="5658307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200" dirty="0"/>
          </a:p>
        </p:txBody>
      </p:sp>
      <p:sp>
        <p:nvSpPr>
          <p:cNvPr id="77" name="Text 71"/>
          <p:cNvSpPr txBox="1"/>
          <p:nvPr/>
        </p:nvSpPr>
        <p:spPr>
          <a:xfrm>
            <a:off x="1600200" y="5658307"/>
            <a:ext cx="59436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3D modeling of BEOL TDDB, sub-20 nm HP (Fang, 2025)</a:t>
            </a:r>
            <a:endParaRPr lang="en-US" sz="1500" dirty="0"/>
          </a:p>
        </p:txBody>
      </p:sp>
      <p:sp>
        <p:nvSpPr>
          <p:cNvPr id="78" name="Text 72"/>
          <p:cNvSpPr txBox="1"/>
          <p:nvPr/>
        </p:nvSpPr>
        <p:spPr>
          <a:xfrm>
            <a:off x="7467905" y="56583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IEEE TED 72, 2165</a:t>
            </a:r>
            <a:endParaRPr lang="en-US" sz="1350" dirty="0"/>
          </a:p>
        </p:txBody>
      </p:sp>
      <p:sp>
        <p:nvSpPr>
          <p:cNvPr id="79" name="Shape 73"/>
          <p:cNvSpPr/>
          <p:nvPr/>
        </p:nvSpPr>
        <p:spPr>
          <a:xfrm>
            <a:off x="10992002" y="5757977"/>
            <a:ext cx="66751" cy="66751"/>
          </a:xfrm>
          <a:prstGeom prst="ellipse">
            <a:avLst/>
          </a:prstGeom>
          <a:solidFill>
            <a:srgbClr val="D4A8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74"/>
          <p:cNvSpPr txBox="1"/>
          <p:nvPr/>
        </p:nvSpPr>
        <p:spPr>
          <a:xfrm>
            <a:off x="11134649" y="5658307"/>
            <a:ext cx="5312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신뢰성</a:t>
            </a:r>
            <a:endParaRPr lang="en-US" sz="1350" dirty="0"/>
          </a:p>
        </p:txBody>
      </p:sp>
      <p:sp>
        <p:nvSpPr>
          <p:cNvPr id="81" name="Text 75"/>
          <p:cNvSpPr txBox="1"/>
          <p:nvPr/>
        </p:nvSpPr>
        <p:spPr>
          <a:xfrm>
            <a:off x="12363602" y="5658307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</a:t>
            </a:r>
            <a:endParaRPr lang="en-US" sz="1275" dirty="0"/>
          </a:p>
        </p:txBody>
      </p:sp>
      <p:sp>
        <p:nvSpPr>
          <p:cNvPr id="82" name="Text 76"/>
          <p:cNvSpPr txBox="1"/>
          <p:nvPr/>
        </p:nvSpPr>
        <p:spPr>
          <a:xfrm>
            <a:off x="990295" y="5924398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200" dirty="0"/>
          </a:p>
        </p:txBody>
      </p:sp>
      <p:sp>
        <p:nvSpPr>
          <p:cNvPr id="83" name="Text 77"/>
          <p:cNvSpPr txBox="1"/>
          <p:nvPr/>
        </p:nvSpPr>
        <p:spPr>
          <a:xfrm>
            <a:off x="1600200" y="5924398"/>
            <a:ext cx="5715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understanding of BEOL TDDB lifetime models (Croes, 2015)</a:t>
            </a:r>
            <a:endParaRPr lang="en-US" sz="1500" dirty="0"/>
          </a:p>
        </p:txBody>
      </p:sp>
      <p:sp>
        <p:nvSpPr>
          <p:cNvPr id="84" name="Text 78"/>
          <p:cNvSpPr txBox="1"/>
          <p:nvPr/>
        </p:nvSpPr>
        <p:spPr>
          <a:xfrm>
            <a:off x="7467905" y="592439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ECS JSS 4, N3094</a:t>
            </a:r>
            <a:endParaRPr lang="en-US" sz="1350" dirty="0"/>
          </a:p>
        </p:txBody>
      </p:sp>
      <p:sp>
        <p:nvSpPr>
          <p:cNvPr id="85" name="Shape 79"/>
          <p:cNvSpPr/>
          <p:nvPr/>
        </p:nvSpPr>
        <p:spPr>
          <a:xfrm>
            <a:off x="10992002" y="6024982"/>
            <a:ext cx="66751" cy="66751"/>
          </a:xfrm>
          <a:prstGeom prst="ellipse">
            <a:avLst/>
          </a:prstGeom>
          <a:solidFill>
            <a:srgbClr val="D4A8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Text 80"/>
          <p:cNvSpPr txBox="1"/>
          <p:nvPr/>
        </p:nvSpPr>
        <p:spPr>
          <a:xfrm>
            <a:off x="11134649" y="5924398"/>
            <a:ext cx="5312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신뢰성</a:t>
            </a:r>
            <a:endParaRPr lang="en-US" sz="1350" dirty="0"/>
          </a:p>
        </p:txBody>
      </p:sp>
      <p:sp>
        <p:nvSpPr>
          <p:cNvPr id="87" name="Text 81"/>
          <p:cNvSpPr txBox="1"/>
          <p:nvPr/>
        </p:nvSpPr>
        <p:spPr>
          <a:xfrm>
            <a:off x="12363602" y="5924398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CC BY-NC-ND</a:t>
            </a:r>
            <a:endParaRPr lang="en-US" sz="1275" dirty="0"/>
          </a:p>
        </p:txBody>
      </p:sp>
      <p:sp>
        <p:nvSpPr>
          <p:cNvPr id="88" name="Text 82"/>
          <p:cNvSpPr txBox="1"/>
          <p:nvPr/>
        </p:nvSpPr>
        <p:spPr>
          <a:xfrm>
            <a:off x="990295" y="6191402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200" dirty="0"/>
          </a:p>
        </p:txBody>
      </p:sp>
      <p:sp>
        <p:nvSpPr>
          <p:cNvPr id="89" name="Text 83"/>
          <p:cNvSpPr txBox="1"/>
          <p:nvPr/>
        </p:nvSpPr>
        <p:spPr>
          <a:xfrm>
            <a:off x="1600200" y="6191402"/>
            <a:ext cx="64008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LER and spacing variability on BEOL TDDB (Kocaay, 2017)</a:t>
            </a:r>
            <a:endParaRPr lang="en-US" sz="1500" dirty="0"/>
          </a:p>
        </p:txBody>
      </p:sp>
      <p:sp>
        <p:nvSpPr>
          <p:cNvPr id="90" name="Text 84"/>
          <p:cNvSpPr txBox="1"/>
          <p:nvPr/>
        </p:nvSpPr>
        <p:spPr>
          <a:xfrm>
            <a:off x="7467905" y="6191402"/>
            <a:ext cx="350946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Microelectron. Reliab. 76-77, 131</a:t>
            </a:r>
            <a:endParaRPr lang="en-US" sz="1350" dirty="0"/>
          </a:p>
        </p:txBody>
      </p:sp>
      <p:sp>
        <p:nvSpPr>
          <p:cNvPr id="91" name="Shape 85"/>
          <p:cNvSpPr/>
          <p:nvPr/>
        </p:nvSpPr>
        <p:spPr>
          <a:xfrm>
            <a:off x="10992002" y="6291072"/>
            <a:ext cx="66751" cy="66751"/>
          </a:xfrm>
          <a:prstGeom prst="ellipse">
            <a:avLst/>
          </a:prstGeom>
          <a:solidFill>
            <a:srgbClr val="D4A8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Text 86"/>
          <p:cNvSpPr txBox="1"/>
          <p:nvPr/>
        </p:nvSpPr>
        <p:spPr>
          <a:xfrm>
            <a:off x="11134649" y="6191402"/>
            <a:ext cx="5312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신뢰성</a:t>
            </a:r>
            <a:endParaRPr lang="en-US" sz="1350" dirty="0"/>
          </a:p>
        </p:txBody>
      </p:sp>
      <p:sp>
        <p:nvSpPr>
          <p:cNvPr id="93" name="Text 87"/>
          <p:cNvSpPr txBox="1"/>
          <p:nvPr/>
        </p:nvSpPr>
        <p:spPr>
          <a:xfrm>
            <a:off x="12363602" y="6191402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</a:t>
            </a:r>
            <a:endParaRPr lang="en-US" sz="1275" dirty="0"/>
          </a:p>
        </p:txBody>
      </p:sp>
      <p:sp>
        <p:nvSpPr>
          <p:cNvPr id="94" name="Text 88"/>
          <p:cNvSpPr txBox="1"/>
          <p:nvPr/>
        </p:nvSpPr>
        <p:spPr>
          <a:xfrm>
            <a:off x="990295" y="6458407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200" dirty="0"/>
          </a:p>
        </p:txBody>
      </p:sp>
      <p:sp>
        <p:nvSpPr>
          <p:cNvPr id="95" name="Text 89"/>
          <p:cNvSpPr txBox="1"/>
          <p:nvPr/>
        </p:nvSpPr>
        <p:spPr>
          <a:xfrm>
            <a:off x="1600200" y="6458407"/>
            <a:ext cx="5715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In-situ SEM of fracture during BEOL microbeam bending (Vanstreels, 2014)</a:t>
            </a:r>
            <a:endParaRPr lang="en-US" sz="1500" dirty="0"/>
          </a:p>
        </p:txBody>
      </p:sp>
      <p:sp>
        <p:nvSpPr>
          <p:cNvPr id="96" name="Text 90"/>
          <p:cNvSpPr txBox="1"/>
          <p:nvPr/>
        </p:nvSpPr>
        <p:spPr>
          <a:xfrm>
            <a:off x="7467905" y="64584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Appl. Phys. Lett. 105, 213102</a:t>
            </a:r>
            <a:endParaRPr lang="en-US" sz="1350" dirty="0"/>
          </a:p>
        </p:txBody>
      </p:sp>
      <p:sp>
        <p:nvSpPr>
          <p:cNvPr id="97" name="Shape 91"/>
          <p:cNvSpPr/>
          <p:nvPr/>
        </p:nvSpPr>
        <p:spPr>
          <a:xfrm>
            <a:off x="10992002" y="6558077"/>
            <a:ext cx="66751" cy="66751"/>
          </a:xfrm>
          <a:prstGeom prst="ellipse">
            <a:avLst/>
          </a:prstGeom>
          <a:solidFill>
            <a:srgbClr val="D4A8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Text 92"/>
          <p:cNvSpPr txBox="1"/>
          <p:nvPr/>
        </p:nvSpPr>
        <p:spPr>
          <a:xfrm>
            <a:off x="11134649" y="6458407"/>
            <a:ext cx="5312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신뢰성</a:t>
            </a:r>
            <a:endParaRPr lang="en-US" sz="1350" dirty="0"/>
          </a:p>
        </p:txBody>
      </p:sp>
      <p:sp>
        <p:nvSpPr>
          <p:cNvPr id="99" name="Text 93"/>
          <p:cNvSpPr txBox="1"/>
          <p:nvPr/>
        </p:nvSpPr>
        <p:spPr>
          <a:xfrm>
            <a:off x="12363602" y="6458407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Bronze OA</a:t>
            </a:r>
            <a:endParaRPr lang="en-US" sz="1275" dirty="0"/>
          </a:p>
        </p:txBody>
      </p:sp>
      <p:sp>
        <p:nvSpPr>
          <p:cNvPr id="100" name="Text 94"/>
          <p:cNvSpPr txBox="1"/>
          <p:nvPr/>
        </p:nvSpPr>
        <p:spPr>
          <a:xfrm>
            <a:off x="990295" y="6724498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200" dirty="0"/>
          </a:p>
        </p:txBody>
      </p:sp>
      <p:sp>
        <p:nvSpPr>
          <p:cNvPr id="101" name="Text 95"/>
          <p:cNvSpPr txBox="1"/>
          <p:nvPr/>
        </p:nvSpPr>
        <p:spPr>
          <a:xfrm>
            <a:off x="1600200" y="6724498"/>
            <a:ext cx="5715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LF noise in BEOL MIM capacitors (Giusi, 2025)</a:t>
            </a:r>
            <a:endParaRPr lang="en-US" sz="1500" dirty="0"/>
          </a:p>
        </p:txBody>
      </p:sp>
      <p:sp>
        <p:nvSpPr>
          <p:cNvPr id="102" name="Text 96"/>
          <p:cNvSpPr txBox="1"/>
          <p:nvPr/>
        </p:nvSpPr>
        <p:spPr>
          <a:xfrm>
            <a:off x="7467905" y="672449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IEEE TED 72, 1933</a:t>
            </a:r>
            <a:endParaRPr lang="en-US" sz="1350" dirty="0"/>
          </a:p>
        </p:txBody>
      </p:sp>
      <p:sp>
        <p:nvSpPr>
          <p:cNvPr id="103" name="Shape 97"/>
          <p:cNvSpPr/>
          <p:nvPr/>
        </p:nvSpPr>
        <p:spPr>
          <a:xfrm>
            <a:off x="10992002" y="6825082"/>
            <a:ext cx="66751" cy="66751"/>
          </a:xfrm>
          <a:prstGeom prst="ellipse">
            <a:avLst/>
          </a:prstGeom>
          <a:solidFill>
            <a:srgbClr val="D4A8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Text 98"/>
          <p:cNvSpPr txBox="1"/>
          <p:nvPr/>
        </p:nvSpPr>
        <p:spPr>
          <a:xfrm>
            <a:off x="11134649" y="6724498"/>
            <a:ext cx="5312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신뢰성</a:t>
            </a:r>
            <a:endParaRPr lang="en-US" sz="1350" dirty="0"/>
          </a:p>
        </p:txBody>
      </p:sp>
      <p:sp>
        <p:nvSpPr>
          <p:cNvPr id="105" name="Text 99"/>
          <p:cNvSpPr txBox="1"/>
          <p:nvPr/>
        </p:nvSpPr>
        <p:spPr>
          <a:xfrm>
            <a:off x="12363602" y="6724498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imec 무료 전문</a:t>
            </a:r>
            <a:endParaRPr lang="en-US" sz="1275" dirty="0"/>
          </a:p>
        </p:txBody>
      </p:sp>
      <p:sp>
        <p:nvSpPr>
          <p:cNvPr id="106" name="Text 100"/>
          <p:cNvSpPr txBox="1"/>
          <p:nvPr/>
        </p:nvSpPr>
        <p:spPr>
          <a:xfrm>
            <a:off x="990295" y="6991502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1200" dirty="0"/>
          </a:p>
        </p:txBody>
      </p:sp>
      <p:sp>
        <p:nvSpPr>
          <p:cNvPr id="107" name="Text 101"/>
          <p:cNvSpPr txBox="1"/>
          <p:nvPr/>
        </p:nvSpPr>
        <p:spPr>
          <a:xfrm>
            <a:off x="1600200" y="6991502"/>
            <a:ext cx="64008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Thermal modeling for BEOL and BSPDN stacks (Chang, 2024)</a:t>
            </a:r>
            <a:endParaRPr lang="en-US" sz="1500" dirty="0"/>
          </a:p>
        </p:txBody>
      </p:sp>
      <p:sp>
        <p:nvSpPr>
          <p:cNvPr id="108" name="Text 102"/>
          <p:cNvSpPr txBox="1"/>
          <p:nvPr/>
        </p:nvSpPr>
        <p:spPr>
          <a:xfrm>
            <a:off x="7467905" y="699150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ECTC 2024, p.498</a:t>
            </a:r>
            <a:endParaRPr lang="en-US" sz="1350" dirty="0"/>
          </a:p>
        </p:txBody>
      </p:sp>
      <p:sp>
        <p:nvSpPr>
          <p:cNvPr id="109" name="Shape 103"/>
          <p:cNvSpPr/>
          <p:nvPr/>
        </p:nvSpPr>
        <p:spPr>
          <a:xfrm>
            <a:off x="10992002" y="7091172"/>
            <a:ext cx="66751" cy="66751"/>
          </a:xfrm>
          <a:prstGeom prst="ellipse">
            <a:avLst/>
          </a:prstGeom>
          <a:solidFill>
            <a:srgbClr val="9B89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Text 104"/>
          <p:cNvSpPr txBox="1"/>
          <p:nvPr/>
        </p:nvSpPr>
        <p:spPr>
          <a:xfrm>
            <a:off x="11134649" y="6991502"/>
            <a:ext cx="17830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</a:t>
            </a:r>
            <a:endParaRPr lang="en-US" sz="1350" dirty="0"/>
          </a:p>
        </p:txBody>
      </p:sp>
      <p:sp>
        <p:nvSpPr>
          <p:cNvPr id="111" name="Text 105"/>
          <p:cNvSpPr txBox="1"/>
          <p:nvPr/>
        </p:nvSpPr>
        <p:spPr>
          <a:xfrm>
            <a:off x="12363602" y="6991502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Green OA</a:t>
            </a:r>
            <a:endParaRPr lang="en-US" sz="1275" dirty="0"/>
          </a:p>
        </p:txBody>
      </p:sp>
      <p:sp>
        <p:nvSpPr>
          <p:cNvPr id="112" name="Text 106"/>
          <p:cNvSpPr txBox="1"/>
          <p:nvPr/>
        </p:nvSpPr>
        <p:spPr>
          <a:xfrm>
            <a:off x="990295" y="7258507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1200" dirty="0"/>
          </a:p>
        </p:txBody>
      </p:sp>
      <p:sp>
        <p:nvSpPr>
          <p:cNvPr id="113" name="Text 107"/>
          <p:cNvSpPr txBox="1"/>
          <p:nvPr/>
        </p:nvSpPr>
        <p:spPr>
          <a:xfrm>
            <a:off x="1600200" y="7258507"/>
            <a:ext cx="64008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Equivalent thermal properties for BEOL stacks (Chang, 2025)</a:t>
            </a:r>
            <a:endParaRPr lang="en-US" sz="1500" dirty="0"/>
          </a:p>
        </p:txBody>
      </p:sp>
      <p:sp>
        <p:nvSpPr>
          <p:cNvPr id="114" name="Text 108"/>
          <p:cNvSpPr txBox="1"/>
          <p:nvPr/>
        </p:nvSpPr>
        <p:spPr>
          <a:xfrm>
            <a:off x="7467905" y="72585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IEEE TCPMT 15, 1708</a:t>
            </a:r>
            <a:endParaRPr lang="en-US" sz="1350" dirty="0"/>
          </a:p>
        </p:txBody>
      </p:sp>
      <p:sp>
        <p:nvSpPr>
          <p:cNvPr id="115" name="Shape 109"/>
          <p:cNvSpPr/>
          <p:nvPr/>
        </p:nvSpPr>
        <p:spPr>
          <a:xfrm>
            <a:off x="10992002" y="7358177"/>
            <a:ext cx="66751" cy="66751"/>
          </a:xfrm>
          <a:prstGeom prst="ellipse">
            <a:avLst/>
          </a:prstGeom>
          <a:solidFill>
            <a:srgbClr val="9B89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Text 110"/>
          <p:cNvSpPr txBox="1"/>
          <p:nvPr/>
        </p:nvSpPr>
        <p:spPr>
          <a:xfrm>
            <a:off x="11134649" y="7258507"/>
            <a:ext cx="17830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</a:t>
            </a:r>
            <a:endParaRPr lang="en-US" sz="1350" dirty="0"/>
          </a:p>
        </p:txBody>
      </p:sp>
      <p:sp>
        <p:nvSpPr>
          <p:cNvPr id="117" name="Text 111"/>
          <p:cNvSpPr txBox="1"/>
          <p:nvPr/>
        </p:nvSpPr>
        <p:spPr>
          <a:xfrm>
            <a:off x="12363602" y="7258507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</a:t>
            </a:r>
            <a:endParaRPr lang="en-US" sz="1275" dirty="0"/>
          </a:p>
        </p:txBody>
      </p:sp>
      <p:sp>
        <p:nvSpPr>
          <p:cNvPr id="118" name="Text 112"/>
          <p:cNvSpPr txBox="1"/>
          <p:nvPr/>
        </p:nvSpPr>
        <p:spPr>
          <a:xfrm>
            <a:off x="990295" y="7524598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200" dirty="0"/>
          </a:p>
        </p:txBody>
      </p:sp>
      <p:sp>
        <p:nvSpPr>
          <p:cNvPr id="119" name="Text 113"/>
          <p:cNvSpPr txBox="1"/>
          <p:nvPr/>
        </p:nvSpPr>
        <p:spPr>
          <a:xfrm>
            <a:off x="1600200" y="7524598"/>
            <a:ext cx="5715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Non-uniform power in BSPDN chiplets (Chen, 2025)</a:t>
            </a:r>
            <a:endParaRPr lang="en-US" sz="1500" dirty="0"/>
          </a:p>
        </p:txBody>
      </p:sp>
      <p:sp>
        <p:nvSpPr>
          <p:cNvPr id="120" name="Text 114"/>
          <p:cNvSpPr txBox="1"/>
          <p:nvPr/>
        </p:nvSpPr>
        <p:spPr>
          <a:xfrm>
            <a:off x="7467905" y="752459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arXiv:2508.02284</a:t>
            </a:r>
            <a:endParaRPr lang="en-US" sz="1350" dirty="0"/>
          </a:p>
        </p:txBody>
      </p:sp>
      <p:sp>
        <p:nvSpPr>
          <p:cNvPr id="121" name="Shape 115"/>
          <p:cNvSpPr/>
          <p:nvPr/>
        </p:nvSpPr>
        <p:spPr>
          <a:xfrm>
            <a:off x="10992002" y="7625182"/>
            <a:ext cx="66751" cy="66751"/>
          </a:xfrm>
          <a:prstGeom prst="ellipse">
            <a:avLst/>
          </a:prstGeom>
          <a:solidFill>
            <a:srgbClr val="9B89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Text 116"/>
          <p:cNvSpPr txBox="1"/>
          <p:nvPr/>
        </p:nvSpPr>
        <p:spPr>
          <a:xfrm>
            <a:off x="11134649" y="7524598"/>
            <a:ext cx="17830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</a:t>
            </a:r>
            <a:endParaRPr lang="en-US" sz="1350" dirty="0"/>
          </a:p>
        </p:txBody>
      </p:sp>
      <p:sp>
        <p:nvSpPr>
          <p:cNvPr id="123" name="Text 117"/>
          <p:cNvSpPr txBox="1"/>
          <p:nvPr/>
        </p:nvSpPr>
        <p:spPr>
          <a:xfrm>
            <a:off x="12363602" y="7524598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</a:t>
            </a:r>
            <a:endParaRPr lang="en-US" sz="1275" dirty="0"/>
          </a:p>
        </p:txBody>
      </p:sp>
      <p:sp>
        <p:nvSpPr>
          <p:cNvPr id="124" name="Text 118"/>
          <p:cNvSpPr txBox="1"/>
          <p:nvPr/>
        </p:nvSpPr>
        <p:spPr>
          <a:xfrm>
            <a:off x="990295" y="7791602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1200" dirty="0"/>
          </a:p>
        </p:txBody>
      </p:sp>
      <p:sp>
        <p:nvSpPr>
          <p:cNvPr id="125" name="Text 119"/>
          <p:cNvSpPr txBox="1"/>
          <p:nvPr/>
        </p:nvSpPr>
        <p:spPr>
          <a:xfrm>
            <a:off x="1600200" y="7791602"/>
            <a:ext cx="5715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CNT on-chip interconnects (Xu, 2022)</a:t>
            </a:r>
            <a:endParaRPr lang="en-US" sz="1500" dirty="0"/>
          </a:p>
        </p:txBody>
      </p:sp>
      <p:sp>
        <p:nvSpPr>
          <p:cNvPr id="126" name="Text 120"/>
          <p:cNvSpPr txBox="1"/>
          <p:nvPr/>
        </p:nvSpPr>
        <p:spPr>
          <a:xfrm>
            <a:off x="7467905" y="779160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Micromachines 13, 1148</a:t>
            </a:r>
            <a:endParaRPr lang="en-US" sz="1350" dirty="0"/>
          </a:p>
        </p:txBody>
      </p:sp>
      <p:sp>
        <p:nvSpPr>
          <p:cNvPr id="127" name="Shape 121"/>
          <p:cNvSpPr/>
          <p:nvPr/>
        </p:nvSpPr>
        <p:spPr>
          <a:xfrm>
            <a:off x="10992002" y="7891272"/>
            <a:ext cx="66751" cy="66751"/>
          </a:xfrm>
          <a:prstGeom prst="ellipse">
            <a:avLst/>
          </a:prstGeom>
          <a:solidFill>
            <a:srgbClr val="7B9D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Text 122"/>
          <p:cNvSpPr txBox="1"/>
          <p:nvPr/>
        </p:nvSpPr>
        <p:spPr>
          <a:xfrm>
            <a:off x="11134649" y="7791602"/>
            <a:ext cx="81381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대체 배선</a:t>
            </a:r>
            <a:endParaRPr lang="en-US" sz="1350" dirty="0"/>
          </a:p>
        </p:txBody>
      </p:sp>
      <p:sp>
        <p:nvSpPr>
          <p:cNvPr id="129" name="Text 123"/>
          <p:cNvSpPr txBox="1"/>
          <p:nvPr/>
        </p:nvSpPr>
        <p:spPr>
          <a:xfrm>
            <a:off x="12363602" y="7791602"/>
            <a:ext cx="1295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CC BY</a:t>
            </a:r>
            <a:endParaRPr lang="en-US" sz="1275" dirty="0"/>
          </a:p>
        </p:txBody>
      </p:sp>
      <p:sp>
        <p:nvSpPr>
          <p:cNvPr id="130" name="Text 124"/>
          <p:cNvSpPr txBox="1"/>
          <p:nvPr/>
        </p:nvSpPr>
        <p:spPr>
          <a:xfrm>
            <a:off x="990295" y="8058607"/>
            <a:ext cx="4764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1200" dirty="0"/>
          </a:p>
        </p:txBody>
      </p:sp>
      <p:sp>
        <p:nvSpPr>
          <p:cNvPr id="131" name="Text 125"/>
          <p:cNvSpPr txBox="1"/>
          <p:nvPr/>
        </p:nvSpPr>
        <p:spPr>
          <a:xfrm>
            <a:off x="1600200" y="8058607"/>
            <a:ext cx="64008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Graphene interconnect for large SRAM caches (Pei, 2023)</a:t>
            </a:r>
            <a:endParaRPr lang="en-US" sz="1500" dirty="0"/>
          </a:p>
        </p:txBody>
      </p:sp>
      <p:sp>
        <p:nvSpPr>
          <p:cNvPr id="132" name="Text 126"/>
          <p:cNvSpPr txBox="1"/>
          <p:nvPr/>
        </p:nvSpPr>
        <p:spPr>
          <a:xfrm>
            <a:off x="7467905" y="80586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IEEE TED 70, 230</a:t>
            </a:r>
            <a:endParaRPr lang="en-US" sz="1350" dirty="0"/>
          </a:p>
        </p:txBody>
      </p:sp>
      <p:sp>
        <p:nvSpPr>
          <p:cNvPr id="133" name="Shape 127"/>
          <p:cNvSpPr/>
          <p:nvPr/>
        </p:nvSpPr>
        <p:spPr>
          <a:xfrm>
            <a:off x="10992002" y="8158277"/>
            <a:ext cx="66751" cy="66751"/>
          </a:xfrm>
          <a:prstGeom prst="ellipse">
            <a:avLst/>
          </a:prstGeom>
          <a:solidFill>
            <a:srgbClr val="7B9D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Text 128"/>
          <p:cNvSpPr txBox="1"/>
          <p:nvPr/>
        </p:nvSpPr>
        <p:spPr>
          <a:xfrm>
            <a:off x="11134649" y="8058607"/>
            <a:ext cx="81381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대체 배선</a:t>
            </a:r>
            <a:endParaRPr lang="en-US" sz="1350" dirty="0"/>
          </a:p>
        </p:txBody>
      </p:sp>
      <p:sp>
        <p:nvSpPr>
          <p:cNvPr id="135" name="Text 129"/>
          <p:cNvSpPr txBox="1"/>
          <p:nvPr/>
        </p:nvSpPr>
        <p:spPr>
          <a:xfrm>
            <a:off x="12363602" y="8058607"/>
            <a:ext cx="143195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manuscript</a:t>
            </a:r>
            <a:endParaRPr lang="en-US" sz="1275" dirty="0"/>
          </a:p>
        </p:txBody>
      </p:sp>
      <p:sp>
        <p:nvSpPr>
          <p:cNvPr id="136" name="Shape 130"/>
          <p:cNvSpPr/>
          <p:nvPr/>
        </p:nvSpPr>
        <p:spPr>
          <a:xfrm>
            <a:off x="990295" y="8810244"/>
            <a:ext cx="75895" cy="75895"/>
          </a:xfrm>
          <a:prstGeom prst="ellipse">
            <a:avLst/>
          </a:prstGeom>
          <a:solidFill>
            <a:srgbClr val="D878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Text 131"/>
          <p:cNvSpPr txBox="1"/>
          <p:nvPr/>
        </p:nvSpPr>
        <p:spPr>
          <a:xfrm>
            <a:off x="1143000" y="8744407"/>
            <a:ext cx="44348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금속화</a:t>
            </a:r>
            <a:endParaRPr lang="en-US" sz="1125" dirty="0"/>
          </a:p>
        </p:txBody>
      </p:sp>
      <p:sp>
        <p:nvSpPr>
          <p:cNvPr id="138" name="Shape 132"/>
          <p:cNvSpPr/>
          <p:nvPr/>
        </p:nvSpPr>
        <p:spPr>
          <a:xfrm>
            <a:off x="1697126" y="8810244"/>
            <a:ext cx="75895" cy="75895"/>
          </a:xfrm>
          <a:prstGeom prst="ellipse">
            <a:avLst/>
          </a:prstGeom>
          <a:solidFill>
            <a:srgbClr val="5C9A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Text 133"/>
          <p:cNvSpPr txBox="1"/>
          <p:nvPr/>
        </p:nvSpPr>
        <p:spPr>
          <a:xfrm>
            <a:off x="1848917" y="8744407"/>
            <a:ext cx="44348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패터닝</a:t>
            </a:r>
            <a:endParaRPr lang="en-US" sz="1125" dirty="0"/>
          </a:p>
        </p:txBody>
      </p:sp>
      <p:sp>
        <p:nvSpPr>
          <p:cNvPr id="140" name="Shape 134"/>
          <p:cNvSpPr/>
          <p:nvPr/>
        </p:nvSpPr>
        <p:spPr>
          <a:xfrm>
            <a:off x="2403043" y="8810244"/>
            <a:ext cx="75895" cy="75895"/>
          </a:xfrm>
          <a:prstGeom prst="ellipse">
            <a:avLst/>
          </a:prstGeom>
          <a:solidFill>
            <a:srgbClr val="D4A8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Text 135"/>
          <p:cNvSpPr txBox="1"/>
          <p:nvPr/>
        </p:nvSpPr>
        <p:spPr>
          <a:xfrm>
            <a:off x="2555748" y="8744407"/>
            <a:ext cx="44348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신뢰성</a:t>
            </a:r>
            <a:endParaRPr lang="en-US" sz="1125" dirty="0"/>
          </a:p>
        </p:txBody>
      </p:sp>
      <p:sp>
        <p:nvSpPr>
          <p:cNvPr id="142" name="Shape 136"/>
          <p:cNvSpPr/>
          <p:nvPr/>
        </p:nvSpPr>
        <p:spPr>
          <a:xfrm>
            <a:off x="3108960" y="8810244"/>
            <a:ext cx="75895" cy="75895"/>
          </a:xfrm>
          <a:prstGeom prst="ellipse">
            <a:avLst/>
          </a:prstGeom>
          <a:solidFill>
            <a:srgbClr val="9B89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Text 137"/>
          <p:cNvSpPr txBox="1"/>
          <p:nvPr/>
        </p:nvSpPr>
        <p:spPr>
          <a:xfrm>
            <a:off x="3261665" y="8744407"/>
            <a:ext cx="148133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</a:t>
            </a:r>
            <a:endParaRPr lang="en-US" sz="1125" dirty="0"/>
          </a:p>
        </p:txBody>
      </p:sp>
      <p:sp>
        <p:nvSpPr>
          <p:cNvPr id="144" name="Shape 138"/>
          <p:cNvSpPr/>
          <p:nvPr/>
        </p:nvSpPr>
        <p:spPr>
          <a:xfrm>
            <a:off x="3560674" y="8810244"/>
            <a:ext cx="75895" cy="75895"/>
          </a:xfrm>
          <a:prstGeom prst="ellipse">
            <a:avLst/>
          </a:prstGeom>
          <a:solidFill>
            <a:srgbClr val="7B9D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Text 139"/>
          <p:cNvSpPr txBox="1"/>
          <p:nvPr/>
        </p:nvSpPr>
        <p:spPr>
          <a:xfrm>
            <a:off x="3713378" y="8744407"/>
            <a:ext cx="679399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대체 배선</a:t>
            </a:r>
            <a:endParaRPr lang="en-US" sz="1125" dirty="0"/>
          </a:p>
        </p:txBody>
      </p:sp>
      <p:sp>
        <p:nvSpPr>
          <p:cNvPr id="146" name="Text 140"/>
          <p:cNvSpPr txBox="1"/>
          <p:nvPr/>
        </p:nvSpPr>
        <p:spPr>
          <a:xfrm>
            <a:off x="990295" y="9506102"/>
            <a:ext cx="12669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6E69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리포지터리 PDF는 대부분 request-a-copy 제한이라, 오픈액세스·무료 accepted manuscript를 우선했습니다.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161A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295" y="666598"/>
            <a:ext cx="5715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CLOSING · MICROGRAPHS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5105095" y="6858000"/>
            <a:ext cx="12344400" cy="2743200"/>
          </a:xfrm>
          <a:prstGeom prst="rect">
            <a:avLst/>
          </a:prstGeom>
          <a:solidFill>
            <a:srgbClr val="1E2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04c39822bf0300cac19bf8dfaddee9a8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-2083" r="-2083" t="0" b="0"/>
          <a:stretch/>
        </p:blipFill>
        <p:spPr>
          <a:xfrm>
            <a:off x="990295" y="1104595"/>
            <a:ext cx="914400" cy="9144"/>
          </a:xfrm>
          <a:prstGeom prst="rect">
            <a:avLst/>
          </a:prstGeom>
        </p:spPr>
      </p:pic>
      <p:pic>
        <p:nvPicPr>
          <p:cNvPr id="6" name="Image 1" descr="gen-dedup-84f05af52c0f1abf386cb845f79eb160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5105095" y="6858000"/>
            <a:ext cx="38405" cy="2743200"/>
          </a:xfrm>
          <a:prstGeom prst="rect">
            <a:avLst/>
          </a:prstGeom>
        </p:spPr>
      </p:pic>
      <p:pic>
        <p:nvPicPr>
          <p:cNvPr id="7" name="Image 2" descr="gen-dedup-48ac368413f303d21e80a84b5bff4a23.png">    </p:cNvPr>
          <p:cNvPicPr>
            <a:picLocks noChangeAspect="1"/>
          </p:cNvPicPr>
          <p:nvPr/>
        </p:nvPicPr>
        <p:blipFill>
          <a:blip r:embed="rId3">
            <a:alphaModFix amt="18000"/>
          </a:blip>
          <a:srcRect l="0" r="0" t="-2083" b="-2083"/>
          <a:stretch/>
        </p:blipFill>
        <p:spPr>
          <a:xfrm>
            <a:off x="8039405" y="7125005"/>
            <a:ext cx="9144" cy="2286000"/>
          </a:xfrm>
          <a:prstGeom prst="rect">
            <a:avLst/>
          </a:prstGeom>
        </p:spPr>
      </p:pic>
      <p:pic>
        <p:nvPicPr>
          <p:cNvPr id="8" name="Image 3" descr="gen-dedup-2d9ce681d22094c71f71e55097a8f93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95" y="3047695"/>
            <a:ext cx="3619195" cy="6019495"/>
          </a:xfrm>
          <a:prstGeom prst="rect">
            <a:avLst/>
          </a:prstGeom>
        </p:spPr>
      </p:pic>
      <p:pic>
        <p:nvPicPr>
          <p:cNvPr id="9" name="Image 4" descr="gen-dedup-c5a746c70a64cfc35dbdddbfbb51636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095" y="3047695"/>
            <a:ext cx="7619695" cy="30668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6269005" y="780898"/>
            <a:ext cx="15151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A39B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 01 / 30</a:t>
            </a:r>
            <a:endParaRPr lang="en-US" sz="1350" dirty="0"/>
          </a:p>
        </p:txBody>
      </p:sp>
      <p:sp>
        <p:nvSpPr>
          <p:cNvPr id="11" name="Text 4"/>
          <p:cNvSpPr txBox="1"/>
          <p:nvPr/>
        </p:nvSpPr>
        <p:spPr>
          <a:xfrm>
            <a:off x="990295" y="1447495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Sources</a:t>
            </a:r>
            <a:endParaRPr lang="en-US" sz="4500" dirty="0"/>
          </a:p>
        </p:txBody>
      </p:sp>
      <p:sp>
        <p:nvSpPr>
          <p:cNvPr id="12" name="Text 5"/>
          <p:cNvSpPr txBox="1"/>
          <p:nvPr/>
        </p:nvSpPr>
        <p:spPr>
          <a:xfrm>
            <a:off x="990295" y="2247595"/>
            <a:ext cx="14287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전문을 열어본 것과, 초록·메타데이터만 확인한 것을 구분했습니다.</a:t>
            </a:r>
            <a:endParaRPr lang="en-US" sz="1650" dirty="0"/>
          </a:p>
        </p:txBody>
      </p:sp>
      <p:sp>
        <p:nvSpPr>
          <p:cNvPr id="13" name="Text 6"/>
          <p:cNvSpPr txBox="1"/>
          <p:nvPr/>
        </p:nvSpPr>
        <p:spPr>
          <a:xfrm>
            <a:off x="990295" y="9182405"/>
            <a:ext cx="3620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Springer · JMR 2008</a:t>
            </a:r>
            <a:endParaRPr lang="en-US" sz="1050" dirty="0"/>
          </a:p>
        </p:txBody>
      </p:sp>
      <p:sp>
        <p:nvSpPr>
          <p:cNvPr id="14" name="Text 7"/>
          <p:cNvSpPr txBox="1"/>
          <p:nvPr/>
        </p:nvSpPr>
        <p:spPr>
          <a:xfrm>
            <a:off x="5105095" y="6229807"/>
            <a:ext cx="7620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ScienceDirect · 2014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13182905" y="3047695"/>
            <a:ext cx="42675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WE CHOSE</a:t>
            </a:r>
            <a:endParaRPr lang="en-US" sz="975" dirty="0"/>
          </a:p>
        </p:txBody>
      </p:sp>
      <p:sp>
        <p:nvSpPr>
          <p:cNvPr id="16" name="Text 9"/>
          <p:cNvSpPr txBox="1"/>
          <p:nvPr/>
        </p:nvSpPr>
        <p:spPr>
          <a:xfrm>
            <a:off x="13182905" y="3381451"/>
            <a:ext cx="42675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spc="-24" kern="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오픈액세스·무료 accepted manuscript를 우선했습니다.</a:t>
            </a:r>
            <a:endParaRPr lang="en-US" sz="2400" dirty="0"/>
          </a:p>
        </p:txBody>
      </p:sp>
      <p:sp>
        <p:nvSpPr>
          <p:cNvPr id="17" name="Text 10"/>
          <p:cNvSpPr txBox="1"/>
          <p:nvPr/>
        </p:nvSpPr>
        <p:spPr>
          <a:xfrm>
            <a:off x="5410505" y="7067398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E69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EXCLUDED</a:t>
            </a:r>
            <a:endParaRPr lang="en-US" sz="975" dirty="0"/>
          </a:p>
        </p:txBody>
      </p:sp>
      <p:sp>
        <p:nvSpPr>
          <p:cNvPr id="18" name="Text 11"/>
          <p:cNvSpPr txBox="1"/>
          <p:nvPr/>
        </p:nvSpPr>
        <p:spPr>
          <a:xfrm>
            <a:off x="5410505" y="7343546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CE5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제외한 것들</a:t>
            </a:r>
            <a:endParaRPr lang="en-US" sz="2250" dirty="0"/>
          </a:p>
        </p:txBody>
      </p:sp>
      <p:sp>
        <p:nvSpPr>
          <p:cNvPr id="19" name="Text 12"/>
          <p:cNvSpPr txBox="1"/>
          <p:nvPr/>
        </p:nvSpPr>
        <p:spPr>
          <a:xfrm>
            <a:off x="8382305" y="7157923"/>
            <a:ext cx="8572500" cy="919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광자·플렉시블·태양광 논문(주제 불일치),</a:t>
            </a:r>
            <a:pPr algn="l" indent="0" marL="0">
              <a:lnSpc>
                <a:spcPts val="2295"/>
              </a:lnSpc>
              <a:buNone/>
            </a:pPr>
            <a:endParaRPr lang="en-US" sz="1350" dirty="0"/>
          </a:p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세정·레지스트 스트립 계열(수치 공개 거의 없음),</a:t>
            </a:r>
            <a:pPr algn="l" indent="0" marL="0">
              <a:lnSpc>
                <a:spcPts val="2295"/>
              </a:lnSpc>
              <a:buNone/>
            </a:pPr>
            <a:endParaRPr lang="en-US" sz="1350" dirty="0"/>
          </a:p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A39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초록조차 수치를 담지 않은 2000년대 초 oral presentation 기록.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2026-10-03T16:43:21Z</dcterms:created>
  <dcterms:modified xsi:type="dcterms:W3CDTF">2026-10-03T16:43:21Z</dcterms:modified>
</cp:coreProperties>
</file>