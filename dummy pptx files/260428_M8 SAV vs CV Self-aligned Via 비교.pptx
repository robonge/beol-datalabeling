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본 평가의 큰 그림을 잡는다. M8 메탈, 8웨이퍼, 4종 CD 항목을 짧은 카드로 보여주고 우측 인용 박스에 핵심 가설을 적었다. 후속 슬라이드는 이 가설을 4종 CD 표, 단면 이미지, 균일도 맵, 전기·신뢰성 표로 풀어낸다. 발표 시 "이 평가는 dummy 데이터로 진행되는데, M8 메탈에서 SAV/CV가 통계적으로 어떤 차이가 있는지 4가지 CD 지표로 동시에 본다"는 점을 먼저 짚으면 좋다. 모든 숫자는 가상이므로 절대 인용하지 않도록 안내한다.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4-arm 매트릭스를 어떻게 짰는지 보여준다. SAV는 자줏빛 진한 그린, CV는 좀 더 밝은 그린 그라데이션으로 색을 다르게 하고, 같은 split 안에서 BM 종류로 두 단계 진하기로 분리했다. 발표 시 "우리는 BM 종류 효과를 분리하기 위해 각 split마다 ALD/PVD 두 종류를 두고 8웨이퍼로 압축했다"는 흐름으로 설명하면 된다. 더미 데이터라는 점을 다시 한번 환기.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4종 CD 타겟을 동일 0~30 nm 스케일 위에 bar로 깔아보고, 우측에 측정 영역 정의 박스를 두었다. 절대값 차이가 큰 AMI·ACI는 bar가 짧아 보이지만, 우측 패널의 정의 박스에서 sub-10 nm 항목이라고 짚어준다. 발표 시 "타겟 자체는 모두 sub-target 안에 들어가 있지만 실제 변동 폭이 어디서 터지는지가 다음 4장 슬라이드의 핵심"으로 묶으면 자연스럽게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AASI(트렌치 top CD) 결과를 한 슬라이드에 정리했다. 좌측 큰 가로 bar 차트에 8웨이퍼 mean을 24.8~26.6 nm 스케일로 정렬했고 target 위치도 살짝 비네틱 마크로 깐 다음 우측에 동일 데이터 표를 두었다. 발표 시 W7·W8의 분산·평균이 CV+PVD 조합에서 가장 안 좋게 나온다는 점을 짚어주면 split×BM 효과가 분리돼 보인다는 메시지가 살아난다. 더미 데이터임을 다시 한번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ASEI는 슬라이드 04와 다른 형식 — 세로 bar 차트로 바꿔서 wafer별 mean을 키 차이로 분명히 했다. 우측에 SAV/CV 두 그룹 평균 KPI와 그룹 차이를 small 카드 세 장으로 정리. 발표 시 "이번 슬라이드부터 그룹 평균을 따로 떼어 보여주는데, CV 그룹이 SAV보다 한 단계 더 오른쪽으로 가 있다"는 식으로 묶으면 자연스럽게 다음 슬라이드로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 슬라이드 재구성. 좌측 카드 1050×640으로 키웠고, 내부 deviation bar 폭을 줄여 +0.7 = 490 px로 fit. scale은 1 grid 70 px로 통일. 우측 표도 카드 안에 깔끔하게 들어가게 정리. 발표 시 Δ 두 단계 — SAV 그룹 +0.1~+0.3 vs CV·PVD +0.7 — 을 가리키며 split 효과가 sub-10 nm 영역에서도 누적된다는 메시지를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ACI 슬라이드 정리. 4-arm group바 + 우측 best/worst + 풀 표 세 부분. Spread block을 stacked으로 정리하여 카드 밖으로 빠지지 않게 했고, 표는 top 530 height 360으로 row padding 줄여 모든 8개 행이 카드 안에 들어가도록 조정했다. 발표 시 "group 비교와 8 wafer 표를 함께 보면 +0.5 nm 누적 spread가 더 분명해진다"고 묶는다.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실제 BEOL 단면을 두 장 붙여 정성 비교용으로 보여준다. 좌측은 SAV 56 nm pitch 단면, 우측은 multi-level toolbox Overview. 출처는 카드 안에 작은 글자로 표기했고, 발표 시 "이 미크로그라프들은 dummy 데이터 평가를 정성적으로 뒷받침하기 위한 참고 이미지"임을 다시 짚는다. 사진 selection은 dummy 평가의 톤을 보여주기 위한 것이지 우리 lot 결과 사진이 아님을 분명히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 단면 슬라이드. 좌측은 FSAV feasibility, 우측은 dual-damascene reference. 같은 정성 비교 톤을 유지하되 TEM 자료라는 점에서 SEM 슬라이드와 분리된다. 발표 시 "이미지는 dummy 평가의 정성 back-bone일 뿐, 정량 비교의 본 무게는 표와 수치에 있다"는 점을 확인한다. 출처는 plain text로 카드 안에 작게 표기.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in-wafer 균일도. 25pt wafer map을 W1 가로 520px, W7 도 520px로 좌·중앙에 놓고 우측에 8-wafer WIWNU 비교 막대를 작은 차트로, 우하단엔 SAV/CV 그룹 평균 비교 카드를 두었다. 발표 시 "W1은 거의 한 톤의 mint 영역에 머물지만 W7은 짙은 그린까지 펼쳐진다"는 시각 차이를 짚고, SAV 2.18 % vs CV 2.95 %라는 그룹 평균 격차를 마지막으로 환기. 더미 데이터임을 다시 한번.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전기 특성 슬라이드. 사용자 요구대로 도식 없이 숫자 표 위주로 정리했다. 좌측 큰 표에 8 waver별 line R · via chain R · leakage · RC avg를 한 번에 깔고, 우측 상단에 SAV·CV 그룹 평균 작은 표, 우측 하단에 Δ via R + Δ leak 두 카드를 배치해 split 효과를 정량으로 한 번 더 환기한다. 발표 시 "이번 트랙은 dummy, 도식은 의도적으로 빼고 표 위주로만 정리했다"는 점을 짚고, BM 종류보다 split 영향이 더 크다는 인사이트를 마지막에 환기하면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신뢰성 슬라이드. TDDB와 EM 표를 좌·우로 나란히 두고, 하단에는 두 인사이트 카드를 두었다. A1(SAV·ALD)부터 A4(CV·PVD)까지 가면서 β·η가 동시에 떨어지고, t50도 짧아지며 σ_ln도 커진다 — split+BM 효과가 누적된다는 결론을 표 위주로 정리한다. 발표 마지막에 "이 평가는 dummy, 절대 인용 금지, 그러나 가설과 방향이 일치하는 결과"라는 점을 마지막으로 환기한다.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3.png"/><Relationship Id="rId6" Type="http://schemas.openxmlformats.org/officeDocument/2006/relationships/image" Target="../media/image-3-6.png"/><Relationship Id="rId7" Type="http://schemas.openxmlformats.org/officeDocument/2006/relationships/image" Target="../media/image-3-3.png"/><Relationship Id="rId8" Type="http://schemas.openxmlformats.org/officeDocument/2006/relationships/image" Target="../media/image-3-8.png"/><Relationship Id="rId9" Type="http://schemas.openxmlformats.org/officeDocument/2006/relationships/image" Target="../media/image-3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3.png"/><Relationship Id="rId6" Type="http://schemas.openxmlformats.org/officeDocument/2006/relationships/image" Target="../media/image-4-2.png"/><Relationship Id="rId7" Type="http://schemas.openxmlformats.org/officeDocument/2006/relationships/image" Target="../media/image-4-3.png"/><Relationship Id="rId8" Type="http://schemas.openxmlformats.org/officeDocument/2006/relationships/image" Target="../media/image-4-2.png"/><Relationship Id="rId9" Type="http://schemas.openxmlformats.org/officeDocument/2006/relationships/image" Target="../media/image-4-3.png"/><Relationship Id="rId10" Type="http://schemas.openxmlformats.org/officeDocument/2006/relationships/image" Target="../media/image-4-2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3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image" Target="../media/image-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143000" cy="1028700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18f10e5b4bc23c29b3ea6af8b33530c7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1143000" y="0"/>
            <a:ext cx="57607" cy="10287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619402" y="666598"/>
            <a:ext cx="1723644" cy="362102"/>
          </a:xfrm>
          <a:prstGeom prst="roundRect">
            <a:avLst>
              <a:gd name="adj" fmla="val 530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619402" y="666598"/>
            <a:ext cx="172455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M8 · SAV vs CV 평가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1619402" y="1123798"/>
            <a:ext cx="1143000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M8 메탈 CD·전기·신뢰성</a:t>
            </a:r>
            <a:pPr algn="l" indent="0" marL="0">
              <a:lnSpc>
                <a:spcPct val="105000"/>
              </a:lnSpc>
              <a:buNone/>
            </a:pPr>
            <a:endParaRPr lang="en-US" sz="4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단일-실험 정량 비교</a:t>
            </a:r>
            <a:endParaRPr lang="en-US" sz="4800" dirty="0"/>
          </a:p>
        </p:txBody>
      </p:sp>
      <p:sp>
        <p:nvSpPr>
          <p:cNvPr id="8" name="Text 4"/>
          <p:cNvSpPr txBox="1"/>
          <p:nvPr/>
        </p:nvSpPr>
        <p:spPr>
          <a:xfrm>
            <a:off x="1619402" y="3161995"/>
            <a:ext cx="102870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Self-aligned via(SAV)와 Conventional via(CV) 두 split을 동일 IMD/BM 스택으로 8웨이퍼 평가. 4종 CD 항목·in-wafer 균일도·전기 저항·TDDB/EM을 같은 매트릭스에서 비교하여 split 효과를 정량화한다.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1619402" y="4496105"/>
            <a:ext cx="5333695" cy="1619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619402" y="4496105"/>
            <a:ext cx="57607" cy="161940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923898" y="4714646"/>
            <a:ext cx="47722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Metal layer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1923898" y="4962449"/>
            <a:ext cx="4772254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M8</a:t>
            </a:r>
            <a:endParaRPr lang="en-US" sz="4200" dirty="0"/>
          </a:p>
        </p:txBody>
      </p:sp>
      <p:sp>
        <p:nvSpPr>
          <p:cNvPr id="13" name="Text 9"/>
          <p:cNvSpPr txBox="1"/>
          <p:nvPr/>
        </p:nvSpPr>
        <p:spPr>
          <a:xfrm>
            <a:off x="1923898" y="5572354"/>
            <a:ext cx="47722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ULK k=2.55 · Cu dual-damascene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44207" y="4496105"/>
            <a:ext cx="5333695" cy="1619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44207" y="4496105"/>
            <a:ext cx="57607" cy="161940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48702" y="4714646"/>
            <a:ext cx="47722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Wafer / split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7448702" y="4962449"/>
            <a:ext cx="406908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4800" dirty="0"/>
          </a:p>
        </p:txBody>
      </p:sp>
      <p:sp>
        <p:nvSpPr>
          <p:cNvPr id="18" name="Text 14"/>
          <p:cNvSpPr txBox="1"/>
          <p:nvPr/>
        </p:nvSpPr>
        <p:spPr>
          <a:xfrm>
            <a:off x="7941564" y="5333695"/>
            <a:ext cx="1371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wafers · 2-arm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448702" y="5715000"/>
            <a:ext cx="47722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 4매 · CV 4매 · BM 2종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12668098" y="4496105"/>
            <a:ext cx="4095598" cy="1619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2668098" y="4496105"/>
            <a:ext cx="57607" cy="161940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2973507" y="4714646"/>
            <a:ext cx="35341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 영역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12973507" y="4962449"/>
            <a:ext cx="12198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88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25–8</a:t>
            </a:r>
            <a:endParaRPr lang="en-US" sz="3600" dirty="0"/>
          </a:p>
        </p:txBody>
      </p:sp>
      <p:sp>
        <p:nvSpPr>
          <p:cNvPr id="24" name="Text 20"/>
          <p:cNvSpPr txBox="1"/>
          <p:nvPr/>
        </p:nvSpPr>
        <p:spPr>
          <a:xfrm>
            <a:off x="14164056" y="5171846"/>
            <a:ext cx="29535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nm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2973507" y="5581498"/>
            <a:ext cx="35341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 · ASEI · AMI · ACI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619402" y="6476695"/>
            <a:ext cx="11239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 scale — 4 항목 트랙</a:t>
            </a:r>
            <a:endParaRPr lang="en-US" sz="1050" dirty="0"/>
          </a:p>
        </p:txBody>
      </p:sp>
      <p:pic>
        <p:nvPicPr>
          <p:cNvPr id="27" name="Image 1" descr="gen-dedup-c7acaead085cd98c6983eff7fda6cc5e.png">    </p:cNvPr>
          <p:cNvPicPr>
            <a:picLocks noChangeAspect="1"/>
          </p:cNvPicPr>
          <p:nvPr/>
        </p:nvPicPr>
        <p:blipFill>
          <a:blip r:embed="rId2"/>
          <a:srcRect l="0" r="0" t="-12" b="-12"/>
          <a:stretch/>
        </p:blipFill>
        <p:spPr>
          <a:xfrm>
            <a:off x="1619402" y="6801307"/>
            <a:ext cx="11239805" cy="59070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752905" y="6972300"/>
            <a:ext cx="132039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 25.2 nm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5890565" y="6972300"/>
            <a:ext cx="132039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ASEI 17.7 nm</a:t>
            </a:r>
            <a:endParaRPr lang="en-US" sz="1350" dirty="0"/>
          </a:p>
        </p:txBody>
      </p:sp>
      <p:sp>
        <p:nvSpPr>
          <p:cNvPr id="30" name="Text 25"/>
          <p:cNvSpPr txBox="1"/>
          <p:nvPr/>
        </p:nvSpPr>
        <p:spPr>
          <a:xfrm>
            <a:off x="8812073" y="6972300"/>
            <a:ext cx="11009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 8.6 nm</a:t>
            </a:r>
            <a:endParaRPr lang="en-US" sz="1350" dirty="0"/>
          </a:p>
        </p:txBody>
      </p:sp>
      <p:sp>
        <p:nvSpPr>
          <p:cNvPr id="31" name="Text 26"/>
          <p:cNvSpPr txBox="1"/>
          <p:nvPr/>
        </p:nvSpPr>
        <p:spPr>
          <a:xfrm>
            <a:off x="11819534" y="6972300"/>
            <a:ext cx="108813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ACI 8.3 nm</a:t>
            </a:r>
            <a:endParaRPr lang="en-US" sz="1350" dirty="0"/>
          </a:p>
        </p:txBody>
      </p:sp>
      <p:sp>
        <p:nvSpPr>
          <p:cNvPr id="32" name="Shape 27"/>
          <p:cNvSpPr/>
          <p:nvPr/>
        </p:nvSpPr>
        <p:spPr>
          <a:xfrm>
            <a:off x="13144500" y="6476695"/>
            <a:ext cx="3619195" cy="171450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13382244" y="6696151"/>
            <a:ext cx="3143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가설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13382244" y="6963156"/>
            <a:ext cx="3143707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 split이 동일 mask budget에서 CD 분산을 줄이고 via 저항을 안정화한다.</a:t>
            </a:r>
            <a:endParaRPr lang="en-US" sz="1500" dirty="0"/>
          </a:p>
        </p:txBody>
      </p:sp>
      <p:sp>
        <p:nvSpPr>
          <p:cNvPr id="35" name="Shape 30"/>
          <p:cNvSpPr/>
          <p:nvPr/>
        </p:nvSpPr>
        <p:spPr>
          <a:xfrm>
            <a:off x="1619402" y="8620049"/>
            <a:ext cx="15145207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1809598" y="8620049"/>
            <a:ext cx="147639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 vs CV 4-arm 8웨이퍼에서 4종 CD·25pt 균일도·전기·TDDB/EM을 동일 baseline 대비 비교하는 것이 본 평가의 목적이다.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1619402" y="9620402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38" name="Text 33"/>
          <p:cNvSpPr txBox="1"/>
          <p:nvPr/>
        </p:nvSpPr>
        <p:spPr>
          <a:xfrm>
            <a:off x="14763902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12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754fa3857d754c3e0c09368d552363f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0" y="0"/>
            <a:ext cx="57607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19402" y="666598"/>
            <a:ext cx="1457554" cy="323698"/>
          </a:xfrm>
          <a:prstGeom prst="roundRect">
            <a:avLst>
              <a:gd name="adj" fmla="val 5932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1619402" y="666598"/>
            <a:ext cx="145755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실험 매트릭스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1619402" y="1143000"/>
            <a:ext cx="142875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 × BM, CV × BM — 4-arm 8웨이퍼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1619402" y="1886407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마스크/스택 하에서 via split과 barrier metal 조합이 CD·저항·신뢰성에 끼치는 영향을 분리해 본다.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1619402" y="2857500"/>
            <a:ext cx="3619195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619402" y="2857500"/>
            <a:ext cx="3619195" cy="57607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857146" y="3143707"/>
            <a:ext cx="3143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Arm 01</a:t>
            </a:r>
            <a:endParaRPr lang="en-US" sz="975" dirty="0"/>
          </a:p>
        </p:txBody>
      </p:sp>
      <p:sp>
        <p:nvSpPr>
          <p:cNvPr id="11" name="Text 7"/>
          <p:cNvSpPr txBox="1"/>
          <p:nvPr/>
        </p:nvSpPr>
        <p:spPr>
          <a:xfrm>
            <a:off x="1857146" y="3400654"/>
            <a:ext cx="31437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 · ALD BM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1857146" y="3838651"/>
            <a:ext cx="3143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Self-aligned via · ALD Ta/TaN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857146" y="4295851"/>
            <a:ext cx="458114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5400" dirty="0"/>
          </a:p>
        </p:txBody>
      </p:sp>
      <p:sp>
        <p:nvSpPr>
          <p:cNvPr id="14" name="Text 10"/>
          <p:cNvSpPr txBox="1"/>
          <p:nvPr/>
        </p:nvSpPr>
        <p:spPr>
          <a:xfrm>
            <a:off x="2357323" y="4531766"/>
            <a:ext cx="5340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wafers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471416" y="4579315"/>
            <a:ext cx="5340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W1 · W2</a:t>
            </a:r>
            <a:endParaRPr lang="en-US" sz="1125" dirty="0"/>
          </a:p>
        </p:txBody>
      </p:sp>
      <p:sp>
        <p:nvSpPr>
          <p:cNvPr id="16" name="Shape 12"/>
          <p:cNvSpPr/>
          <p:nvPr/>
        </p:nvSpPr>
        <p:spPr>
          <a:xfrm>
            <a:off x="5429707" y="2857500"/>
            <a:ext cx="3619195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29707" y="2857500"/>
            <a:ext cx="3619195" cy="57607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667451" y="3143707"/>
            <a:ext cx="3143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Arm 02</a:t>
            </a:r>
            <a:endParaRPr lang="en-US" sz="975" dirty="0"/>
          </a:p>
        </p:txBody>
      </p:sp>
      <p:sp>
        <p:nvSpPr>
          <p:cNvPr id="19" name="Text 15"/>
          <p:cNvSpPr txBox="1"/>
          <p:nvPr/>
        </p:nvSpPr>
        <p:spPr>
          <a:xfrm>
            <a:off x="5667451" y="3400654"/>
            <a:ext cx="31437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 · PVD BM</a:t>
            </a:r>
            <a:endParaRPr lang="en-US" sz="2100" dirty="0"/>
          </a:p>
        </p:txBody>
      </p:sp>
      <p:sp>
        <p:nvSpPr>
          <p:cNvPr id="20" name="Text 16"/>
          <p:cNvSpPr txBox="1"/>
          <p:nvPr/>
        </p:nvSpPr>
        <p:spPr>
          <a:xfrm>
            <a:off x="5667451" y="3838651"/>
            <a:ext cx="3143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Self-aligned via · PVD Ta/TaN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667451" y="4295851"/>
            <a:ext cx="458114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5400" dirty="0"/>
          </a:p>
        </p:txBody>
      </p:sp>
      <p:sp>
        <p:nvSpPr>
          <p:cNvPr id="22" name="Text 18"/>
          <p:cNvSpPr txBox="1"/>
          <p:nvPr/>
        </p:nvSpPr>
        <p:spPr>
          <a:xfrm>
            <a:off x="6167628" y="4531766"/>
            <a:ext cx="5340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wafers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8280806" y="4579315"/>
            <a:ext cx="5340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 · W4</a:t>
            </a:r>
            <a:endParaRPr lang="en-US" sz="1125" dirty="0"/>
          </a:p>
        </p:txBody>
      </p:sp>
      <p:sp>
        <p:nvSpPr>
          <p:cNvPr id="24" name="Shape 20"/>
          <p:cNvSpPr/>
          <p:nvPr/>
        </p:nvSpPr>
        <p:spPr>
          <a:xfrm>
            <a:off x="9239098" y="2857500"/>
            <a:ext cx="3619195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239098" y="2857500"/>
            <a:ext cx="3619195" cy="57607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477756" y="3143707"/>
            <a:ext cx="3143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Arm 03</a:t>
            </a:r>
            <a:endParaRPr lang="en-US" sz="975" dirty="0"/>
          </a:p>
        </p:txBody>
      </p:sp>
      <p:sp>
        <p:nvSpPr>
          <p:cNvPr id="27" name="Text 23"/>
          <p:cNvSpPr txBox="1"/>
          <p:nvPr/>
        </p:nvSpPr>
        <p:spPr>
          <a:xfrm>
            <a:off x="9477756" y="3400654"/>
            <a:ext cx="31437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CV · ALD BM</a:t>
            </a:r>
            <a:endParaRPr lang="en-US" sz="2100" dirty="0"/>
          </a:p>
        </p:txBody>
      </p:sp>
      <p:sp>
        <p:nvSpPr>
          <p:cNvPr id="28" name="Text 24"/>
          <p:cNvSpPr txBox="1"/>
          <p:nvPr/>
        </p:nvSpPr>
        <p:spPr>
          <a:xfrm>
            <a:off x="9477756" y="3838651"/>
            <a:ext cx="3143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Conventional via · ALD Ta/TaN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9477756" y="4295851"/>
            <a:ext cx="458114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5400" dirty="0"/>
          </a:p>
        </p:txBody>
      </p:sp>
      <p:sp>
        <p:nvSpPr>
          <p:cNvPr id="30" name="Text 26"/>
          <p:cNvSpPr txBox="1"/>
          <p:nvPr/>
        </p:nvSpPr>
        <p:spPr>
          <a:xfrm>
            <a:off x="9977018" y="4531766"/>
            <a:ext cx="5340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wafers</a:t>
            </a:r>
            <a:endParaRPr lang="en-US" sz="1350" dirty="0"/>
          </a:p>
        </p:txBody>
      </p:sp>
      <p:sp>
        <p:nvSpPr>
          <p:cNvPr id="31" name="Text 27"/>
          <p:cNvSpPr txBox="1"/>
          <p:nvPr/>
        </p:nvSpPr>
        <p:spPr>
          <a:xfrm>
            <a:off x="12091111" y="4579315"/>
            <a:ext cx="5340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W5 · W6</a:t>
            </a:r>
            <a:endParaRPr lang="en-US" sz="1125" dirty="0"/>
          </a:p>
        </p:txBody>
      </p:sp>
      <p:sp>
        <p:nvSpPr>
          <p:cNvPr id="32" name="Shape 28"/>
          <p:cNvSpPr/>
          <p:nvPr/>
        </p:nvSpPr>
        <p:spPr>
          <a:xfrm>
            <a:off x="13049402" y="2857500"/>
            <a:ext cx="3619195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3049402" y="2857500"/>
            <a:ext cx="3619195" cy="57607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3287146" y="3143707"/>
            <a:ext cx="3143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Arm 04</a:t>
            </a:r>
            <a:endParaRPr lang="en-US" sz="975" dirty="0"/>
          </a:p>
        </p:txBody>
      </p:sp>
      <p:sp>
        <p:nvSpPr>
          <p:cNvPr id="35" name="Text 31"/>
          <p:cNvSpPr txBox="1"/>
          <p:nvPr/>
        </p:nvSpPr>
        <p:spPr>
          <a:xfrm>
            <a:off x="13287146" y="3400654"/>
            <a:ext cx="31437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CV · PVD BM</a:t>
            </a:r>
            <a:endParaRPr lang="en-US" sz="2100" dirty="0"/>
          </a:p>
        </p:txBody>
      </p:sp>
      <p:sp>
        <p:nvSpPr>
          <p:cNvPr id="36" name="Text 32"/>
          <p:cNvSpPr txBox="1"/>
          <p:nvPr/>
        </p:nvSpPr>
        <p:spPr>
          <a:xfrm>
            <a:off x="13287146" y="3838651"/>
            <a:ext cx="3143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Conventional via · PVD Ta/TaN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13287146" y="4295851"/>
            <a:ext cx="458114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5400" dirty="0"/>
          </a:p>
        </p:txBody>
      </p:sp>
      <p:sp>
        <p:nvSpPr>
          <p:cNvPr id="38" name="Text 34"/>
          <p:cNvSpPr txBox="1"/>
          <p:nvPr/>
        </p:nvSpPr>
        <p:spPr>
          <a:xfrm>
            <a:off x="13787323" y="4531766"/>
            <a:ext cx="5340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wafers</a:t>
            </a:r>
            <a:endParaRPr lang="en-US" sz="1350" dirty="0"/>
          </a:p>
        </p:txBody>
      </p:sp>
      <p:sp>
        <p:nvSpPr>
          <p:cNvPr id="39" name="Text 35"/>
          <p:cNvSpPr txBox="1"/>
          <p:nvPr/>
        </p:nvSpPr>
        <p:spPr>
          <a:xfrm>
            <a:off x="15901416" y="4579315"/>
            <a:ext cx="5340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W7 · W8</a:t>
            </a:r>
            <a:endParaRPr lang="en-US" sz="1125" dirty="0"/>
          </a:p>
        </p:txBody>
      </p:sp>
      <p:sp>
        <p:nvSpPr>
          <p:cNvPr id="40" name="Text 36"/>
          <p:cNvSpPr txBox="1"/>
          <p:nvPr/>
        </p:nvSpPr>
        <p:spPr>
          <a:xfrm>
            <a:off x="1619402" y="5715000"/>
            <a:ext cx="1505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Arm 별 wafer 분포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1619402" y="6038698"/>
            <a:ext cx="7438644" cy="108630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1837944" y="6219749"/>
            <a:ext cx="70015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 (4 wafers)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1837944" y="6543446"/>
            <a:ext cx="7000646" cy="400507"/>
          </a:xfrm>
          <a:prstGeom prst="roundRect">
            <a:avLst>
              <a:gd name="adj" fmla="val 479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837944" y="6543446"/>
            <a:ext cx="1752905" cy="400507"/>
          </a:xfrm>
          <a:prstGeom prst="rect">
            <a:avLst/>
          </a:prstGeom>
          <a:solidFill>
            <a:srgbClr val="2E7D3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W1</a:t>
            </a:r>
            <a:endParaRPr lang="en-US" sz="1050" dirty="0"/>
          </a:p>
        </p:txBody>
      </p:sp>
      <p:sp>
        <p:nvSpPr>
          <p:cNvPr id="45" name="Text 41"/>
          <p:cNvSpPr txBox="1"/>
          <p:nvPr/>
        </p:nvSpPr>
        <p:spPr>
          <a:xfrm>
            <a:off x="3588106" y="6543446"/>
            <a:ext cx="1752905" cy="400507"/>
          </a:xfrm>
          <a:prstGeom prst="rect">
            <a:avLst/>
          </a:prstGeom>
          <a:solidFill>
            <a:srgbClr val="388E3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</a:t>
            </a:r>
            <a:endParaRPr lang="en-US" sz="1050" dirty="0"/>
          </a:p>
        </p:txBody>
      </p:sp>
      <p:sp>
        <p:nvSpPr>
          <p:cNvPr id="46" name="Text 42"/>
          <p:cNvSpPr txBox="1"/>
          <p:nvPr/>
        </p:nvSpPr>
        <p:spPr>
          <a:xfrm>
            <a:off x="5339182" y="6543446"/>
            <a:ext cx="1752905" cy="400507"/>
          </a:xfrm>
          <a:prstGeom prst="rect">
            <a:avLst/>
          </a:prstGeom>
          <a:solidFill>
            <a:srgbClr val="2E7D3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</a:t>
            </a:r>
            <a:endParaRPr lang="en-US" sz="1050" dirty="0"/>
          </a:p>
        </p:txBody>
      </p:sp>
      <p:sp>
        <p:nvSpPr>
          <p:cNvPr id="47" name="Text 43"/>
          <p:cNvSpPr txBox="1"/>
          <p:nvPr/>
        </p:nvSpPr>
        <p:spPr>
          <a:xfrm>
            <a:off x="7089343" y="6543446"/>
            <a:ext cx="1752905" cy="400507"/>
          </a:xfrm>
          <a:prstGeom prst="rect">
            <a:avLst/>
          </a:prstGeom>
          <a:solidFill>
            <a:srgbClr val="388E3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W4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9229954" y="6038698"/>
            <a:ext cx="7438644" cy="108630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9448495" y="6219749"/>
            <a:ext cx="70015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CV (4 wafers)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9448495" y="6543446"/>
            <a:ext cx="7000646" cy="400507"/>
          </a:xfrm>
          <a:prstGeom prst="roundRect">
            <a:avLst>
              <a:gd name="adj" fmla="val 479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9448495" y="6543446"/>
            <a:ext cx="1752905" cy="400507"/>
          </a:xfrm>
          <a:prstGeom prst="rect">
            <a:avLst/>
          </a:prstGeom>
          <a:solidFill>
            <a:srgbClr val="4CAF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W5</a:t>
            </a:r>
            <a:endParaRPr lang="en-US" sz="1050" dirty="0"/>
          </a:p>
        </p:txBody>
      </p:sp>
      <p:sp>
        <p:nvSpPr>
          <p:cNvPr id="52" name="Text 48"/>
          <p:cNvSpPr txBox="1"/>
          <p:nvPr/>
        </p:nvSpPr>
        <p:spPr>
          <a:xfrm>
            <a:off x="11198657" y="6543446"/>
            <a:ext cx="1752905" cy="400507"/>
          </a:xfrm>
          <a:prstGeom prst="rect">
            <a:avLst/>
          </a:prstGeom>
          <a:solidFill>
            <a:srgbClr val="66BB6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W6</a:t>
            </a:r>
            <a:endParaRPr lang="en-US" sz="1050" dirty="0"/>
          </a:p>
        </p:txBody>
      </p:sp>
      <p:sp>
        <p:nvSpPr>
          <p:cNvPr id="53" name="Text 49"/>
          <p:cNvSpPr txBox="1"/>
          <p:nvPr/>
        </p:nvSpPr>
        <p:spPr>
          <a:xfrm>
            <a:off x="12948818" y="6543446"/>
            <a:ext cx="1752905" cy="400507"/>
          </a:xfrm>
          <a:prstGeom prst="rect">
            <a:avLst/>
          </a:prstGeom>
          <a:solidFill>
            <a:srgbClr val="4CAF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W7</a:t>
            </a:r>
            <a:endParaRPr lang="en-US" sz="1050" dirty="0"/>
          </a:p>
        </p:txBody>
      </p:sp>
      <p:sp>
        <p:nvSpPr>
          <p:cNvPr id="54" name="Text 50"/>
          <p:cNvSpPr txBox="1"/>
          <p:nvPr/>
        </p:nvSpPr>
        <p:spPr>
          <a:xfrm>
            <a:off x="14699894" y="6543446"/>
            <a:ext cx="1752905" cy="400507"/>
          </a:xfrm>
          <a:prstGeom prst="rect">
            <a:avLst/>
          </a:prstGeom>
          <a:solidFill>
            <a:srgbClr val="66BB6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W8</a:t>
            </a:r>
            <a:endParaRPr lang="en-US" sz="1050" dirty="0"/>
          </a:p>
        </p:txBody>
      </p:sp>
      <p:sp>
        <p:nvSpPr>
          <p:cNvPr id="55" name="Text 51"/>
          <p:cNvSpPr txBox="1"/>
          <p:nvPr/>
        </p:nvSpPr>
        <p:spPr>
          <a:xfrm>
            <a:off x="1619402" y="7524598"/>
            <a:ext cx="162946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Stack</a:t>
            </a:r>
            <a:endParaRPr lang="en-US" sz="975" dirty="0"/>
          </a:p>
        </p:txBody>
      </p:sp>
      <p:sp>
        <p:nvSpPr>
          <p:cNvPr id="56" name="Text 52"/>
          <p:cNvSpPr txBox="1"/>
          <p:nvPr/>
        </p:nvSpPr>
        <p:spPr>
          <a:xfrm>
            <a:off x="1619402" y="7744054"/>
            <a:ext cx="1938528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ULK k=2.55 · Cu</a:t>
            </a:r>
            <a:endParaRPr lang="en-US" sz="1650" dirty="0"/>
          </a:p>
        </p:txBody>
      </p:sp>
      <p:sp>
        <p:nvSpPr>
          <p:cNvPr id="57" name="Text 53"/>
          <p:cNvSpPr txBox="1"/>
          <p:nvPr/>
        </p:nvSpPr>
        <p:spPr>
          <a:xfrm>
            <a:off x="3585362" y="7524598"/>
            <a:ext cx="10104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Pitch</a:t>
            </a:r>
            <a:endParaRPr lang="en-US" sz="975" dirty="0"/>
          </a:p>
        </p:txBody>
      </p:sp>
      <p:sp>
        <p:nvSpPr>
          <p:cNvPr id="58" name="Text 54"/>
          <p:cNvSpPr txBox="1"/>
          <p:nvPr/>
        </p:nvSpPr>
        <p:spPr>
          <a:xfrm>
            <a:off x="3585362" y="7744054"/>
            <a:ext cx="107990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M8 56 nm</a:t>
            </a:r>
            <a:endParaRPr lang="en-US" sz="1650" dirty="0"/>
          </a:p>
        </p:txBody>
      </p:sp>
      <p:sp>
        <p:nvSpPr>
          <p:cNvPr id="59" name="Text 55"/>
          <p:cNvSpPr txBox="1"/>
          <p:nvPr/>
        </p:nvSpPr>
        <p:spPr>
          <a:xfrm>
            <a:off x="4931359" y="7524598"/>
            <a:ext cx="2477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Metrology</a:t>
            </a:r>
            <a:endParaRPr lang="en-US" sz="975" dirty="0"/>
          </a:p>
        </p:txBody>
      </p:sp>
      <p:sp>
        <p:nvSpPr>
          <p:cNvPr id="60" name="Text 56"/>
          <p:cNvSpPr txBox="1"/>
          <p:nvPr/>
        </p:nvSpPr>
        <p:spPr>
          <a:xfrm>
            <a:off x="4931359" y="7744054"/>
            <a:ext cx="294711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CD-SEM + in-line optical</a:t>
            </a:r>
            <a:endParaRPr lang="en-US" sz="1650" dirty="0"/>
          </a:p>
        </p:txBody>
      </p:sp>
      <p:sp>
        <p:nvSpPr>
          <p:cNvPr id="61" name="Shape 57"/>
          <p:cNvSpPr/>
          <p:nvPr/>
        </p:nvSpPr>
        <p:spPr>
          <a:xfrm>
            <a:off x="1619402" y="8620049"/>
            <a:ext cx="15145207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1809598" y="8620049"/>
            <a:ext cx="147639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split × 2개 BM의 4-arm 매트릭스로 8웨이퍼를 압축 배치해 split 효과를 BM 효과에서 분리한다.</a:t>
            </a:r>
            <a:endParaRPr lang="en-US" sz="1200" dirty="0"/>
          </a:p>
        </p:txBody>
      </p:sp>
      <p:sp>
        <p:nvSpPr>
          <p:cNvPr id="63" name="Text 59"/>
          <p:cNvSpPr txBox="1"/>
          <p:nvPr/>
        </p:nvSpPr>
        <p:spPr>
          <a:xfrm>
            <a:off x="1619402" y="9620402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64" name="Text 60"/>
          <p:cNvSpPr txBox="1"/>
          <p:nvPr/>
        </p:nvSpPr>
        <p:spPr>
          <a:xfrm>
            <a:off x="14763902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12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754fa3857d754c3e0c09368d552363f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0" y="0"/>
            <a:ext cx="57607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19402" y="666598"/>
            <a:ext cx="1410005" cy="323698"/>
          </a:xfrm>
          <a:prstGeom prst="roundRect">
            <a:avLst>
              <a:gd name="adj" fmla="val 5932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1619402" y="666598"/>
            <a:ext cx="1410005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CD 측정 항목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1619402" y="1143000"/>
            <a:ext cx="142875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 · ASEI · AMI · ACI — 4종 타겟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1619402" y="1886407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M8 메탈 CD 4종을 동일 baseline 대비 비교. sub-10 nm 영역(AMI·ACI)에서 분산 관리가 도전 항목.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619402" y="2667305"/>
            <a:ext cx="10858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scale (0 ~ 30 nm)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1619402" y="3066898"/>
            <a:ext cx="223296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 </a:t>
            </a:r>
            <a:pPr algn="l" indent="0" marL="0">
              <a:buNone/>
            </a:pPr>
            <a:r>
              <a:rPr lang="en-US" sz="1200" b="1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Trench Top CD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0837469" y="3086100"/>
            <a:ext cx="1961388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25.2 nm · target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1619402" y="4257446"/>
            <a:ext cx="248259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ASEI </a:t>
            </a:r>
            <a:pPr algn="l" indent="0" marL="0">
              <a:buNone/>
            </a:pPr>
            <a:r>
              <a:rPr lang="en-US" sz="1200" b="1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Trench Middle CD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0837469" y="4276649"/>
            <a:ext cx="1961388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17.7 nm · target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1619402" y="5447995"/>
            <a:ext cx="205191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 </a:t>
            </a:r>
            <a:pPr algn="l" indent="0" marL="0">
              <a:buNone/>
            </a:pPr>
            <a:r>
              <a:rPr lang="en-US" sz="1200" b="1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Via Middle CD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0960913" y="5467198"/>
            <a:ext cx="181417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8.6 nm · target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1619402" y="6638544"/>
            <a:ext cx="205191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ACI </a:t>
            </a:r>
            <a:pPr algn="l" indent="0" marL="0">
              <a:buNone/>
            </a:pPr>
            <a:r>
              <a:rPr lang="en-US" sz="1200" b="1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Via Bottom CD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960913" y="6657746"/>
            <a:ext cx="181417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8.3 nm · target</a:t>
            </a:r>
            <a:endParaRPr lang="en-US" sz="1650" dirty="0"/>
          </a:p>
        </p:txBody>
      </p:sp>
      <p:sp>
        <p:nvSpPr>
          <p:cNvPr id="17" name="Text 13"/>
          <p:cNvSpPr txBox="1"/>
          <p:nvPr/>
        </p:nvSpPr>
        <p:spPr>
          <a:xfrm>
            <a:off x="1619402" y="7696505"/>
            <a:ext cx="768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975" dirty="0"/>
          </a:p>
        </p:txBody>
      </p:sp>
      <p:sp>
        <p:nvSpPr>
          <p:cNvPr id="18" name="Text 14"/>
          <p:cNvSpPr txBox="1"/>
          <p:nvPr/>
        </p:nvSpPr>
        <p:spPr>
          <a:xfrm>
            <a:off x="3322930" y="7696505"/>
            <a:ext cx="768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75" dirty="0"/>
          </a:p>
        </p:txBody>
      </p:sp>
      <p:sp>
        <p:nvSpPr>
          <p:cNvPr id="19" name="Text 15"/>
          <p:cNvSpPr txBox="1"/>
          <p:nvPr/>
        </p:nvSpPr>
        <p:spPr>
          <a:xfrm>
            <a:off x="5026457" y="7696505"/>
            <a:ext cx="17007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75" dirty="0"/>
          </a:p>
        </p:txBody>
      </p:sp>
      <p:sp>
        <p:nvSpPr>
          <p:cNvPr id="20" name="Text 16"/>
          <p:cNvSpPr txBox="1"/>
          <p:nvPr/>
        </p:nvSpPr>
        <p:spPr>
          <a:xfrm>
            <a:off x="6798564" y="7696505"/>
            <a:ext cx="17007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75" dirty="0"/>
          </a:p>
        </p:txBody>
      </p:sp>
      <p:sp>
        <p:nvSpPr>
          <p:cNvPr id="21" name="Text 17"/>
          <p:cNvSpPr txBox="1"/>
          <p:nvPr/>
        </p:nvSpPr>
        <p:spPr>
          <a:xfrm>
            <a:off x="8570671" y="7696505"/>
            <a:ext cx="17007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975" dirty="0"/>
          </a:p>
        </p:txBody>
      </p:sp>
      <p:sp>
        <p:nvSpPr>
          <p:cNvPr id="22" name="Text 18"/>
          <p:cNvSpPr txBox="1"/>
          <p:nvPr/>
        </p:nvSpPr>
        <p:spPr>
          <a:xfrm>
            <a:off x="10342778" y="7696505"/>
            <a:ext cx="17007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975" dirty="0"/>
          </a:p>
        </p:txBody>
      </p:sp>
      <p:sp>
        <p:nvSpPr>
          <p:cNvPr id="23" name="Text 19"/>
          <p:cNvSpPr txBox="1"/>
          <p:nvPr/>
        </p:nvSpPr>
        <p:spPr>
          <a:xfrm>
            <a:off x="12115800" y="7696505"/>
            <a:ext cx="37216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nm</a:t>
            </a:r>
            <a:endParaRPr lang="en-US" sz="975" dirty="0"/>
          </a:p>
        </p:txBody>
      </p:sp>
      <p:sp>
        <p:nvSpPr>
          <p:cNvPr id="24" name="Shape 20"/>
          <p:cNvSpPr/>
          <p:nvPr/>
        </p:nvSpPr>
        <p:spPr>
          <a:xfrm>
            <a:off x="1619402" y="3495751"/>
            <a:ext cx="10858500" cy="457200"/>
          </a:xfrm>
          <a:prstGeom prst="roundRect">
            <a:avLst>
              <a:gd name="adj" fmla="val 42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1" descr="gen-dedup-63ef8a31356b064a48bc02b375977855.png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1619402" y="3495751"/>
            <a:ext cx="8469173" cy="457200"/>
          </a:xfrm>
          <a:prstGeom prst="rect">
            <a:avLst/>
          </a:prstGeom>
        </p:spPr>
      </p:pic>
      <p:pic>
        <p:nvPicPr>
          <p:cNvPr id="26" name="Image 2" descr="gen-dedup-b15ea4ef0239b5111b9bab0ac1da77cf.png">    </p:cNvPr>
          <p:cNvPicPr>
            <a:picLocks noChangeAspect="1"/>
          </p:cNvPicPr>
          <p:nvPr/>
        </p:nvPicPr>
        <p:blipFill>
          <a:blip r:embed="rId3"/>
          <a:srcRect l="-424" r="-424" t="0" b="0"/>
          <a:stretch/>
        </p:blipFill>
        <p:spPr>
          <a:xfrm>
            <a:off x="10088575" y="3400654"/>
            <a:ext cx="19202" cy="6473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088575" y="3552444"/>
            <a:ext cx="476402" cy="3429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25.2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1619402" y="4686300"/>
            <a:ext cx="10858500" cy="457200"/>
          </a:xfrm>
          <a:prstGeom prst="roundRect">
            <a:avLst>
              <a:gd name="adj" fmla="val 42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3" descr="gen-dedup-6648a7c20c08922d84df272a7e4b81f7.png">    </p:cNvPr>
          <p:cNvPicPr>
            <a:picLocks noChangeAspect="1"/>
          </p:cNvPicPr>
          <p:nvPr/>
        </p:nvPicPr>
        <p:blipFill>
          <a:blip r:embed="rId4"/>
          <a:srcRect l="0" r="0" t="-2" b="-2"/>
          <a:stretch/>
        </p:blipFill>
        <p:spPr>
          <a:xfrm>
            <a:off x="1619402" y="4686300"/>
            <a:ext cx="5971946" cy="457200"/>
          </a:xfrm>
          <a:prstGeom prst="rect">
            <a:avLst/>
          </a:prstGeom>
        </p:spPr>
      </p:pic>
      <p:pic>
        <p:nvPicPr>
          <p:cNvPr id="30" name="Image 4" descr="gen-dedup-b15ea4ef0239b5111b9bab0ac1da77cf.png">    </p:cNvPr>
          <p:cNvPicPr>
            <a:picLocks noChangeAspect="1"/>
          </p:cNvPicPr>
          <p:nvPr/>
        </p:nvPicPr>
        <p:blipFill>
          <a:blip r:embed="rId5"/>
          <a:srcRect l="-424" r="-424" t="0" b="0"/>
          <a:stretch/>
        </p:blipFill>
        <p:spPr>
          <a:xfrm>
            <a:off x="7591349" y="4591202"/>
            <a:ext cx="19202" cy="64739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591349" y="4743907"/>
            <a:ext cx="476402" cy="3429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17.7</a:t>
            </a:r>
            <a:endParaRPr lang="en-US" sz="1350" dirty="0"/>
          </a:p>
        </p:txBody>
      </p:sp>
      <p:sp>
        <p:nvSpPr>
          <p:cNvPr id="32" name="Shape 24"/>
          <p:cNvSpPr/>
          <p:nvPr/>
        </p:nvSpPr>
        <p:spPr>
          <a:xfrm>
            <a:off x="1619402" y="5876849"/>
            <a:ext cx="10858500" cy="457200"/>
          </a:xfrm>
          <a:prstGeom prst="roundRect">
            <a:avLst>
              <a:gd name="adj" fmla="val 42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5" descr="gen-dedup-baac9477041f0d07114936b52fbf8975.png">    </p:cNvPr>
          <p:cNvPicPr>
            <a:picLocks noChangeAspect="1"/>
          </p:cNvPicPr>
          <p:nvPr/>
        </p:nvPicPr>
        <p:blipFill>
          <a:blip r:embed="rId6"/>
          <a:srcRect l="-7" r="-7" t="0" b="0"/>
          <a:stretch/>
        </p:blipFill>
        <p:spPr>
          <a:xfrm>
            <a:off x="1619402" y="5876849"/>
            <a:ext cx="2899562" cy="457200"/>
          </a:xfrm>
          <a:prstGeom prst="rect">
            <a:avLst/>
          </a:prstGeom>
        </p:spPr>
      </p:pic>
      <p:pic>
        <p:nvPicPr>
          <p:cNvPr id="34" name="Image 6" descr="gen-dedup-b15ea4ef0239b5111b9bab0ac1da77cf.png">    </p:cNvPr>
          <p:cNvPicPr>
            <a:picLocks noChangeAspect="1"/>
          </p:cNvPicPr>
          <p:nvPr/>
        </p:nvPicPr>
        <p:blipFill>
          <a:blip r:embed="rId7"/>
          <a:srcRect l="-424" r="-424" t="0" b="0"/>
          <a:stretch/>
        </p:blipFill>
        <p:spPr>
          <a:xfrm>
            <a:off x="4518050" y="5781751"/>
            <a:ext cx="19202" cy="64739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4518050" y="5934456"/>
            <a:ext cx="381305" cy="3429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8.6</a:t>
            </a:r>
            <a:endParaRPr lang="en-US" sz="1350" dirty="0"/>
          </a:p>
        </p:txBody>
      </p:sp>
      <p:sp>
        <p:nvSpPr>
          <p:cNvPr id="36" name="Shape 26"/>
          <p:cNvSpPr/>
          <p:nvPr/>
        </p:nvSpPr>
        <p:spPr>
          <a:xfrm>
            <a:off x="1619402" y="7067398"/>
            <a:ext cx="10858500" cy="457200"/>
          </a:xfrm>
          <a:prstGeom prst="roundRect">
            <a:avLst>
              <a:gd name="adj" fmla="val 42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7" descr="gen-dedup-ce8b44ffff2a467536d7b333094431ca.png">    </p:cNvPr>
          <p:cNvPicPr>
            <a:picLocks noChangeAspect="1"/>
          </p:cNvPicPr>
          <p:nvPr/>
        </p:nvPicPr>
        <p:blipFill>
          <a:blip r:embed="rId8"/>
          <a:srcRect l="-4" r="-4" t="0" b="0"/>
          <a:stretch/>
        </p:blipFill>
        <p:spPr>
          <a:xfrm>
            <a:off x="1619402" y="7067398"/>
            <a:ext cx="2790749" cy="457200"/>
          </a:xfrm>
          <a:prstGeom prst="rect">
            <a:avLst/>
          </a:prstGeom>
        </p:spPr>
      </p:pic>
      <p:pic>
        <p:nvPicPr>
          <p:cNvPr id="38" name="Image 8" descr="gen-dedup-b15ea4ef0239b5111b9bab0ac1da77cf.png">    </p:cNvPr>
          <p:cNvPicPr>
            <a:picLocks noChangeAspect="1"/>
          </p:cNvPicPr>
          <p:nvPr/>
        </p:nvPicPr>
        <p:blipFill>
          <a:blip r:embed="rId9"/>
          <a:srcRect l="-424" r="-424" t="0" b="0"/>
          <a:stretch/>
        </p:blipFill>
        <p:spPr>
          <a:xfrm>
            <a:off x="4410151" y="6972300"/>
            <a:ext cx="19202" cy="647395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4410151" y="7125005"/>
            <a:ext cx="381305" cy="3429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8.3</a:t>
            </a:r>
            <a:endParaRPr lang="en-US" sz="1350" dirty="0"/>
          </a:p>
        </p:txBody>
      </p:sp>
      <p:sp>
        <p:nvSpPr>
          <p:cNvPr id="40" name="Shape 28"/>
          <p:cNvSpPr/>
          <p:nvPr/>
        </p:nvSpPr>
        <p:spPr>
          <a:xfrm>
            <a:off x="12859207" y="2667305"/>
            <a:ext cx="3905402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>
            <a:off x="12859207" y="2667305"/>
            <a:ext cx="57607" cy="2667305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42" name="Text 30"/>
          <p:cNvSpPr txBox="1"/>
          <p:nvPr/>
        </p:nvSpPr>
        <p:spPr>
          <a:xfrm>
            <a:off x="13144500" y="2905049"/>
            <a:ext cx="33814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계측 항목 요지</a:t>
            </a:r>
            <a:endParaRPr lang="en-US" sz="1050" dirty="0"/>
          </a:p>
        </p:txBody>
      </p:sp>
      <p:sp>
        <p:nvSpPr>
          <p:cNvPr id="43" name="Text 31"/>
          <p:cNvSpPr txBox="1"/>
          <p:nvPr/>
        </p:nvSpPr>
        <p:spPr>
          <a:xfrm>
            <a:off x="13100507" y="3185770"/>
            <a:ext cx="3426358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15900" indent="-215900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marL="215900" indent="-215900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M8 라인/비아 동시 측정</a:t>
            </a:r>
            <a:pPr algn="l" marL="215900" indent="-215900">
              <a:lnSpc>
                <a:spcPts val="2295"/>
              </a:lnSpc>
              <a:buSzPct val="100000"/>
              <a:buChar char="•"/>
            </a:pPr>
            <a:endParaRPr lang="en-US" sz="1350" dirty="0"/>
          </a:p>
          <a:p>
            <a:pPr algn="l" marL="215900" indent="-215900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marL="215900" indent="-215900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sub-10 nm 영역 집중 관리</a:t>
            </a:r>
            <a:pPr algn="l" marL="215900" indent="-215900">
              <a:lnSpc>
                <a:spcPts val="2295"/>
              </a:lnSpc>
              <a:buSzPct val="100000"/>
              <a:buChar char="•"/>
            </a:pPr>
            <a:endParaRPr lang="en-US" sz="1350" dirty="0"/>
          </a:p>
          <a:p>
            <a:pPr algn="l" marL="215900" indent="-215900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marL="215900" indent="-215900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효과 vs BM 효과 분리</a:t>
            </a:r>
            <a:endParaRPr lang="en-US" sz="1350" dirty="0"/>
          </a:p>
        </p:txBody>
      </p:sp>
      <p:sp>
        <p:nvSpPr>
          <p:cNvPr id="44" name="Shape 32"/>
          <p:cNvSpPr/>
          <p:nvPr/>
        </p:nvSpPr>
        <p:spPr>
          <a:xfrm>
            <a:off x="12859207" y="5524805"/>
            <a:ext cx="3905402" cy="2667305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13096951" y="5762549"/>
            <a:ext cx="3429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정의</a:t>
            </a:r>
            <a:endParaRPr lang="en-US" sz="1050" dirty="0"/>
          </a:p>
        </p:txBody>
      </p:sp>
      <p:sp>
        <p:nvSpPr>
          <p:cNvPr id="46" name="Text 34"/>
          <p:cNvSpPr txBox="1"/>
          <p:nvPr/>
        </p:nvSpPr>
        <p:spPr>
          <a:xfrm>
            <a:off x="13096951" y="6086246"/>
            <a:ext cx="342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</a:t>
            </a:r>
            <a:pPr algn="l" indent="0" marL="0">
              <a:buNone/>
            </a:pPr>
            <a:r>
              <a:rPr lang="en-US" sz="120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trench top, etch 후</a:t>
            </a:r>
            <a:endParaRPr lang="en-US" sz="1200" dirty="0"/>
          </a:p>
        </p:txBody>
      </p:sp>
      <p:sp>
        <p:nvSpPr>
          <p:cNvPr id="47" name="Text 35"/>
          <p:cNvSpPr txBox="1"/>
          <p:nvPr/>
        </p:nvSpPr>
        <p:spPr>
          <a:xfrm>
            <a:off x="13096951" y="6330391"/>
            <a:ext cx="342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ASEI</a:t>
            </a:r>
            <a:pPr algn="l" indent="0" marL="0">
              <a:buNone/>
            </a:pPr>
            <a:r>
              <a:rPr lang="en-US" sz="120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trench middle, post-CMP</a:t>
            </a:r>
            <a:endParaRPr lang="en-US" sz="1200" dirty="0"/>
          </a:p>
        </p:txBody>
      </p:sp>
      <p:sp>
        <p:nvSpPr>
          <p:cNvPr id="48" name="Text 36"/>
          <p:cNvSpPr txBox="1"/>
          <p:nvPr/>
        </p:nvSpPr>
        <p:spPr>
          <a:xfrm>
            <a:off x="13096951" y="6573622"/>
            <a:ext cx="342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</a:t>
            </a:r>
            <a:pPr algn="l" indent="0" marL="0">
              <a:buNone/>
            </a:pPr>
            <a:r>
              <a:rPr lang="en-US" sz="120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via middle, etch 후</a:t>
            </a:r>
            <a:endParaRPr lang="en-US" sz="1200" dirty="0"/>
          </a:p>
        </p:txBody>
      </p:sp>
      <p:sp>
        <p:nvSpPr>
          <p:cNvPr id="49" name="Text 37"/>
          <p:cNvSpPr txBox="1"/>
          <p:nvPr/>
        </p:nvSpPr>
        <p:spPr>
          <a:xfrm>
            <a:off x="13096951" y="6817766"/>
            <a:ext cx="342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ACI</a:t>
            </a:r>
            <a:pPr algn="l" indent="0" marL="0">
              <a:buNone/>
            </a:pPr>
            <a:r>
              <a:rPr lang="en-US" sz="120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via bottom, landing 직전</a:t>
            </a:r>
            <a:endParaRPr lang="en-US" sz="1200" dirty="0"/>
          </a:p>
        </p:txBody>
      </p:sp>
      <p:sp>
        <p:nvSpPr>
          <p:cNvPr id="50" name="Shape 38"/>
          <p:cNvSpPr/>
          <p:nvPr/>
        </p:nvSpPr>
        <p:spPr>
          <a:xfrm>
            <a:off x="1619402" y="8620049"/>
            <a:ext cx="15145207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39"/>
          <p:cNvSpPr txBox="1"/>
          <p:nvPr/>
        </p:nvSpPr>
        <p:spPr>
          <a:xfrm>
            <a:off x="1809598" y="8620049"/>
            <a:ext cx="147639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AASI·ASEI는 17~25 nm, AMI·ACI는 sub-10 nm 영역 — 후자 2종이 변동 폭 관리의 핵심이다.</a:t>
            </a:r>
            <a:endParaRPr lang="en-US" sz="1200" dirty="0"/>
          </a:p>
        </p:txBody>
      </p:sp>
      <p:sp>
        <p:nvSpPr>
          <p:cNvPr id="52" name="Text 40"/>
          <p:cNvSpPr txBox="1"/>
          <p:nvPr/>
        </p:nvSpPr>
        <p:spPr>
          <a:xfrm>
            <a:off x="1619402" y="9620402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53" name="Text 41"/>
          <p:cNvSpPr txBox="1"/>
          <p:nvPr/>
        </p:nvSpPr>
        <p:spPr>
          <a:xfrm>
            <a:off x="14763902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12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754fa3857d754c3e0c09368d552363f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0" y="0"/>
            <a:ext cx="57607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19402" y="666598"/>
            <a:ext cx="1857146" cy="323698"/>
          </a:xfrm>
          <a:prstGeom prst="roundRect">
            <a:avLst>
              <a:gd name="adj" fmla="val 5932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1619402" y="666598"/>
            <a:ext cx="18580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AASI · Trench Top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1619402" y="1143000"/>
            <a:ext cx="142875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 — wafer별 mean / 3σ / range / Δ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1619402" y="1886407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25.2 nm. SAV arm (W1-W4)은 분산이 작고 target에 밀집, CV arm (W5-W8)은 우측으로 늘어남.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1619402" y="2667305"/>
            <a:ext cx="10287000" cy="5524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933956" y="2962656"/>
            <a:ext cx="291327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Mean AASI per wafer (nm)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572293" y="3029407"/>
            <a:ext cx="15151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scale 24.8 ~ 26.6</a:t>
            </a:r>
            <a:endParaRPr lang="en-US" sz="1050" dirty="0"/>
          </a:p>
        </p:txBody>
      </p:sp>
      <p:pic>
        <p:nvPicPr>
          <p:cNvPr id="11" name="Image 1" descr="gen-dedup-73242aabf0135b61a548f83360cfc147.png">    </p:cNvPr>
          <p:cNvPicPr>
            <a:picLocks noChangeAspect="1"/>
          </p:cNvPicPr>
          <p:nvPr/>
        </p:nvPicPr>
        <p:blipFill>
          <a:blip r:embed="rId2"/>
          <a:srcRect l="0" r="0" t="-2089" b="-2089"/>
          <a:stretch/>
        </p:blipFill>
        <p:spPr>
          <a:xfrm>
            <a:off x="2980944" y="3467405"/>
            <a:ext cx="9144" cy="4381805"/>
          </a:xfrm>
          <a:prstGeom prst="rect">
            <a:avLst/>
          </a:prstGeom>
        </p:spPr>
      </p:pic>
      <p:pic>
        <p:nvPicPr>
          <p:cNvPr id="12" name="Image 2" descr="gen-dedup-e6868b3add3662e69fce6ebe98d292d7.png">    </p:cNvPr>
          <p:cNvPicPr>
            <a:picLocks noChangeAspect="1"/>
          </p:cNvPicPr>
          <p:nvPr/>
        </p:nvPicPr>
        <p:blipFill>
          <a:blip r:embed="rId3"/>
          <a:srcRect l="0" r="0" t="-2089" b="-2089"/>
          <a:stretch/>
        </p:blipFill>
        <p:spPr>
          <a:xfrm>
            <a:off x="4038905" y="3467405"/>
            <a:ext cx="9144" cy="4381805"/>
          </a:xfrm>
          <a:prstGeom prst="rect">
            <a:avLst/>
          </a:prstGeom>
        </p:spPr>
      </p:pic>
      <p:pic>
        <p:nvPicPr>
          <p:cNvPr id="13" name="Image 3" descr="gen-dedup-73242aabf0135b61a548f83360cfc147.png">    </p:cNvPr>
          <p:cNvPicPr>
            <a:picLocks noChangeAspect="1"/>
          </p:cNvPicPr>
          <p:nvPr/>
        </p:nvPicPr>
        <p:blipFill>
          <a:blip r:embed="rId4"/>
          <a:srcRect l="0" r="0" t="-2089" b="-2089"/>
          <a:stretch/>
        </p:blipFill>
        <p:spPr>
          <a:xfrm>
            <a:off x="5095951" y="3467405"/>
            <a:ext cx="9144" cy="4381805"/>
          </a:xfrm>
          <a:prstGeom prst="rect">
            <a:avLst/>
          </a:prstGeom>
        </p:spPr>
      </p:pic>
      <p:pic>
        <p:nvPicPr>
          <p:cNvPr id="14" name="Image 4" descr="gen-dedup-e6868b3add3662e69fce6ebe98d292d7.png">    </p:cNvPr>
          <p:cNvPicPr>
            <a:picLocks noChangeAspect="1"/>
          </p:cNvPicPr>
          <p:nvPr/>
        </p:nvPicPr>
        <p:blipFill>
          <a:blip r:embed="rId5"/>
          <a:srcRect l="0" r="0" t="-2089" b="-2089"/>
          <a:stretch/>
        </p:blipFill>
        <p:spPr>
          <a:xfrm>
            <a:off x="6152998" y="3467405"/>
            <a:ext cx="9144" cy="4381805"/>
          </a:xfrm>
          <a:prstGeom prst="rect">
            <a:avLst/>
          </a:prstGeom>
        </p:spPr>
      </p:pic>
      <p:pic>
        <p:nvPicPr>
          <p:cNvPr id="15" name="Image 5" descr="gen-dedup-73242aabf0135b61a548f83360cfc147.png">    </p:cNvPr>
          <p:cNvPicPr>
            <a:picLocks noChangeAspect="1"/>
          </p:cNvPicPr>
          <p:nvPr/>
        </p:nvPicPr>
        <p:blipFill>
          <a:blip r:embed="rId6"/>
          <a:srcRect l="0" r="0" t="-2089" b="-2089"/>
          <a:stretch/>
        </p:blipFill>
        <p:spPr>
          <a:xfrm>
            <a:off x="7210044" y="3467405"/>
            <a:ext cx="9144" cy="4381805"/>
          </a:xfrm>
          <a:prstGeom prst="rect">
            <a:avLst/>
          </a:prstGeom>
        </p:spPr>
      </p:pic>
      <p:pic>
        <p:nvPicPr>
          <p:cNvPr id="16" name="Image 6" descr="gen-dedup-e6868b3add3662e69fce6ebe98d292d7.png">    </p:cNvPr>
          <p:cNvPicPr>
            <a:picLocks noChangeAspect="1"/>
          </p:cNvPicPr>
          <p:nvPr/>
        </p:nvPicPr>
        <p:blipFill>
          <a:blip r:embed="rId7"/>
          <a:srcRect l="0" r="0" t="-2089" b="-2089"/>
          <a:stretch/>
        </p:blipFill>
        <p:spPr>
          <a:xfrm>
            <a:off x="8277149" y="3467405"/>
            <a:ext cx="9144" cy="4381805"/>
          </a:xfrm>
          <a:prstGeom prst="rect">
            <a:avLst/>
          </a:prstGeom>
        </p:spPr>
      </p:pic>
      <p:pic>
        <p:nvPicPr>
          <p:cNvPr id="17" name="Image 7" descr="gen-dedup-73242aabf0135b61a548f83360cfc147.png">    </p:cNvPr>
          <p:cNvPicPr>
            <a:picLocks noChangeAspect="1"/>
          </p:cNvPicPr>
          <p:nvPr/>
        </p:nvPicPr>
        <p:blipFill>
          <a:blip r:embed="rId8"/>
          <a:srcRect l="0" r="0" t="-2089" b="-2089"/>
          <a:stretch/>
        </p:blipFill>
        <p:spPr>
          <a:xfrm>
            <a:off x="9334195" y="3467405"/>
            <a:ext cx="9144" cy="4381805"/>
          </a:xfrm>
          <a:prstGeom prst="rect">
            <a:avLst/>
          </a:prstGeom>
        </p:spPr>
      </p:pic>
      <p:pic>
        <p:nvPicPr>
          <p:cNvPr id="18" name="Image 8" descr="gen-dedup-e6868b3add3662e69fce6ebe98d292d7.png">    </p:cNvPr>
          <p:cNvPicPr>
            <a:picLocks noChangeAspect="1"/>
          </p:cNvPicPr>
          <p:nvPr/>
        </p:nvPicPr>
        <p:blipFill>
          <a:blip r:embed="rId9"/>
          <a:srcRect l="0" r="0" t="-2089" b="-2089"/>
          <a:stretch/>
        </p:blipFill>
        <p:spPr>
          <a:xfrm>
            <a:off x="10392156" y="3467405"/>
            <a:ext cx="9144" cy="4381805"/>
          </a:xfrm>
          <a:prstGeom prst="rect">
            <a:avLst/>
          </a:prstGeom>
        </p:spPr>
      </p:pic>
      <p:pic>
        <p:nvPicPr>
          <p:cNvPr id="19" name="Image 9" descr="gen-dedup-73242aabf0135b61a548f83360cfc147.png">    </p:cNvPr>
          <p:cNvPicPr>
            <a:picLocks noChangeAspect="1"/>
          </p:cNvPicPr>
          <p:nvPr/>
        </p:nvPicPr>
        <p:blipFill>
          <a:blip r:embed="rId10"/>
          <a:srcRect l="0" r="0" t="-2089" b="-2089"/>
          <a:stretch/>
        </p:blipFill>
        <p:spPr>
          <a:xfrm>
            <a:off x="11449202" y="3467405"/>
            <a:ext cx="9144" cy="4381805"/>
          </a:xfrm>
          <a:prstGeom prst="rect">
            <a:avLst/>
          </a:prstGeom>
        </p:spPr>
      </p:pic>
      <p:pic>
        <p:nvPicPr>
          <p:cNvPr id="20" name="Image 10" descr="gen-dedup-69d212df41b39b52049f869f0bc321d2.png">    </p:cNvPr>
          <p:cNvPicPr>
            <a:picLocks noChangeAspect="1"/>
          </p:cNvPicPr>
          <p:nvPr/>
        </p:nvPicPr>
        <p:blipFill>
          <a:blip r:embed="rId11"/>
          <a:srcRect l="0" r="0" t="-400" b="-400"/>
          <a:stretch/>
        </p:blipFill>
        <p:spPr>
          <a:xfrm>
            <a:off x="5057546" y="3429000"/>
            <a:ext cx="28346" cy="4419295"/>
          </a:xfrm>
          <a:prstGeom prst="rect">
            <a:avLst/>
          </a:prstGeom>
        </p:spPr>
      </p:pic>
      <p:sp>
        <p:nvSpPr>
          <p:cNvPr id="21" name="Text 7"/>
          <p:cNvSpPr txBox="1"/>
          <p:nvPr/>
        </p:nvSpPr>
        <p:spPr>
          <a:xfrm>
            <a:off x="1933956" y="3619195"/>
            <a:ext cx="95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W1</a:t>
            </a:r>
            <a:endParaRPr lang="en-US" sz="1350" dirty="0"/>
          </a:p>
        </p:txBody>
      </p:sp>
      <p:sp>
        <p:nvSpPr>
          <p:cNvPr id="22" name="Shape 8"/>
          <p:cNvSpPr/>
          <p:nvPr/>
        </p:nvSpPr>
        <p:spPr>
          <a:xfrm>
            <a:off x="2885846" y="3581705"/>
            <a:ext cx="3238805" cy="323698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9"/>
          <p:cNvSpPr/>
          <p:nvPr/>
        </p:nvSpPr>
        <p:spPr>
          <a:xfrm>
            <a:off x="2885846" y="3581705"/>
            <a:ext cx="3172054" cy="32369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0"/>
          <p:cNvSpPr txBox="1"/>
          <p:nvPr/>
        </p:nvSpPr>
        <p:spPr>
          <a:xfrm>
            <a:off x="6124651" y="3581705"/>
            <a:ext cx="571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25.4</a:t>
            </a:r>
            <a:endParaRPr lang="en-US" sz="1350" dirty="0"/>
          </a:p>
        </p:txBody>
      </p:sp>
      <p:sp>
        <p:nvSpPr>
          <p:cNvPr id="25" name="Text 11"/>
          <p:cNvSpPr txBox="1"/>
          <p:nvPr/>
        </p:nvSpPr>
        <p:spPr>
          <a:xfrm>
            <a:off x="1933956" y="4134002"/>
            <a:ext cx="95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</a:t>
            </a:r>
            <a:endParaRPr lang="en-US" sz="1350" dirty="0"/>
          </a:p>
        </p:txBody>
      </p:sp>
      <p:sp>
        <p:nvSpPr>
          <p:cNvPr id="26" name="Shape 12"/>
          <p:cNvSpPr/>
          <p:nvPr/>
        </p:nvSpPr>
        <p:spPr>
          <a:xfrm>
            <a:off x="2885846" y="4095598"/>
            <a:ext cx="3238805" cy="323698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13"/>
          <p:cNvSpPr/>
          <p:nvPr/>
        </p:nvSpPr>
        <p:spPr>
          <a:xfrm>
            <a:off x="2885846" y="4095598"/>
            <a:ext cx="2962656" cy="32369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4"/>
          <p:cNvSpPr txBox="1"/>
          <p:nvPr/>
        </p:nvSpPr>
        <p:spPr>
          <a:xfrm>
            <a:off x="6124651" y="4095598"/>
            <a:ext cx="571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25.3</a:t>
            </a:r>
            <a:endParaRPr lang="en-US" sz="1350" dirty="0"/>
          </a:p>
        </p:txBody>
      </p:sp>
      <p:sp>
        <p:nvSpPr>
          <p:cNvPr id="29" name="Text 15"/>
          <p:cNvSpPr txBox="1"/>
          <p:nvPr/>
        </p:nvSpPr>
        <p:spPr>
          <a:xfrm>
            <a:off x="1933956" y="4647895"/>
            <a:ext cx="95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</a:t>
            </a:r>
            <a:endParaRPr lang="en-US" sz="1350" dirty="0"/>
          </a:p>
        </p:txBody>
      </p:sp>
      <p:sp>
        <p:nvSpPr>
          <p:cNvPr id="30" name="Shape 16"/>
          <p:cNvSpPr/>
          <p:nvPr/>
        </p:nvSpPr>
        <p:spPr>
          <a:xfrm>
            <a:off x="2885846" y="4610405"/>
            <a:ext cx="6381598" cy="323698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17"/>
          <p:cNvSpPr/>
          <p:nvPr/>
        </p:nvSpPr>
        <p:spPr>
          <a:xfrm>
            <a:off x="2885846" y="4610405"/>
            <a:ext cx="4762195" cy="323698"/>
          </a:xfrm>
          <a:prstGeom prst="rect">
            <a:avLst/>
          </a:prstGeom>
          <a:solidFill>
            <a:srgbClr val="388E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18"/>
          <p:cNvSpPr txBox="1"/>
          <p:nvPr/>
        </p:nvSpPr>
        <p:spPr>
          <a:xfrm>
            <a:off x="7744054" y="4610405"/>
            <a:ext cx="571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25.7</a:t>
            </a:r>
            <a:endParaRPr lang="en-US" sz="1350" dirty="0"/>
          </a:p>
        </p:txBody>
      </p:sp>
      <p:sp>
        <p:nvSpPr>
          <p:cNvPr id="33" name="Text 19"/>
          <p:cNvSpPr txBox="1"/>
          <p:nvPr/>
        </p:nvSpPr>
        <p:spPr>
          <a:xfrm>
            <a:off x="1933956" y="5162702"/>
            <a:ext cx="95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W4</a:t>
            </a:r>
            <a:endParaRPr lang="en-US" sz="1350" dirty="0"/>
          </a:p>
        </p:txBody>
      </p:sp>
      <p:sp>
        <p:nvSpPr>
          <p:cNvPr id="34" name="Shape 20"/>
          <p:cNvSpPr/>
          <p:nvPr/>
        </p:nvSpPr>
        <p:spPr>
          <a:xfrm>
            <a:off x="2885846" y="5124298"/>
            <a:ext cx="6381598" cy="323698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1"/>
          <p:cNvSpPr/>
          <p:nvPr/>
        </p:nvSpPr>
        <p:spPr>
          <a:xfrm>
            <a:off x="2885846" y="5124298"/>
            <a:ext cx="4229100" cy="323698"/>
          </a:xfrm>
          <a:prstGeom prst="rect">
            <a:avLst/>
          </a:prstGeom>
          <a:solidFill>
            <a:srgbClr val="388E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2"/>
          <p:cNvSpPr txBox="1"/>
          <p:nvPr/>
        </p:nvSpPr>
        <p:spPr>
          <a:xfrm>
            <a:off x="7210044" y="5124298"/>
            <a:ext cx="571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25.6</a:t>
            </a:r>
            <a:endParaRPr lang="en-US" sz="1350" dirty="0"/>
          </a:p>
        </p:txBody>
      </p:sp>
      <p:sp>
        <p:nvSpPr>
          <p:cNvPr id="37" name="Text 23"/>
          <p:cNvSpPr txBox="1"/>
          <p:nvPr/>
        </p:nvSpPr>
        <p:spPr>
          <a:xfrm>
            <a:off x="1933956" y="5676595"/>
            <a:ext cx="95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W5</a:t>
            </a:r>
            <a:endParaRPr lang="en-US" sz="1350" dirty="0"/>
          </a:p>
        </p:txBody>
      </p:sp>
      <p:sp>
        <p:nvSpPr>
          <p:cNvPr id="38" name="Shape 24"/>
          <p:cNvSpPr/>
          <p:nvPr/>
        </p:nvSpPr>
        <p:spPr>
          <a:xfrm>
            <a:off x="2885846" y="5639105"/>
            <a:ext cx="7429500" cy="323698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25"/>
          <p:cNvSpPr/>
          <p:nvPr/>
        </p:nvSpPr>
        <p:spPr>
          <a:xfrm>
            <a:off x="2885846" y="5639105"/>
            <a:ext cx="6353251" cy="323698"/>
          </a:xfrm>
          <a:prstGeom prst="rect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6"/>
          <p:cNvSpPr txBox="1"/>
          <p:nvPr/>
        </p:nvSpPr>
        <p:spPr>
          <a:xfrm>
            <a:off x="9334195" y="5639105"/>
            <a:ext cx="571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26.0</a:t>
            </a:r>
            <a:endParaRPr lang="en-US" sz="1350" dirty="0"/>
          </a:p>
        </p:txBody>
      </p:sp>
      <p:sp>
        <p:nvSpPr>
          <p:cNvPr id="41" name="Text 27"/>
          <p:cNvSpPr txBox="1"/>
          <p:nvPr/>
        </p:nvSpPr>
        <p:spPr>
          <a:xfrm>
            <a:off x="1933956" y="6191402"/>
            <a:ext cx="95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W6</a:t>
            </a:r>
            <a:endParaRPr lang="en-US" sz="1350" dirty="0"/>
          </a:p>
        </p:txBody>
      </p:sp>
      <p:sp>
        <p:nvSpPr>
          <p:cNvPr id="42" name="Shape 28"/>
          <p:cNvSpPr/>
          <p:nvPr/>
        </p:nvSpPr>
        <p:spPr>
          <a:xfrm>
            <a:off x="2885846" y="6152998"/>
            <a:ext cx="7429500" cy="323698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29"/>
          <p:cNvSpPr/>
          <p:nvPr/>
        </p:nvSpPr>
        <p:spPr>
          <a:xfrm>
            <a:off x="2885846" y="6152998"/>
            <a:ext cx="6877202" cy="323698"/>
          </a:xfrm>
          <a:prstGeom prst="rect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0"/>
          <p:cNvSpPr txBox="1"/>
          <p:nvPr/>
        </p:nvSpPr>
        <p:spPr>
          <a:xfrm>
            <a:off x="9858146" y="6152998"/>
            <a:ext cx="571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26.1</a:t>
            </a:r>
            <a:endParaRPr lang="en-US" sz="1350" dirty="0"/>
          </a:p>
        </p:txBody>
      </p:sp>
      <p:sp>
        <p:nvSpPr>
          <p:cNvPr id="45" name="Text 31"/>
          <p:cNvSpPr txBox="1"/>
          <p:nvPr/>
        </p:nvSpPr>
        <p:spPr>
          <a:xfrm>
            <a:off x="1933956" y="6705295"/>
            <a:ext cx="95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W7</a:t>
            </a:r>
            <a:endParaRPr lang="en-US" sz="1350" dirty="0"/>
          </a:p>
        </p:txBody>
      </p:sp>
      <p:sp>
        <p:nvSpPr>
          <p:cNvPr id="46" name="Shape 32"/>
          <p:cNvSpPr/>
          <p:nvPr/>
        </p:nvSpPr>
        <p:spPr>
          <a:xfrm>
            <a:off x="2885846" y="6667805"/>
            <a:ext cx="8762695" cy="323698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3"/>
          <p:cNvSpPr/>
          <p:nvPr/>
        </p:nvSpPr>
        <p:spPr>
          <a:xfrm>
            <a:off x="2885846" y="6667805"/>
            <a:ext cx="7934249" cy="323698"/>
          </a:xfrm>
          <a:prstGeom prst="rect">
            <a:avLst/>
          </a:prstGeom>
          <a:solidFill>
            <a:srgbClr val="66BB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4"/>
          <p:cNvSpPr txBox="1"/>
          <p:nvPr/>
        </p:nvSpPr>
        <p:spPr>
          <a:xfrm>
            <a:off x="10916107" y="6667805"/>
            <a:ext cx="571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26.3</a:t>
            </a:r>
            <a:endParaRPr lang="en-US" sz="1350" dirty="0"/>
          </a:p>
        </p:txBody>
      </p:sp>
      <p:sp>
        <p:nvSpPr>
          <p:cNvPr id="49" name="Text 35"/>
          <p:cNvSpPr txBox="1"/>
          <p:nvPr/>
        </p:nvSpPr>
        <p:spPr>
          <a:xfrm>
            <a:off x="1933956" y="7220102"/>
            <a:ext cx="95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W8</a:t>
            </a:r>
            <a:endParaRPr lang="en-US" sz="1350" dirty="0"/>
          </a:p>
        </p:txBody>
      </p:sp>
      <p:sp>
        <p:nvSpPr>
          <p:cNvPr id="50" name="Shape 36"/>
          <p:cNvSpPr/>
          <p:nvPr/>
        </p:nvSpPr>
        <p:spPr>
          <a:xfrm>
            <a:off x="2885846" y="7181698"/>
            <a:ext cx="8762695" cy="323698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37"/>
          <p:cNvSpPr/>
          <p:nvPr/>
        </p:nvSpPr>
        <p:spPr>
          <a:xfrm>
            <a:off x="2885846" y="7181698"/>
            <a:ext cx="8467344" cy="323698"/>
          </a:xfrm>
          <a:prstGeom prst="rect">
            <a:avLst/>
          </a:prstGeom>
          <a:solidFill>
            <a:srgbClr val="66BB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8"/>
          <p:cNvSpPr txBox="1"/>
          <p:nvPr/>
        </p:nvSpPr>
        <p:spPr>
          <a:xfrm>
            <a:off x="11449202" y="7181698"/>
            <a:ext cx="571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26.4</a:t>
            </a:r>
            <a:endParaRPr lang="en-US" sz="1350" dirty="0"/>
          </a:p>
        </p:txBody>
      </p:sp>
      <p:sp>
        <p:nvSpPr>
          <p:cNvPr id="53" name="Text 39"/>
          <p:cNvSpPr txBox="1"/>
          <p:nvPr/>
        </p:nvSpPr>
        <p:spPr>
          <a:xfrm>
            <a:off x="3724351" y="7791602"/>
            <a:ext cx="33467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25.0</a:t>
            </a:r>
            <a:endParaRPr lang="en-US" sz="975" dirty="0"/>
          </a:p>
        </p:txBody>
      </p:sp>
      <p:sp>
        <p:nvSpPr>
          <p:cNvPr id="54" name="Text 40"/>
          <p:cNvSpPr txBox="1"/>
          <p:nvPr/>
        </p:nvSpPr>
        <p:spPr>
          <a:xfrm>
            <a:off x="4707331" y="7791602"/>
            <a:ext cx="33467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25.2</a:t>
            </a:r>
            <a:endParaRPr lang="en-US" sz="975" dirty="0"/>
          </a:p>
        </p:txBody>
      </p:sp>
      <p:sp>
        <p:nvSpPr>
          <p:cNvPr id="55" name="Text 41"/>
          <p:cNvSpPr txBox="1"/>
          <p:nvPr/>
        </p:nvSpPr>
        <p:spPr>
          <a:xfrm>
            <a:off x="5691226" y="7791602"/>
            <a:ext cx="33467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25.4</a:t>
            </a:r>
            <a:endParaRPr lang="en-US" sz="975" dirty="0"/>
          </a:p>
        </p:txBody>
      </p:sp>
      <p:sp>
        <p:nvSpPr>
          <p:cNvPr id="56" name="Text 42"/>
          <p:cNvSpPr txBox="1"/>
          <p:nvPr/>
        </p:nvSpPr>
        <p:spPr>
          <a:xfrm>
            <a:off x="6674206" y="7791602"/>
            <a:ext cx="33467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25.6</a:t>
            </a:r>
            <a:endParaRPr lang="en-US" sz="975" dirty="0"/>
          </a:p>
        </p:txBody>
      </p:sp>
      <p:sp>
        <p:nvSpPr>
          <p:cNvPr id="57" name="Text 43"/>
          <p:cNvSpPr txBox="1"/>
          <p:nvPr/>
        </p:nvSpPr>
        <p:spPr>
          <a:xfrm>
            <a:off x="7658100" y="7791602"/>
            <a:ext cx="33467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25.8</a:t>
            </a:r>
            <a:endParaRPr lang="en-US" sz="975" dirty="0"/>
          </a:p>
        </p:txBody>
      </p:sp>
      <p:sp>
        <p:nvSpPr>
          <p:cNvPr id="58" name="Text 44"/>
          <p:cNvSpPr txBox="1"/>
          <p:nvPr/>
        </p:nvSpPr>
        <p:spPr>
          <a:xfrm>
            <a:off x="8641080" y="7791602"/>
            <a:ext cx="33467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26.0</a:t>
            </a:r>
            <a:endParaRPr lang="en-US" sz="975" dirty="0"/>
          </a:p>
        </p:txBody>
      </p:sp>
      <p:sp>
        <p:nvSpPr>
          <p:cNvPr id="59" name="Text 45"/>
          <p:cNvSpPr txBox="1"/>
          <p:nvPr/>
        </p:nvSpPr>
        <p:spPr>
          <a:xfrm>
            <a:off x="9624974" y="7791602"/>
            <a:ext cx="33467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26.2</a:t>
            </a:r>
            <a:endParaRPr lang="en-US" sz="975" dirty="0"/>
          </a:p>
        </p:txBody>
      </p:sp>
      <p:sp>
        <p:nvSpPr>
          <p:cNvPr id="60" name="Text 46"/>
          <p:cNvSpPr txBox="1"/>
          <p:nvPr/>
        </p:nvSpPr>
        <p:spPr>
          <a:xfrm>
            <a:off x="10608869" y="7791602"/>
            <a:ext cx="33467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26.4</a:t>
            </a:r>
            <a:endParaRPr lang="en-US" sz="975" dirty="0"/>
          </a:p>
        </p:txBody>
      </p:sp>
      <p:sp>
        <p:nvSpPr>
          <p:cNvPr id="61" name="Shape 47"/>
          <p:cNvSpPr/>
          <p:nvPr/>
        </p:nvSpPr>
        <p:spPr>
          <a:xfrm>
            <a:off x="12191695" y="2667305"/>
            <a:ext cx="4572000" cy="5524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62" name="Shape 48"/>
          <p:cNvSpPr/>
          <p:nvPr/>
        </p:nvSpPr>
        <p:spPr>
          <a:xfrm>
            <a:off x="12191695" y="2667305"/>
            <a:ext cx="4572000" cy="57607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63" name="Text 49"/>
          <p:cNvSpPr txBox="1"/>
          <p:nvPr/>
        </p:nvSpPr>
        <p:spPr>
          <a:xfrm>
            <a:off x="12411151" y="2895905"/>
            <a:ext cx="41340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 summary</a:t>
            </a:r>
            <a:endParaRPr lang="en-US" sz="1350" dirty="0"/>
          </a:p>
        </p:txBody>
      </p:sp>
      <p:sp>
        <p:nvSpPr>
          <p:cNvPr id="64" name="Text 50"/>
          <p:cNvSpPr txBox="1"/>
          <p:nvPr/>
        </p:nvSpPr>
        <p:spPr>
          <a:xfrm>
            <a:off x="12411151" y="3181198"/>
            <a:ext cx="41340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wafer · mean / 3σ / range / Δ-to-target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201754" y="3476549"/>
          <a:ext cx="4572000" cy="3629254"/>
        </p:xfrm>
        <a:graphic>
          <a:graphicData uri="http://schemas.openxmlformats.org/drawingml/2006/table">
            <a:tbl>
              <a:tblPr/>
              <a:tblGrid>
                <a:gridCol w="1089050"/>
                <a:gridCol w="939089"/>
                <a:gridCol w="736092"/>
                <a:gridCol w="946404"/>
                <a:gridCol w="861365"/>
              </a:tblGrid>
              <a:tr h="403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Wafer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mean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range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W1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25.4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1.6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25.3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0.52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+0.1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W3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25.7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0.61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88E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+0.5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25.6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0.58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1.9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88E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W5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0.69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2.3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8B2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W6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26.1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0.71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8B2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+0.9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W7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26.3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+1.1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26.4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+1.2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6" name="Shape 51"/>
          <p:cNvSpPr/>
          <p:nvPr/>
        </p:nvSpPr>
        <p:spPr>
          <a:xfrm>
            <a:off x="1619402" y="8620049"/>
            <a:ext cx="15145207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52"/>
          <p:cNvSpPr txBox="1"/>
          <p:nvPr/>
        </p:nvSpPr>
        <p:spPr>
          <a:xfrm>
            <a:off x="1809598" y="8620049"/>
            <a:ext cx="147639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 arm (W1-W4) 25.3~25.7 nm로 target ±0.5 nm 안에 모이나, CV·PVD (W7·W8)는 +1.1~+1.2 nm 우측으로 늘어났다.</a:t>
            </a:r>
            <a:endParaRPr lang="en-US" sz="1200" dirty="0"/>
          </a:p>
        </p:txBody>
      </p:sp>
      <p:sp>
        <p:nvSpPr>
          <p:cNvPr id="68" name="Text 53"/>
          <p:cNvSpPr txBox="1"/>
          <p:nvPr/>
        </p:nvSpPr>
        <p:spPr>
          <a:xfrm>
            <a:off x="1619402" y="9620402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69" name="Text 54"/>
          <p:cNvSpPr txBox="1"/>
          <p:nvPr/>
        </p:nvSpPr>
        <p:spPr>
          <a:xfrm>
            <a:off x="14763902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12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754fa3857d754c3e0c09368d552363f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0" y="0"/>
            <a:ext cx="57607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19402" y="666598"/>
            <a:ext cx="2076602" cy="323698"/>
          </a:xfrm>
          <a:prstGeom prst="roundRect">
            <a:avLst>
              <a:gd name="adj" fmla="val 5932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1619402" y="666598"/>
            <a:ext cx="20766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ASEI · Trench Middle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1619402" y="1143000"/>
            <a:ext cx="142875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ASEI — vertical bars · 8 wafer summary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1619402" y="1886407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17.7 nm. CMP 후 측정. SAV 4 wafer 평균 18.0, CV 4 wafer 평균 18.6.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1619402" y="2667305"/>
            <a:ext cx="11239805" cy="5524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pic>
        <p:nvPicPr>
          <p:cNvPr id="9" name="Image 1" descr="gen-dedup-d19fe6cfd1cafe00397ecb7c3be2b241.png">    </p:cNvPr>
          <p:cNvPicPr>
            <a:picLocks noChangeAspect="1"/>
          </p:cNvPicPr>
          <p:nvPr/>
        </p:nvPicPr>
        <p:blipFill>
          <a:blip r:embed="rId2"/>
          <a:srcRect l="0" r="0" t="-402" b="-402"/>
          <a:stretch/>
        </p:blipFill>
        <p:spPr>
          <a:xfrm>
            <a:off x="2428646" y="7200900"/>
            <a:ext cx="9905695" cy="19202"/>
          </a:xfrm>
          <a:prstGeom prst="rect">
            <a:avLst/>
          </a:prstGeom>
        </p:spPr>
      </p:pic>
      <p:pic>
        <p:nvPicPr>
          <p:cNvPr id="10" name="Image 2" descr="gen-dedup-dc0f7e19922686d62e21f71726856a2d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2428646" y="6200546"/>
            <a:ext cx="9905695" cy="9144"/>
          </a:xfrm>
          <a:prstGeom prst="rect">
            <a:avLst/>
          </a:prstGeom>
        </p:spPr>
      </p:pic>
      <p:pic>
        <p:nvPicPr>
          <p:cNvPr id="11" name="Image 3" descr="gen-dedup-dc0f7e19922686d62e21f71726856a2d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2428646" y="4647895"/>
            <a:ext cx="9905695" cy="9144"/>
          </a:xfrm>
          <a:prstGeom prst="rect">
            <a:avLst/>
          </a:prstGeom>
        </p:spPr>
      </p:pic>
      <p:pic>
        <p:nvPicPr>
          <p:cNvPr id="12" name="Image 4" descr="gen-dedup-dc0f7e19922686d62e21f71726856a2d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2428646" y="3362249"/>
            <a:ext cx="9905695" cy="9144"/>
          </a:xfrm>
          <a:prstGeom prst="rect">
            <a:avLst/>
          </a:prstGeom>
        </p:spPr>
      </p:pic>
      <p:pic>
        <p:nvPicPr>
          <p:cNvPr id="13" name="Image 5" descr="gen-dedup-685f462c8734f5aedd7a60d09e05ee9a.png">    </p:cNvPr>
          <p:cNvPicPr>
            <a:picLocks noChangeAspect="1"/>
          </p:cNvPicPr>
          <p:nvPr/>
        </p:nvPicPr>
        <p:blipFill>
          <a:blip r:embed="rId6"/>
          <a:srcRect l="-402" r="-402" t="0" b="0"/>
          <a:stretch/>
        </p:blipFill>
        <p:spPr>
          <a:xfrm>
            <a:off x="2428646" y="6163056"/>
            <a:ext cx="9905695" cy="28346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11521440" y="5971946"/>
            <a:ext cx="819302" cy="219456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17.7</a:t>
            </a:r>
            <a:endParaRPr lang="en-US" sz="975" dirty="0"/>
          </a:p>
        </p:txBody>
      </p:sp>
      <p:pic>
        <p:nvPicPr>
          <p:cNvPr id="15" name="Image 6" descr="gen-dedup-d9e8dd0c54adb449d05df87f620de959.png">    </p:cNvPr>
          <p:cNvPicPr>
            <a:picLocks noChangeAspect="1"/>
          </p:cNvPicPr>
          <p:nvPr/>
        </p:nvPicPr>
        <p:blipFill>
          <a:blip r:embed="rId7"/>
          <a:srcRect l="0" r="0" t="-19" b="-19"/>
          <a:stretch/>
        </p:blipFill>
        <p:spPr>
          <a:xfrm>
            <a:off x="2971800" y="5676595"/>
            <a:ext cx="666598" cy="1571854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2971800" y="5391302"/>
            <a:ext cx="667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17.9</a:t>
            </a:r>
            <a:endParaRPr lang="en-US" sz="1350" dirty="0"/>
          </a:p>
        </p:txBody>
      </p:sp>
      <p:sp>
        <p:nvSpPr>
          <p:cNvPr id="17" name="Text 7"/>
          <p:cNvSpPr txBox="1"/>
          <p:nvPr/>
        </p:nvSpPr>
        <p:spPr>
          <a:xfrm>
            <a:off x="2876702" y="7343546"/>
            <a:ext cx="8577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W1</a:t>
            </a:r>
            <a:endParaRPr lang="en-US" sz="1350" dirty="0"/>
          </a:p>
        </p:txBody>
      </p:sp>
      <p:pic>
        <p:nvPicPr>
          <p:cNvPr id="18" name="Image 7" descr="gen-dedup-fcdbfeca9543666a0fab94b99e0c7cfa.png">    </p:cNvPr>
          <p:cNvPicPr>
            <a:picLocks noChangeAspect="1"/>
          </p:cNvPicPr>
          <p:nvPr/>
        </p:nvPicPr>
        <p:blipFill>
          <a:blip r:embed="rId8"/>
          <a:srcRect l="0" r="0" t="-8" b="-8"/>
          <a:stretch/>
        </p:blipFill>
        <p:spPr>
          <a:xfrm>
            <a:off x="4190695" y="5934456"/>
            <a:ext cx="666598" cy="1304849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4190695" y="5648249"/>
            <a:ext cx="667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17.8</a:t>
            </a:r>
            <a:endParaRPr lang="en-US" sz="1350" dirty="0"/>
          </a:p>
        </p:txBody>
      </p:sp>
      <p:sp>
        <p:nvSpPr>
          <p:cNvPr id="20" name="Text 9"/>
          <p:cNvSpPr txBox="1"/>
          <p:nvPr/>
        </p:nvSpPr>
        <p:spPr>
          <a:xfrm>
            <a:off x="4095598" y="7343546"/>
            <a:ext cx="8577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</a:t>
            </a:r>
            <a:endParaRPr lang="en-US" sz="1350" dirty="0"/>
          </a:p>
        </p:txBody>
      </p:sp>
      <p:pic>
        <p:nvPicPr>
          <p:cNvPr id="21" name="Image 8" descr="gen-dedup-2779653edcf63d384f1ff7b49b36b950.png">    </p:cNvPr>
          <p:cNvPicPr>
            <a:picLocks noChangeAspect="1"/>
          </p:cNvPicPr>
          <p:nvPr/>
        </p:nvPicPr>
        <p:blipFill>
          <a:blip r:embed="rId9"/>
          <a:srcRect l="0" r="0" t="-13" b="-13"/>
          <a:stretch/>
        </p:blipFill>
        <p:spPr>
          <a:xfrm>
            <a:off x="5410505" y="4886554"/>
            <a:ext cx="666598" cy="2352751"/>
          </a:xfrm>
          <a:prstGeom prst="rect">
            <a:avLst/>
          </a:prstGeom>
        </p:spPr>
      </p:pic>
      <p:sp>
        <p:nvSpPr>
          <p:cNvPr id="22" name="Text 10"/>
          <p:cNvSpPr txBox="1"/>
          <p:nvPr/>
        </p:nvSpPr>
        <p:spPr>
          <a:xfrm>
            <a:off x="5410505" y="4600346"/>
            <a:ext cx="667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18.2</a:t>
            </a:r>
            <a:endParaRPr lang="en-US" sz="1350" dirty="0"/>
          </a:p>
        </p:txBody>
      </p:sp>
      <p:sp>
        <p:nvSpPr>
          <p:cNvPr id="23" name="Text 11"/>
          <p:cNvSpPr txBox="1"/>
          <p:nvPr/>
        </p:nvSpPr>
        <p:spPr>
          <a:xfrm>
            <a:off x="5315407" y="7343546"/>
            <a:ext cx="8577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</a:t>
            </a:r>
            <a:endParaRPr lang="en-US" sz="1350" dirty="0"/>
          </a:p>
        </p:txBody>
      </p:sp>
      <p:pic>
        <p:nvPicPr>
          <p:cNvPr id="24" name="Image 9" descr="gen-dedup-c57f3c3ed9c2523ac3ce7bab6d435a74.png">    </p:cNvPr>
          <p:cNvPicPr>
            <a:picLocks noChangeAspect="1"/>
          </p:cNvPicPr>
          <p:nvPr/>
        </p:nvPicPr>
        <p:blipFill>
          <a:blip r:embed="rId10"/>
          <a:srcRect l="0" r="0" t="-19" b="-19"/>
          <a:stretch/>
        </p:blipFill>
        <p:spPr>
          <a:xfrm>
            <a:off x="6629400" y="5143500"/>
            <a:ext cx="666598" cy="2095805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6629400" y="4858207"/>
            <a:ext cx="667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18.1</a:t>
            </a:r>
            <a:endParaRPr lang="en-US" sz="1350" dirty="0"/>
          </a:p>
        </p:txBody>
      </p:sp>
      <p:sp>
        <p:nvSpPr>
          <p:cNvPr id="26" name="Text 13"/>
          <p:cNvSpPr txBox="1"/>
          <p:nvPr/>
        </p:nvSpPr>
        <p:spPr>
          <a:xfrm>
            <a:off x="6534302" y="7343546"/>
            <a:ext cx="8577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W4</a:t>
            </a:r>
            <a:endParaRPr lang="en-US" sz="1350" dirty="0"/>
          </a:p>
        </p:txBody>
      </p:sp>
      <p:pic>
        <p:nvPicPr>
          <p:cNvPr id="27" name="Image 10" descr="gen-dedup-efc62a1ab0d1204d4b03180d75405d7f.png">    </p:cNvPr>
          <p:cNvPicPr>
            <a:picLocks noChangeAspect="1"/>
          </p:cNvPicPr>
          <p:nvPr/>
        </p:nvPicPr>
        <p:blipFill>
          <a:blip r:embed="rId11"/>
          <a:srcRect l="0" r="0" t="-19" b="-19"/>
          <a:stretch/>
        </p:blipFill>
        <p:spPr>
          <a:xfrm>
            <a:off x="7848295" y="4095598"/>
            <a:ext cx="666598" cy="3143707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7848295" y="3810305"/>
            <a:ext cx="667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18.5</a:t>
            </a:r>
            <a:endParaRPr lang="en-US" sz="1350" dirty="0"/>
          </a:p>
        </p:txBody>
      </p:sp>
      <p:sp>
        <p:nvSpPr>
          <p:cNvPr id="29" name="Text 15"/>
          <p:cNvSpPr txBox="1"/>
          <p:nvPr/>
        </p:nvSpPr>
        <p:spPr>
          <a:xfrm>
            <a:off x="7753198" y="7343546"/>
            <a:ext cx="8577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W5</a:t>
            </a:r>
            <a:endParaRPr lang="en-US" sz="1350" dirty="0"/>
          </a:p>
        </p:txBody>
      </p:sp>
      <p:pic>
        <p:nvPicPr>
          <p:cNvPr id="30" name="Image 11" descr="gen-dedup-df4182a30971d0a89f2356d5d20aa12f.png">    </p:cNvPr>
          <p:cNvPicPr>
            <a:picLocks noChangeAspect="1"/>
          </p:cNvPicPr>
          <p:nvPr/>
        </p:nvPicPr>
        <p:blipFill>
          <a:blip r:embed="rId12"/>
          <a:srcRect l="0" r="0" t="-15" b="-15"/>
          <a:stretch/>
        </p:blipFill>
        <p:spPr>
          <a:xfrm>
            <a:off x="9068105" y="3838651"/>
            <a:ext cx="666598" cy="3400654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9068105" y="3552444"/>
            <a:ext cx="667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18.6</a:t>
            </a:r>
            <a:endParaRPr lang="en-US" sz="1350" dirty="0"/>
          </a:p>
        </p:txBody>
      </p:sp>
      <p:sp>
        <p:nvSpPr>
          <p:cNvPr id="32" name="Text 17"/>
          <p:cNvSpPr txBox="1"/>
          <p:nvPr/>
        </p:nvSpPr>
        <p:spPr>
          <a:xfrm>
            <a:off x="8973007" y="7343546"/>
            <a:ext cx="8577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W6</a:t>
            </a:r>
            <a:endParaRPr lang="en-US" sz="1350" dirty="0"/>
          </a:p>
        </p:txBody>
      </p:sp>
      <p:pic>
        <p:nvPicPr>
          <p:cNvPr id="33" name="Image 12" descr="gen-dedup-1fb9f8478c460d209b2be695fba90f6a.png">    </p:cNvPr>
          <p:cNvPicPr>
            <a:picLocks noChangeAspect="1"/>
          </p:cNvPicPr>
          <p:nvPr/>
        </p:nvPicPr>
        <p:blipFill>
          <a:blip r:embed="rId13"/>
          <a:srcRect l="0" r="0" t="-6" b="-6"/>
          <a:stretch/>
        </p:blipFill>
        <p:spPr>
          <a:xfrm>
            <a:off x="10287000" y="3571646"/>
            <a:ext cx="666598" cy="3666744"/>
          </a:xfrm>
          <a:prstGeom prst="rect">
            <a:avLst/>
          </a:prstGeom>
        </p:spPr>
      </p:pic>
      <p:sp>
        <p:nvSpPr>
          <p:cNvPr id="34" name="Text 18"/>
          <p:cNvSpPr txBox="1"/>
          <p:nvPr/>
        </p:nvSpPr>
        <p:spPr>
          <a:xfrm>
            <a:off x="10287000" y="3286354"/>
            <a:ext cx="667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18.7</a:t>
            </a:r>
            <a:endParaRPr lang="en-US" sz="1350" dirty="0"/>
          </a:p>
        </p:txBody>
      </p:sp>
      <p:sp>
        <p:nvSpPr>
          <p:cNvPr id="35" name="Text 19"/>
          <p:cNvSpPr txBox="1"/>
          <p:nvPr/>
        </p:nvSpPr>
        <p:spPr>
          <a:xfrm>
            <a:off x="10191902" y="7343546"/>
            <a:ext cx="8577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W7</a:t>
            </a:r>
            <a:endParaRPr lang="en-US" sz="1350" dirty="0"/>
          </a:p>
        </p:txBody>
      </p:sp>
      <p:pic>
        <p:nvPicPr>
          <p:cNvPr id="36" name="Image 13" descr="gen-dedup-c7a7a3920fa90fe71bc5b545774af572.png">    </p:cNvPr>
          <p:cNvPicPr>
            <a:picLocks noChangeAspect="1"/>
          </p:cNvPicPr>
          <p:nvPr/>
        </p:nvPicPr>
        <p:blipFill>
          <a:blip r:embed="rId14"/>
          <a:srcRect l="0" r="0" t="-15" b="-15"/>
          <a:stretch/>
        </p:blipFill>
        <p:spPr>
          <a:xfrm>
            <a:off x="11505895" y="3314700"/>
            <a:ext cx="666598" cy="3924605"/>
          </a:xfrm>
          <a:prstGeom prst="rect">
            <a:avLst/>
          </a:prstGeom>
        </p:spPr>
      </p:pic>
      <p:sp>
        <p:nvSpPr>
          <p:cNvPr id="37" name="Text 20"/>
          <p:cNvSpPr txBox="1"/>
          <p:nvPr/>
        </p:nvSpPr>
        <p:spPr>
          <a:xfrm>
            <a:off x="11505895" y="3029407"/>
            <a:ext cx="667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18.8</a:t>
            </a:r>
            <a:endParaRPr lang="en-US" sz="1350" dirty="0"/>
          </a:p>
        </p:txBody>
      </p:sp>
      <p:sp>
        <p:nvSpPr>
          <p:cNvPr id="38" name="Text 21"/>
          <p:cNvSpPr txBox="1"/>
          <p:nvPr/>
        </p:nvSpPr>
        <p:spPr>
          <a:xfrm>
            <a:off x="11410798" y="7343546"/>
            <a:ext cx="8577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W8</a:t>
            </a:r>
            <a:endParaRPr lang="en-US" sz="1350" dirty="0"/>
          </a:p>
        </p:txBody>
      </p:sp>
      <p:sp>
        <p:nvSpPr>
          <p:cNvPr id="39" name="Text 22"/>
          <p:cNvSpPr txBox="1"/>
          <p:nvPr/>
        </p:nvSpPr>
        <p:spPr>
          <a:xfrm rot="16200000">
            <a:off x="1827886" y="3113532"/>
            <a:ext cx="33467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18.8</a:t>
            </a:r>
            <a:endParaRPr lang="en-US" sz="975" dirty="0"/>
          </a:p>
        </p:txBody>
      </p:sp>
      <p:sp>
        <p:nvSpPr>
          <p:cNvPr id="40" name="Text 23"/>
          <p:cNvSpPr txBox="1"/>
          <p:nvPr/>
        </p:nvSpPr>
        <p:spPr>
          <a:xfrm>
            <a:off x="1857146" y="6105449"/>
            <a:ext cx="33467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17.7</a:t>
            </a:r>
            <a:endParaRPr lang="en-US" sz="975" dirty="0"/>
          </a:p>
        </p:txBody>
      </p:sp>
      <p:sp>
        <p:nvSpPr>
          <p:cNvPr id="41" name="Text 24"/>
          <p:cNvSpPr txBox="1"/>
          <p:nvPr/>
        </p:nvSpPr>
        <p:spPr>
          <a:xfrm>
            <a:off x="1857146" y="7200900"/>
            <a:ext cx="33467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17.3</a:t>
            </a:r>
            <a:endParaRPr lang="en-US" sz="975" dirty="0"/>
          </a:p>
        </p:txBody>
      </p:sp>
      <p:sp>
        <p:nvSpPr>
          <p:cNvPr id="42" name="Text 25"/>
          <p:cNvSpPr txBox="1"/>
          <p:nvPr/>
        </p:nvSpPr>
        <p:spPr>
          <a:xfrm>
            <a:off x="11448288" y="7925105"/>
            <a:ext cx="166329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scale 17.3 ~ 18.9 nm</a:t>
            </a:r>
            <a:endParaRPr lang="en-US" sz="975" dirty="0"/>
          </a:p>
        </p:txBody>
      </p:sp>
      <p:sp>
        <p:nvSpPr>
          <p:cNvPr id="43" name="Shape 26"/>
          <p:cNvSpPr/>
          <p:nvPr/>
        </p:nvSpPr>
        <p:spPr>
          <a:xfrm>
            <a:off x="13144500" y="2667305"/>
            <a:ext cx="3619195" cy="1762049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44" name="Text 27"/>
          <p:cNvSpPr txBox="1"/>
          <p:nvPr/>
        </p:nvSpPr>
        <p:spPr>
          <a:xfrm>
            <a:off x="13382244" y="2885846"/>
            <a:ext cx="3143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 mean</a:t>
            </a:r>
            <a:endParaRPr lang="en-US" sz="975" dirty="0"/>
          </a:p>
        </p:txBody>
      </p:sp>
      <p:sp>
        <p:nvSpPr>
          <p:cNvPr id="45" name="Text 28"/>
          <p:cNvSpPr txBox="1"/>
          <p:nvPr/>
        </p:nvSpPr>
        <p:spPr>
          <a:xfrm>
            <a:off x="13382244" y="3161995"/>
            <a:ext cx="3143707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18.0 nm</a:t>
            </a:r>
            <a:endParaRPr lang="en-US" sz="4200" dirty="0"/>
          </a:p>
        </p:txBody>
      </p:sp>
      <p:sp>
        <p:nvSpPr>
          <p:cNvPr id="46" name="Text 29"/>
          <p:cNvSpPr txBox="1"/>
          <p:nvPr/>
        </p:nvSpPr>
        <p:spPr>
          <a:xfrm>
            <a:off x="13382244" y="3829507"/>
            <a:ext cx="31437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W1~W4 · σ 평균 0.42 nm</a:t>
            </a:r>
            <a:endParaRPr lang="en-US" sz="1125" dirty="0"/>
          </a:p>
        </p:txBody>
      </p:sp>
      <p:sp>
        <p:nvSpPr>
          <p:cNvPr id="47" name="Shape 30"/>
          <p:cNvSpPr/>
          <p:nvPr/>
        </p:nvSpPr>
        <p:spPr>
          <a:xfrm>
            <a:off x="13144500" y="4619549"/>
            <a:ext cx="3619195" cy="1762049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48" name="Text 31"/>
          <p:cNvSpPr txBox="1"/>
          <p:nvPr/>
        </p:nvSpPr>
        <p:spPr>
          <a:xfrm>
            <a:off x="13382244" y="4839005"/>
            <a:ext cx="3143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CV mean</a:t>
            </a:r>
            <a:endParaRPr lang="en-US" sz="975" dirty="0"/>
          </a:p>
        </p:txBody>
      </p:sp>
      <p:sp>
        <p:nvSpPr>
          <p:cNvPr id="49" name="Text 32"/>
          <p:cNvSpPr txBox="1"/>
          <p:nvPr/>
        </p:nvSpPr>
        <p:spPr>
          <a:xfrm>
            <a:off x="13382244" y="5115154"/>
            <a:ext cx="3143707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88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18.6 nm</a:t>
            </a:r>
            <a:endParaRPr lang="en-US" sz="4200" dirty="0"/>
          </a:p>
        </p:txBody>
      </p:sp>
      <p:sp>
        <p:nvSpPr>
          <p:cNvPr id="50" name="Text 33"/>
          <p:cNvSpPr txBox="1"/>
          <p:nvPr/>
        </p:nvSpPr>
        <p:spPr>
          <a:xfrm>
            <a:off x="13382244" y="5781751"/>
            <a:ext cx="31437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W5~W8 · σ 평균 0.55 nm</a:t>
            </a:r>
            <a:endParaRPr lang="en-US" sz="1125" dirty="0"/>
          </a:p>
        </p:txBody>
      </p:sp>
      <p:sp>
        <p:nvSpPr>
          <p:cNvPr id="51" name="Shape 34"/>
          <p:cNvSpPr/>
          <p:nvPr/>
        </p:nvSpPr>
        <p:spPr>
          <a:xfrm>
            <a:off x="13144500" y="6572707"/>
            <a:ext cx="3619195" cy="1619402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52" name="Text 35"/>
          <p:cNvSpPr txBox="1"/>
          <p:nvPr/>
        </p:nvSpPr>
        <p:spPr>
          <a:xfrm>
            <a:off x="13382244" y="6791249"/>
            <a:ext cx="3143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 Δ</a:t>
            </a:r>
            <a:endParaRPr lang="en-US" sz="975" dirty="0"/>
          </a:p>
        </p:txBody>
      </p:sp>
      <p:sp>
        <p:nvSpPr>
          <p:cNvPr id="53" name="Text 36"/>
          <p:cNvSpPr txBox="1"/>
          <p:nvPr/>
        </p:nvSpPr>
        <p:spPr>
          <a:xfrm>
            <a:off x="13382244" y="7029907"/>
            <a:ext cx="3143707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+0.6 vs </a:t>
            </a:r>
            <a:pPr algn="l" indent="0" marL="0">
              <a:buNone/>
            </a:pPr>
            <a:r>
              <a:rPr lang="en-US" sz="1800" b="1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</a:t>
            </a:r>
            <a:endParaRPr lang="en-US" sz="2700" dirty="0"/>
          </a:p>
        </p:txBody>
      </p:sp>
      <p:sp>
        <p:nvSpPr>
          <p:cNvPr id="54" name="Text 37"/>
          <p:cNvSpPr txBox="1"/>
          <p:nvPr/>
        </p:nvSpPr>
        <p:spPr>
          <a:xfrm>
            <a:off x="13382244" y="7601407"/>
            <a:ext cx="3143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CV가 SAV 대비 평균 +0.6 nm</a:t>
            </a:r>
            <a:endParaRPr lang="en-US" sz="1050" dirty="0"/>
          </a:p>
        </p:txBody>
      </p:sp>
      <p:sp>
        <p:nvSpPr>
          <p:cNvPr id="55" name="Shape 38"/>
          <p:cNvSpPr/>
          <p:nvPr/>
        </p:nvSpPr>
        <p:spPr>
          <a:xfrm>
            <a:off x="1619402" y="8620049"/>
            <a:ext cx="15145207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39"/>
          <p:cNvSpPr txBox="1"/>
          <p:nvPr/>
        </p:nvSpPr>
        <p:spPr>
          <a:xfrm>
            <a:off x="1809598" y="8620049"/>
            <a:ext cx="147639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 4 wafer가 target ±0.3 nm 안에 모이나 CV·PVD (W7·W8)는 +1.0~+1.1 nm 우측으로 벗어났다.</a:t>
            </a:r>
            <a:endParaRPr lang="en-US" sz="1200" dirty="0"/>
          </a:p>
        </p:txBody>
      </p:sp>
      <p:sp>
        <p:nvSpPr>
          <p:cNvPr id="57" name="Text 40"/>
          <p:cNvSpPr txBox="1"/>
          <p:nvPr/>
        </p:nvSpPr>
        <p:spPr>
          <a:xfrm>
            <a:off x="1619402" y="9620402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58" name="Text 41"/>
          <p:cNvSpPr txBox="1"/>
          <p:nvPr/>
        </p:nvSpPr>
        <p:spPr>
          <a:xfrm>
            <a:off x="14763902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12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754fa3857d754c3e0c09368d552363f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0" y="0"/>
            <a:ext cx="57607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19402" y="571500"/>
            <a:ext cx="1742846" cy="323698"/>
          </a:xfrm>
          <a:prstGeom prst="roundRect">
            <a:avLst>
              <a:gd name="adj" fmla="val 5932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1619402" y="571500"/>
            <a:ext cx="17437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AMI · Via Middle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1619402" y="1047902"/>
            <a:ext cx="142875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 — Δ deviation per wafer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1619402" y="1772107"/>
            <a:ext cx="14287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8.6 nm. via middle CD. sub-10 nm 영역 — 절대 분산보다 Δ 패턴이 더 큰 신호.</a:t>
            </a:r>
            <a:endParaRPr lang="en-US" sz="1425" dirty="0"/>
          </a:p>
        </p:txBody>
      </p:sp>
      <p:sp>
        <p:nvSpPr>
          <p:cNvPr id="8" name="Shape 4"/>
          <p:cNvSpPr/>
          <p:nvPr/>
        </p:nvSpPr>
        <p:spPr>
          <a:xfrm>
            <a:off x="1619402" y="2190902"/>
            <a:ext cx="10001707" cy="6096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876349" y="2428646"/>
            <a:ext cx="94869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Δ deviation from target 8.6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876349" y="2743200"/>
            <a:ext cx="94869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right = larger than target, left = smaller</a:t>
            </a:r>
            <a:endParaRPr lang="en-US" sz="975" dirty="0"/>
          </a:p>
        </p:txBody>
      </p:sp>
      <p:pic>
        <p:nvPicPr>
          <p:cNvPr id="11" name="Image 1" descr="gen-dedup-a73df10c6e93d9ed3c55f9a2502bf458.png">    </p:cNvPr>
          <p:cNvPicPr>
            <a:picLocks noChangeAspect="1"/>
          </p:cNvPicPr>
          <p:nvPr/>
        </p:nvPicPr>
        <p:blipFill>
          <a:blip r:embed="rId2"/>
          <a:srcRect l="-395" r="-395" t="0" b="0"/>
          <a:stretch/>
        </p:blipFill>
        <p:spPr>
          <a:xfrm>
            <a:off x="3019349" y="3209544"/>
            <a:ext cx="19202" cy="4858207"/>
          </a:xfrm>
          <a:prstGeom prst="rect">
            <a:avLst/>
          </a:prstGeom>
        </p:spPr>
      </p:pic>
      <p:pic>
        <p:nvPicPr>
          <p:cNvPr id="12" name="Image 2" descr="gen-dedup-c822c7a2b1d35abeaf9c4a2b728b3853.png">    </p:cNvPr>
          <p:cNvPicPr>
            <a:picLocks noChangeAspect="1"/>
          </p:cNvPicPr>
          <p:nvPr/>
        </p:nvPicPr>
        <p:blipFill>
          <a:blip r:embed="rId3"/>
          <a:srcRect l="0" r="0" t="-2089" b="-2089"/>
          <a:stretch/>
        </p:blipFill>
        <p:spPr>
          <a:xfrm>
            <a:off x="4352544" y="3209544"/>
            <a:ext cx="9144" cy="4858207"/>
          </a:xfrm>
          <a:prstGeom prst="rect">
            <a:avLst/>
          </a:prstGeom>
        </p:spPr>
      </p:pic>
      <p:pic>
        <p:nvPicPr>
          <p:cNvPr id="13" name="Image 3" descr="gen-dedup-c822c7a2b1d35abeaf9c4a2b728b3853.png">    </p:cNvPr>
          <p:cNvPicPr>
            <a:picLocks noChangeAspect="1"/>
          </p:cNvPicPr>
          <p:nvPr/>
        </p:nvPicPr>
        <p:blipFill>
          <a:blip r:embed="rId4"/>
          <a:srcRect l="0" r="0" t="-2089" b="-2089"/>
          <a:stretch/>
        </p:blipFill>
        <p:spPr>
          <a:xfrm>
            <a:off x="5686654" y="3209544"/>
            <a:ext cx="9144" cy="4858207"/>
          </a:xfrm>
          <a:prstGeom prst="rect">
            <a:avLst/>
          </a:prstGeom>
        </p:spPr>
      </p:pic>
      <p:pic>
        <p:nvPicPr>
          <p:cNvPr id="14" name="Image 4" descr="gen-dedup-c822c7a2b1d35abeaf9c4a2b728b3853.png">    </p:cNvPr>
          <p:cNvPicPr>
            <a:picLocks noChangeAspect="1"/>
          </p:cNvPicPr>
          <p:nvPr/>
        </p:nvPicPr>
        <p:blipFill>
          <a:blip r:embed="rId5"/>
          <a:srcRect l="0" r="0" t="-2089" b="-2089"/>
          <a:stretch/>
        </p:blipFill>
        <p:spPr>
          <a:xfrm>
            <a:off x="7019849" y="3209544"/>
            <a:ext cx="9144" cy="4858207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876349" y="3448202"/>
            <a:ext cx="1028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W1</a:t>
            </a:r>
            <a:endParaRPr lang="en-US" sz="1350" dirty="0"/>
          </a:p>
        </p:txBody>
      </p:sp>
      <p:sp>
        <p:nvSpPr>
          <p:cNvPr id="16" name="Shape 8"/>
          <p:cNvSpPr/>
          <p:nvPr/>
        </p:nvSpPr>
        <p:spPr>
          <a:xfrm>
            <a:off x="3019349" y="3419856"/>
            <a:ext cx="666598" cy="304495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9"/>
          <p:cNvSpPr/>
          <p:nvPr/>
        </p:nvSpPr>
        <p:spPr>
          <a:xfrm>
            <a:off x="3019349" y="3419856"/>
            <a:ext cx="666598" cy="304495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0"/>
          <p:cNvSpPr txBox="1"/>
          <p:nvPr/>
        </p:nvSpPr>
        <p:spPr>
          <a:xfrm>
            <a:off x="3781044" y="3419856"/>
            <a:ext cx="6675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</a:t>
            </a:r>
            <a:endParaRPr lang="en-US" sz="1350" dirty="0"/>
          </a:p>
        </p:txBody>
      </p:sp>
      <p:sp>
        <p:nvSpPr>
          <p:cNvPr id="19" name="Text 11"/>
          <p:cNvSpPr txBox="1"/>
          <p:nvPr/>
        </p:nvSpPr>
        <p:spPr>
          <a:xfrm>
            <a:off x="1876349" y="3952951"/>
            <a:ext cx="1028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3019349" y="4028846"/>
            <a:ext cx="666598" cy="304495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3019349" y="4028846"/>
            <a:ext cx="666598" cy="304495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3781044" y="4028846"/>
            <a:ext cx="6675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</a:t>
            </a:r>
            <a:endParaRPr lang="en-US" sz="1350" dirty="0"/>
          </a:p>
        </p:txBody>
      </p:sp>
      <p:sp>
        <p:nvSpPr>
          <p:cNvPr id="23" name="Text 15"/>
          <p:cNvSpPr txBox="1"/>
          <p:nvPr/>
        </p:nvSpPr>
        <p:spPr>
          <a:xfrm>
            <a:off x="1876349" y="4562856"/>
            <a:ext cx="1028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3019349" y="4638751"/>
            <a:ext cx="2000707" cy="304495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3019349" y="4638751"/>
            <a:ext cx="2000707" cy="304495"/>
          </a:xfrm>
          <a:prstGeom prst="rect">
            <a:avLst/>
          </a:prstGeom>
          <a:solidFill>
            <a:srgbClr val="388E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5115154" y="4638751"/>
            <a:ext cx="6675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+0.3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1876349" y="5171846"/>
            <a:ext cx="1028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W4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3019349" y="5248656"/>
            <a:ext cx="2000707" cy="304495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3019349" y="5248656"/>
            <a:ext cx="2000707" cy="304495"/>
          </a:xfrm>
          <a:prstGeom prst="rect">
            <a:avLst/>
          </a:prstGeom>
          <a:solidFill>
            <a:srgbClr val="388E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5115154" y="5248656"/>
            <a:ext cx="6675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+0.3</a:t>
            </a:r>
            <a:endParaRPr lang="en-US" sz="1350" dirty="0"/>
          </a:p>
        </p:txBody>
      </p:sp>
      <p:sp>
        <p:nvSpPr>
          <p:cNvPr id="31" name="Text 23"/>
          <p:cNvSpPr txBox="1"/>
          <p:nvPr/>
        </p:nvSpPr>
        <p:spPr>
          <a:xfrm>
            <a:off x="1876349" y="5781751"/>
            <a:ext cx="1028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W5</a:t>
            </a:r>
            <a:endParaRPr lang="en-US" sz="1350" dirty="0"/>
          </a:p>
        </p:txBody>
      </p:sp>
      <p:sp>
        <p:nvSpPr>
          <p:cNvPr id="32" name="Shape 24"/>
          <p:cNvSpPr/>
          <p:nvPr/>
        </p:nvSpPr>
        <p:spPr>
          <a:xfrm>
            <a:off x="3019349" y="5857646"/>
            <a:ext cx="3333902" cy="304495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3019349" y="5857646"/>
            <a:ext cx="3333902" cy="304495"/>
          </a:xfrm>
          <a:prstGeom prst="rect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6448349" y="5857646"/>
            <a:ext cx="6675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+0.5</a:t>
            </a:r>
            <a:endParaRPr lang="en-US" sz="1350" dirty="0"/>
          </a:p>
        </p:txBody>
      </p:sp>
      <p:sp>
        <p:nvSpPr>
          <p:cNvPr id="35" name="Text 27"/>
          <p:cNvSpPr txBox="1"/>
          <p:nvPr/>
        </p:nvSpPr>
        <p:spPr>
          <a:xfrm>
            <a:off x="1876349" y="6391656"/>
            <a:ext cx="1028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W6</a:t>
            </a:r>
            <a:endParaRPr lang="en-US" sz="1350" dirty="0"/>
          </a:p>
        </p:txBody>
      </p:sp>
      <p:sp>
        <p:nvSpPr>
          <p:cNvPr id="36" name="Shape 28"/>
          <p:cNvSpPr/>
          <p:nvPr/>
        </p:nvSpPr>
        <p:spPr>
          <a:xfrm>
            <a:off x="3019349" y="6467551"/>
            <a:ext cx="4000500" cy="304495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019349" y="6467551"/>
            <a:ext cx="4000500" cy="304495"/>
          </a:xfrm>
          <a:prstGeom prst="rect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114946" y="6467551"/>
            <a:ext cx="6675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+0.6</a:t>
            </a:r>
            <a:endParaRPr lang="en-US" sz="1350" dirty="0"/>
          </a:p>
        </p:txBody>
      </p:sp>
      <p:sp>
        <p:nvSpPr>
          <p:cNvPr id="39" name="Text 31"/>
          <p:cNvSpPr txBox="1"/>
          <p:nvPr/>
        </p:nvSpPr>
        <p:spPr>
          <a:xfrm>
            <a:off x="1876349" y="7000646"/>
            <a:ext cx="1028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W7</a:t>
            </a:r>
            <a:endParaRPr lang="en-US" sz="1350" dirty="0"/>
          </a:p>
        </p:txBody>
      </p:sp>
      <p:sp>
        <p:nvSpPr>
          <p:cNvPr id="40" name="Shape 32"/>
          <p:cNvSpPr/>
          <p:nvPr/>
        </p:nvSpPr>
        <p:spPr>
          <a:xfrm>
            <a:off x="3019349" y="7077456"/>
            <a:ext cx="4667098" cy="304495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3019349" y="7077456"/>
            <a:ext cx="4667098" cy="304495"/>
          </a:xfrm>
          <a:prstGeom prst="rect">
            <a:avLst/>
          </a:prstGeom>
          <a:solidFill>
            <a:srgbClr val="66BB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7781544" y="7077456"/>
            <a:ext cx="762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+0.7</a:t>
            </a:r>
            <a:endParaRPr lang="en-US" sz="1350" dirty="0"/>
          </a:p>
        </p:txBody>
      </p:sp>
      <p:sp>
        <p:nvSpPr>
          <p:cNvPr id="43" name="Text 35"/>
          <p:cNvSpPr txBox="1"/>
          <p:nvPr/>
        </p:nvSpPr>
        <p:spPr>
          <a:xfrm>
            <a:off x="1876349" y="7610551"/>
            <a:ext cx="1028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W8</a:t>
            </a:r>
            <a:endParaRPr lang="en-US" sz="1350" dirty="0"/>
          </a:p>
        </p:txBody>
      </p:sp>
      <p:sp>
        <p:nvSpPr>
          <p:cNvPr id="44" name="Shape 36"/>
          <p:cNvSpPr/>
          <p:nvPr/>
        </p:nvSpPr>
        <p:spPr>
          <a:xfrm>
            <a:off x="3019349" y="7686446"/>
            <a:ext cx="4667098" cy="304495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3019349" y="7686446"/>
            <a:ext cx="4667098" cy="304495"/>
          </a:xfrm>
          <a:prstGeom prst="rect">
            <a:avLst/>
          </a:prstGeom>
          <a:solidFill>
            <a:srgbClr val="66BB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7781544" y="7686446"/>
            <a:ext cx="762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+0.7</a:t>
            </a:r>
            <a:endParaRPr lang="en-US" sz="1350" dirty="0"/>
          </a:p>
        </p:txBody>
      </p:sp>
      <p:sp>
        <p:nvSpPr>
          <p:cNvPr id="47" name="Text 39"/>
          <p:cNvSpPr txBox="1"/>
          <p:nvPr/>
        </p:nvSpPr>
        <p:spPr>
          <a:xfrm>
            <a:off x="3019349" y="8124444"/>
            <a:ext cx="51663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</a:t>
            </a:r>
            <a:endParaRPr lang="en-US" sz="975" dirty="0"/>
          </a:p>
        </p:txBody>
      </p:sp>
      <p:sp>
        <p:nvSpPr>
          <p:cNvPr id="48" name="Text 40"/>
          <p:cNvSpPr txBox="1"/>
          <p:nvPr/>
        </p:nvSpPr>
        <p:spPr>
          <a:xfrm>
            <a:off x="4352544" y="8124444"/>
            <a:ext cx="33467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+0.2</a:t>
            </a:r>
            <a:endParaRPr lang="en-US" sz="975" dirty="0"/>
          </a:p>
        </p:txBody>
      </p:sp>
      <p:sp>
        <p:nvSpPr>
          <p:cNvPr id="49" name="Text 41"/>
          <p:cNvSpPr txBox="1"/>
          <p:nvPr/>
        </p:nvSpPr>
        <p:spPr>
          <a:xfrm>
            <a:off x="5686654" y="8124444"/>
            <a:ext cx="33467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+0.4</a:t>
            </a:r>
            <a:endParaRPr lang="en-US" sz="975" dirty="0"/>
          </a:p>
        </p:txBody>
      </p:sp>
      <p:sp>
        <p:nvSpPr>
          <p:cNvPr id="50" name="Text 42"/>
          <p:cNvSpPr txBox="1"/>
          <p:nvPr/>
        </p:nvSpPr>
        <p:spPr>
          <a:xfrm>
            <a:off x="7019849" y="8124444"/>
            <a:ext cx="33467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+0.6</a:t>
            </a:r>
            <a:endParaRPr lang="en-US" sz="975" dirty="0"/>
          </a:p>
        </p:txBody>
      </p:sp>
      <p:sp>
        <p:nvSpPr>
          <p:cNvPr id="51" name="Text 43"/>
          <p:cNvSpPr txBox="1"/>
          <p:nvPr/>
        </p:nvSpPr>
        <p:spPr>
          <a:xfrm>
            <a:off x="8353044" y="8124444"/>
            <a:ext cx="33467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+0.7</a:t>
            </a:r>
            <a:endParaRPr lang="en-US" sz="975" dirty="0"/>
          </a:p>
        </p:txBody>
      </p:sp>
      <p:sp>
        <p:nvSpPr>
          <p:cNvPr id="52" name="Shape 44"/>
          <p:cNvSpPr/>
          <p:nvPr/>
        </p:nvSpPr>
        <p:spPr>
          <a:xfrm>
            <a:off x="11811305" y="2190902"/>
            <a:ext cx="4953305" cy="6096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11811305" y="2190902"/>
            <a:ext cx="4953305" cy="57607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4" name="Text 46"/>
          <p:cNvSpPr txBox="1"/>
          <p:nvPr/>
        </p:nvSpPr>
        <p:spPr>
          <a:xfrm>
            <a:off x="12029846" y="2419502"/>
            <a:ext cx="45153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 summary · 8 wafer</a:t>
            </a:r>
            <a:endParaRPr lang="en-US" sz="1350" dirty="0"/>
          </a:p>
        </p:txBody>
      </p:sp>
      <p:sp>
        <p:nvSpPr>
          <p:cNvPr id="55" name="Text 47"/>
          <p:cNvSpPr txBox="1"/>
          <p:nvPr/>
        </p:nvSpPr>
        <p:spPr>
          <a:xfrm>
            <a:off x="12029846" y="2704795"/>
            <a:ext cx="45153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sub-10 nm — 절대 분산보다 Δ 패턴이 더 큰 신호</a:t>
            </a:r>
            <a:endParaRPr lang="en-US" sz="975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20449" y="2980944"/>
          <a:ext cx="4953305" cy="3525012"/>
        </p:xfrm>
        <a:graphic>
          <a:graphicData uri="http://schemas.openxmlformats.org/drawingml/2006/table">
            <a:tbl>
              <a:tblPr/>
              <a:tblGrid>
                <a:gridCol w="709443"/>
                <a:gridCol w="1192158"/>
                <a:gridCol w="804523"/>
                <a:gridCol w="633562"/>
                <a:gridCol w="810923"/>
                <a:gridCol w="802695"/>
              </a:tblGrid>
              <a:tr h="3916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 · BM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mean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range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Δ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391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W1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 · ALD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8.7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0.18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0.6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+0.1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W2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 · ALD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8.7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0.21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0.7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+0.1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W3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 · PVD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8.9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0.30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1.0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388E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+0.3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W4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 · PVD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8.9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0.28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388E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+0.3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W5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 · ALD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9.1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0.36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1.2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558B2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+0.5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W6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 · ALD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9.2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0.38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558B2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+0.6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W7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 · PVD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9.3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0.42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1.4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3369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+0.7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W8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 · PVD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9.3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0.40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3369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+0.7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7" name="Shape 48"/>
          <p:cNvSpPr/>
          <p:nvPr/>
        </p:nvSpPr>
        <p:spPr>
          <a:xfrm>
            <a:off x="1619402" y="8620049"/>
            <a:ext cx="15145207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49"/>
          <p:cNvSpPr txBox="1"/>
          <p:nvPr/>
        </p:nvSpPr>
        <p:spPr>
          <a:xfrm>
            <a:off x="1809598" y="8620049"/>
            <a:ext cx="147639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Δ 패턴이 SAV 그룹 (+0.1~+0.3) 과 CV·PVD (+0.7) 사이에서 두 단계로 갈라진다 — sub-10 nm 영역에서도 split 효과가 보인다.</a:t>
            </a:r>
            <a:endParaRPr lang="en-US" sz="1200" dirty="0"/>
          </a:p>
        </p:txBody>
      </p:sp>
      <p:sp>
        <p:nvSpPr>
          <p:cNvPr id="59" name="Text 50"/>
          <p:cNvSpPr txBox="1"/>
          <p:nvPr/>
        </p:nvSpPr>
        <p:spPr>
          <a:xfrm>
            <a:off x="1619402" y="9620402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60" name="Text 51"/>
          <p:cNvSpPr txBox="1"/>
          <p:nvPr/>
        </p:nvSpPr>
        <p:spPr>
          <a:xfrm>
            <a:off x="14763902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B7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12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754fa3857d754c3e0c09368d552363f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0" y="0"/>
            <a:ext cx="57607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19402" y="571500"/>
            <a:ext cx="1762049" cy="323698"/>
          </a:xfrm>
          <a:prstGeom prst="roundRect">
            <a:avLst>
              <a:gd name="adj" fmla="val 5932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1619402" y="571500"/>
            <a:ext cx="1762963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· ACI · Via Bottom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1619402" y="1028700"/>
            <a:ext cx="1428750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ACI — group comparison · SAV vs CV</a:t>
            </a:r>
            <a:endParaRPr lang="en-US" sz="3450" dirty="0"/>
          </a:p>
        </p:txBody>
      </p:sp>
      <p:sp>
        <p:nvSpPr>
          <p:cNvPr id="7" name="Text 3"/>
          <p:cNvSpPr txBox="1"/>
          <p:nvPr/>
        </p:nvSpPr>
        <p:spPr>
          <a:xfrm>
            <a:off x="1619402" y="1714500"/>
            <a:ext cx="1428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8.3 nm. via bottom, landing 직전 측정. 분포가 가장 가파른 영역.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1619402" y="2095805"/>
            <a:ext cx="10477195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857146" y="2295144"/>
            <a:ext cx="176387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 comparison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0552176" y="2352751"/>
            <a:ext cx="156453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4-arm · mean ACI (nm)</a:t>
            </a:r>
            <a:endParaRPr lang="en-US" sz="975" dirty="0"/>
          </a:p>
        </p:txBody>
      </p:sp>
      <p:sp>
        <p:nvSpPr>
          <p:cNvPr id="11" name="Text 7"/>
          <p:cNvSpPr txBox="1"/>
          <p:nvPr/>
        </p:nvSpPr>
        <p:spPr>
          <a:xfrm>
            <a:off x="2963570" y="2676449"/>
            <a:ext cx="38587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8.4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2455164" y="3038551"/>
            <a:ext cx="1333195" cy="1067105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gen-dedup-9569459d60ef55f8584d3ed14b4a7990.png">    </p:cNvPr>
          <p:cNvPicPr>
            <a:picLocks noChangeAspect="1"/>
          </p:cNvPicPr>
          <p:nvPr/>
        </p:nvPicPr>
        <p:blipFill>
          <a:blip r:embed="rId2"/>
          <a:srcRect l="-9" r="-9" t="0" b="0"/>
          <a:stretch/>
        </p:blipFill>
        <p:spPr>
          <a:xfrm>
            <a:off x="2455164" y="3343046"/>
            <a:ext cx="1333195" cy="7616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871216" y="4200754"/>
            <a:ext cx="55229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Arm 01</a:t>
            </a:r>
            <a:endParaRPr lang="en-US" sz="1125" dirty="0"/>
          </a:p>
        </p:txBody>
      </p:sp>
      <p:sp>
        <p:nvSpPr>
          <p:cNvPr id="15" name="Text 10"/>
          <p:cNvSpPr txBox="1"/>
          <p:nvPr/>
        </p:nvSpPr>
        <p:spPr>
          <a:xfrm>
            <a:off x="2846527" y="4401007"/>
            <a:ext cx="75163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 · ALD</a:t>
            </a:r>
            <a:endParaRPr lang="en-US" sz="975" dirty="0"/>
          </a:p>
        </p:txBody>
      </p:sp>
      <p:sp>
        <p:nvSpPr>
          <p:cNvPr id="16" name="Text 11"/>
          <p:cNvSpPr txBox="1"/>
          <p:nvPr/>
        </p:nvSpPr>
        <p:spPr>
          <a:xfrm>
            <a:off x="5454396" y="2676449"/>
            <a:ext cx="38587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8.5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4945990" y="3038551"/>
            <a:ext cx="1333195" cy="1067105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2" descr="gen-dedup-82e8c1ba0c344b4b1fe1d8a61a5c8e67.png">    </p:cNvPr>
          <p:cNvPicPr>
            <a:picLocks noChangeAspect="1"/>
          </p:cNvPicPr>
          <p:nvPr/>
        </p:nvPicPr>
        <p:blipFill>
          <a:blip r:embed="rId3"/>
          <a:srcRect l="0" r="0" t="-24" b="-24"/>
          <a:stretch/>
        </p:blipFill>
        <p:spPr>
          <a:xfrm>
            <a:off x="4945990" y="3219602"/>
            <a:ext cx="1333195" cy="88605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62042" y="4200754"/>
            <a:ext cx="55229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Arm 02</a:t>
            </a:r>
            <a:endParaRPr lang="en-US" sz="1125" dirty="0"/>
          </a:p>
        </p:txBody>
      </p:sp>
      <p:sp>
        <p:nvSpPr>
          <p:cNvPr id="20" name="Text 14"/>
          <p:cNvSpPr txBox="1"/>
          <p:nvPr/>
        </p:nvSpPr>
        <p:spPr>
          <a:xfrm>
            <a:off x="5333695" y="4401007"/>
            <a:ext cx="75346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 · PVD</a:t>
            </a:r>
            <a:endParaRPr lang="en-US" sz="975" dirty="0"/>
          </a:p>
        </p:txBody>
      </p:sp>
      <p:sp>
        <p:nvSpPr>
          <p:cNvPr id="21" name="Text 15"/>
          <p:cNvSpPr txBox="1"/>
          <p:nvPr/>
        </p:nvSpPr>
        <p:spPr>
          <a:xfrm>
            <a:off x="7945222" y="2676449"/>
            <a:ext cx="38587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8.7</a:t>
            </a:r>
            <a:endParaRPr lang="en-US" sz="1650" dirty="0"/>
          </a:p>
        </p:txBody>
      </p:sp>
      <p:sp>
        <p:nvSpPr>
          <p:cNvPr id="22" name="Shape 16"/>
          <p:cNvSpPr/>
          <p:nvPr/>
        </p:nvSpPr>
        <p:spPr>
          <a:xfrm>
            <a:off x="7436815" y="3038551"/>
            <a:ext cx="1333195" cy="1067105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3" descr="gen-dedup-1ac8cf91a955559d661556901b121e25.png">    </p:cNvPr>
          <p:cNvPicPr>
            <a:picLocks noChangeAspect="1"/>
          </p:cNvPicPr>
          <p:nvPr/>
        </p:nvPicPr>
        <p:blipFill>
          <a:blip r:embed="rId4"/>
          <a:srcRect l="0" r="0" t="-11" b="-11"/>
          <a:stretch/>
        </p:blipFill>
        <p:spPr>
          <a:xfrm>
            <a:off x="7436815" y="2962656"/>
            <a:ext cx="1333195" cy="11430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852867" y="4200754"/>
            <a:ext cx="55229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Arm 03</a:t>
            </a:r>
            <a:endParaRPr lang="en-US" sz="1125" dirty="0"/>
          </a:p>
        </p:txBody>
      </p:sp>
      <p:sp>
        <p:nvSpPr>
          <p:cNvPr id="25" name="Text 18"/>
          <p:cNvSpPr txBox="1"/>
          <p:nvPr/>
        </p:nvSpPr>
        <p:spPr>
          <a:xfrm>
            <a:off x="7862926" y="4401007"/>
            <a:ext cx="6675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CV · ALD</a:t>
            </a:r>
            <a:endParaRPr lang="en-US" sz="975" dirty="0"/>
          </a:p>
        </p:txBody>
      </p:sp>
      <p:sp>
        <p:nvSpPr>
          <p:cNvPr id="26" name="Text 19"/>
          <p:cNvSpPr txBox="1"/>
          <p:nvPr/>
        </p:nvSpPr>
        <p:spPr>
          <a:xfrm>
            <a:off x="10436047" y="2676449"/>
            <a:ext cx="38587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8.9</a:t>
            </a:r>
            <a:endParaRPr lang="en-US" sz="1650" dirty="0"/>
          </a:p>
        </p:txBody>
      </p:sp>
      <p:sp>
        <p:nvSpPr>
          <p:cNvPr id="27" name="Shape 20"/>
          <p:cNvSpPr/>
          <p:nvPr/>
        </p:nvSpPr>
        <p:spPr>
          <a:xfrm>
            <a:off x="9927641" y="3038551"/>
            <a:ext cx="1333195" cy="1067105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4" descr="gen-dedup-7826783a93c4361abd0e402d47b7fac9.png">    </p:cNvPr>
          <p:cNvPicPr>
            <a:picLocks noChangeAspect="1"/>
          </p:cNvPicPr>
          <p:nvPr/>
        </p:nvPicPr>
        <p:blipFill>
          <a:blip r:embed="rId5"/>
          <a:srcRect l="0" r="0" t="-3" b="-3"/>
          <a:stretch/>
        </p:blipFill>
        <p:spPr>
          <a:xfrm>
            <a:off x="9927641" y="2704795"/>
            <a:ext cx="1333195" cy="139994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0343693" y="4200754"/>
            <a:ext cx="55229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Arm 04</a:t>
            </a:r>
            <a:endParaRPr lang="en-US" sz="1125" dirty="0"/>
          </a:p>
        </p:txBody>
      </p:sp>
      <p:sp>
        <p:nvSpPr>
          <p:cNvPr id="30" name="Text 22"/>
          <p:cNvSpPr txBox="1"/>
          <p:nvPr/>
        </p:nvSpPr>
        <p:spPr>
          <a:xfrm>
            <a:off x="10350094" y="4401007"/>
            <a:ext cx="66934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CV · PVD</a:t>
            </a:r>
            <a:endParaRPr lang="en-US" sz="975" dirty="0"/>
          </a:p>
        </p:txBody>
      </p:sp>
      <p:sp>
        <p:nvSpPr>
          <p:cNvPr id="31" name="Shape 23"/>
          <p:cNvSpPr/>
          <p:nvPr/>
        </p:nvSpPr>
        <p:spPr>
          <a:xfrm>
            <a:off x="12477902" y="2095805"/>
            <a:ext cx="4286707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12477902" y="2095805"/>
            <a:ext cx="57607" cy="2857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12744907" y="2276856"/>
            <a:ext cx="380116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vs worst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2744907" y="2676449"/>
            <a:ext cx="114482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(W1 · W2)</a:t>
            </a:r>
            <a:endParaRPr lang="en-US" sz="1125" dirty="0"/>
          </a:p>
        </p:txBody>
      </p:sp>
      <p:sp>
        <p:nvSpPr>
          <p:cNvPr id="35" name="Text 27"/>
          <p:cNvSpPr txBox="1"/>
          <p:nvPr/>
        </p:nvSpPr>
        <p:spPr>
          <a:xfrm>
            <a:off x="16229686" y="2590495"/>
            <a:ext cx="38587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8.4</a:t>
            </a:r>
            <a:endParaRPr lang="en-US" sz="1650" dirty="0"/>
          </a:p>
        </p:txBody>
      </p:sp>
      <p:sp>
        <p:nvSpPr>
          <p:cNvPr id="36" name="Text 28"/>
          <p:cNvSpPr txBox="1"/>
          <p:nvPr/>
        </p:nvSpPr>
        <p:spPr>
          <a:xfrm>
            <a:off x="12744907" y="3038551"/>
            <a:ext cx="138348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Median (W3 · W4)</a:t>
            </a:r>
            <a:endParaRPr lang="en-US" sz="1125" dirty="0"/>
          </a:p>
        </p:txBody>
      </p:sp>
      <p:sp>
        <p:nvSpPr>
          <p:cNvPr id="37" name="Text 29"/>
          <p:cNvSpPr txBox="1"/>
          <p:nvPr/>
        </p:nvSpPr>
        <p:spPr>
          <a:xfrm>
            <a:off x="16229686" y="2952598"/>
            <a:ext cx="38587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88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8.5</a:t>
            </a:r>
            <a:endParaRPr lang="en-US" sz="1650" dirty="0"/>
          </a:p>
        </p:txBody>
      </p:sp>
      <p:sp>
        <p:nvSpPr>
          <p:cNvPr id="38" name="Text 30"/>
          <p:cNvSpPr txBox="1"/>
          <p:nvPr/>
        </p:nvSpPr>
        <p:spPr>
          <a:xfrm>
            <a:off x="12744907" y="3400654"/>
            <a:ext cx="136062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CV ALD (W5 · W6)</a:t>
            </a:r>
            <a:endParaRPr lang="en-US" sz="1125" dirty="0"/>
          </a:p>
        </p:txBody>
      </p:sp>
      <p:sp>
        <p:nvSpPr>
          <p:cNvPr id="39" name="Text 31"/>
          <p:cNvSpPr txBox="1"/>
          <p:nvPr/>
        </p:nvSpPr>
        <p:spPr>
          <a:xfrm>
            <a:off x="16229686" y="3314700"/>
            <a:ext cx="38587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58B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8.7</a:t>
            </a:r>
            <a:endParaRPr lang="en-US" sz="1650" dirty="0"/>
          </a:p>
        </p:txBody>
      </p:sp>
      <p:sp>
        <p:nvSpPr>
          <p:cNvPr id="40" name="Text 32"/>
          <p:cNvSpPr txBox="1"/>
          <p:nvPr/>
        </p:nvSpPr>
        <p:spPr>
          <a:xfrm>
            <a:off x="12744907" y="3762756"/>
            <a:ext cx="125821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Worst (W7 · W8)</a:t>
            </a:r>
            <a:endParaRPr lang="en-US" sz="1125" dirty="0"/>
          </a:p>
        </p:txBody>
      </p:sp>
      <p:sp>
        <p:nvSpPr>
          <p:cNvPr id="41" name="Text 33"/>
          <p:cNvSpPr txBox="1"/>
          <p:nvPr/>
        </p:nvSpPr>
        <p:spPr>
          <a:xfrm>
            <a:off x="16229686" y="3676802"/>
            <a:ext cx="38587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369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8.9</a:t>
            </a:r>
            <a:endParaRPr lang="en-US" sz="1650" dirty="0"/>
          </a:p>
        </p:txBody>
      </p:sp>
      <p:sp>
        <p:nvSpPr>
          <p:cNvPr id="42" name="Shape 34"/>
          <p:cNvSpPr/>
          <p:nvPr/>
        </p:nvSpPr>
        <p:spPr>
          <a:xfrm>
            <a:off x="12744907" y="4143146"/>
            <a:ext cx="3800246" cy="9144"/>
          </a:xfrm>
          <a:prstGeom prst="rect">
            <a:avLst/>
          </a:prstGeom>
          <a:solidFill>
            <a:srgbClr val="DDE5D8"/>
          </a:solidFill>
          <a:ln w="12700">
            <a:solidFill>
              <a:srgbClr val="DDE5D8">
                <a:alpha val="0"/>
              </a:srgbClr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12744907" y="4324198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2E5C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Spread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15634411" y="4248302"/>
            <a:ext cx="1028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+0.5 nm</a:t>
            </a:r>
            <a:endParaRPr lang="en-US" sz="1800" dirty="0"/>
          </a:p>
        </p:txBody>
      </p:sp>
      <p:sp>
        <p:nvSpPr>
          <p:cNvPr id="45" name="Shape 37"/>
          <p:cNvSpPr/>
          <p:nvPr/>
        </p:nvSpPr>
        <p:spPr>
          <a:xfrm>
            <a:off x="1619402" y="5048402"/>
            <a:ext cx="15145207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1619402" y="5048402"/>
            <a:ext cx="15145207" cy="57607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>
                <a:alpha val="0"/>
              </a:srgbClr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1857146" y="5238598"/>
            <a:ext cx="223296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ACI · 8 wafer full table</a:t>
            </a:r>
            <a:endParaRPr lang="en-US" sz="1350" dirty="0"/>
          </a:p>
        </p:txBody>
      </p:sp>
      <p:sp>
        <p:nvSpPr>
          <p:cNvPr id="48" name="Text 40"/>
          <p:cNvSpPr txBox="1"/>
          <p:nvPr/>
        </p:nvSpPr>
        <p:spPr>
          <a:xfrm>
            <a:off x="16016630" y="5296205"/>
            <a:ext cx="74615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all in nm</a:t>
            </a:r>
            <a:endParaRPr lang="en-US" sz="975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28546" y="5544007"/>
          <a:ext cx="15145207" cy="3010205"/>
        </p:xfrm>
        <a:graphic>
          <a:graphicData uri="http://schemas.openxmlformats.org/drawingml/2006/table">
            <a:tbl>
              <a:tblPr/>
              <a:tblGrid>
                <a:gridCol w="2060143"/>
                <a:gridCol w="3005633"/>
                <a:gridCol w="2234794"/>
                <a:gridCol w="1874520"/>
                <a:gridCol w="2248510"/>
                <a:gridCol w="3720694"/>
              </a:tblGrid>
              <a:tr h="3344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75895" marB="75895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mean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range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Δ to target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75895" marB="75895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3344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W1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 · ALD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8.4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0.16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0.5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+0.1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4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W2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 · ALD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8.4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0.19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0.6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+0.1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4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W3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 · PVD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8.5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0.25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88E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+0.2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4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W4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 · PVD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8.5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0.23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0.7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88E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+0.2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4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W5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 · ALD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8.7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0.30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1.0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8B2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+0.4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4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W6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 · ALD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8.7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0.32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1.1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8B2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+0.4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4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W7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 · PVD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8.9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0.38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1.2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69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+0.6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4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W8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 · PVD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8.9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0.36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1.2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69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+0.6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66751" marB="66751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0" name="Shape 41"/>
          <p:cNvSpPr/>
          <p:nvPr/>
        </p:nvSpPr>
        <p:spPr>
          <a:xfrm>
            <a:off x="1619402" y="8620049"/>
            <a:ext cx="15145207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1809598" y="8620049"/>
            <a:ext cx="147639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ACI는 4-arm group 비교가 가장 효과적, Arm 01→04 mean이 +0.5 nm까지 벌어진다 — split·BM 효과 누적.</a:t>
            </a:r>
            <a:endParaRPr lang="en-US" sz="1200" dirty="0"/>
          </a:p>
        </p:txBody>
      </p:sp>
      <p:sp>
        <p:nvSpPr>
          <p:cNvPr id="52" name="Text 43"/>
          <p:cNvSpPr txBox="1"/>
          <p:nvPr/>
        </p:nvSpPr>
        <p:spPr>
          <a:xfrm>
            <a:off x="1619402" y="9620402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53" name="Text 44"/>
          <p:cNvSpPr txBox="1"/>
          <p:nvPr/>
        </p:nvSpPr>
        <p:spPr>
          <a:xfrm>
            <a:off x="14763902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B7A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12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754fa3857d754c3e0c09368d552363f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0" y="0"/>
            <a:ext cx="57607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19402" y="666598"/>
            <a:ext cx="1200607" cy="323698"/>
          </a:xfrm>
          <a:prstGeom prst="roundRect">
            <a:avLst>
              <a:gd name="adj" fmla="val 5932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1619402" y="666598"/>
            <a:ext cx="1200607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· SEM 단면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1619402" y="1143000"/>
            <a:ext cx="142875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 단면 — 패턴 확인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1619402" y="1886407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SAV·CV 두 split의 cross-section을 동일 노출에서 비교. 영역별 형상/liner 두께 정성 확인.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1619402" y="2667305"/>
            <a:ext cx="7239305" cy="5524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619402" y="2667305"/>
            <a:ext cx="7239305" cy="57607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857146" y="2895905"/>
            <a:ext cx="67629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01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1857146" y="3124505"/>
            <a:ext cx="67629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Self-aligned via cross section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857146" y="7286854"/>
            <a:ext cx="67629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baseline 대비 via-trench 정렬 단계가 제거된 단면. liner 연속성 양호.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1857146" y="7515454"/>
            <a:ext cx="67629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— ScienceDirect / S0167931712005126 (Murdoch et al., scaled dual-damascene with SAV)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1857146" y="3571646"/>
            <a:ext cx="6762902" cy="3619195"/>
          </a:xfrm>
          <a:prstGeom prst="rect">
            <a:avLst/>
          </a:prstGeom>
          <a:solidFill>
            <a:srgbClr val="F4F5F0"/>
          </a:solidFill>
          <a:ln w="12700">
            <a:solidFill>
              <a:srgbClr val="DDE5D8"/>
            </a:solidFill>
            <a:prstDash val="solid"/>
          </a:ln>
        </p:spPr>
      </p:sp>
      <p:pic>
        <p:nvPicPr>
          <p:cNvPr id="15" name="Image 1" descr="gen-dedup-1a429de96748c0c248acca07344b659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205" y="3581705"/>
            <a:ext cx="6782105" cy="3619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38198" y="3752698"/>
            <a:ext cx="1381658" cy="305410"/>
          </a:xfrm>
          <a:prstGeom prst="rect">
            <a:avLst/>
          </a:prstGeom>
          <a:solidFill>
            <a:srgbClr val="1B5E20">
              <a:alpha val="9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 · 56 nm pitch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6861658" y="6715354"/>
            <a:ext cx="1581912" cy="295351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via landing self-aligned</a:t>
            </a:r>
            <a:endParaRPr lang="en-US" sz="975" dirty="0"/>
          </a:p>
        </p:txBody>
      </p:sp>
      <p:sp>
        <p:nvSpPr>
          <p:cNvPr id="18" name="Shape 13"/>
          <p:cNvSpPr/>
          <p:nvPr/>
        </p:nvSpPr>
        <p:spPr>
          <a:xfrm>
            <a:off x="9334195" y="2667305"/>
            <a:ext cx="7334402" cy="5524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34195" y="2667305"/>
            <a:ext cx="7334402" cy="57607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572854" y="2895905"/>
            <a:ext cx="6858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388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02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9572854" y="3124505"/>
            <a:ext cx="6858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Multi-stack damascene overview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9572854" y="7286854"/>
            <a:ext cx="6858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M8 직전 multi-level overview. etch-stop·Cu fill·low-k pore density 정성 비교 가능.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9572854" y="7515454"/>
            <a:ext cx="6858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— imec Magazine 2019, BEOL scaling toolbox for advanced nodes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9572854" y="3571646"/>
            <a:ext cx="6858000" cy="3619195"/>
          </a:xfrm>
          <a:prstGeom prst="rect">
            <a:avLst/>
          </a:prstGeom>
          <a:solidFill>
            <a:srgbClr val="F4F5F0"/>
          </a:solidFill>
          <a:ln w="12700">
            <a:solidFill>
              <a:srgbClr val="DDE5D8"/>
            </a:solidFill>
            <a:prstDash val="solid"/>
          </a:ln>
        </p:spPr>
      </p:sp>
      <p:pic>
        <p:nvPicPr>
          <p:cNvPr id="25" name="Image 2" descr="gen-dedup-12cad1f139a53e873318806cb80cb04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1998" y="3581705"/>
            <a:ext cx="6877202" cy="361919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753905" y="3752698"/>
            <a:ext cx="1819656" cy="305410"/>
          </a:xfrm>
          <a:prstGeom prst="rect">
            <a:avLst/>
          </a:prstGeom>
          <a:solidFill>
            <a:srgbClr val="66BB6A">
              <a:alpha val="95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multi-level · low-k stack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14812366" y="6715354"/>
            <a:ext cx="1438351" cy="295351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 + ULK + etch-stop</a:t>
            </a:r>
            <a:endParaRPr lang="en-US" sz="975" dirty="0"/>
          </a:p>
        </p:txBody>
      </p:sp>
      <p:sp>
        <p:nvSpPr>
          <p:cNvPr id="28" name="Shape 22"/>
          <p:cNvSpPr/>
          <p:nvPr/>
        </p:nvSpPr>
        <p:spPr>
          <a:xfrm>
            <a:off x="1619402" y="8620049"/>
            <a:ext cx="15145207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1809598" y="8620049"/>
            <a:ext cx="147639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 단면에서 via-trench 정렬이 안정적, multi-level overview는 etch-stop 인터페이스 결함을 정성 확인하는 데 쓰인다.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1619402" y="9620402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31" name="Text 25"/>
          <p:cNvSpPr txBox="1"/>
          <p:nvPr/>
        </p:nvSpPr>
        <p:spPr>
          <a:xfrm>
            <a:off x="14763902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12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754fa3857d754c3e0c09368d552363f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0" y="0"/>
            <a:ext cx="57607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19402" y="666598"/>
            <a:ext cx="1200607" cy="323698"/>
          </a:xfrm>
          <a:prstGeom prst="roundRect">
            <a:avLst>
              <a:gd name="adj" fmla="val 5932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1619402" y="666598"/>
            <a:ext cx="1200607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· TEM 단면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1619402" y="1143000"/>
            <a:ext cx="142875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TEM 단면 — interface·liner 확인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1619402" y="1886407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고배율 TEM으로 liner/barrier 두께·계면 비교. via CD ≤ 10 nm에서 결정적.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1619402" y="2667305"/>
            <a:ext cx="7239305" cy="5524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619402" y="2667305"/>
            <a:ext cx="7239305" cy="57607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857146" y="2895905"/>
            <a:ext cx="67629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01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1857146" y="3124505"/>
            <a:ext cx="67629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FSAV feasibility · 5 nm 노드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857146" y="7286854"/>
            <a:ext cx="67629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fully self-aligned via feasibility 영역. liner 연속성, Cu void 정성.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1857146" y="7515454"/>
            <a:ext cx="67629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— Murdoch et al., feasibility study of fully self-aligned vias, Semantic Scholar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1857146" y="3571646"/>
            <a:ext cx="6762902" cy="3619195"/>
          </a:xfrm>
          <a:prstGeom prst="rect">
            <a:avLst/>
          </a:prstGeom>
          <a:solidFill>
            <a:srgbClr val="F4F5F0"/>
          </a:solidFill>
          <a:ln w="12700">
            <a:solidFill>
              <a:srgbClr val="DDE5D8"/>
            </a:solidFill>
            <a:prstDash val="solid"/>
          </a:ln>
        </p:spPr>
      </p:sp>
      <p:pic>
        <p:nvPicPr>
          <p:cNvPr id="15" name="Image 1" descr="gen-dedup-385b12b8af28dc45b9ca749d29f88f98.jpg">    </p:cNvPr>
          <p:cNvPicPr>
            <a:picLocks noChangeAspect="1"/>
          </p:cNvPicPr>
          <p:nvPr/>
        </p:nvPicPr>
        <p:blipFill>
          <a:blip r:embed="rId2"/>
          <a:srcRect l="-39399" r="-39399" t="0" b="0"/>
          <a:stretch/>
        </p:blipFill>
        <p:spPr>
          <a:xfrm>
            <a:off x="2247595" y="3771900"/>
            <a:ext cx="6019495" cy="32388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38198" y="3752698"/>
            <a:ext cx="1371600" cy="305410"/>
          </a:xfrm>
          <a:prstGeom prst="rect">
            <a:avLst/>
          </a:prstGeom>
          <a:solidFill>
            <a:srgbClr val="1B5E20">
              <a:alpha val="9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FSAV · sub-20 nm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334195" y="2667305"/>
            <a:ext cx="7334402" cy="5524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334195" y="2667305"/>
            <a:ext cx="7334402" cy="57607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572854" y="2895905"/>
            <a:ext cx="6858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388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02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9572854" y="3124505"/>
            <a:ext cx="6858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Dual-damascene TEM overview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9572854" y="7286854"/>
            <a:ext cx="6858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dual-damascene reference 단면. etch profile 결함/세정 잔류 비교 가능.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9572854" y="7515454"/>
            <a:ext cx="6858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— ScienceDirect topics, dual damascene TEM entry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9572854" y="3571646"/>
            <a:ext cx="6858000" cy="3619195"/>
          </a:xfrm>
          <a:prstGeom prst="rect">
            <a:avLst/>
          </a:prstGeom>
          <a:solidFill>
            <a:srgbClr val="F4F5F0"/>
          </a:solidFill>
          <a:ln w="12700">
            <a:solidFill>
              <a:srgbClr val="DDE5D8"/>
            </a:solidFill>
            <a:prstDash val="solid"/>
          </a:ln>
        </p:spPr>
      </p:sp>
      <p:pic>
        <p:nvPicPr>
          <p:cNvPr id="24" name="Image 2" descr="gen-dedup-cdb206a8fd3e4dfccaef9ecbeb59aac7.jpg">    </p:cNvPr>
          <p:cNvPicPr>
            <a:picLocks noChangeAspect="1"/>
          </p:cNvPicPr>
          <p:nvPr/>
        </p:nvPicPr>
        <p:blipFill>
          <a:blip r:embed="rId3"/>
          <a:srcRect l="-43749" r="-43749" t="0" b="0"/>
          <a:stretch/>
        </p:blipFill>
        <p:spPr>
          <a:xfrm>
            <a:off x="10344607" y="3676802"/>
            <a:ext cx="5581498" cy="34290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753905" y="3752698"/>
            <a:ext cx="2057400" cy="305410"/>
          </a:xfrm>
          <a:prstGeom prst="rect">
            <a:avLst/>
          </a:prstGeom>
          <a:solidFill>
            <a:srgbClr val="66BB6A">
              <a:alpha val="95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dual-damascene · reference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1619402" y="8620049"/>
            <a:ext cx="15145207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1809598" y="8620049"/>
            <a:ext cx="147639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TEM은 split 효과 정성 확인용으로만 사용, 정량 비교는 CD 표·전기·신뢰성에 위임한다.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1619402" y="9620402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29" name="Text 23"/>
          <p:cNvSpPr txBox="1"/>
          <p:nvPr/>
        </p:nvSpPr>
        <p:spPr>
          <a:xfrm>
            <a:off x="14763902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12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754fa3857d754c3e0c09368d552363f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0" y="0"/>
            <a:ext cx="57607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19402" y="666598"/>
            <a:ext cx="1628546" cy="323698"/>
          </a:xfrm>
          <a:prstGeom prst="roundRect">
            <a:avLst>
              <a:gd name="adj" fmla="val 5932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1619402" y="666598"/>
            <a:ext cx="16294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· In-wafer 균일도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1619402" y="1143000"/>
            <a:ext cx="1428750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25-point wafer map · WIWNU 비교</a:t>
            </a:r>
            <a:endParaRPr lang="en-US" sz="3450" dirty="0"/>
          </a:p>
        </p:txBody>
      </p:sp>
      <p:sp>
        <p:nvSpPr>
          <p:cNvPr id="7" name="Text 3"/>
          <p:cNvSpPr txBox="1"/>
          <p:nvPr/>
        </p:nvSpPr>
        <p:spPr>
          <a:xfrm>
            <a:off x="1619402" y="1848002"/>
            <a:ext cx="14287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 25-point map을 두 wafer (W1 best · W7 worst)에 그리고, 8 wafer WIWNU 막대로 비교.</a:t>
            </a:r>
            <a:endParaRPr lang="en-US" sz="1425" dirty="0"/>
          </a:p>
        </p:txBody>
      </p:sp>
      <p:sp>
        <p:nvSpPr>
          <p:cNvPr id="8" name="Shape 4"/>
          <p:cNvSpPr/>
          <p:nvPr/>
        </p:nvSpPr>
        <p:spPr>
          <a:xfrm>
            <a:off x="1619402" y="2667305"/>
            <a:ext cx="4953305" cy="5524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619402" y="2667305"/>
            <a:ext cx="4953305" cy="57607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857146" y="2952598"/>
            <a:ext cx="20482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W1 · SAV · ALD</a:t>
            </a:r>
            <a:endParaRPr lang="en-US" sz="975" dirty="0"/>
          </a:p>
        </p:txBody>
      </p:sp>
      <p:sp>
        <p:nvSpPr>
          <p:cNvPr id="11" name="Text 7"/>
          <p:cNvSpPr txBox="1"/>
          <p:nvPr/>
        </p:nvSpPr>
        <p:spPr>
          <a:xfrm>
            <a:off x="1857146" y="3172054"/>
            <a:ext cx="242133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25-point wafer map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5143500" y="2952598"/>
            <a:ext cx="11914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 · nm</a:t>
            </a:r>
            <a:endParaRPr lang="en-US" sz="975" dirty="0"/>
          </a:p>
        </p:txBody>
      </p:sp>
      <p:sp>
        <p:nvSpPr>
          <p:cNvPr id="13" name="Text 9"/>
          <p:cNvSpPr txBox="1"/>
          <p:nvPr/>
        </p:nvSpPr>
        <p:spPr>
          <a:xfrm>
            <a:off x="4917643" y="3133649"/>
            <a:ext cx="141732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μ 25.4 · σ 0.48</a:t>
            </a:r>
            <a:endParaRPr lang="en-US" sz="1350" dirty="0"/>
          </a:p>
        </p:txBody>
      </p:sp>
      <p:pic>
        <p:nvPicPr>
          <p:cNvPr id="14" name="Image 1" descr="gen-dedup-da686534c891296107089a0cf806da7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76602" y="3762756"/>
            <a:ext cx="4038905" cy="40389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286000" y="3972154"/>
            <a:ext cx="667512" cy="667512"/>
          </a:xfrm>
          <a:prstGeom prst="rect">
            <a:avLst/>
          </a:prstGeom>
          <a:solidFill>
            <a:srgbClr val="C8E6C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25.3</a:t>
            </a:r>
            <a:endParaRPr lang="en-US" sz="1125" dirty="0"/>
          </a:p>
        </p:txBody>
      </p:sp>
      <p:sp>
        <p:nvSpPr>
          <p:cNvPr id="16" name="Text 11"/>
          <p:cNvSpPr txBox="1"/>
          <p:nvPr/>
        </p:nvSpPr>
        <p:spPr>
          <a:xfrm>
            <a:off x="3029407" y="3972154"/>
            <a:ext cx="667512" cy="667512"/>
          </a:xfrm>
          <a:prstGeom prst="rect">
            <a:avLst/>
          </a:prstGeom>
          <a:solidFill>
            <a:srgbClr val="C8E6C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25.4</a:t>
            </a:r>
            <a:endParaRPr lang="en-US" sz="1125" dirty="0"/>
          </a:p>
        </p:txBody>
      </p:sp>
      <p:sp>
        <p:nvSpPr>
          <p:cNvPr id="17" name="Text 12"/>
          <p:cNvSpPr txBox="1"/>
          <p:nvPr/>
        </p:nvSpPr>
        <p:spPr>
          <a:xfrm>
            <a:off x="3771900" y="3972154"/>
            <a:ext cx="667512" cy="667512"/>
          </a:xfrm>
          <a:prstGeom prst="rect">
            <a:avLst/>
          </a:prstGeom>
          <a:solidFill>
            <a:srgbClr val="A5D6A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25.5</a:t>
            </a:r>
            <a:endParaRPr lang="en-US" sz="1125" dirty="0"/>
          </a:p>
        </p:txBody>
      </p:sp>
      <p:sp>
        <p:nvSpPr>
          <p:cNvPr id="18" name="Text 13"/>
          <p:cNvSpPr txBox="1"/>
          <p:nvPr/>
        </p:nvSpPr>
        <p:spPr>
          <a:xfrm>
            <a:off x="4515307" y="3972154"/>
            <a:ext cx="667512" cy="667512"/>
          </a:xfrm>
          <a:prstGeom prst="rect">
            <a:avLst/>
          </a:prstGeom>
          <a:solidFill>
            <a:srgbClr val="C8E6C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25.4</a:t>
            </a:r>
            <a:endParaRPr lang="en-US" sz="1125" dirty="0"/>
          </a:p>
        </p:txBody>
      </p:sp>
      <p:sp>
        <p:nvSpPr>
          <p:cNvPr id="19" name="Text 14"/>
          <p:cNvSpPr txBox="1"/>
          <p:nvPr/>
        </p:nvSpPr>
        <p:spPr>
          <a:xfrm>
            <a:off x="5257800" y="3972154"/>
            <a:ext cx="667512" cy="667512"/>
          </a:xfrm>
          <a:prstGeom prst="rect">
            <a:avLst/>
          </a:prstGeom>
          <a:solidFill>
            <a:srgbClr val="C8E6C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25.3</a:t>
            </a:r>
            <a:endParaRPr lang="en-US" sz="1125" dirty="0"/>
          </a:p>
        </p:txBody>
      </p:sp>
      <p:sp>
        <p:nvSpPr>
          <p:cNvPr id="20" name="Text 15"/>
          <p:cNvSpPr txBox="1"/>
          <p:nvPr/>
        </p:nvSpPr>
        <p:spPr>
          <a:xfrm>
            <a:off x="2286000" y="4714646"/>
            <a:ext cx="667512" cy="667512"/>
          </a:xfrm>
          <a:prstGeom prst="rect">
            <a:avLst/>
          </a:prstGeom>
          <a:solidFill>
            <a:srgbClr val="C8E6C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25.4</a:t>
            </a:r>
            <a:endParaRPr lang="en-US" sz="1125" dirty="0"/>
          </a:p>
        </p:txBody>
      </p:sp>
      <p:sp>
        <p:nvSpPr>
          <p:cNvPr id="21" name="Text 16"/>
          <p:cNvSpPr txBox="1"/>
          <p:nvPr/>
        </p:nvSpPr>
        <p:spPr>
          <a:xfrm>
            <a:off x="3029407" y="4714646"/>
            <a:ext cx="667512" cy="667512"/>
          </a:xfrm>
          <a:prstGeom prst="rect">
            <a:avLst/>
          </a:prstGeom>
          <a:solidFill>
            <a:srgbClr val="A5D6A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25.5</a:t>
            </a:r>
            <a:endParaRPr lang="en-US" sz="1125" dirty="0"/>
          </a:p>
        </p:txBody>
      </p:sp>
      <p:sp>
        <p:nvSpPr>
          <p:cNvPr id="22" name="Text 17"/>
          <p:cNvSpPr txBox="1"/>
          <p:nvPr/>
        </p:nvSpPr>
        <p:spPr>
          <a:xfrm>
            <a:off x="3771900" y="4714646"/>
            <a:ext cx="667512" cy="667512"/>
          </a:xfrm>
          <a:prstGeom prst="rect">
            <a:avLst/>
          </a:prstGeom>
          <a:solidFill>
            <a:srgbClr val="81C78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25.6</a:t>
            </a:r>
            <a:endParaRPr lang="en-US" sz="1125" dirty="0"/>
          </a:p>
        </p:txBody>
      </p:sp>
      <p:sp>
        <p:nvSpPr>
          <p:cNvPr id="23" name="Text 18"/>
          <p:cNvSpPr txBox="1"/>
          <p:nvPr/>
        </p:nvSpPr>
        <p:spPr>
          <a:xfrm>
            <a:off x="4515307" y="4714646"/>
            <a:ext cx="667512" cy="667512"/>
          </a:xfrm>
          <a:prstGeom prst="rect">
            <a:avLst/>
          </a:prstGeom>
          <a:solidFill>
            <a:srgbClr val="A5D6A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25.5</a:t>
            </a:r>
            <a:endParaRPr lang="en-US" sz="1125" dirty="0"/>
          </a:p>
        </p:txBody>
      </p:sp>
      <p:sp>
        <p:nvSpPr>
          <p:cNvPr id="24" name="Text 19"/>
          <p:cNvSpPr txBox="1"/>
          <p:nvPr/>
        </p:nvSpPr>
        <p:spPr>
          <a:xfrm>
            <a:off x="5257800" y="4714646"/>
            <a:ext cx="667512" cy="667512"/>
          </a:xfrm>
          <a:prstGeom prst="rect">
            <a:avLst/>
          </a:prstGeom>
          <a:solidFill>
            <a:srgbClr val="C8E6C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25.4</a:t>
            </a:r>
            <a:endParaRPr lang="en-US" sz="1125" dirty="0"/>
          </a:p>
        </p:txBody>
      </p:sp>
      <p:sp>
        <p:nvSpPr>
          <p:cNvPr id="25" name="Text 20"/>
          <p:cNvSpPr txBox="1"/>
          <p:nvPr/>
        </p:nvSpPr>
        <p:spPr>
          <a:xfrm>
            <a:off x="2286000" y="5458054"/>
            <a:ext cx="667512" cy="667512"/>
          </a:xfrm>
          <a:prstGeom prst="rect">
            <a:avLst/>
          </a:prstGeom>
          <a:solidFill>
            <a:srgbClr val="A5D6A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25.5</a:t>
            </a:r>
            <a:endParaRPr lang="en-US" sz="1125" dirty="0"/>
          </a:p>
        </p:txBody>
      </p:sp>
      <p:sp>
        <p:nvSpPr>
          <p:cNvPr id="26" name="Text 21"/>
          <p:cNvSpPr txBox="1"/>
          <p:nvPr/>
        </p:nvSpPr>
        <p:spPr>
          <a:xfrm>
            <a:off x="3029407" y="5458054"/>
            <a:ext cx="667512" cy="667512"/>
          </a:xfrm>
          <a:prstGeom prst="rect">
            <a:avLst/>
          </a:prstGeom>
          <a:solidFill>
            <a:srgbClr val="81C78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25.6</a:t>
            </a:r>
            <a:endParaRPr lang="en-US" sz="1125" dirty="0"/>
          </a:p>
        </p:txBody>
      </p:sp>
      <p:sp>
        <p:nvSpPr>
          <p:cNvPr id="27" name="Text 22"/>
          <p:cNvSpPr txBox="1"/>
          <p:nvPr/>
        </p:nvSpPr>
        <p:spPr>
          <a:xfrm>
            <a:off x="3771900" y="5458054"/>
            <a:ext cx="667512" cy="667512"/>
          </a:xfrm>
          <a:prstGeom prst="rect">
            <a:avLst/>
          </a:prstGeom>
          <a:solidFill>
            <a:srgbClr val="A5D6A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25.5</a:t>
            </a:r>
            <a:endParaRPr lang="en-US" sz="1125" dirty="0"/>
          </a:p>
        </p:txBody>
      </p:sp>
      <p:sp>
        <p:nvSpPr>
          <p:cNvPr id="28" name="Text 23"/>
          <p:cNvSpPr txBox="1"/>
          <p:nvPr/>
        </p:nvSpPr>
        <p:spPr>
          <a:xfrm>
            <a:off x="4515307" y="5458054"/>
            <a:ext cx="667512" cy="667512"/>
          </a:xfrm>
          <a:prstGeom prst="rect">
            <a:avLst/>
          </a:prstGeom>
          <a:solidFill>
            <a:srgbClr val="C8E6C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25.4</a:t>
            </a:r>
            <a:endParaRPr lang="en-US" sz="1125" dirty="0"/>
          </a:p>
        </p:txBody>
      </p:sp>
      <p:sp>
        <p:nvSpPr>
          <p:cNvPr id="29" name="Text 24"/>
          <p:cNvSpPr txBox="1"/>
          <p:nvPr/>
        </p:nvSpPr>
        <p:spPr>
          <a:xfrm>
            <a:off x="5257800" y="5458054"/>
            <a:ext cx="667512" cy="667512"/>
          </a:xfrm>
          <a:prstGeom prst="rect">
            <a:avLst/>
          </a:prstGeom>
          <a:solidFill>
            <a:srgbClr val="C8E6C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25.3</a:t>
            </a:r>
            <a:endParaRPr lang="en-US" sz="1125" dirty="0"/>
          </a:p>
        </p:txBody>
      </p:sp>
      <p:sp>
        <p:nvSpPr>
          <p:cNvPr id="30" name="Text 25"/>
          <p:cNvSpPr txBox="1"/>
          <p:nvPr/>
        </p:nvSpPr>
        <p:spPr>
          <a:xfrm>
            <a:off x="2286000" y="6200546"/>
            <a:ext cx="667512" cy="667512"/>
          </a:xfrm>
          <a:prstGeom prst="rect">
            <a:avLst/>
          </a:prstGeom>
          <a:solidFill>
            <a:srgbClr val="C8E6C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25.4</a:t>
            </a:r>
            <a:endParaRPr lang="en-US" sz="1125" dirty="0"/>
          </a:p>
        </p:txBody>
      </p:sp>
      <p:sp>
        <p:nvSpPr>
          <p:cNvPr id="31" name="Text 26"/>
          <p:cNvSpPr txBox="1"/>
          <p:nvPr/>
        </p:nvSpPr>
        <p:spPr>
          <a:xfrm>
            <a:off x="3029407" y="6200546"/>
            <a:ext cx="667512" cy="667512"/>
          </a:xfrm>
          <a:prstGeom prst="rect">
            <a:avLst/>
          </a:prstGeom>
          <a:solidFill>
            <a:srgbClr val="A5D6A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25.5</a:t>
            </a:r>
            <a:endParaRPr lang="en-US" sz="1125" dirty="0"/>
          </a:p>
        </p:txBody>
      </p:sp>
      <p:sp>
        <p:nvSpPr>
          <p:cNvPr id="32" name="Text 27"/>
          <p:cNvSpPr txBox="1"/>
          <p:nvPr/>
        </p:nvSpPr>
        <p:spPr>
          <a:xfrm>
            <a:off x="3771900" y="6200546"/>
            <a:ext cx="667512" cy="667512"/>
          </a:xfrm>
          <a:prstGeom prst="rect">
            <a:avLst/>
          </a:prstGeom>
          <a:solidFill>
            <a:srgbClr val="C8E6C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25.4</a:t>
            </a:r>
            <a:endParaRPr lang="en-US" sz="1125" dirty="0"/>
          </a:p>
        </p:txBody>
      </p:sp>
      <p:sp>
        <p:nvSpPr>
          <p:cNvPr id="33" name="Text 28"/>
          <p:cNvSpPr txBox="1"/>
          <p:nvPr/>
        </p:nvSpPr>
        <p:spPr>
          <a:xfrm>
            <a:off x="4515307" y="6200546"/>
            <a:ext cx="667512" cy="667512"/>
          </a:xfrm>
          <a:prstGeom prst="rect">
            <a:avLst/>
          </a:prstGeom>
          <a:solidFill>
            <a:srgbClr val="C8E6C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25.3</a:t>
            </a:r>
            <a:endParaRPr lang="en-US" sz="1125" dirty="0"/>
          </a:p>
        </p:txBody>
      </p:sp>
      <p:sp>
        <p:nvSpPr>
          <p:cNvPr id="34" name="Text 29"/>
          <p:cNvSpPr txBox="1"/>
          <p:nvPr/>
        </p:nvSpPr>
        <p:spPr>
          <a:xfrm>
            <a:off x="5257800" y="6200546"/>
            <a:ext cx="667512" cy="667512"/>
          </a:xfrm>
          <a:prstGeom prst="rect">
            <a:avLst/>
          </a:prstGeom>
          <a:solidFill>
            <a:srgbClr val="E8F5E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25.3</a:t>
            </a:r>
            <a:endParaRPr lang="en-US" sz="1125" dirty="0"/>
          </a:p>
        </p:txBody>
      </p:sp>
      <p:sp>
        <p:nvSpPr>
          <p:cNvPr id="35" name="Text 30"/>
          <p:cNvSpPr txBox="1"/>
          <p:nvPr/>
        </p:nvSpPr>
        <p:spPr>
          <a:xfrm>
            <a:off x="2286000" y="6943954"/>
            <a:ext cx="667512" cy="667512"/>
          </a:xfrm>
          <a:prstGeom prst="rect">
            <a:avLst/>
          </a:prstGeom>
          <a:solidFill>
            <a:srgbClr val="E8F5E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25.3</a:t>
            </a:r>
            <a:endParaRPr lang="en-US" sz="1125" dirty="0"/>
          </a:p>
        </p:txBody>
      </p:sp>
      <p:sp>
        <p:nvSpPr>
          <p:cNvPr id="36" name="Text 31"/>
          <p:cNvSpPr txBox="1"/>
          <p:nvPr/>
        </p:nvSpPr>
        <p:spPr>
          <a:xfrm>
            <a:off x="3029407" y="6943954"/>
            <a:ext cx="667512" cy="667512"/>
          </a:xfrm>
          <a:prstGeom prst="rect">
            <a:avLst/>
          </a:prstGeom>
          <a:solidFill>
            <a:srgbClr val="C8E6C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25.4</a:t>
            </a:r>
            <a:endParaRPr lang="en-US" sz="1125" dirty="0"/>
          </a:p>
        </p:txBody>
      </p:sp>
      <p:sp>
        <p:nvSpPr>
          <p:cNvPr id="37" name="Text 32"/>
          <p:cNvSpPr txBox="1"/>
          <p:nvPr/>
        </p:nvSpPr>
        <p:spPr>
          <a:xfrm>
            <a:off x="3771900" y="6943954"/>
            <a:ext cx="667512" cy="667512"/>
          </a:xfrm>
          <a:prstGeom prst="rect">
            <a:avLst/>
          </a:prstGeom>
          <a:solidFill>
            <a:srgbClr val="C8E6C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25.3</a:t>
            </a:r>
            <a:endParaRPr lang="en-US" sz="1125" dirty="0"/>
          </a:p>
        </p:txBody>
      </p:sp>
      <p:sp>
        <p:nvSpPr>
          <p:cNvPr id="38" name="Text 33"/>
          <p:cNvSpPr txBox="1"/>
          <p:nvPr/>
        </p:nvSpPr>
        <p:spPr>
          <a:xfrm>
            <a:off x="4515307" y="6943954"/>
            <a:ext cx="667512" cy="667512"/>
          </a:xfrm>
          <a:prstGeom prst="rect">
            <a:avLst/>
          </a:prstGeom>
          <a:solidFill>
            <a:srgbClr val="E8F5E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25.2</a:t>
            </a:r>
            <a:endParaRPr lang="en-US" sz="1125" dirty="0"/>
          </a:p>
        </p:txBody>
      </p:sp>
      <p:sp>
        <p:nvSpPr>
          <p:cNvPr id="39" name="Text 34"/>
          <p:cNvSpPr txBox="1"/>
          <p:nvPr/>
        </p:nvSpPr>
        <p:spPr>
          <a:xfrm>
            <a:off x="5257800" y="6943954"/>
            <a:ext cx="667512" cy="667512"/>
          </a:xfrm>
          <a:prstGeom prst="rect">
            <a:avLst/>
          </a:prstGeom>
          <a:solidFill>
            <a:srgbClr val="E8F5E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25.2</a:t>
            </a:r>
            <a:endParaRPr lang="en-US" sz="1125" dirty="0"/>
          </a:p>
        </p:txBody>
      </p:sp>
      <p:sp>
        <p:nvSpPr>
          <p:cNvPr id="40" name="Shape 35"/>
          <p:cNvSpPr/>
          <p:nvPr/>
        </p:nvSpPr>
        <p:spPr>
          <a:xfrm>
            <a:off x="6858000" y="2667305"/>
            <a:ext cx="4953305" cy="5524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6858000" y="2667305"/>
            <a:ext cx="4953305" cy="57607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7095744" y="2952598"/>
            <a:ext cx="20482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388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W7 · CV · PVD</a:t>
            </a:r>
            <a:endParaRPr lang="en-US" sz="975" dirty="0"/>
          </a:p>
        </p:txBody>
      </p:sp>
      <p:sp>
        <p:nvSpPr>
          <p:cNvPr id="43" name="Text 38"/>
          <p:cNvSpPr txBox="1"/>
          <p:nvPr/>
        </p:nvSpPr>
        <p:spPr>
          <a:xfrm>
            <a:off x="7095744" y="3172054"/>
            <a:ext cx="242133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25-point wafer map</a:t>
            </a:r>
            <a:endParaRPr lang="en-US" sz="1650" dirty="0"/>
          </a:p>
        </p:txBody>
      </p:sp>
      <p:sp>
        <p:nvSpPr>
          <p:cNvPr id="44" name="Text 39"/>
          <p:cNvSpPr txBox="1"/>
          <p:nvPr/>
        </p:nvSpPr>
        <p:spPr>
          <a:xfrm>
            <a:off x="10382098" y="2952598"/>
            <a:ext cx="11914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 · nm</a:t>
            </a:r>
            <a:endParaRPr lang="en-US" sz="975" dirty="0"/>
          </a:p>
        </p:txBody>
      </p:sp>
      <p:sp>
        <p:nvSpPr>
          <p:cNvPr id="45" name="Text 40"/>
          <p:cNvSpPr txBox="1"/>
          <p:nvPr/>
        </p:nvSpPr>
        <p:spPr>
          <a:xfrm>
            <a:off x="10156241" y="3133649"/>
            <a:ext cx="141732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369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μ 26.3 · σ 0.82</a:t>
            </a:r>
            <a:endParaRPr lang="en-US" sz="1350" dirty="0"/>
          </a:p>
        </p:txBody>
      </p:sp>
      <p:pic>
        <p:nvPicPr>
          <p:cNvPr id="46" name="Image 2" descr="gen-dedup-da686534c891296107089a0cf806da7f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0" y="3762756"/>
            <a:ext cx="4038905" cy="4038905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7524598" y="3972154"/>
            <a:ext cx="667512" cy="667512"/>
          </a:xfrm>
          <a:prstGeom prst="rect">
            <a:avLst/>
          </a:prstGeom>
          <a:solidFill>
            <a:srgbClr val="81C78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26.0</a:t>
            </a:r>
            <a:endParaRPr lang="en-US" sz="1125" dirty="0"/>
          </a:p>
        </p:txBody>
      </p:sp>
      <p:sp>
        <p:nvSpPr>
          <p:cNvPr id="48" name="Text 42"/>
          <p:cNvSpPr txBox="1"/>
          <p:nvPr/>
        </p:nvSpPr>
        <p:spPr>
          <a:xfrm>
            <a:off x="8268005" y="3972154"/>
            <a:ext cx="667512" cy="667512"/>
          </a:xfrm>
          <a:prstGeom prst="rect">
            <a:avLst/>
          </a:prstGeom>
          <a:solidFill>
            <a:srgbClr val="A5D6A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26.2</a:t>
            </a:r>
            <a:endParaRPr lang="en-US" sz="1125" dirty="0"/>
          </a:p>
        </p:txBody>
      </p:sp>
      <p:sp>
        <p:nvSpPr>
          <p:cNvPr id="49" name="Text 43"/>
          <p:cNvSpPr txBox="1"/>
          <p:nvPr/>
        </p:nvSpPr>
        <p:spPr>
          <a:xfrm>
            <a:off x="9010498" y="3972154"/>
            <a:ext cx="667512" cy="667512"/>
          </a:xfrm>
          <a:prstGeom prst="rect">
            <a:avLst/>
          </a:prstGeom>
          <a:solidFill>
            <a:srgbClr val="66BB6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26.3</a:t>
            </a:r>
            <a:endParaRPr lang="en-US" sz="1125" dirty="0"/>
          </a:p>
        </p:txBody>
      </p:sp>
      <p:sp>
        <p:nvSpPr>
          <p:cNvPr id="50" name="Text 44"/>
          <p:cNvSpPr txBox="1"/>
          <p:nvPr/>
        </p:nvSpPr>
        <p:spPr>
          <a:xfrm>
            <a:off x="9753905" y="3972154"/>
            <a:ext cx="667512" cy="667512"/>
          </a:xfrm>
          <a:prstGeom prst="rect">
            <a:avLst/>
          </a:prstGeom>
          <a:solidFill>
            <a:srgbClr val="66BB6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26.4</a:t>
            </a:r>
            <a:endParaRPr lang="en-US" sz="1125" dirty="0"/>
          </a:p>
        </p:txBody>
      </p:sp>
      <p:sp>
        <p:nvSpPr>
          <p:cNvPr id="51" name="Text 45"/>
          <p:cNvSpPr txBox="1"/>
          <p:nvPr/>
        </p:nvSpPr>
        <p:spPr>
          <a:xfrm>
            <a:off x="10496398" y="3972154"/>
            <a:ext cx="667512" cy="667512"/>
          </a:xfrm>
          <a:prstGeom prst="rect">
            <a:avLst/>
          </a:prstGeom>
          <a:solidFill>
            <a:srgbClr val="4CAF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26.5</a:t>
            </a:r>
            <a:endParaRPr lang="en-US" sz="1125" dirty="0"/>
          </a:p>
        </p:txBody>
      </p:sp>
      <p:sp>
        <p:nvSpPr>
          <p:cNvPr id="52" name="Text 46"/>
          <p:cNvSpPr txBox="1"/>
          <p:nvPr/>
        </p:nvSpPr>
        <p:spPr>
          <a:xfrm>
            <a:off x="7524598" y="4714646"/>
            <a:ext cx="667512" cy="667512"/>
          </a:xfrm>
          <a:prstGeom prst="rect">
            <a:avLst/>
          </a:prstGeom>
          <a:solidFill>
            <a:srgbClr val="A5D6A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26.1</a:t>
            </a:r>
            <a:endParaRPr lang="en-US" sz="1125" dirty="0"/>
          </a:p>
        </p:txBody>
      </p:sp>
      <p:sp>
        <p:nvSpPr>
          <p:cNvPr id="53" name="Text 47"/>
          <p:cNvSpPr txBox="1"/>
          <p:nvPr/>
        </p:nvSpPr>
        <p:spPr>
          <a:xfrm>
            <a:off x="8268005" y="4714646"/>
            <a:ext cx="667512" cy="667512"/>
          </a:xfrm>
          <a:prstGeom prst="rect">
            <a:avLst/>
          </a:prstGeom>
          <a:solidFill>
            <a:srgbClr val="66BB6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26.3</a:t>
            </a:r>
            <a:endParaRPr lang="en-US" sz="1125" dirty="0"/>
          </a:p>
        </p:txBody>
      </p:sp>
      <p:sp>
        <p:nvSpPr>
          <p:cNvPr id="54" name="Text 48"/>
          <p:cNvSpPr txBox="1"/>
          <p:nvPr/>
        </p:nvSpPr>
        <p:spPr>
          <a:xfrm>
            <a:off x="9010498" y="4714646"/>
            <a:ext cx="667512" cy="667512"/>
          </a:xfrm>
          <a:prstGeom prst="rect">
            <a:avLst/>
          </a:prstGeom>
          <a:solidFill>
            <a:srgbClr val="4CAF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26.4</a:t>
            </a:r>
            <a:endParaRPr lang="en-US" sz="1125" dirty="0"/>
          </a:p>
        </p:txBody>
      </p:sp>
      <p:sp>
        <p:nvSpPr>
          <p:cNvPr id="55" name="Text 49"/>
          <p:cNvSpPr txBox="1"/>
          <p:nvPr/>
        </p:nvSpPr>
        <p:spPr>
          <a:xfrm>
            <a:off x="9753905" y="4714646"/>
            <a:ext cx="667512" cy="667512"/>
          </a:xfrm>
          <a:prstGeom prst="rect">
            <a:avLst/>
          </a:prstGeom>
          <a:solidFill>
            <a:srgbClr val="4CAF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26.5</a:t>
            </a:r>
            <a:endParaRPr lang="en-US" sz="1125" dirty="0"/>
          </a:p>
        </p:txBody>
      </p:sp>
      <p:sp>
        <p:nvSpPr>
          <p:cNvPr id="56" name="Text 50"/>
          <p:cNvSpPr txBox="1"/>
          <p:nvPr/>
        </p:nvSpPr>
        <p:spPr>
          <a:xfrm>
            <a:off x="10496398" y="4714646"/>
            <a:ext cx="667512" cy="667512"/>
          </a:xfrm>
          <a:prstGeom prst="rect">
            <a:avLst/>
          </a:prstGeom>
          <a:solidFill>
            <a:srgbClr val="388E3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26.6</a:t>
            </a:r>
            <a:endParaRPr lang="en-US" sz="1125" dirty="0"/>
          </a:p>
        </p:txBody>
      </p:sp>
      <p:sp>
        <p:nvSpPr>
          <p:cNvPr id="57" name="Text 51"/>
          <p:cNvSpPr txBox="1"/>
          <p:nvPr/>
        </p:nvSpPr>
        <p:spPr>
          <a:xfrm>
            <a:off x="7524598" y="5458054"/>
            <a:ext cx="667512" cy="667512"/>
          </a:xfrm>
          <a:prstGeom prst="rect">
            <a:avLst/>
          </a:prstGeom>
          <a:solidFill>
            <a:srgbClr val="66BB6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26.2</a:t>
            </a:r>
            <a:endParaRPr lang="en-US" sz="1125" dirty="0"/>
          </a:p>
        </p:txBody>
      </p:sp>
      <p:sp>
        <p:nvSpPr>
          <p:cNvPr id="58" name="Text 52"/>
          <p:cNvSpPr txBox="1"/>
          <p:nvPr/>
        </p:nvSpPr>
        <p:spPr>
          <a:xfrm>
            <a:off x="8268005" y="5458054"/>
            <a:ext cx="667512" cy="667512"/>
          </a:xfrm>
          <a:prstGeom prst="rect">
            <a:avLst/>
          </a:prstGeom>
          <a:solidFill>
            <a:srgbClr val="4CAF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26.3</a:t>
            </a:r>
            <a:endParaRPr lang="en-US" sz="1125" dirty="0"/>
          </a:p>
        </p:txBody>
      </p:sp>
      <p:sp>
        <p:nvSpPr>
          <p:cNvPr id="59" name="Text 53"/>
          <p:cNvSpPr txBox="1"/>
          <p:nvPr/>
        </p:nvSpPr>
        <p:spPr>
          <a:xfrm>
            <a:off x="9010498" y="5458054"/>
            <a:ext cx="667512" cy="667512"/>
          </a:xfrm>
          <a:prstGeom prst="rect">
            <a:avLst/>
          </a:prstGeom>
          <a:solidFill>
            <a:srgbClr val="388E3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26.4</a:t>
            </a:r>
            <a:endParaRPr lang="en-US" sz="1125" dirty="0"/>
          </a:p>
        </p:txBody>
      </p:sp>
      <p:sp>
        <p:nvSpPr>
          <p:cNvPr id="60" name="Text 54"/>
          <p:cNvSpPr txBox="1"/>
          <p:nvPr/>
        </p:nvSpPr>
        <p:spPr>
          <a:xfrm>
            <a:off x="9753905" y="5458054"/>
            <a:ext cx="667512" cy="667512"/>
          </a:xfrm>
          <a:prstGeom prst="rect">
            <a:avLst/>
          </a:prstGeom>
          <a:solidFill>
            <a:srgbClr val="388E3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26.5</a:t>
            </a:r>
            <a:endParaRPr lang="en-US" sz="1125" dirty="0"/>
          </a:p>
        </p:txBody>
      </p:sp>
      <p:sp>
        <p:nvSpPr>
          <p:cNvPr id="61" name="Text 55"/>
          <p:cNvSpPr txBox="1"/>
          <p:nvPr/>
        </p:nvSpPr>
        <p:spPr>
          <a:xfrm>
            <a:off x="10496398" y="5458054"/>
            <a:ext cx="667512" cy="667512"/>
          </a:xfrm>
          <a:prstGeom prst="rect">
            <a:avLst/>
          </a:prstGeom>
          <a:solidFill>
            <a:srgbClr val="2E7D3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26.7</a:t>
            </a:r>
            <a:endParaRPr lang="en-US" sz="1125" dirty="0"/>
          </a:p>
        </p:txBody>
      </p:sp>
      <p:sp>
        <p:nvSpPr>
          <p:cNvPr id="62" name="Text 56"/>
          <p:cNvSpPr txBox="1"/>
          <p:nvPr/>
        </p:nvSpPr>
        <p:spPr>
          <a:xfrm>
            <a:off x="7524598" y="6200546"/>
            <a:ext cx="667512" cy="667512"/>
          </a:xfrm>
          <a:prstGeom prst="rect">
            <a:avLst/>
          </a:prstGeom>
          <a:solidFill>
            <a:srgbClr val="66BB6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26.1</a:t>
            </a:r>
            <a:endParaRPr lang="en-US" sz="1125" dirty="0"/>
          </a:p>
        </p:txBody>
      </p:sp>
      <p:sp>
        <p:nvSpPr>
          <p:cNvPr id="63" name="Text 57"/>
          <p:cNvSpPr txBox="1"/>
          <p:nvPr/>
        </p:nvSpPr>
        <p:spPr>
          <a:xfrm>
            <a:off x="8268005" y="6200546"/>
            <a:ext cx="667512" cy="667512"/>
          </a:xfrm>
          <a:prstGeom prst="rect">
            <a:avLst/>
          </a:prstGeom>
          <a:solidFill>
            <a:srgbClr val="4CAF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26.2</a:t>
            </a:r>
            <a:endParaRPr lang="en-US" sz="1125" dirty="0"/>
          </a:p>
        </p:txBody>
      </p:sp>
      <p:sp>
        <p:nvSpPr>
          <p:cNvPr id="64" name="Text 58"/>
          <p:cNvSpPr txBox="1"/>
          <p:nvPr/>
        </p:nvSpPr>
        <p:spPr>
          <a:xfrm>
            <a:off x="9010498" y="6200546"/>
            <a:ext cx="667512" cy="667512"/>
          </a:xfrm>
          <a:prstGeom prst="rect">
            <a:avLst/>
          </a:prstGeom>
          <a:solidFill>
            <a:srgbClr val="388E3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26.3</a:t>
            </a:r>
            <a:endParaRPr lang="en-US" sz="1125" dirty="0"/>
          </a:p>
        </p:txBody>
      </p:sp>
      <p:sp>
        <p:nvSpPr>
          <p:cNvPr id="65" name="Text 59"/>
          <p:cNvSpPr txBox="1"/>
          <p:nvPr/>
        </p:nvSpPr>
        <p:spPr>
          <a:xfrm>
            <a:off x="9753905" y="6200546"/>
            <a:ext cx="667512" cy="667512"/>
          </a:xfrm>
          <a:prstGeom prst="rect">
            <a:avLst/>
          </a:prstGeom>
          <a:solidFill>
            <a:srgbClr val="388E3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26.5</a:t>
            </a:r>
            <a:endParaRPr lang="en-US" sz="1125" dirty="0"/>
          </a:p>
        </p:txBody>
      </p:sp>
      <p:sp>
        <p:nvSpPr>
          <p:cNvPr id="66" name="Text 60"/>
          <p:cNvSpPr txBox="1"/>
          <p:nvPr/>
        </p:nvSpPr>
        <p:spPr>
          <a:xfrm>
            <a:off x="10496398" y="6200546"/>
            <a:ext cx="667512" cy="667512"/>
          </a:xfrm>
          <a:prstGeom prst="rect">
            <a:avLst/>
          </a:prstGeom>
          <a:solidFill>
            <a:srgbClr val="2E7D3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26.6</a:t>
            </a:r>
            <a:endParaRPr lang="en-US" sz="1125" dirty="0"/>
          </a:p>
        </p:txBody>
      </p:sp>
      <p:sp>
        <p:nvSpPr>
          <p:cNvPr id="67" name="Text 61"/>
          <p:cNvSpPr txBox="1"/>
          <p:nvPr/>
        </p:nvSpPr>
        <p:spPr>
          <a:xfrm>
            <a:off x="7524598" y="6943954"/>
            <a:ext cx="667512" cy="667512"/>
          </a:xfrm>
          <a:prstGeom prst="rect">
            <a:avLst/>
          </a:prstGeom>
          <a:solidFill>
            <a:srgbClr val="4CAF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26.0</a:t>
            </a:r>
            <a:endParaRPr lang="en-US" sz="1125" dirty="0"/>
          </a:p>
        </p:txBody>
      </p:sp>
      <p:sp>
        <p:nvSpPr>
          <p:cNvPr id="68" name="Text 62"/>
          <p:cNvSpPr txBox="1"/>
          <p:nvPr/>
        </p:nvSpPr>
        <p:spPr>
          <a:xfrm>
            <a:off x="8268005" y="6943954"/>
            <a:ext cx="667512" cy="667512"/>
          </a:xfrm>
          <a:prstGeom prst="rect">
            <a:avLst/>
          </a:prstGeom>
          <a:solidFill>
            <a:srgbClr val="66BB6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26.1</a:t>
            </a:r>
            <a:endParaRPr lang="en-US" sz="1125" dirty="0"/>
          </a:p>
        </p:txBody>
      </p:sp>
      <p:sp>
        <p:nvSpPr>
          <p:cNvPr id="69" name="Text 63"/>
          <p:cNvSpPr txBox="1"/>
          <p:nvPr/>
        </p:nvSpPr>
        <p:spPr>
          <a:xfrm>
            <a:off x="9010498" y="6943954"/>
            <a:ext cx="667512" cy="667512"/>
          </a:xfrm>
          <a:prstGeom prst="rect">
            <a:avLst/>
          </a:prstGeom>
          <a:solidFill>
            <a:srgbClr val="388E3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26.3</a:t>
            </a:r>
            <a:endParaRPr lang="en-US" sz="1125" dirty="0"/>
          </a:p>
        </p:txBody>
      </p:sp>
      <p:sp>
        <p:nvSpPr>
          <p:cNvPr id="70" name="Text 64"/>
          <p:cNvSpPr txBox="1"/>
          <p:nvPr/>
        </p:nvSpPr>
        <p:spPr>
          <a:xfrm>
            <a:off x="9753905" y="6943954"/>
            <a:ext cx="667512" cy="667512"/>
          </a:xfrm>
          <a:prstGeom prst="rect">
            <a:avLst/>
          </a:prstGeom>
          <a:solidFill>
            <a:srgbClr val="388E3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26.4</a:t>
            </a:r>
            <a:endParaRPr lang="en-US" sz="1125" dirty="0"/>
          </a:p>
        </p:txBody>
      </p:sp>
      <p:sp>
        <p:nvSpPr>
          <p:cNvPr id="71" name="Text 65"/>
          <p:cNvSpPr txBox="1"/>
          <p:nvPr/>
        </p:nvSpPr>
        <p:spPr>
          <a:xfrm>
            <a:off x="10496398" y="6943954"/>
            <a:ext cx="667512" cy="667512"/>
          </a:xfrm>
          <a:prstGeom prst="rect">
            <a:avLst/>
          </a:prstGeom>
          <a:solidFill>
            <a:srgbClr val="2E7D3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26.5</a:t>
            </a:r>
            <a:endParaRPr lang="en-US" sz="1125" dirty="0"/>
          </a:p>
        </p:txBody>
      </p:sp>
      <p:sp>
        <p:nvSpPr>
          <p:cNvPr id="72" name="Shape 66"/>
          <p:cNvSpPr/>
          <p:nvPr/>
        </p:nvSpPr>
        <p:spPr>
          <a:xfrm>
            <a:off x="12096598" y="2667305"/>
            <a:ext cx="4572000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73" name="Text 67"/>
          <p:cNvSpPr txBox="1"/>
          <p:nvPr/>
        </p:nvSpPr>
        <p:spPr>
          <a:xfrm>
            <a:off x="12335256" y="2885846"/>
            <a:ext cx="4096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WIWNU · 8 wafer</a:t>
            </a:r>
            <a:endParaRPr lang="en-US" sz="1350" dirty="0"/>
          </a:p>
        </p:txBody>
      </p:sp>
      <p:sp>
        <p:nvSpPr>
          <p:cNvPr id="74" name="Text 68"/>
          <p:cNvSpPr txBox="1"/>
          <p:nvPr/>
        </p:nvSpPr>
        <p:spPr>
          <a:xfrm>
            <a:off x="12335256" y="3152851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 · 3σ/mean × 100 %</a:t>
            </a:r>
            <a:endParaRPr lang="en-US" sz="900" dirty="0"/>
          </a:p>
        </p:txBody>
      </p:sp>
      <p:sp>
        <p:nvSpPr>
          <p:cNvPr id="75" name="Text 69"/>
          <p:cNvSpPr txBox="1"/>
          <p:nvPr/>
        </p:nvSpPr>
        <p:spPr>
          <a:xfrm>
            <a:off x="12335256" y="3486607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W1</a:t>
            </a:r>
            <a:endParaRPr lang="en-US" sz="1050" dirty="0"/>
          </a:p>
        </p:txBody>
      </p:sp>
      <p:sp>
        <p:nvSpPr>
          <p:cNvPr id="76" name="Text 70"/>
          <p:cNvSpPr txBox="1"/>
          <p:nvPr/>
        </p:nvSpPr>
        <p:spPr>
          <a:xfrm>
            <a:off x="15421356" y="3486607"/>
            <a:ext cx="438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1.9</a:t>
            </a:r>
            <a:endParaRPr lang="en-US" sz="1050" dirty="0"/>
          </a:p>
        </p:txBody>
      </p:sp>
      <p:sp>
        <p:nvSpPr>
          <p:cNvPr id="77" name="Text 71"/>
          <p:cNvSpPr txBox="1"/>
          <p:nvPr/>
        </p:nvSpPr>
        <p:spPr>
          <a:xfrm>
            <a:off x="12335256" y="3752698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</a:t>
            </a:r>
            <a:endParaRPr lang="en-US" sz="1050" dirty="0"/>
          </a:p>
        </p:txBody>
      </p:sp>
      <p:sp>
        <p:nvSpPr>
          <p:cNvPr id="78" name="Text 72"/>
          <p:cNvSpPr txBox="1"/>
          <p:nvPr/>
        </p:nvSpPr>
        <p:spPr>
          <a:xfrm>
            <a:off x="15421356" y="3752698"/>
            <a:ext cx="438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2.1</a:t>
            </a:r>
            <a:endParaRPr lang="en-US" sz="1050" dirty="0"/>
          </a:p>
        </p:txBody>
      </p:sp>
      <p:sp>
        <p:nvSpPr>
          <p:cNvPr id="79" name="Text 73"/>
          <p:cNvSpPr txBox="1"/>
          <p:nvPr/>
        </p:nvSpPr>
        <p:spPr>
          <a:xfrm>
            <a:off x="12335256" y="4019702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</a:t>
            </a:r>
            <a:endParaRPr lang="en-US" sz="1050" dirty="0"/>
          </a:p>
        </p:txBody>
      </p:sp>
      <p:sp>
        <p:nvSpPr>
          <p:cNvPr id="80" name="Text 74"/>
          <p:cNvSpPr txBox="1"/>
          <p:nvPr/>
        </p:nvSpPr>
        <p:spPr>
          <a:xfrm>
            <a:off x="15421356" y="4019702"/>
            <a:ext cx="438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88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2.4</a:t>
            </a:r>
            <a:endParaRPr lang="en-US" sz="1050" dirty="0"/>
          </a:p>
        </p:txBody>
      </p:sp>
      <p:sp>
        <p:nvSpPr>
          <p:cNvPr id="81" name="Text 75"/>
          <p:cNvSpPr txBox="1"/>
          <p:nvPr/>
        </p:nvSpPr>
        <p:spPr>
          <a:xfrm>
            <a:off x="12335256" y="4286707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W4</a:t>
            </a:r>
            <a:endParaRPr lang="en-US" sz="1050" dirty="0"/>
          </a:p>
        </p:txBody>
      </p:sp>
      <p:sp>
        <p:nvSpPr>
          <p:cNvPr id="82" name="Text 76"/>
          <p:cNvSpPr txBox="1"/>
          <p:nvPr/>
        </p:nvSpPr>
        <p:spPr>
          <a:xfrm>
            <a:off x="15421356" y="4286707"/>
            <a:ext cx="438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88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2.3</a:t>
            </a:r>
            <a:endParaRPr lang="en-US" sz="1050" dirty="0"/>
          </a:p>
        </p:txBody>
      </p:sp>
      <p:sp>
        <p:nvSpPr>
          <p:cNvPr id="83" name="Text 77"/>
          <p:cNvSpPr txBox="1"/>
          <p:nvPr/>
        </p:nvSpPr>
        <p:spPr>
          <a:xfrm>
            <a:off x="12335256" y="4552798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W5</a:t>
            </a:r>
            <a:endParaRPr lang="en-US" sz="1050" dirty="0"/>
          </a:p>
        </p:txBody>
      </p:sp>
      <p:sp>
        <p:nvSpPr>
          <p:cNvPr id="84" name="Text 78"/>
          <p:cNvSpPr txBox="1"/>
          <p:nvPr/>
        </p:nvSpPr>
        <p:spPr>
          <a:xfrm>
            <a:off x="15421356" y="4552798"/>
            <a:ext cx="438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58B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2.7</a:t>
            </a:r>
            <a:endParaRPr lang="en-US" sz="1050" dirty="0"/>
          </a:p>
        </p:txBody>
      </p:sp>
      <p:sp>
        <p:nvSpPr>
          <p:cNvPr id="85" name="Text 79"/>
          <p:cNvSpPr txBox="1"/>
          <p:nvPr/>
        </p:nvSpPr>
        <p:spPr>
          <a:xfrm>
            <a:off x="12335256" y="4819802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W6</a:t>
            </a:r>
            <a:endParaRPr lang="en-US" sz="1050" dirty="0"/>
          </a:p>
        </p:txBody>
      </p:sp>
      <p:sp>
        <p:nvSpPr>
          <p:cNvPr id="86" name="Text 80"/>
          <p:cNvSpPr txBox="1"/>
          <p:nvPr/>
        </p:nvSpPr>
        <p:spPr>
          <a:xfrm>
            <a:off x="15421356" y="4819802"/>
            <a:ext cx="438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58B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2.8</a:t>
            </a:r>
            <a:endParaRPr lang="en-US" sz="1050" dirty="0"/>
          </a:p>
        </p:txBody>
      </p:sp>
      <p:sp>
        <p:nvSpPr>
          <p:cNvPr id="87" name="Text 81"/>
          <p:cNvSpPr txBox="1"/>
          <p:nvPr/>
        </p:nvSpPr>
        <p:spPr>
          <a:xfrm>
            <a:off x="12335256" y="5086807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W7</a:t>
            </a:r>
            <a:endParaRPr lang="en-US" sz="1050" dirty="0"/>
          </a:p>
        </p:txBody>
      </p:sp>
      <p:sp>
        <p:nvSpPr>
          <p:cNvPr id="88" name="Text 82"/>
          <p:cNvSpPr txBox="1"/>
          <p:nvPr/>
        </p:nvSpPr>
        <p:spPr>
          <a:xfrm>
            <a:off x="15421356" y="5086807"/>
            <a:ext cx="438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369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3.2</a:t>
            </a:r>
            <a:endParaRPr lang="en-US" sz="1050" dirty="0"/>
          </a:p>
        </p:txBody>
      </p:sp>
      <p:sp>
        <p:nvSpPr>
          <p:cNvPr id="89" name="Text 83"/>
          <p:cNvSpPr txBox="1"/>
          <p:nvPr/>
        </p:nvSpPr>
        <p:spPr>
          <a:xfrm>
            <a:off x="12335256" y="5352898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W8</a:t>
            </a:r>
            <a:endParaRPr lang="en-US" sz="1050" dirty="0"/>
          </a:p>
        </p:txBody>
      </p:sp>
      <p:sp>
        <p:nvSpPr>
          <p:cNvPr id="90" name="Text 84"/>
          <p:cNvSpPr txBox="1"/>
          <p:nvPr/>
        </p:nvSpPr>
        <p:spPr>
          <a:xfrm>
            <a:off x="15421356" y="5352898"/>
            <a:ext cx="438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369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3.1</a:t>
            </a:r>
            <a:endParaRPr lang="en-US" sz="1050" dirty="0"/>
          </a:p>
        </p:txBody>
      </p:sp>
      <p:sp>
        <p:nvSpPr>
          <p:cNvPr id="91" name="Shape 85"/>
          <p:cNvSpPr/>
          <p:nvPr/>
        </p:nvSpPr>
        <p:spPr>
          <a:xfrm>
            <a:off x="12658954" y="3495751"/>
            <a:ext cx="2667305" cy="171907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6"/>
          <p:cNvSpPr/>
          <p:nvPr/>
        </p:nvSpPr>
        <p:spPr>
          <a:xfrm>
            <a:off x="12658954" y="3495751"/>
            <a:ext cx="1580998" cy="171907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7"/>
          <p:cNvSpPr/>
          <p:nvPr/>
        </p:nvSpPr>
        <p:spPr>
          <a:xfrm>
            <a:off x="12658954" y="3762756"/>
            <a:ext cx="2667305" cy="171907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88"/>
          <p:cNvSpPr/>
          <p:nvPr/>
        </p:nvSpPr>
        <p:spPr>
          <a:xfrm>
            <a:off x="12658954" y="3762756"/>
            <a:ext cx="1752905" cy="171907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89"/>
          <p:cNvSpPr/>
          <p:nvPr/>
        </p:nvSpPr>
        <p:spPr>
          <a:xfrm>
            <a:off x="12658954" y="4028846"/>
            <a:ext cx="2667305" cy="171907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0"/>
          <p:cNvSpPr/>
          <p:nvPr/>
        </p:nvSpPr>
        <p:spPr>
          <a:xfrm>
            <a:off x="12658954" y="4028846"/>
            <a:ext cx="2000707" cy="171907"/>
          </a:xfrm>
          <a:prstGeom prst="rect">
            <a:avLst/>
          </a:prstGeom>
          <a:solidFill>
            <a:srgbClr val="388E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1"/>
          <p:cNvSpPr/>
          <p:nvPr/>
        </p:nvSpPr>
        <p:spPr>
          <a:xfrm>
            <a:off x="12658954" y="4295851"/>
            <a:ext cx="2667305" cy="171907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2"/>
          <p:cNvSpPr/>
          <p:nvPr/>
        </p:nvSpPr>
        <p:spPr>
          <a:xfrm>
            <a:off x="12658954" y="4295851"/>
            <a:ext cx="1914754" cy="171907"/>
          </a:xfrm>
          <a:prstGeom prst="rect">
            <a:avLst/>
          </a:prstGeom>
          <a:solidFill>
            <a:srgbClr val="388E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3"/>
          <p:cNvSpPr/>
          <p:nvPr/>
        </p:nvSpPr>
        <p:spPr>
          <a:xfrm>
            <a:off x="12658954" y="4562856"/>
            <a:ext cx="2667305" cy="171907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4"/>
          <p:cNvSpPr/>
          <p:nvPr/>
        </p:nvSpPr>
        <p:spPr>
          <a:xfrm>
            <a:off x="12658954" y="4562856"/>
            <a:ext cx="2247595" cy="171907"/>
          </a:xfrm>
          <a:prstGeom prst="rect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5"/>
          <p:cNvSpPr/>
          <p:nvPr/>
        </p:nvSpPr>
        <p:spPr>
          <a:xfrm>
            <a:off x="12658954" y="4828946"/>
            <a:ext cx="2667305" cy="171907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6"/>
          <p:cNvSpPr/>
          <p:nvPr/>
        </p:nvSpPr>
        <p:spPr>
          <a:xfrm>
            <a:off x="12658954" y="4828946"/>
            <a:ext cx="2333549" cy="171907"/>
          </a:xfrm>
          <a:prstGeom prst="rect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7"/>
          <p:cNvSpPr/>
          <p:nvPr/>
        </p:nvSpPr>
        <p:spPr>
          <a:xfrm>
            <a:off x="12658954" y="5095951"/>
            <a:ext cx="2667305" cy="171907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98"/>
          <p:cNvSpPr/>
          <p:nvPr/>
        </p:nvSpPr>
        <p:spPr>
          <a:xfrm>
            <a:off x="12658954" y="5095951"/>
            <a:ext cx="2667305" cy="171907"/>
          </a:xfrm>
          <a:prstGeom prst="rect">
            <a:avLst/>
          </a:prstGeom>
          <a:solidFill>
            <a:srgbClr val="66BB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99"/>
          <p:cNvSpPr/>
          <p:nvPr/>
        </p:nvSpPr>
        <p:spPr>
          <a:xfrm>
            <a:off x="12658954" y="5362956"/>
            <a:ext cx="2667305" cy="171907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0"/>
          <p:cNvSpPr/>
          <p:nvPr/>
        </p:nvSpPr>
        <p:spPr>
          <a:xfrm>
            <a:off x="12658954" y="5362956"/>
            <a:ext cx="2581351" cy="171907"/>
          </a:xfrm>
          <a:prstGeom prst="rect">
            <a:avLst/>
          </a:prstGeom>
          <a:solidFill>
            <a:srgbClr val="66BB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1"/>
          <p:cNvSpPr/>
          <p:nvPr/>
        </p:nvSpPr>
        <p:spPr>
          <a:xfrm>
            <a:off x="12096598" y="6476695"/>
            <a:ext cx="4572000" cy="171450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08" name="Text 102"/>
          <p:cNvSpPr txBox="1"/>
          <p:nvPr/>
        </p:nvSpPr>
        <p:spPr>
          <a:xfrm>
            <a:off x="12335256" y="6696151"/>
            <a:ext cx="40965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WoW vs WiW</a:t>
            </a:r>
            <a:endParaRPr lang="en-US" sz="1050" dirty="0"/>
          </a:p>
        </p:txBody>
      </p:sp>
      <p:sp>
        <p:nvSpPr>
          <p:cNvPr id="109" name="Text 103"/>
          <p:cNvSpPr txBox="1"/>
          <p:nvPr/>
        </p:nvSpPr>
        <p:spPr>
          <a:xfrm>
            <a:off x="12335256" y="7019849"/>
            <a:ext cx="10195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 (W1~W4)</a:t>
            </a:r>
            <a:endParaRPr lang="en-US" sz="975" dirty="0"/>
          </a:p>
        </p:txBody>
      </p:sp>
      <p:sp>
        <p:nvSpPr>
          <p:cNvPr id="110" name="Text 104"/>
          <p:cNvSpPr txBox="1"/>
          <p:nvPr/>
        </p:nvSpPr>
        <p:spPr>
          <a:xfrm>
            <a:off x="12335256" y="7239305"/>
            <a:ext cx="117500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2.18 %</a:t>
            </a:r>
            <a:endParaRPr lang="en-US" sz="2400" dirty="0"/>
          </a:p>
        </p:txBody>
      </p:sp>
      <p:sp>
        <p:nvSpPr>
          <p:cNvPr id="111" name="Text 105"/>
          <p:cNvSpPr txBox="1"/>
          <p:nvPr/>
        </p:nvSpPr>
        <p:spPr>
          <a:xfrm>
            <a:off x="13581583" y="7019849"/>
            <a:ext cx="10195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CV (W5~W8)</a:t>
            </a:r>
            <a:endParaRPr lang="en-US" sz="975" dirty="0"/>
          </a:p>
        </p:txBody>
      </p:sp>
      <p:sp>
        <p:nvSpPr>
          <p:cNvPr id="112" name="Text 106"/>
          <p:cNvSpPr txBox="1"/>
          <p:nvPr/>
        </p:nvSpPr>
        <p:spPr>
          <a:xfrm>
            <a:off x="13581583" y="7239305"/>
            <a:ext cx="117500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69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2.95 %</a:t>
            </a:r>
            <a:endParaRPr lang="en-US" sz="2400" dirty="0"/>
          </a:p>
        </p:txBody>
      </p:sp>
      <p:sp>
        <p:nvSpPr>
          <p:cNvPr id="113" name="Shape 107"/>
          <p:cNvSpPr/>
          <p:nvPr/>
        </p:nvSpPr>
        <p:spPr>
          <a:xfrm>
            <a:off x="1619402" y="8620049"/>
            <a:ext cx="15145207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Text 108"/>
          <p:cNvSpPr txBox="1"/>
          <p:nvPr/>
        </p:nvSpPr>
        <p:spPr>
          <a:xfrm>
            <a:off x="1809598" y="8620049"/>
            <a:ext cx="147639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W1은 평균 25.4 nm에 모이나 W7은 26.0~26.7 nm까지 펼쳐진다 — split 별 WIWNU 격차가 0.77 %p.</a:t>
            </a:r>
            <a:endParaRPr lang="en-US" sz="1200" dirty="0"/>
          </a:p>
        </p:txBody>
      </p:sp>
      <p:sp>
        <p:nvSpPr>
          <p:cNvPr id="115" name="Text 109"/>
          <p:cNvSpPr txBox="1"/>
          <p:nvPr/>
        </p:nvSpPr>
        <p:spPr>
          <a:xfrm>
            <a:off x="1619402" y="9620402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116" name="Text 110"/>
          <p:cNvSpPr txBox="1"/>
          <p:nvPr/>
        </p:nvSpPr>
        <p:spPr>
          <a:xfrm>
            <a:off x="14763902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12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754fa3857d754c3e0c09368d552363f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0" y="0"/>
            <a:ext cx="57607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19402" y="666598"/>
            <a:ext cx="1190549" cy="323698"/>
          </a:xfrm>
          <a:prstGeom prst="roundRect">
            <a:avLst>
              <a:gd name="adj" fmla="val 5932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1619402" y="666598"/>
            <a:ext cx="1191463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· 전기 특성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1619402" y="1143000"/>
            <a:ext cx="142875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전기 특성 — line R · via R · leakage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1619402" y="1886407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M8 라인·소형 via chain 측정값. dummy 데이터, 도식 없이 숫자 표 위주로 정리.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1619402" y="2667305"/>
            <a:ext cx="10477195" cy="5524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619402" y="2667305"/>
            <a:ext cx="10477195" cy="57607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837944" y="2895905"/>
            <a:ext cx="100401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wafer · per-wafer electrical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837944" y="3209544"/>
            <a:ext cx="100401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line R · via chain R · M7-M8 leakage @ −1 V · avg RC product</a:t>
            </a:r>
            <a:endParaRPr lang="en-US" sz="975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28546" y="3467405"/>
          <a:ext cx="10478110" cy="4696358"/>
        </p:xfrm>
        <a:graphic>
          <a:graphicData uri="http://schemas.openxmlformats.org/drawingml/2006/table">
            <a:tbl>
              <a:tblPr/>
              <a:tblGrid>
                <a:gridCol w="1310335"/>
                <a:gridCol w="1965960"/>
                <a:gridCol w="1423721"/>
                <a:gridCol w="2260397"/>
                <a:gridCol w="1606601"/>
                <a:gridCol w="1911096"/>
              </a:tblGrid>
              <a:tr h="469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line 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8895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μΩ·cm</a:t>
                      </a:r>
                      <a:endParaRPr lang="en-US" sz="1200" dirty="0"/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via chain 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8895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Ω/via</a:t>
                      </a:r>
                      <a:endParaRPr lang="en-US" sz="1200" dirty="0"/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leak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8895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 @ −1V</a:t>
                      </a:r>
                      <a:endParaRPr lang="en-US" sz="1200" dirty="0"/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RC avg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8895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ps/μm</a:t>
                      </a:r>
                      <a:endParaRPr lang="en-US" sz="1200" dirty="0"/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469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W1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 · ALD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4.5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12.4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0.42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1.79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W2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 · ALD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4.6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12.6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0.46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1.83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W3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 · PVD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4.7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13.1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0.51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1.87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W4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 · PVD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4.6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12.8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0.48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1.86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636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69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W5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 · ALD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4.9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14.8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0.78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2.04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W6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 · ALD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15.0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0.82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2.06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W7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 · PVD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5.4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16.2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1.04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2.12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W8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 · PVD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5.5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16.0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0.99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2.10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12382805" y="2667305"/>
            <a:ext cx="4381805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2382805" y="2667305"/>
            <a:ext cx="57607" cy="2667305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2648895" y="2885846"/>
            <a:ext cx="389625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 summary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12648895" y="3267151"/>
            <a:ext cx="129296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Line R (SAV avg)</a:t>
            </a:r>
            <a:endParaRPr lang="en-US" sz="1125" dirty="0"/>
          </a:p>
        </p:txBody>
      </p:sp>
      <p:sp>
        <p:nvSpPr>
          <p:cNvPr id="17" name="Text 12"/>
          <p:cNvSpPr txBox="1"/>
          <p:nvPr/>
        </p:nvSpPr>
        <p:spPr>
          <a:xfrm>
            <a:off x="15736824" y="3267151"/>
            <a:ext cx="91897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4.60 μΩ·cm</a:t>
            </a:r>
            <a:endParaRPr lang="en-US" sz="1125" dirty="0"/>
          </a:p>
        </p:txBody>
      </p:sp>
      <p:sp>
        <p:nvSpPr>
          <p:cNvPr id="18" name="Text 13"/>
          <p:cNvSpPr txBox="1"/>
          <p:nvPr/>
        </p:nvSpPr>
        <p:spPr>
          <a:xfrm>
            <a:off x="12648895" y="3602736"/>
            <a:ext cx="11905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Line R (CV avg)</a:t>
            </a:r>
            <a:endParaRPr lang="en-US" sz="1125" dirty="0"/>
          </a:p>
        </p:txBody>
      </p:sp>
      <p:sp>
        <p:nvSpPr>
          <p:cNvPr id="19" name="Text 14"/>
          <p:cNvSpPr txBox="1"/>
          <p:nvPr/>
        </p:nvSpPr>
        <p:spPr>
          <a:xfrm>
            <a:off x="15736824" y="3602736"/>
            <a:ext cx="91897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58B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5.20 μΩ·cm</a:t>
            </a:r>
            <a:endParaRPr lang="en-US" sz="1125" dirty="0"/>
          </a:p>
        </p:txBody>
      </p:sp>
      <p:sp>
        <p:nvSpPr>
          <p:cNvPr id="20" name="Text 15"/>
          <p:cNvSpPr txBox="1"/>
          <p:nvPr/>
        </p:nvSpPr>
        <p:spPr>
          <a:xfrm>
            <a:off x="12648895" y="3938321"/>
            <a:ext cx="11795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via R (SAV avg)</a:t>
            </a:r>
            <a:endParaRPr lang="en-US" sz="1125" dirty="0"/>
          </a:p>
        </p:txBody>
      </p:sp>
      <p:sp>
        <p:nvSpPr>
          <p:cNvPr id="21" name="Text 16"/>
          <p:cNvSpPr txBox="1"/>
          <p:nvPr/>
        </p:nvSpPr>
        <p:spPr>
          <a:xfrm>
            <a:off x="16091611" y="3938321"/>
            <a:ext cx="54406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12.7 Ω</a:t>
            </a:r>
            <a:endParaRPr lang="en-US" sz="1125" dirty="0"/>
          </a:p>
        </p:txBody>
      </p:sp>
      <p:sp>
        <p:nvSpPr>
          <p:cNvPr id="22" name="Text 17"/>
          <p:cNvSpPr txBox="1"/>
          <p:nvPr/>
        </p:nvSpPr>
        <p:spPr>
          <a:xfrm>
            <a:off x="12648895" y="4273906"/>
            <a:ext cx="10881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via R (CV avg)</a:t>
            </a:r>
            <a:endParaRPr lang="en-US" sz="1125" dirty="0"/>
          </a:p>
        </p:txBody>
      </p:sp>
      <p:sp>
        <p:nvSpPr>
          <p:cNvPr id="23" name="Text 18"/>
          <p:cNvSpPr txBox="1"/>
          <p:nvPr/>
        </p:nvSpPr>
        <p:spPr>
          <a:xfrm>
            <a:off x="16091611" y="4273906"/>
            <a:ext cx="54406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58B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15.5 Ω</a:t>
            </a:r>
            <a:endParaRPr lang="en-US" sz="1125" dirty="0"/>
          </a:p>
        </p:txBody>
      </p:sp>
      <p:sp>
        <p:nvSpPr>
          <p:cNvPr id="24" name="Text 19"/>
          <p:cNvSpPr txBox="1"/>
          <p:nvPr/>
        </p:nvSpPr>
        <p:spPr>
          <a:xfrm>
            <a:off x="12648895" y="4610405"/>
            <a:ext cx="11228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leak (SAV avg)</a:t>
            </a:r>
            <a:endParaRPr lang="en-US" sz="1125" dirty="0"/>
          </a:p>
        </p:txBody>
      </p:sp>
      <p:sp>
        <p:nvSpPr>
          <p:cNvPr id="25" name="Text 20"/>
          <p:cNvSpPr txBox="1"/>
          <p:nvPr/>
        </p:nvSpPr>
        <p:spPr>
          <a:xfrm>
            <a:off x="16022117" y="4610405"/>
            <a:ext cx="62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0.47 nA</a:t>
            </a:r>
            <a:endParaRPr lang="en-US" sz="1125" dirty="0"/>
          </a:p>
        </p:txBody>
      </p:sp>
      <p:sp>
        <p:nvSpPr>
          <p:cNvPr id="26" name="Text 21"/>
          <p:cNvSpPr txBox="1"/>
          <p:nvPr/>
        </p:nvSpPr>
        <p:spPr>
          <a:xfrm>
            <a:off x="12648895" y="4945990"/>
            <a:ext cx="10323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leak (CV avg)</a:t>
            </a:r>
            <a:endParaRPr lang="en-US" sz="1125" dirty="0"/>
          </a:p>
        </p:txBody>
      </p:sp>
      <p:sp>
        <p:nvSpPr>
          <p:cNvPr id="27" name="Text 22"/>
          <p:cNvSpPr txBox="1"/>
          <p:nvPr/>
        </p:nvSpPr>
        <p:spPr>
          <a:xfrm>
            <a:off x="16022117" y="4945990"/>
            <a:ext cx="62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58B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0.91 nA</a:t>
            </a:r>
            <a:endParaRPr lang="en-US" sz="1125" dirty="0"/>
          </a:p>
        </p:txBody>
      </p:sp>
      <p:sp>
        <p:nvSpPr>
          <p:cNvPr id="28" name="Shape 23"/>
          <p:cNvSpPr/>
          <p:nvPr/>
        </p:nvSpPr>
        <p:spPr>
          <a:xfrm>
            <a:off x="12382805" y="5524805"/>
            <a:ext cx="2095805" cy="2667305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12582144" y="5724144"/>
            <a:ext cx="1696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Δ via R</a:t>
            </a:r>
            <a:endParaRPr lang="en-US" sz="975" dirty="0"/>
          </a:p>
        </p:txBody>
      </p:sp>
      <p:sp>
        <p:nvSpPr>
          <p:cNvPr id="30" name="Text 25"/>
          <p:cNvSpPr txBox="1"/>
          <p:nvPr/>
        </p:nvSpPr>
        <p:spPr>
          <a:xfrm>
            <a:off x="12582144" y="6001207"/>
            <a:ext cx="169621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+22 %</a:t>
            </a:r>
            <a:endParaRPr lang="en-US" sz="3750" dirty="0"/>
          </a:p>
        </p:txBody>
      </p:sp>
      <p:sp>
        <p:nvSpPr>
          <p:cNvPr id="31" name="Text 26"/>
          <p:cNvSpPr txBox="1"/>
          <p:nvPr/>
        </p:nvSpPr>
        <p:spPr>
          <a:xfrm>
            <a:off x="12582144" y="6762902"/>
            <a:ext cx="16962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CV vs SAV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14668805" y="5524805"/>
            <a:ext cx="2095805" cy="2667305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14868144" y="5724144"/>
            <a:ext cx="1696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Δ leak</a:t>
            </a:r>
            <a:endParaRPr lang="en-US" sz="975" dirty="0"/>
          </a:p>
        </p:txBody>
      </p:sp>
      <p:sp>
        <p:nvSpPr>
          <p:cNvPr id="34" name="Text 29"/>
          <p:cNvSpPr txBox="1"/>
          <p:nvPr/>
        </p:nvSpPr>
        <p:spPr>
          <a:xfrm>
            <a:off x="14868144" y="6001207"/>
            <a:ext cx="169621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≈ ×2</a:t>
            </a:r>
            <a:endParaRPr lang="en-US" sz="3750" dirty="0"/>
          </a:p>
        </p:txBody>
      </p:sp>
      <p:sp>
        <p:nvSpPr>
          <p:cNvPr id="35" name="Text 30"/>
          <p:cNvSpPr txBox="1"/>
          <p:nvPr/>
        </p:nvSpPr>
        <p:spPr>
          <a:xfrm>
            <a:off x="14868144" y="6762902"/>
            <a:ext cx="16962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 0.47 → CV 0.91 nA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1619402" y="8620049"/>
            <a:ext cx="15145207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1809598" y="8620049"/>
            <a:ext cx="147639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via chain R에서 SAV vs CV는 +22 %, leakage는 약 2배 격차 — BM 종류보다 split 영향이 더 크다.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1619402" y="9620402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39" name="Text 34"/>
          <p:cNvSpPr txBox="1"/>
          <p:nvPr/>
        </p:nvSpPr>
        <p:spPr>
          <a:xfrm>
            <a:off x="14763902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12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754fa3857d754c3e0c09368d552363f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0" y="0"/>
            <a:ext cx="57607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19402" y="666598"/>
            <a:ext cx="1895551" cy="323698"/>
          </a:xfrm>
          <a:prstGeom prst="roundRect">
            <a:avLst>
              <a:gd name="adj" fmla="val 5932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1619402" y="666598"/>
            <a:ext cx="18955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· 신뢰성 · TDDB · EM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1619402" y="1143000"/>
            <a:ext cx="142875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신뢰성 — TDDB · Electromigration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1619402" y="1886407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C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M8 inter-metal TDDB (β/η), EM t50 표준 stressing 조건 결과, 4-arm group 평균.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1619402" y="2667305"/>
            <a:ext cx="7429500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619402" y="2667305"/>
            <a:ext cx="7429500" cy="57607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837944" y="2895905"/>
            <a:ext cx="69915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TDDB · Weibull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837944" y="3209544"/>
            <a:ext cx="69915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Stressing V = use cond. · t63 (Weibull η) · β slope</a:t>
            </a:r>
            <a:endParaRPr lang="en-US" sz="975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28546" y="3467405"/>
          <a:ext cx="7429500" cy="2457907"/>
        </p:xfrm>
        <a:graphic>
          <a:graphicData uri="http://schemas.openxmlformats.org/drawingml/2006/table">
            <a:tbl>
              <a:tblPr/>
              <a:tblGrid>
                <a:gridCol w="1154745"/>
                <a:gridCol w="1532346"/>
                <a:gridCol w="896002"/>
                <a:gridCol w="1295545"/>
                <a:gridCol w="2550862"/>
              </a:tblGrid>
              <a:tr h="4915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Arm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β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η (a.u.)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implied life (yr)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4915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A1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 · ALD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2E7D3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1.68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2E7D3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8.2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9.6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5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A2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 · PVD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2E7D3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1.62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2E7D3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7.8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9.1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5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A3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 · ALD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558B2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1.50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558B2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6.8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558B2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7.9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5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A4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 · PVD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3369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1.45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3369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6.4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3369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7.4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9334195" y="2667305"/>
            <a:ext cx="7334402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334195" y="2667305"/>
            <a:ext cx="7334402" cy="57607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553651" y="2895905"/>
            <a:ext cx="68964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Electromigration · t50 / σ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9553651" y="3209544"/>
            <a:ext cx="68964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package-level · j = 1 MA/cm² · T = 300°C</a:t>
            </a:r>
            <a:endParaRPr lang="en-US" sz="975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44254" y="3467405"/>
          <a:ext cx="7334402" cy="2457907"/>
        </p:xfrm>
        <a:graphic>
          <a:graphicData uri="http://schemas.openxmlformats.org/drawingml/2006/table">
            <a:tbl>
              <a:tblPr/>
              <a:tblGrid>
                <a:gridCol w="1113739"/>
                <a:gridCol w="1476756"/>
                <a:gridCol w="1273759"/>
                <a:gridCol w="916229"/>
                <a:gridCol w="2553919"/>
              </a:tblGrid>
              <a:tr h="4915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Arm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t50 (yr)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σ_ln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4A5C5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activation E (eV)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4915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A1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 · ALD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9.4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2E7D3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0.31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0.92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5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A2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 · PVD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9.1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2E7D3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0.34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0.90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5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A3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 · ALD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558B2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7.6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558B2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0.40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0.86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5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A4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 · PVD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3369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6.8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3369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0.42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2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0.83</a:t>
                      </a:r>
                      <a:endParaRPr lang="en-US" sz="12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2"/>
          <p:cNvSpPr/>
          <p:nvPr/>
        </p:nvSpPr>
        <p:spPr>
          <a:xfrm>
            <a:off x="1619402" y="6476695"/>
            <a:ext cx="7429500" cy="1904695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1876349" y="6715354"/>
            <a:ext cx="69156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TDDB · β vs η trade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1876349" y="7008876"/>
            <a:ext cx="6915607" cy="5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 group (A1·A2) keep β &gt; 1.6, η 7.8–8.2 → </a:t>
            </a:r>
            <a:pPr algn="l" indent="0" marL="0">
              <a:lnSpc>
                <a:spcPts val="2092"/>
              </a:lnSpc>
              <a:buNone/>
            </a:pPr>
            <a:r>
              <a:rPr lang="en-US" sz="1350" b="1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방전 경로 분포가 좁다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pPr algn="l" indent="0" marL="0">
              <a:lnSpc>
                <a:spcPts val="2092"/>
              </a:lnSpc>
              <a:buNone/>
            </a:pP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CV group (A3·A4) drop β 1.45~1.50, η 6.4~6.8 → </a:t>
            </a:r>
            <a:pPr algn="l" indent="0" marL="0">
              <a:lnSpc>
                <a:spcPts val="2092"/>
              </a:lnSpc>
              <a:buNone/>
            </a:pPr>
            <a:r>
              <a:rPr lang="en-US" sz="1350" b="1" dirty="0">
                <a:solidFill>
                  <a:srgbClr val="3369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early fail 위험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우세.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9334195" y="6476695"/>
            <a:ext cx="7334402" cy="1904695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592056" y="6715354"/>
            <a:ext cx="68205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 · 분산 점검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9592056" y="7008876"/>
            <a:ext cx="6820510" cy="5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t50 9.4 → 6.8 yr across arms, σ_ln 0.31 → 0.42.</a:t>
            </a:r>
            <a:pPr algn="l" indent="0" marL="0">
              <a:lnSpc>
                <a:spcPts val="2092"/>
              </a:lnSpc>
              <a:buNone/>
            </a:pP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b="1" dirty="0">
                <a:solidFill>
                  <a:srgbClr val="2E7D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A4 (CV · PVD)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123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 가장 짧고 분산도 가장 큼 — 두 효과가 누적된다.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1619402" y="8620049"/>
            <a:ext cx="15145207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809598" y="8620049"/>
            <a:ext cx="147639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신뢰성에서도 SAV arm이 β·η·t50 모두 우위 — 평가 가설(SAV 안 정성)과 같은 방향의 dummy 결과.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1619402" y="9620402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27" name="Text 21"/>
          <p:cNvSpPr txBox="1"/>
          <p:nvPr/>
        </p:nvSpPr>
        <p:spPr>
          <a:xfrm>
            <a:off x="14763902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8895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12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2026-10-03T16:13:20Z</dcterms:created>
  <dcterms:modified xsi:type="dcterms:W3CDTF">2026-10-03T16:13:20Z</dcterms:modified>
</cp:coreProperties>
</file>