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 (평가 목적 및 실험 조건).
본 슬라이드는 보고서의 intro 역할로, 평가 목적, 평가 항목, 그리고 dummy 실험 조건을 한 화면에 정리한다.
발표 시 강조할 점은 세 가지다.
첫째, Arm A(High-NA 단일 노광)와 Arm B(0.33 NA SADP) 두 분기에 동일 18 nm half-pitch 다이스를 적용한다.
둘째, 평가는 금속 1계층(M1)에 한정한다.
셋째, 모든 숫자는 사내 dummy lot 가상값이며, 본 자료는 의사결정용이 아님을 명시한다.
우측 카드에는 wafer 수, site 수, resist, 금속화 공정(Ru semi-damascene + FSA via)을 dummy 수치로 기재한다.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 (공정 분기와 6매 웨이퍼 구성).
두 개의 큰 컬러 카드로 split을 보여준다. 좌측 teal 카드는 Arm A — High-NA 0.55 단일 노광, 1-shot + 2-stitch.
우측 copper 카드는 Arm B — 0.33 NA SADP, Core+Spacer 2 LE step. 각각 mask 수, CoO index 4.4x vs 6.0x 를 dummy로 표기.
아래 큰 표에서 6매(W01-W03 vs W04-W06) wafer별 split을 보여주고, 동일 die / 49 pt / 18 nm hp / MOR 동일 적용을 명시.
발표 시 강조할 점은 동일 grid 적용으로 wafer-to-wafer 와 arm-to-arm 격차를 동시에 분리해 본다는 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3 (장비, 레지스트, 메트로롤로지).
4컬럼 그리드로 litho / coat / etch / metrology 4개 공정을 dummy 사내 코드와 함께 정리한다. 장비 모델명은 의도적으로 가명 처리.
하단 표는 평가 항목 5개 — AASI / ASEI / AMI / ACI CD 정밀도 + In-wafer 균일도 — 와 target, sample, 통계 항목, 참조 슬라이드를 명시한다.
발표 시 강조: 동일 레지스트, 동일 메트로롤로지로 분기 간 비교 가능성을 최대화했다는 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 (단면 SEM 관찰).
큰 사진 한 장(IBM Research의 Cu interconnect 참고 자료)을 좌측에, 더 작은 사진을 우측 상단에 배치하고 그 아래 코멘트 박스.
코멘트는 Arm A vs Arm B 두 분기의 차이를 한 줄씩 짚는다 — Arm A는 stitch 경계 rounding 양호, Arm B는 spacer foot 잔류 미관측(더미 lot).
사진 아래 출처 한 줄 명시. 한 장당 출처 한 줄 규칙 준수.
발표 시 강조: spacer 잔류와 측벽 verticality 등 형상학 차이는 CD 편차의 뿌리이고, 후속 슬라이드에서 정량화됨을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5 (Top-view + 단면 보강).
3장의 사진을 다른 비율로 배치: 우측 큰 한 장은 sub-10 nm interconnect 참고 컷, 좌측 상단은 Cu BEOL evolution 참고 컷, 좌측 하단은 25 nm L/S top-view.
좌측 하단 두 사진 사이에 작은 commentary 카드를 두어 관찰 메모를 한 줄씩 정리 — line-edge 정렬, line-tip rounding 중심으로.
모든 사진 아래 출처 한 줄. key takeaway 한 줄.
발표 시 강조: top-view edge 정렬은 arm 무관 양호하지만, line-tip rounding 차이가 정량 표에 반영됨을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 (CD Variation by wafer — 6 wafer × 4 metric).
본 슬라이드는 보고서의 데이터 중심 슬라이드. 4개 metric(AASI / ASEI / AMI / ACI)을 2x2 grid에 배치.
각 sub-table은 wafer 6매와 POOLED 행을 보여주며 Arm A(W01-W03)는 teal tint, Arm B(W04-W06)는 copper tint.
Δ vs target 셀은 작은 부호화: 작으면 good (green), 보통 warn (amber), 크면 bad (maroon).
우측 상단 legend, 하단에는 key takeaway 한 줄.
발표 시 강조: Arm B가 모든 metric에서 일관되게 큰 3σ와 Δ를 보여 dummy lot 가설 (다중 패터닝 = 변동 누적)에 부합.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7 (In-wafer 균일도 + 49 pt wafer map).
좌측 큰 표에 wafer 별 pooled stats 표시 (Worst case W05 의 값을 강조 표시).
좌측 하단 작은 bar는 wafer 별 3σ 상대 길이 (cm·graph 비교 dummy).
우측 두 wafer map: W02(Arm A)와 W05(Arm B)를 side-by-side로 같은 49 pt grid.
W02는 teal palette, W05는 copper/maroon palette로 split-induced 편차를 시각화.
색 범례 우측 하단에 제공 (|Δ| nm vs target). 3개 KPI 카드(W02/W05 pooled)로 분기 비율 × 2.20 (dummy)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8 (전기적 특성 평가 결과).
큰 표 한 장만 — 도식 금지 요청에 따라 모든 정보를 numeric cell로 표현한다.
표 헤더에 Arm A (W01-W03) / Arm B (W04-W06) 6 wafer 칼럼 + Target 칼럼. 5개 metric 행.
Row 중 best / worst 는 색으로 강조 (good=green / warn=amber / bad=maroon).
표 아래 4개 작은 KPI 카드는 B/A ratio (dummy) — Rs 1.07×, Rc 1.32×, 누설 1.90×, Vbd -0.76V.
발표 시 강조: 누설에서 분기 격차가 가장 두드러짐 — 다중 패터닝 누적 변동이 전기적 사양에 직결됨을 dummy lot 가설로 지지.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image" Target="../media/image-3-3.png"/><Relationship Id="rId7" Type="http://schemas.openxmlformats.org/officeDocument/2006/relationships/image" Target="../media/image-3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4.png"/><Relationship Id="rId7" Type="http://schemas.openxmlformats.org/officeDocument/2006/relationships/image" Target="../media/image-6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fec6582c1621f775b47e05eb109315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bc8c14410465956cd0da06cf10b0f72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9696298"/>
            <a:ext cx="18288000" cy="19202"/>
          </a:xfrm>
          <a:prstGeom prst="rect">
            <a:avLst/>
          </a:prstGeom>
        </p:spPr>
      </p:pic>
      <p:pic>
        <p:nvPicPr>
          <p:cNvPr id="5" name="Image 2" descr="gen-dedup-632de80f02abd7253ba04817d0f87f5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761695" y="676656"/>
            <a:ext cx="342900" cy="1920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276502" y="590702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다중 패터닝 평가 · 내부 테스트 더미</a:t>
            </a:r>
            <a:endParaRPr lang="en-US" sz="1050" dirty="0"/>
          </a:p>
        </p:txBody>
      </p:sp>
      <p:sp>
        <p:nvSpPr>
          <p:cNvPr id="7" name="Text 1"/>
          <p:cNvSpPr txBox="1"/>
          <p:nvPr/>
        </p:nvSpPr>
        <p:spPr>
          <a:xfrm>
            <a:off x="5024628" y="599846"/>
            <a:ext cx="21909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 layer · 18 nm h.p.</a:t>
            </a:r>
            <a:endParaRPr lang="en-US" sz="1050" dirty="0"/>
          </a:p>
        </p:txBody>
      </p:sp>
      <p:sp>
        <p:nvSpPr>
          <p:cNvPr id="8" name="Text 2"/>
          <p:cNvSpPr txBox="1"/>
          <p:nvPr/>
        </p:nvSpPr>
        <p:spPr>
          <a:xfrm>
            <a:off x="7656271" y="599846"/>
            <a:ext cx="11530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02 / 15</a:t>
            </a:r>
            <a:endParaRPr lang="en-US" sz="1050" dirty="0"/>
          </a:p>
        </p:txBody>
      </p:sp>
      <p:sp>
        <p:nvSpPr>
          <p:cNvPr id="9" name="Text 3"/>
          <p:cNvSpPr txBox="1"/>
          <p:nvPr/>
        </p:nvSpPr>
        <p:spPr>
          <a:xfrm>
            <a:off x="13147243" y="599846"/>
            <a:ext cx="14484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A · High-NA</a:t>
            </a:r>
            <a:endParaRPr lang="en-US" sz="1050" dirty="0"/>
          </a:p>
        </p:txBody>
      </p:sp>
      <p:sp>
        <p:nvSpPr>
          <p:cNvPr id="10" name="Text 4"/>
          <p:cNvSpPr txBox="1"/>
          <p:nvPr/>
        </p:nvSpPr>
        <p:spPr>
          <a:xfrm>
            <a:off x="15034565" y="599846"/>
            <a:ext cx="19248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26" kern="0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B · 0.33 NA SADP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4749394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7381037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4758416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990295"/>
            <a:ext cx="11811305" cy="127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96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목적 및</a:t>
            </a:r>
            <a:pPr algn="l" indent="0" marL="0">
              <a:lnSpc>
                <a:spcPct val="104000"/>
              </a:lnSpc>
              <a:buNone/>
            </a:pPr>
            <a:endParaRPr lang="en-US" sz="48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800" b="1" spc="-96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조건</a:t>
            </a:r>
            <a:endParaRPr lang="en-US" sz="4800" dirty="0"/>
          </a:p>
        </p:txBody>
      </p:sp>
      <p:sp>
        <p:nvSpPr>
          <p:cNvPr id="15" name="Text 9"/>
          <p:cNvSpPr txBox="1"/>
          <p:nvPr/>
        </p:nvSpPr>
        <p:spPr>
          <a:xfrm>
            <a:off x="12763195" y="1505102"/>
            <a:ext cx="4953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01 OF 08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12763195" y="1809598"/>
            <a:ext cx="49533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 메탈 레이어에서 0.55 NA High-NA 단일 노광과 0.33 NA EUV SADP 공정의 CD·균일·전기적 격차를 6매 × 49 site × 4 metric 으로 정량화한다.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2857500"/>
            <a:ext cx="10287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평가 목적</a:t>
            </a:r>
            <a:endParaRPr lang="en-US" sz="975" dirty="0"/>
          </a:p>
        </p:txBody>
      </p:sp>
      <p:pic>
        <p:nvPicPr>
          <p:cNvPr id="18" name="Image 3" descr="gen-dedup-f672d2d4dc9da014f59501c89a4b3324.png">    </p:cNvPr>
          <p:cNvPicPr>
            <a:picLocks noChangeAspect="1"/>
          </p:cNvPicPr>
          <p:nvPr/>
        </p:nvPicPr>
        <p:blipFill>
          <a:blip r:embed="rId4"/>
          <a:srcRect l="0" r="0" t="-407" b="-407"/>
          <a:stretch/>
        </p:blipFill>
        <p:spPr>
          <a:xfrm>
            <a:off x="761695" y="3343046"/>
            <a:ext cx="195682" cy="192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5977" y="3172054"/>
            <a:ext cx="9868205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0.55 NA High-NA 단일 노광(Single Exposure) 분기와 0.33 NA EUV SADP 분기를 동일한 18 nm half-pitch M1 패턴에 적용하여, 두 공정의 CD 정밀도·웨하 내 균일도·전기적 사양 격차를 정량 비교한다. 본 보고서의 모든 수치는 사내 dummy lot 의 가상 측정값이며, 의사결정용으로 사용할 수 없다.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5048402"/>
            <a:ext cx="10287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핵심 평가 항목</a:t>
            </a:r>
            <a:endParaRPr lang="en-US" sz="975" dirty="0"/>
          </a:p>
        </p:txBody>
      </p:sp>
      <p:sp>
        <p:nvSpPr>
          <p:cNvPr id="21" name="Shape 14"/>
          <p:cNvSpPr/>
          <p:nvPr/>
        </p:nvSpPr>
        <p:spPr>
          <a:xfrm>
            <a:off x="761695" y="5438851"/>
            <a:ext cx="3276295" cy="19202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761695" y="5591556"/>
            <a:ext cx="32772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6096305"/>
            <a:ext cx="32772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정밀도</a:t>
            </a:r>
            <a:endParaRPr lang="en-US" sz="165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6439205"/>
            <a:ext cx="3277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· ASEI · AMI · ACI 4개 metric 의 wafer 별 mean / 3σ / range / Δ vs target.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4267505" y="5438851"/>
            <a:ext cx="3276295" cy="19202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4267505" y="5591556"/>
            <a:ext cx="32772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</a:t>
            </a:r>
            <a:endParaRPr lang="en-US" sz="2700" dirty="0"/>
          </a:p>
        </p:txBody>
      </p:sp>
      <p:sp>
        <p:nvSpPr>
          <p:cNvPr id="27" name="Text 20"/>
          <p:cNvSpPr txBox="1"/>
          <p:nvPr/>
        </p:nvSpPr>
        <p:spPr>
          <a:xfrm>
            <a:off x="4267505" y="6096305"/>
            <a:ext cx="32772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In-wafer 균일도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4267505" y="6439205"/>
            <a:ext cx="3277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die 의 49 pt grid 측정 결과를 pooled 3σ 와 색상 wafer map 으로 가시화.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7772400" y="5438851"/>
            <a:ext cx="3276295" cy="19202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772400" y="5591556"/>
            <a:ext cx="32772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A2E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iii</a:t>
            </a:r>
            <a:endParaRPr lang="en-US" sz="2700" dirty="0"/>
          </a:p>
        </p:txBody>
      </p:sp>
      <p:sp>
        <p:nvSpPr>
          <p:cNvPr id="31" name="Text 24"/>
          <p:cNvSpPr txBox="1"/>
          <p:nvPr/>
        </p:nvSpPr>
        <p:spPr>
          <a:xfrm>
            <a:off x="7772400" y="6096305"/>
            <a:ext cx="32772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전기적 특성</a:t>
            </a:r>
            <a:endParaRPr lang="en-US" sz="1650" dirty="0"/>
          </a:p>
        </p:txBody>
      </p:sp>
      <p:sp>
        <p:nvSpPr>
          <p:cNvPr id="32" name="Text 25"/>
          <p:cNvSpPr txBox="1"/>
          <p:nvPr/>
        </p:nvSpPr>
        <p:spPr>
          <a:xfrm>
            <a:off x="7772400" y="6439205"/>
            <a:ext cx="3277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Rs, via Rc, 라인간 leakage, TDDB Vbd 를 wafer 별 numeric table 로 기록.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11811305" y="2857500"/>
            <a:ext cx="5905195" cy="6476695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12096598" y="316199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실험 조건 (dummy)</a:t>
            </a:r>
            <a:endParaRPr lang="en-US" sz="975" dirty="0"/>
          </a:p>
        </p:txBody>
      </p:sp>
      <p:pic>
        <p:nvPicPr>
          <p:cNvPr id="35" name="Image 4" descr="gen-dedup-16802f71dac3cd6b6c232906b9bc8c13.png">    </p:cNvPr>
          <p:cNvPicPr>
            <a:picLocks noChangeAspect="1"/>
          </p:cNvPicPr>
          <p:nvPr/>
        </p:nvPicPr>
        <p:blipFill>
          <a:blip r:embed="rId5"/>
          <a:srcRect l="0" r="0" t="-403" b="-403"/>
          <a:stretch/>
        </p:blipFill>
        <p:spPr>
          <a:xfrm>
            <a:off x="12096598" y="3514954"/>
            <a:ext cx="5333695" cy="19202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096598" y="3724351"/>
          <a:ext cx="5334610" cy="3324758"/>
        </p:xfrm>
        <a:graphic>
          <a:graphicData uri="http://schemas.openxmlformats.org/drawingml/2006/table">
            <a:tbl>
              <a:tblPr/>
              <a:tblGrid>
                <a:gridCol w="2027225"/>
                <a:gridCol w="3307385"/>
              </a:tblGrid>
              <a:tr h="221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08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EVAL LAYER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BEOL M1 (최초 메탈)</a:t>
                      </a:r>
                      <a:endParaRPr lang="en-US" sz="12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21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08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WAFER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 매 · 300 mm Si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21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08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SITE / WAFER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49 pt (center + 6 axes + edge)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21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08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HALF-PITCH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 nm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21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08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RESIST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MOR · 15 nm ultra-thin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21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08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ARM A (W01-W03)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0.55 NA EUV SE · 1-shot · stitch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21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08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ARM B (W04-W06)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B0531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0.33 NA EUV SADP · 2 LE steps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6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2216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08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METALLIZATION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Ru semi-damascene · FSA-via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Shape 28"/>
          <p:cNvSpPr/>
          <p:nvPr/>
        </p:nvSpPr>
        <p:spPr>
          <a:xfrm>
            <a:off x="761695" y="9430207"/>
            <a:ext cx="16763695" cy="9144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761695" y="9592056"/>
            <a:ext cx="1343254" cy="238658"/>
          </a:xfrm>
          <a:prstGeom prst="rect">
            <a:avLst/>
          </a:prstGeom>
          <a:noFill/>
          <a:ln w="12700">
            <a:solidFill>
              <a:srgbClr val="8A6418"/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2267712" y="9572854"/>
            <a:ext cx="87828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die 다이스를 두 분기에 3매씩 분할, 49 pt 동일 grid 로 CD·균일·전기적 3 축을 동시에 평가한다.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0" y="9924898"/>
            <a:ext cx="1828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내부 테스트용 더미(가상) 데이터 · 본 문서는 의사결정용이 아님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fec6582c1621f775b47e05eb109315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bc8c14410465956cd0da06cf10b0f72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9696298"/>
            <a:ext cx="18288000" cy="19202"/>
          </a:xfrm>
          <a:prstGeom prst="rect">
            <a:avLst/>
          </a:prstGeom>
        </p:spPr>
      </p:pic>
      <p:pic>
        <p:nvPicPr>
          <p:cNvPr id="5" name="Image 2" descr="gen-dedup-632de80f02abd7253ba04817d0f87f5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761695" y="676656"/>
            <a:ext cx="342900" cy="1920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276502" y="590702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다중 패터닝 평가 · 내부 테스트 더미</a:t>
            </a:r>
            <a:endParaRPr lang="en-US" sz="1050" dirty="0"/>
          </a:p>
        </p:txBody>
      </p:sp>
      <p:sp>
        <p:nvSpPr>
          <p:cNvPr id="7" name="Text 1"/>
          <p:cNvSpPr txBox="1"/>
          <p:nvPr/>
        </p:nvSpPr>
        <p:spPr>
          <a:xfrm>
            <a:off x="5024628" y="590702"/>
            <a:ext cx="3525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02 — 공정 split &amp; wafer map</a:t>
            </a:r>
            <a:endParaRPr lang="en-US" sz="1050" dirty="0"/>
          </a:p>
        </p:txBody>
      </p:sp>
      <p:sp>
        <p:nvSpPr>
          <p:cNvPr id="8" name="Text 2"/>
          <p:cNvSpPr txBox="1"/>
          <p:nvPr/>
        </p:nvSpPr>
        <p:spPr>
          <a:xfrm>
            <a:off x="13802868" y="599846"/>
            <a:ext cx="12573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A · teal</a:t>
            </a:r>
            <a:endParaRPr lang="en-US" sz="1050" dirty="0"/>
          </a:p>
        </p:txBody>
      </p:sp>
      <p:sp>
        <p:nvSpPr>
          <p:cNvPr id="9" name="Text 3"/>
          <p:cNvSpPr txBox="1"/>
          <p:nvPr/>
        </p:nvSpPr>
        <p:spPr>
          <a:xfrm>
            <a:off x="15498166" y="599846"/>
            <a:ext cx="14575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B · copper</a:t>
            </a:r>
            <a:endParaRPr lang="en-US" sz="1050" dirty="0"/>
          </a:p>
        </p:txBody>
      </p:sp>
      <p:sp>
        <p:nvSpPr>
          <p:cNvPr id="10" name="Text 4"/>
          <p:cNvSpPr txBox="1"/>
          <p:nvPr/>
        </p:nvSpPr>
        <p:spPr>
          <a:xfrm>
            <a:off x="4749394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15222931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4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</a:t>
            </a:r>
            <a:endParaRPr lang="en-US" sz="1050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990295"/>
            <a:ext cx="118113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분기(split)와</a:t>
            </a:r>
            <a:pPr algn="l" indent="0" marL="0">
              <a:lnSpc>
                <a:spcPct val="104000"/>
              </a:lnSpc>
              <a:buNone/>
            </a:pPr>
            <a:endParaRPr lang="en-US" sz="4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6매 웨이퍼 구성</a:t>
            </a:r>
            <a:endParaRPr lang="en-US" sz="4500" dirty="0"/>
          </a:p>
        </p:txBody>
      </p:sp>
      <p:sp>
        <p:nvSpPr>
          <p:cNvPr id="13" name="Text 7"/>
          <p:cNvSpPr txBox="1"/>
          <p:nvPr/>
        </p:nvSpPr>
        <p:spPr>
          <a:xfrm>
            <a:off x="12763195" y="1619402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02 OF 08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12763195" y="1914754"/>
            <a:ext cx="49533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die 의 18 nm hp 다이스를 두 분기에 </a:t>
            </a:r>
            <a:pPr algn="l" indent="0" marL="0">
              <a:lnSpc>
                <a:spcPts val="2363"/>
              </a:lnSpc>
              <a:buNone/>
            </a:pPr>
            <a:r>
              <a:rPr lang="en-US" sz="1575" b="1" dirty="0">
                <a:solidFill>
                  <a:srgbClr val="1F5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3매씩</a:t>
            </a:r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분할. Arm A 는 1-shot stitching, Arm B 는 Core+Spacer 2-step 으로 진행한다.</a:t>
            </a:r>
            <a:endParaRPr lang="en-US" sz="1575" dirty="0"/>
          </a:p>
        </p:txBody>
      </p:sp>
      <p:sp>
        <p:nvSpPr>
          <p:cNvPr id="15" name="Shape 9"/>
          <p:cNvSpPr/>
          <p:nvPr/>
        </p:nvSpPr>
        <p:spPr>
          <a:xfrm>
            <a:off x="761695" y="2857500"/>
            <a:ext cx="8382305" cy="2857500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143000" y="3195828"/>
            <a:ext cx="133502" cy="133502"/>
          </a:xfrm>
          <a:prstGeom prst="ellipse">
            <a:avLst/>
          </a:prstGeom>
          <a:solidFill>
            <a:srgbClr val="1F5E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410005" y="3181198"/>
            <a:ext cx="4864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A</a:t>
            </a:r>
            <a:endParaRPr lang="en-US" sz="975" dirty="0"/>
          </a:p>
        </p:txBody>
      </p:sp>
      <p:pic>
        <p:nvPicPr>
          <p:cNvPr id="18" name="Image 3" descr="gen-dedup-91044137a81820e29f2b4199f24783c9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2026310" y="3258007"/>
            <a:ext cx="5821985" cy="91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980883" y="3191256"/>
            <a:ext cx="7909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— W03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514954"/>
            <a:ext cx="836401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High-NA 0.55 NA EUV — Single Exposure</a:t>
            </a:r>
            <a:endParaRPr lang="en-US" sz="285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4209898"/>
            <a:ext cx="76206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NXE:5000 / EXE 계열 · 단일 노광 1-shot · half-field 26×16 mm · 2-stitch · 4× anamorphic optics · 초박막 MOR 15 nm.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5029200"/>
            <a:ext cx="10104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 / FIELD</a:t>
            </a:r>
            <a:endParaRPr lang="en-US" sz="825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5219395"/>
            <a:ext cx="10104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1-shot</a:t>
            </a:r>
            <a:endParaRPr lang="en-US" sz="1650" dirty="0"/>
          </a:p>
        </p:txBody>
      </p:sp>
      <p:sp>
        <p:nvSpPr>
          <p:cNvPr id="24" name="Text 17"/>
          <p:cNvSpPr txBox="1"/>
          <p:nvPr/>
        </p:nvSpPr>
        <p:spPr>
          <a:xfrm>
            <a:off x="2491740" y="5029200"/>
            <a:ext cx="11338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MASKS</a:t>
            </a:r>
            <a:endParaRPr lang="en-US" sz="825" dirty="0"/>
          </a:p>
        </p:txBody>
      </p:sp>
      <p:sp>
        <p:nvSpPr>
          <p:cNvPr id="25" name="Text 18"/>
          <p:cNvSpPr txBox="1"/>
          <p:nvPr/>
        </p:nvSpPr>
        <p:spPr>
          <a:xfrm>
            <a:off x="2491740" y="5219395"/>
            <a:ext cx="11338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1 layer</a:t>
            </a:r>
            <a:endParaRPr lang="en-US" sz="1650" dirty="0"/>
          </a:p>
        </p:txBody>
      </p:sp>
      <p:sp>
        <p:nvSpPr>
          <p:cNvPr id="26" name="Text 19"/>
          <p:cNvSpPr txBox="1"/>
          <p:nvPr/>
        </p:nvSpPr>
        <p:spPr>
          <a:xfrm>
            <a:off x="3966667" y="5029200"/>
            <a:ext cx="8860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STITCH</a:t>
            </a:r>
            <a:endParaRPr lang="en-US" sz="825" dirty="0"/>
          </a:p>
        </p:txBody>
      </p:sp>
      <p:sp>
        <p:nvSpPr>
          <p:cNvPr id="27" name="Text 20"/>
          <p:cNvSpPr txBox="1"/>
          <p:nvPr/>
        </p:nvSpPr>
        <p:spPr>
          <a:xfrm>
            <a:off x="3966667" y="5219395"/>
            <a:ext cx="8860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2-field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5189220" y="5029200"/>
            <a:ext cx="762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CoO INDEX</a:t>
            </a:r>
            <a:endParaRPr lang="en-US" sz="825" dirty="0"/>
          </a:p>
        </p:txBody>
      </p:sp>
      <p:sp>
        <p:nvSpPr>
          <p:cNvPr id="29" name="Text 22"/>
          <p:cNvSpPr txBox="1"/>
          <p:nvPr/>
        </p:nvSpPr>
        <p:spPr>
          <a:xfrm>
            <a:off x="5189220" y="5219395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4.4×</a:t>
            </a:r>
            <a:endParaRPr lang="en-US" sz="1650" dirty="0"/>
          </a:p>
        </p:txBody>
      </p:sp>
      <p:sp>
        <p:nvSpPr>
          <p:cNvPr id="30" name="Shape 23"/>
          <p:cNvSpPr/>
          <p:nvPr/>
        </p:nvSpPr>
        <p:spPr>
          <a:xfrm>
            <a:off x="9334195" y="2857500"/>
            <a:ext cx="8382305" cy="2857500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715500" y="3195828"/>
            <a:ext cx="133502" cy="133502"/>
          </a:xfrm>
          <a:prstGeom prst="ellipse">
            <a:avLst/>
          </a:prstGeom>
          <a:solidFill>
            <a:srgbClr val="B053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982505" y="3181198"/>
            <a:ext cx="4864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B</a:t>
            </a:r>
            <a:endParaRPr lang="en-US" sz="975" dirty="0"/>
          </a:p>
        </p:txBody>
      </p:sp>
      <p:pic>
        <p:nvPicPr>
          <p:cNvPr id="33" name="Image 4" descr="gen-dedup-91044137a81820e29f2b4199f24783c9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0598810" y="3258007"/>
            <a:ext cx="5821985" cy="914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6553383" y="3191256"/>
            <a:ext cx="7909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 — W06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9715500" y="3514954"/>
            <a:ext cx="7620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0.33 NA EUV — SADP (2-step LE)</a:t>
            </a:r>
            <a:endParaRPr lang="en-US" sz="2850" dirty="0"/>
          </a:p>
        </p:txBody>
      </p:sp>
      <p:sp>
        <p:nvSpPr>
          <p:cNvPr id="36" name="Text 28"/>
          <p:cNvSpPr txBox="1"/>
          <p:nvPr/>
        </p:nvSpPr>
        <p:spPr>
          <a:xfrm>
            <a:off x="9715500" y="4209898"/>
            <a:ext cx="76206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NXE 계열 · full-field 26×33 mm · Core+Spacer · 2 LE steps · Spacer SiOC 12 nm · 동일 MOR 초박막 적용.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9715500" y="5029200"/>
            <a:ext cx="10104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 / FIELD</a:t>
            </a:r>
            <a:endParaRPr lang="en-US" sz="825" dirty="0"/>
          </a:p>
        </p:txBody>
      </p:sp>
      <p:sp>
        <p:nvSpPr>
          <p:cNvPr id="38" name="Text 30"/>
          <p:cNvSpPr txBox="1"/>
          <p:nvPr/>
        </p:nvSpPr>
        <p:spPr>
          <a:xfrm>
            <a:off x="9715500" y="5219395"/>
            <a:ext cx="10104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2-shot</a:t>
            </a:r>
            <a:endParaRPr lang="en-US" sz="1650" dirty="0"/>
          </a:p>
        </p:txBody>
      </p:sp>
      <p:sp>
        <p:nvSpPr>
          <p:cNvPr id="39" name="Text 31"/>
          <p:cNvSpPr txBox="1"/>
          <p:nvPr/>
        </p:nvSpPr>
        <p:spPr>
          <a:xfrm>
            <a:off x="11064240" y="5029200"/>
            <a:ext cx="11338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MASKS</a:t>
            </a:r>
            <a:endParaRPr lang="en-US" sz="825" dirty="0"/>
          </a:p>
        </p:txBody>
      </p:sp>
      <p:sp>
        <p:nvSpPr>
          <p:cNvPr id="40" name="Text 32"/>
          <p:cNvSpPr txBox="1"/>
          <p:nvPr/>
        </p:nvSpPr>
        <p:spPr>
          <a:xfrm>
            <a:off x="11064240" y="5219395"/>
            <a:ext cx="11338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2 layer</a:t>
            </a:r>
            <a:endParaRPr lang="en-US" sz="1650" dirty="0"/>
          </a:p>
        </p:txBody>
      </p:sp>
      <p:sp>
        <p:nvSpPr>
          <p:cNvPr id="41" name="Text 33"/>
          <p:cNvSpPr txBox="1"/>
          <p:nvPr/>
        </p:nvSpPr>
        <p:spPr>
          <a:xfrm>
            <a:off x="12539167" y="5029200"/>
            <a:ext cx="12673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STITCH</a:t>
            </a:r>
            <a:endParaRPr lang="en-US" sz="825" dirty="0"/>
          </a:p>
        </p:txBody>
      </p:sp>
      <p:sp>
        <p:nvSpPr>
          <p:cNvPr id="42" name="Text 34"/>
          <p:cNvSpPr txBox="1"/>
          <p:nvPr/>
        </p:nvSpPr>
        <p:spPr>
          <a:xfrm>
            <a:off x="12539167" y="5219395"/>
            <a:ext cx="1267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full-field</a:t>
            </a:r>
            <a:endParaRPr lang="en-US" sz="1650" dirty="0"/>
          </a:p>
        </p:txBody>
      </p:sp>
      <p:sp>
        <p:nvSpPr>
          <p:cNvPr id="43" name="Text 35"/>
          <p:cNvSpPr txBox="1"/>
          <p:nvPr/>
        </p:nvSpPr>
        <p:spPr>
          <a:xfrm>
            <a:off x="14139367" y="5029200"/>
            <a:ext cx="762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CoO INDEX</a:t>
            </a:r>
            <a:endParaRPr lang="en-US" sz="825" dirty="0"/>
          </a:p>
        </p:txBody>
      </p:sp>
      <p:sp>
        <p:nvSpPr>
          <p:cNvPr id="44" name="Text 36"/>
          <p:cNvSpPr txBox="1"/>
          <p:nvPr/>
        </p:nvSpPr>
        <p:spPr>
          <a:xfrm>
            <a:off x="14139367" y="5219395"/>
            <a:ext cx="762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6.0×</a:t>
            </a:r>
            <a:endParaRPr lang="en-US" sz="1650" dirty="0"/>
          </a:p>
        </p:txBody>
      </p:sp>
      <p:sp>
        <p:nvSpPr>
          <p:cNvPr id="45" name="Text 37"/>
          <p:cNvSpPr txBox="1"/>
          <p:nvPr/>
        </p:nvSpPr>
        <p:spPr>
          <a:xfrm>
            <a:off x="761695" y="6096305"/>
            <a:ext cx="16954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WAFER CONFIGURATION (49 pt measurement grid)</a:t>
            </a:r>
            <a:endParaRPr lang="en-US" sz="975" dirty="0"/>
          </a:p>
        </p:txBody>
      </p:sp>
      <p:sp>
        <p:nvSpPr>
          <p:cNvPr id="46" name="Shape 38"/>
          <p:cNvSpPr/>
          <p:nvPr/>
        </p:nvSpPr>
        <p:spPr>
          <a:xfrm>
            <a:off x="761695" y="6391656"/>
            <a:ext cx="16954805" cy="1533449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80898" y="6877202"/>
            <a:ext cx="16916400" cy="19202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780898" y="6391656"/>
            <a:ext cx="2105863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2876702" y="6391656"/>
            <a:ext cx="33439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LOT ID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6214262" y="6391656"/>
            <a:ext cx="15627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DIE QTY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7774229" y="6391656"/>
            <a:ext cx="18580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SITE / DIE</a:t>
            </a:r>
            <a:endParaRPr lang="en-US" sz="1200" dirty="0"/>
          </a:p>
        </p:txBody>
      </p:sp>
      <p:sp>
        <p:nvSpPr>
          <p:cNvPr id="52" name="Text 44"/>
          <p:cNvSpPr txBox="1"/>
          <p:nvPr/>
        </p:nvSpPr>
        <p:spPr>
          <a:xfrm>
            <a:off x="9624974" y="6391656"/>
            <a:ext cx="22009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HALF-PITCH</a:t>
            </a:r>
            <a:endParaRPr lang="en-US" sz="1200" dirty="0"/>
          </a:p>
        </p:txBody>
      </p:sp>
      <p:sp>
        <p:nvSpPr>
          <p:cNvPr id="53" name="Text 45"/>
          <p:cNvSpPr txBox="1"/>
          <p:nvPr/>
        </p:nvSpPr>
        <p:spPr>
          <a:xfrm>
            <a:off x="11816791" y="6391656"/>
            <a:ext cx="2162556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RESIST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13972946" y="6391656"/>
            <a:ext cx="1248156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MASK</a:t>
            </a:r>
            <a:endParaRPr lang="en-US" sz="1200" dirty="0"/>
          </a:p>
        </p:txBody>
      </p:sp>
      <p:sp>
        <p:nvSpPr>
          <p:cNvPr id="55" name="Text 47"/>
          <p:cNvSpPr txBox="1"/>
          <p:nvPr/>
        </p:nvSpPr>
        <p:spPr>
          <a:xfrm>
            <a:off x="15212873" y="6391656"/>
            <a:ext cx="24862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NOTE</a:t>
            </a:r>
            <a:endParaRPr lang="en-US" sz="1200" dirty="0"/>
          </a:p>
        </p:txBody>
      </p:sp>
      <p:sp>
        <p:nvSpPr>
          <p:cNvPr id="56" name="Shape 48"/>
          <p:cNvSpPr/>
          <p:nvPr/>
        </p:nvSpPr>
        <p:spPr>
          <a:xfrm>
            <a:off x="780898" y="6896405"/>
            <a:ext cx="16916400" cy="523951"/>
          </a:xfrm>
          <a:prstGeom prst="rect">
            <a:avLst/>
          </a:prstGeom>
          <a:solidFill>
            <a:srgbClr val="DAE5E8"/>
          </a:solidFill>
          <a:ln/>
        </p:spPr>
      </p:sp>
      <p:sp>
        <p:nvSpPr>
          <p:cNvPr id="57" name="Shape 49"/>
          <p:cNvSpPr/>
          <p:nvPr/>
        </p:nvSpPr>
        <p:spPr>
          <a:xfrm>
            <a:off x="780898" y="7411212"/>
            <a:ext cx="16916400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1143000" y="6896405"/>
            <a:ext cx="174376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ARM A</a:t>
            </a:r>
            <a:endParaRPr lang="en-US" sz="1200" dirty="0"/>
          </a:p>
        </p:txBody>
      </p:sp>
      <p:sp>
        <p:nvSpPr>
          <p:cNvPr id="59" name="Text 51"/>
          <p:cNvSpPr txBox="1"/>
          <p:nvPr/>
        </p:nvSpPr>
        <p:spPr>
          <a:xfrm>
            <a:off x="2876702" y="6896405"/>
            <a:ext cx="3343961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/ W02 / W03</a:t>
            </a:r>
            <a:endParaRPr lang="en-US" sz="1275" dirty="0"/>
          </a:p>
        </p:txBody>
      </p:sp>
      <p:sp>
        <p:nvSpPr>
          <p:cNvPr id="60" name="Text 52"/>
          <p:cNvSpPr txBox="1"/>
          <p:nvPr/>
        </p:nvSpPr>
        <p:spPr>
          <a:xfrm>
            <a:off x="6214262" y="6896405"/>
            <a:ext cx="15627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275" dirty="0"/>
          </a:p>
        </p:txBody>
      </p:sp>
      <p:sp>
        <p:nvSpPr>
          <p:cNvPr id="61" name="Text 53"/>
          <p:cNvSpPr txBox="1"/>
          <p:nvPr/>
        </p:nvSpPr>
        <p:spPr>
          <a:xfrm>
            <a:off x="7774229" y="6896405"/>
            <a:ext cx="1858061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49 pt</a:t>
            </a:r>
            <a:endParaRPr lang="en-US" sz="1275" dirty="0"/>
          </a:p>
        </p:txBody>
      </p:sp>
      <p:sp>
        <p:nvSpPr>
          <p:cNvPr id="62" name="Text 54"/>
          <p:cNvSpPr txBox="1"/>
          <p:nvPr/>
        </p:nvSpPr>
        <p:spPr>
          <a:xfrm>
            <a:off x="9624974" y="6896405"/>
            <a:ext cx="2200961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nm</a:t>
            </a:r>
            <a:endParaRPr lang="en-US" sz="1275" dirty="0"/>
          </a:p>
        </p:txBody>
      </p:sp>
      <p:sp>
        <p:nvSpPr>
          <p:cNvPr id="63" name="Text 55"/>
          <p:cNvSpPr txBox="1"/>
          <p:nvPr/>
        </p:nvSpPr>
        <p:spPr>
          <a:xfrm>
            <a:off x="11816791" y="6896405"/>
            <a:ext cx="2162556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MOR 15 nm</a:t>
            </a:r>
            <a:endParaRPr lang="en-US" sz="1275" dirty="0"/>
          </a:p>
        </p:txBody>
      </p:sp>
      <p:sp>
        <p:nvSpPr>
          <p:cNvPr id="64" name="Text 56"/>
          <p:cNvSpPr txBox="1"/>
          <p:nvPr/>
        </p:nvSpPr>
        <p:spPr>
          <a:xfrm>
            <a:off x="13972946" y="6896405"/>
            <a:ext cx="1248156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L</a:t>
            </a:r>
            <a:endParaRPr lang="en-US" sz="1275" dirty="0"/>
          </a:p>
        </p:txBody>
      </p:sp>
      <p:sp>
        <p:nvSpPr>
          <p:cNvPr id="65" name="Text 57"/>
          <p:cNvSpPr txBox="1"/>
          <p:nvPr/>
        </p:nvSpPr>
        <p:spPr>
          <a:xfrm>
            <a:off x="15212873" y="6896405"/>
            <a:ext cx="24862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1-shot · 2-stitch</a:t>
            </a:r>
            <a:endParaRPr lang="en-US" sz="1125" dirty="0"/>
          </a:p>
        </p:txBody>
      </p:sp>
      <p:sp>
        <p:nvSpPr>
          <p:cNvPr id="66" name="Shape 58"/>
          <p:cNvSpPr/>
          <p:nvPr/>
        </p:nvSpPr>
        <p:spPr>
          <a:xfrm>
            <a:off x="780898" y="7414870"/>
            <a:ext cx="16916400" cy="514807"/>
          </a:xfrm>
          <a:prstGeom prst="rect">
            <a:avLst/>
          </a:prstGeom>
          <a:solidFill>
            <a:srgbClr val="F0DB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1143000" y="7414870"/>
            <a:ext cx="17437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ARM B</a:t>
            </a:r>
            <a:endParaRPr lang="en-US" sz="1200" dirty="0"/>
          </a:p>
        </p:txBody>
      </p:sp>
      <p:sp>
        <p:nvSpPr>
          <p:cNvPr id="68" name="Text 60"/>
          <p:cNvSpPr txBox="1"/>
          <p:nvPr/>
        </p:nvSpPr>
        <p:spPr>
          <a:xfrm>
            <a:off x="2876702" y="7414870"/>
            <a:ext cx="3343961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 / W05 / W06</a:t>
            </a:r>
            <a:endParaRPr lang="en-US" sz="1275" dirty="0"/>
          </a:p>
        </p:txBody>
      </p:sp>
      <p:sp>
        <p:nvSpPr>
          <p:cNvPr id="69" name="Text 61"/>
          <p:cNvSpPr txBox="1"/>
          <p:nvPr/>
        </p:nvSpPr>
        <p:spPr>
          <a:xfrm>
            <a:off x="6214262" y="7414870"/>
            <a:ext cx="156271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275" dirty="0"/>
          </a:p>
        </p:txBody>
      </p:sp>
      <p:sp>
        <p:nvSpPr>
          <p:cNvPr id="70" name="Text 62"/>
          <p:cNvSpPr txBox="1"/>
          <p:nvPr/>
        </p:nvSpPr>
        <p:spPr>
          <a:xfrm>
            <a:off x="7774229" y="7414870"/>
            <a:ext cx="1858061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49 pt</a:t>
            </a:r>
            <a:endParaRPr lang="en-US" sz="1275" dirty="0"/>
          </a:p>
        </p:txBody>
      </p:sp>
      <p:sp>
        <p:nvSpPr>
          <p:cNvPr id="71" name="Text 63"/>
          <p:cNvSpPr txBox="1"/>
          <p:nvPr/>
        </p:nvSpPr>
        <p:spPr>
          <a:xfrm>
            <a:off x="9624974" y="7414870"/>
            <a:ext cx="2200961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nm</a:t>
            </a:r>
            <a:endParaRPr lang="en-US" sz="1275" dirty="0"/>
          </a:p>
        </p:txBody>
      </p:sp>
      <p:sp>
        <p:nvSpPr>
          <p:cNvPr id="72" name="Text 64"/>
          <p:cNvSpPr txBox="1"/>
          <p:nvPr/>
        </p:nvSpPr>
        <p:spPr>
          <a:xfrm>
            <a:off x="11816791" y="7414870"/>
            <a:ext cx="2162556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MOR 15 nm</a:t>
            </a:r>
            <a:endParaRPr lang="en-US" sz="1275" dirty="0"/>
          </a:p>
        </p:txBody>
      </p:sp>
      <p:sp>
        <p:nvSpPr>
          <p:cNvPr id="73" name="Text 65"/>
          <p:cNvSpPr txBox="1"/>
          <p:nvPr/>
        </p:nvSpPr>
        <p:spPr>
          <a:xfrm>
            <a:off x="13972946" y="7414870"/>
            <a:ext cx="1248156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L</a:t>
            </a:r>
            <a:endParaRPr lang="en-US" sz="1275" dirty="0"/>
          </a:p>
        </p:txBody>
      </p:sp>
      <p:sp>
        <p:nvSpPr>
          <p:cNvPr id="74" name="Text 66"/>
          <p:cNvSpPr txBox="1"/>
          <p:nvPr/>
        </p:nvSpPr>
        <p:spPr>
          <a:xfrm>
            <a:off x="15212873" y="7414870"/>
            <a:ext cx="24862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+ Spacer</a:t>
            </a:r>
            <a:endParaRPr lang="en-US" sz="1125" dirty="0"/>
          </a:p>
        </p:txBody>
      </p:sp>
      <p:sp>
        <p:nvSpPr>
          <p:cNvPr id="75" name="Shape 67"/>
          <p:cNvSpPr/>
          <p:nvPr/>
        </p:nvSpPr>
        <p:spPr>
          <a:xfrm>
            <a:off x="952805" y="7110374"/>
            <a:ext cx="95098" cy="95098"/>
          </a:xfrm>
          <a:prstGeom prst="ellipse">
            <a:avLst/>
          </a:prstGeom>
          <a:solidFill>
            <a:srgbClr val="1F5E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952805" y="7625182"/>
            <a:ext cx="95098" cy="95098"/>
          </a:xfrm>
          <a:prstGeom prst="ellipse">
            <a:avLst/>
          </a:prstGeom>
          <a:solidFill>
            <a:srgbClr val="B053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69"/>
          <p:cNvSpPr txBox="1"/>
          <p:nvPr/>
        </p:nvSpPr>
        <p:spPr>
          <a:xfrm>
            <a:off x="761695" y="8762695"/>
            <a:ext cx="8382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NOTCH / DIMENSION</a:t>
            </a:r>
            <a:endParaRPr lang="en-US" sz="900" dirty="0"/>
          </a:p>
        </p:txBody>
      </p:sp>
      <p:sp>
        <p:nvSpPr>
          <p:cNvPr id="78" name="Text 70"/>
          <p:cNvSpPr txBox="1"/>
          <p:nvPr/>
        </p:nvSpPr>
        <p:spPr>
          <a:xfrm>
            <a:off x="761695" y="8982151"/>
            <a:ext cx="8382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 mm · Notch-down · Site pattern: 7×7 polar grid · 중심 1 point + 동심 6 ring</a:t>
            </a:r>
            <a:endParaRPr lang="en-US" sz="1350" dirty="0"/>
          </a:p>
        </p:txBody>
      </p:sp>
      <p:sp>
        <p:nvSpPr>
          <p:cNvPr id="79" name="Text 71"/>
          <p:cNvSpPr txBox="1"/>
          <p:nvPr/>
        </p:nvSpPr>
        <p:spPr>
          <a:xfrm>
            <a:off x="9334195" y="8762695"/>
            <a:ext cx="8382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SLIT / RECIPE</a:t>
            </a:r>
            <a:endParaRPr lang="en-US" sz="900" dirty="0"/>
          </a:p>
        </p:txBody>
      </p:sp>
      <p:sp>
        <p:nvSpPr>
          <p:cNvPr id="80" name="Text 72"/>
          <p:cNvSpPr txBox="1"/>
          <p:nvPr/>
        </p:nvSpPr>
        <p:spPr>
          <a:xfrm>
            <a:off x="9334195" y="8982151"/>
            <a:ext cx="8382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레시피 사내 익명 코드, 8 dummy lot · 본 보고서는 평가 결과 비교·요약만 다룬다.</a:t>
            </a:r>
            <a:endParaRPr lang="en-US" sz="1350" dirty="0"/>
          </a:p>
        </p:txBody>
      </p:sp>
      <p:sp>
        <p:nvSpPr>
          <p:cNvPr id="81" name="Shape 73"/>
          <p:cNvSpPr/>
          <p:nvPr/>
        </p:nvSpPr>
        <p:spPr>
          <a:xfrm>
            <a:off x="761695" y="9381744"/>
            <a:ext cx="16763695" cy="9144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82" name="Text 74"/>
          <p:cNvSpPr txBox="1"/>
          <p:nvPr/>
        </p:nvSpPr>
        <p:spPr>
          <a:xfrm>
            <a:off x="761695" y="9544507"/>
            <a:ext cx="1343254" cy="238658"/>
          </a:xfrm>
          <a:prstGeom prst="rect">
            <a:avLst/>
          </a:prstGeom>
          <a:noFill/>
          <a:ln w="12700">
            <a:solidFill>
              <a:srgbClr val="8A6418"/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83" name="Text 75"/>
          <p:cNvSpPr txBox="1"/>
          <p:nvPr/>
        </p:nvSpPr>
        <p:spPr>
          <a:xfrm>
            <a:off x="2267712" y="9525305"/>
            <a:ext cx="102495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다이스를 3매씩 분할해 두 분기 모두에서 49 pt 동일 grid 로 측정해 wafer 별 비교 가능성을 확보한다.</a:t>
            </a:r>
            <a:endParaRPr lang="en-US" sz="1500" dirty="0"/>
          </a:p>
        </p:txBody>
      </p:sp>
      <p:sp>
        <p:nvSpPr>
          <p:cNvPr id="84" name="Text 76"/>
          <p:cNvSpPr txBox="1"/>
          <p:nvPr/>
        </p:nvSpPr>
        <p:spPr>
          <a:xfrm>
            <a:off x="0" y="9924898"/>
            <a:ext cx="1828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내부 테스트용 더미(가상) 데이터 · 본 문서는 의사결정용이 아님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fec6582c1621f775b47e05eb109315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bc8c14410465956cd0da06cf10b0f72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9696298"/>
            <a:ext cx="18288000" cy="19202"/>
          </a:xfrm>
          <a:prstGeom prst="rect">
            <a:avLst/>
          </a:prstGeom>
        </p:spPr>
      </p:pic>
      <p:pic>
        <p:nvPicPr>
          <p:cNvPr id="5" name="Image 2" descr="gen-dedup-632de80f02abd7253ba04817d0f87f5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761695" y="676656"/>
            <a:ext cx="342900" cy="1920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276502" y="590702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다중 패터닝 평가 · 내부 테스트 더미</a:t>
            </a:r>
            <a:endParaRPr lang="en-US" sz="1050" dirty="0"/>
          </a:p>
        </p:txBody>
      </p:sp>
      <p:sp>
        <p:nvSpPr>
          <p:cNvPr id="7" name="Text 1"/>
          <p:cNvSpPr txBox="1"/>
          <p:nvPr/>
        </p:nvSpPr>
        <p:spPr>
          <a:xfrm>
            <a:off x="5024628" y="590702"/>
            <a:ext cx="26389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03 — 장비·메트로롤로지</a:t>
            </a:r>
            <a:endParaRPr lang="en-US" sz="1050" dirty="0"/>
          </a:p>
        </p:txBody>
      </p:sp>
      <p:sp>
        <p:nvSpPr>
          <p:cNvPr id="8" name="Text 2"/>
          <p:cNvSpPr txBox="1"/>
          <p:nvPr/>
        </p:nvSpPr>
        <p:spPr>
          <a:xfrm>
            <a:off x="4749394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990295"/>
            <a:ext cx="118113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장비, 레지스트,</a:t>
            </a:r>
            <a:pPr algn="l" indent="0" marL="0">
              <a:lnSpc>
                <a:spcPct val="104000"/>
              </a:lnSpc>
              <a:buNone/>
            </a:pPr>
            <a:endParaRPr lang="en-US" sz="4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메트로롤로지</a:t>
            </a:r>
            <a:endParaRPr lang="en-US" sz="4500" dirty="0"/>
          </a:p>
        </p:txBody>
      </p:sp>
      <p:sp>
        <p:nvSpPr>
          <p:cNvPr id="10" name="Text 4"/>
          <p:cNvSpPr txBox="1"/>
          <p:nvPr/>
        </p:nvSpPr>
        <p:spPr>
          <a:xfrm>
            <a:off x="12763195" y="1619402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03 OF 08</a:t>
            </a:r>
            <a:endParaRPr lang="en-US" sz="975" dirty="0"/>
          </a:p>
        </p:txBody>
      </p:sp>
      <p:sp>
        <p:nvSpPr>
          <p:cNvPr id="11" name="Text 5"/>
          <p:cNvSpPr txBox="1"/>
          <p:nvPr/>
        </p:nvSpPr>
        <p:spPr>
          <a:xfrm>
            <a:off x="12763195" y="1914754"/>
            <a:ext cx="49533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평가 사이트에 동일 MOR 레지스트·동일 메트로롤로지를 적용해 분기 간 격차를 도구 인공물이 아닌 공정 본연의 결과로 본다.</a:t>
            </a:r>
            <a:endParaRPr lang="en-US" sz="1575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2857500"/>
            <a:ext cx="16954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EQUIPMENT &amp; CONSUMABLES (dummy codes)</a:t>
            </a:r>
            <a:endParaRPr lang="en-US" sz="975" dirty="0"/>
          </a:p>
        </p:txBody>
      </p:sp>
      <p:sp>
        <p:nvSpPr>
          <p:cNvPr id="13" name="Shape 7"/>
          <p:cNvSpPr/>
          <p:nvPr/>
        </p:nvSpPr>
        <p:spPr>
          <a:xfrm>
            <a:off x="761695" y="3172054"/>
            <a:ext cx="4114800" cy="2924251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72007" y="3419856"/>
            <a:ext cx="36960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01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972007" y="3638398"/>
            <a:ext cx="36960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Lithography</a:t>
            </a:r>
            <a:endParaRPr lang="en-US" sz="1800" dirty="0"/>
          </a:p>
        </p:txBody>
      </p:sp>
      <p:pic>
        <p:nvPicPr>
          <p:cNvPr id="16" name="Image 3" descr="gen-dedup-632de80f02abd7253ba04817d0f87f59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972007" y="4105656"/>
            <a:ext cx="342900" cy="192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72007" y="4224528"/>
            <a:ext cx="3696005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Arm A · 0.55 NA EUV scanner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code NES-AA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Arm B · 0.33 NA EUV scanner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code NES-BB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Dose 38 mJ/cm² (Arm A)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 mJ/cm² (Arm B)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Focus offset ±15 nm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043830" y="3172054"/>
            <a:ext cx="4114800" cy="2924251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253228" y="3419856"/>
            <a:ext cx="36960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02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5253228" y="3638398"/>
            <a:ext cx="36960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Coat / Track</a:t>
            </a:r>
            <a:endParaRPr lang="en-US" sz="1800" dirty="0"/>
          </a:p>
        </p:txBody>
      </p:sp>
      <p:pic>
        <p:nvPicPr>
          <p:cNvPr id="21" name="Image 4" descr="gen-dedup-632de80f02abd7253ba04817d0f87f59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5253228" y="4105656"/>
            <a:ext cx="342900" cy="192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253228" y="4224528"/>
            <a:ext cx="3696005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Coater/developer COT-X2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MOR internal code MOR-15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Film thickness 15 nm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Hard bake 220 °C / 60 s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PEB 150 °C / 90 s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Top-coat 없음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동일 recipe 양 분기 공통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9325051" y="3172054"/>
            <a:ext cx="4114800" cy="2924251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9534449" y="3419856"/>
            <a:ext cx="36960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03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9534449" y="3638398"/>
            <a:ext cx="36960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Dry Etch</a:t>
            </a:r>
            <a:endParaRPr lang="en-US" sz="1800" dirty="0"/>
          </a:p>
        </p:txBody>
      </p:sp>
      <p:pic>
        <p:nvPicPr>
          <p:cNvPr id="26" name="Image 5" descr="gen-dedup-632de80f02abd7253ba04817d0f87f59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9534449" y="4105656"/>
            <a:ext cx="342900" cy="192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534449" y="4224528"/>
            <a:ext cx="3696005" cy="162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ICP chamber IDX-9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Cl₂ / BCl₃ / CF₄ mix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Pressure 4 mT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Source 600 W · bias 80 V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Spacer SiOC etch 30 s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Ru open etch 18 s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동일 recipe 양 분기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13606272" y="3172054"/>
            <a:ext cx="4114800" cy="2924251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13815670" y="3419856"/>
            <a:ext cx="36960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04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13815670" y="3638398"/>
            <a:ext cx="36960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Metrology</a:t>
            </a:r>
            <a:endParaRPr lang="en-US" sz="1800" dirty="0"/>
          </a:p>
        </p:txBody>
      </p:sp>
      <p:pic>
        <p:nvPicPr>
          <p:cNvPr id="31" name="Image 6" descr="gen-dedup-632de80f02abd7253ba04817d0f87f59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13815670" y="4105656"/>
            <a:ext cx="342900" cy="192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3815670" y="4224528"/>
            <a:ext cx="3696005" cy="1395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CD-SEM CDX-7 (5 kV)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Pixel 1 nm · 800 sites/run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Overlay OVL-3 (rel.)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Film thickness OES-2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Parametric tester PRM-1</a:t>
            </a:r>
            <a:pPr algn="l" indent="0" marL="0">
              <a:lnSpc>
                <a:spcPts val="1785"/>
              </a:lnSpc>
              <a:buNone/>
            </a:pPr>
            <a:endParaRPr lang="en-US" sz="1050" dirty="0"/>
          </a:p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E3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4-pt probe 50 mA</a:t>
            </a:r>
            <a:endParaRPr lang="en-US" sz="1050" dirty="0"/>
          </a:p>
        </p:txBody>
      </p:sp>
      <p:sp>
        <p:nvSpPr>
          <p:cNvPr id="33" name="Text 23"/>
          <p:cNvSpPr txBox="1"/>
          <p:nvPr/>
        </p:nvSpPr>
        <p:spPr>
          <a:xfrm>
            <a:off x="761695" y="6476695"/>
            <a:ext cx="16954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EVALUATION ITEMS (4 metric × 6 wafer × 49 site)</a:t>
            </a:r>
            <a:endParaRPr lang="en-US" sz="975" dirty="0"/>
          </a:p>
        </p:txBody>
      </p:sp>
      <p:sp>
        <p:nvSpPr>
          <p:cNvPr id="34" name="Shape 24"/>
          <p:cNvSpPr/>
          <p:nvPr/>
        </p:nvSpPr>
        <p:spPr>
          <a:xfrm>
            <a:off x="761695" y="6772046"/>
            <a:ext cx="16954805" cy="3219602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6772046"/>
          <a:ext cx="16954805" cy="3219602"/>
        </p:xfrm>
        <a:graphic>
          <a:graphicData uri="http://schemas.openxmlformats.org/drawingml/2006/table">
            <a:tbl>
              <a:tblPr/>
              <a:tblGrid>
                <a:gridCol w="2200046"/>
                <a:gridCol w="3860597"/>
                <a:gridCol w="1705356"/>
                <a:gridCol w="3651199"/>
                <a:gridCol w="2754173"/>
                <a:gridCol w="2783434"/>
              </a:tblGrid>
              <a:tr h="536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CATEGORY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METRIC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TARGET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SAMPLE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REPORTED STATS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SLIDE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CD 정밀도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AASI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24.3 nm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레지스트 패턴 (develop 후)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/ 3σ / range / Δ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06 — CD 표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CD 정밀도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ASEI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16.9 nm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레지스트 strip 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/ 3σ / range / Δ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06 — CD 표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</a:tr>
              <a:tr h="536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CD 정밀도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AMI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9.7 nm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메탈 deposition 후 trench 폭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/ 3σ / range / Δ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06 — CD 표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CD 정밀도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ACI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 nm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CMP / clean 후 최종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/ 3σ / range / Δ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06 — CD 표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DDD"/>
                    </a:solidFill>
                  </a:tcPr>
                </a:tc>
              </a:tr>
              <a:tr h="536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In-wafer 균일도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B0531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Pooled 3σ · 49 pt map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49 site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representative wafer 별 CI 평균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E333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 + color heatmap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07 — 49 pt map</a:t>
                      </a:r>
                      <a:endParaRPr lang="en-US" sz="1200" dirty="0"/>
                    </a:p>
                  </a:txBody>
                  <a:tcPr marL="209398" marR="209398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Shape 25"/>
          <p:cNvSpPr/>
          <p:nvPr/>
        </p:nvSpPr>
        <p:spPr>
          <a:xfrm>
            <a:off x="761695" y="9430207"/>
            <a:ext cx="16763695" cy="9144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761695" y="9592056"/>
            <a:ext cx="1343254" cy="238658"/>
          </a:xfrm>
          <a:prstGeom prst="rect">
            <a:avLst/>
          </a:prstGeom>
          <a:noFill/>
          <a:ln w="12700">
            <a:solidFill>
              <a:srgbClr val="8A6418"/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2267712" y="9572854"/>
            <a:ext cx="970087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레지스트·동일 메트로롤로지로 두 분기 모두 평가해, 분기 간 격차가 공정 본연의 결과임을 보장한다.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0" y="9924898"/>
            <a:ext cx="1828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내부 테스트용 더미(가상) 데이터 · 본 문서는 의사결정용이 아님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fec6582c1621f775b47e05eb109315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bc8c14410465956cd0da06cf10b0f72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9696298"/>
            <a:ext cx="18288000" cy="1920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61695" y="2857500"/>
            <a:ext cx="10668305" cy="5333695"/>
          </a:xfrm>
          <a:prstGeom prst="rect">
            <a:avLst/>
          </a:prstGeom>
          <a:solidFill>
            <a:srgbClr val="1A1F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a1309a27202b5ce327a05d78f497cda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2857500"/>
            <a:ext cx="10668305" cy="533369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2191695" y="2857500"/>
            <a:ext cx="5524805" cy="2857500"/>
          </a:xfrm>
          <a:prstGeom prst="rect">
            <a:avLst/>
          </a:prstGeom>
          <a:solidFill>
            <a:srgbClr val="1A1F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7d50f2a3629700cd6668c5b1fe9bbfd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695" y="2857500"/>
            <a:ext cx="5524805" cy="2857500"/>
          </a:xfrm>
          <a:prstGeom prst="rect">
            <a:avLst/>
          </a:prstGeom>
        </p:spPr>
      </p:pic>
      <p:pic>
        <p:nvPicPr>
          <p:cNvPr id="9" name="Image 4" descr="gen-dedup-632de80f02abd7253ba04817d0f87f59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761695" y="676656"/>
            <a:ext cx="342900" cy="19202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276502" y="590702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다중 패터닝 평가 · 내부 테스트 더미</a:t>
            </a:r>
            <a:endParaRPr lang="en-US" sz="1050" dirty="0"/>
          </a:p>
        </p:txBody>
      </p:sp>
      <p:sp>
        <p:nvSpPr>
          <p:cNvPr id="11" name="Text 3"/>
          <p:cNvSpPr txBox="1"/>
          <p:nvPr/>
        </p:nvSpPr>
        <p:spPr>
          <a:xfrm>
            <a:off x="5024628" y="590702"/>
            <a:ext cx="23820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04 — M1 단면 SEM</a:t>
            </a:r>
            <a:endParaRPr lang="en-US" sz="1050" dirty="0"/>
          </a:p>
        </p:txBody>
      </p:sp>
      <p:sp>
        <p:nvSpPr>
          <p:cNvPr id="12" name="Text 4"/>
          <p:cNvSpPr txBox="1"/>
          <p:nvPr/>
        </p:nvSpPr>
        <p:spPr>
          <a:xfrm>
            <a:off x="4749394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5"/>
          <p:cNvSpPr txBox="1"/>
          <p:nvPr/>
        </p:nvSpPr>
        <p:spPr>
          <a:xfrm>
            <a:off x="761695" y="990295"/>
            <a:ext cx="118113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 단면 SEM 관찰</a:t>
            </a:r>
            <a:pPr algn="l" indent="0" marL="0">
              <a:lnSpc>
                <a:spcPct val="104000"/>
              </a:lnSpc>
              <a:buNone/>
            </a:pPr>
            <a:endParaRPr lang="en-US" sz="4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F5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High-NA</a:t>
            </a:r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vs </a:t>
            </a:r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B053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SADP</a:t>
            </a:r>
            <a:endParaRPr lang="en-US" sz="4500" dirty="0"/>
          </a:p>
        </p:txBody>
      </p:sp>
      <p:sp>
        <p:nvSpPr>
          <p:cNvPr id="14" name="Text 6"/>
          <p:cNvSpPr txBox="1"/>
          <p:nvPr/>
        </p:nvSpPr>
        <p:spPr>
          <a:xfrm>
            <a:off x="12763195" y="1619402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04 OF 08</a:t>
            </a:r>
            <a:endParaRPr lang="en-US" sz="975" dirty="0"/>
          </a:p>
        </p:txBody>
      </p:sp>
      <p:sp>
        <p:nvSpPr>
          <p:cNvPr id="15" name="Text 7"/>
          <p:cNvSpPr txBox="1"/>
          <p:nvPr/>
        </p:nvSpPr>
        <p:spPr>
          <a:xfrm>
            <a:off x="12763195" y="1914754"/>
            <a:ext cx="49533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HAADF-STEM 단면 사진으로 Ru 배선 측벽 / SACVD SiOC spacer 잔류 / FSA-via self-aligned 특성을 두 분기에서 비교한다.</a:t>
            </a:r>
            <a:endParaRPr lang="en-US" sz="1575" dirty="0"/>
          </a:p>
        </p:txBody>
      </p:sp>
      <p:sp>
        <p:nvSpPr>
          <p:cNvPr id="16" name="Shape 8"/>
          <p:cNvSpPr/>
          <p:nvPr/>
        </p:nvSpPr>
        <p:spPr>
          <a:xfrm>
            <a:off x="761695" y="8287207"/>
            <a:ext cx="10668305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761695" y="8391449"/>
            <a:ext cx="57918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FIG.04-A · Representative M1 cross-section, 18 nm hp, post-CMP</a:t>
            </a:r>
            <a:endParaRPr lang="en-US" sz="825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8581644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 배선 / barrier 제거 후 Ru-only scheme · Airgap 영역 일부 가시화 (dummy lot 비교 컷).</a:t>
            </a:r>
            <a:endParaRPr lang="en-US" sz="1200" dirty="0"/>
          </a:p>
        </p:txBody>
      </p:sp>
      <p:sp>
        <p:nvSpPr>
          <p:cNvPr id="19" name="Text 11"/>
          <p:cNvSpPr txBox="1"/>
          <p:nvPr/>
        </p:nvSpPr>
        <p:spPr>
          <a:xfrm>
            <a:off x="6545275" y="8715146"/>
            <a:ext cx="48865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출처: IBM Research, “Copper evolution and beyond” (참고 자료 형태)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12191695" y="5810098"/>
            <a:ext cx="5524805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12191695" y="5915254"/>
            <a:ext cx="28675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FIG.04-B · narrow-pitch BEOL example</a:t>
            </a:r>
            <a:endParaRPr lang="en-US" sz="825" dirty="0"/>
          </a:p>
        </p:txBody>
      </p:sp>
      <p:sp>
        <p:nvSpPr>
          <p:cNvPr id="22" name="Text 14"/>
          <p:cNvSpPr txBox="1"/>
          <p:nvPr/>
        </p:nvSpPr>
        <p:spPr>
          <a:xfrm>
            <a:off x="16140989" y="5896051"/>
            <a:ext cx="15819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출처: Semiconductor Digest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12191695" y="6476695"/>
            <a:ext cx="5524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관찰 메모 (dummy lot)</a:t>
            </a:r>
            <a:endParaRPr lang="en-US" sz="975" dirty="0"/>
          </a:p>
        </p:txBody>
      </p:sp>
      <p:sp>
        <p:nvSpPr>
          <p:cNvPr id="24" name="Shape 16"/>
          <p:cNvSpPr/>
          <p:nvPr/>
        </p:nvSpPr>
        <p:spPr>
          <a:xfrm>
            <a:off x="12191695" y="6791249"/>
            <a:ext cx="28346" cy="418795"/>
          </a:xfrm>
          <a:prstGeom prst="rect">
            <a:avLst/>
          </a:prstGeom>
          <a:solidFill>
            <a:srgbClr val="1F5E72"/>
          </a:solidFill>
          <a:ln w="12700">
            <a:solidFill>
              <a:srgbClr val="1F5E72">
                <a:alpha val="0"/>
              </a:srgbClr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2353544" y="6791249"/>
            <a:ext cx="53629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A</a:t>
            </a:r>
            <a:endParaRPr lang="en-US" sz="825" dirty="0"/>
          </a:p>
        </p:txBody>
      </p:sp>
      <p:sp>
        <p:nvSpPr>
          <p:cNvPr id="26" name="Text 18"/>
          <p:cNvSpPr txBox="1"/>
          <p:nvPr/>
        </p:nvSpPr>
        <p:spPr>
          <a:xfrm>
            <a:off x="12353544" y="6963156"/>
            <a:ext cx="53629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Stitch 경계부 rounding 양호 · spacer 잔류 미관측.</a:t>
            </a:r>
            <a:endParaRPr lang="en-US" sz="1275" dirty="0"/>
          </a:p>
        </p:txBody>
      </p:sp>
      <p:sp>
        <p:nvSpPr>
          <p:cNvPr id="27" name="Shape 19"/>
          <p:cNvSpPr/>
          <p:nvPr/>
        </p:nvSpPr>
        <p:spPr>
          <a:xfrm>
            <a:off x="12191695" y="7338974"/>
            <a:ext cx="28346" cy="418795"/>
          </a:xfrm>
          <a:prstGeom prst="rect">
            <a:avLst/>
          </a:prstGeom>
          <a:solidFill>
            <a:srgbClr val="B05317"/>
          </a:solidFill>
          <a:ln w="12700">
            <a:solidFill>
              <a:srgbClr val="B05317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12353544" y="7338974"/>
            <a:ext cx="53629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B</a:t>
            </a:r>
            <a:endParaRPr lang="en-US" sz="825" dirty="0"/>
          </a:p>
        </p:txBody>
      </p:sp>
      <p:sp>
        <p:nvSpPr>
          <p:cNvPr id="29" name="Text 21"/>
          <p:cNvSpPr txBox="1"/>
          <p:nvPr/>
        </p:nvSpPr>
        <p:spPr>
          <a:xfrm>
            <a:off x="12353544" y="7510882"/>
            <a:ext cx="6048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부위 under-cut 미세 잔류 · spacer foot 가시 (target 외 dummy).</a:t>
            </a:r>
            <a:endParaRPr lang="en-US" sz="1275" dirty="0"/>
          </a:p>
        </p:txBody>
      </p:sp>
      <p:sp>
        <p:nvSpPr>
          <p:cNvPr id="30" name="Text 22"/>
          <p:cNvSpPr txBox="1"/>
          <p:nvPr/>
        </p:nvSpPr>
        <p:spPr>
          <a:xfrm>
            <a:off x="12191695" y="7901330"/>
            <a:ext cx="7434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BAR</a:t>
            </a:r>
            <a:endParaRPr lang="en-US" sz="825" dirty="0"/>
          </a:p>
        </p:txBody>
      </p:sp>
      <p:pic>
        <p:nvPicPr>
          <p:cNvPr id="31" name="Image 5" descr="gen-dedup-99f15f0447e07ffa7427c982e0f7340e.png">    </p:cNvPr>
          <p:cNvPicPr>
            <a:picLocks noChangeAspect="1"/>
          </p:cNvPicPr>
          <p:nvPr/>
        </p:nvPicPr>
        <p:blipFill>
          <a:blip r:embed="rId6"/>
          <a:srcRect l="-2078" r="-2078" t="0" b="0"/>
          <a:stretch/>
        </p:blipFill>
        <p:spPr>
          <a:xfrm>
            <a:off x="13098780" y="7962595"/>
            <a:ext cx="3925519" cy="91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7196206" y="7886700"/>
            <a:ext cx="5239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 50 nm</a:t>
            </a:r>
            <a:endParaRPr lang="en-US" sz="975" dirty="0"/>
          </a:p>
        </p:txBody>
      </p:sp>
      <p:sp>
        <p:nvSpPr>
          <p:cNvPr id="33" name="Shape 24"/>
          <p:cNvSpPr/>
          <p:nvPr/>
        </p:nvSpPr>
        <p:spPr>
          <a:xfrm>
            <a:off x="761695" y="9381744"/>
            <a:ext cx="16763695" cy="9144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761695" y="9544507"/>
            <a:ext cx="1343254" cy="238658"/>
          </a:xfrm>
          <a:prstGeom prst="rect">
            <a:avLst/>
          </a:prstGeom>
          <a:noFill/>
          <a:ln w="12700">
            <a:solidFill>
              <a:srgbClr val="8A6418"/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2267712" y="9525305"/>
            <a:ext cx="98490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Arm A 단면은 측벽/스페이서 footprint 모두 양호, Arm B 는 spacer foot 미세 잔류가 관측됨 (dummy lot 기준).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0" y="9924898"/>
            <a:ext cx="1828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내부 테스트용 더미(가상) 데이터 · 본 문서는 의사결정용이 아님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fec6582c1621f775b47e05eb109315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bc8c14410465956cd0da06cf10b0f72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9696298"/>
            <a:ext cx="18288000" cy="1920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9715500" y="2857500"/>
            <a:ext cx="8001000" cy="4953305"/>
          </a:xfrm>
          <a:prstGeom prst="rect">
            <a:avLst/>
          </a:prstGeom>
          <a:solidFill>
            <a:srgbClr val="1A1F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fc44dccfd7ff9406b6650b2dc6baf81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857500"/>
            <a:ext cx="8001000" cy="495330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61695" y="2857500"/>
            <a:ext cx="8382305" cy="2857500"/>
          </a:xfrm>
          <a:prstGeom prst="rect">
            <a:avLst/>
          </a:prstGeom>
          <a:solidFill>
            <a:srgbClr val="1A1F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390f5b072457e5f5f6282a76625f491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" y="2857500"/>
            <a:ext cx="8382305" cy="285750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761695" y="6476695"/>
            <a:ext cx="4000500" cy="1904695"/>
          </a:xfrm>
          <a:prstGeom prst="rect">
            <a:avLst/>
          </a:prstGeom>
          <a:solidFill>
            <a:srgbClr val="1A1F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4" descr="gen-dedup-30be818abc9bae02c6b09f902227a49d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" y="6476695"/>
            <a:ext cx="4000500" cy="1904695"/>
          </a:xfrm>
          <a:prstGeom prst="rect">
            <a:avLst/>
          </a:prstGeom>
        </p:spPr>
      </p:pic>
      <p:pic>
        <p:nvPicPr>
          <p:cNvPr id="11" name="Image 5" descr="gen-dedup-632de80f02abd7253ba04817d0f87f59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761695" y="676656"/>
            <a:ext cx="342900" cy="19202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276502" y="590702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다중 패터닝 평가 · 내부 테스트 더미</a:t>
            </a:r>
            <a:endParaRPr lang="en-US" sz="1050" dirty="0"/>
          </a:p>
        </p:txBody>
      </p:sp>
      <p:sp>
        <p:nvSpPr>
          <p:cNvPr id="13" name="Text 4"/>
          <p:cNvSpPr txBox="1"/>
          <p:nvPr/>
        </p:nvSpPr>
        <p:spPr>
          <a:xfrm>
            <a:off x="5024628" y="599846"/>
            <a:ext cx="40581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05 — Top-view · TEM · sub-10 nm</a:t>
            </a:r>
            <a:endParaRPr lang="en-US" sz="1050" dirty="0"/>
          </a:p>
        </p:txBody>
      </p:sp>
      <p:sp>
        <p:nvSpPr>
          <p:cNvPr id="14" name="Text 5"/>
          <p:cNvSpPr txBox="1"/>
          <p:nvPr/>
        </p:nvSpPr>
        <p:spPr>
          <a:xfrm>
            <a:off x="4749394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15" name="Text 6"/>
          <p:cNvSpPr txBox="1"/>
          <p:nvPr/>
        </p:nvSpPr>
        <p:spPr>
          <a:xfrm>
            <a:off x="761695" y="990295"/>
            <a:ext cx="118113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Top-view 패턴과</a:t>
            </a:r>
            <a:pPr algn="l" indent="0" marL="0">
              <a:lnSpc>
                <a:spcPct val="104000"/>
              </a:lnSpc>
              <a:buNone/>
            </a:pPr>
            <a:endParaRPr lang="en-US" sz="4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단면 보강 · </a:t>
            </a:r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B053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sub-10 nm</a:t>
            </a:r>
            <a:endParaRPr lang="en-US" sz="4500" dirty="0"/>
          </a:p>
        </p:txBody>
      </p:sp>
      <p:sp>
        <p:nvSpPr>
          <p:cNvPr id="16" name="Text 7"/>
          <p:cNvSpPr txBox="1"/>
          <p:nvPr/>
        </p:nvSpPr>
        <p:spPr>
          <a:xfrm>
            <a:off x="12763195" y="1524305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05 OF 08</a:t>
            </a:r>
            <a:endParaRPr lang="en-US" sz="975" dirty="0"/>
          </a:p>
        </p:txBody>
      </p:sp>
      <p:sp>
        <p:nvSpPr>
          <p:cNvPr id="17" name="Text 8"/>
          <p:cNvSpPr txBox="1"/>
          <p:nvPr/>
        </p:nvSpPr>
        <p:spPr>
          <a:xfrm>
            <a:off x="12763195" y="1819656"/>
            <a:ext cx="49533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Top-view 정렬과 sub-10 nm 단면 참고 컷을 함께 보여, line-edge roughness 와 line-tip rounding 의 분기 간 차이를 가시화한다.</a:t>
            </a:r>
            <a:endParaRPr lang="en-US" sz="1425" dirty="0"/>
          </a:p>
        </p:txBody>
      </p:sp>
      <p:sp>
        <p:nvSpPr>
          <p:cNvPr id="18" name="Shape 9"/>
          <p:cNvSpPr/>
          <p:nvPr/>
        </p:nvSpPr>
        <p:spPr>
          <a:xfrm>
            <a:off x="9715500" y="7905902"/>
            <a:ext cx="8001000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9715500" y="8010144"/>
            <a:ext cx="51060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FIG.05-A · sub-10 nm metallic interconnect, reference micrograph</a:t>
            </a:r>
            <a:endParaRPr lang="en-US" sz="825" dirty="0"/>
          </a:p>
        </p:txBody>
      </p:sp>
      <p:sp>
        <p:nvSpPr>
          <p:cNvPr id="20" name="Text 11"/>
          <p:cNvSpPr txBox="1"/>
          <p:nvPr/>
        </p:nvSpPr>
        <p:spPr>
          <a:xfrm>
            <a:off x="16077895" y="7991856"/>
            <a:ext cx="16486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출처: Nature Communications</a:t>
            </a:r>
            <a:endParaRPr lang="en-US" sz="825" dirty="0"/>
          </a:p>
        </p:txBody>
      </p:sp>
      <p:sp>
        <p:nvSpPr>
          <p:cNvPr id="21" name="Shape 12"/>
          <p:cNvSpPr/>
          <p:nvPr/>
        </p:nvSpPr>
        <p:spPr>
          <a:xfrm>
            <a:off x="761695" y="5810098"/>
            <a:ext cx="8382305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22" name="Text 13"/>
          <p:cNvSpPr txBox="1"/>
          <p:nvPr/>
        </p:nvSpPr>
        <p:spPr>
          <a:xfrm>
            <a:off x="761695" y="5915254"/>
            <a:ext cx="31153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FIG.05-B · Cu BEOL evolution, reference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7819949" y="5896051"/>
            <a:ext cx="1334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출처: Semantic Scholar</a:t>
            </a:r>
            <a:endParaRPr lang="en-US" sz="825" dirty="0"/>
          </a:p>
        </p:txBody>
      </p:sp>
      <p:sp>
        <p:nvSpPr>
          <p:cNvPr id="24" name="Shape 15"/>
          <p:cNvSpPr/>
          <p:nvPr/>
        </p:nvSpPr>
        <p:spPr>
          <a:xfrm>
            <a:off x="761695" y="8429854"/>
            <a:ext cx="4000500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761695" y="8515807"/>
            <a:ext cx="22576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FIG.05-C · 25 nm L/S top-view</a:t>
            </a:r>
            <a:endParaRPr lang="en-US" sz="825" dirty="0"/>
          </a:p>
        </p:txBody>
      </p:sp>
      <p:sp>
        <p:nvSpPr>
          <p:cNvPr id="26" name="Text 17"/>
          <p:cNvSpPr txBox="1"/>
          <p:nvPr/>
        </p:nvSpPr>
        <p:spPr>
          <a:xfrm>
            <a:off x="3626510" y="8496605"/>
            <a:ext cx="1143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출처: ScienceDirect</a:t>
            </a:r>
            <a:endParaRPr lang="en-US" sz="825" dirty="0"/>
          </a:p>
        </p:txBody>
      </p:sp>
      <p:sp>
        <p:nvSpPr>
          <p:cNvPr id="27" name="Shape 18"/>
          <p:cNvSpPr/>
          <p:nvPr/>
        </p:nvSpPr>
        <p:spPr>
          <a:xfrm>
            <a:off x="5143500" y="6476695"/>
            <a:ext cx="4000500" cy="1904695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5352898" y="6648602"/>
            <a:ext cx="35817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관찰 메모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5352898" y="6905549"/>
            <a:ext cx="28346" cy="200254"/>
          </a:xfrm>
          <a:prstGeom prst="rect">
            <a:avLst/>
          </a:prstGeom>
          <a:solidFill>
            <a:srgbClr val="1F5E72"/>
          </a:solidFill>
          <a:ln w="12700">
            <a:solidFill>
              <a:srgbClr val="1F5E72">
                <a:alpha val="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5495544" y="6905549"/>
            <a:ext cx="406725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line-edge 정렬 양호 · LER 1.2 nm (Arm A reference).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352898" y="7200900"/>
            <a:ext cx="28346" cy="200254"/>
          </a:xfrm>
          <a:prstGeom prst="rect">
            <a:avLst/>
          </a:prstGeom>
          <a:solidFill>
            <a:srgbClr val="B05317"/>
          </a:solidFill>
          <a:ln w="12700">
            <a:solidFill>
              <a:srgbClr val="B05317">
                <a:alpha val="0"/>
              </a:srgbClr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5495544" y="7200900"/>
            <a:ext cx="385876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line-tip rounding 미세 잔류 · dummy lot 가설 부합.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9715500" y="8382305"/>
            <a:ext cx="8001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/ TIP note</a:t>
            </a:r>
            <a:endParaRPr lang="en-US" sz="825" dirty="0"/>
          </a:p>
        </p:txBody>
      </p:sp>
      <p:sp>
        <p:nvSpPr>
          <p:cNvPr id="34" name="Text 25"/>
          <p:cNvSpPr txBox="1"/>
          <p:nvPr/>
        </p:nvSpPr>
        <p:spPr>
          <a:xfrm>
            <a:off x="9715500" y="8572500"/>
            <a:ext cx="8001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슬라이드 컷은 발표용 dummy reference. line-tip rounding 과 line-edge 정렬 차이는 후속 CD 편차 / 전기 누설 표에 정량 반영된다.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761695" y="9381744"/>
            <a:ext cx="16763695" cy="9144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61695" y="9544507"/>
            <a:ext cx="1343254" cy="238658"/>
          </a:xfrm>
          <a:prstGeom prst="rect">
            <a:avLst/>
          </a:prstGeom>
          <a:noFill/>
          <a:ln w="12700">
            <a:solidFill>
              <a:srgbClr val="8A6418"/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2267712" y="9525305"/>
            <a:ext cx="98398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Top-view line-edge 정렬은 양호, 그러나 line-tip rounding 의 Arm 간 차이가 후속 정량 표에 반영됨 (dummy).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0" y="9924898"/>
            <a:ext cx="1828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내부 테스트용 더미(가상) 데이터 · 본 문서는 의사결정용이 아님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fec6582c1621f775b47e05eb109315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bc8c14410465956cd0da06cf10b0f72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9696298"/>
            <a:ext cx="18288000" cy="19202"/>
          </a:xfrm>
          <a:prstGeom prst="rect">
            <a:avLst/>
          </a:prstGeom>
        </p:spPr>
      </p:pic>
      <p:pic>
        <p:nvPicPr>
          <p:cNvPr id="5" name="Image 2" descr="gen-dedup-632de80f02abd7253ba04817d0f87f5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761695" y="676656"/>
            <a:ext cx="342900" cy="1920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276502" y="590702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다중 패터닝 평가 · 내부 테스트 더미</a:t>
            </a:r>
            <a:endParaRPr lang="en-US" sz="1050" dirty="0"/>
          </a:p>
        </p:txBody>
      </p:sp>
      <p:sp>
        <p:nvSpPr>
          <p:cNvPr id="7" name="Text 1"/>
          <p:cNvSpPr txBox="1"/>
          <p:nvPr/>
        </p:nvSpPr>
        <p:spPr>
          <a:xfrm>
            <a:off x="5024628" y="599846"/>
            <a:ext cx="48966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06 — CD variation (4 metrics × 6 wafer)</a:t>
            </a:r>
            <a:endParaRPr lang="en-US" sz="1050" dirty="0"/>
          </a:p>
        </p:txBody>
      </p:sp>
      <p:sp>
        <p:nvSpPr>
          <p:cNvPr id="8" name="Text 2"/>
          <p:cNvSpPr txBox="1"/>
          <p:nvPr/>
        </p:nvSpPr>
        <p:spPr>
          <a:xfrm>
            <a:off x="4749394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990295"/>
            <a:ext cx="118113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 별 CD Variation</a:t>
            </a:r>
            <a:pPr algn="l" indent="0" marL="0">
              <a:lnSpc>
                <a:spcPct val="104000"/>
              </a:lnSpc>
              <a:buNone/>
            </a:pPr>
            <a:endParaRPr lang="en-US" sz="4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F5E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</a:t>
            </a:r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</a:t>
            </a:r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B053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</a:t>
            </a:r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range · Δ vs target</a:t>
            </a:r>
            <a:endParaRPr lang="en-US" sz="4500" dirty="0"/>
          </a:p>
        </p:txBody>
      </p:sp>
      <p:sp>
        <p:nvSpPr>
          <p:cNvPr id="10" name="Text 4"/>
          <p:cNvSpPr txBox="1"/>
          <p:nvPr/>
        </p:nvSpPr>
        <p:spPr>
          <a:xfrm>
            <a:off x="12763195" y="1143000"/>
            <a:ext cx="4953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LEGEND</a:t>
            </a:r>
            <a:endParaRPr lang="en-US" sz="900" dirty="0"/>
          </a:p>
        </p:txBody>
      </p:sp>
      <p:sp>
        <p:nvSpPr>
          <p:cNvPr id="11" name="Shape 5"/>
          <p:cNvSpPr/>
          <p:nvPr/>
        </p:nvSpPr>
        <p:spPr>
          <a:xfrm>
            <a:off x="12763195" y="1399946"/>
            <a:ext cx="1686154" cy="276149"/>
          </a:xfrm>
          <a:prstGeom prst="rect">
            <a:avLst/>
          </a:prstGeom>
          <a:solidFill>
            <a:srgbClr val="E8EE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2877495" y="1500530"/>
            <a:ext cx="75895" cy="75895"/>
          </a:xfrm>
          <a:prstGeom prst="ellipse">
            <a:avLst/>
          </a:prstGeom>
          <a:solidFill>
            <a:srgbClr val="1F5E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3030200" y="1457554"/>
            <a:ext cx="13057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A · W01-W03</a:t>
            </a:r>
            <a:endParaRPr lang="en-US" sz="975" dirty="0"/>
          </a:p>
        </p:txBody>
      </p:sp>
      <p:sp>
        <p:nvSpPr>
          <p:cNvPr id="14" name="Shape 8"/>
          <p:cNvSpPr/>
          <p:nvPr/>
        </p:nvSpPr>
        <p:spPr>
          <a:xfrm>
            <a:off x="14539874" y="1399946"/>
            <a:ext cx="1686154" cy="276149"/>
          </a:xfrm>
          <a:prstGeom prst="rect">
            <a:avLst/>
          </a:prstGeom>
          <a:solidFill>
            <a:srgbClr val="F4E7D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4654174" y="1500530"/>
            <a:ext cx="75895" cy="75895"/>
          </a:xfrm>
          <a:prstGeom prst="ellipse">
            <a:avLst/>
          </a:prstGeom>
          <a:solidFill>
            <a:srgbClr val="B053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4806879" y="1457554"/>
            <a:ext cx="13057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B · W04-W06</a:t>
            </a:r>
            <a:endParaRPr lang="en-US" sz="975" dirty="0"/>
          </a:p>
        </p:txBody>
      </p:sp>
      <p:sp>
        <p:nvSpPr>
          <p:cNvPr id="17" name="Text 11"/>
          <p:cNvSpPr txBox="1"/>
          <p:nvPr/>
        </p:nvSpPr>
        <p:spPr>
          <a:xfrm>
            <a:off x="12763195" y="1772107"/>
            <a:ext cx="22485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부호 = mean − target (단위 nm)</a:t>
            </a:r>
            <a:endParaRPr lang="en-US" sz="975" dirty="0"/>
          </a:p>
        </p:txBody>
      </p:sp>
      <p:pic>
        <p:nvPicPr>
          <p:cNvPr id="18" name="Image 3" descr="gen-dedup-e072e58832dd30d810a4952697a16e82.png">    </p:cNvPr>
          <p:cNvPicPr>
            <a:picLocks noChangeAspect="1"/>
          </p:cNvPicPr>
          <p:nvPr/>
        </p:nvPicPr>
        <p:blipFill>
          <a:blip r:embed="rId4"/>
          <a:srcRect l="0" r="0" t="-57" b="-57"/>
          <a:stretch/>
        </p:blipFill>
        <p:spPr>
          <a:xfrm>
            <a:off x="761695" y="2857500"/>
            <a:ext cx="47549" cy="32369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2746" y="2885846"/>
            <a:ext cx="734263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AASI</a:t>
            </a:r>
            <a:endParaRPr lang="en-US" sz="2250" dirty="0"/>
          </a:p>
        </p:txBody>
      </p:sp>
      <p:sp>
        <p:nvSpPr>
          <p:cNvPr id="20" name="Text 13"/>
          <p:cNvSpPr txBox="1"/>
          <p:nvPr/>
        </p:nvSpPr>
        <p:spPr>
          <a:xfrm>
            <a:off x="1807769" y="3019349"/>
            <a:ext cx="196138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APC Step Image</a:t>
            </a:r>
            <a:endParaRPr lang="en-US" sz="1125" dirty="0"/>
          </a:p>
        </p:txBody>
      </p:sp>
      <p:sp>
        <p:nvSpPr>
          <p:cNvPr id="21" name="Text 14"/>
          <p:cNvSpPr txBox="1"/>
          <p:nvPr/>
        </p:nvSpPr>
        <p:spPr>
          <a:xfrm>
            <a:off x="7444130" y="2924251"/>
            <a:ext cx="17053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pPr algn="l" indent="0" marL="0">
              <a:buNone/>
            </a:pPr>
            <a:r>
              <a:rPr lang="en-US" sz="195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24.3 nm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333902"/>
          <a:ext cx="8382305" cy="2820010"/>
        </p:xfrm>
        <a:graphic>
          <a:graphicData uri="http://schemas.openxmlformats.org/drawingml/2006/table">
            <a:tbl>
              <a:tblPr/>
              <a:tblGrid>
                <a:gridCol w="1319479"/>
                <a:gridCol w="1790395"/>
                <a:gridCol w="1387145"/>
                <a:gridCol w="1922069"/>
                <a:gridCol w="1963217"/>
              </a:tblGrid>
              <a:tr h="352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WAFER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RANGE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Δ vs TARGET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24.55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3.75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24.32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3.30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24.40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24.85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5.40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+0.55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24.92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1.95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5.80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+0.62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24.79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1.75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5.10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+0.49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POOLED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24.64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1.51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5.80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+0.34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</a:tbl>
          </a:graphicData>
        </a:graphic>
      </p:graphicFrame>
      <p:pic>
        <p:nvPicPr>
          <p:cNvPr id="23" name="Image 4" descr="gen-dedup-ead674da8b1171e30644d4e687982207.png">    </p:cNvPr>
          <p:cNvPicPr>
            <a:picLocks noChangeAspect="1"/>
          </p:cNvPicPr>
          <p:nvPr/>
        </p:nvPicPr>
        <p:blipFill>
          <a:blip r:embed="rId5"/>
          <a:srcRect l="0" r="0" t="-57" b="-57"/>
          <a:stretch/>
        </p:blipFill>
        <p:spPr>
          <a:xfrm>
            <a:off x="9334195" y="2857500"/>
            <a:ext cx="47549" cy="32369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515246" y="2885846"/>
            <a:ext cx="734263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ASEI</a:t>
            </a:r>
            <a:endParaRPr lang="en-US" sz="2250" dirty="0"/>
          </a:p>
        </p:txBody>
      </p:sp>
      <p:sp>
        <p:nvSpPr>
          <p:cNvPr id="25" name="Text 16"/>
          <p:cNvSpPr txBox="1"/>
          <p:nvPr/>
        </p:nvSpPr>
        <p:spPr>
          <a:xfrm>
            <a:off x="10380269" y="3019349"/>
            <a:ext cx="24487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Strip Etch Inspection</a:t>
            </a:r>
            <a:endParaRPr lang="en-US" sz="1125" dirty="0"/>
          </a:p>
        </p:txBody>
      </p:sp>
      <p:sp>
        <p:nvSpPr>
          <p:cNvPr id="26" name="Text 17"/>
          <p:cNvSpPr txBox="1"/>
          <p:nvPr/>
        </p:nvSpPr>
        <p:spPr>
          <a:xfrm>
            <a:off x="16016630" y="2924251"/>
            <a:ext cx="17053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pPr algn="l" indent="0" marL="0">
              <a:buNone/>
            </a:pPr>
            <a:r>
              <a:rPr lang="en-US" sz="195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16.9 nm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34195" y="3333902"/>
          <a:ext cx="8382305" cy="2820010"/>
        </p:xfrm>
        <a:graphic>
          <a:graphicData uri="http://schemas.openxmlformats.org/drawingml/2006/table">
            <a:tbl>
              <a:tblPr/>
              <a:tblGrid>
                <a:gridCol w="1319479"/>
                <a:gridCol w="1790395"/>
                <a:gridCol w="1387145"/>
                <a:gridCol w="1922069"/>
                <a:gridCol w="1963217"/>
              </a:tblGrid>
              <a:tr h="3525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WAFER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RANGE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Δ vs TARGET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16.95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16.92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16.97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1.78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+0.07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17.20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1.05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3.20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+0.30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17.32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1.20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3.60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+0.42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17.18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1.10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3.30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66751" marB="66751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52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POOLED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17.09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0.91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3.60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</a:tbl>
          </a:graphicData>
        </a:graphic>
      </p:graphicFrame>
      <p:sp>
        <p:nvSpPr>
          <p:cNvPr id="28" name="Text 18"/>
          <p:cNvSpPr txBox="1"/>
          <p:nvPr/>
        </p:nvSpPr>
        <p:spPr>
          <a:xfrm>
            <a:off x="942746" y="5934456"/>
            <a:ext cx="5532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AMI</a:t>
            </a:r>
            <a:endParaRPr lang="en-US" sz="2250" dirty="0"/>
          </a:p>
        </p:txBody>
      </p:sp>
      <p:sp>
        <p:nvSpPr>
          <p:cNvPr id="29" name="Text 19"/>
          <p:cNvSpPr txBox="1"/>
          <p:nvPr/>
        </p:nvSpPr>
        <p:spPr>
          <a:xfrm>
            <a:off x="1624889" y="6067044"/>
            <a:ext cx="204094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Metal Inspection</a:t>
            </a:r>
            <a:endParaRPr lang="en-US" sz="1125" dirty="0"/>
          </a:p>
        </p:txBody>
      </p:sp>
      <p:sp>
        <p:nvSpPr>
          <p:cNvPr id="30" name="Text 20"/>
          <p:cNvSpPr txBox="1"/>
          <p:nvPr/>
        </p:nvSpPr>
        <p:spPr>
          <a:xfrm>
            <a:off x="7592263" y="5971946"/>
            <a:ext cx="15526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pPr algn="l" indent="0" marL="0">
              <a:buNone/>
            </a:pPr>
            <a:r>
              <a:rPr lang="en-US" sz="195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9.7 nm</a:t>
            </a:r>
            <a:endParaRPr lang="en-US" sz="12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6381598"/>
          <a:ext cx="8382305" cy="2572207"/>
        </p:xfrm>
        <a:graphic>
          <a:graphicData uri="http://schemas.openxmlformats.org/drawingml/2006/table">
            <a:tbl>
              <a:tblPr/>
              <a:tblGrid>
                <a:gridCol w="1319479"/>
                <a:gridCol w="1790395"/>
                <a:gridCol w="1387145"/>
                <a:gridCol w="1922069"/>
                <a:gridCol w="1963217"/>
              </a:tblGrid>
              <a:tr h="3215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WAFER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RANGE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Δ vs TARGET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9.74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9.71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0.28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+0.01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9.76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0.32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0.95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9.95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10.04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2.10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+0.34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9.92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1.78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POOLED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9.85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0.49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2.10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</a:tbl>
          </a:graphicData>
        </a:graphic>
      </p:graphicFrame>
      <p:pic>
        <p:nvPicPr>
          <p:cNvPr id="32" name="Image 5" descr="gen-dedup-e072e58832dd30d810a4952697a16e82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rcRect l="0" r="0" t="-57" b="-57"/>
          <a:stretch/>
        </p:blipFill>
        <p:spPr>
          <a:xfrm>
            <a:off x="761695" y="5905195"/>
            <a:ext cx="47549" cy="32369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9515246" y="5934456"/>
            <a:ext cx="5532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ACI</a:t>
            </a:r>
            <a:endParaRPr lang="en-US" sz="2250" dirty="0"/>
          </a:p>
        </p:txBody>
      </p:sp>
      <p:sp>
        <p:nvSpPr>
          <p:cNvPr id="34" name="Text 22"/>
          <p:cNvSpPr txBox="1"/>
          <p:nvPr/>
        </p:nvSpPr>
        <p:spPr>
          <a:xfrm>
            <a:off x="10197389" y="6067044"/>
            <a:ext cx="206380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Clean Inspection</a:t>
            </a:r>
            <a:endParaRPr lang="en-US" sz="1125" dirty="0"/>
          </a:p>
        </p:txBody>
      </p:sp>
      <p:sp>
        <p:nvSpPr>
          <p:cNvPr id="35" name="Text 23"/>
          <p:cNvSpPr txBox="1"/>
          <p:nvPr/>
        </p:nvSpPr>
        <p:spPr>
          <a:xfrm>
            <a:off x="16164763" y="5971946"/>
            <a:ext cx="15526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pPr algn="l" indent="0" marL="0">
              <a:buNone/>
            </a:pPr>
            <a:r>
              <a:rPr lang="en-US" sz="195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 nm</a:t>
            </a:r>
            <a:endParaRPr lang="en-US" sz="12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34195" y="6381598"/>
          <a:ext cx="8382305" cy="2572207"/>
        </p:xfrm>
        <a:graphic>
          <a:graphicData uri="http://schemas.openxmlformats.org/drawingml/2006/table">
            <a:tbl>
              <a:tblPr/>
              <a:tblGrid>
                <a:gridCol w="1319479"/>
                <a:gridCol w="1790395"/>
                <a:gridCol w="1387145"/>
                <a:gridCol w="1922069"/>
                <a:gridCol w="1963217"/>
              </a:tblGrid>
              <a:tr h="3215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WAFER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3σ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RANGE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Δ vs TARGET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14300" marR="114300" marT="85954" marB="8595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0.78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9.07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0.28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+0.07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F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9.28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+0.28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9.36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+0.36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12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9.24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D6"/>
                    </a:solidFill>
                  </a:tcPr>
                </a:tc>
              </a:tr>
              <a:tr h="3215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POOLED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9.17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0.43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+0.17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14300" marR="11430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</a:tbl>
          </a:graphicData>
        </a:graphic>
      </p:graphicFrame>
      <p:pic>
        <p:nvPicPr>
          <p:cNvPr id="37" name="Image 6" descr="gen-dedup-ead674da8b1171e30644d4e687982207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rcRect l="0" r="0" t="-57" b="-57"/>
          <a:stretch/>
        </p:blipFill>
        <p:spPr>
          <a:xfrm>
            <a:off x="9334195" y="5905195"/>
            <a:ext cx="47549" cy="323698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761695" y="8953805"/>
            <a:ext cx="16763695" cy="9144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761695" y="9115654"/>
            <a:ext cx="1343254" cy="238658"/>
          </a:xfrm>
          <a:prstGeom prst="rect">
            <a:avLst/>
          </a:prstGeom>
          <a:noFill/>
          <a:ln w="12700">
            <a:solidFill>
              <a:srgbClr val="8A6418"/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2267712" y="9096451"/>
            <a:ext cx="114016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metric 모두에서 Arm B(W04-W06) 의 3σ 와 Δ 가 Arm A(W01-W03) 대비 평균 ~ 1.7× ~ 1.9× 큼 — dummy lot 가설과 부합.</a:t>
            </a:r>
            <a:endParaRPr lang="en-US" sz="1500" dirty="0"/>
          </a:p>
        </p:txBody>
      </p:sp>
      <p:sp>
        <p:nvSpPr>
          <p:cNvPr id="41" name="Text 27"/>
          <p:cNvSpPr txBox="1"/>
          <p:nvPr/>
        </p:nvSpPr>
        <p:spPr>
          <a:xfrm>
            <a:off x="0" y="9924898"/>
            <a:ext cx="1828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내부 테스트용 더미(가상) 데이터 · 본 문서는 의사결정용이 아님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fec6582c1621f775b47e05eb109315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bc8c14410465956cd0da06cf10b0f72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9696298"/>
            <a:ext cx="18288000" cy="19202"/>
          </a:xfrm>
          <a:prstGeom prst="rect">
            <a:avLst/>
          </a:prstGeom>
        </p:spPr>
      </p:pic>
      <p:pic>
        <p:nvPicPr>
          <p:cNvPr id="5" name="Image 2" descr="gen-dedup-632de80f02abd7253ba04817d0f87f5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761695" y="676656"/>
            <a:ext cx="342900" cy="1920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276502" y="590702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다중 패터닝 평가 · 내부 테스트 더미</a:t>
            </a:r>
            <a:endParaRPr lang="en-US" sz="1050" dirty="0"/>
          </a:p>
        </p:txBody>
      </p:sp>
      <p:sp>
        <p:nvSpPr>
          <p:cNvPr id="7" name="Text 1"/>
          <p:cNvSpPr txBox="1"/>
          <p:nvPr/>
        </p:nvSpPr>
        <p:spPr>
          <a:xfrm>
            <a:off x="5024628" y="599846"/>
            <a:ext cx="395295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07 — in-wafer uniformity 49 pt</a:t>
            </a:r>
            <a:endParaRPr lang="en-US" sz="1050" dirty="0"/>
          </a:p>
        </p:txBody>
      </p:sp>
      <p:sp>
        <p:nvSpPr>
          <p:cNvPr id="8" name="Text 2"/>
          <p:cNvSpPr txBox="1"/>
          <p:nvPr/>
        </p:nvSpPr>
        <p:spPr>
          <a:xfrm>
            <a:off x="4749394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990295"/>
            <a:ext cx="11811305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In-wafer 균일도</a:t>
            </a:r>
            <a:pPr algn="l" indent="0" marL="0">
              <a:lnSpc>
                <a:spcPct val="104000"/>
              </a:lnSpc>
              <a:buNone/>
            </a:pPr>
            <a:endParaRPr lang="en-US" sz="4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 pt grid &amp; 대표 wafer map</a:t>
            </a:r>
            <a:endParaRPr lang="en-US" sz="4500" dirty="0"/>
          </a:p>
        </p:txBody>
      </p:sp>
      <p:sp>
        <p:nvSpPr>
          <p:cNvPr id="10" name="Text 4"/>
          <p:cNvSpPr txBox="1"/>
          <p:nvPr/>
        </p:nvSpPr>
        <p:spPr>
          <a:xfrm>
            <a:off x="12763195" y="1619402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07 OF 08</a:t>
            </a:r>
            <a:endParaRPr lang="en-US" sz="975" dirty="0"/>
          </a:p>
        </p:txBody>
      </p:sp>
      <p:sp>
        <p:nvSpPr>
          <p:cNvPr id="11" name="Text 5"/>
          <p:cNvSpPr txBox="1"/>
          <p:nvPr/>
        </p:nvSpPr>
        <p:spPr>
          <a:xfrm>
            <a:off x="12763195" y="1914754"/>
            <a:ext cx="49533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die 49 site 측정값의 pooled 3σ 와 intra-wafer 편차. 대표 wafer 맵 우측에 도시하여 분기 간 격차를 가시화한다.</a:t>
            </a:r>
            <a:endParaRPr lang="en-US" sz="1575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2857500"/>
            <a:ext cx="8382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SUMMARY — pooled 3σ @ ACI metric</a:t>
            </a:r>
            <a:endParaRPr lang="en-US" sz="97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152851"/>
          <a:ext cx="8382305" cy="2934310"/>
        </p:xfrm>
        <a:graphic>
          <a:graphicData uri="http://schemas.openxmlformats.org/drawingml/2006/table">
            <a:tbl>
              <a:tblPr/>
              <a:tblGrid>
                <a:gridCol w="1192378"/>
                <a:gridCol w="1057961"/>
                <a:gridCol w="1645006"/>
                <a:gridCol w="1431036"/>
                <a:gridCol w="1577340"/>
                <a:gridCol w="1478585"/>
              </a:tblGrid>
              <a:tr h="419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WAFER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SPLIT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(nm)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INTRA 3σ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MAX − MIN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81C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vs 9.0 nm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7"/>
                    </a:solidFill>
                  </a:tcPr>
                </a:tc>
              </a:tr>
              <a:tr h="419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1C26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0.26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0.78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+0.05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</a:tr>
              <a:tr h="419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0.66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</a:tr>
              <a:tr h="419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5E7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9.07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0.28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0.84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2F6B4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+0.07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E8"/>
                    </a:solidFill>
                  </a:tcPr>
                </a:tc>
              </a:tr>
              <a:tr h="419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531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9.28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0.54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1.62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+0.28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</a:tr>
              <a:tr h="419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531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9.36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0.60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1.80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8A2A2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+0.36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</a:tr>
              <a:tr h="4191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5317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</a:t>
                      </a:r>
                      <a:endParaRPr lang="en-US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9.24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0.52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1.56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dirty="0">
                          <a:solidFill>
                            <a:srgbClr val="B05F1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+0.24</a:t>
                      </a:r>
                      <a:endParaRPr lang="en-US" sz="12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3502" marR="133502" marT="105156" marB="10515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BC4"/>
                    </a:solidFill>
                  </a:tcPr>
                </a:tc>
              </a:tr>
            </a:tbl>
          </a:graphicData>
        </a:graphic>
      </p:graphicFrame>
      <p:sp>
        <p:nvSpPr>
          <p:cNvPr id="14" name="Text 7"/>
          <p:cNvSpPr txBox="1"/>
          <p:nvPr/>
        </p:nvSpPr>
        <p:spPr>
          <a:xfrm>
            <a:off x="761695" y="6258154"/>
            <a:ext cx="8382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3σ vs TARGET 9.0 nm · worst-case slot</a:t>
            </a:r>
            <a:endParaRPr lang="en-US" sz="825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6467551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825" dirty="0"/>
          </a:p>
        </p:txBody>
      </p:sp>
      <p:sp>
        <p:nvSpPr>
          <p:cNvPr id="16" name="Shape 9"/>
          <p:cNvSpPr/>
          <p:nvPr/>
        </p:nvSpPr>
        <p:spPr>
          <a:xfrm>
            <a:off x="761695" y="6601054"/>
            <a:ext cx="609905" cy="133502"/>
          </a:xfrm>
          <a:prstGeom prst="rect">
            <a:avLst/>
          </a:prstGeom>
          <a:solidFill>
            <a:srgbClr val="1F5E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1466698" y="6467551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825" dirty="0"/>
          </a:p>
        </p:txBody>
      </p:sp>
      <p:sp>
        <p:nvSpPr>
          <p:cNvPr id="18" name="Text 11"/>
          <p:cNvSpPr txBox="1"/>
          <p:nvPr/>
        </p:nvSpPr>
        <p:spPr>
          <a:xfrm>
            <a:off x="2076602" y="6467551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825" dirty="0"/>
          </a:p>
        </p:txBody>
      </p:sp>
      <p:sp>
        <p:nvSpPr>
          <p:cNvPr id="19" name="Text 12"/>
          <p:cNvSpPr txBox="1"/>
          <p:nvPr/>
        </p:nvSpPr>
        <p:spPr>
          <a:xfrm>
            <a:off x="2991002" y="6467551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825" dirty="0"/>
          </a:p>
        </p:txBody>
      </p:sp>
      <p:sp>
        <p:nvSpPr>
          <p:cNvPr id="20" name="Text 13"/>
          <p:cNvSpPr txBox="1"/>
          <p:nvPr/>
        </p:nvSpPr>
        <p:spPr>
          <a:xfrm>
            <a:off x="4419295" y="6467551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</a:t>
            </a:r>
            <a:endParaRPr lang="en-US" sz="825" dirty="0"/>
          </a:p>
        </p:txBody>
      </p:sp>
      <p:pic>
        <p:nvPicPr>
          <p:cNvPr id="21" name="Image 3" descr="gen-dedup-2b8fb2a5fbf229dad7df678218206a9c.png">    </p:cNvPr>
          <p:cNvPicPr>
            <a:picLocks noChangeAspect="1"/>
          </p:cNvPicPr>
          <p:nvPr/>
        </p:nvPicPr>
        <p:blipFill>
          <a:blip r:embed="rId4"/>
          <a:srcRect l="0" r="0" t="-44" b="-44"/>
          <a:stretch/>
        </p:blipFill>
        <p:spPr>
          <a:xfrm>
            <a:off x="4419295" y="6601054"/>
            <a:ext cx="1476756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991149" y="6467551"/>
            <a:ext cx="191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W06</a:t>
            </a:r>
            <a:endParaRPr lang="en-US" sz="825" dirty="0"/>
          </a:p>
        </p:txBody>
      </p:sp>
      <p:sp>
        <p:nvSpPr>
          <p:cNvPr id="23" name="Shape 15"/>
          <p:cNvSpPr/>
          <p:nvPr/>
        </p:nvSpPr>
        <p:spPr>
          <a:xfrm>
            <a:off x="1466698" y="6601054"/>
            <a:ext cx="514807" cy="133502"/>
          </a:xfrm>
          <a:prstGeom prst="rect">
            <a:avLst/>
          </a:prstGeom>
          <a:solidFill>
            <a:srgbClr val="1F5E72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4" descr="gen-dedup-5297e83307011d27339ad869c23d4e96.png">    </p:cNvPr>
          <p:cNvPicPr>
            <a:picLocks noChangeAspect="1"/>
          </p:cNvPicPr>
          <p:nvPr/>
        </p:nvPicPr>
        <p:blipFill>
          <a:blip r:embed="rId5">
            <a:alphaModFix amt="94000"/>
          </a:blip>
          <a:srcRect l="0" r="0" t="-57" b="-57"/>
          <a:stretch/>
        </p:blipFill>
        <p:spPr>
          <a:xfrm>
            <a:off x="2076602" y="6601054"/>
            <a:ext cx="685800" cy="133502"/>
          </a:xfrm>
          <a:prstGeom prst="rect">
            <a:avLst/>
          </a:prstGeom>
        </p:spPr>
      </p:pic>
      <p:pic>
        <p:nvPicPr>
          <p:cNvPr id="25" name="Image 5" descr="gen-dedup-a08a3f039248a2f183fbd2a513d7a0f1.png">    </p:cNvPr>
          <p:cNvPicPr>
            <a:picLocks noChangeAspect="1"/>
          </p:cNvPicPr>
          <p:nvPr/>
        </p:nvPicPr>
        <p:blipFill>
          <a:blip r:embed="rId6">
            <a:alphaModFix amt="78000"/>
          </a:blip>
          <a:srcRect l="0" r="0" t="-69" b="-69"/>
          <a:stretch/>
        </p:blipFill>
        <p:spPr>
          <a:xfrm>
            <a:off x="2991002" y="6601054"/>
            <a:ext cx="1333195" cy="133502"/>
          </a:xfrm>
          <a:prstGeom prst="rect">
            <a:avLst/>
          </a:prstGeom>
        </p:spPr>
      </p:pic>
      <p:pic>
        <p:nvPicPr>
          <p:cNvPr id="26" name="Image 6" descr="gen-dedup-09d113bcb240e3ba5100a7a9362913f4.png">    </p:cNvPr>
          <p:cNvPicPr>
            <a:picLocks noChangeAspect="1"/>
          </p:cNvPicPr>
          <p:nvPr/>
        </p:nvPicPr>
        <p:blipFill>
          <a:blip r:embed="rId7">
            <a:alphaModFix amt="84000"/>
          </a:blip>
          <a:srcRect l="0" r="0" t="-66" b="-66"/>
          <a:stretch/>
        </p:blipFill>
        <p:spPr>
          <a:xfrm>
            <a:off x="5991149" y="6601054"/>
            <a:ext cx="1285646" cy="133502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9715500" y="2857500"/>
            <a:ext cx="3905402" cy="3619195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9868205" y="3033979"/>
            <a:ext cx="47549" cy="171907"/>
          </a:xfrm>
          <a:prstGeom prst="rect">
            <a:avLst/>
          </a:prstGeom>
          <a:solidFill>
            <a:srgbClr val="1F5E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9991649" y="2991002"/>
            <a:ext cx="3429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500" dirty="0"/>
          </a:p>
        </p:txBody>
      </p:sp>
      <p:sp>
        <p:nvSpPr>
          <p:cNvPr id="30" name="Text 19"/>
          <p:cNvSpPr txBox="1"/>
          <p:nvPr/>
        </p:nvSpPr>
        <p:spPr>
          <a:xfrm>
            <a:off x="12167921" y="3038551"/>
            <a:ext cx="1305763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A — High-NA</a:t>
            </a:r>
            <a:endParaRPr lang="en-US" sz="975" dirty="0"/>
          </a:p>
        </p:txBody>
      </p:sp>
      <p:sp>
        <p:nvSpPr>
          <p:cNvPr id="31" name="Text 20"/>
          <p:cNvSpPr txBox="1"/>
          <p:nvPr/>
        </p:nvSpPr>
        <p:spPr>
          <a:xfrm>
            <a:off x="9868205" y="3305556"/>
            <a:ext cx="36009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49 pt · ACI metric · Δ nm vs 9.0</a:t>
            </a:r>
            <a:endParaRPr lang="en-US" sz="825" dirty="0"/>
          </a:p>
        </p:txBody>
      </p:sp>
      <p:pic>
        <p:nvPicPr>
          <p:cNvPr id="32" name="Image 7" descr="gen-dedup-c286bd9fdfedd2093818f6471c7ce445.png">    </p:cNvPr>
          <p:cNvPicPr>
            <a:picLocks noChangeAspect="1"/>
          </p:cNvPicPr>
          <p:nvPr/>
        </p:nvPicPr>
        <p:blipFill>
          <a:blip r:embed="rId8"/>
          <a:srcRect l="0" r="0" t="-102" b="-102"/>
          <a:stretch/>
        </p:blipFill>
        <p:spPr>
          <a:xfrm>
            <a:off x="9868205" y="3476549"/>
            <a:ext cx="3600907" cy="3038551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13811098" y="2857500"/>
            <a:ext cx="3905402" cy="3619195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2"/>
          <p:cNvSpPr/>
          <p:nvPr/>
        </p:nvSpPr>
        <p:spPr>
          <a:xfrm>
            <a:off x="13963802" y="3033979"/>
            <a:ext cx="47549" cy="171907"/>
          </a:xfrm>
          <a:prstGeom prst="rect">
            <a:avLst/>
          </a:prstGeom>
          <a:solidFill>
            <a:srgbClr val="B053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3"/>
          <p:cNvSpPr txBox="1"/>
          <p:nvPr/>
        </p:nvSpPr>
        <p:spPr>
          <a:xfrm>
            <a:off x="14087246" y="2991002"/>
            <a:ext cx="3429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</a:t>
            </a:r>
            <a:endParaRPr lang="en-US" sz="1500" dirty="0"/>
          </a:p>
        </p:txBody>
      </p:sp>
      <p:sp>
        <p:nvSpPr>
          <p:cNvPr id="36" name="Text 24"/>
          <p:cNvSpPr txBox="1"/>
          <p:nvPr/>
        </p:nvSpPr>
        <p:spPr>
          <a:xfrm>
            <a:off x="15831007" y="3038551"/>
            <a:ext cx="17337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B — 0.33 NA SADP</a:t>
            </a:r>
            <a:endParaRPr lang="en-US" sz="975" dirty="0"/>
          </a:p>
        </p:txBody>
      </p:sp>
      <p:sp>
        <p:nvSpPr>
          <p:cNvPr id="37" name="Text 25"/>
          <p:cNvSpPr txBox="1"/>
          <p:nvPr/>
        </p:nvSpPr>
        <p:spPr>
          <a:xfrm>
            <a:off x="13963802" y="3305556"/>
            <a:ext cx="36009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49 pt · ACI metric · Δ nm vs 9.0</a:t>
            </a:r>
            <a:endParaRPr lang="en-US" sz="825" dirty="0"/>
          </a:p>
        </p:txBody>
      </p:sp>
      <p:pic>
        <p:nvPicPr>
          <p:cNvPr id="38" name="Image 8" descr="gen-dedup-bb0e7fe093b8fea0a694fe5b4c53ee6a.png">    </p:cNvPr>
          <p:cNvPicPr>
            <a:picLocks noChangeAspect="1"/>
          </p:cNvPicPr>
          <p:nvPr/>
        </p:nvPicPr>
        <p:blipFill>
          <a:blip r:embed="rId9"/>
          <a:srcRect l="0" r="0" t="-102" b="-102"/>
          <a:stretch/>
        </p:blipFill>
        <p:spPr>
          <a:xfrm>
            <a:off x="13963802" y="3476549"/>
            <a:ext cx="3600907" cy="3038551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9715500" y="6667805"/>
            <a:ext cx="8001000" cy="857707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9924898" y="6838798"/>
            <a:ext cx="75822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LEGEND — |Δ| nm vs target (9.0 nm)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9924898" y="7105802"/>
            <a:ext cx="171907" cy="171907"/>
          </a:xfrm>
          <a:prstGeom prst="rect">
            <a:avLst/>
          </a:prstGeom>
          <a:solidFill>
            <a:srgbClr val="1F5E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10172700" y="7105802"/>
            <a:ext cx="4864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0.05</a:t>
            </a:r>
            <a:endParaRPr lang="en-US" sz="1050" dirty="0"/>
          </a:p>
        </p:txBody>
      </p:sp>
      <p:sp>
        <p:nvSpPr>
          <p:cNvPr id="43" name="Shape 30"/>
          <p:cNvSpPr/>
          <p:nvPr/>
        </p:nvSpPr>
        <p:spPr>
          <a:xfrm>
            <a:off x="10729570" y="7105802"/>
            <a:ext cx="171907" cy="171907"/>
          </a:xfrm>
          <a:prstGeom prst="rect">
            <a:avLst/>
          </a:prstGeom>
          <a:solidFill>
            <a:srgbClr val="5C9DA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10977372" y="7105802"/>
            <a:ext cx="8860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0.05 – 0.10</a:t>
            </a:r>
            <a:endParaRPr lang="en-US" sz="1050" dirty="0"/>
          </a:p>
        </p:txBody>
      </p:sp>
      <p:sp>
        <p:nvSpPr>
          <p:cNvPr id="45" name="Shape 32"/>
          <p:cNvSpPr/>
          <p:nvPr/>
        </p:nvSpPr>
        <p:spPr>
          <a:xfrm>
            <a:off x="11932920" y="7105802"/>
            <a:ext cx="171907" cy="171907"/>
          </a:xfrm>
          <a:prstGeom prst="rect">
            <a:avLst/>
          </a:prstGeom>
          <a:solidFill>
            <a:srgbClr val="D69B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12180722" y="7105802"/>
            <a:ext cx="8860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0.10 – 0.25</a:t>
            </a:r>
            <a:endParaRPr lang="en-US" sz="1050" dirty="0"/>
          </a:p>
        </p:txBody>
      </p:sp>
      <p:sp>
        <p:nvSpPr>
          <p:cNvPr id="47" name="Shape 34"/>
          <p:cNvSpPr/>
          <p:nvPr/>
        </p:nvSpPr>
        <p:spPr>
          <a:xfrm>
            <a:off x="13137185" y="7105802"/>
            <a:ext cx="171907" cy="171907"/>
          </a:xfrm>
          <a:prstGeom prst="rect">
            <a:avLst/>
          </a:prstGeom>
          <a:solidFill>
            <a:srgbClr val="B452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13384987" y="7105802"/>
            <a:ext cx="8860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0.25 – 0.45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14341450" y="7105802"/>
            <a:ext cx="171907" cy="171907"/>
          </a:xfrm>
          <a:prstGeom prst="rect">
            <a:avLst/>
          </a:prstGeom>
          <a:solidFill>
            <a:srgbClr val="6F20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14589252" y="7105802"/>
            <a:ext cx="4864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0.45</a:t>
            </a:r>
            <a:endParaRPr lang="en-US" sz="1050" dirty="0"/>
          </a:p>
        </p:txBody>
      </p:sp>
      <p:sp>
        <p:nvSpPr>
          <p:cNvPr id="51" name="Shape 38"/>
          <p:cNvSpPr/>
          <p:nvPr/>
        </p:nvSpPr>
        <p:spPr>
          <a:xfrm>
            <a:off x="761695" y="7905902"/>
            <a:ext cx="2686507" cy="866851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933602" y="8058607"/>
            <a:ext cx="2343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A pooled</a:t>
            </a:r>
            <a:endParaRPr lang="en-US" sz="825" dirty="0"/>
          </a:p>
        </p:txBody>
      </p:sp>
      <p:sp>
        <p:nvSpPr>
          <p:cNvPr id="53" name="Text 40"/>
          <p:cNvSpPr txBox="1"/>
          <p:nvPr/>
        </p:nvSpPr>
        <p:spPr>
          <a:xfrm>
            <a:off x="933602" y="8248802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5E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0.25</a:t>
            </a:r>
            <a:pPr algn="l"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3σ</a:t>
            </a:r>
            <a:endParaRPr lang="en-US" sz="1200" dirty="0"/>
          </a:p>
        </p:txBody>
      </p:sp>
      <p:sp>
        <p:nvSpPr>
          <p:cNvPr id="54" name="Shape 41"/>
          <p:cNvSpPr/>
          <p:nvPr/>
        </p:nvSpPr>
        <p:spPr>
          <a:xfrm>
            <a:off x="3612794" y="7905902"/>
            <a:ext cx="2686507" cy="866851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2"/>
          <p:cNvSpPr txBox="1"/>
          <p:nvPr/>
        </p:nvSpPr>
        <p:spPr>
          <a:xfrm>
            <a:off x="3784702" y="8058607"/>
            <a:ext cx="2343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ARM B pooled</a:t>
            </a:r>
            <a:endParaRPr lang="en-US" sz="825" dirty="0"/>
          </a:p>
        </p:txBody>
      </p:sp>
      <p:sp>
        <p:nvSpPr>
          <p:cNvPr id="56" name="Text 43"/>
          <p:cNvSpPr txBox="1"/>
          <p:nvPr/>
        </p:nvSpPr>
        <p:spPr>
          <a:xfrm>
            <a:off x="3784702" y="8248802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0.55</a:t>
            </a:r>
            <a:pPr algn="l"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nm 3σ</a:t>
            </a:r>
            <a:endParaRPr lang="en-US" sz="1200" dirty="0"/>
          </a:p>
        </p:txBody>
      </p:sp>
      <p:sp>
        <p:nvSpPr>
          <p:cNvPr id="57" name="Shape 44"/>
          <p:cNvSpPr/>
          <p:nvPr/>
        </p:nvSpPr>
        <p:spPr>
          <a:xfrm>
            <a:off x="6463894" y="7905902"/>
            <a:ext cx="2686507" cy="866851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5"/>
          <p:cNvSpPr txBox="1"/>
          <p:nvPr/>
        </p:nvSpPr>
        <p:spPr>
          <a:xfrm>
            <a:off x="6635801" y="8058607"/>
            <a:ext cx="23436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pooled (B − A)</a:t>
            </a:r>
            <a:endParaRPr lang="en-US" sz="825" dirty="0"/>
          </a:p>
        </p:txBody>
      </p:sp>
      <p:sp>
        <p:nvSpPr>
          <p:cNvPr id="59" name="Text 46"/>
          <p:cNvSpPr txBox="1"/>
          <p:nvPr/>
        </p:nvSpPr>
        <p:spPr>
          <a:xfrm>
            <a:off x="6635801" y="8248802"/>
            <a:ext cx="2343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A2E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2.20</a:t>
            </a:r>
            <a:pPr algn="l"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ratio · dummy</a:t>
            </a:r>
            <a:endParaRPr lang="en-US" sz="1200" dirty="0"/>
          </a:p>
        </p:txBody>
      </p:sp>
      <p:sp>
        <p:nvSpPr>
          <p:cNvPr id="60" name="Shape 47"/>
          <p:cNvSpPr/>
          <p:nvPr/>
        </p:nvSpPr>
        <p:spPr>
          <a:xfrm>
            <a:off x="761695" y="9239098"/>
            <a:ext cx="16763695" cy="9144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61" name="Text 48"/>
          <p:cNvSpPr txBox="1"/>
          <p:nvPr/>
        </p:nvSpPr>
        <p:spPr>
          <a:xfrm>
            <a:off x="761695" y="9400946"/>
            <a:ext cx="1343254" cy="238658"/>
          </a:xfrm>
          <a:prstGeom prst="rect">
            <a:avLst/>
          </a:prstGeom>
          <a:noFill/>
          <a:ln w="12700">
            <a:solidFill>
              <a:srgbClr val="8A6418"/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62" name="Text 49"/>
          <p:cNvSpPr txBox="1"/>
          <p:nvPr/>
        </p:nvSpPr>
        <p:spPr>
          <a:xfrm>
            <a:off x="2267712" y="9381744"/>
            <a:ext cx="120207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Arm B Ace-worst(W05) 의 중심부 Δ 가 가장 큰 hot spot — spacer footprint 가 wafer 내 bias 를 만든 가설(dummy)과 시각적으로 일치.</a:t>
            </a:r>
            <a:endParaRPr lang="en-US" sz="1500" dirty="0"/>
          </a:p>
        </p:txBody>
      </p:sp>
      <p:sp>
        <p:nvSpPr>
          <p:cNvPr id="63" name="Text 50"/>
          <p:cNvSpPr txBox="1"/>
          <p:nvPr/>
        </p:nvSpPr>
        <p:spPr>
          <a:xfrm>
            <a:off x="0" y="9924898"/>
            <a:ext cx="1828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내부 테스트용 더미(가상) 데이터 · 본 문서는 의사결정용이 아님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1fec6582c1621f775b47e05eb1093153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pic>
        <p:nvPicPr>
          <p:cNvPr id="4" name="Image 1" descr="gen-dedup-bc8c14410465956cd0da06cf10b0f72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9696298"/>
            <a:ext cx="18288000" cy="19202"/>
          </a:xfrm>
          <a:prstGeom prst="rect">
            <a:avLst/>
          </a:prstGeom>
        </p:spPr>
      </p:pic>
      <p:pic>
        <p:nvPicPr>
          <p:cNvPr id="5" name="Image 2" descr="gen-dedup-632de80f02abd7253ba04817d0f87f59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761695" y="676656"/>
            <a:ext cx="342900" cy="19202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276502" y="590702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다중 패터닝 평가 · 내부 테스트 더미</a:t>
            </a:r>
            <a:endParaRPr lang="en-US" sz="1050" dirty="0"/>
          </a:p>
        </p:txBody>
      </p:sp>
      <p:sp>
        <p:nvSpPr>
          <p:cNvPr id="7" name="Text 1"/>
          <p:cNvSpPr txBox="1"/>
          <p:nvPr/>
        </p:nvSpPr>
        <p:spPr>
          <a:xfrm>
            <a:off x="5024628" y="599846"/>
            <a:ext cx="4058107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08 — electrical characteristics</a:t>
            </a:r>
            <a:endParaRPr lang="en-US" sz="1050" dirty="0"/>
          </a:p>
        </p:txBody>
      </p:sp>
      <p:sp>
        <p:nvSpPr>
          <p:cNvPr id="8" name="Text 2"/>
          <p:cNvSpPr txBox="1"/>
          <p:nvPr/>
        </p:nvSpPr>
        <p:spPr>
          <a:xfrm>
            <a:off x="4749394" y="599846"/>
            <a:ext cx="1051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080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05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990295"/>
            <a:ext cx="12192610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전기적 특성 평가 결과</a:t>
            </a:r>
            <a:pPr algn="l" indent="0" marL="0">
              <a:lnSpc>
                <a:spcPct val="104000"/>
              </a:lnSpc>
              <a:buNone/>
            </a:pPr>
            <a:endParaRPr lang="en-US" sz="45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500" b="1" spc="-90" kern="0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numeric table — 6 wafer · 5 metric</a:t>
            </a:r>
            <a:endParaRPr lang="en-US" sz="4500" dirty="0"/>
          </a:p>
        </p:txBody>
      </p:sp>
      <p:sp>
        <p:nvSpPr>
          <p:cNvPr id="10" name="Text 4"/>
          <p:cNvSpPr txBox="1"/>
          <p:nvPr/>
        </p:nvSpPr>
        <p:spPr>
          <a:xfrm>
            <a:off x="13144500" y="1619402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SECTION · 08 OF 08</a:t>
            </a:r>
            <a:endParaRPr lang="en-US" sz="975" dirty="0"/>
          </a:p>
        </p:txBody>
      </p:sp>
      <p:sp>
        <p:nvSpPr>
          <p:cNvPr id="11" name="Text 5"/>
          <p:cNvSpPr txBox="1"/>
          <p:nvPr/>
        </p:nvSpPr>
        <p:spPr>
          <a:xfrm>
            <a:off x="13144500" y="1914754"/>
            <a:ext cx="4572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2E33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Rs · 비아 Rc · 라인간 누설 · TDDB Vbd · 비저항을 wafer × metric 으로 보고한다. 도식은 두지 않았다.</a:t>
            </a:r>
            <a:endParaRPr lang="en-US" sz="1575" dirty="0"/>
          </a:p>
        </p:txBody>
      </p:sp>
      <p:sp>
        <p:nvSpPr>
          <p:cNvPr id="12" name="Text 6"/>
          <p:cNvSpPr txBox="1"/>
          <p:nvPr/>
        </p:nvSpPr>
        <p:spPr>
          <a:xfrm>
            <a:off x="761695" y="2667305"/>
            <a:ext cx="1676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ELECTRICAL · wafer-mean (5 sites / wafer, dummy)</a:t>
            </a:r>
            <a:endParaRPr lang="en-US" sz="975" dirty="0"/>
          </a:p>
        </p:txBody>
      </p:sp>
      <p:sp>
        <p:nvSpPr>
          <p:cNvPr id="13" name="Shape 7"/>
          <p:cNvSpPr/>
          <p:nvPr/>
        </p:nvSpPr>
        <p:spPr>
          <a:xfrm>
            <a:off x="761695" y="3448202"/>
            <a:ext cx="16763695" cy="19202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61695" y="2962656"/>
            <a:ext cx="3972154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METRIC (unit)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729277" y="2962656"/>
            <a:ext cx="5410505" cy="504749"/>
          </a:xfrm>
          <a:prstGeom prst="rect">
            <a:avLst/>
          </a:prstGeom>
          <a:solidFill>
            <a:srgbClr val="E8EEEF"/>
          </a:solidFill>
          <a:ln/>
        </p:spPr>
      </p:sp>
      <p:sp>
        <p:nvSpPr>
          <p:cNvPr id="16" name="Shape 10"/>
          <p:cNvSpPr/>
          <p:nvPr/>
        </p:nvSpPr>
        <p:spPr>
          <a:xfrm>
            <a:off x="4729277" y="2962656"/>
            <a:ext cx="9144" cy="504749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8646566" y="2962656"/>
            <a:ext cx="149321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01600" rIns="177800" bIns="10160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ARM A · High-NA 0.55 NA</a:t>
            </a:r>
            <a:endParaRPr lang="en-US" sz="975" dirty="0"/>
          </a:p>
        </p:txBody>
      </p:sp>
      <p:sp>
        <p:nvSpPr>
          <p:cNvPr id="18" name="Shape 12"/>
          <p:cNvSpPr/>
          <p:nvPr/>
        </p:nvSpPr>
        <p:spPr>
          <a:xfrm>
            <a:off x="10138867" y="2962656"/>
            <a:ext cx="5429707" cy="504749"/>
          </a:xfrm>
          <a:prstGeom prst="rect">
            <a:avLst/>
          </a:prstGeom>
          <a:solidFill>
            <a:srgbClr val="F4E7D6"/>
          </a:solidFill>
          <a:ln/>
        </p:spPr>
      </p:sp>
      <p:sp>
        <p:nvSpPr>
          <p:cNvPr id="19" name="Shape 13"/>
          <p:cNvSpPr/>
          <p:nvPr/>
        </p:nvSpPr>
        <p:spPr>
          <a:xfrm>
            <a:off x="10138867" y="2962656"/>
            <a:ext cx="9144" cy="504749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4237208" y="2962656"/>
            <a:ext cx="1331366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01600" rIns="177800" bIns="10160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ARM B · 0.33 NA SADP</a:t>
            </a:r>
            <a:endParaRPr lang="en-US" sz="975" dirty="0"/>
          </a:p>
        </p:txBody>
      </p:sp>
      <p:sp>
        <p:nvSpPr>
          <p:cNvPr id="21" name="Shape 15"/>
          <p:cNvSpPr/>
          <p:nvPr/>
        </p:nvSpPr>
        <p:spPr>
          <a:xfrm>
            <a:off x="15559430" y="2962656"/>
            <a:ext cx="9144" cy="504749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5740482" y="2962656"/>
            <a:ext cx="179131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139700" rIns="177800" bIns="1397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61695" y="3810305"/>
            <a:ext cx="16763695" cy="19202"/>
          </a:xfrm>
          <a:prstGeom prst="rect">
            <a:avLst/>
          </a:prstGeom>
          <a:solidFill>
            <a:srgbClr val="181C26"/>
          </a:solidFill>
          <a:ln w="12700">
            <a:solidFill>
              <a:srgbClr val="181C26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729277" y="3467405"/>
            <a:ext cx="1800454" cy="362102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76200" rIns="17780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W01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6528816" y="3467405"/>
            <a:ext cx="1800454" cy="362102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76200" rIns="17780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W02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328355" y="3467405"/>
            <a:ext cx="1819656" cy="362102"/>
          </a:xfrm>
          <a:prstGeom prst="rect">
            <a:avLst/>
          </a:prstGeom>
          <a:solidFill>
            <a:srgbClr val="F0F5F6"/>
          </a:solidFill>
          <a:ln/>
        </p:spPr>
      </p:sp>
      <p:sp>
        <p:nvSpPr>
          <p:cNvPr id="27" name="Shape 21"/>
          <p:cNvSpPr/>
          <p:nvPr/>
        </p:nvSpPr>
        <p:spPr>
          <a:xfrm>
            <a:off x="10138867" y="3467405"/>
            <a:ext cx="9144" cy="362102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328355" y="3467405"/>
            <a:ext cx="16386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76200" rIns="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W03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10138867" y="3467405"/>
            <a:ext cx="1819656" cy="362102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76200" rIns="17780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11948465" y="3467405"/>
            <a:ext cx="1800454" cy="362102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76200" rIns="17780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W05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13748004" y="3467405"/>
            <a:ext cx="1819656" cy="362102"/>
          </a:xfrm>
          <a:prstGeom prst="rect">
            <a:avLst/>
          </a:prstGeom>
          <a:solidFill>
            <a:srgbClr val="F8EEE0"/>
          </a:solidFill>
          <a:ln/>
        </p:spPr>
      </p:sp>
      <p:sp>
        <p:nvSpPr>
          <p:cNvPr id="32" name="Shape 26"/>
          <p:cNvSpPr/>
          <p:nvPr/>
        </p:nvSpPr>
        <p:spPr>
          <a:xfrm>
            <a:off x="15558516" y="3467405"/>
            <a:ext cx="9144" cy="362102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3748004" y="3467405"/>
            <a:ext cx="1638605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76200" rIns="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W06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61695" y="4553712"/>
            <a:ext cx="16763695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933602" y="3972154"/>
            <a:ext cx="3629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Rs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933602" y="4257446"/>
            <a:ext cx="36292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Ω / sq · 18 nm hp · 30 µm length</a:t>
            </a:r>
            <a:endParaRPr lang="en-US" sz="975" dirty="0"/>
          </a:p>
        </p:txBody>
      </p:sp>
      <p:sp>
        <p:nvSpPr>
          <p:cNvPr id="37" name="Text 31"/>
          <p:cNvSpPr txBox="1"/>
          <p:nvPr/>
        </p:nvSpPr>
        <p:spPr>
          <a:xfrm>
            <a:off x="4729277" y="3829507"/>
            <a:ext cx="1800454" cy="734263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5.42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6528816" y="3829507"/>
            <a:ext cx="1800454" cy="734263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6B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5.38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8328355" y="3829507"/>
            <a:ext cx="1819656" cy="733349"/>
          </a:xfrm>
          <a:prstGeom prst="rect">
            <a:avLst/>
          </a:prstGeom>
          <a:solidFill>
            <a:srgbClr val="F0F5F6"/>
          </a:solidFill>
          <a:ln/>
        </p:spPr>
      </p:sp>
      <p:sp>
        <p:nvSpPr>
          <p:cNvPr id="40" name="Shape 34"/>
          <p:cNvSpPr/>
          <p:nvPr/>
        </p:nvSpPr>
        <p:spPr>
          <a:xfrm>
            <a:off x="10138867" y="3829507"/>
            <a:ext cx="9144" cy="733349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8328355" y="3829507"/>
            <a:ext cx="1638605" cy="7342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5.51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138867" y="3829507"/>
            <a:ext cx="1819656" cy="734263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5.78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11948465" y="3829507"/>
            <a:ext cx="1800454" cy="734263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2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5.94</a:t>
            </a:r>
            <a:endParaRPr lang="en-US" sz="1500" dirty="0"/>
          </a:p>
        </p:txBody>
      </p:sp>
      <p:sp>
        <p:nvSpPr>
          <p:cNvPr id="44" name="Shape 38"/>
          <p:cNvSpPr/>
          <p:nvPr/>
        </p:nvSpPr>
        <p:spPr>
          <a:xfrm>
            <a:off x="13748004" y="3829507"/>
            <a:ext cx="1819656" cy="733349"/>
          </a:xfrm>
          <a:prstGeom prst="rect">
            <a:avLst/>
          </a:prstGeom>
          <a:solidFill>
            <a:srgbClr val="F8EEE0"/>
          </a:solidFill>
          <a:ln/>
        </p:spPr>
      </p:sp>
      <p:sp>
        <p:nvSpPr>
          <p:cNvPr id="45" name="Shape 39"/>
          <p:cNvSpPr/>
          <p:nvPr/>
        </p:nvSpPr>
        <p:spPr>
          <a:xfrm>
            <a:off x="15558516" y="3829507"/>
            <a:ext cx="9144" cy="733349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3748004" y="3829507"/>
            <a:ext cx="1638605" cy="7342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5.83</a:t>
            </a:r>
            <a:endParaRPr lang="en-US" sz="1500" dirty="0"/>
          </a:p>
        </p:txBody>
      </p:sp>
      <p:sp>
        <p:nvSpPr>
          <p:cNvPr id="47" name="Text 41"/>
          <p:cNvSpPr txBox="1"/>
          <p:nvPr/>
        </p:nvSpPr>
        <p:spPr>
          <a:xfrm>
            <a:off x="15559430" y="3829507"/>
            <a:ext cx="197236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5.6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761695" y="5272430"/>
            <a:ext cx="16763695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933602" y="4695444"/>
            <a:ext cx="3629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비저항 ρ</a:t>
            </a:r>
            <a:endParaRPr lang="en-US" sz="1350" dirty="0"/>
          </a:p>
        </p:txBody>
      </p:sp>
      <p:sp>
        <p:nvSpPr>
          <p:cNvPr id="50" name="Text 44"/>
          <p:cNvSpPr txBox="1"/>
          <p:nvPr/>
        </p:nvSpPr>
        <p:spPr>
          <a:xfrm>
            <a:off x="933602" y="4981651"/>
            <a:ext cx="36292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µΩ · cm · Ru layer</a:t>
            </a:r>
            <a:endParaRPr lang="en-US" sz="975" dirty="0"/>
          </a:p>
        </p:txBody>
      </p:sp>
      <p:sp>
        <p:nvSpPr>
          <p:cNvPr id="51" name="Text 45"/>
          <p:cNvSpPr txBox="1"/>
          <p:nvPr/>
        </p:nvSpPr>
        <p:spPr>
          <a:xfrm>
            <a:off x="4729277" y="4557370"/>
            <a:ext cx="1800454" cy="724205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8.92</a:t>
            </a:r>
            <a:endParaRPr lang="en-US" sz="1500" dirty="0"/>
          </a:p>
        </p:txBody>
      </p:sp>
      <p:sp>
        <p:nvSpPr>
          <p:cNvPr id="52" name="Text 46"/>
          <p:cNvSpPr txBox="1"/>
          <p:nvPr/>
        </p:nvSpPr>
        <p:spPr>
          <a:xfrm>
            <a:off x="6528816" y="4557370"/>
            <a:ext cx="1800454" cy="724205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6B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8.84</a:t>
            </a:r>
            <a:endParaRPr lang="en-US" sz="1500" dirty="0"/>
          </a:p>
        </p:txBody>
      </p:sp>
      <p:sp>
        <p:nvSpPr>
          <p:cNvPr id="53" name="Shape 47"/>
          <p:cNvSpPr/>
          <p:nvPr/>
        </p:nvSpPr>
        <p:spPr>
          <a:xfrm>
            <a:off x="8328355" y="4557370"/>
            <a:ext cx="1819656" cy="724205"/>
          </a:xfrm>
          <a:prstGeom prst="rect">
            <a:avLst/>
          </a:prstGeom>
          <a:solidFill>
            <a:srgbClr val="F0F5F6"/>
          </a:solidFill>
          <a:ln/>
        </p:spPr>
      </p:sp>
      <p:sp>
        <p:nvSpPr>
          <p:cNvPr id="54" name="Shape 48"/>
          <p:cNvSpPr/>
          <p:nvPr/>
        </p:nvSpPr>
        <p:spPr>
          <a:xfrm>
            <a:off x="10138867" y="4557370"/>
            <a:ext cx="9144" cy="724205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8328355" y="4557370"/>
            <a:ext cx="16386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8.95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10138867" y="4557370"/>
            <a:ext cx="1819656" cy="724205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9.31</a:t>
            </a:r>
            <a:endParaRPr lang="en-US" sz="1500" dirty="0"/>
          </a:p>
        </p:txBody>
      </p:sp>
      <p:sp>
        <p:nvSpPr>
          <p:cNvPr id="57" name="Text 51"/>
          <p:cNvSpPr txBox="1"/>
          <p:nvPr/>
        </p:nvSpPr>
        <p:spPr>
          <a:xfrm>
            <a:off x="11948465" y="4557370"/>
            <a:ext cx="1800454" cy="724205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2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9.62</a:t>
            </a:r>
            <a:endParaRPr lang="en-US" sz="1500" dirty="0"/>
          </a:p>
        </p:txBody>
      </p:sp>
      <p:sp>
        <p:nvSpPr>
          <p:cNvPr id="58" name="Shape 52"/>
          <p:cNvSpPr/>
          <p:nvPr/>
        </p:nvSpPr>
        <p:spPr>
          <a:xfrm>
            <a:off x="13748004" y="4557370"/>
            <a:ext cx="1819656" cy="724205"/>
          </a:xfrm>
          <a:prstGeom prst="rect">
            <a:avLst/>
          </a:prstGeom>
          <a:solidFill>
            <a:srgbClr val="F8EEE0"/>
          </a:solidFill>
          <a:ln/>
        </p:spPr>
      </p:sp>
      <p:sp>
        <p:nvSpPr>
          <p:cNvPr id="59" name="Shape 53"/>
          <p:cNvSpPr/>
          <p:nvPr/>
        </p:nvSpPr>
        <p:spPr>
          <a:xfrm>
            <a:off x="15558516" y="4557370"/>
            <a:ext cx="9144" cy="724205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13748004" y="4557370"/>
            <a:ext cx="16386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9.45</a:t>
            </a:r>
            <a:endParaRPr lang="en-US" sz="1500" dirty="0"/>
          </a:p>
        </p:txBody>
      </p:sp>
      <p:sp>
        <p:nvSpPr>
          <p:cNvPr id="61" name="Text 55"/>
          <p:cNvSpPr txBox="1"/>
          <p:nvPr/>
        </p:nvSpPr>
        <p:spPr>
          <a:xfrm>
            <a:off x="15559430" y="4557370"/>
            <a:ext cx="197236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9.1</a:t>
            </a:r>
            <a:endParaRPr lang="en-US" sz="1200" dirty="0"/>
          </a:p>
        </p:txBody>
      </p:sp>
      <p:sp>
        <p:nvSpPr>
          <p:cNvPr id="62" name="Shape 56"/>
          <p:cNvSpPr/>
          <p:nvPr/>
        </p:nvSpPr>
        <p:spPr>
          <a:xfrm>
            <a:off x="761695" y="5996635"/>
            <a:ext cx="16763695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33602" y="5419649"/>
            <a:ext cx="3629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비아 Rc (via-0 → M1)</a:t>
            </a:r>
            <a:endParaRPr lang="en-US" sz="1350" dirty="0"/>
          </a:p>
        </p:txBody>
      </p:sp>
      <p:sp>
        <p:nvSpPr>
          <p:cNvPr id="64" name="Text 58"/>
          <p:cNvSpPr txBox="1"/>
          <p:nvPr/>
        </p:nvSpPr>
        <p:spPr>
          <a:xfrm>
            <a:off x="933602" y="5705856"/>
            <a:ext cx="36292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Ω / via · 49-pt chain mean</a:t>
            </a:r>
            <a:endParaRPr lang="en-US" sz="975" dirty="0"/>
          </a:p>
        </p:txBody>
      </p:sp>
      <p:sp>
        <p:nvSpPr>
          <p:cNvPr id="65" name="Text 59"/>
          <p:cNvSpPr txBox="1"/>
          <p:nvPr/>
        </p:nvSpPr>
        <p:spPr>
          <a:xfrm>
            <a:off x="4729277" y="5281574"/>
            <a:ext cx="1800454" cy="724205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11.4</a:t>
            </a:r>
            <a:endParaRPr lang="en-US" sz="1500" dirty="0"/>
          </a:p>
        </p:txBody>
      </p:sp>
      <p:sp>
        <p:nvSpPr>
          <p:cNvPr id="66" name="Text 60"/>
          <p:cNvSpPr txBox="1"/>
          <p:nvPr/>
        </p:nvSpPr>
        <p:spPr>
          <a:xfrm>
            <a:off x="6528816" y="5281574"/>
            <a:ext cx="1800454" cy="724205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6B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10.9</a:t>
            </a:r>
            <a:endParaRPr lang="en-US" sz="1500" dirty="0"/>
          </a:p>
        </p:txBody>
      </p:sp>
      <p:sp>
        <p:nvSpPr>
          <p:cNvPr id="67" name="Shape 61"/>
          <p:cNvSpPr/>
          <p:nvPr/>
        </p:nvSpPr>
        <p:spPr>
          <a:xfrm>
            <a:off x="8328355" y="5281574"/>
            <a:ext cx="1819656" cy="724205"/>
          </a:xfrm>
          <a:prstGeom prst="rect">
            <a:avLst/>
          </a:prstGeom>
          <a:solidFill>
            <a:srgbClr val="F0F5F6"/>
          </a:solidFill>
          <a:ln/>
        </p:spPr>
      </p:sp>
      <p:sp>
        <p:nvSpPr>
          <p:cNvPr id="68" name="Shape 62"/>
          <p:cNvSpPr/>
          <p:nvPr/>
        </p:nvSpPr>
        <p:spPr>
          <a:xfrm>
            <a:off x="10138867" y="5281574"/>
            <a:ext cx="9144" cy="724205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8328355" y="5281574"/>
            <a:ext cx="16386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12.0</a:t>
            </a:r>
            <a:endParaRPr lang="en-US" sz="1500" dirty="0"/>
          </a:p>
        </p:txBody>
      </p:sp>
      <p:sp>
        <p:nvSpPr>
          <p:cNvPr id="70" name="Text 64"/>
          <p:cNvSpPr txBox="1"/>
          <p:nvPr/>
        </p:nvSpPr>
        <p:spPr>
          <a:xfrm>
            <a:off x="10138867" y="5281574"/>
            <a:ext cx="1819656" cy="724205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14.6</a:t>
            </a:r>
            <a:endParaRPr lang="en-US" sz="1500" dirty="0"/>
          </a:p>
        </p:txBody>
      </p:sp>
      <p:sp>
        <p:nvSpPr>
          <p:cNvPr id="71" name="Text 65"/>
          <p:cNvSpPr txBox="1"/>
          <p:nvPr/>
        </p:nvSpPr>
        <p:spPr>
          <a:xfrm>
            <a:off x="11948465" y="5281574"/>
            <a:ext cx="1800454" cy="724205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2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16.2</a:t>
            </a:r>
            <a:endParaRPr lang="en-US" sz="1500" dirty="0"/>
          </a:p>
        </p:txBody>
      </p:sp>
      <p:sp>
        <p:nvSpPr>
          <p:cNvPr id="72" name="Shape 66"/>
          <p:cNvSpPr/>
          <p:nvPr/>
        </p:nvSpPr>
        <p:spPr>
          <a:xfrm>
            <a:off x="13748004" y="5281574"/>
            <a:ext cx="1819656" cy="724205"/>
          </a:xfrm>
          <a:prstGeom prst="rect">
            <a:avLst/>
          </a:prstGeom>
          <a:solidFill>
            <a:srgbClr val="F8EEE0"/>
          </a:solidFill>
          <a:ln/>
        </p:spPr>
      </p:sp>
      <p:sp>
        <p:nvSpPr>
          <p:cNvPr id="73" name="Shape 67"/>
          <p:cNvSpPr/>
          <p:nvPr/>
        </p:nvSpPr>
        <p:spPr>
          <a:xfrm>
            <a:off x="15558516" y="5281574"/>
            <a:ext cx="9144" cy="724205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13748004" y="5281574"/>
            <a:ext cx="1638605" cy="724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15.0</a:t>
            </a:r>
            <a:endParaRPr lang="en-US" sz="1500" dirty="0"/>
          </a:p>
        </p:txBody>
      </p:sp>
      <p:sp>
        <p:nvSpPr>
          <p:cNvPr id="75" name="Text 69"/>
          <p:cNvSpPr txBox="1"/>
          <p:nvPr/>
        </p:nvSpPr>
        <p:spPr>
          <a:xfrm>
            <a:off x="15559430" y="5281574"/>
            <a:ext cx="197236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13</a:t>
            </a:r>
            <a:endParaRPr lang="en-US" sz="1200" dirty="0"/>
          </a:p>
        </p:txBody>
      </p:sp>
      <p:sp>
        <p:nvSpPr>
          <p:cNvPr id="76" name="Shape 70"/>
          <p:cNvSpPr/>
          <p:nvPr/>
        </p:nvSpPr>
        <p:spPr>
          <a:xfrm>
            <a:off x="761695" y="6749186"/>
            <a:ext cx="16763695" cy="9144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933602" y="6143854"/>
            <a:ext cx="36292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라인간 누설</a:t>
            </a:r>
            <a:endParaRPr lang="en-US" sz="1350" dirty="0"/>
          </a:p>
        </p:txBody>
      </p:sp>
      <p:sp>
        <p:nvSpPr>
          <p:cNvPr id="78" name="Text 72"/>
          <p:cNvSpPr txBox="1"/>
          <p:nvPr/>
        </p:nvSpPr>
        <p:spPr>
          <a:xfrm>
            <a:off x="933602" y="6429146"/>
            <a:ext cx="36292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 / µm @ V</a:t>
            </a:r>
            <a:pPr algn="l" indent="0" marL="0">
              <a:buNone/>
            </a:pPr>
            <a:r>
              <a:rPr lang="en-US" sz="812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dd</a:t>
            </a:r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0.9 V</a:t>
            </a:r>
            <a:endParaRPr lang="en-US" sz="975" dirty="0"/>
          </a:p>
        </p:txBody>
      </p:sp>
      <p:sp>
        <p:nvSpPr>
          <p:cNvPr id="79" name="Text 73"/>
          <p:cNvSpPr txBox="1"/>
          <p:nvPr/>
        </p:nvSpPr>
        <p:spPr>
          <a:xfrm>
            <a:off x="4729277" y="6005779"/>
            <a:ext cx="1800454" cy="752551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0.55</a:t>
            </a:r>
            <a:endParaRPr lang="en-US" sz="1500" dirty="0"/>
          </a:p>
        </p:txBody>
      </p:sp>
      <p:sp>
        <p:nvSpPr>
          <p:cNvPr id="80" name="Text 74"/>
          <p:cNvSpPr txBox="1"/>
          <p:nvPr/>
        </p:nvSpPr>
        <p:spPr>
          <a:xfrm>
            <a:off x="6528816" y="6005779"/>
            <a:ext cx="1800454" cy="752551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6B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0.50</a:t>
            </a:r>
            <a:endParaRPr lang="en-US" sz="1500" dirty="0"/>
          </a:p>
        </p:txBody>
      </p:sp>
      <p:sp>
        <p:nvSpPr>
          <p:cNvPr id="81" name="Shape 75"/>
          <p:cNvSpPr/>
          <p:nvPr/>
        </p:nvSpPr>
        <p:spPr>
          <a:xfrm>
            <a:off x="8328355" y="6005779"/>
            <a:ext cx="1819656" cy="752551"/>
          </a:xfrm>
          <a:prstGeom prst="rect">
            <a:avLst/>
          </a:prstGeom>
          <a:solidFill>
            <a:srgbClr val="F0F5F6"/>
          </a:solidFill>
          <a:ln/>
        </p:spPr>
      </p:sp>
      <p:sp>
        <p:nvSpPr>
          <p:cNvPr id="82" name="Shape 76"/>
          <p:cNvSpPr/>
          <p:nvPr/>
        </p:nvSpPr>
        <p:spPr>
          <a:xfrm>
            <a:off x="10138867" y="6005779"/>
            <a:ext cx="9144" cy="752551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8328355" y="6005779"/>
            <a:ext cx="1638605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</a:t>
            </a:r>
            <a:endParaRPr lang="en-US" sz="1500" dirty="0"/>
          </a:p>
        </p:txBody>
      </p:sp>
      <p:sp>
        <p:nvSpPr>
          <p:cNvPr id="84" name="Text 78"/>
          <p:cNvSpPr txBox="1"/>
          <p:nvPr/>
        </p:nvSpPr>
        <p:spPr>
          <a:xfrm>
            <a:off x="10138867" y="6005779"/>
            <a:ext cx="1819656" cy="752551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</a:t>
            </a:r>
            <a:endParaRPr lang="en-US" sz="1500" dirty="0"/>
          </a:p>
        </p:txBody>
      </p:sp>
      <p:sp>
        <p:nvSpPr>
          <p:cNvPr id="85" name="Text 79"/>
          <p:cNvSpPr txBox="1"/>
          <p:nvPr/>
        </p:nvSpPr>
        <p:spPr>
          <a:xfrm>
            <a:off x="11948465" y="6005779"/>
            <a:ext cx="1800454" cy="752551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2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1.18</a:t>
            </a:r>
            <a:endParaRPr lang="en-US" sz="1500" dirty="0"/>
          </a:p>
        </p:txBody>
      </p:sp>
      <p:sp>
        <p:nvSpPr>
          <p:cNvPr id="86" name="Shape 80"/>
          <p:cNvSpPr/>
          <p:nvPr/>
        </p:nvSpPr>
        <p:spPr>
          <a:xfrm>
            <a:off x="13748004" y="6005779"/>
            <a:ext cx="1819656" cy="752551"/>
          </a:xfrm>
          <a:prstGeom prst="rect">
            <a:avLst/>
          </a:prstGeom>
          <a:solidFill>
            <a:srgbClr val="F8EEE0"/>
          </a:solidFill>
          <a:ln/>
        </p:spPr>
      </p:sp>
      <p:sp>
        <p:nvSpPr>
          <p:cNvPr id="87" name="Shape 81"/>
          <p:cNvSpPr/>
          <p:nvPr/>
        </p:nvSpPr>
        <p:spPr>
          <a:xfrm>
            <a:off x="15558516" y="6005779"/>
            <a:ext cx="9144" cy="752551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88" name="Text 82"/>
          <p:cNvSpPr txBox="1"/>
          <p:nvPr/>
        </p:nvSpPr>
        <p:spPr>
          <a:xfrm>
            <a:off x="13748004" y="6005779"/>
            <a:ext cx="1638605" cy="7525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1.04</a:t>
            </a:r>
            <a:endParaRPr lang="en-US" sz="1500" dirty="0"/>
          </a:p>
        </p:txBody>
      </p:sp>
      <p:sp>
        <p:nvSpPr>
          <p:cNvPr id="89" name="Text 83"/>
          <p:cNvSpPr txBox="1"/>
          <p:nvPr/>
        </p:nvSpPr>
        <p:spPr>
          <a:xfrm>
            <a:off x="15559430" y="6005779"/>
            <a:ext cx="197236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≤ 0.7</a:t>
            </a:r>
            <a:endParaRPr lang="en-US" sz="1200" dirty="0"/>
          </a:p>
        </p:txBody>
      </p:sp>
      <p:sp>
        <p:nvSpPr>
          <p:cNvPr id="90" name="Text 84"/>
          <p:cNvSpPr txBox="1"/>
          <p:nvPr/>
        </p:nvSpPr>
        <p:spPr>
          <a:xfrm>
            <a:off x="933602" y="6891833"/>
            <a:ext cx="36292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TDDB V</a:t>
            </a:r>
            <a:pPr algn="l" indent="0" marL="0">
              <a:buNone/>
            </a:pPr>
            <a:r>
              <a:rPr lang="en-US" sz="1125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bd</a:t>
            </a:r>
            <a:pPr algn="l" indent="0" marL="0">
              <a:buNone/>
            </a:pPr>
            <a:r>
              <a:rPr lang="en-US" sz="1350" b="1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median</a:t>
            </a:r>
            <a:endParaRPr lang="en-US" sz="1350" dirty="0"/>
          </a:p>
        </p:txBody>
      </p:sp>
      <p:sp>
        <p:nvSpPr>
          <p:cNvPr id="91" name="Text 85"/>
          <p:cNvSpPr txBox="1"/>
          <p:nvPr/>
        </p:nvSpPr>
        <p:spPr>
          <a:xfrm>
            <a:off x="933602" y="7211873"/>
            <a:ext cx="362925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 · Weibull 63.2 %</a:t>
            </a:r>
            <a:endParaRPr lang="en-US" sz="975" dirty="0"/>
          </a:p>
        </p:txBody>
      </p:sp>
      <p:sp>
        <p:nvSpPr>
          <p:cNvPr id="92" name="Text 86"/>
          <p:cNvSpPr txBox="1"/>
          <p:nvPr/>
        </p:nvSpPr>
        <p:spPr>
          <a:xfrm>
            <a:off x="4729277" y="6753758"/>
            <a:ext cx="1800454" cy="762610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6B4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5.95</a:t>
            </a:r>
            <a:endParaRPr lang="en-US" sz="1500" dirty="0"/>
          </a:p>
        </p:txBody>
      </p:sp>
      <p:sp>
        <p:nvSpPr>
          <p:cNvPr id="93" name="Text 87"/>
          <p:cNvSpPr txBox="1"/>
          <p:nvPr/>
        </p:nvSpPr>
        <p:spPr>
          <a:xfrm>
            <a:off x="6528816" y="6753758"/>
            <a:ext cx="1800454" cy="762610"/>
          </a:xfrm>
          <a:prstGeom prst="rect">
            <a:avLst/>
          </a:prstGeom>
          <a:solidFill>
            <a:srgbClr val="F0F5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5.98</a:t>
            </a:r>
            <a:endParaRPr lang="en-US" sz="1500" dirty="0"/>
          </a:p>
        </p:txBody>
      </p:sp>
      <p:sp>
        <p:nvSpPr>
          <p:cNvPr id="94" name="Shape 88"/>
          <p:cNvSpPr/>
          <p:nvPr/>
        </p:nvSpPr>
        <p:spPr>
          <a:xfrm>
            <a:off x="8328355" y="6753758"/>
            <a:ext cx="1819656" cy="761695"/>
          </a:xfrm>
          <a:prstGeom prst="rect">
            <a:avLst/>
          </a:prstGeom>
          <a:solidFill>
            <a:srgbClr val="F0F5F6"/>
          </a:solidFill>
          <a:ln/>
        </p:spPr>
      </p:sp>
      <p:sp>
        <p:nvSpPr>
          <p:cNvPr id="95" name="Shape 89"/>
          <p:cNvSpPr/>
          <p:nvPr/>
        </p:nvSpPr>
        <p:spPr>
          <a:xfrm>
            <a:off x="10138867" y="6753758"/>
            <a:ext cx="9144" cy="761695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96" name="Text 90"/>
          <p:cNvSpPr txBox="1"/>
          <p:nvPr/>
        </p:nvSpPr>
        <p:spPr>
          <a:xfrm>
            <a:off x="8328355" y="6753758"/>
            <a:ext cx="1638605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5.81</a:t>
            </a:r>
            <a:endParaRPr lang="en-US" sz="1500" dirty="0"/>
          </a:p>
        </p:txBody>
      </p:sp>
      <p:sp>
        <p:nvSpPr>
          <p:cNvPr id="97" name="Text 91"/>
          <p:cNvSpPr txBox="1"/>
          <p:nvPr/>
        </p:nvSpPr>
        <p:spPr>
          <a:xfrm>
            <a:off x="10138867" y="6753758"/>
            <a:ext cx="1819656" cy="762610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5.36</a:t>
            </a:r>
            <a:endParaRPr lang="en-US" sz="1500" dirty="0"/>
          </a:p>
        </p:txBody>
      </p:sp>
      <p:sp>
        <p:nvSpPr>
          <p:cNvPr id="98" name="Text 92"/>
          <p:cNvSpPr txBox="1"/>
          <p:nvPr/>
        </p:nvSpPr>
        <p:spPr>
          <a:xfrm>
            <a:off x="11948465" y="6753758"/>
            <a:ext cx="1800454" cy="762610"/>
          </a:xfrm>
          <a:prstGeom prst="rect">
            <a:avLst/>
          </a:prstGeom>
          <a:solidFill>
            <a:srgbClr val="F8EEE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177800" bIns="13970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5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5.04</a:t>
            </a:r>
            <a:endParaRPr lang="en-US" sz="1500" dirty="0"/>
          </a:p>
        </p:txBody>
      </p:sp>
      <p:sp>
        <p:nvSpPr>
          <p:cNvPr id="99" name="Shape 93"/>
          <p:cNvSpPr/>
          <p:nvPr/>
        </p:nvSpPr>
        <p:spPr>
          <a:xfrm>
            <a:off x="13748004" y="6753758"/>
            <a:ext cx="1819656" cy="761695"/>
          </a:xfrm>
          <a:prstGeom prst="rect">
            <a:avLst/>
          </a:prstGeom>
          <a:solidFill>
            <a:srgbClr val="F8EEE0"/>
          </a:solidFill>
          <a:ln/>
        </p:spPr>
      </p:sp>
      <p:sp>
        <p:nvSpPr>
          <p:cNvPr id="100" name="Shape 94"/>
          <p:cNvSpPr/>
          <p:nvPr/>
        </p:nvSpPr>
        <p:spPr>
          <a:xfrm>
            <a:off x="15558516" y="6753758"/>
            <a:ext cx="9144" cy="761695"/>
          </a:xfrm>
          <a:prstGeom prst="rect">
            <a:avLst/>
          </a:prstGeom>
          <a:solidFill>
            <a:srgbClr val="C9C2B1"/>
          </a:solidFill>
          <a:ln w="12700">
            <a:solidFill>
              <a:srgbClr val="C9C2B1">
                <a:alpha val="0"/>
              </a:srgbClr>
            </a:solidFill>
            <a:prstDash val="solid"/>
          </a:ln>
        </p:spPr>
      </p:sp>
      <p:sp>
        <p:nvSpPr>
          <p:cNvPr id="101" name="Text 95"/>
          <p:cNvSpPr txBox="1"/>
          <p:nvPr/>
        </p:nvSpPr>
        <p:spPr>
          <a:xfrm>
            <a:off x="13748004" y="6753758"/>
            <a:ext cx="1638605" cy="7626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39700" rIns="0" bIns="13970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5.21</a:t>
            </a:r>
            <a:endParaRPr lang="en-US" sz="1500" dirty="0"/>
          </a:p>
        </p:txBody>
      </p:sp>
      <p:sp>
        <p:nvSpPr>
          <p:cNvPr id="102" name="Text 96"/>
          <p:cNvSpPr txBox="1"/>
          <p:nvPr/>
        </p:nvSpPr>
        <p:spPr>
          <a:xfrm>
            <a:off x="15559430" y="6753758"/>
            <a:ext cx="197236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 5.5</a:t>
            </a:r>
            <a:endParaRPr lang="en-US" sz="1200" dirty="0"/>
          </a:p>
        </p:txBody>
      </p:sp>
      <p:sp>
        <p:nvSpPr>
          <p:cNvPr id="103" name="Shape 97"/>
          <p:cNvSpPr/>
          <p:nvPr/>
        </p:nvSpPr>
        <p:spPr>
          <a:xfrm>
            <a:off x="8293608" y="3172054"/>
            <a:ext cx="95098" cy="95098"/>
          </a:xfrm>
          <a:prstGeom prst="ellipse">
            <a:avLst/>
          </a:prstGeom>
          <a:solidFill>
            <a:srgbClr val="1F5E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98"/>
          <p:cNvSpPr/>
          <p:nvPr/>
        </p:nvSpPr>
        <p:spPr>
          <a:xfrm>
            <a:off x="13884250" y="3172054"/>
            <a:ext cx="95098" cy="95098"/>
          </a:xfrm>
          <a:prstGeom prst="ellipse">
            <a:avLst/>
          </a:prstGeom>
          <a:solidFill>
            <a:srgbClr val="B053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99"/>
          <p:cNvSpPr/>
          <p:nvPr/>
        </p:nvSpPr>
        <p:spPr>
          <a:xfrm>
            <a:off x="761695" y="8001000"/>
            <a:ext cx="4067251" cy="1086307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Text 100"/>
          <p:cNvSpPr txBox="1"/>
          <p:nvPr/>
        </p:nvSpPr>
        <p:spPr>
          <a:xfrm>
            <a:off x="914400" y="8134502"/>
            <a:ext cx="37627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RS B/A ratio</a:t>
            </a:r>
            <a:endParaRPr lang="en-US" sz="825" dirty="0"/>
          </a:p>
        </p:txBody>
      </p:sp>
      <p:sp>
        <p:nvSpPr>
          <p:cNvPr id="107" name="Text 101"/>
          <p:cNvSpPr txBox="1"/>
          <p:nvPr/>
        </p:nvSpPr>
        <p:spPr>
          <a:xfrm>
            <a:off x="914400" y="8324698"/>
            <a:ext cx="3762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81C2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1.07</a:t>
            </a:r>
            <a:endParaRPr lang="en-US" sz="1200" dirty="0"/>
          </a:p>
        </p:txBody>
      </p:sp>
      <p:sp>
        <p:nvSpPr>
          <p:cNvPr id="108" name="Text 102"/>
          <p:cNvSpPr txBox="1"/>
          <p:nvPr/>
        </p:nvSpPr>
        <p:spPr>
          <a:xfrm>
            <a:off x="914400" y="8734349"/>
            <a:ext cx="37627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비교</a:t>
            </a:r>
            <a:endParaRPr lang="en-US" sz="975" dirty="0"/>
          </a:p>
        </p:txBody>
      </p:sp>
      <p:sp>
        <p:nvSpPr>
          <p:cNvPr id="109" name="Shape 103"/>
          <p:cNvSpPr/>
          <p:nvPr/>
        </p:nvSpPr>
        <p:spPr>
          <a:xfrm>
            <a:off x="4996282" y="8001000"/>
            <a:ext cx="4067251" cy="1086307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Text 104"/>
          <p:cNvSpPr txBox="1"/>
          <p:nvPr/>
        </p:nvSpPr>
        <p:spPr>
          <a:xfrm>
            <a:off x="5148072" y="8134502"/>
            <a:ext cx="37627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Rc B/A ratio</a:t>
            </a:r>
            <a:endParaRPr lang="en-US" sz="825" dirty="0"/>
          </a:p>
        </p:txBody>
      </p:sp>
      <p:sp>
        <p:nvSpPr>
          <p:cNvPr id="111" name="Text 105"/>
          <p:cNvSpPr txBox="1"/>
          <p:nvPr/>
        </p:nvSpPr>
        <p:spPr>
          <a:xfrm>
            <a:off x="5148072" y="8324698"/>
            <a:ext cx="3762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531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1.32</a:t>
            </a:r>
            <a:endParaRPr lang="en-US" sz="1200" dirty="0"/>
          </a:p>
        </p:txBody>
      </p:sp>
      <p:sp>
        <p:nvSpPr>
          <p:cNvPr id="112" name="Text 106"/>
          <p:cNvSpPr txBox="1"/>
          <p:nvPr/>
        </p:nvSpPr>
        <p:spPr>
          <a:xfrm>
            <a:off x="5148072" y="8734349"/>
            <a:ext cx="37627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FSA-via 정렬 영향?</a:t>
            </a:r>
            <a:endParaRPr lang="en-US" sz="975" dirty="0"/>
          </a:p>
        </p:txBody>
      </p:sp>
      <p:sp>
        <p:nvSpPr>
          <p:cNvPr id="113" name="Shape 107"/>
          <p:cNvSpPr/>
          <p:nvPr/>
        </p:nvSpPr>
        <p:spPr>
          <a:xfrm>
            <a:off x="9229954" y="8001000"/>
            <a:ext cx="4067251" cy="1086307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Text 108"/>
          <p:cNvSpPr txBox="1"/>
          <p:nvPr/>
        </p:nvSpPr>
        <p:spPr>
          <a:xfrm>
            <a:off x="9381744" y="8134502"/>
            <a:ext cx="37627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누설 B/A ratio</a:t>
            </a:r>
            <a:endParaRPr lang="en-US" sz="825" dirty="0"/>
          </a:p>
        </p:txBody>
      </p:sp>
      <p:sp>
        <p:nvSpPr>
          <p:cNvPr id="115" name="Text 109"/>
          <p:cNvSpPr txBox="1"/>
          <p:nvPr/>
        </p:nvSpPr>
        <p:spPr>
          <a:xfrm>
            <a:off x="9381744" y="8343900"/>
            <a:ext cx="3762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A2E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× 1.90</a:t>
            </a:r>
            <a:endParaRPr lang="en-US" sz="1200" dirty="0"/>
          </a:p>
        </p:txBody>
      </p:sp>
      <p:sp>
        <p:nvSpPr>
          <p:cNvPr id="116" name="Text 110"/>
          <p:cNvSpPr txBox="1"/>
          <p:nvPr/>
        </p:nvSpPr>
        <p:spPr>
          <a:xfrm>
            <a:off x="9381744" y="8753551"/>
            <a:ext cx="37627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lot 가설</a:t>
            </a:r>
            <a:endParaRPr lang="en-US" sz="975" dirty="0"/>
          </a:p>
        </p:txBody>
      </p:sp>
      <p:sp>
        <p:nvSpPr>
          <p:cNvPr id="117" name="Shape 111"/>
          <p:cNvSpPr/>
          <p:nvPr/>
        </p:nvSpPr>
        <p:spPr>
          <a:xfrm>
            <a:off x="13463626" y="8001000"/>
            <a:ext cx="4067251" cy="1086307"/>
          </a:xfrm>
          <a:prstGeom prst="rect">
            <a:avLst/>
          </a:prstGeom>
          <a:solidFill>
            <a:srgbClr val="F7F2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Text 112"/>
          <p:cNvSpPr txBox="1"/>
          <p:nvPr/>
        </p:nvSpPr>
        <p:spPr>
          <a:xfrm>
            <a:off x="13616330" y="8134502"/>
            <a:ext cx="3762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pPr algn="l" indent="0" marL="0">
              <a:buNone/>
            </a:pPr>
            <a:r>
              <a:rPr lang="en-US" sz="800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bd</a:t>
            </a:r>
            <a:pPr algn="l" indent="0" marL="0">
              <a:buNone/>
            </a:pPr>
            <a:r>
              <a:rPr lang="en-US" sz="825" spc="165" kern="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B − A</a:t>
            </a:r>
            <a:endParaRPr lang="en-US" sz="825" dirty="0"/>
          </a:p>
        </p:txBody>
      </p:sp>
      <p:sp>
        <p:nvSpPr>
          <p:cNvPr id="119" name="Text 113"/>
          <p:cNvSpPr txBox="1"/>
          <p:nvPr/>
        </p:nvSpPr>
        <p:spPr>
          <a:xfrm>
            <a:off x="13616330" y="8354873"/>
            <a:ext cx="37627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5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− 0.76</a:t>
            </a:r>
            <a:pPr algn="l" indent="0" marL="0">
              <a:buNone/>
            </a:pPr>
            <a:r>
              <a:rPr lang="en-US" sz="1200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endParaRPr lang="en-US" sz="1200" dirty="0"/>
          </a:p>
        </p:txBody>
      </p:sp>
      <p:sp>
        <p:nvSpPr>
          <p:cNvPr id="120" name="Text 114"/>
          <p:cNvSpPr txBox="1"/>
          <p:nvPr/>
        </p:nvSpPr>
        <p:spPr>
          <a:xfrm>
            <a:off x="13616330" y="8764524"/>
            <a:ext cx="37627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Arm B 한계 초과 wafer 존재</a:t>
            </a:r>
            <a:endParaRPr lang="en-US" sz="975" dirty="0"/>
          </a:p>
        </p:txBody>
      </p:sp>
      <p:sp>
        <p:nvSpPr>
          <p:cNvPr id="121" name="Text 115"/>
          <p:cNvSpPr txBox="1"/>
          <p:nvPr/>
        </p:nvSpPr>
        <p:spPr>
          <a:xfrm>
            <a:off x="761695" y="9525305"/>
            <a:ext cx="16764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8A64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TAKEAWAY</a:t>
            </a:r>
            <a:pPr algn="l" indent="0" marL="0">
              <a:buNone/>
            </a:pPr>
            <a:r>
              <a:rPr lang="en-US" sz="1350" dirty="0">
                <a:solidFill>
                  <a:srgbClr val="181C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누설과 Rc 에서 분기 간 차이 가장 두드러짐 — Arm B 다중 패터닝 누적 cost 가 전기적 spec 에 직접 반영된 결과 (dummy).</a:t>
            </a:r>
            <a:endParaRPr lang="en-US" sz="1200" dirty="0"/>
          </a:p>
        </p:txBody>
      </p:sp>
      <p:sp>
        <p:nvSpPr>
          <p:cNvPr id="122" name="Text 116"/>
          <p:cNvSpPr txBox="1"/>
          <p:nvPr/>
        </p:nvSpPr>
        <p:spPr>
          <a:xfrm>
            <a:off x="0" y="9924898"/>
            <a:ext cx="1828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70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※ 내부 테스트용 더미(가상) 데이터 · 본 문서는 의사결정용이 아님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2026-10-04T07:25:43Z</dcterms:created>
  <dcterms:modified xsi:type="dcterms:W3CDTF">2026-10-04T07:25:43Z</dcterms:modified>
</cp:coreProperties>
</file>