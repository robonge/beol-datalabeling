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첫 슬라이드는 평가의 두 축 — 정밀도와 전기 손실 — 과 어떤 변수를 고정하고 어떤 변수를 흔드는지 짧게 정리한 오프닝 페이지입니다. 발표할 때 좌측 4개 bullet은 한 줄씩 짚어주시고, 우측 두 카드(단일 평가 축 / 평가 한계)도 짚어주세요. M3 단일 layer라는 한계를 정직하게 못 박아두는 것이 뒷 슬라이드의 데이터 해석에서도 신뢰도를 만듭니다. 결론 슬라이드가 별도로 없다는 점을 미리 언급해두면 청중이 '마지막 페이지가 결론이겠지'라고 기다리지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좌측 표를 한 행씩 짚어주시고, 우측 두 group 카드는 색 코딩만으로도 분리가 읽히게 했습니다. 발표할 때는 "W01과 W02는 동일 recipe, W03과 W04는 또 다른 동일 recipe, group 간 차이는 pinch-off 공정 단 하나"를 한 번 더 못 박아 주세요. M3 단일 layer라는 점도 짚어주면 청중이 'BR/Stack 효과 어디 갔냐'라고 묻지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좌측을 air gap 적용, 우측을 reference로 두고 사진을 한 컷씩 짚어주세요. 사진 자체는 외부에서 가져온 cross-section이지만 행사상 dummy 데이터의 시각적 anchor 역할입니다. pinch-off가 성공했는지, 라인 상단 seal이 형성됐는지 빈 공간의 존재 자체가 가장 큰 단서입니다. 우측 reference는 같은 recipe의 reference 구조로 dense 인터커넥트. 두 사진에서 부주의하게 보이는 차이는 라인 사이 공간의 유무 외에는 없도록 동일한 recipe를 유지한 점을 짚어주세요.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3번 슬라이드에서 본 macro 단면 위에, 이 슬라이드에서는 zoom-in 단면과 어레이 단면을 추가로 걸어둡니다. 발표할 때는 "단순히 air gap 유무만이 다른 결함이 아니라, 두 group 모두 구조 무결성 baseline 위에서 진행됐다"는 점을 짚어주세요. 5번부터 등장할 정량 CD 표의 신뢰도가 이 슬라이드를 통과전제로 깔립니다.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wafer 표를 한 wafer씩 짚되 본 슬라이드 핵심은 '3σ의 그룹간 차이'에 있다고 짚어주세요. Group A의 3σ는 0.4 nm 안팎으로 0.5 nm 미만 안정 구간 안에 들어가지만 Group B는 그 위로 살짝 떠 있습니다. +편향 두 wafer 모두에서 나타난다는 점이 다음 슬라이드의 패턴과 일관되는지 후속 슬라이드에서 계속 비교해주세요.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AASI에서 보였던 패턴이 그대로 이어진다는 점을 짚어주세요. 발표할 때는 "분포 폭이 17.4 nm nominal의 0.5 nm EPE 대비 어느 정도냐"를 함께 짚어주면 설계 마진과 직결됩니다. Group A는 EPE budget의 약 70%, Group B는 90% 가까이 사용한다는 표현이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단계가 EPE budget 0.5 nm을 가장 강하게 시험하는 단계라는 점을 짚어주세요. AMI 8.6 nm는 라인 CD가 target에 가장 가까이 도달하면서 동시에 그만큼 변동성도 작은 절대값을 갖습니다. 그룹 평균 차이 0.10 nm, 3σ 차이 0.08 nm 수치를 짚어주되, 절대값 환산이면 Group A가 8.6 nm에 거의 정확히 떨어진다는 점이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8번 슬라이드는 4단계 CD 측정 시퀀스를 한 카드에서 같이 본다는 차이가 있습니다. 발표할 때 좌측 카드의 step별 Air vs Ref 평균을 따라가며 +편향 패턴이 어떻게 안정적으로 따라붙는지 짚어주세요. ACI에서 그룹간 차이가 가장 작게 줄지만 그래도 Reference는 +편향 — 즉 "이 단계만 보정되면 끝" 같은 이야기는 안 된다는 점을 짚어주세요.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wafer map을 한 화면에 두고 비교할 때 핵심은 "W01의 cool tint만 도열된 정적 패턴 vs W03의 hot spot 네 곳이 분포 양 끝에 닿아 있는 양상"입니다. 발표할 때는 좌측 table 4 row를 짚고 우측 두 map을 차례로 본 다음 hot spot 개수(W03의 4 site vs W01의 0 site)를 짚어주세요. dummy 데이터 측 평균 사이트 분산이 nominal 25.7 nm을 기준으로 환산되어 +편향 누적이 어디서 보이는지 보여줍니다.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슬라이드는 평가의 두 축 중 전기 손실 축의 결론을 짚는 마지막 데이터 슬라이드입니다. 좌측 표 7개 row를 한 줄씩 짚되, 발표 톤은 "C 손실은 거의 40 %, RC는 거의 45 % 줄었다, 그러나 R line은 약 9 %만 떨어져서 8割 가까이 R과 C의 동시 해결 방향이 보인다"로 정리해주세요. 우측 두 큰 KPI 카드는 C 손실 · RC 지연, 세 번째 작은 카드는 신뢰성 효과. dummy 데이터라는 점을 활용해 너무 단정적인 결론을 내리지 말고 "이 분량에서 본 무손실 측 결과로 본 보고서는 끝" 정도의 어조로 마무리하는 것이 자연스럽습니다.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jpe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eg"/><Relationship Id="rId3" Type="http://schemas.openxmlformats.org/officeDocument/2006/relationships/image" Target="../media/image-4-3.jpe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ECE1"/>
        </a:solidFill>
      </p:bgPr>
    </p:bg>
    <p:spTree>
      <p:nvGrpSpPr>
        <p:cNvPr id="1" name=""/>
        <p:cNvGrpSpPr/>
        <p:nvPr/>
      </p:nvGrpSpPr>
      <p:grpSpPr>
        <a:xfrm>
          <a:off x="0" y="0"/>
          <a:ext cx="0" cy="0"/>
          <a:chOff x="0" y="0"/>
          <a:chExt cx="0" cy="0"/>
        </a:xfrm>
      </p:grpSpPr>
      <p:pic>
        <p:nvPicPr>
          <p:cNvPr id="3" name="Image 0" descr="gen-dedup-ddc72069e50c60be25b8eb9ead861247.png">    </p:cNvPr>
          <p:cNvPicPr>
            <a:picLocks noChangeAspect="1"/>
          </p:cNvPicPr>
          <p:nvPr/>
        </p:nvPicPr>
        <p:blipFill>
          <a:blip r:embed="rId1"/>
          <a:srcRect l="-422" r="-422" t="0" b="0"/>
          <a:stretch/>
        </p:blipFill>
        <p:spPr>
          <a:xfrm>
            <a:off x="761695" y="1904695"/>
            <a:ext cx="838505" cy="28346"/>
          </a:xfrm>
          <a:prstGeom prst="rect">
            <a:avLst/>
          </a:prstGeom>
        </p:spPr>
      </p:pic>
      <p:pic>
        <p:nvPicPr>
          <p:cNvPr id="4" name="Image 1" descr="gen-dedup-923a6fa05a8c88f4d4583516b737792f.png">    </p:cNvPr>
          <p:cNvPicPr>
            <a:picLocks noChangeAspect="1"/>
          </p:cNvPicPr>
          <p:nvPr/>
        </p:nvPicPr>
        <p:blipFill>
          <a:blip r:embed="rId2"/>
          <a:srcRect l="0" r="0" t="-2089" b="-2089"/>
          <a:stretch/>
        </p:blipFill>
        <p:spPr>
          <a:xfrm>
            <a:off x="9430207" y="2476195"/>
            <a:ext cx="9144" cy="4953305"/>
          </a:xfrm>
          <a:prstGeom prst="rect">
            <a:avLst/>
          </a:prstGeom>
        </p:spPr>
      </p:pic>
      <p:sp>
        <p:nvSpPr>
          <p:cNvPr id="5" name="Text 0"/>
          <p:cNvSpPr txBox="1"/>
          <p:nvPr/>
        </p:nvSpPr>
        <p:spPr>
          <a:xfrm>
            <a:off x="761695" y="761695"/>
            <a:ext cx="5715000" cy="191110"/>
          </a:xfrm>
          <a:prstGeom prst="rect">
            <a:avLst/>
          </a:prstGeom>
          <a:noFill/>
          <a:ln/>
        </p:spPr>
        <p:txBody>
          <a:bodyPr wrap="none" lIns="0" tIns="0" rIns="0" bIns="0" rtlCol="0" anchor="ctr"/>
          <a:lstStyle/>
          <a:p>
            <a:pPr algn="l" indent="0" marL="0">
              <a:buNone/>
            </a:pPr>
            <a:r>
              <a:rPr lang="en-US" sz="1050" spc="189" kern="0" dirty="0">
                <a:solidFill>
                  <a:srgbClr val="756E5F"/>
                </a:solidFill>
                <a:latin typeface="IBM Plex Mono" pitchFamily="34" charset="0"/>
                <a:ea typeface="IBM Plex Mono" pitchFamily="34" charset="-122"/>
                <a:cs typeface="IBM Plex Mono" pitchFamily="34" charset="-120"/>
              </a:rPr>
              <a:t>01 · 배경</a:t>
            </a:r>
            <a:endParaRPr lang="en-US" sz="1050" dirty="0"/>
          </a:p>
        </p:txBody>
      </p:sp>
      <p:sp>
        <p:nvSpPr>
          <p:cNvPr id="6" name="Text 1"/>
          <p:cNvSpPr txBox="1"/>
          <p:nvPr/>
        </p:nvSpPr>
        <p:spPr>
          <a:xfrm>
            <a:off x="761695" y="1143000"/>
            <a:ext cx="14287500" cy="571500"/>
          </a:xfrm>
          <a:prstGeom prst="rect">
            <a:avLst/>
          </a:prstGeom>
          <a:noFill/>
          <a:ln/>
        </p:spPr>
        <p:txBody>
          <a:bodyPr wrap="none" lIns="0" tIns="0" rIns="0" bIns="0" rtlCol="0" anchor="ctr"/>
          <a:lstStyle/>
          <a:p>
            <a:pPr algn="l" indent="0" marL="0">
              <a:buNone/>
            </a:pPr>
            <a:r>
              <a:rPr lang="en-US" sz="4050" b="1" spc="-81" kern="0" dirty="0">
                <a:solidFill>
                  <a:srgbClr val="16130E"/>
                </a:solidFill>
                <a:latin typeface="IBM Plex Sans KR" pitchFamily="34" charset="0"/>
                <a:ea typeface="IBM Plex Sans KR" pitchFamily="34" charset="-122"/>
                <a:cs typeface="IBM Plex Sans KR" pitchFamily="34" charset="-120"/>
              </a:rPr>
              <a:t>실험 목적 및 배경</a:t>
            </a:r>
            <a:endParaRPr lang="en-US" sz="4050" dirty="0"/>
          </a:p>
        </p:txBody>
      </p:sp>
      <p:sp>
        <p:nvSpPr>
          <p:cNvPr id="7" name="Text 2"/>
          <p:cNvSpPr txBox="1"/>
          <p:nvPr/>
        </p:nvSpPr>
        <p:spPr>
          <a:xfrm>
            <a:off x="761695" y="2286000"/>
            <a:ext cx="8192110" cy="314554"/>
          </a:xfrm>
          <a:prstGeom prst="rect">
            <a:avLst/>
          </a:prstGeom>
          <a:noFill/>
          <a:ln/>
        </p:spPr>
        <p:txBody>
          <a:bodyPr wrap="none" lIns="0" tIns="0" rIns="0" bIns="0" rtlCol="0" anchor="ctr"/>
          <a:lstStyle/>
          <a:p>
            <a:pPr algn="l" indent="0" marL="0">
              <a:buNone/>
            </a:pPr>
            <a:r>
              <a:rPr lang="en-US" sz="1650" spc="33" kern="0" dirty="0">
                <a:solidFill>
                  <a:srgbClr val="155E63"/>
                </a:solidFill>
                <a:latin typeface="IBM Plex Sans KR" pitchFamily="34" charset="0"/>
                <a:ea typeface="IBM Plex Sans KR" pitchFamily="34" charset="-122"/>
                <a:cs typeface="IBM Plex Sans KR" pitchFamily="34" charset="-120"/>
              </a:rPr>
              <a:t>실험 목적</a:t>
            </a:r>
            <a:endParaRPr lang="en-US" sz="1650" dirty="0"/>
          </a:p>
        </p:txBody>
      </p:sp>
      <p:sp>
        <p:nvSpPr>
          <p:cNvPr id="8" name="Text 3"/>
          <p:cNvSpPr txBox="1"/>
          <p:nvPr/>
        </p:nvSpPr>
        <p:spPr>
          <a:xfrm>
            <a:off x="1009498" y="2771546"/>
            <a:ext cx="5992063" cy="305410"/>
          </a:xfrm>
          <a:prstGeom prst="rect">
            <a:avLst/>
          </a:prstGeom>
          <a:noFill/>
          <a:ln/>
        </p:spPr>
        <p:txBody>
          <a:bodyPr wrap="none" lIns="0" tIns="0" rIns="0" bIns="0" rtlCol="0" anchor="ctr"/>
          <a:lstStyle/>
          <a:p>
            <a:pPr algn="l" indent="0" marL="0">
              <a:buNone/>
            </a:pPr>
            <a:r>
              <a:rPr lang="en-US" sz="1575" dirty="0">
                <a:solidFill>
                  <a:srgbClr val="3A352D"/>
                </a:solidFill>
                <a:latin typeface="IBM Plex Sans KR" pitchFamily="34" charset="0"/>
                <a:ea typeface="IBM Plex Sans KR" pitchFamily="34" charset="-122"/>
                <a:cs typeface="IBM Plex Sans KR" pitchFamily="34" charset="-120"/>
              </a:rPr>
              <a:t>Air gap 적용 / 미적용 Ru 세미 다마신 M3 layer의 CD 정밀도 비교</a:t>
            </a:r>
            <a:endParaRPr lang="en-US" sz="1575" dirty="0"/>
          </a:p>
        </p:txBody>
      </p:sp>
      <p:sp>
        <p:nvSpPr>
          <p:cNvPr id="9" name="Text 4"/>
          <p:cNvSpPr txBox="1"/>
          <p:nvPr/>
        </p:nvSpPr>
        <p:spPr>
          <a:xfrm>
            <a:off x="1009498" y="3281782"/>
            <a:ext cx="7877556" cy="305410"/>
          </a:xfrm>
          <a:prstGeom prst="rect">
            <a:avLst/>
          </a:prstGeom>
          <a:noFill/>
          <a:ln/>
        </p:spPr>
        <p:txBody>
          <a:bodyPr wrap="none" lIns="0" tIns="0" rIns="0" bIns="0" rtlCol="0" anchor="ctr"/>
          <a:lstStyle/>
          <a:p>
            <a:pPr algn="l" indent="0" marL="0">
              <a:buNone/>
            </a:pPr>
            <a:r>
              <a:rPr lang="en-US" sz="1575" dirty="0">
                <a:solidFill>
                  <a:srgbClr val="3A352D"/>
                </a:solidFill>
                <a:latin typeface="IBM Plex Sans KR" pitchFamily="34" charset="0"/>
                <a:ea typeface="IBM Plex Sans KR" pitchFamily="34" charset="-122"/>
                <a:cs typeface="IBM Plex Sans KR" pitchFamily="34" charset="-120"/>
              </a:rPr>
              <a:t>18nm 피치 한계에서 in-line capacitance와 RC 지연 감소 효과의 단일 layer 실측 정량화</a:t>
            </a:r>
            <a:endParaRPr lang="en-US" sz="1575" dirty="0"/>
          </a:p>
        </p:txBody>
      </p:sp>
      <p:sp>
        <p:nvSpPr>
          <p:cNvPr id="10" name="Text 5"/>
          <p:cNvSpPr txBox="1"/>
          <p:nvPr/>
        </p:nvSpPr>
        <p:spPr>
          <a:xfrm>
            <a:off x="1009498" y="3791102"/>
            <a:ext cx="6591910" cy="305410"/>
          </a:xfrm>
          <a:prstGeom prst="rect">
            <a:avLst/>
          </a:prstGeom>
          <a:noFill/>
          <a:ln/>
        </p:spPr>
        <p:txBody>
          <a:bodyPr wrap="none" lIns="0" tIns="0" rIns="0" bIns="0" rtlCol="0" anchor="ctr"/>
          <a:lstStyle/>
          <a:p>
            <a:pPr algn="l" indent="0" marL="0">
              <a:buNone/>
            </a:pPr>
            <a:r>
              <a:rPr lang="en-US" sz="1575" dirty="0">
                <a:solidFill>
                  <a:srgbClr val="3A352D"/>
                </a:solidFill>
                <a:latin typeface="IBM Plex Sans KR" pitchFamily="34" charset="0"/>
                <a:ea typeface="IBM Plex Sans KR" pitchFamily="34" charset="-122"/>
                <a:cs typeface="IBM Plex Sans KR" pitchFamily="34" charset="-120"/>
              </a:rPr>
              <a:t>AMI / ACI 단계 변동성이 총 0.5nm EPE budget 조건을 충족하는지 판별</a:t>
            </a:r>
            <a:endParaRPr lang="en-US" sz="1575" dirty="0"/>
          </a:p>
        </p:txBody>
      </p:sp>
      <p:sp>
        <p:nvSpPr>
          <p:cNvPr id="11" name="Text 6"/>
          <p:cNvSpPr txBox="1"/>
          <p:nvPr/>
        </p:nvSpPr>
        <p:spPr>
          <a:xfrm>
            <a:off x="1009498" y="4300423"/>
            <a:ext cx="7058254" cy="305410"/>
          </a:xfrm>
          <a:prstGeom prst="rect">
            <a:avLst/>
          </a:prstGeom>
          <a:noFill/>
          <a:ln/>
        </p:spPr>
        <p:txBody>
          <a:bodyPr wrap="none" lIns="0" tIns="0" rIns="0" bIns="0" rtlCol="0" anchor="ctr"/>
          <a:lstStyle/>
          <a:p>
            <a:pPr algn="l" indent="0" marL="0">
              <a:buNone/>
            </a:pPr>
            <a:r>
              <a:rPr lang="en-US" sz="1575" dirty="0">
                <a:solidFill>
                  <a:srgbClr val="3A352D"/>
                </a:solidFill>
                <a:latin typeface="IBM Plex Sans KR" pitchFamily="34" charset="0"/>
                <a:ea typeface="IBM Plex Sans KR" pitchFamily="34" charset="-122"/>
                <a:cs typeface="IBM Plex Sans KR" pitchFamily="34" charset="-120"/>
              </a:rPr>
              <a:t>4 wafer × 25 point in-wafer 측정으로 uniformity 정량화 및 wafer map 평가</a:t>
            </a:r>
            <a:endParaRPr lang="en-US" sz="1575" dirty="0"/>
          </a:p>
        </p:txBody>
      </p:sp>
      <p:sp>
        <p:nvSpPr>
          <p:cNvPr id="12" name="Text 7"/>
          <p:cNvSpPr txBox="1"/>
          <p:nvPr/>
        </p:nvSpPr>
        <p:spPr>
          <a:xfrm>
            <a:off x="9905695" y="2286000"/>
            <a:ext cx="7620610" cy="314554"/>
          </a:xfrm>
          <a:prstGeom prst="rect">
            <a:avLst/>
          </a:prstGeom>
          <a:noFill/>
          <a:ln/>
        </p:spPr>
        <p:txBody>
          <a:bodyPr wrap="none" lIns="0" tIns="0" rIns="0" bIns="0" rtlCol="0" anchor="ctr"/>
          <a:lstStyle/>
          <a:p>
            <a:pPr algn="l" indent="0" marL="0">
              <a:buNone/>
            </a:pPr>
            <a:r>
              <a:rPr lang="en-US" sz="1650" spc="33" kern="0" dirty="0">
                <a:solidFill>
                  <a:srgbClr val="9A4520"/>
                </a:solidFill>
                <a:latin typeface="IBM Plex Sans KR" pitchFamily="34" charset="0"/>
                <a:ea typeface="IBM Plex Sans KR" pitchFamily="34" charset="-122"/>
                <a:cs typeface="IBM Plex Sans KR" pitchFamily="34" charset="-120"/>
              </a:rPr>
              <a:t>평가 배경</a:t>
            </a:r>
            <a:endParaRPr lang="en-US" sz="1650" dirty="0"/>
          </a:p>
        </p:txBody>
      </p:sp>
      <p:sp>
        <p:nvSpPr>
          <p:cNvPr id="13" name="Text 8"/>
          <p:cNvSpPr txBox="1"/>
          <p:nvPr/>
        </p:nvSpPr>
        <p:spPr>
          <a:xfrm>
            <a:off x="9905695" y="2771546"/>
            <a:ext cx="7620610" cy="914400"/>
          </a:xfrm>
          <a:prstGeom prst="rect">
            <a:avLst/>
          </a:prstGeom>
          <a:noFill/>
          <a:ln/>
        </p:spPr>
        <p:txBody>
          <a:bodyPr wrap="square" lIns="0" tIns="0" rIns="0" bIns="0" rtlCol="0" anchor="ctr"/>
          <a:lstStyle/>
          <a:p>
            <a:pPr algn="l" indent="0" marL="0">
              <a:lnSpc>
                <a:spcPts val="2400"/>
              </a:lnSpc>
              <a:buNone/>
            </a:pPr>
            <a:r>
              <a:rPr lang="en-US" sz="1500" dirty="0">
                <a:solidFill>
                  <a:srgbClr val="3A352D"/>
                </a:solidFill>
                <a:latin typeface="IBM Plex Sans KR" pitchFamily="34" charset="0"/>
                <a:ea typeface="IBM Plex Sans KR" pitchFamily="34" charset="-122"/>
                <a:cs typeface="IBM Plex Sans KR" pitchFamily="34" charset="-120"/>
              </a:rPr>
              <a:t>Ru 세미 다마신으로 라인 저항은 억제했으나 라인 간 정전용량은 18nm 피치 한계까지 남아 있다. 본 평가는 M3 layer 단일 × 4 wafer × 2 split 조건에서 air gap이 k≈1.0에 수렴하는지, 그로 인한 RC 손실 절감이 정밀도 손실 없이 유지되는지 동시에 확인한다.</a:t>
            </a:r>
            <a:endParaRPr lang="en-US" sz="1500" dirty="0"/>
          </a:p>
        </p:txBody>
      </p:sp>
      <p:sp>
        <p:nvSpPr>
          <p:cNvPr id="14" name="Shape 9"/>
          <p:cNvSpPr/>
          <p:nvPr/>
        </p:nvSpPr>
        <p:spPr>
          <a:xfrm>
            <a:off x="9905695" y="3991356"/>
            <a:ext cx="7619695" cy="1248156"/>
          </a:xfrm>
          <a:prstGeom prst="roundRect">
            <a:avLst>
              <a:gd name="adj" fmla="val 3077"/>
            </a:avLst>
          </a:prstGeom>
          <a:solidFill>
            <a:srgbClr val="FAF6EA"/>
          </a:solidFill>
          <a:ln w="12700">
            <a:solidFill>
              <a:srgbClr val="D6CFBB"/>
            </a:solidFill>
            <a:prstDash val="solid"/>
          </a:ln>
        </p:spPr>
      </p:sp>
      <p:sp>
        <p:nvSpPr>
          <p:cNvPr id="15" name="Shape 10"/>
          <p:cNvSpPr/>
          <p:nvPr/>
        </p:nvSpPr>
        <p:spPr>
          <a:xfrm>
            <a:off x="9905695" y="3991356"/>
            <a:ext cx="28346" cy="1248156"/>
          </a:xfrm>
          <a:prstGeom prst="roundRect">
            <a:avLst>
              <a:gd name="adj" fmla="val 135486"/>
            </a:avLst>
          </a:prstGeom>
          <a:solidFill>
            <a:srgbClr val="9A4520"/>
          </a:solidFill>
          <a:ln w="12700">
            <a:solidFill>
              <a:srgbClr val="9A4520">
                <a:alpha val="0"/>
              </a:srgbClr>
            </a:solidFill>
            <a:prstDash val="solid"/>
          </a:ln>
        </p:spPr>
      </p:sp>
      <p:sp>
        <p:nvSpPr>
          <p:cNvPr id="16" name="Text 11"/>
          <p:cNvSpPr txBox="1"/>
          <p:nvPr/>
        </p:nvSpPr>
        <p:spPr>
          <a:xfrm>
            <a:off x="10163556" y="4209898"/>
            <a:ext cx="7125005" cy="191110"/>
          </a:xfrm>
          <a:prstGeom prst="rect">
            <a:avLst/>
          </a:prstGeom>
          <a:noFill/>
          <a:ln/>
        </p:spPr>
        <p:txBody>
          <a:bodyPr wrap="none" lIns="0" tIns="0" rIns="0" bIns="0" rtlCol="0" anchor="ctr"/>
          <a:lstStyle/>
          <a:p>
            <a:pPr algn="l" indent="0" marL="0">
              <a:buNone/>
            </a:pPr>
            <a:r>
              <a:rPr lang="en-US" sz="1050" spc="168" kern="0" dirty="0">
                <a:solidFill>
                  <a:srgbClr val="756E5F"/>
                </a:solidFill>
                <a:latin typeface="IBM Plex Mono" pitchFamily="34" charset="0"/>
                <a:ea typeface="IBM Plex Mono" pitchFamily="34" charset="-122"/>
                <a:cs typeface="IBM Plex Mono" pitchFamily="34" charset="-120"/>
              </a:rPr>
              <a:t>단일 평가 축</a:t>
            </a:r>
            <a:endParaRPr lang="en-US" sz="1050" dirty="0"/>
          </a:p>
        </p:txBody>
      </p:sp>
      <p:sp>
        <p:nvSpPr>
          <p:cNvPr id="17" name="Text 12"/>
          <p:cNvSpPr txBox="1"/>
          <p:nvPr/>
        </p:nvSpPr>
        <p:spPr>
          <a:xfrm>
            <a:off x="10163556" y="4476902"/>
            <a:ext cx="7125005" cy="543154"/>
          </a:xfrm>
          <a:prstGeom prst="rect">
            <a:avLst/>
          </a:prstGeom>
          <a:noFill/>
          <a:ln/>
        </p:spPr>
        <p:txBody>
          <a:bodyPr wrap="square" lIns="0" tIns="0" rIns="0" bIns="0" rtlCol="0" anchor="ctr"/>
          <a:lstStyle/>
          <a:p>
            <a:pPr algn="l" indent="0" marL="0">
              <a:lnSpc>
                <a:spcPts val="2138"/>
              </a:lnSpc>
              <a:buNone/>
            </a:pPr>
            <a:r>
              <a:rPr lang="en-US" sz="1425" dirty="0">
                <a:solidFill>
                  <a:srgbClr val="16130E"/>
                </a:solidFill>
                <a:latin typeface="IBM Plex Sans KR" pitchFamily="34" charset="0"/>
                <a:ea typeface="IBM Plex Sans KR" pitchFamily="34" charset="-122"/>
                <a:cs typeface="IBM Plex Sans KR" pitchFamily="34" charset="-120"/>
              </a:rPr>
              <a:t>두 wafer set 공히 R 라인 측정은 동일 베이스 recipe 사용, 차이는 air gap pinch-off 공정 적용 여부 1개 변수에 한정.</a:t>
            </a:r>
            <a:endParaRPr lang="en-US" sz="1425" dirty="0"/>
          </a:p>
        </p:txBody>
      </p:sp>
      <p:sp>
        <p:nvSpPr>
          <p:cNvPr id="18" name="Shape 13"/>
          <p:cNvSpPr/>
          <p:nvPr/>
        </p:nvSpPr>
        <p:spPr>
          <a:xfrm>
            <a:off x="9905695" y="5429707"/>
            <a:ext cx="7619695" cy="1248156"/>
          </a:xfrm>
          <a:prstGeom prst="roundRect">
            <a:avLst>
              <a:gd name="adj" fmla="val 3077"/>
            </a:avLst>
          </a:prstGeom>
          <a:solidFill>
            <a:srgbClr val="FAF6EA"/>
          </a:solidFill>
          <a:ln w="12700">
            <a:solidFill>
              <a:srgbClr val="D6CFBB"/>
            </a:solidFill>
            <a:prstDash val="solid"/>
          </a:ln>
        </p:spPr>
      </p:sp>
      <p:sp>
        <p:nvSpPr>
          <p:cNvPr id="19" name="Shape 14"/>
          <p:cNvSpPr/>
          <p:nvPr/>
        </p:nvSpPr>
        <p:spPr>
          <a:xfrm>
            <a:off x="9905695" y="5429707"/>
            <a:ext cx="28346" cy="1248156"/>
          </a:xfrm>
          <a:prstGeom prst="roundRect">
            <a:avLst>
              <a:gd name="adj" fmla="val 135486"/>
            </a:avLst>
          </a:prstGeom>
          <a:solidFill>
            <a:srgbClr val="155E63"/>
          </a:solidFill>
          <a:ln w="12700">
            <a:solidFill>
              <a:srgbClr val="155E63">
                <a:alpha val="0"/>
              </a:srgbClr>
            </a:solidFill>
            <a:prstDash val="solid"/>
          </a:ln>
        </p:spPr>
      </p:sp>
      <p:sp>
        <p:nvSpPr>
          <p:cNvPr id="20" name="Text 15"/>
          <p:cNvSpPr txBox="1"/>
          <p:nvPr/>
        </p:nvSpPr>
        <p:spPr>
          <a:xfrm>
            <a:off x="10163556" y="5648249"/>
            <a:ext cx="7125005" cy="191110"/>
          </a:xfrm>
          <a:prstGeom prst="rect">
            <a:avLst/>
          </a:prstGeom>
          <a:noFill/>
          <a:ln/>
        </p:spPr>
        <p:txBody>
          <a:bodyPr wrap="none" lIns="0" tIns="0" rIns="0" bIns="0" rtlCol="0" anchor="ctr"/>
          <a:lstStyle/>
          <a:p>
            <a:pPr algn="l" indent="0" marL="0">
              <a:buNone/>
            </a:pPr>
            <a:r>
              <a:rPr lang="en-US" sz="1050" spc="168" kern="0" dirty="0">
                <a:solidFill>
                  <a:srgbClr val="756E5F"/>
                </a:solidFill>
                <a:latin typeface="IBM Plex Mono" pitchFamily="34" charset="0"/>
                <a:ea typeface="IBM Plex Mono" pitchFamily="34" charset="-122"/>
                <a:cs typeface="IBM Plex Mono" pitchFamily="34" charset="-120"/>
              </a:rPr>
              <a:t>평가 한계</a:t>
            </a:r>
            <a:endParaRPr lang="en-US" sz="1050" dirty="0"/>
          </a:p>
        </p:txBody>
      </p:sp>
      <p:sp>
        <p:nvSpPr>
          <p:cNvPr id="21" name="Text 16"/>
          <p:cNvSpPr txBox="1"/>
          <p:nvPr/>
        </p:nvSpPr>
        <p:spPr>
          <a:xfrm>
            <a:off x="10163556" y="5915254"/>
            <a:ext cx="7125005" cy="543154"/>
          </a:xfrm>
          <a:prstGeom prst="rect">
            <a:avLst/>
          </a:prstGeom>
          <a:noFill/>
          <a:ln/>
        </p:spPr>
        <p:txBody>
          <a:bodyPr wrap="square" lIns="0" tIns="0" rIns="0" bIns="0" rtlCol="0" anchor="ctr"/>
          <a:lstStyle/>
          <a:p>
            <a:pPr algn="l" indent="0" marL="0">
              <a:lnSpc>
                <a:spcPts val="2138"/>
              </a:lnSpc>
              <a:buNone/>
            </a:pPr>
            <a:r>
              <a:rPr lang="en-US" sz="1425" dirty="0">
                <a:solidFill>
                  <a:srgbClr val="16130E"/>
                </a:solidFill>
                <a:latin typeface="IBM Plex Sans KR" pitchFamily="34" charset="0"/>
                <a:ea typeface="IBM Plex Sans KR" pitchFamily="34" charset="-122"/>
                <a:cs typeface="IBM Plex Sans KR" pitchFamily="34" charset="-120"/>
              </a:rPr>
              <a:t>M3 단일 layer 평가이므로 M1/M2 비아 정렬 영향 및 상부 via chain 효과는 본 보고서 범위 외. 결론은 본 layer에서만 유효.</a:t>
            </a:r>
            <a:endParaRPr lang="en-US" sz="1425" dirty="0"/>
          </a:p>
        </p:txBody>
      </p:sp>
      <p:sp>
        <p:nvSpPr>
          <p:cNvPr id="22" name="Text 17"/>
          <p:cNvSpPr txBox="1"/>
          <p:nvPr/>
        </p:nvSpPr>
        <p:spPr>
          <a:xfrm>
            <a:off x="761695" y="8524951"/>
            <a:ext cx="17122140" cy="333756"/>
          </a:xfrm>
          <a:prstGeom prst="rect">
            <a:avLst/>
          </a:prstGeom>
          <a:noFill/>
          <a:ln/>
        </p:spPr>
        <p:txBody>
          <a:bodyPr wrap="none" lIns="0" tIns="0" rIns="0" bIns="0" rtlCol="0" anchor="ctr"/>
          <a:lstStyle/>
          <a:p>
            <a:pPr algn="l" indent="0" marL="0">
              <a:buNone/>
            </a:pPr>
            <a:r>
              <a:rPr lang="en-US" sz="1800" dirty="0">
                <a:solidFill>
                  <a:srgbClr val="16130E"/>
                </a:solidFill>
                <a:latin typeface="IBM Plex Sans KR" pitchFamily="34" charset="0"/>
                <a:ea typeface="IBM Plex Sans KR" pitchFamily="34" charset="-122"/>
                <a:cs typeface="IBM Plex Sans KR" pitchFamily="34" charset="-120"/>
              </a:rPr>
              <a:t>본 평가는 Ru 세미 다마신 M3 layer에서 air gap 도입 여부가 CD 정밀도와 RC 손실 양축에 미치는 영향을 4 wafer로 정량 비교하는 데 1차 목적을 둔다.</a:t>
            </a:r>
            <a:endParaRPr lang="en-US" sz="1800" dirty="0"/>
          </a:p>
        </p:txBody>
      </p:sp>
      <p:sp>
        <p:nvSpPr>
          <p:cNvPr id="23" name="Shape 18"/>
          <p:cNvSpPr/>
          <p:nvPr/>
        </p:nvSpPr>
        <p:spPr>
          <a:xfrm>
            <a:off x="761695" y="8524951"/>
            <a:ext cx="133502" cy="133502"/>
          </a:xfrm>
          <a:prstGeom prst="rect">
            <a:avLst/>
          </a:prstGeom>
          <a:solidFill>
            <a:srgbClr val="BD4A22"/>
          </a:solidFill>
          <a:ln w="12700">
            <a:solidFill>
              <a:srgbClr val="FFFFFF">
                <a:alpha val="0"/>
              </a:srgbClr>
            </a:solidFill>
            <a:prstDash val="solid"/>
          </a:ln>
        </p:spPr>
      </p:sp>
      <p:sp>
        <p:nvSpPr>
          <p:cNvPr id="24" name="Text 19"/>
          <p:cNvSpPr txBox="1"/>
          <p:nvPr/>
        </p:nvSpPr>
        <p:spPr>
          <a:xfrm>
            <a:off x="761695" y="9715500"/>
            <a:ext cx="16764610" cy="191110"/>
          </a:xfrm>
          <a:prstGeom prst="rect">
            <a:avLst/>
          </a:prstGeom>
          <a:noFill/>
          <a:ln/>
        </p:spPr>
        <p:txBody>
          <a:bodyPr wrap="none" lIns="0" tIns="0" rIns="0" bIns="0" rtlCol="0" anchor="ctr"/>
          <a:lstStyle/>
          <a:p>
            <a:pPr algn="l" indent="0" marL="0">
              <a:buNone/>
            </a:pPr>
            <a:r>
              <a:rPr lang="en-US" sz="1050" spc="42" kern="0" dirty="0">
                <a:solidFill>
                  <a:srgbClr val="756E5F"/>
                </a:solidFill>
                <a:latin typeface="IBM Plex Mono" pitchFamily="34" charset="0"/>
                <a:ea typeface="IBM Plex Mono" pitchFamily="34" charset="-122"/>
                <a:cs typeface="IBM Plex Mono" pitchFamily="34" charset="-120"/>
              </a:rPr>
              <a:t>※ 내부 테스트용 더미(가상) 데이터</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ECE1"/>
        </a:solidFill>
      </p:bgPr>
    </p:bg>
    <p:spTree>
      <p:nvGrpSpPr>
        <p:cNvPr id="1" name=""/>
        <p:cNvGrpSpPr/>
        <p:nvPr/>
      </p:nvGrpSpPr>
      <p:grpSpPr>
        <a:xfrm>
          <a:off x="0" y="0"/>
          <a:ext cx="0" cy="0"/>
          <a:chOff x="0" y="0"/>
          <a:chExt cx="0" cy="0"/>
        </a:xfrm>
      </p:grpSpPr>
      <p:pic>
        <p:nvPicPr>
          <p:cNvPr id="3" name="Image 0" descr="gen-dedup-ddc72069e50c60be25b8eb9ead861247.png">    </p:cNvPr>
          <p:cNvPicPr>
            <a:picLocks noChangeAspect="1"/>
          </p:cNvPicPr>
          <p:nvPr/>
        </p:nvPicPr>
        <p:blipFill>
          <a:blip r:embed="rId1"/>
          <a:srcRect l="-422" r="-422" t="0" b="0"/>
          <a:stretch/>
        </p:blipFill>
        <p:spPr>
          <a:xfrm>
            <a:off x="761695" y="1904695"/>
            <a:ext cx="838505" cy="28346"/>
          </a:xfrm>
          <a:prstGeom prst="rect">
            <a:avLst/>
          </a:prstGeom>
        </p:spPr>
      </p:pic>
      <p:sp>
        <p:nvSpPr>
          <p:cNvPr id="4" name="Shape 0"/>
          <p:cNvSpPr/>
          <p:nvPr/>
        </p:nvSpPr>
        <p:spPr>
          <a:xfrm>
            <a:off x="761695" y="2667305"/>
            <a:ext cx="8191195" cy="5143500"/>
          </a:xfrm>
          <a:prstGeom prst="roundRect">
            <a:avLst>
              <a:gd name="adj" fmla="val 1120"/>
            </a:avLst>
          </a:prstGeom>
          <a:solidFill>
            <a:srgbClr val="FAF6EA"/>
          </a:solidFill>
          <a:ln w="12700">
            <a:solidFill>
              <a:srgbClr val="D6CFBB"/>
            </a:solidFill>
            <a:prstDash val="solid"/>
          </a:ln>
        </p:spPr>
      </p:sp>
      <p:sp>
        <p:nvSpPr>
          <p:cNvPr id="5" name="Shape 1"/>
          <p:cNvSpPr/>
          <p:nvPr/>
        </p:nvSpPr>
        <p:spPr>
          <a:xfrm>
            <a:off x="9905695" y="2667305"/>
            <a:ext cx="3619195" cy="2476195"/>
          </a:xfrm>
          <a:prstGeom prst="roundRect">
            <a:avLst>
              <a:gd name="adj" fmla="val 1551"/>
            </a:avLst>
          </a:prstGeom>
          <a:solidFill>
            <a:srgbClr val="FAF6EA"/>
          </a:solidFill>
          <a:ln w="12700">
            <a:solidFill>
              <a:srgbClr val="D6CFBB"/>
            </a:solidFill>
            <a:prstDash val="solid"/>
          </a:ln>
        </p:spPr>
      </p:sp>
      <p:sp>
        <p:nvSpPr>
          <p:cNvPr id="6" name="Shape 2"/>
          <p:cNvSpPr/>
          <p:nvPr/>
        </p:nvSpPr>
        <p:spPr>
          <a:xfrm>
            <a:off x="9905695" y="2667305"/>
            <a:ext cx="3619195" cy="38405"/>
          </a:xfrm>
          <a:prstGeom prst="roundRect">
            <a:avLst>
              <a:gd name="adj" fmla="val 99999"/>
            </a:avLst>
          </a:prstGeom>
          <a:solidFill>
            <a:srgbClr val="155E63"/>
          </a:solidFill>
          <a:ln w="12700">
            <a:solidFill>
              <a:srgbClr val="155E63">
                <a:alpha val="0"/>
              </a:srgbClr>
            </a:solidFill>
            <a:prstDash val="solid"/>
          </a:ln>
        </p:spPr>
      </p:sp>
      <p:sp>
        <p:nvSpPr>
          <p:cNvPr id="7" name="Shape 3"/>
          <p:cNvSpPr/>
          <p:nvPr/>
        </p:nvSpPr>
        <p:spPr>
          <a:xfrm>
            <a:off x="13811098" y="2667305"/>
            <a:ext cx="3715207" cy="2476195"/>
          </a:xfrm>
          <a:prstGeom prst="roundRect">
            <a:avLst>
              <a:gd name="adj" fmla="val 1551"/>
            </a:avLst>
          </a:prstGeom>
          <a:solidFill>
            <a:srgbClr val="FAF6EA"/>
          </a:solidFill>
          <a:ln w="12700">
            <a:solidFill>
              <a:srgbClr val="D6CFBB"/>
            </a:solidFill>
            <a:prstDash val="solid"/>
          </a:ln>
        </p:spPr>
      </p:sp>
      <p:sp>
        <p:nvSpPr>
          <p:cNvPr id="8" name="Shape 4"/>
          <p:cNvSpPr/>
          <p:nvPr/>
        </p:nvSpPr>
        <p:spPr>
          <a:xfrm>
            <a:off x="13811098" y="2667305"/>
            <a:ext cx="3715207" cy="38405"/>
          </a:xfrm>
          <a:prstGeom prst="roundRect">
            <a:avLst>
              <a:gd name="adj" fmla="val 99999"/>
            </a:avLst>
          </a:prstGeom>
          <a:solidFill>
            <a:srgbClr val="9A4520"/>
          </a:solidFill>
          <a:ln w="12700">
            <a:solidFill>
              <a:srgbClr val="9A4520">
                <a:alpha val="0"/>
              </a:srgbClr>
            </a:solidFill>
            <a:prstDash val="solid"/>
          </a:ln>
        </p:spPr>
      </p:sp>
      <p:sp>
        <p:nvSpPr>
          <p:cNvPr id="9" name="Text 5"/>
          <p:cNvSpPr txBox="1"/>
          <p:nvPr/>
        </p:nvSpPr>
        <p:spPr>
          <a:xfrm>
            <a:off x="761695" y="761695"/>
            <a:ext cx="5715000" cy="191110"/>
          </a:xfrm>
          <a:prstGeom prst="rect">
            <a:avLst/>
          </a:prstGeom>
          <a:noFill/>
          <a:ln/>
        </p:spPr>
        <p:txBody>
          <a:bodyPr wrap="none" lIns="0" tIns="0" rIns="0" bIns="0" rtlCol="0" anchor="ctr"/>
          <a:lstStyle/>
          <a:p>
            <a:pPr algn="l" indent="0" marL="0">
              <a:buNone/>
            </a:pPr>
            <a:r>
              <a:rPr lang="en-US" sz="1050" spc="189" kern="0" dirty="0">
                <a:solidFill>
                  <a:srgbClr val="756E5F"/>
                </a:solidFill>
                <a:latin typeface="IBM Plex Mono" pitchFamily="34" charset="0"/>
                <a:ea typeface="IBM Plex Mono" pitchFamily="34" charset="-122"/>
                <a:cs typeface="IBM Plex Mono" pitchFamily="34" charset="-120"/>
              </a:rPr>
              <a:t>02 · 조건</a:t>
            </a:r>
            <a:endParaRPr lang="en-US" sz="1050" dirty="0"/>
          </a:p>
        </p:txBody>
      </p:sp>
      <p:sp>
        <p:nvSpPr>
          <p:cNvPr id="10" name="Text 6"/>
          <p:cNvSpPr txBox="1"/>
          <p:nvPr/>
        </p:nvSpPr>
        <p:spPr>
          <a:xfrm>
            <a:off x="761695" y="1143000"/>
            <a:ext cx="14287500" cy="571500"/>
          </a:xfrm>
          <a:prstGeom prst="rect">
            <a:avLst/>
          </a:prstGeom>
          <a:noFill/>
          <a:ln/>
        </p:spPr>
        <p:txBody>
          <a:bodyPr wrap="none" lIns="0" tIns="0" rIns="0" bIns="0" rtlCol="0" anchor="ctr"/>
          <a:lstStyle/>
          <a:p>
            <a:pPr algn="l" indent="0" marL="0">
              <a:buNone/>
            </a:pPr>
            <a:r>
              <a:rPr lang="en-US" sz="4050" b="1" spc="-81" kern="0" dirty="0">
                <a:solidFill>
                  <a:srgbClr val="16130E"/>
                </a:solidFill>
                <a:latin typeface="IBM Plex Sans KR" pitchFamily="34" charset="0"/>
                <a:ea typeface="IBM Plex Sans KR" pitchFamily="34" charset="-122"/>
                <a:cs typeface="IBM Plex Sans KR" pitchFamily="34" charset="-120"/>
              </a:rPr>
              <a:t>실험 조건 및 Wafer 분할</a:t>
            </a:r>
            <a:endParaRPr lang="en-US" sz="4050" dirty="0"/>
          </a:p>
        </p:txBody>
      </p:sp>
      <p:sp>
        <p:nvSpPr>
          <p:cNvPr id="11" name="Text 7"/>
          <p:cNvSpPr txBox="1"/>
          <p:nvPr/>
        </p:nvSpPr>
        <p:spPr>
          <a:xfrm>
            <a:off x="761695" y="2286000"/>
            <a:ext cx="8192110" cy="314554"/>
          </a:xfrm>
          <a:prstGeom prst="rect">
            <a:avLst/>
          </a:prstGeom>
          <a:noFill/>
          <a:ln/>
        </p:spPr>
        <p:txBody>
          <a:bodyPr wrap="none" lIns="0" tIns="0" rIns="0" bIns="0" rtlCol="0" anchor="ctr"/>
          <a:lstStyle/>
          <a:p>
            <a:pPr algn="l" indent="0" marL="0">
              <a:buNone/>
            </a:pPr>
            <a:r>
              <a:rPr lang="en-US" sz="1650" dirty="0">
                <a:solidFill>
                  <a:srgbClr val="16130E"/>
                </a:solidFill>
                <a:latin typeface="IBM Plex Sans KR" pitchFamily="34" charset="0"/>
                <a:ea typeface="IBM Plex Sans KR" pitchFamily="34" charset="-122"/>
                <a:cs typeface="IBM Plex Sans KR" pitchFamily="34" charset="-120"/>
              </a:rPr>
              <a:t>공정 고정 조건</a:t>
            </a:r>
            <a:endParaRPr lang="en-US" sz="16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1028700" y="2838298"/>
          <a:ext cx="7810805" cy="4295851"/>
        </p:xfrm>
        <a:graphic>
          <a:graphicData uri="http://schemas.openxmlformats.org/drawingml/2006/table">
            <a:tbl>
              <a:tblPr/>
              <a:tblGrid>
                <a:gridCol w="2811780"/>
                <a:gridCol w="4999025"/>
              </a:tblGrid>
              <a:tr h="477317">
                <a:tc>
                  <a:txBody>
                    <a:bodyPr/>
                    <a:lstStyle/>
                    <a:p>
                      <a:pPr algn="l" indent="0" marL="0">
                        <a:buNone/>
                      </a:pPr>
                      <a:r>
                        <a:rPr lang="en-US" sz="1350" b="1" dirty="0">
                          <a:solidFill>
                            <a:srgbClr val="16130E"/>
                          </a:solidFill>
                          <a:latin typeface="IBM Plex Sans KR" pitchFamily="34" charset="0"/>
                          <a:ea typeface="IBM Plex Sans KR" pitchFamily="34" charset="-122"/>
                          <a:cs typeface="IBM Plex Sans KR" pitchFamily="34" charset="-120"/>
                        </a:rPr>
                        <a:t>항목</a:t>
                      </a:r>
                      <a:endParaRPr lang="en-US" sz="1350" dirty="0">
                        <a:latin typeface="IBM Plex Sans KR" charset="0"/>
                        <a:ea typeface="IBM Plex Sans KR" charset="0"/>
                        <a:cs typeface="IBM Plex Sans KR"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9525" cap="flat" cmpd="sng" algn="ctr">
                      <a:solidFill>
                        <a:srgbClr val="16130E"/>
                      </a:solidFill>
                      <a:prstDash val="solid"/>
                      <a:round/>
                      <a:headEnd type="none" w="med" len="med"/>
                      <a:tailEnd type="none" w="med" len="med"/>
                    </a:lnT>
                    <a:lnB w="9525" cap="flat" cmpd="sng" algn="ctr">
                      <a:solidFill>
                        <a:srgbClr val="C7BFA8"/>
                      </a:solidFill>
                      <a:prstDash val="solid"/>
                      <a:round/>
                      <a:headEnd type="none" w="med" len="med"/>
                      <a:tailEnd type="none" w="med" len="med"/>
                    </a:lnB>
                    <a:solidFill>
                      <a:srgbClr val="155E63">
                        <a:alpha val="6000"/>
                      </a:srgbClr>
                    </a:solidFill>
                  </a:tcPr>
                </a:tc>
                <a:tc>
                  <a:txBody>
                    <a:bodyPr/>
                    <a:lstStyle/>
                    <a:p>
                      <a:pPr algn="l" indent="0" marL="0">
                        <a:buNone/>
                      </a:pPr>
                      <a:r>
                        <a:rPr lang="en-US" sz="1350" b="1" dirty="0">
                          <a:solidFill>
                            <a:srgbClr val="16130E"/>
                          </a:solidFill>
                          <a:latin typeface="IBM Plex Sans KR" pitchFamily="34" charset="0"/>
                          <a:ea typeface="IBM Plex Sans KR" pitchFamily="34" charset="-122"/>
                          <a:cs typeface="IBM Plex Sans KR" pitchFamily="34" charset="-120"/>
                        </a:rPr>
                        <a:t>값</a:t>
                      </a:r>
                      <a:endParaRPr lang="en-US" sz="1350" dirty="0">
                        <a:latin typeface="IBM Plex Sans KR" charset="0"/>
                        <a:ea typeface="IBM Plex Sans KR" charset="0"/>
                        <a:cs typeface="IBM Plex Sans KR"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9525" cap="flat" cmpd="sng" algn="ctr">
                      <a:solidFill>
                        <a:srgbClr val="16130E"/>
                      </a:solidFill>
                      <a:prstDash val="solid"/>
                      <a:round/>
                      <a:headEnd type="none" w="med" len="med"/>
                      <a:tailEnd type="none" w="med" len="med"/>
                    </a:lnT>
                    <a:lnB w="9525" cap="flat" cmpd="sng" algn="ctr">
                      <a:solidFill>
                        <a:srgbClr val="C7BFA8"/>
                      </a:solidFill>
                      <a:prstDash val="solid"/>
                      <a:round/>
                      <a:headEnd type="none" w="med" len="med"/>
                      <a:tailEnd type="none" w="med" len="med"/>
                    </a:lnB>
                    <a:solidFill>
                      <a:srgbClr val="155E63">
                        <a:alpha val="6000"/>
                      </a:srgbClr>
                    </a:solidFill>
                  </a:tcPr>
                </a:tc>
              </a:tr>
              <a:tr h="477317">
                <a:tc>
                  <a:txBody>
                    <a:bodyP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Metal layer</a:t>
                      </a:r>
                      <a:endParaRPr lang="en-US" sz="1350" dirty="0">
                        <a:latin typeface="IBM Plex Sans KR" charset="0"/>
                        <a:ea typeface="IBM Plex Sans KR" charset="0"/>
                        <a:cs typeface="IBM Plex Sans KR"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l" indent="0" marL="0">
                        <a:buNone/>
                      </a:pPr>
                      <a:r>
                        <a:rPr lang="en-US" sz="1350" dirty="0">
                          <a:solidFill>
                            <a:srgbClr val="16130E"/>
                          </a:solidFill>
                          <a:latin typeface="IBM Plex Mono" pitchFamily="34" charset="0"/>
                          <a:ea typeface="IBM Plex Mono" pitchFamily="34" charset="-122"/>
                          <a:cs typeface="IBM Plex Mono" pitchFamily="34" charset="-120"/>
                        </a:rPr>
                        <a:t>M3</a:t>
                      </a:r>
                      <a:endParaRPr lang="en-US" sz="1350"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r>
              <a:tr h="477317">
                <a:tc>
                  <a:txBody>
                    <a:bodyP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Target pitch</a:t>
                      </a:r>
                      <a:endParaRPr lang="en-US" sz="1350" dirty="0">
                        <a:latin typeface="IBM Plex Sans KR" charset="0"/>
                        <a:ea typeface="IBM Plex Sans KR" charset="0"/>
                        <a:cs typeface="IBM Plex Sans KR"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l" indent="0" marL="0">
                        <a:buNone/>
                      </a:pPr>
                      <a:r>
                        <a:rPr lang="en-US" sz="1350" dirty="0">
                          <a:solidFill>
                            <a:srgbClr val="16130E"/>
                          </a:solidFill>
                          <a:latin typeface="IBM Plex Mono" pitchFamily="34" charset="0"/>
                          <a:ea typeface="IBM Plex Mono" pitchFamily="34" charset="-122"/>
                          <a:cs typeface="IBM Plex Mono" pitchFamily="34" charset="-120"/>
                        </a:rPr>
                        <a:t>18 nm</a:t>
                      </a:r>
                      <a:endParaRPr lang="en-US" sz="1350"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r>
              <a:tr h="477317">
                <a:tc>
                  <a:txBody>
                    <a:bodyP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Line target</a:t>
                      </a:r>
                      <a:endParaRPr lang="en-US" sz="1350" dirty="0">
                        <a:latin typeface="IBM Plex Sans KR" charset="0"/>
                        <a:ea typeface="IBM Plex Sans KR" charset="0"/>
                        <a:cs typeface="IBM Plex Sans KR"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l" indent="0" marL="0">
                        <a:buNone/>
                      </a:pPr>
                      <a:r>
                        <a:rPr lang="en-US" sz="1350" dirty="0">
                          <a:solidFill>
                            <a:srgbClr val="16130E"/>
                          </a:solidFill>
                          <a:latin typeface="IBM Plex Mono" pitchFamily="34" charset="0"/>
                          <a:ea typeface="IBM Plex Mono" pitchFamily="34" charset="-122"/>
                          <a:cs typeface="IBM Plex Mono" pitchFamily="34" charset="-120"/>
                        </a:rPr>
                        <a:t>CD ≈ 9.0 nm (M3 최종)</a:t>
                      </a:r>
                      <a:endParaRPr lang="en-US" sz="1350"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r>
              <a:tr h="477317">
                <a:tc>
                  <a:txBody>
                    <a:bodyP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Patterning</a:t>
                      </a:r>
                      <a:endParaRPr lang="en-US" sz="1350" dirty="0">
                        <a:latin typeface="IBM Plex Sans KR" charset="0"/>
                        <a:ea typeface="IBM Plex Sans KR" charset="0"/>
                        <a:cs typeface="IBM Plex Sans KR"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Ru 직접 이방성 plasma 식각 (Subtractive)</a:t>
                      </a:r>
                      <a:endParaRPr lang="en-US" sz="1350" dirty="0">
                        <a:latin typeface="IBM Plex Sans KR" charset="0"/>
                        <a:ea typeface="IBM Plex Sans KR" charset="0"/>
                        <a:cs typeface="IBM Plex Sans KR"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r>
              <a:tr h="477317">
                <a:tc>
                  <a:txBody>
                    <a:bodyP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Via 정렬</a:t>
                      </a:r>
                      <a:endParaRPr lang="en-US" sz="1350" dirty="0">
                        <a:latin typeface="IBM Plex Sans KR" charset="0"/>
                        <a:ea typeface="IBM Plex Sans KR" charset="0"/>
                        <a:cs typeface="IBM Plex Sans KR"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Complete self-aligned via (FSAV)</a:t>
                      </a:r>
                      <a:endParaRPr lang="en-US" sz="1350" dirty="0">
                        <a:latin typeface="IBM Plex Sans KR" charset="0"/>
                        <a:ea typeface="IBM Plex Sans KR" charset="0"/>
                        <a:cs typeface="IBM Plex Sans KR"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r>
              <a:tr h="477317">
                <a:tc>
                  <a:txBody>
                    <a:bodyP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Barrier 사양</a:t>
                      </a:r>
                      <a:endParaRPr lang="en-US" sz="1350" dirty="0">
                        <a:latin typeface="IBM Plex Sans KR" charset="0"/>
                        <a:ea typeface="IBM Plex Sans KR" charset="0"/>
                        <a:cs typeface="IBM Plex Sans KR"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Barrier-less (line 직경 대비 무시 가능)</a:t>
                      </a:r>
                      <a:endParaRPr lang="en-US" sz="1350" dirty="0">
                        <a:latin typeface="IBM Plex Sans KR" charset="0"/>
                        <a:ea typeface="IBM Plex Sans KR" charset="0"/>
                        <a:cs typeface="IBM Plex Sans KR"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r>
              <a:tr h="477317">
                <a:tc>
                  <a:txBody>
                    <a:bodyP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Wafer 수</a:t>
                      </a:r>
                      <a:endParaRPr lang="en-US" sz="1350" dirty="0">
                        <a:latin typeface="IBM Plex Sans KR" charset="0"/>
                        <a:ea typeface="IBM Plex Sans KR" charset="0"/>
                        <a:cs typeface="IBM Plex Sans KR"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l" indent="0" marL="0">
                        <a:buNone/>
                      </a:pPr>
                      <a:r>
                        <a:rPr lang="en-US" sz="1350" dirty="0">
                          <a:solidFill>
                            <a:srgbClr val="16130E"/>
                          </a:solidFill>
                          <a:latin typeface="IBM Plex Mono" pitchFamily="34" charset="0"/>
                          <a:ea typeface="IBM Plex Mono" pitchFamily="34" charset="-122"/>
                          <a:cs typeface="IBM Plex Mono" pitchFamily="34" charset="-120"/>
                        </a:rPr>
                        <a:t>4 매 (300 mm Si)</a:t>
                      </a:r>
                      <a:endParaRPr lang="en-US" sz="1350"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r>
              <a:tr h="477317">
                <a:tc>
                  <a:txBody>
                    <a:bodyP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Layer 스택</a:t>
                      </a:r>
                      <a:endParaRPr lang="en-US" sz="1350" dirty="0">
                        <a:latin typeface="IBM Plex Sans KR" charset="0"/>
                        <a:ea typeface="IBM Plex Sans KR" charset="0"/>
                        <a:cs typeface="IBM Plex Sans KR"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16130E"/>
                      </a:solidFill>
                      <a:prstDash val="solid"/>
                      <a:round/>
                      <a:headEnd type="none" w="med" len="med"/>
                      <a:tailEnd type="none" w="med" len="med"/>
                    </a:lnB>
                  </a:tcPr>
                </a:tc>
                <a:tc>
                  <a:txBody>
                    <a:bodyP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M3 단일 layer 평가 / M1·M2·Via chain 비적용</a:t>
                      </a:r>
                      <a:endParaRPr lang="en-US" sz="1350" dirty="0">
                        <a:latin typeface="IBM Plex Sans KR" charset="0"/>
                        <a:ea typeface="IBM Plex Sans KR" charset="0"/>
                        <a:cs typeface="IBM Plex Sans KR"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16130E"/>
                      </a:solidFill>
                      <a:prstDash val="solid"/>
                      <a:round/>
                      <a:headEnd type="none" w="med" len="med"/>
                      <a:tailEnd type="none" w="med" len="med"/>
                    </a:lnB>
                  </a:tcPr>
                </a:tc>
              </a:tr>
            </a:tbl>
          </a:graphicData>
        </a:graphic>
      </p:graphicFrame>
      <p:sp>
        <p:nvSpPr>
          <p:cNvPr id="13" name="Text 8"/>
          <p:cNvSpPr txBox="1"/>
          <p:nvPr/>
        </p:nvSpPr>
        <p:spPr>
          <a:xfrm>
            <a:off x="9905695" y="2286000"/>
            <a:ext cx="7620610" cy="314554"/>
          </a:xfrm>
          <a:prstGeom prst="rect">
            <a:avLst/>
          </a:prstGeom>
          <a:noFill/>
          <a:ln/>
        </p:spPr>
        <p:txBody>
          <a:bodyPr wrap="none" lIns="0" tIns="0" rIns="0" bIns="0" rtlCol="0" anchor="ctr"/>
          <a:lstStyle/>
          <a:p>
            <a:pPr algn="l" indent="0" marL="0">
              <a:buNone/>
            </a:pPr>
            <a:r>
              <a:rPr lang="en-US" sz="1650" dirty="0">
                <a:solidFill>
                  <a:srgbClr val="16130E"/>
                </a:solidFill>
                <a:latin typeface="IBM Plex Sans KR" pitchFamily="34" charset="0"/>
                <a:ea typeface="IBM Plex Sans KR" pitchFamily="34" charset="-122"/>
                <a:cs typeface="IBM Plex Sans KR" pitchFamily="34" charset="-120"/>
              </a:rPr>
              <a:t>Wafer 분할 </a:t>
            </a:r>
            <a:pPr algn="l" indent="0" marL="0">
              <a:buNone/>
            </a:pPr>
            <a:r>
              <a:rPr lang="en-US" sz="1200" dirty="0">
                <a:solidFill>
                  <a:srgbClr val="756E5F"/>
                </a:solidFill>
                <a:latin typeface="IBM Plex Mono" pitchFamily="34" charset="0"/>
                <a:ea typeface="IBM Plex Mono" pitchFamily="34" charset="-122"/>
                <a:cs typeface="IBM Plex Mono" pitchFamily="34" charset="-120"/>
              </a:rPr>
              <a:t>(2 splits × 2 wafer each)</a:t>
            </a:r>
            <a:endParaRPr lang="en-US" sz="1650" dirty="0"/>
          </a:p>
        </p:txBody>
      </p:sp>
      <p:sp>
        <p:nvSpPr>
          <p:cNvPr id="14" name="Text 9"/>
          <p:cNvSpPr txBox="1"/>
          <p:nvPr/>
        </p:nvSpPr>
        <p:spPr>
          <a:xfrm>
            <a:off x="10096805" y="2857500"/>
            <a:ext cx="3238805" cy="162763"/>
          </a:xfrm>
          <a:prstGeom prst="rect">
            <a:avLst/>
          </a:prstGeom>
          <a:noFill/>
          <a:ln/>
        </p:spPr>
        <p:txBody>
          <a:bodyPr wrap="none" lIns="0" tIns="0" rIns="0" bIns="0" rtlCol="0" anchor="ctr"/>
          <a:lstStyle/>
          <a:p>
            <a:pPr algn="l" indent="0" marL="0">
              <a:buNone/>
            </a:pPr>
            <a:r>
              <a:rPr lang="en-US" sz="975" spc="156" kern="0" dirty="0">
                <a:solidFill>
                  <a:srgbClr val="155E63"/>
                </a:solidFill>
                <a:latin typeface="IBM Plex Mono" pitchFamily="34" charset="0"/>
                <a:ea typeface="IBM Plex Mono" pitchFamily="34" charset="-122"/>
                <a:cs typeface="IBM Plex Mono" pitchFamily="34" charset="-120"/>
              </a:rPr>
              <a:t>Group A · AIR-GAP</a:t>
            </a:r>
            <a:endParaRPr lang="en-US" sz="975" dirty="0"/>
          </a:p>
        </p:txBody>
      </p:sp>
      <p:sp>
        <p:nvSpPr>
          <p:cNvPr id="15" name="Text 10"/>
          <p:cNvSpPr txBox="1"/>
          <p:nvPr/>
        </p:nvSpPr>
        <p:spPr>
          <a:xfrm>
            <a:off x="10096805" y="3152851"/>
            <a:ext cx="3238805" cy="362102"/>
          </a:xfrm>
          <a:prstGeom prst="rect">
            <a:avLst/>
          </a:prstGeom>
          <a:noFill/>
          <a:ln/>
        </p:spPr>
        <p:txBody>
          <a:bodyPr wrap="none" lIns="0" tIns="0" rIns="0" bIns="0" rtlCol="0" anchor="ctr"/>
          <a:lstStyle/>
          <a:p>
            <a:pPr algn="l" indent="0" marL="0">
              <a:buNone/>
            </a:pPr>
            <a:r>
              <a:rPr lang="en-US" sz="2850" b="1" dirty="0">
                <a:solidFill>
                  <a:srgbClr val="16130E"/>
                </a:solidFill>
                <a:latin typeface="IBM Plex Mono" pitchFamily="34" charset="0"/>
                <a:ea typeface="IBM Plex Mono" pitchFamily="34" charset="-122"/>
                <a:cs typeface="IBM Plex Mono" pitchFamily="34" charset="-120"/>
              </a:rPr>
              <a:t>W01 · W02</a:t>
            </a:r>
            <a:endParaRPr lang="en-US" sz="2850" dirty="0"/>
          </a:p>
        </p:txBody>
      </p:sp>
      <p:sp>
        <p:nvSpPr>
          <p:cNvPr id="16" name="Text 11"/>
          <p:cNvSpPr txBox="1"/>
          <p:nvPr/>
        </p:nvSpPr>
        <p:spPr>
          <a:xfrm>
            <a:off x="10096805" y="3629254"/>
            <a:ext cx="3238805" cy="486461"/>
          </a:xfrm>
          <a:prstGeom prst="rect">
            <a:avLst/>
          </a:prstGeom>
          <a:noFill/>
          <a:ln/>
        </p:spPr>
        <p:txBody>
          <a:bodyPr wrap="square" lIns="0" tIns="0" rIns="0" bIns="0" rtlCol="0" anchor="ctr"/>
          <a:lstStyle/>
          <a:p>
            <a:pPr algn="l" indent="0" marL="0">
              <a:lnSpc>
                <a:spcPts val="1913"/>
              </a:lnSpc>
              <a:buNone/>
            </a:pPr>
            <a:r>
              <a:rPr lang="en-US" sz="1275" dirty="0">
                <a:solidFill>
                  <a:srgbClr val="3A352D"/>
                </a:solidFill>
                <a:latin typeface="IBM Plex Sans KR" pitchFamily="34" charset="0"/>
                <a:ea typeface="IBM Plex Sans KR" pitchFamily="34" charset="-122"/>
                <a:cs typeface="IBM Plex Sans KR" pitchFamily="34" charset="-120"/>
              </a:rPr>
              <a:t>절연막 pinch-off 공정으로 라인-라인 사이에 공기층 형성</a:t>
            </a:r>
            <a:endParaRPr lang="en-US" sz="1275" dirty="0"/>
          </a:p>
        </p:txBody>
      </p:sp>
      <p:sp>
        <p:nvSpPr>
          <p:cNvPr id="17" name="Text 12"/>
          <p:cNvSpPr txBox="1"/>
          <p:nvPr/>
        </p:nvSpPr>
        <p:spPr>
          <a:xfrm>
            <a:off x="10096805" y="4190695"/>
            <a:ext cx="3238805" cy="171907"/>
          </a:xfrm>
          <a:prstGeom prst="rect">
            <a:avLst/>
          </a:prstGeom>
          <a:noFill/>
          <a:ln/>
        </p:spPr>
        <p:txBody>
          <a:bodyPr wrap="none" lIns="0" tIns="0" rIns="0" bIns="0" rtlCol="0" anchor="ctr"/>
          <a:lstStyle/>
          <a:p>
            <a:pPr algn="l" indent="0" marL="0">
              <a:buNone/>
            </a:pPr>
            <a:r>
              <a:rPr lang="en-US" sz="1050" spc="42" kern="0" dirty="0">
                <a:solidFill>
                  <a:srgbClr val="756E5F"/>
                </a:solidFill>
                <a:latin typeface="IBM Plex Mono" pitchFamily="34" charset="0"/>
                <a:ea typeface="IBM Plex Mono" pitchFamily="34" charset="-122"/>
                <a:cs typeface="IBM Plex Mono" pitchFamily="34" charset="-120"/>
              </a:rPr>
              <a:t>k → 1.0 / L-to-L C target −40 %+</a:t>
            </a:r>
            <a:endParaRPr lang="en-US" sz="1050" dirty="0"/>
          </a:p>
        </p:txBody>
      </p:sp>
      <p:sp>
        <p:nvSpPr>
          <p:cNvPr id="18" name="Text 13"/>
          <p:cNvSpPr txBox="1"/>
          <p:nvPr/>
        </p:nvSpPr>
        <p:spPr>
          <a:xfrm>
            <a:off x="14002207" y="2857500"/>
            <a:ext cx="3333902" cy="162763"/>
          </a:xfrm>
          <a:prstGeom prst="rect">
            <a:avLst/>
          </a:prstGeom>
          <a:noFill/>
          <a:ln/>
        </p:spPr>
        <p:txBody>
          <a:bodyPr wrap="none" lIns="0" tIns="0" rIns="0" bIns="0" rtlCol="0" anchor="ctr"/>
          <a:lstStyle/>
          <a:p>
            <a:pPr algn="l" indent="0" marL="0">
              <a:buNone/>
            </a:pPr>
            <a:r>
              <a:rPr lang="en-US" sz="975" spc="156" kern="0" dirty="0">
                <a:solidFill>
                  <a:srgbClr val="9A4520"/>
                </a:solidFill>
                <a:latin typeface="IBM Plex Mono" pitchFamily="34" charset="0"/>
                <a:ea typeface="IBM Plex Mono" pitchFamily="34" charset="-122"/>
                <a:cs typeface="IBM Plex Mono" pitchFamily="34" charset="-120"/>
              </a:rPr>
              <a:t>Group B · REFERENCE</a:t>
            </a:r>
            <a:endParaRPr lang="en-US" sz="975" dirty="0"/>
          </a:p>
        </p:txBody>
      </p:sp>
      <p:sp>
        <p:nvSpPr>
          <p:cNvPr id="19" name="Text 14"/>
          <p:cNvSpPr txBox="1"/>
          <p:nvPr/>
        </p:nvSpPr>
        <p:spPr>
          <a:xfrm>
            <a:off x="14002207" y="3152851"/>
            <a:ext cx="3333902" cy="362102"/>
          </a:xfrm>
          <a:prstGeom prst="rect">
            <a:avLst/>
          </a:prstGeom>
          <a:noFill/>
          <a:ln/>
        </p:spPr>
        <p:txBody>
          <a:bodyPr wrap="none" lIns="0" tIns="0" rIns="0" bIns="0" rtlCol="0" anchor="ctr"/>
          <a:lstStyle/>
          <a:p>
            <a:pPr algn="l" indent="0" marL="0">
              <a:buNone/>
            </a:pPr>
            <a:r>
              <a:rPr lang="en-US" sz="2850" b="1" dirty="0">
                <a:solidFill>
                  <a:srgbClr val="16130E"/>
                </a:solidFill>
                <a:latin typeface="IBM Plex Mono" pitchFamily="34" charset="0"/>
                <a:ea typeface="IBM Plex Mono" pitchFamily="34" charset="-122"/>
                <a:cs typeface="IBM Plex Mono" pitchFamily="34" charset="-120"/>
              </a:rPr>
              <a:t>W03 · W04</a:t>
            </a:r>
            <a:endParaRPr lang="en-US" sz="2850" dirty="0"/>
          </a:p>
        </p:txBody>
      </p:sp>
      <p:sp>
        <p:nvSpPr>
          <p:cNvPr id="20" name="Text 15"/>
          <p:cNvSpPr txBox="1"/>
          <p:nvPr/>
        </p:nvSpPr>
        <p:spPr>
          <a:xfrm>
            <a:off x="14002207" y="3629254"/>
            <a:ext cx="3333902" cy="486461"/>
          </a:xfrm>
          <a:prstGeom prst="rect">
            <a:avLst/>
          </a:prstGeom>
          <a:noFill/>
          <a:ln/>
        </p:spPr>
        <p:txBody>
          <a:bodyPr wrap="square" lIns="0" tIns="0" rIns="0" bIns="0" rtlCol="0" anchor="ctr"/>
          <a:lstStyle/>
          <a:p>
            <a:pPr algn="l" indent="0" marL="0">
              <a:lnSpc>
                <a:spcPts val="1913"/>
              </a:lnSpc>
              <a:buNone/>
            </a:pPr>
            <a:r>
              <a:rPr lang="en-US" sz="1275" dirty="0">
                <a:solidFill>
                  <a:srgbClr val="3A352D"/>
                </a:solidFill>
                <a:latin typeface="IBM Plex Sans KR" pitchFamily="34" charset="0"/>
                <a:ea typeface="IBM Plex Sans KR" pitchFamily="34" charset="-122"/>
                <a:cs typeface="IBM Plex Sans KR" pitchFamily="34" charset="-120"/>
              </a:rPr>
              <a:t>절연체로 gap을 완전히 채운 Dielectric gap-fill 베이스</a:t>
            </a:r>
            <a:endParaRPr lang="en-US" sz="1275" dirty="0"/>
          </a:p>
        </p:txBody>
      </p:sp>
      <p:sp>
        <p:nvSpPr>
          <p:cNvPr id="21" name="Text 16"/>
          <p:cNvSpPr txBox="1"/>
          <p:nvPr/>
        </p:nvSpPr>
        <p:spPr>
          <a:xfrm>
            <a:off x="14002207" y="4190695"/>
            <a:ext cx="3333902" cy="191110"/>
          </a:xfrm>
          <a:prstGeom prst="rect">
            <a:avLst/>
          </a:prstGeom>
          <a:noFill/>
          <a:ln/>
        </p:spPr>
        <p:txBody>
          <a:bodyPr wrap="none" lIns="0" tIns="0" rIns="0" bIns="0" rtlCol="0" anchor="ctr"/>
          <a:lstStyle/>
          <a:p>
            <a:pPr algn="l" indent="0" marL="0">
              <a:buNone/>
            </a:pPr>
            <a:r>
              <a:rPr lang="en-US" sz="1050" spc="42" kern="0" dirty="0">
                <a:solidFill>
                  <a:srgbClr val="756E5F"/>
                </a:solidFill>
                <a:latin typeface="IBM Plex Mono" pitchFamily="34" charset="0"/>
                <a:ea typeface="IBM Plex Mono" pitchFamily="34" charset="-122"/>
                <a:cs typeface="IBM Plex Mono" pitchFamily="34" charset="-120"/>
              </a:rPr>
              <a:t>k ≈ 2.6 / 기존 표준 recipe</a:t>
            </a:r>
            <a:endParaRPr lang="en-US" sz="1050" dirty="0"/>
          </a:p>
        </p:txBody>
      </p:sp>
      <p:sp>
        <p:nvSpPr>
          <p:cNvPr id="22" name="Text 17"/>
          <p:cNvSpPr txBox="1"/>
          <p:nvPr/>
        </p:nvSpPr>
        <p:spPr>
          <a:xfrm>
            <a:off x="9905695" y="5524805"/>
            <a:ext cx="7620610" cy="286207"/>
          </a:xfrm>
          <a:prstGeom prst="rect">
            <a:avLst/>
          </a:prstGeom>
          <a:noFill/>
          <a:ln/>
        </p:spPr>
        <p:txBody>
          <a:bodyPr wrap="none" lIns="0" tIns="0" rIns="0" bIns="0" rtlCol="0" anchor="ctr"/>
          <a:lstStyle/>
          <a:p>
            <a:pPr algn="l" indent="0" marL="0">
              <a:buNone/>
            </a:pPr>
            <a:r>
              <a:rPr lang="en-US" sz="1500" dirty="0">
                <a:solidFill>
                  <a:srgbClr val="16130E"/>
                </a:solidFill>
                <a:latin typeface="IBM Plex Sans KR" pitchFamily="34" charset="0"/>
                <a:ea typeface="IBM Plex Sans KR" pitchFamily="34" charset="-122"/>
                <a:cs typeface="IBM Plex Sans KR" pitchFamily="34" charset="-120"/>
              </a:rPr>
              <a:t>Split 설계</a:t>
            </a:r>
            <a:endParaRPr lang="en-US" sz="1500" dirty="0"/>
          </a:p>
        </p:txBody>
      </p:sp>
      <p:sp>
        <p:nvSpPr>
          <p:cNvPr id="23" name="Text 18"/>
          <p:cNvSpPr txBox="1"/>
          <p:nvPr/>
        </p:nvSpPr>
        <p:spPr>
          <a:xfrm>
            <a:off x="9905695" y="5943600"/>
            <a:ext cx="8097012" cy="267005"/>
          </a:xfrm>
          <a:prstGeom prst="rect">
            <a:avLst/>
          </a:prstGeom>
          <a:noFill/>
          <a:ln/>
        </p:spPr>
        <p:txBody>
          <a:bodyPr wrap="none" lIns="0" tIns="0" rIns="0" bIns="0" rtlCol="0" anchor="ctr"/>
          <a:lstStyle/>
          <a:p>
            <a:pPr algn="l" indent="0" marL="0">
              <a:buNone/>
            </a:pPr>
            <a:r>
              <a:rPr lang="en-US" sz="1350" dirty="0">
                <a:solidFill>
                  <a:srgbClr val="3A352D"/>
                </a:solidFill>
                <a:latin typeface="IBM Plex Sans KR" pitchFamily="34" charset="0"/>
                <a:ea typeface="IBM Plex Sans KR" pitchFamily="34" charset="-122"/>
                <a:cs typeface="IBM Plex Sans KR" pitchFamily="34" charset="-120"/>
              </a:rPr>
              <a:t>· 각 group 내 2 wafer는 동일 recipe · 동일 lot 시작점 — wafer간 변동성 baseline 확인</a:t>
            </a:r>
            <a:endParaRPr lang="en-US" sz="1350" dirty="0"/>
          </a:p>
        </p:txBody>
      </p:sp>
      <p:sp>
        <p:nvSpPr>
          <p:cNvPr id="24" name="Text 19"/>
          <p:cNvSpPr txBox="1"/>
          <p:nvPr/>
        </p:nvSpPr>
        <p:spPr>
          <a:xfrm>
            <a:off x="9905695" y="6304788"/>
            <a:ext cx="7620610" cy="267005"/>
          </a:xfrm>
          <a:prstGeom prst="rect">
            <a:avLst/>
          </a:prstGeom>
          <a:noFill/>
          <a:ln/>
        </p:spPr>
        <p:txBody>
          <a:bodyPr wrap="none" lIns="0" tIns="0" rIns="0" bIns="0" rtlCol="0" anchor="ctr"/>
          <a:lstStyle/>
          <a:p>
            <a:pPr algn="l" indent="0" marL="0">
              <a:buNone/>
            </a:pPr>
            <a:r>
              <a:rPr lang="en-US" sz="1350" dirty="0">
                <a:solidFill>
                  <a:srgbClr val="3A352D"/>
                </a:solidFill>
                <a:latin typeface="IBM Plex Sans KR" pitchFamily="34" charset="0"/>
                <a:ea typeface="IBM Plex Sans KR" pitchFamily="34" charset="-122"/>
                <a:cs typeface="IBM Plex Sans KR" pitchFamily="34" charset="-120"/>
              </a:rPr>
              <a:t>· Group 간 단일 변수 = air gap pinch-off 1 단계 적용 여부, 그 외 모든 layer 공통</a:t>
            </a:r>
            <a:endParaRPr lang="en-US" sz="1350" dirty="0"/>
          </a:p>
        </p:txBody>
      </p:sp>
      <p:sp>
        <p:nvSpPr>
          <p:cNvPr id="25" name="Text 20"/>
          <p:cNvSpPr txBox="1"/>
          <p:nvPr/>
        </p:nvSpPr>
        <p:spPr>
          <a:xfrm>
            <a:off x="9905695" y="6665062"/>
            <a:ext cx="8306410" cy="267005"/>
          </a:xfrm>
          <a:prstGeom prst="rect">
            <a:avLst/>
          </a:prstGeom>
          <a:noFill/>
          <a:ln/>
        </p:spPr>
        <p:txBody>
          <a:bodyPr wrap="none" lIns="0" tIns="0" rIns="0" bIns="0" rtlCol="0" anchor="ctr"/>
          <a:lstStyle/>
          <a:p>
            <a:pPr algn="l" indent="0" marL="0">
              <a:buNone/>
            </a:pPr>
            <a:r>
              <a:rPr lang="en-US" sz="1350" dirty="0">
                <a:solidFill>
                  <a:srgbClr val="3A352D"/>
                </a:solidFill>
                <a:latin typeface="IBM Plex Sans KR" pitchFamily="34" charset="0"/>
                <a:ea typeface="IBM Plex Sans KR" pitchFamily="34" charset="-122"/>
                <a:cs typeface="IBM Plex Sans KR" pitchFamily="34" charset="-120"/>
              </a:rPr>
              <a:t>· 측정 사이클 = AASI → ASEI → AMI → ACI 4 인라인 CD 포인트 + e-test + 25 pt wafer map</a:t>
            </a:r>
            <a:endParaRPr lang="en-US" sz="1350" dirty="0"/>
          </a:p>
        </p:txBody>
      </p:sp>
      <p:sp>
        <p:nvSpPr>
          <p:cNvPr id="26" name="Text 21"/>
          <p:cNvSpPr txBox="1"/>
          <p:nvPr/>
        </p:nvSpPr>
        <p:spPr>
          <a:xfrm>
            <a:off x="761695" y="8524951"/>
            <a:ext cx="16764610" cy="333756"/>
          </a:xfrm>
          <a:prstGeom prst="rect">
            <a:avLst/>
          </a:prstGeom>
          <a:noFill/>
          <a:ln/>
        </p:spPr>
        <p:txBody>
          <a:bodyPr wrap="none" lIns="0" tIns="0" rIns="0" bIns="0" rtlCol="0" anchor="ctr"/>
          <a:lstStyle/>
          <a:p>
            <a:pPr algn="l" indent="0" marL="0">
              <a:buNone/>
            </a:pPr>
            <a:r>
              <a:rPr lang="en-US" sz="1800" dirty="0">
                <a:solidFill>
                  <a:srgbClr val="16130E"/>
                </a:solidFill>
                <a:latin typeface="IBM Plex Sans KR" pitchFamily="34" charset="0"/>
                <a:ea typeface="IBM Plex Sans KR" pitchFamily="34" charset="-122"/>
                <a:cs typeface="IBM Plex Sans KR" pitchFamily="34" charset="-120"/>
              </a:rPr>
              <a:t>4 wafer는 air gap 적용 2매 / 미적용 2매 두 group으로 나뉘며, group 간 차이는 pinch-off 1단계 적용 여부 1개 변수로 한정한다.</a:t>
            </a:r>
            <a:endParaRPr lang="en-US" sz="1800" dirty="0"/>
          </a:p>
        </p:txBody>
      </p:sp>
      <p:sp>
        <p:nvSpPr>
          <p:cNvPr id="27" name="Shape 22"/>
          <p:cNvSpPr/>
          <p:nvPr/>
        </p:nvSpPr>
        <p:spPr>
          <a:xfrm>
            <a:off x="761695" y="8524951"/>
            <a:ext cx="133502" cy="133502"/>
          </a:xfrm>
          <a:prstGeom prst="rect">
            <a:avLst/>
          </a:prstGeom>
          <a:solidFill>
            <a:srgbClr val="BD4A22"/>
          </a:solidFill>
          <a:ln w="12700">
            <a:solidFill>
              <a:srgbClr val="FFFFFF">
                <a:alpha val="0"/>
              </a:srgbClr>
            </a:solidFill>
            <a:prstDash val="solid"/>
          </a:ln>
        </p:spPr>
      </p:sp>
      <p:sp>
        <p:nvSpPr>
          <p:cNvPr id="28" name="Text 23"/>
          <p:cNvSpPr txBox="1"/>
          <p:nvPr/>
        </p:nvSpPr>
        <p:spPr>
          <a:xfrm>
            <a:off x="761695" y="9715500"/>
            <a:ext cx="16764610" cy="191110"/>
          </a:xfrm>
          <a:prstGeom prst="rect">
            <a:avLst/>
          </a:prstGeom>
          <a:noFill/>
          <a:ln/>
        </p:spPr>
        <p:txBody>
          <a:bodyPr wrap="none" lIns="0" tIns="0" rIns="0" bIns="0" rtlCol="0" anchor="ctr"/>
          <a:lstStyle/>
          <a:p>
            <a:pPr algn="l" indent="0" marL="0">
              <a:buNone/>
            </a:pPr>
            <a:r>
              <a:rPr lang="en-US" sz="1050" spc="42" kern="0" dirty="0">
                <a:solidFill>
                  <a:srgbClr val="756E5F"/>
                </a:solidFill>
                <a:latin typeface="IBM Plex Mono" pitchFamily="34" charset="0"/>
                <a:ea typeface="IBM Plex Mono" pitchFamily="34" charset="-122"/>
                <a:cs typeface="IBM Plex Mono" pitchFamily="34" charset="-120"/>
              </a:rPr>
              <a:t>※ 내부 테스트용 더미(가상) 데이터</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ECE1"/>
        </a:solidFill>
      </p:bgPr>
    </p:bg>
    <p:spTree>
      <p:nvGrpSpPr>
        <p:cNvPr id="1" name=""/>
        <p:cNvGrpSpPr/>
        <p:nvPr/>
      </p:nvGrpSpPr>
      <p:grpSpPr>
        <a:xfrm>
          <a:off x="0" y="0"/>
          <a:ext cx="0" cy="0"/>
          <a:chOff x="0" y="0"/>
          <a:chExt cx="0" cy="0"/>
        </a:xfrm>
      </p:grpSpPr>
      <p:pic>
        <p:nvPicPr>
          <p:cNvPr id="3" name="Image 0" descr="gen-dedup-ddc72069e50c60be25b8eb9ead861247.png">    </p:cNvPr>
          <p:cNvPicPr>
            <a:picLocks noChangeAspect="1"/>
          </p:cNvPicPr>
          <p:nvPr/>
        </p:nvPicPr>
        <p:blipFill>
          <a:blip r:embed="rId1"/>
          <a:srcRect l="-422" r="-422" t="0" b="0"/>
          <a:stretch/>
        </p:blipFill>
        <p:spPr>
          <a:xfrm>
            <a:off x="761695" y="1904695"/>
            <a:ext cx="838505" cy="28346"/>
          </a:xfrm>
          <a:prstGeom prst="rect">
            <a:avLst/>
          </a:prstGeom>
        </p:spPr>
      </p:pic>
      <p:sp>
        <p:nvSpPr>
          <p:cNvPr id="4" name="Shape 0"/>
          <p:cNvSpPr/>
          <p:nvPr/>
        </p:nvSpPr>
        <p:spPr>
          <a:xfrm>
            <a:off x="761695" y="2857500"/>
            <a:ext cx="8001000" cy="4095598"/>
          </a:xfrm>
          <a:prstGeom prst="roundRect">
            <a:avLst>
              <a:gd name="adj" fmla="val 938"/>
            </a:avLst>
          </a:prstGeom>
          <a:solidFill>
            <a:srgbClr val="0F1419"/>
          </a:solidFill>
          <a:ln w="12700">
            <a:solidFill>
              <a:srgbClr val="D6CFBB"/>
            </a:solidFill>
            <a:prstDash val="solid"/>
          </a:ln>
        </p:spPr>
      </p:sp>
      <p:sp>
        <p:nvSpPr>
          <p:cNvPr id="5" name="Shape 1"/>
          <p:cNvSpPr/>
          <p:nvPr/>
        </p:nvSpPr>
        <p:spPr>
          <a:xfrm>
            <a:off x="9525305" y="2857500"/>
            <a:ext cx="8001000" cy="4095598"/>
          </a:xfrm>
          <a:prstGeom prst="roundRect">
            <a:avLst>
              <a:gd name="adj" fmla="val 938"/>
            </a:avLst>
          </a:prstGeom>
          <a:solidFill>
            <a:srgbClr val="0F1419"/>
          </a:solidFill>
          <a:ln w="12700">
            <a:solidFill>
              <a:srgbClr val="D6CFBB"/>
            </a:solidFill>
            <a:prstDash val="solid"/>
          </a:ln>
        </p:spPr>
      </p:sp>
      <p:pic>
        <p:nvPicPr>
          <p:cNvPr id="6" name="Image 1" descr="gen-dedup-02ceff58a00026d276f9dadcbf5c2fd4.png">    </p:cNvPr>
          <p:cNvPicPr>
            <a:picLocks noChangeAspect="1"/>
          </p:cNvPicPr>
          <p:nvPr/>
        </p:nvPicPr>
        <p:blipFill>
          <a:blip r:embed="rId2"/>
          <a:stretch>
            <a:fillRect/>
          </a:stretch>
        </p:blipFill>
        <p:spPr>
          <a:xfrm>
            <a:off x="857707" y="2952598"/>
            <a:ext cx="7810805" cy="3905402"/>
          </a:xfrm>
          <a:prstGeom prst="rect">
            <a:avLst/>
          </a:prstGeom>
        </p:spPr>
      </p:pic>
      <p:pic>
        <p:nvPicPr>
          <p:cNvPr id="7" name="Image 2" descr="gen-dedup-8b5545e8f21a3562ecc83629c96d7242.jpg">    </p:cNvPr>
          <p:cNvPicPr>
            <a:picLocks noChangeAspect="1"/>
          </p:cNvPicPr>
          <p:nvPr/>
        </p:nvPicPr>
        <p:blipFill>
          <a:blip r:embed="rId3"/>
          <a:stretch>
            <a:fillRect/>
          </a:stretch>
        </p:blipFill>
        <p:spPr>
          <a:xfrm>
            <a:off x="9620402" y="2952598"/>
            <a:ext cx="7810805" cy="3905402"/>
          </a:xfrm>
          <a:prstGeom prst="rect">
            <a:avLst/>
          </a:prstGeom>
        </p:spPr>
      </p:pic>
      <p:sp>
        <p:nvSpPr>
          <p:cNvPr id="8" name="Text 2"/>
          <p:cNvSpPr txBox="1"/>
          <p:nvPr/>
        </p:nvSpPr>
        <p:spPr>
          <a:xfrm>
            <a:off x="761695" y="761695"/>
            <a:ext cx="5715000" cy="191110"/>
          </a:xfrm>
          <a:prstGeom prst="rect">
            <a:avLst/>
          </a:prstGeom>
          <a:noFill/>
          <a:ln/>
        </p:spPr>
        <p:txBody>
          <a:bodyPr wrap="none" lIns="0" tIns="0" rIns="0" bIns="0" rtlCol="0" anchor="ctr"/>
          <a:lstStyle/>
          <a:p>
            <a:pPr algn="l" indent="0" marL="0">
              <a:buNone/>
            </a:pPr>
            <a:r>
              <a:rPr lang="en-US" sz="1050" spc="189" kern="0" dirty="0">
                <a:solidFill>
                  <a:srgbClr val="756E5F"/>
                </a:solidFill>
                <a:latin typeface="IBM Plex Mono" pitchFamily="34" charset="0"/>
                <a:ea typeface="IBM Plex Mono" pitchFamily="34" charset="-122"/>
                <a:cs typeface="IBM Plex Mono" pitchFamily="34" charset="-120"/>
              </a:rPr>
              <a:t>03 · 단면 관찰</a:t>
            </a:r>
            <a:endParaRPr lang="en-US" sz="1050" dirty="0"/>
          </a:p>
        </p:txBody>
      </p:sp>
      <p:sp>
        <p:nvSpPr>
          <p:cNvPr id="9" name="Text 3"/>
          <p:cNvSpPr txBox="1"/>
          <p:nvPr/>
        </p:nvSpPr>
        <p:spPr>
          <a:xfrm>
            <a:off x="761695" y="1143000"/>
            <a:ext cx="16193110" cy="523951"/>
          </a:xfrm>
          <a:prstGeom prst="rect">
            <a:avLst/>
          </a:prstGeom>
          <a:noFill/>
          <a:ln/>
        </p:spPr>
        <p:txBody>
          <a:bodyPr wrap="none" lIns="0" tIns="0" rIns="0" bIns="0" rtlCol="0" anchor="ctr"/>
          <a:lstStyle/>
          <a:p>
            <a:pPr algn="l" indent="0" marL="0">
              <a:buNone/>
            </a:pPr>
            <a:r>
              <a:rPr lang="en-US" sz="3750" b="1" spc="-75" kern="0" dirty="0">
                <a:solidFill>
                  <a:srgbClr val="16130E"/>
                </a:solidFill>
                <a:latin typeface="IBM Plex Sans KR" pitchFamily="34" charset="0"/>
                <a:ea typeface="IBM Plex Sans KR" pitchFamily="34" charset="-122"/>
                <a:cs typeface="IBM Plex Sans KR" pitchFamily="34" charset="-120"/>
              </a:rPr>
              <a:t>M3 Layer SEM 단면 — Air gap 적용 vs 미적용</a:t>
            </a:r>
            <a:endParaRPr lang="en-US" sz="3750" dirty="0"/>
          </a:p>
        </p:txBody>
      </p:sp>
      <p:sp>
        <p:nvSpPr>
          <p:cNvPr id="10" name="Shape 4"/>
          <p:cNvSpPr/>
          <p:nvPr/>
        </p:nvSpPr>
        <p:spPr>
          <a:xfrm>
            <a:off x="761695" y="2381098"/>
            <a:ext cx="133502" cy="133502"/>
          </a:xfrm>
          <a:prstGeom prst="rect">
            <a:avLst/>
          </a:prstGeom>
          <a:solidFill>
            <a:srgbClr val="155E63"/>
          </a:solidFill>
          <a:ln w="12700">
            <a:solidFill>
              <a:srgbClr val="FFFFFF">
                <a:alpha val="0"/>
              </a:srgbClr>
            </a:solidFill>
            <a:prstDash val="solid"/>
          </a:ln>
        </p:spPr>
      </p:sp>
      <p:sp>
        <p:nvSpPr>
          <p:cNvPr id="11" name="Text 5"/>
          <p:cNvSpPr txBox="1"/>
          <p:nvPr/>
        </p:nvSpPr>
        <p:spPr>
          <a:xfrm>
            <a:off x="1028700" y="2286000"/>
            <a:ext cx="2925166" cy="314554"/>
          </a:xfrm>
          <a:prstGeom prst="rect">
            <a:avLst/>
          </a:prstGeom>
          <a:noFill/>
          <a:ln/>
        </p:spPr>
        <p:txBody>
          <a:bodyPr wrap="none" lIns="0" tIns="0" rIns="0" bIns="0" rtlCol="0" anchor="ctr"/>
          <a:lstStyle/>
          <a:p>
            <a:pPr algn="l" indent="0" marL="0">
              <a:buNone/>
            </a:pPr>
            <a:r>
              <a:rPr lang="en-US" sz="1650" spc="66" kern="0" dirty="0">
                <a:solidFill>
                  <a:srgbClr val="155E63"/>
                </a:solidFill>
                <a:latin typeface="IBM Plex Sans KR" pitchFamily="34" charset="0"/>
                <a:ea typeface="IBM Plex Sans KR" pitchFamily="34" charset="-122"/>
                <a:cs typeface="IBM Plex Sans KR" pitchFamily="34" charset="-120"/>
              </a:rPr>
              <a:t>GROUP A · AIR GAP 적용</a:t>
            </a:r>
            <a:endParaRPr lang="en-US" sz="1650" dirty="0"/>
          </a:p>
        </p:txBody>
      </p:sp>
      <p:sp>
        <p:nvSpPr>
          <p:cNvPr id="12" name="Text 6"/>
          <p:cNvSpPr txBox="1"/>
          <p:nvPr/>
        </p:nvSpPr>
        <p:spPr>
          <a:xfrm>
            <a:off x="1028700" y="2676449"/>
            <a:ext cx="7734910" cy="247802"/>
          </a:xfrm>
          <a:prstGeom prst="rect">
            <a:avLst/>
          </a:prstGeom>
          <a:noFill/>
          <a:ln/>
        </p:spPr>
        <p:txBody>
          <a:bodyPr wrap="none" lIns="0" tIns="0" rIns="0" bIns="0" rtlCol="0" anchor="ctr"/>
          <a:lstStyle/>
          <a:p>
            <a:pPr algn="l" indent="0" marL="0">
              <a:buNone/>
            </a:pPr>
            <a:r>
              <a:rPr lang="en-US" sz="1350" dirty="0">
                <a:solidFill>
                  <a:srgbClr val="756E5F"/>
                </a:solidFill>
                <a:latin typeface="IBM Plex Mono" pitchFamily="34" charset="0"/>
                <a:ea typeface="IBM Plex Mono" pitchFamily="34" charset="-122"/>
                <a:cs typeface="IBM Plex Mono" pitchFamily="34" charset="-120"/>
              </a:rPr>
              <a:t>W01 · W02 대표 단면</a:t>
            </a:r>
            <a:endParaRPr lang="en-US" sz="1350" dirty="0"/>
          </a:p>
        </p:txBody>
      </p:sp>
      <p:sp>
        <p:nvSpPr>
          <p:cNvPr id="13" name="Text 7"/>
          <p:cNvSpPr txBox="1"/>
          <p:nvPr/>
        </p:nvSpPr>
        <p:spPr>
          <a:xfrm>
            <a:off x="761695" y="7086600"/>
            <a:ext cx="8001000" cy="181051"/>
          </a:xfrm>
          <a:prstGeom prst="rect">
            <a:avLst/>
          </a:prstGeom>
          <a:noFill/>
          <a:ln/>
        </p:spPr>
        <p:txBody>
          <a:bodyPr wrap="none" lIns="0" tIns="0" rIns="0" bIns="0" rtlCol="0" anchor="ctr"/>
          <a:lstStyle/>
          <a:p>
            <a:pPr algn="l" indent="0" marL="0">
              <a:buNone/>
            </a:pPr>
            <a:r>
              <a:rPr lang="en-US" sz="975" spc="39" kern="0" dirty="0">
                <a:solidFill>
                  <a:srgbClr val="756E5F"/>
                </a:solidFill>
                <a:latin typeface="IBM Plex Mono" pitchFamily="34" charset="0"/>
                <a:ea typeface="IBM Plex Mono" pitchFamily="34" charset="-122"/>
                <a:cs typeface="IBM Plex Mono" pitchFamily="34" charset="-120"/>
              </a:rPr>
              <a:t>출처: Semiconductor Engineering — "Reducing BEOL Parasitic Capacitance Using Air Gaps"</a:t>
            </a:r>
            <a:endParaRPr lang="en-US" sz="975" dirty="0"/>
          </a:p>
        </p:txBody>
      </p:sp>
      <p:sp>
        <p:nvSpPr>
          <p:cNvPr id="14" name="Text 8"/>
          <p:cNvSpPr txBox="1"/>
          <p:nvPr/>
        </p:nvSpPr>
        <p:spPr>
          <a:xfrm>
            <a:off x="987552" y="7524598"/>
            <a:ext cx="4972507" cy="257861"/>
          </a:xfrm>
          <a:prstGeom prst="rect">
            <a:avLst/>
          </a:prstGeom>
          <a:noFill/>
          <a:ln/>
        </p:spPr>
        <p:txBody>
          <a:bodyPr wrap="none" lIns="0" tIns="0" rIns="0" bIns="0" rtlCol="0" anchor="ctr"/>
          <a:lstStyle/>
          <a:p>
            <a:pPr algn="l" indent="0" marL="0">
              <a:buNone/>
            </a:pPr>
            <a:r>
              <a:rPr lang="en-US" sz="1350" dirty="0">
                <a:solidFill>
                  <a:srgbClr val="3A352D"/>
                </a:solidFill>
                <a:latin typeface="IBM Plex Sans KR" pitchFamily="34" charset="0"/>
                <a:ea typeface="IBM Plex Sans KR" pitchFamily="34" charset="-122"/>
                <a:cs typeface="IBM Plex Sans KR" pitchFamily="34" charset="-120"/>
              </a:rPr>
              <a:t>라인-라인 사이 빈 공간(air cavity) 가시형성 — pinch-off 성공</a:t>
            </a:r>
            <a:endParaRPr lang="en-US" sz="1350" dirty="0"/>
          </a:p>
        </p:txBody>
      </p:sp>
      <p:sp>
        <p:nvSpPr>
          <p:cNvPr id="15" name="Text 9"/>
          <p:cNvSpPr txBox="1"/>
          <p:nvPr/>
        </p:nvSpPr>
        <p:spPr>
          <a:xfrm>
            <a:off x="987552" y="7849210"/>
            <a:ext cx="4572000" cy="257861"/>
          </a:xfrm>
          <a:prstGeom prst="rect">
            <a:avLst/>
          </a:prstGeom>
          <a:noFill/>
          <a:ln/>
        </p:spPr>
        <p:txBody>
          <a:bodyPr wrap="none" lIns="0" tIns="0" rIns="0" bIns="0" rtlCol="0" anchor="ctr"/>
          <a:lstStyle/>
          <a:p>
            <a:pPr algn="l" indent="0" marL="0">
              <a:buNone/>
            </a:pPr>
            <a:r>
              <a:rPr lang="en-US" sz="1350" dirty="0">
                <a:solidFill>
                  <a:srgbClr val="3A352D"/>
                </a:solidFill>
                <a:latin typeface="IBM Plex Sans KR" pitchFamily="34" charset="0"/>
                <a:ea typeface="IBM Plex Sans KR" pitchFamily="34" charset="-122"/>
                <a:cs typeface="IBM Plex Sans KR" pitchFamily="34" charset="-120"/>
              </a:rPr>
              <a:t>라인 상단 seal SiCN 두께 양호, 라인 profile 직립성 유지</a:t>
            </a:r>
            <a:endParaRPr lang="en-US" sz="1350" dirty="0"/>
          </a:p>
        </p:txBody>
      </p:sp>
      <p:sp>
        <p:nvSpPr>
          <p:cNvPr id="16" name="Shape 10"/>
          <p:cNvSpPr/>
          <p:nvPr/>
        </p:nvSpPr>
        <p:spPr>
          <a:xfrm>
            <a:off x="9525305" y="2381098"/>
            <a:ext cx="133502" cy="133502"/>
          </a:xfrm>
          <a:prstGeom prst="rect">
            <a:avLst/>
          </a:prstGeom>
          <a:solidFill>
            <a:srgbClr val="9A4520"/>
          </a:solidFill>
          <a:ln w="12700">
            <a:solidFill>
              <a:srgbClr val="FFFFFF">
                <a:alpha val="0"/>
              </a:srgbClr>
            </a:solidFill>
            <a:prstDash val="solid"/>
          </a:ln>
        </p:spPr>
      </p:sp>
      <p:sp>
        <p:nvSpPr>
          <p:cNvPr id="17" name="Text 11"/>
          <p:cNvSpPr txBox="1"/>
          <p:nvPr/>
        </p:nvSpPr>
        <p:spPr>
          <a:xfrm>
            <a:off x="9791395" y="2286000"/>
            <a:ext cx="2636215" cy="314554"/>
          </a:xfrm>
          <a:prstGeom prst="rect">
            <a:avLst/>
          </a:prstGeom>
          <a:noFill/>
          <a:ln/>
        </p:spPr>
        <p:txBody>
          <a:bodyPr wrap="none" lIns="0" tIns="0" rIns="0" bIns="0" rtlCol="0" anchor="ctr"/>
          <a:lstStyle/>
          <a:p>
            <a:pPr algn="l" indent="0" marL="0">
              <a:buNone/>
            </a:pPr>
            <a:r>
              <a:rPr lang="en-US" sz="1650" spc="66" kern="0" dirty="0">
                <a:solidFill>
                  <a:srgbClr val="9A4520"/>
                </a:solidFill>
                <a:latin typeface="IBM Plex Sans KR" pitchFamily="34" charset="0"/>
                <a:ea typeface="IBM Plex Sans KR" pitchFamily="34" charset="-122"/>
                <a:cs typeface="IBM Plex Sans KR" pitchFamily="34" charset="-120"/>
              </a:rPr>
              <a:t>GROUP B · REFERENCE</a:t>
            </a:r>
            <a:endParaRPr lang="en-US" sz="1650" dirty="0"/>
          </a:p>
        </p:txBody>
      </p:sp>
      <p:sp>
        <p:nvSpPr>
          <p:cNvPr id="18" name="Text 12"/>
          <p:cNvSpPr txBox="1"/>
          <p:nvPr/>
        </p:nvSpPr>
        <p:spPr>
          <a:xfrm>
            <a:off x="9791395" y="2676449"/>
            <a:ext cx="7734910" cy="247802"/>
          </a:xfrm>
          <a:prstGeom prst="rect">
            <a:avLst/>
          </a:prstGeom>
          <a:noFill/>
          <a:ln/>
        </p:spPr>
        <p:txBody>
          <a:bodyPr wrap="none" lIns="0" tIns="0" rIns="0" bIns="0" rtlCol="0" anchor="ctr"/>
          <a:lstStyle/>
          <a:p>
            <a:pPr algn="l" indent="0" marL="0">
              <a:buNone/>
            </a:pPr>
            <a:r>
              <a:rPr lang="en-US" sz="1350" dirty="0">
                <a:solidFill>
                  <a:srgbClr val="756E5F"/>
                </a:solidFill>
                <a:latin typeface="IBM Plex Mono" pitchFamily="34" charset="0"/>
                <a:ea typeface="IBM Plex Mono" pitchFamily="34" charset="-122"/>
                <a:cs typeface="IBM Plex Mono" pitchFamily="34" charset="-120"/>
              </a:rPr>
              <a:t>W03 · W04 대표 단면</a:t>
            </a:r>
            <a:endParaRPr lang="en-US" sz="1350" dirty="0"/>
          </a:p>
        </p:txBody>
      </p:sp>
      <p:sp>
        <p:nvSpPr>
          <p:cNvPr id="19" name="Text 13"/>
          <p:cNvSpPr txBox="1"/>
          <p:nvPr/>
        </p:nvSpPr>
        <p:spPr>
          <a:xfrm>
            <a:off x="9525305" y="7086600"/>
            <a:ext cx="8001000" cy="181051"/>
          </a:xfrm>
          <a:prstGeom prst="rect">
            <a:avLst/>
          </a:prstGeom>
          <a:noFill/>
          <a:ln/>
        </p:spPr>
        <p:txBody>
          <a:bodyPr wrap="none" lIns="0" tIns="0" rIns="0" bIns="0" rtlCol="0" anchor="ctr"/>
          <a:lstStyle/>
          <a:p>
            <a:pPr algn="l" indent="0" marL="0">
              <a:buNone/>
            </a:pPr>
            <a:r>
              <a:rPr lang="en-US" sz="975" spc="39" kern="0" dirty="0">
                <a:solidFill>
                  <a:srgbClr val="756E5F"/>
                </a:solidFill>
                <a:latin typeface="IBM Plex Mono" pitchFamily="34" charset="0"/>
                <a:ea typeface="IBM Plex Mono" pitchFamily="34" charset="-122"/>
                <a:cs typeface="IBM Plex Mono" pitchFamily="34" charset="-120"/>
              </a:rPr>
              <a:t>출처: Semiconductor Digest — Intel 4 process cross-section</a:t>
            </a:r>
            <a:endParaRPr lang="en-US" sz="975" dirty="0"/>
          </a:p>
        </p:txBody>
      </p:sp>
      <p:sp>
        <p:nvSpPr>
          <p:cNvPr id="20" name="Text 14"/>
          <p:cNvSpPr txBox="1"/>
          <p:nvPr/>
        </p:nvSpPr>
        <p:spPr>
          <a:xfrm>
            <a:off x="9750247" y="7524598"/>
            <a:ext cx="4881982" cy="257861"/>
          </a:xfrm>
          <a:prstGeom prst="rect">
            <a:avLst/>
          </a:prstGeom>
          <a:noFill/>
          <a:ln/>
        </p:spPr>
        <p:txBody>
          <a:bodyPr wrap="none" lIns="0" tIns="0" rIns="0" bIns="0" rtlCol="0" anchor="ctr"/>
          <a:lstStyle/>
          <a:p>
            <a:pPr algn="l" indent="0" marL="0">
              <a:buNone/>
            </a:pPr>
            <a:r>
              <a:rPr lang="en-US" sz="1350" dirty="0">
                <a:solidFill>
                  <a:srgbClr val="3A352D"/>
                </a:solidFill>
                <a:latin typeface="IBM Plex Sans KR" pitchFamily="34" charset="0"/>
                <a:ea typeface="IBM Plex Sans KR" pitchFamily="34" charset="-122"/>
                <a:cs typeface="IBM Plex Sans KR" pitchFamily="34" charset="-120"/>
              </a:rPr>
              <a:t>라인 사이 절연체가 완전히 채워진 dense 인터커넥트 구조</a:t>
            </a:r>
            <a:endParaRPr lang="en-US" sz="1350" dirty="0"/>
          </a:p>
        </p:txBody>
      </p:sp>
      <p:sp>
        <p:nvSpPr>
          <p:cNvPr id="21" name="Text 15"/>
          <p:cNvSpPr txBox="1"/>
          <p:nvPr/>
        </p:nvSpPr>
        <p:spPr>
          <a:xfrm>
            <a:off x="9750247" y="7849210"/>
            <a:ext cx="4534510" cy="257861"/>
          </a:xfrm>
          <a:prstGeom prst="rect">
            <a:avLst/>
          </a:prstGeom>
          <a:noFill/>
          <a:ln/>
        </p:spPr>
        <p:txBody>
          <a:bodyPr wrap="none" lIns="0" tIns="0" rIns="0" bIns="0" rtlCol="0" anchor="ctr"/>
          <a:lstStyle/>
          <a:p>
            <a:pPr algn="l" indent="0" marL="0">
              <a:buNone/>
            </a:pPr>
            <a:r>
              <a:rPr lang="en-US" sz="1350" dirty="0">
                <a:solidFill>
                  <a:srgbClr val="3A352D"/>
                </a:solidFill>
                <a:latin typeface="IBM Plex Sans KR" pitchFamily="34" charset="0"/>
                <a:ea typeface="IBM Plex Sans KR" pitchFamily="34" charset="-122"/>
                <a:cs typeface="IBM Plex Sans KR" pitchFamily="34" charset="-120"/>
              </a:rPr>
              <a:t>k ≈ 2.6 baseline, 라인 프로파일은 동일 recipe로 형성</a:t>
            </a:r>
            <a:endParaRPr lang="en-US" sz="1350" dirty="0"/>
          </a:p>
        </p:txBody>
      </p:sp>
      <p:sp>
        <p:nvSpPr>
          <p:cNvPr id="22" name="Text 16"/>
          <p:cNvSpPr txBox="1"/>
          <p:nvPr/>
        </p:nvSpPr>
        <p:spPr>
          <a:xfrm>
            <a:off x="761695" y="8524951"/>
            <a:ext cx="16764610" cy="333756"/>
          </a:xfrm>
          <a:prstGeom prst="rect">
            <a:avLst/>
          </a:prstGeom>
          <a:noFill/>
          <a:ln/>
        </p:spPr>
        <p:txBody>
          <a:bodyPr wrap="none" lIns="0" tIns="0" rIns="0" bIns="0" rtlCol="0" anchor="ctr"/>
          <a:lstStyle/>
          <a:p>
            <a:pPr algn="l" indent="0" marL="0">
              <a:buNone/>
            </a:pPr>
            <a:r>
              <a:rPr lang="en-US" sz="1800" dirty="0">
                <a:solidFill>
                  <a:srgbClr val="16130E"/>
                </a:solidFill>
                <a:latin typeface="IBM Plex Sans KR" pitchFamily="34" charset="0"/>
                <a:ea typeface="IBM Plex Sans KR" pitchFamily="34" charset="-122"/>
                <a:cs typeface="IBM Plex Sans KR" pitchFamily="34" charset="-120"/>
              </a:rPr>
              <a:t>양쪽 단면 모두 라인 직립성과 profile 무결성은 유지되었으며, 라인 사이 빈 공간 형성 여부만이 가시적으로 구분되는 단일 차이점임을 확인한다.</a:t>
            </a:r>
            <a:endParaRPr lang="en-US" sz="1800" dirty="0"/>
          </a:p>
        </p:txBody>
      </p:sp>
      <p:sp>
        <p:nvSpPr>
          <p:cNvPr id="23" name="Shape 17"/>
          <p:cNvSpPr/>
          <p:nvPr/>
        </p:nvSpPr>
        <p:spPr>
          <a:xfrm>
            <a:off x="761695" y="8524951"/>
            <a:ext cx="133502" cy="133502"/>
          </a:xfrm>
          <a:prstGeom prst="rect">
            <a:avLst/>
          </a:prstGeom>
          <a:solidFill>
            <a:srgbClr val="BD4A22"/>
          </a:solidFill>
          <a:ln w="12700">
            <a:solidFill>
              <a:srgbClr val="FFFFFF">
                <a:alpha val="0"/>
              </a:srgbClr>
            </a:solidFill>
            <a:prstDash val="solid"/>
          </a:ln>
        </p:spPr>
      </p:sp>
      <p:sp>
        <p:nvSpPr>
          <p:cNvPr id="24" name="Text 18"/>
          <p:cNvSpPr txBox="1"/>
          <p:nvPr/>
        </p:nvSpPr>
        <p:spPr>
          <a:xfrm>
            <a:off x="761695" y="9715500"/>
            <a:ext cx="16764610" cy="191110"/>
          </a:xfrm>
          <a:prstGeom prst="rect">
            <a:avLst/>
          </a:prstGeom>
          <a:noFill/>
          <a:ln/>
        </p:spPr>
        <p:txBody>
          <a:bodyPr wrap="none" lIns="0" tIns="0" rIns="0" bIns="0" rtlCol="0" anchor="ctr"/>
          <a:lstStyle/>
          <a:p>
            <a:pPr algn="l" indent="0" marL="0">
              <a:buNone/>
            </a:pPr>
            <a:r>
              <a:rPr lang="en-US" sz="1050" spc="42" kern="0" dirty="0">
                <a:solidFill>
                  <a:srgbClr val="756E5F"/>
                </a:solidFill>
                <a:latin typeface="IBM Plex Mono" pitchFamily="34" charset="0"/>
                <a:ea typeface="IBM Plex Mono" pitchFamily="34" charset="-122"/>
                <a:cs typeface="IBM Plex Mono" pitchFamily="34" charset="-120"/>
              </a:rPr>
              <a:t>※ 내부 테스트용 더미(가상) 데이터</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ECE1"/>
        </a:solidFill>
      </p:bgPr>
    </p:bg>
    <p:spTree>
      <p:nvGrpSpPr>
        <p:cNvPr id="1" name=""/>
        <p:cNvGrpSpPr/>
        <p:nvPr/>
      </p:nvGrpSpPr>
      <p:grpSpPr>
        <a:xfrm>
          <a:off x="0" y="0"/>
          <a:ext cx="0" cy="0"/>
          <a:chOff x="0" y="0"/>
          <a:chExt cx="0" cy="0"/>
        </a:xfrm>
      </p:grpSpPr>
      <p:pic>
        <p:nvPicPr>
          <p:cNvPr id="3" name="Image 0" descr="gen-dedup-ddc72069e50c60be25b8eb9ead861247.png">    </p:cNvPr>
          <p:cNvPicPr>
            <a:picLocks noChangeAspect="1"/>
          </p:cNvPicPr>
          <p:nvPr/>
        </p:nvPicPr>
        <p:blipFill>
          <a:blip r:embed="rId1"/>
          <a:srcRect l="-422" r="-422" t="0" b="0"/>
          <a:stretch/>
        </p:blipFill>
        <p:spPr>
          <a:xfrm>
            <a:off x="761695" y="1904695"/>
            <a:ext cx="838505" cy="28346"/>
          </a:xfrm>
          <a:prstGeom prst="rect">
            <a:avLst/>
          </a:prstGeom>
        </p:spPr>
      </p:pic>
      <p:sp>
        <p:nvSpPr>
          <p:cNvPr id="4" name="Shape 0"/>
          <p:cNvSpPr/>
          <p:nvPr/>
        </p:nvSpPr>
        <p:spPr>
          <a:xfrm>
            <a:off x="761695" y="2743200"/>
            <a:ext cx="8001000" cy="3810305"/>
          </a:xfrm>
          <a:prstGeom prst="roundRect">
            <a:avLst>
              <a:gd name="adj" fmla="val 1008"/>
            </a:avLst>
          </a:prstGeom>
          <a:solidFill>
            <a:srgbClr val="0F1419"/>
          </a:solidFill>
          <a:ln w="12700">
            <a:solidFill>
              <a:srgbClr val="D6CFBB"/>
            </a:solidFill>
            <a:prstDash val="solid"/>
          </a:ln>
        </p:spPr>
      </p:sp>
      <p:sp>
        <p:nvSpPr>
          <p:cNvPr id="5" name="Shape 1"/>
          <p:cNvSpPr/>
          <p:nvPr/>
        </p:nvSpPr>
        <p:spPr>
          <a:xfrm>
            <a:off x="9525305" y="2743200"/>
            <a:ext cx="8001000" cy="3810305"/>
          </a:xfrm>
          <a:prstGeom prst="roundRect">
            <a:avLst>
              <a:gd name="adj" fmla="val 1008"/>
            </a:avLst>
          </a:prstGeom>
          <a:solidFill>
            <a:srgbClr val="0F1419"/>
          </a:solidFill>
          <a:ln w="12700">
            <a:solidFill>
              <a:srgbClr val="D6CFBB"/>
            </a:solidFill>
            <a:prstDash val="solid"/>
          </a:ln>
        </p:spPr>
      </p:sp>
      <p:pic>
        <p:nvPicPr>
          <p:cNvPr id="6" name="Image 1" descr="gen-dedup-ce7e58299e729954a9ff835eeec97fc9.jpg">    </p:cNvPr>
          <p:cNvPicPr>
            <a:picLocks noChangeAspect="1"/>
          </p:cNvPicPr>
          <p:nvPr/>
        </p:nvPicPr>
        <p:blipFill>
          <a:blip r:embed="rId2"/>
          <a:stretch>
            <a:fillRect/>
          </a:stretch>
        </p:blipFill>
        <p:spPr>
          <a:xfrm>
            <a:off x="857707" y="2838298"/>
            <a:ext cx="7810805" cy="3619195"/>
          </a:xfrm>
          <a:prstGeom prst="rect">
            <a:avLst/>
          </a:prstGeom>
        </p:spPr>
      </p:pic>
      <p:pic>
        <p:nvPicPr>
          <p:cNvPr id="7" name="Image 2" descr="gen-dedup-eab1ebabd8a8b4124789b876b261cfc9.jpg">    </p:cNvPr>
          <p:cNvPicPr>
            <a:picLocks noChangeAspect="1"/>
          </p:cNvPicPr>
          <p:nvPr/>
        </p:nvPicPr>
        <p:blipFill>
          <a:blip r:embed="rId3"/>
          <a:srcRect l="-43193" r="-43193" t="0" b="0"/>
          <a:stretch/>
        </p:blipFill>
        <p:spPr>
          <a:xfrm>
            <a:off x="9620402" y="2838298"/>
            <a:ext cx="7810805" cy="3619195"/>
          </a:xfrm>
          <a:prstGeom prst="rect">
            <a:avLst/>
          </a:prstGeom>
        </p:spPr>
      </p:pic>
      <p:sp>
        <p:nvSpPr>
          <p:cNvPr id="8" name="Text 2"/>
          <p:cNvSpPr txBox="1"/>
          <p:nvPr/>
        </p:nvSpPr>
        <p:spPr>
          <a:xfrm>
            <a:off x="761695" y="761695"/>
            <a:ext cx="5715000" cy="191110"/>
          </a:xfrm>
          <a:prstGeom prst="rect">
            <a:avLst/>
          </a:prstGeom>
          <a:noFill/>
          <a:ln/>
        </p:spPr>
        <p:txBody>
          <a:bodyPr wrap="none" lIns="0" tIns="0" rIns="0" bIns="0" rtlCol="0" anchor="ctr"/>
          <a:lstStyle/>
          <a:p>
            <a:pPr algn="l" indent="0" marL="0">
              <a:buNone/>
            </a:pPr>
            <a:r>
              <a:rPr lang="en-US" sz="1050" spc="189" kern="0" dirty="0">
                <a:solidFill>
                  <a:srgbClr val="756E5F"/>
                </a:solidFill>
                <a:latin typeface="IBM Plex Mono" pitchFamily="34" charset="0"/>
                <a:ea typeface="IBM Plex Mono" pitchFamily="34" charset="-122"/>
                <a:cs typeface="IBM Plex Mono" pitchFamily="34" charset="-120"/>
              </a:rPr>
              <a:t>04 · 부가 관찰</a:t>
            </a:r>
            <a:endParaRPr lang="en-US" sz="1050" dirty="0"/>
          </a:p>
        </p:txBody>
      </p:sp>
      <p:sp>
        <p:nvSpPr>
          <p:cNvPr id="9" name="Text 3"/>
          <p:cNvSpPr txBox="1"/>
          <p:nvPr/>
        </p:nvSpPr>
        <p:spPr>
          <a:xfrm>
            <a:off x="761695" y="1143000"/>
            <a:ext cx="16193110" cy="523951"/>
          </a:xfrm>
          <a:prstGeom prst="rect">
            <a:avLst/>
          </a:prstGeom>
          <a:noFill/>
          <a:ln/>
        </p:spPr>
        <p:txBody>
          <a:bodyPr wrap="none" lIns="0" tIns="0" rIns="0" bIns="0" rtlCol="0" anchor="ctr"/>
          <a:lstStyle/>
          <a:p>
            <a:pPr algn="l" indent="0" marL="0">
              <a:buNone/>
            </a:pPr>
            <a:r>
              <a:rPr lang="en-US" sz="3750" b="1" spc="-75" kern="0" dirty="0">
                <a:solidFill>
                  <a:srgbClr val="16130E"/>
                </a:solidFill>
                <a:latin typeface="IBM Plex Sans KR" pitchFamily="34" charset="0"/>
                <a:ea typeface="IBM Plex Sans KR" pitchFamily="34" charset="-122"/>
                <a:cs typeface="IBM Plex Sans KR" pitchFamily="34" charset="-120"/>
              </a:rPr>
              <a:t>TEM 단면 / Top-down 부가 관찰</a:t>
            </a:r>
            <a:endParaRPr lang="en-US" sz="3750" dirty="0"/>
          </a:p>
        </p:txBody>
      </p:sp>
      <p:sp>
        <p:nvSpPr>
          <p:cNvPr id="10" name="Text 4"/>
          <p:cNvSpPr txBox="1"/>
          <p:nvPr/>
        </p:nvSpPr>
        <p:spPr>
          <a:xfrm>
            <a:off x="761695" y="2286000"/>
            <a:ext cx="8001000" cy="305410"/>
          </a:xfrm>
          <a:prstGeom prst="rect">
            <a:avLst/>
          </a:prstGeom>
          <a:noFill/>
          <a:ln/>
        </p:spPr>
        <p:txBody>
          <a:bodyPr wrap="none" lIns="0" tIns="0" rIns="0" bIns="0" rtlCol="0" anchor="ctr"/>
          <a:lstStyle/>
          <a:p>
            <a:pPr algn="l" indent="0" marL="0">
              <a:buNone/>
            </a:pPr>
            <a:r>
              <a:rPr lang="en-US" sz="1050" dirty="0">
                <a:solidFill>
                  <a:srgbClr val="756E5F"/>
                </a:solidFill>
                <a:latin typeface="IBM Plex Mono" pitchFamily="34" charset="0"/>
                <a:ea typeface="IBM Plex Mono" pitchFamily="34" charset="-122"/>
                <a:cs typeface="IBM Plex Mono" pitchFamily="34" charset="-120"/>
              </a:rPr>
              <a:t>PHOTO 01</a:t>
            </a:r>
            <a:pPr algn="l" indent="0" marL="0">
              <a:buNone/>
            </a:pPr>
            <a:r>
              <a:rPr lang="en-US" sz="1575" dirty="0">
                <a:solidFill>
                  <a:srgbClr val="16130E"/>
                </a:solidFill>
                <a:latin typeface="IBM Plex Sans KR" pitchFamily="34" charset="0"/>
                <a:ea typeface="IBM Plex Sans KR" pitchFamily="34" charset="-122"/>
                <a:cs typeface="IBM Plex Sans KR" pitchFamily="34" charset="-120"/>
              </a:rPr>
              <a:t>라인 측벽 · pinch-off 부근 확대</a:t>
            </a:r>
            <a:endParaRPr lang="en-US" sz="1575" dirty="0"/>
          </a:p>
        </p:txBody>
      </p:sp>
      <p:sp>
        <p:nvSpPr>
          <p:cNvPr id="11" name="Text 5"/>
          <p:cNvSpPr txBox="1"/>
          <p:nvPr/>
        </p:nvSpPr>
        <p:spPr>
          <a:xfrm>
            <a:off x="761695" y="6687007"/>
            <a:ext cx="8001000" cy="181051"/>
          </a:xfrm>
          <a:prstGeom prst="rect">
            <a:avLst/>
          </a:prstGeom>
          <a:noFill/>
          <a:ln/>
        </p:spPr>
        <p:txBody>
          <a:bodyPr wrap="none" lIns="0" tIns="0" rIns="0" bIns="0" rtlCol="0" anchor="ctr"/>
          <a:lstStyle/>
          <a:p>
            <a:pPr algn="l" indent="0" marL="0">
              <a:buNone/>
            </a:pPr>
            <a:r>
              <a:rPr lang="en-US" sz="975" spc="39" kern="0" dirty="0">
                <a:solidFill>
                  <a:srgbClr val="756E5F"/>
                </a:solidFill>
                <a:latin typeface="IBM Plex Mono" pitchFamily="34" charset="0"/>
                <a:ea typeface="IBM Plex Mono" pitchFamily="34" charset="-122"/>
                <a:cs typeface="IBM Plex Mono" pitchFamily="34" charset="-120"/>
              </a:rPr>
              <a:t>출처: Silicon Semiconductor — Imec 16nm pitch Ru lines demonstration</a:t>
            </a:r>
            <a:endParaRPr lang="en-US" sz="975" dirty="0"/>
          </a:p>
        </p:txBody>
      </p:sp>
      <p:sp>
        <p:nvSpPr>
          <p:cNvPr id="12" name="Text 6"/>
          <p:cNvSpPr txBox="1"/>
          <p:nvPr/>
        </p:nvSpPr>
        <p:spPr>
          <a:xfrm>
            <a:off x="987552" y="7048195"/>
            <a:ext cx="3827678" cy="257861"/>
          </a:xfrm>
          <a:prstGeom prst="rect">
            <a:avLst/>
          </a:prstGeom>
          <a:noFill/>
          <a:ln/>
        </p:spPr>
        <p:txBody>
          <a:bodyPr wrap="none" lIns="0" tIns="0" rIns="0" bIns="0" rtlCol="0" anchor="ctr"/>
          <a:lstStyle/>
          <a:p>
            <a:pPr algn="l" indent="0" marL="0">
              <a:buNone/>
            </a:pPr>
            <a:r>
              <a:rPr lang="en-US" sz="1350" dirty="0">
                <a:solidFill>
                  <a:srgbClr val="3A352D"/>
                </a:solidFill>
                <a:latin typeface="IBM Plex Sans KR" pitchFamily="34" charset="0"/>
                <a:ea typeface="IBM Plex Sans KR" pitchFamily="34" charset="-122"/>
                <a:cs typeface="IBM Plex Sans KR" pitchFamily="34" charset="-120"/>
              </a:rPr>
              <a:t>라인 측벽 각도 양호 — 식각 isotropy 잔차 점검</a:t>
            </a:r>
            <a:endParaRPr lang="en-US" sz="1350" dirty="0"/>
          </a:p>
        </p:txBody>
      </p:sp>
      <p:sp>
        <p:nvSpPr>
          <p:cNvPr id="13" name="Text 7"/>
          <p:cNvSpPr txBox="1"/>
          <p:nvPr/>
        </p:nvSpPr>
        <p:spPr>
          <a:xfrm>
            <a:off x="987552" y="7372807"/>
            <a:ext cx="4934102" cy="257861"/>
          </a:xfrm>
          <a:prstGeom prst="rect">
            <a:avLst/>
          </a:prstGeom>
          <a:noFill/>
          <a:ln/>
        </p:spPr>
        <p:txBody>
          <a:bodyPr wrap="none" lIns="0" tIns="0" rIns="0" bIns="0" rtlCol="0" anchor="ctr"/>
          <a:lstStyle/>
          <a:p>
            <a:pPr algn="l" indent="0" marL="0">
              <a:buNone/>
            </a:pPr>
            <a:r>
              <a:rPr lang="en-US" sz="1350" dirty="0">
                <a:solidFill>
                  <a:srgbClr val="3A352D"/>
                </a:solidFill>
                <a:latin typeface="IBM Plex Sans KR" pitchFamily="34" charset="0"/>
                <a:ea typeface="IBM Plex Sans KR" pitchFamily="34" charset="-122"/>
                <a:cs typeface="IBM Plex Sans KR" pitchFamily="34" charset="-120"/>
              </a:rPr>
              <a:t>Ru 표면에 잔여 oxide 없음 · pinch-off seal 부근 결함 미관측</a:t>
            </a:r>
            <a:endParaRPr lang="en-US" sz="1350" dirty="0"/>
          </a:p>
        </p:txBody>
      </p:sp>
      <p:sp>
        <p:nvSpPr>
          <p:cNvPr id="14" name="Text 8"/>
          <p:cNvSpPr txBox="1"/>
          <p:nvPr/>
        </p:nvSpPr>
        <p:spPr>
          <a:xfrm>
            <a:off x="9525305" y="2286000"/>
            <a:ext cx="8001000" cy="305410"/>
          </a:xfrm>
          <a:prstGeom prst="rect">
            <a:avLst/>
          </a:prstGeom>
          <a:noFill/>
          <a:ln/>
        </p:spPr>
        <p:txBody>
          <a:bodyPr wrap="none" lIns="0" tIns="0" rIns="0" bIns="0" rtlCol="0" anchor="ctr"/>
          <a:lstStyle/>
          <a:p>
            <a:pPr algn="l" indent="0" marL="0">
              <a:buNone/>
            </a:pPr>
            <a:r>
              <a:rPr lang="en-US" sz="1050" dirty="0">
                <a:solidFill>
                  <a:srgbClr val="756E5F"/>
                </a:solidFill>
                <a:latin typeface="IBM Plex Mono" pitchFamily="34" charset="0"/>
                <a:ea typeface="IBM Plex Mono" pitchFamily="34" charset="-122"/>
                <a:cs typeface="IBM Plex Mono" pitchFamily="34" charset="-120"/>
              </a:rPr>
              <a:t>PHOTO 02</a:t>
            </a:r>
            <a:pPr algn="l" indent="0" marL="0">
              <a:buNone/>
            </a:pPr>
            <a:r>
              <a:rPr lang="en-US" sz="1575" dirty="0">
                <a:solidFill>
                  <a:srgbClr val="16130E"/>
                </a:solidFill>
                <a:latin typeface="IBM Plex Sans KR" pitchFamily="34" charset="0"/>
                <a:ea typeface="IBM Plex Sans KR" pitchFamily="34" charset="-122"/>
                <a:cs typeface="IBM Plex Sans KR" pitchFamily="34" charset="-120"/>
              </a:rPr>
              <a:t>라인 어레이 · line/space 주기성</a:t>
            </a:r>
            <a:endParaRPr lang="en-US" sz="1575" dirty="0"/>
          </a:p>
        </p:txBody>
      </p:sp>
      <p:sp>
        <p:nvSpPr>
          <p:cNvPr id="15" name="Text 9"/>
          <p:cNvSpPr txBox="1"/>
          <p:nvPr/>
        </p:nvSpPr>
        <p:spPr>
          <a:xfrm>
            <a:off x="9525305" y="6687007"/>
            <a:ext cx="8001000" cy="181051"/>
          </a:xfrm>
          <a:prstGeom prst="rect">
            <a:avLst/>
          </a:prstGeom>
          <a:noFill/>
          <a:ln/>
        </p:spPr>
        <p:txBody>
          <a:bodyPr wrap="none" lIns="0" tIns="0" rIns="0" bIns="0" rtlCol="0" anchor="ctr"/>
          <a:lstStyle/>
          <a:p>
            <a:pPr algn="l" indent="0" marL="0">
              <a:buNone/>
            </a:pPr>
            <a:r>
              <a:rPr lang="en-US" sz="975" spc="39" kern="0" dirty="0">
                <a:solidFill>
                  <a:srgbClr val="756E5F"/>
                </a:solidFill>
                <a:latin typeface="IBM Plex Mono" pitchFamily="34" charset="0"/>
                <a:ea typeface="IBM Plex Mono" pitchFamily="34" charset="-122"/>
                <a:cs typeface="IBM Plex Mono" pitchFamily="34" charset="-120"/>
              </a:rPr>
              <a:t>출처: Semiconductor Digest — Scaling the BEOL toolbox</a:t>
            </a:r>
            <a:endParaRPr lang="en-US" sz="975" dirty="0"/>
          </a:p>
        </p:txBody>
      </p:sp>
      <p:sp>
        <p:nvSpPr>
          <p:cNvPr id="16" name="Text 10"/>
          <p:cNvSpPr txBox="1"/>
          <p:nvPr/>
        </p:nvSpPr>
        <p:spPr>
          <a:xfrm>
            <a:off x="9750247" y="7048195"/>
            <a:ext cx="5190134" cy="257861"/>
          </a:xfrm>
          <a:prstGeom prst="rect">
            <a:avLst/>
          </a:prstGeom>
          <a:noFill/>
          <a:ln/>
        </p:spPr>
        <p:txBody>
          <a:bodyPr wrap="none" lIns="0" tIns="0" rIns="0" bIns="0" rtlCol="0" anchor="ctr"/>
          <a:lstStyle/>
          <a:p>
            <a:pPr algn="l" indent="0" marL="0">
              <a:buNone/>
            </a:pPr>
            <a:r>
              <a:rPr lang="en-US" sz="1350" dirty="0">
                <a:solidFill>
                  <a:srgbClr val="3A352D"/>
                </a:solidFill>
                <a:latin typeface="IBM Plex Sans KR" pitchFamily="34" charset="0"/>
                <a:ea typeface="IBM Plex Sans KR" pitchFamily="34" charset="-122"/>
                <a:cs typeface="IBM Plex Sans KR" pitchFamily="34" charset="-120"/>
              </a:rPr>
              <a:t>라인/스페이스 어레이 주기성 주사전자 단면에 안정적으로 보존</a:t>
            </a:r>
            <a:endParaRPr lang="en-US" sz="1350" dirty="0"/>
          </a:p>
        </p:txBody>
      </p:sp>
      <p:sp>
        <p:nvSpPr>
          <p:cNvPr id="17" name="Text 11"/>
          <p:cNvSpPr txBox="1"/>
          <p:nvPr/>
        </p:nvSpPr>
        <p:spPr>
          <a:xfrm>
            <a:off x="9750247" y="7372807"/>
            <a:ext cx="3647542" cy="257861"/>
          </a:xfrm>
          <a:prstGeom prst="rect">
            <a:avLst/>
          </a:prstGeom>
          <a:noFill/>
          <a:ln/>
        </p:spPr>
        <p:txBody>
          <a:bodyPr wrap="none" lIns="0" tIns="0" rIns="0" bIns="0" rtlCol="0" anchor="ctr"/>
          <a:lstStyle/>
          <a:p>
            <a:pPr algn="l" indent="0" marL="0">
              <a:buNone/>
            </a:pPr>
            <a:r>
              <a:rPr lang="en-US" sz="1350" dirty="0">
                <a:solidFill>
                  <a:srgbClr val="3A352D"/>
                </a:solidFill>
                <a:latin typeface="IBM Plex Sans KR" pitchFamily="34" charset="0"/>
                <a:ea typeface="IBM Plex Sans KR" pitchFamily="34" charset="-122"/>
                <a:cs typeface="IBM Plex Sans KR" pitchFamily="34" charset="-120"/>
              </a:rPr>
              <a:t>국부 단선 / 풀림 패턴 결함 관측되지 않음</a:t>
            </a:r>
            <a:endParaRPr lang="en-US" sz="1350" dirty="0"/>
          </a:p>
        </p:txBody>
      </p:sp>
      <p:sp>
        <p:nvSpPr>
          <p:cNvPr id="18" name="Text 12"/>
          <p:cNvSpPr txBox="1"/>
          <p:nvPr/>
        </p:nvSpPr>
        <p:spPr>
          <a:xfrm>
            <a:off x="761695" y="8524951"/>
            <a:ext cx="17665294" cy="333756"/>
          </a:xfrm>
          <a:prstGeom prst="rect">
            <a:avLst/>
          </a:prstGeom>
          <a:noFill/>
          <a:ln/>
        </p:spPr>
        <p:txBody>
          <a:bodyPr wrap="none" lIns="0" tIns="0" rIns="0" bIns="0" rtlCol="0" anchor="ctr"/>
          <a:lstStyle/>
          <a:p>
            <a:pPr algn="l" indent="0" marL="0">
              <a:buNone/>
            </a:pPr>
            <a:r>
              <a:rPr lang="en-US" sz="1800" dirty="0">
                <a:solidFill>
                  <a:srgbClr val="16130E"/>
                </a:solidFill>
                <a:latin typeface="IBM Plex Sans KR" pitchFamily="34" charset="0"/>
                <a:ea typeface="IBM Plex Sans KR" pitchFamily="34" charset="-122"/>
                <a:cs typeface="IBM Plex Sans KR" pitchFamily="34" charset="-120"/>
              </a:rPr>
              <a:t>측벽 무결성 · 어레이 주기성 · 단선 결함 부재 — 두 group 모두에서 SEM/TEM 차원의 구조 결함은 발견되지 않아, 뒤따르는 정량 분석의 전제 조건을 충족한다.</a:t>
            </a:r>
            <a:endParaRPr lang="en-US" sz="1800" dirty="0"/>
          </a:p>
        </p:txBody>
      </p:sp>
      <p:sp>
        <p:nvSpPr>
          <p:cNvPr id="19" name="Shape 13"/>
          <p:cNvSpPr/>
          <p:nvPr/>
        </p:nvSpPr>
        <p:spPr>
          <a:xfrm>
            <a:off x="761695" y="8524951"/>
            <a:ext cx="133502" cy="133502"/>
          </a:xfrm>
          <a:prstGeom prst="rect">
            <a:avLst/>
          </a:prstGeom>
          <a:solidFill>
            <a:srgbClr val="BD4A22"/>
          </a:solidFill>
          <a:ln w="12700">
            <a:solidFill>
              <a:srgbClr val="FFFFFF">
                <a:alpha val="0"/>
              </a:srgbClr>
            </a:solidFill>
            <a:prstDash val="solid"/>
          </a:ln>
        </p:spPr>
      </p:sp>
      <p:sp>
        <p:nvSpPr>
          <p:cNvPr id="20" name="Text 14"/>
          <p:cNvSpPr txBox="1"/>
          <p:nvPr/>
        </p:nvSpPr>
        <p:spPr>
          <a:xfrm>
            <a:off x="761695" y="9715500"/>
            <a:ext cx="16764610" cy="191110"/>
          </a:xfrm>
          <a:prstGeom prst="rect">
            <a:avLst/>
          </a:prstGeom>
          <a:noFill/>
          <a:ln/>
        </p:spPr>
        <p:txBody>
          <a:bodyPr wrap="none" lIns="0" tIns="0" rIns="0" bIns="0" rtlCol="0" anchor="ctr"/>
          <a:lstStyle/>
          <a:p>
            <a:pPr algn="l" indent="0" marL="0">
              <a:buNone/>
            </a:pPr>
            <a:r>
              <a:rPr lang="en-US" sz="1050" spc="42" kern="0" dirty="0">
                <a:solidFill>
                  <a:srgbClr val="756E5F"/>
                </a:solidFill>
                <a:latin typeface="IBM Plex Mono" pitchFamily="34" charset="0"/>
                <a:ea typeface="IBM Plex Mono" pitchFamily="34" charset="-122"/>
                <a:cs typeface="IBM Plex Mono" pitchFamily="34" charset="-120"/>
              </a:rPr>
              <a:t>※ 내부 테스트용 더미(가상) 데이터</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ECE1"/>
        </a:solidFill>
      </p:bgPr>
    </p:bg>
    <p:spTree>
      <p:nvGrpSpPr>
        <p:cNvPr id="1" name=""/>
        <p:cNvGrpSpPr/>
        <p:nvPr/>
      </p:nvGrpSpPr>
      <p:grpSpPr>
        <a:xfrm>
          <a:off x="0" y="0"/>
          <a:ext cx="0" cy="0"/>
          <a:chOff x="0" y="0"/>
          <a:chExt cx="0" cy="0"/>
        </a:xfrm>
      </p:grpSpPr>
      <p:pic>
        <p:nvPicPr>
          <p:cNvPr id="3" name="Image 0" descr="gen-dedup-ddc72069e50c60be25b8eb9ead861247.png">    </p:cNvPr>
          <p:cNvPicPr>
            <a:picLocks noChangeAspect="1"/>
          </p:cNvPicPr>
          <p:nvPr/>
        </p:nvPicPr>
        <p:blipFill>
          <a:blip r:embed="rId1"/>
          <a:srcRect l="-422" r="-422" t="0" b="0"/>
          <a:stretch/>
        </p:blipFill>
        <p:spPr>
          <a:xfrm>
            <a:off x="761695" y="2171700"/>
            <a:ext cx="838505" cy="28346"/>
          </a:xfrm>
          <a:prstGeom prst="rect">
            <a:avLst/>
          </a:prstGeom>
        </p:spPr>
      </p:pic>
      <p:sp>
        <p:nvSpPr>
          <p:cNvPr id="4" name="Shape 0"/>
          <p:cNvSpPr/>
          <p:nvPr/>
        </p:nvSpPr>
        <p:spPr>
          <a:xfrm>
            <a:off x="761695" y="4953305"/>
            <a:ext cx="4762195" cy="2857500"/>
          </a:xfrm>
          <a:prstGeom prst="roundRect">
            <a:avLst>
              <a:gd name="adj" fmla="val 1344"/>
            </a:avLst>
          </a:prstGeom>
          <a:solidFill>
            <a:srgbClr val="FAF6EA"/>
          </a:solidFill>
          <a:ln w="12700">
            <a:solidFill>
              <a:srgbClr val="D6CFBB"/>
            </a:solidFill>
            <a:prstDash val="solid"/>
          </a:ln>
        </p:spPr>
      </p:sp>
      <p:sp>
        <p:nvSpPr>
          <p:cNvPr id="5" name="Shape 1"/>
          <p:cNvSpPr/>
          <p:nvPr/>
        </p:nvSpPr>
        <p:spPr>
          <a:xfrm>
            <a:off x="761695" y="4953305"/>
            <a:ext cx="4762195" cy="38405"/>
          </a:xfrm>
          <a:prstGeom prst="roundRect">
            <a:avLst>
              <a:gd name="adj" fmla="val 99999"/>
            </a:avLst>
          </a:prstGeom>
          <a:solidFill>
            <a:srgbClr val="155E63"/>
          </a:solidFill>
          <a:ln w="12700">
            <a:solidFill>
              <a:srgbClr val="155E63">
                <a:alpha val="0"/>
              </a:srgbClr>
            </a:solidFill>
            <a:prstDash val="solid"/>
          </a:ln>
        </p:spPr>
      </p:sp>
      <p:sp>
        <p:nvSpPr>
          <p:cNvPr id="6" name="Shape 2"/>
          <p:cNvSpPr/>
          <p:nvPr/>
        </p:nvSpPr>
        <p:spPr>
          <a:xfrm>
            <a:off x="5905195" y="4953305"/>
            <a:ext cx="4762195" cy="2857500"/>
          </a:xfrm>
          <a:prstGeom prst="roundRect">
            <a:avLst>
              <a:gd name="adj" fmla="val 1344"/>
            </a:avLst>
          </a:prstGeom>
          <a:solidFill>
            <a:srgbClr val="FAF6EA"/>
          </a:solidFill>
          <a:ln w="12700">
            <a:solidFill>
              <a:srgbClr val="D6CFBB"/>
            </a:solidFill>
            <a:prstDash val="solid"/>
          </a:ln>
        </p:spPr>
      </p:sp>
      <p:sp>
        <p:nvSpPr>
          <p:cNvPr id="7" name="Shape 3"/>
          <p:cNvSpPr/>
          <p:nvPr/>
        </p:nvSpPr>
        <p:spPr>
          <a:xfrm>
            <a:off x="5905195" y="4953305"/>
            <a:ext cx="4762195" cy="38405"/>
          </a:xfrm>
          <a:prstGeom prst="roundRect">
            <a:avLst>
              <a:gd name="adj" fmla="val 99999"/>
            </a:avLst>
          </a:prstGeom>
          <a:solidFill>
            <a:srgbClr val="9A4520"/>
          </a:solidFill>
          <a:ln w="12700">
            <a:solidFill>
              <a:srgbClr val="9A4520">
                <a:alpha val="0"/>
              </a:srgbClr>
            </a:solidFill>
            <a:prstDash val="solid"/>
          </a:ln>
        </p:spPr>
      </p:sp>
      <p:sp>
        <p:nvSpPr>
          <p:cNvPr id="8" name="Text 4"/>
          <p:cNvSpPr txBox="1"/>
          <p:nvPr/>
        </p:nvSpPr>
        <p:spPr>
          <a:xfrm>
            <a:off x="761695" y="761695"/>
            <a:ext cx="5715000" cy="191110"/>
          </a:xfrm>
          <a:prstGeom prst="rect">
            <a:avLst/>
          </a:prstGeom>
          <a:noFill/>
          <a:ln/>
        </p:spPr>
        <p:txBody>
          <a:bodyPr wrap="none" lIns="0" tIns="0" rIns="0" bIns="0" rtlCol="0" anchor="ctr"/>
          <a:lstStyle/>
          <a:p>
            <a:pPr algn="l" indent="0" marL="0">
              <a:buNone/>
            </a:pPr>
            <a:r>
              <a:rPr lang="en-US" sz="1050" spc="189" kern="0" dirty="0">
                <a:solidFill>
                  <a:srgbClr val="756E5F"/>
                </a:solidFill>
                <a:latin typeface="IBM Plex Mono" pitchFamily="34" charset="0"/>
                <a:ea typeface="IBM Plex Mono" pitchFamily="34" charset="-122"/>
                <a:cs typeface="IBM Plex Mono" pitchFamily="34" charset="-120"/>
              </a:rPr>
              <a:t>05 · CD 변동성</a:t>
            </a:r>
            <a:endParaRPr lang="en-US" sz="1050" dirty="0"/>
          </a:p>
        </p:txBody>
      </p:sp>
      <p:sp>
        <p:nvSpPr>
          <p:cNvPr id="9" name="Text 5"/>
          <p:cNvSpPr txBox="1"/>
          <p:nvPr/>
        </p:nvSpPr>
        <p:spPr>
          <a:xfrm>
            <a:off x="761695" y="1143000"/>
            <a:ext cx="16193110" cy="523951"/>
          </a:xfrm>
          <a:prstGeom prst="rect">
            <a:avLst/>
          </a:prstGeom>
          <a:noFill/>
          <a:ln/>
        </p:spPr>
        <p:txBody>
          <a:bodyPr wrap="none" lIns="0" tIns="0" rIns="0" bIns="0" rtlCol="0" anchor="ctr"/>
          <a:lstStyle/>
          <a:p>
            <a:pPr algn="l" indent="0" marL="0">
              <a:buNone/>
            </a:pPr>
            <a:r>
              <a:rPr lang="en-US" sz="3750" b="1" spc="-75" kern="0" dirty="0">
                <a:solidFill>
                  <a:srgbClr val="16130E"/>
                </a:solidFill>
                <a:latin typeface="IBM Plex Sans KR" pitchFamily="34" charset="0"/>
                <a:ea typeface="IBM Plex Sans KR" pitchFamily="34" charset="-122"/>
                <a:cs typeface="IBM Plex Sans KR" pitchFamily="34" charset="-120"/>
              </a:rPr>
              <a:t>AASI CD Variation</a:t>
            </a:r>
            <a:endParaRPr lang="en-US" sz="3750" dirty="0"/>
          </a:p>
        </p:txBody>
      </p:sp>
      <p:sp>
        <p:nvSpPr>
          <p:cNvPr id="10" name="Text 6"/>
          <p:cNvSpPr txBox="1"/>
          <p:nvPr/>
        </p:nvSpPr>
        <p:spPr>
          <a:xfrm>
            <a:off x="761695" y="1762049"/>
            <a:ext cx="16193110" cy="286207"/>
          </a:xfrm>
          <a:prstGeom prst="rect">
            <a:avLst/>
          </a:prstGeom>
          <a:noFill/>
          <a:ln/>
        </p:spPr>
        <p:txBody>
          <a:bodyPr wrap="none" lIns="0" tIns="0" rIns="0" bIns="0" rtlCol="0" anchor="ctr"/>
          <a:lstStyle/>
          <a:p>
            <a:pPr algn="l" indent="0" marL="0">
              <a:buNone/>
            </a:pPr>
            <a:r>
              <a:rPr lang="en-US" sz="1500" dirty="0">
                <a:solidFill>
                  <a:srgbClr val="756E5F"/>
                </a:solidFill>
                <a:latin typeface="IBM Plex Sans KR" pitchFamily="34" charset="0"/>
                <a:ea typeface="IBM Plex Sans KR" pitchFamily="34" charset="-122"/>
                <a:cs typeface="IBM Plex Sans KR" pitchFamily="34" charset="-120"/>
              </a:rPr>
              <a:t>target </a:t>
            </a:r>
            <a:pPr algn="l" indent="0" marL="0">
              <a:buNone/>
            </a:pPr>
            <a:r>
              <a:rPr lang="en-US" sz="1500" dirty="0">
                <a:solidFill>
                  <a:srgbClr val="16130E"/>
                </a:solidFill>
                <a:latin typeface="IBM Plex Mono" pitchFamily="34" charset="0"/>
                <a:ea typeface="IBM Plex Mono" pitchFamily="34" charset="-122"/>
                <a:cs typeface="IBM Plex Mono" pitchFamily="34" charset="-120"/>
              </a:rPr>
              <a:t>25.7 nm</a:t>
            </a:r>
            <a:pPr algn="l" indent="0" marL="0">
              <a:buNone/>
            </a:pPr>
            <a:r>
              <a:rPr lang="en-US" sz="1500" dirty="0">
                <a:solidFill>
                  <a:srgbClr val="756E5F"/>
                </a:solidFill>
                <a:latin typeface="IBM Plex Sans KR" pitchFamily="34" charset="0"/>
                <a:ea typeface="IBM Plex Sans KR" pitchFamily="34" charset="-122"/>
                <a:cs typeface="IBM Plex Sans KR" pitchFamily="34" charset="-120"/>
              </a:rPr>
              <a:t> · wafer별 mean / 3σ / range / Δ</a:t>
            </a:r>
            <a:endParaRPr lang="en-US" sz="1500" dirty="0"/>
          </a:p>
        </p:txBody>
      </p:sp>
      <p:sp>
        <p:nvSpPr>
          <p:cNvPr id="11" name="Text 7"/>
          <p:cNvSpPr txBox="1"/>
          <p:nvPr/>
        </p:nvSpPr>
        <p:spPr>
          <a:xfrm>
            <a:off x="761695" y="2481682"/>
            <a:ext cx="1591056" cy="476402"/>
          </a:xfrm>
          <a:prstGeom prst="rect">
            <a:avLst/>
          </a:prstGeom>
          <a:solidFill>
            <a:srgbClr val="155E63">
              <a:alpha val="6000"/>
            </a:srgbClr>
          </a:solidFill>
          <a:ln w="12700">
            <a:solidFill>
              <a:srgbClr val="16130E"/>
            </a:solidFill>
          </a:ln>
        </p:spPr>
        <p:txBody>
          <a:bodyPr wrap="none" lIns="139700" tIns="101600" rIns="139700" bIns="101600" rtlCol="0" anchor="ctr"/>
          <a:lstStyle/>
          <a:p>
            <a:pPr algn="l" indent="0" marL="0">
              <a:buNone/>
            </a:pPr>
            <a:r>
              <a:rPr lang="en-US" sz="1350" b="1" dirty="0">
                <a:solidFill>
                  <a:srgbClr val="16130E"/>
                </a:solidFill>
                <a:latin typeface="IBM Plex Sans KR" pitchFamily="34" charset="0"/>
                <a:ea typeface="IBM Plex Sans KR" pitchFamily="34" charset="-122"/>
                <a:cs typeface="IBM Plex Sans KR" pitchFamily="34" charset="-120"/>
              </a:rPr>
              <a:t>Wafer</a:t>
            </a:r>
            <a:endParaRPr lang="en-US" sz="1350" dirty="0"/>
          </a:p>
        </p:txBody>
      </p:sp>
      <p:sp>
        <p:nvSpPr>
          <p:cNvPr id="12" name="Text 8"/>
          <p:cNvSpPr txBox="1"/>
          <p:nvPr/>
        </p:nvSpPr>
        <p:spPr>
          <a:xfrm>
            <a:off x="2347265" y="2481682"/>
            <a:ext cx="1791310" cy="476402"/>
          </a:xfrm>
          <a:prstGeom prst="rect">
            <a:avLst/>
          </a:prstGeom>
          <a:solidFill>
            <a:srgbClr val="155E63">
              <a:alpha val="6000"/>
            </a:srgbClr>
          </a:solidFill>
          <a:ln w="12700">
            <a:solidFill>
              <a:srgbClr val="16130E"/>
            </a:solidFill>
          </a:ln>
        </p:spPr>
        <p:txBody>
          <a:bodyPr wrap="none" lIns="139700" tIns="101600" rIns="139700" bIns="101600" rtlCol="0" anchor="ctr"/>
          <a:lstStyle/>
          <a:p>
            <a:pPr algn="l" indent="0" marL="0">
              <a:buNone/>
            </a:pPr>
            <a:r>
              <a:rPr lang="en-US" sz="1350" b="1" dirty="0">
                <a:solidFill>
                  <a:srgbClr val="16130E"/>
                </a:solidFill>
                <a:latin typeface="IBM Plex Sans KR" pitchFamily="34" charset="0"/>
                <a:ea typeface="IBM Plex Sans KR" pitchFamily="34" charset="-122"/>
                <a:cs typeface="IBM Plex Sans KR" pitchFamily="34" charset="-120"/>
              </a:rPr>
              <a:t>Group</a:t>
            </a:r>
            <a:endParaRPr lang="en-US" sz="1350" dirty="0"/>
          </a:p>
        </p:txBody>
      </p:sp>
      <p:sp>
        <p:nvSpPr>
          <p:cNvPr id="13" name="Text 9"/>
          <p:cNvSpPr txBox="1"/>
          <p:nvPr/>
        </p:nvSpPr>
        <p:spPr>
          <a:xfrm>
            <a:off x="4129430" y="2481682"/>
            <a:ext cx="1791310" cy="476402"/>
          </a:xfrm>
          <a:prstGeom prst="rect">
            <a:avLst/>
          </a:prstGeom>
          <a:solidFill>
            <a:srgbClr val="155E63">
              <a:alpha val="6000"/>
            </a:srgbClr>
          </a:solidFill>
          <a:ln w="12700">
            <a:solidFill>
              <a:srgbClr val="16130E"/>
            </a:solidFill>
          </a:ln>
        </p:spPr>
        <p:txBody>
          <a:bodyPr wrap="square" lIns="139700" tIns="101600" rIns="139700" bIns="101600" rtlCol="0" anchor="ctr"/>
          <a:lstStyle/>
          <a:p>
            <a:pPr algn="r" indent="0" marL="0">
              <a:buNone/>
            </a:pPr>
            <a:r>
              <a:rPr lang="en-US" sz="1275" b="1" dirty="0">
                <a:solidFill>
                  <a:srgbClr val="16130E"/>
                </a:solidFill>
                <a:latin typeface="IBM Plex Mono" pitchFamily="34" charset="0"/>
                <a:ea typeface="IBM Plex Mono" pitchFamily="34" charset="-122"/>
                <a:cs typeface="IBM Plex Mono" pitchFamily="34" charset="-120"/>
              </a:rPr>
              <a:t>Mean (nm)</a:t>
            </a:r>
            <a:endParaRPr lang="en-US" sz="1275" dirty="0"/>
          </a:p>
        </p:txBody>
      </p:sp>
      <p:sp>
        <p:nvSpPr>
          <p:cNvPr id="14" name="Text 10"/>
          <p:cNvSpPr txBox="1"/>
          <p:nvPr/>
        </p:nvSpPr>
        <p:spPr>
          <a:xfrm>
            <a:off x="5912510" y="2481682"/>
            <a:ext cx="1591056" cy="476402"/>
          </a:xfrm>
          <a:prstGeom prst="rect">
            <a:avLst/>
          </a:prstGeom>
          <a:solidFill>
            <a:srgbClr val="155E63">
              <a:alpha val="6000"/>
            </a:srgbClr>
          </a:solidFill>
          <a:ln w="12700">
            <a:solidFill>
              <a:srgbClr val="16130E"/>
            </a:solidFill>
          </a:ln>
        </p:spPr>
        <p:txBody>
          <a:bodyPr wrap="square" lIns="139700" tIns="101600" rIns="139700" bIns="101600" rtlCol="0" anchor="ctr"/>
          <a:lstStyle/>
          <a:p>
            <a:pPr algn="r" indent="0" marL="0">
              <a:buNone/>
            </a:pPr>
            <a:r>
              <a:rPr lang="en-US" sz="1275" b="1" dirty="0">
                <a:solidFill>
                  <a:srgbClr val="16130E"/>
                </a:solidFill>
                <a:latin typeface="IBM Plex Mono" pitchFamily="34" charset="0"/>
                <a:ea typeface="IBM Plex Mono" pitchFamily="34" charset="-122"/>
                <a:cs typeface="IBM Plex Mono" pitchFamily="34" charset="-120"/>
              </a:rPr>
              <a:t>3σ (nm)</a:t>
            </a:r>
            <a:endParaRPr lang="en-US" sz="1275" dirty="0"/>
          </a:p>
        </p:txBody>
      </p:sp>
      <p:sp>
        <p:nvSpPr>
          <p:cNvPr id="15" name="Text 11"/>
          <p:cNvSpPr txBox="1"/>
          <p:nvPr/>
        </p:nvSpPr>
        <p:spPr>
          <a:xfrm>
            <a:off x="7498080" y="2481682"/>
            <a:ext cx="1591056" cy="476402"/>
          </a:xfrm>
          <a:prstGeom prst="rect">
            <a:avLst/>
          </a:prstGeom>
          <a:solidFill>
            <a:srgbClr val="155E63">
              <a:alpha val="6000"/>
            </a:srgbClr>
          </a:solidFill>
          <a:ln w="12700">
            <a:solidFill>
              <a:srgbClr val="16130E"/>
            </a:solidFill>
          </a:ln>
        </p:spPr>
        <p:txBody>
          <a:bodyPr wrap="square" lIns="139700" tIns="101600" rIns="139700" bIns="101600" rtlCol="0" anchor="ctr"/>
          <a:lstStyle/>
          <a:p>
            <a:pPr algn="r" indent="0" marL="0">
              <a:buNone/>
            </a:pPr>
            <a:r>
              <a:rPr lang="en-US" sz="1275" b="1" dirty="0">
                <a:solidFill>
                  <a:srgbClr val="16130E"/>
                </a:solidFill>
                <a:latin typeface="IBM Plex Mono" pitchFamily="34" charset="0"/>
                <a:ea typeface="IBM Plex Mono" pitchFamily="34" charset="-122"/>
                <a:cs typeface="IBM Plex Mono" pitchFamily="34" charset="-120"/>
              </a:rPr>
              <a:t>Range (nm)</a:t>
            </a:r>
            <a:endParaRPr lang="en-US" sz="1275" dirty="0"/>
          </a:p>
        </p:txBody>
      </p:sp>
      <p:sp>
        <p:nvSpPr>
          <p:cNvPr id="16" name="Text 12"/>
          <p:cNvSpPr txBox="1"/>
          <p:nvPr/>
        </p:nvSpPr>
        <p:spPr>
          <a:xfrm>
            <a:off x="9082735" y="2481682"/>
            <a:ext cx="1591056" cy="476402"/>
          </a:xfrm>
          <a:prstGeom prst="rect">
            <a:avLst/>
          </a:prstGeom>
          <a:solidFill>
            <a:srgbClr val="155E63">
              <a:alpha val="6000"/>
            </a:srgbClr>
          </a:solidFill>
          <a:ln w="12700">
            <a:solidFill>
              <a:srgbClr val="16130E"/>
            </a:solidFill>
          </a:ln>
        </p:spPr>
        <p:txBody>
          <a:bodyPr wrap="square" lIns="139700" tIns="101600" rIns="139700" bIns="101600" rtlCol="0" anchor="ctr"/>
          <a:lstStyle/>
          <a:p>
            <a:pPr algn="r" indent="0" marL="0">
              <a:buNone/>
            </a:pPr>
            <a:r>
              <a:rPr lang="en-US" sz="1275" b="1" dirty="0">
                <a:solidFill>
                  <a:srgbClr val="16130E"/>
                </a:solidFill>
                <a:latin typeface="IBM Plex Mono" pitchFamily="34" charset="0"/>
                <a:ea typeface="IBM Plex Mono" pitchFamily="34" charset="-122"/>
                <a:cs typeface="IBM Plex Mono" pitchFamily="34" charset="-120"/>
              </a:rPr>
              <a:t>Δ vs target</a:t>
            </a:r>
            <a:endParaRPr lang="en-US" sz="1275" dirty="0"/>
          </a:p>
        </p:txBody>
      </p:sp>
      <p:sp>
        <p:nvSpPr>
          <p:cNvPr id="17" name="Shape 13"/>
          <p:cNvSpPr/>
          <p:nvPr/>
        </p:nvSpPr>
        <p:spPr>
          <a:xfrm>
            <a:off x="761695" y="3424428"/>
            <a:ext cx="1591056" cy="9144"/>
          </a:xfrm>
          <a:prstGeom prst="rect">
            <a:avLst/>
          </a:prstGeom>
          <a:solidFill>
            <a:srgbClr val="C7BFA8"/>
          </a:solidFill>
          <a:ln w="12700">
            <a:solidFill>
              <a:srgbClr val="C7BFA8">
                <a:alpha val="0"/>
              </a:srgbClr>
            </a:solidFill>
            <a:prstDash val="solid"/>
          </a:ln>
        </p:spPr>
      </p:sp>
      <p:sp>
        <p:nvSpPr>
          <p:cNvPr id="18" name="Text 14"/>
          <p:cNvSpPr txBox="1"/>
          <p:nvPr/>
        </p:nvSpPr>
        <p:spPr>
          <a:xfrm>
            <a:off x="761695" y="2957170"/>
            <a:ext cx="1591056"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Mono" pitchFamily="34" charset="0"/>
                <a:ea typeface="IBM Plex Mono" pitchFamily="34" charset="-122"/>
                <a:cs typeface="IBM Plex Mono" pitchFamily="34" charset="-120"/>
              </a:rPr>
              <a:t>W01</a:t>
            </a:r>
            <a:endParaRPr lang="en-US" sz="1350" dirty="0"/>
          </a:p>
        </p:txBody>
      </p:sp>
      <p:sp>
        <p:nvSpPr>
          <p:cNvPr id="19" name="Shape 15"/>
          <p:cNvSpPr/>
          <p:nvPr/>
        </p:nvSpPr>
        <p:spPr>
          <a:xfrm>
            <a:off x="2347265" y="3424428"/>
            <a:ext cx="1790395" cy="9144"/>
          </a:xfrm>
          <a:prstGeom prst="rect">
            <a:avLst/>
          </a:prstGeom>
          <a:solidFill>
            <a:srgbClr val="C7BFA8"/>
          </a:solidFill>
          <a:ln w="12700">
            <a:solidFill>
              <a:srgbClr val="C7BFA8">
                <a:alpha val="0"/>
              </a:srgbClr>
            </a:solidFill>
            <a:prstDash val="solid"/>
          </a:ln>
        </p:spPr>
      </p:sp>
      <p:sp>
        <p:nvSpPr>
          <p:cNvPr id="20" name="Text 16"/>
          <p:cNvSpPr txBox="1"/>
          <p:nvPr/>
        </p:nvSpPr>
        <p:spPr>
          <a:xfrm>
            <a:off x="2651760" y="2957170"/>
            <a:ext cx="1486814"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Air gap</a:t>
            </a:r>
            <a:endParaRPr lang="en-US" sz="1350" dirty="0"/>
          </a:p>
        </p:txBody>
      </p:sp>
      <p:sp>
        <p:nvSpPr>
          <p:cNvPr id="21" name="Shape 17"/>
          <p:cNvSpPr/>
          <p:nvPr/>
        </p:nvSpPr>
        <p:spPr>
          <a:xfrm>
            <a:off x="4129430" y="3424428"/>
            <a:ext cx="1790395" cy="9144"/>
          </a:xfrm>
          <a:prstGeom prst="rect">
            <a:avLst/>
          </a:prstGeom>
          <a:solidFill>
            <a:srgbClr val="C7BFA8"/>
          </a:solidFill>
          <a:ln w="12700">
            <a:solidFill>
              <a:srgbClr val="C7BFA8">
                <a:alpha val="0"/>
              </a:srgbClr>
            </a:solidFill>
            <a:prstDash val="solid"/>
          </a:ln>
        </p:spPr>
      </p:sp>
      <p:sp>
        <p:nvSpPr>
          <p:cNvPr id="22" name="Text 18"/>
          <p:cNvSpPr txBox="1"/>
          <p:nvPr/>
        </p:nvSpPr>
        <p:spPr>
          <a:xfrm>
            <a:off x="4129430" y="2957170"/>
            <a:ext cx="1791310"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25.68</a:t>
            </a:r>
            <a:endParaRPr lang="en-US" sz="1275" dirty="0"/>
          </a:p>
        </p:txBody>
      </p:sp>
      <p:sp>
        <p:nvSpPr>
          <p:cNvPr id="23" name="Shape 19"/>
          <p:cNvSpPr/>
          <p:nvPr/>
        </p:nvSpPr>
        <p:spPr>
          <a:xfrm>
            <a:off x="5912510" y="3424428"/>
            <a:ext cx="1591056" cy="9144"/>
          </a:xfrm>
          <a:prstGeom prst="rect">
            <a:avLst/>
          </a:prstGeom>
          <a:solidFill>
            <a:srgbClr val="C7BFA8"/>
          </a:solidFill>
          <a:ln w="12700">
            <a:solidFill>
              <a:srgbClr val="C7BFA8">
                <a:alpha val="0"/>
              </a:srgbClr>
            </a:solidFill>
            <a:prstDash val="solid"/>
          </a:ln>
        </p:spPr>
      </p:sp>
      <p:sp>
        <p:nvSpPr>
          <p:cNvPr id="24" name="Text 20"/>
          <p:cNvSpPr txBox="1"/>
          <p:nvPr/>
        </p:nvSpPr>
        <p:spPr>
          <a:xfrm>
            <a:off x="5912510" y="2957170"/>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0.42</a:t>
            </a:r>
            <a:endParaRPr lang="en-US" sz="1275" dirty="0"/>
          </a:p>
        </p:txBody>
      </p:sp>
      <p:sp>
        <p:nvSpPr>
          <p:cNvPr id="25" name="Shape 21"/>
          <p:cNvSpPr/>
          <p:nvPr/>
        </p:nvSpPr>
        <p:spPr>
          <a:xfrm>
            <a:off x="7498080" y="3424428"/>
            <a:ext cx="1591056" cy="9144"/>
          </a:xfrm>
          <a:prstGeom prst="rect">
            <a:avLst/>
          </a:prstGeom>
          <a:solidFill>
            <a:srgbClr val="C7BFA8"/>
          </a:solidFill>
          <a:ln w="12700">
            <a:solidFill>
              <a:srgbClr val="C7BFA8">
                <a:alpha val="0"/>
              </a:srgbClr>
            </a:solidFill>
            <a:prstDash val="solid"/>
          </a:ln>
        </p:spPr>
      </p:sp>
      <p:sp>
        <p:nvSpPr>
          <p:cNvPr id="26" name="Text 22"/>
          <p:cNvSpPr txBox="1"/>
          <p:nvPr/>
        </p:nvSpPr>
        <p:spPr>
          <a:xfrm>
            <a:off x="7498080" y="2957170"/>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1.18</a:t>
            </a:r>
            <a:endParaRPr lang="en-US" sz="1275" dirty="0"/>
          </a:p>
        </p:txBody>
      </p:sp>
      <p:sp>
        <p:nvSpPr>
          <p:cNvPr id="27" name="Shape 23"/>
          <p:cNvSpPr/>
          <p:nvPr/>
        </p:nvSpPr>
        <p:spPr>
          <a:xfrm>
            <a:off x="9082735" y="3424428"/>
            <a:ext cx="1591056" cy="9144"/>
          </a:xfrm>
          <a:prstGeom prst="rect">
            <a:avLst/>
          </a:prstGeom>
          <a:solidFill>
            <a:srgbClr val="C7BFA8"/>
          </a:solidFill>
          <a:ln w="12700">
            <a:solidFill>
              <a:srgbClr val="C7BFA8">
                <a:alpha val="0"/>
              </a:srgbClr>
            </a:solidFill>
            <a:prstDash val="solid"/>
          </a:ln>
        </p:spPr>
      </p:sp>
      <p:sp>
        <p:nvSpPr>
          <p:cNvPr id="28" name="Text 24"/>
          <p:cNvSpPr txBox="1"/>
          <p:nvPr/>
        </p:nvSpPr>
        <p:spPr>
          <a:xfrm>
            <a:off x="9082735" y="2957170"/>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−0.02</a:t>
            </a:r>
            <a:endParaRPr lang="en-US" sz="1275" dirty="0"/>
          </a:p>
        </p:txBody>
      </p:sp>
      <p:sp>
        <p:nvSpPr>
          <p:cNvPr id="29" name="Shape 25"/>
          <p:cNvSpPr/>
          <p:nvPr/>
        </p:nvSpPr>
        <p:spPr>
          <a:xfrm>
            <a:off x="761695" y="3900830"/>
            <a:ext cx="1591056" cy="9144"/>
          </a:xfrm>
          <a:prstGeom prst="rect">
            <a:avLst/>
          </a:prstGeom>
          <a:solidFill>
            <a:srgbClr val="C7BFA8"/>
          </a:solidFill>
          <a:ln w="12700">
            <a:solidFill>
              <a:srgbClr val="C7BFA8">
                <a:alpha val="0"/>
              </a:srgbClr>
            </a:solidFill>
            <a:prstDash val="solid"/>
          </a:ln>
        </p:spPr>
      </p:sp>
      <p:sp>
        <p:nvSpPr>
          <p:cNvPr id="30" name="Text 26"/>
          <p:cNvSpPr txBox="1"/>
          <p:nvPr/>
        </p:nvSpPr>
        <p:spPr>
          <a:xfrm>
            <a:off x="761695" y="3433572"/>
            <a:ext cx="1591056"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Mono" pitchFamily="34" charset="0"/>
                <a:ea typeface="IBM Plex Mono" pitchFamily="34" charset="-122"/>
                <a:cs typeface="IBM Plex Mono" pitchFamily="34" charset="-120"/>
              </a:rPr>
              <a:t>W02</a:t>
            </a:r>
            <a:endParaRPr lang="en-US" sz="1350" dirty="0"/>
          </a:p>
        </p:txBody>
      </p:sp>
      <p:sp>
        <p:nvSpPr>
          <p:cNvPr id="31" name="Shape 27"/>
          <p:cNvSpPr/>
          <p:nvPr/>
        </p:nvSpPr>
        <p:spPr>
          <a:xfrm>
            <a:off x="2347265" y="3900830"/>
            <a:ext cx="1790395" cy="9144"/>
          </a:xfrm>
          <a:prstGeom prst="rect">
            <a:avLst/>
          </a:prstGeom>
          <a:solidFill>
            <a:srgbClr val="C7BFA8"/>
          </a:solidFill>
          <a:ln w="12700">
            <a:solidFill>
              <a:srgbClr val="C7BFA8">
                <a:alpha val="0"/>
              </a:srgbClr>
            </a:solidFill>
            <a:prstDash val="solid"/>
          </a:ln>
        </p:spPr>
      </p:sp>
      <p:sp>
        <p:nvSpPr>
          <p:cNvPr id="32" name="Text 28"/>
          <p:cNvSpPr txBox="1"/>
          <p:nvPr/>
        </p:nvSpPr>
        <p:spPr>
          <a:xfrm>
            <a:off x="2651760" y="3433572"/>
            <a:ext cx="1486814"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Air gap</a:t>
            </a:r>
            <a:endParaRPr lang="en-US" sz="1350" dirty="0"/>
          </a:p>
        </p:txBody>
      </p:sp>
      <p:sp>
        <p:nvSpPr>
          <p:cNvPr id="33" name="Shape 29"/>
          <p:cNvSpPr/>
          <p:nvPr/>
        </p:nvSpPr>
        <p:spPr>
          <a:xfrm>
            <a:off x="4129430" y="3900830"/>
            <a:ext cx="1790395" cy="9144"/>
          </a:xfrm>
          <a:prstGeom prst="rect">
            <a:avLst/>
          </a:prstGeom>
          <a:solidFill>
            <a:srgbClr val="C7BFA8"/>
          </a:solidFill>
          <a:ln w="12700">
            <a:solidFill>
              <a:srgbClr val="C7BFA8">
                <a:alpha val="0"/>
              </a:srgbClr>
            </a:solidFill>
            <a:prstDash val="solid"/>
          </a:ln>
        </p:spPr>
      </p:sp>
      <p:sp>
        <p:nvSpPr>
          <p:cNvPr id="34" name="Text 30"/>
          <p:cNvSpPr txBox="1"/>
          <p:nvPr/>
        </p:nvSpPr>
        <p:spPr>
          <a:xfrm>
            <a:off x="4129430" y="3433572"/>
            <a:ext cx="1791310"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25.74</a:t>
            </a:r>
            <a:endParaRPr lang="en-US" sz="1275" dirty="0"/>
          </a:p>
        </p:txBody>
      </p:sp>
      <p:sp>
        <p:nvSpPr>
          <p:cNvPr id="35" name="Shape 31"/>
          <p:cNvSpPr/>
          <p:nvPr/>
        </p:nvSpPr>
        <p:spPr>
          <a:xfrm>
            <a:off x="5912510" y="3900830"/>
            <a:ext cx="1591056" cy="9144"/>
          </a:xfrm>
          <a:prstGeom prst="rect">
            <a:avLst/>
          </a:prstGeom>
          <a:solidFill>
            <a:srgbClr val="C7BFA8"/>
          </a:solidFill>
          <a:ln w="12700">
            <a:solidFill>
              <a:srgbClr val="C7BFA8">
                <a:alpha val="0"/>
              </a:srgbClr>
            </a:solidFill>
            <a:prstDash val="solid"/>
          </a:ln>
        </p:spPr>
      </p:sp>
      <p:sp>
        <p:nvSpPr>
          <p:cNvPr id="36" name="Text 32"/>
          <p:cNvSpPr txBox="1"/>
          <p:nvPr/>
        </p:nvSpPr>
        <p:spPr>
          <a:xfrm>
            <a:off x="5912510" y="3433572"/>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0.39</a:t>
            </a:r>
            <a:endParaRPr lang="en-US" sz="1275" dirty="0"/>
          </a:p>
        </p:txBody>
      </p:sp>
      <p:sp>
        <p:nvSpPr>
          <p:cNvPr id="37" name="Shape 33"/>
          <p:cNvSpPr/>
          <p:nvPr/>
        </p:nvSpPr>
        <p:spPr>
          <a:xfrm>
            <a:off x="7498080" y="3900830"/>
            <a:ext cx="1591056" cy="9144"/>
          </a:xfrm>
          <a:prstGeom prst="rect">
            <a:avLst/>
          </a:prstGeom>
          <a:solidFill>
            <a:srgbClr val="C7BFA8"/>
          </a:solidFill>
          <a:ln w="12700">
            <a:solidFill>
              <a:srgbClr val="C7BFA8">
                <a:alpha val="0"/>
              </a:srgbClr>
            </a:solidFill>
            <a:prstDash val="solid"/>
          </a:ln>
        </p:spPr>
      </p:sp>
      <p:sp>
        <p:nvSpPr>
          <p:cNvPr id="38" name="Text 34"/>
          <p:cNvSpPr txBox="1"/>
          <p:nvPr/>
        </p:nvSpPr>
        <p:spPr>
          <a:xfrm>
            <a:off x="7498080" y="3433572"/>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1.09</a:t>
            </a:r>
            <a:endParaRPr lang="en-US" sz="1275" dirty="0"/>
          </a:p>
        </p:txBody>
      </p:sp>
      <p:sp>
        <p:nvSpPr>
          <p:cNvPr id="39" name="Shape 35"/>
          <p:cNvSpPr/>
          <p:nvPr/>
        </p:nvSpPr>
        <p:spPr>
          <a:xfrm>
            <a:off x="9082735" y="3900830"/>
            <a:ext cx="1591056" cy="9144"/>
          </a:xfrm>
          <a:prstGeom prst="rect">
            <a:avLst/>
          </a:prstGeom>
          <a:solidFill>
            <a:srgbClr val="C7BFA8"/>
          </a:solidFill>
          <a:ln w="12700">
            <a:solidFill>
              <a:srgbClr val="C7BFA8">
                <a:alpha val="0"/>
              </a:srgbClr>
            </a:solidFill>
            <a:prstDash val="solid"/>
          </a:ln>
        </p:spPr>
      </p:sp>
      <p:sp>
        <p:nvSpPr>
          <p:cNvPr id="40" name="Text 36"/>
          <p:cNvSpPr txBox="1"/>
          <p:nvPr/>
        </p:nvSpPr>
        <p:spPr>
          <a:xfrm>
            <a:off x="9082735" y="3433572"/>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+0.04</a:t>
            </a:r>
            <a:endParaRPr lang="en-US" sz="1275" dirty="0"/>
          </a:p>
        </p:txBody>
      </p:sp>
      <p:sp>
        <p:nvSpPr>
          <p:cNvPr id="41" name="Shape 37"/>
          <p:cNvSpPr/>
          <p:nvPr/>
        </p:nvSpPr>
        <p:spPr>
          <a:xfrm>
            <a:off x="761695" y="4377233"/>
            <a:ext cx="1591056" cy="9144"/>
          </a:xfrm>
          <a:prstGeom prst="rect">
            <a:avLst/>
          </a:prstGeom>
          <a:solidFill>
            <a:srgbClr val="C7BFA8"/>
          </a:solidFill>
          <a:ln w="12700">
            <a:solidFill>
              <a:srgbClr val="C7BFA8">
                <a:alpha val="0"/>
              </a:srgbClr>
            </a:solidFill>
            <a:prstDash val="solid"/>
          </a:ln>
        </p:spPr>
      </p:sp>
      <p:sp>
        <p:nvSpPr>
          <p:cNvPr id="42" name="Text 38"/>
          <p:cNvSpPr txBox="1"/>
          <p:nvPr/>
        </p:nvSpPr>
        <p:spPr>
          <a:xfrm>
            <a:off x="761695" y="3909974"/>
            <a:ext cx="1591056"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Mono" pitchFamily="34" charset="0"/>
                <a:ea typeface="IBM Plex Mono" pitchFamily="34" charset="-122"/>
                <a:cs typeface="IBM Plex Mono" pitchFamily="34" charset="-120"/>
              </a:rPr>
              <a:t>W03</a:t>
            </a:r>
            <a:endParaRPr lang="en-US" sz="1350" dirty="0"/>
          </a:p>
        </p:txBody>
      </p:sp>
      <p:sp>
        <p:nvSpPr>
          <p:cNvPr id="43" name="Shape 39"/>
          <p:cNvSpPr/>
          <p:nvPr/>
        </p:nvSpPr>
        <p:spPr>
          <a:xfrm>
            <a:off x="2347265" y="4377233"/>
            <a:ext cx="1790395" cy="9144"/>
          </a:xfrm>
          <a:prstGeom prst="rect">
            <a:avLst/>
          </a:prstGeom>
          <a:solidFill>
            <a:srgbClr val="C7BFA8"/>
          </a:solidFill>
          <a:ln w="12700">
            <a:solidFill>
              <a:srgbClr val="C7BFA8">
                <a:alpha val="0"/>
              </a:srgbClr>
            </a:solidFill>
            <a:prstDash val="solid"/>
          </a:ln>
        </p:spPr>
      </p:sp>
      <p:sp>
        <p:nvSpPr>
          <p:cNvPr id="44" name="Text 40"/>
          <p:cNvSpPr txBox="1"/>
          <p:nvPr/>
        </p:nvSpPr>
        <p:spPr>
          <a:xfrm>
            <a:off x="2651760" y="3909974"/>
            <a:ext cx="1486814"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Reference</a:t>
            </a:r>
            <a:endParaRPr lang="en-US" sz="1350" dirty="0"/>
          </a:p>
        </p:txBody>
      </p:sp>
      <p:sp>
        <p:nvSpPr>
          <p:cNvPr id="45" name="Shape 41"/>
          <p:cNvSpPr/>
          <p:nvPr/>
        </p:nvSpPr>
        <p:spPr>
          <a:xfrm>
            <a:off x="4129430" y="4377233"/>
            <a:ext cx="1790395" cy="9144"/>
          </a:xfrm>
          <a:prstGeom prst="rect">
            <a:avLst/>
          </a:prstGeom>
          <a:solidFill>
            <a:srgbClr val="C7BFA8"/>
          </a:solidFill>
          <a:ln w="12700">
            <a:solidFill>
              <a:srgbClr val="C7BFA8">
                <a:alpha val="0"/>
              </a:srgbClr>
            </a:solidFill>
            <a:prstDash val="solid"/>
          </a:ln>
        </p:spPr>
      </p:sp>
      <p:sp>
        <p:nvSpPr>
          <p:cNvPr id="46" name="Text 42"/>
          <p:cNvSpPr txBox="1"/>
          <p:nvPr/>
        </p:nvSpPr>
        <p:spPr>
          <a:xfrm>
            <a:off x="4129430" y="3909974"/>
            <a:ext cx="1791310"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25.81</a:t>
            </a:r>
            <a:endParaRPr lang="en-US" sz="1275" dirty="0"/>
          </a:p>
        </p:txBody>
      </p:sp>
      <p:sp>
        <p:nvSpPr>
          <p:cNvPr id="47" name="Shape 43"/>
          <p:cNvSpPr/>
          <p:nvPr/>
        </p:nvSpPr>
        <p:spPr>
          <a:xfrm>
            <a:off x="5912510" y="4377233"/>
            <a:ext cx="1591056" cy="9144"/>
          </a:xfrm>
          <a:prstGeom prst="rect">
            <a:avLst/>
          </a:prstGeom>
          <a:solidFill>
            <a:srgbClr val="C7BFA8"/>
          </a:solidFill>
          <a:ln w="12700">
            <a:solidFill>
              <a:srgbClr val="C7BFA8">
                <a:alpha val="0"/>
              </a:srgbClr>
            </a:solidFill>
            <a:prstDash val="solid"/>
          </a:ln>
        </p:spPr>
      </p:sp>
      <p:sp>
        <p:nvSpPr>
          <p:cNvPr id="48" name="Text 44"/>
          <p:cNvSpPr txBox="1"/>
          <p:nvPr/>
        </p:nvSpPr>
        <p:spPr>
          <a:xfrm>
            <a:off x="5912510" y="3909974"/>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0.51</a:t>
            </a:r>
            <a:endParaRPr lang="en-US" sz="1275" dirty="0"/>
          </a:p>
        </p:txBody>
      </p:sp>
      <p:sp>
        <p:nvSpPr>
          <p:cNvPr id="49" name="Shape 45"/>
          <p:cNvSpPr/>
          <p:nvPr/>
        </p:nvSpPr>
        <p:spPr>
          <a:xfrm>
            <a:off x="7498080" y="4377233"/>
            <a:ext cx="1591056" cy="9144"/>
          </a:xfrm>
          <a:prstGeom prst="rect">
            <a:avLst/>
          </a:prstGeom>
          <a:solidFill>
            <a:srgbClr val="C7BFA8"/>
          </a:solidFill>
          <a:ln w="12700">
            <a:solidFill>
              <a:srgbClr val="C7BFA8">
                <a:alpha val="0"/>
              </a:srgbClr>
            </a:solidFill>
            <a:prstDash val="solid"/>
          </a:ln>
        </p:spPr>
      </p:sp>
      <p:sp>
        <p:nvSpPr>
          <p:cNvPr id="50" name="Text 46"/>
          <p:cNvSpPr txBox="1"/>
          <p:nvPr/>
        </p:nvSpPr>
        <p:spPr>
          <a:xfrm>
            <a:off x="7498080" y="3909974"/>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1.42</a:t>
            </a:r>
            <a:endParaRPr lang="en-US" sz="1275" dirty="0"/>
          </a:p>
        </p:txBody>
      </p:sp>
      <p:sp>
        <p:nvSpPr>
          <p:cNvPr id="51" name="Shape 47"/>
          <p:cNvSpPr/>
          <p:nvPr/>
        </p:nvSpPr>
        <p:spPr>
          <a:xfrm>
            <a:off x="9082735" y="4377233"/>
            <a:ext cx="1591056" cy="9144"/>
          </a:xfrm>
          <a:prstGeom prst="rect">
            <a:avLst/>
          </a:prstGeom>
          <a:solidFill>
            <a:srgbClr val="C7BFA8"/>
          </a:solidFill>
          <a:ln w="12700">
            <a:solidFill>
              <a:srgbClr val="C7BFA8">
                <a:alpha val="0"/>
              </a:srgbClr>
            </a:solidFill>
            <a:prstDash val="solid"/>
          </a:ln>
        </p:spPr>
      </p:sp>
      <p:sp>
        <p:nvSpPr>
          <p:cNvPr id="52" name="Text 48"/>
          <p:cNvSpPr txBox="1"/>
          <p:nvPr/>
        </p:nvSpPr>
        <p:spPr>
          <a:xfrm>
            <a:off x="9082735" y="3909974"/>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+0.11</a:t>
            </a:r>
            <a:endParaRPr lang="en-US" sz="1275" dirty="0"/>
          </a:p>
        </p:txBody>
      </p:sp>
      <p:sp>
        <p:nvSpPr>
          <p:cNvPr id="53" name="Shape 49"/>
          <p:cNvSpPr/>
          <p:nvPr/>
        </p:nvSpPr>
        <p:spPr>
          <a:xfrm>
            <a:off x="761695" y="4853635"/>
            <a:ext cx="1591056" cy="9144"/>
          </a:xfrm>
          <a:prstGeom prst="rect">
            <a:avLst/>
          </a:prstGeom>
          <a:solidFill>
            <a:srgbClr val="16130E"/>
          </a:solidFill>
          <a:ln w="12700">
            <a:solidFill>
              <a:srgbClr val="16130E">
                <a:alpha val="0"/>
              </a:srgbClr>
            </a:solidFill>
            <a:prstDash val="solid"/>
          </a:ln>
        </p:spPr>
      </p:sp>
      <p:sp>
        <p:nvSpPr>
          <p:cNvPr id="54" name="Text 50"/>
          <p:cNvSpPr txBox="1"/>
          <p:nvPr/>
        </p:nvSpPr>
        <p:spPr>
          <a:xfrm>
            <a:off x="761695" y="4386377"/>
            <a:ext cx="1591056"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Mono" pitchFamily="34" charset="0"/>
                <a:ea typeface="IBM Plex Mono" pitchFamily="34" charset="-122"/>
                <a:cs typeface="IBM Plex Mono" pitchFamily="34" charset="-120"/>
              </a:rPr>
              <a:t>W04</a:t>
            </a:r>
            <a:endParaRPr lang="en-US" sz="1350" dirty="0"/>
          </a:p>
        </p:txBody>
      </p:sp>
      <p:sp>
        <p:nvSpPr>
          <p:cNvPr id="55" name="Shape 51"/>
          <p:cNvSpPr/>
          <p:nvPr/>
        </p:nvSpPr>
        <p:spPr>
          <a:xfrm>
            <a:off x="2347265" y="4853635"/>
            <a:ext cx="1790395" cy="9144"/>
          </a:xfrm>
          <a:prstGeom prst="rect">
            <a:avLst/>
          </a:prstGeom>
          <a:solidFill>
            <a:srgbClr val="16130E"/>
          </a:solidFill>
          <a:ln w="12700">
            <a:solidFill>
              <a:srgbClr val="16130E">
                <a:alpha val="0"/>
              </a:srgbClr>
            </a:solidFill>
            <a:prstDash val="solid"/>
          </a:ln>
        </p:spPr>
      </p:sp>
      <p:sp>
        <p:nvSpPr>
          <p:cNvPr id="56" name="Text 52"/>
          <p:cNvSpPr txBox="1"/>
          <p:nvPr/>
        </p:nvSpPr>
        <p:spPr>
          <a:xfrm>
            <a:off x="2651760" y="4386377"/>
            <a:ext cx="1486814"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Reference</a:t>
            </a:r>
            <a:endParaRPr lang="en-US" sz="1350" dirty="0"/>
          </a:p>
        </p:txBody>
      </p:sp>
      <p:sp>
        <p:nvSpPr>
          <p:cNvPr id="57" name="Shape 53"/>
          <p:cNvSpPr/>
          <p:nvPr/>
        </p:nvSpPr>
        <p:spPr>
          <a:xfrm>
            <a:off x="4129430" y="4853635"/>
            <a:ext cx="1790395" cy="9144"/>
          </a:xfrm>
          <a:prstGeom prst="rect">
            <a:avLst/>
          </a:prstGeom>
          <a:solidFill>
            <a:srgbClr val="16130E"/>
          </a:solidFill>
          <a:ln w="12700">
            <a:solidFill>
              <a:srgbClr val="16130E">
                <a:alpha val="0"/>
              </a:srgbClr>
            </a:solidFill>
            <a:prstDash val="solid"/>
          </a:ln>
        </p:spPr>
      </p:sp>
      <p:sp>
        <p:nvSpPr>
          <p:cNvPr id="58" name="Text 54"/>
          <p:cNvSpPr txBox="1"/>
          <p:nvPr/>
        </p:nvSpPr>
        <p:spPr>
          <a:xfrm>
            <a:off x="4129430" y="4386377"/>
            <a:ext cx="1791310"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25.78</a:t>
            </a:r>
            <a:endParaRPr lang="en-US" sz="1275" dirty="0"/>
          </a:p>
        </p:txBody>
      </p:sp>
      <p:sp>
        <p:nvSpPr>
          <p:cNvPr id="59" name="Shape 55"/>
          <p:cNvSpPr/>
          <p:nvPr/>
        </p:nvSpPr>
        <p:spPr>
          <a:xfrm>
            <a:off x="5912510" y="4853635"/>
            <a:ext cx="1591056" cy="9144"/>
          </a:xfrm>
          <a:prstGeom prst="rect">
            <a:avLst/>
          </a:prstGeom>
          <a:solidFill>
            <a:srgbClr val="16130E"/>
          </a:solidFill>
          <a:ln w="12700">
            <a:solidFill>
              <a:srgbClr val="16130E">
                <a:alpha val="0"/>
              </a:srgbClr>
            </a:solidFill>
            <a:prstDash val="solid"/>
          </a:ln>
        </p:spPr>
      </p:sp>
      <p:sp>
        <p:nvSpPr>
          <p:cNvPr id="60" name="Text 56"/>
          <p:cNvSpPr txBox="1"/>
          <p:nvPr/>
        </p:nvSpPr>
        <p:spPr>
          <a:xfrm>
            <a:off x="5912510" y="4386377"/>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0.48</a:t>
            </a:r>
            <a:endParaRPr lang="en-US" sz="1275" dirty="0"/>
          </a:p>
        </p:txBody>
      </p:sp>
      <p:sp>
        <p:nvSpPr>
          <p:cNvPr id="61" name="Shape 57"/>
          <p:cNvSpPr/>
          <p:nvPr/>
        </p:nvSpPr>
        <p:spPr>
          <a:xfrm>
            <a:off x="7498080" y="4853635"/>
            <a:ext cx="1591056" cy="9144"/>
          </a:xfrm>
          <a:prstGeom prst="rect">
            <a:avLst/>
          </a:prstGeom>
          <a:solidFill>
            <a:srgbClr val="16130E"/>
          </a:solidFill>
          <a:ln w="12700">
            <a:solidFill>
              <a:srgbClr val="16130E">
                <a:alpha val="0"/>
              </a:srgbClr>
            </a:solidFill>
            <a:prstDash val="solid"/>
          </a:ln>
        </p:spPr>
      </p:sp>
      <p:sp>
        <p:nvSpPr>
          <p:cNvPr id="62" name="Text 58"/>
          <p:cNvSpPr txBox="1"/>
          <p:nvPr/>
        </p:nvSpPr>
        <p:spPr>
          <a:xfrm>
            <a:off x="7498080" y="4386377"/>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1.36</a:t>
            </a:r>
            <a:endParaRPr lang="en-US" sz="1275" dirty="0"/>
          </a:p>
        </p:txBody>
      </p:sp>
      <p:sp>
        <p:nvSpPr>
          <p:cNvPr id="63" name="Shape 59"/>
          <p:cNvSpPr/>
          <p:nvPr/>
        </p:nvSpPr>
        <p:spPr>
          <a:xfrm>
            <a:off x="9082735" y="4853635"/>
            <a:ext cx="1591056" cy="9144"/>
          </a:xfrm>
          <a:prstGeom prst="rect">
            <a:avLst/>
          </a:prstGeom>
          <a:solidFill>
            <a:srgbClr val="16130E"/>
          </a:solidFill>
          <a:ln w="12700">
            <a:solidFill>
              <a:srgbClr val="16130E">
                <a:alpha val="0"/>
              </a:srgbClr>
            </a:solidFill>
            <a:prstDash val="solid"/>
          </a:ln>
        </p:spPr>
      </p:sp>
      <p:sp>
        <p:nvSpPr>
          <p:cNvPr id="64" name="Text 60"/>
          <p:cNvSpPr txBox="1"/>
          <p:nvPr/>
        </p:nvSpPr>
        <p:spPr>
          <a:xfrm>
            <a:off x="9082735" y="4386377"/>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+0.08</a:t>
            </a:r>
            <a:endParaRPr lang="en-US" sz="1275" dirty="0"/>
          </a:p>
        </p:txBody>
      </p:sp>
      <p:sp>
        <p:nvSpPr>
          <p:cNvPr id="65" name="Shape 61"/>
          <p:cNvSpPr/>
          <p:nvPr/>
        </p:nvSpPr>
        <p:spPr>
          <a:xfrm>
            <a:off x="2479853" y="3165653"/>
            <a:ext cx="95098" cy="95098"/>
          </a:xfrm>
          <a:prstGeom prst="rect">
            <a:avLst/>
          </a:prstGeom>
          <a:solidFill>
            <a:srgbClr val="155E63"/>
          </a:solidFill>
          <a:ln w="12700">
            <a:solidFill>
              <a:srgbClr val="FFFFFF">
                <a:alpha val="0"/>
              </a:srgbClr>
            </a:solidFill>
            <a:prstDash val="solid"/>
          </a:ln>
        </p:spPr>
      </p:sp>
      <p:sp>
        <p:nvSpPr>
          <p:cNvPr id="66" name="Shape 62"/>
          <p:cNvSpPr/>
          <p:nvPr/>
        </p:nvSpPr>
        <p:spPr>
          <a:xfrm>
            <a:off x="2479853" y="3642055"/>
            <a:ext cx="95098" cy="95098"/>
          </a:xfrm>
          <a:prstGeom prst="rect">
            <a:avLst/>
          </a:prstGeom>
          <a:solidFill>
            <a:srgbClr val="155E63"/>
          </a:solidFill>
          <a:ln w="12700">
            <a:solidFill>
              <a:srgbClr val="FFFFFF">
                <a:alpha val="0"/>
              </a:srgbClr>
            </a:solidFill>
            <a:prstDash val="solid"/>
          </a:ln>
        </p:spPr>
      </p:sp>
      <p:sp>
        <p:nvSpPr>
          <p:cNvPr id="67" name="Shape 63"/>
          <p:cNvSpPr/>
          <p:nvPr/>
        </p:nvSpPr>
        <p:spPr>
          <a:xfrm>
            <a:off x="2479853" y="4118458"/>
            <a:ext cx="95098" cy="95098"/>
          </a:xfrm>
          <a:prstGeom prst="rect">
            <a:avLst/>
          </a:prstGeom>
          <a:solidFill>
            <a:srgbClr val="9A4520"/>
          </a:solidFill>
          <a:ln w="12700">
            <a:solidFill>
              <a:srgbClr val="FFFFFF">
                <a:alpha val="0"/>
              </a:srgbClr>
            </a:solidFill>
            <a:prstDash val="solid"/>
          </a:ln>
        </p:spPr>
      </p:sp>
      <p:sp>
        <p:nvSpPr>
          <p:cNvPr id="68" name="Shape 64"/>
          <p:cNvSpPr/>
          <p:nvPr/>
        </p:nvSpPr>
        <p:spPr>
          <a:xfrm>
            <a:off x="2479853" y="4594860"/>
            <a:ext cx="95098" cy="95098"/>
          </a:xfrm>
          <a:prstGeom prst="rect">
            <a:avLst/>
          </a:prstGeom>
          <a:solidFill>
            <a:srgbClr val="9A4520"/>
          </a:solidFill>
          <a:ln w="12700">
            <a:solidFill>
              <a:srgbClr val="FFFFFF">
                <a:alpha val="0"/>
              </a:srgbClr>
            </a:solidFill>
            <a:prstDash val="solid"/>
          </a:ln>
        </p:spPr>
      </p:sp>
      <p:sp>
        <p:nvSpPr>
          <p:cNvPr id="69" name="Text 65"/>
          <p:cNvSpPr txBox="1"/>
          <p:nvPr/>
        </p:nvSpPr>
        <p:spPr>
          <a:xfrm>
            <a:off x="990295" y="5143500"/>
            <a:ext cx="4286707" cy="162763"/>
          </a:xfrm>
          <a:prstGeom prst="rect">
            <a:avLst/>
          </a:prstGeom>
          <a:noFill/>
          <a:ln/>
        </p:spPr>
        <p:txBody>
          <a:bodyPr wrap="none" lIns="0" tIns="0" rIns="0" bIns="0" rtlCol="0" anchor="ctr"/>
          <a:lstStyle/>
          <a:p>
            <a:pPr algn="l" indent="0" marL="0">
              <a:buNone/>
            </a:pPr>
            <a:r>
              <a:rPr lang="en-US" sz="975" spc="156" kern="0" dirty="0">
                <a:solidFill>
                  <a:srgbClr val="155E63"/>
                </a:solidFill>
                <a:latin typeface="IBM Plex Mono" pitchFamily="34" charset="0"/>
                <a:ea typeface="IBM Plex Mono" pitchFamily="34" charset="-122"/>
                <a:cs typeface="IBM Plex Mono" pitchFamily="34" charset="-120"/>
              </a:rPr>
              <a:t>AIR-GAP group</a:t>
            </a:r>
            <a:endParaRPr lang="en-US" sz="975" dirty="0"/>
          </a:p>
        </p:txBody>
      </p:sp>
      <p:sp>
        <p:nvSpPr>
          <p:cNvPr id="70" name="Text 66"/>
          <p:cNvSpPr txBox="1"/>
          <p:nvPr/>
        </p:nvSpPr>
        <p:spPr>
          <a:xfrm>
            <a:off x="990295" y="5438851"/>
            <a:ext cx="4286707" cy="609905"/>
          </a:xfrm>
          <a:prstGeom prst="rect">
            <a:avLst/>
          </a:prstGeom>
          <a:noFill/>
          <a:ln/>
        </p:spPr>
        <p:txBody>
          <a:bodyPr wrap="none" lIns="0" tIns="0" rIns="0" bIns="0" rtlCol="0" anchor="ctr"/>
          <a:lstStyle/>
          <a:p>
            <a:pPr algn="l" indent="0" marL="0">
              <a:buNone/>
            </a:pPr>
            <a:r>
              <a:rPr lang="en-US" sz="4800" b="1" spc="-96" kern="0" dirty="0">
                <a:solidFill>
                  <a:srgbClr val="16130E"/>
                </a:solidFill>
                <a:latin typeface="IBM Plex Mono" pitchFamily="34" charset="0"/>
                <a:ea typeface="IBM Plex Mono" pitchFamily="34" charset="-122"/>
                <a:cs typeface="IBM Plex Mono" pitchFamily="34" charset="-120"/>
              </a:rPr>
              <a:t>0.41 nm</a:t>
            </a:r>
            <a:endParaRPr lang="en-US" sz="4800" dirty="0"/>
          </a:p>
        </p:txBody>
      </p:sp>
      <p:sp>
        <p:nvSpPr>
          <p:cNvPr id="71" name="Text 67"/>
          <p:cNvSpPr txBox="1"/>
          <p:nvPr/>
        </p:nvSpPr>
        <p:spPr>
          <a:xfrm>
            <a:off x="990295" y="6181344"/>
            <a:ext cx="4286707" cy="486461"/>
          </a:xfrm>
          <a:prstGeom prst="rect">
            <a:avLst/>
          </a:prstGeom>
          <a:noFill/>
          <a:ln/>
        </p:spPr>
        <p:txBody>
          <a:bodyPr wrap="square" lIns="0" tIns="0" rIns="0" bIns="0" rtlCol="0" anchor="ctr"/>
          <a:lstStyle/>
          <a:p>
            <a:pPr algn="l" indent="0" marL="0">
              <a:lnSpc>
                <a:spcPts val="1913"/>
              </a:lnSpc>
              <a:buNone/>
            </a:pPr>
            <a:r>
              <a:rPr lang="en-US" sz="1275" dirty="0">
                <a:solidFill>
                  <a:srgbClr val="3A352D"/>
                </a:solidFill>
                <a:latin typeface="IBM Plex Sans KR" pitchFamily="34" charset="0"/>
                <a:ea typeface="IBM Plex Sans KR" pitchFamily="34" charset="-122"/>
                <a:cs typeface="IBM Plex Sans KR" pitchFamily="34" charset="-120"/>
              </a:rPr>
              <a:t>Group A 평균 3σ · 4 wafer에 대한 평균 mean 25.71 nm · 공칭 target 대비 −0.01 nm 이내</a:t>
            </a:r>
            <a:endParaRPr lang="en-US" sz="1275" dirty="0"/>
          </a:p>
        </p:txBody>
      </p:sp>
      <p:sp>
        <p:nvSpPr>
          <p:cNvPr id="72" name="Text 68"/>
          <p:cNvSpPr txBox="1"/>
          <p:nvPr/>
        </p:nvSpPr>
        <p:spPr>
          <a:xfrm>
            <a:off x="6133795" y="5143500"/>
            <a:ext cx="4286707" cy="162763"/>
          </a:xfrm>
          <a:prstGeom prst="rect">
            <a:avLst/>
          </a:prstGeom>
          <a:noFill/>
          <a:ln/>
        </p:spPr>
        <p:txBody>
          <a:bodyPr wrap="none" lIns="0" tIns="0" rIns="0" bIns="0" rtlCol="0" anchor="ctr"/>
          <a:lstStyle/>
          <a:p>
            <a:pPr algn="l" indent="0" marL="0">
              <a:buNone/>
            </a:pPr>
            <a:r>
              <a:rPr lang="en-US" sz="975" spc="156" kern="0" dirty="0">
                <a:solidFill>
                  <a:srgbClr val="9A4520"/>
                </a:solidFill>
                <a:latin typeface="IBM Plex Mono" pitchFamily="34" charset="0"/>
                <a:ea typeface="IBM Plex Mono" pitchFamily="34" charset="-122"/>
                <a:cs typeface="IBM Plex Mono" pitchFamily="34" charset="-120"/>
              </a:rPr>
              <a:t>REFERENCE group</a:t>
            </a:r>
            <a:endParaRPr lang="en-US" sz="975" dirty="0"/>
          </a:p>
        </p:txBody>
      </p:sp>
      <p:sp>
        <p:nvSpPr>
          <p:cNvPr id="73" name="Text 69"/>
          <p:cNvSpPr txBox="1"/>
          <p:nvPr/>
        </p:nvSpPr>
        <p:spPr>
          <a:xfrm>
            <a:off x="6133795" y="5438851"/>
            <a:ext cx="4286707" cy="609905"/>
          </a:xfrm>
          <a:prstGeom prst="rect">
            <a:avLst/>
          </a:prstGeom>
          <a:noFill/>
          <a:ln/>
        </p:spPr>
        <p:txBody>
          <a:bodyPr wrap="none" lIns="0" tIns="0" rIns="0" bIns="0" rtlCol="0" anchor="ctr"/>
          <a:lstStyle/>
          <a:p>
            <a:pPr algn="l" indent="0" marL="0">
              <a:buNone/>
            </a:pPr>
            <a:r>
              <a:rPr lang="en-US" sz="4800" b="1" spc="-96" kern="0" dirty="0">
                <a:solidFill>
                  <a:srgbClr val="16130E"/>
                </a:solidFill>
                <a:latin typeface="IBM Plex Mono" pitchFamily="34" charset="0"/>
                <a:ea typeface="IBM Plex Mono" pitchFamily="34" charset="-122"/>
                <a:cs typeface="IBM Plex Mono" pitchFamily="34" charset="-120"/>
              </a:rPr>
              <a:t>0.50 nm</a:t>
            </a:r>
            <a:endParaRPr lang="en-US" sz="4800" dirty="0"/>
          </a:p>
        </p:txBody>
      </p:sp>
      <p:sp>
        <p:nvSpPr>
          <p:cNvPr id="74" name="Text 70"/>
          <p:cNvSpPr txBox="1"/>
          <p:nvPr/>
        </p:nvSpPr>
        <p:spPr>
          <a:xfrm>
            <a:off x="6133795" y="6181344"/>
            <a:ext cx="4286707" cy="486461"/>
          </a:xfrm>
          <a:prstGeom prst="rect">
            <a:avLst/>
          </a:prstGeom>
          <a:noFill/>
          <a:ln/>
        </p:spPr>
        <p:txBody>
          <a:bodyPr wrap="square" lIns="0" tIns="0" rIns="0" bIns="0" rtlCol="0" anchor="ctr"/>
          <a:lstStyle/>
          <a:p>
            <a:pPr algn="l" indent="0" marL="0">
              <a:lnSpc>
                <a:spcPts val="1913"/>
              </a:lnSpc>
              <a:buNone/>
            </a:pPr>
            <a:r>
              <a:rPr lang="en-US" sz="1275" dirty="0">
                <a:solidFill>
                  <a:srgbClr val="3A352D"/>
                </a:solidFill>
                <a:latin typeface="IBM Plex Sans KR" pitchFamily="34" charset="0"/>
                <a:ea typeface="IBM Plex Sans KR" pitchFamily="34" charset="-122"/>
                <a:cs typeface="IBM Plex Sans KR" pitchFamily="34" charset="-120"/>
              </a:rPr>
              <a:t>Group B 평균 3σ · 평균 mean 25.80 nm · target 대비 +0.10 nm 양의 편향</a:t>
            </a:r>
            <a:endParaRPr lang="en-US" sz="1275" dirty="0"/>
          </a:p>
        </p:txBody>
      </p:sp>
      <p:sp>
        <p:nvSpPr>
          <p:cNvPr id="75" name="Text 71"/>
          <p:cNvSpPr txBox="1"/>
          <p:nvPr/>
        </p:nvSpPr>
        <p:spPr>
          <a:xfrm>
            <a:off x="11239805" y="2476195"/>
            <a:ext cx="6286500" cy="305410"/>
          </a:xfrm>
          <a:prstGeom prst="rect">
            <a:avLst/>
          </a:prstGeom>
          <a:noFill/>
          <a:ln/>
        </p:spPr>
        <p:txBody>
          <a:bodyPr wrap="none" lIns="0" tIns="0" rIns="0" bIns="0" rtlCol="0" anchor="ctr"/>
          <a:lstStyle/>
          <a:p>
            <a:pPr algn="l" indent="0" marL="0">
              <a:buNone/>
            </a:pPr>
            <a:r>
              <a:rPr lang="en-US" sz="1575" dirty="0">
                <a:solidFill>
                  <a:srgbClr val="16130E"/>
                </a:solidFill>
                <a:latin typeface="IBM Plex Sans KR" pitchFamily="34" charset="0"/>
                <a:ea typeface="IBM Plex Sans KR" pitchFamily="34" charset="-122"/>
                <a:cs typeface="IBM Plex Sans KR" pitchFamily="34" charset="-120"/>
              </a:rPr>
              <a:t>관찰</a:t>
            </a:r>
            <a:endParaRPr lang="en-US" sz="1575" dirty="0"/>
          </a:p>
        </p:txBody>
      </p:sp>
      <p:sp>
        <p:nvSpPr>
          <p:cNvPr id="76" name="Text 72"/>
          <p:cNvSpPr txBox="1"/>
          <p:nvPr/>
        </p:nvSpPr>
        <p:spPr>
          <a:xfrm>
            <a:off x="11239805" y="2915107"/>
            <a:ext cx="6286500" cy="534010"/>
          </a:xfrm>
          <a:prstGeom prst="rect">
            <a:avLst/>
          </a:prstGeom>
          <a:noFill/>
          <a:ln/>
        </p:spPr>
        <p:txBody>
          <a:bodyPr wrap="square" lIns="0" tIns="0" rIns="0" bIns="0" rtlCol="0" anchor="ctr"/>
          <a:lstStyle/>
          <a:p>
            <a:pPr algn="l" indent="0" marL="0">
              <a:lnSpc>
                <a:spcPts val="2092"/>
              </a:lnSpc>
              <a:buNone/>
            </a:pPr>
            <a:r>
              <a:rPr lang="en-US" sz="1350" dirty="0">
                <a:solidFill>
                  <a:srgbClr val="3A352D"/>
                </a:solidFill>
                <a:latin typeface="IBM Plex Sans KR" pitchFamily="34" charset="0"/>
                <a:ea typeface="IBM Plex Sans KR" pitchFamily="34" charset="-122"/>
                <a:cs typeface="IBM Plex Sans KR" pitchFamily="34" charset="-120"/>
              </a:rPr>
              <a:t>Group A의 3σ는 0.39 ~ 0.42 nm로 0.5 nm 미만 구간 안에서 안정적. Group B는 0.48 ~ 0.51 nm로 그룹간 분포가 약 23 % 더 크다.</a:t>
            </a:r>
            <a:endParaRPr lang="en-US" sz="1350" dirty="0"/>
          </a:p>
        </p:txBody>
      </p:sp>
      <p:sp>
        <p:nvSpPr>
          <p:cNvPr id="77" name="Text 73"/>
          <p:cNvSpPr txBox="1"/>
          <p:nvPr/>
        </p:nvSpPr>
        <p:spPr>
          <a:xfrm>
            <a:off x="11239805" y="3617366"/>
            <a:ext cx="6286500" cy="305410"/>
          </a:xfrm>
          <a:prstGeom prst="rect">
            <a:avLst/>
          </a:prstGeom>
          <a:noFill/>
          <a:ln/>
        </p:spPr>
        <p:txBody>
          <a:bodyPr wrap="none" lIns="0" tIns="0" rIns="0" bIns="0" rtlCol="0" anchor="ctr"/>
          <a:lstStyle/>
          <a:p>
            <a:pPr algn="l" indent="0" marL="0">
              <a:buNone/>
            </a:pPr>
            <a:r>
              <a:rPr lang="en-US" sz="1575" dirty="0">
                <a:solidFill>
                  <a:srgbClr val="16130E"/>
                </a:solidFill>
                <a:latin typeface="IBM Plex Sans KR" pitchFamily="34" charset="0"/>
                <a:ea typeface="IBM Plex Sans KR" pitchFamily="34" charset="-122"/>
                <a:cs typeface="IBM Plex Sans KR" pitchFamily="34" charset="-120"/>
              </a:rPr>
              <a:t>target 대비 편향</a:t>
            </a:r>
            <a:endParaRPr lang="en-US" sz="1575" dirty="0"/>
          </a:p>
        </p:txBody>
      </p:sp>
      <p:sp>
        <p:nvSpPr>
          <p:cNvPr id="78" name="Text 74"/>
          <p:cNvSpPr txBox="1"/>
          <p:nvPr/>
        </p:nvSpPr>
        <p:spPr>
          <a:xfrm>
            <a:off x="11239805" y="4055364"/>
            <a:ext cx="6286500" cy="800100"/>
          </a:xfrm>
          <a:prstGeom prst="rect">
            <a:avLst/>
          </a:prstGeom>
          <a:noFill/>
          <a:ln/>
        </p:spPr>
        <p:txBody>
          <a:bodyPr wrap="square" lIns="0" tIns="0" rIns="0" bIns="0" rtlCol="0" anchor="ctr"/>
          <a:lstStyle/>
          <a:p>
            <a:pPr algn="l" indent="0" marL="0">
              <a:lnSpc>
                <a:spcPts val="2092"/>
              </a:lnSpc>
              <a:buNone/>
            </a:pPr>
            <a:r>
              <a:rPr lang="en-US" sz="1350" dirty="0">
                <a:solidFill>
                  <a:srgbClr val="3A352D"/>
                </a:solidFill>
                <a:latin typeface="IBM Plex Sans KR" pitchFamily="34" charset="0"/>
                <a:ea typeface="IBM Plex Sans KR" pitchFamily="34" charset="-122"/>
                <a:cs typeface="IBM Plex Sans KR" pitchFamily="34" charset="-120"/>
              </a:rPr>
              <a:t>Group A는 −0.02 ~ +0.04 nm 즉 0 주위로 ±0.05 nm 이내, Group B는 두 wafer 모두 +0.08 nm 이상 양의 편향이 누적되어 측정 평균이 line CD 측에서 +0.09 nm 높은 위치에 놓인다.</a:t>
            </a:r>
            <a:endParaRPr lang="en-US" sz="1350" dirty="0"/>
          </a:p>
        </p:txBody>
      </p:sp>
      <p:sp>
        <p:nvSpPr>
          <p:cNvPr id="79" name="Text 75"/>
          <p:cNvSpPr txBox="1"/>
          <p:nvPr/>
        </p:nvSpPr>
        <p:spPr>
          <a:xfrm>
            <a:off x="11239805" y="5023714"/>
            <a:ext cx="6286500" cy="305410"/>
          </a:xfrm>
          <a:prstGeom prst="rect">
            <a:avLst/>
          </a:prstGeom>
          <a:noFill/>
          <a:ln/>
        </p:spPr>
        <p:txBody>
          <a:bodyPr wrap="none" lIns="0" tIns="0" rIns="0" bIns="0" rtlCol="0" anchor="ctr"/>
          <a:lstStyle/>
          <a:p>
            <a:pPr algn="l" indent="0" marL="0">
              <a:buNone/>
            </a:pPr>
            <a:r>
              <a:rPr lang="en-US" sz="1575" dirty="0">
                <a:solidFill>
                  <a:srgbClr val="16130E"/>
                </a:solidFill>
                <a:latin typeface="IBM Plex Sans KR" pitchFamily="34" charset="0"/>
                <a:ea typeface="IBM Plex Sans KR" pitchFamily="34" charset="-122"/>
                <a:cs typeface="IBM Plex Sans KR" pitchFamily="34" charset="-120"/>
              </a:rPr>
              <a:t>해석 노트</a:t>
            </a:r>
            <a:endParaRPr lang="en-US" sz="1575" dirty="0"/>
          </a:p>
        </p:txBody>
      </p:sp>
      <p:sp>
        <p:nvSpPr>
          <p:cNvPr id="80" name="Text 76"/>
          <p:cNvSpPr txBox="1"/>
          <p:nvPr/>
        </p:nvSpPr>
        <p:spPr>
          <a:xfrm>
            <a:off x="11239805" y="5461711"/>
            <a:ext cx="6286500" cy="534010"/>
          </a:xfrm>
          <a:prstGeom prst="rect">
            <a:avLst/>
          </a:prstGeom>
          <a:noFill/>
          <a:ln/>
        </p:spPr>
        <p:txBody>
          <a:bodyPr wrap="square" lIns="0" tIns="0" rIns="0" bIns="0" rtlCol="0" anchor="ctr"/>
          <a:lstStyle/>
          <a:p>
            <a:pPr algn="l" indent="0" marL="0">
              <a:lnSpc>
                <a:spcPts val="2092"/>
              </a:lnSpc>
              <a:buNone/>
            </a:pPr>
            <a:r>
              <a:rPr lang="en-US" sz="1350" dirty="0">
                <a:solidFill>
                  <a:srgbClr val="3A352D"/>
                </a:solidFill>
                <a:latin typeface="IBM Plex Sans KR" pitchFamily="34" charset="0"/>
                <a:ea typeface="IBM Plex Sans KR" pitchFamily="34" charset="-122"/>
                <a:cs typeface="IBM Plex Sans KR" pitchFamily="34" charset="-120"/>
              </a:rPr>
              <a:t>pinch-off 단계 도입 자체가 AASI 시점 라인 CD 분포를 더 조밀하게 모았으며, +편향 누적이 사라진 점이 그룹간 우세 차이의 주된 원인으로 읽힌다.</a:t>
            </a:r>
            <a:endParaRPr lang="en-US" sz="1350" dirty="0"/>
          </a:p>
        </p:txBody>
      </p:sp>
      <p:sp>
        <p:nvSpPr>
          <p:cNvPr id="81" name="Text 77"/>
          <p:cNvSpPr txBox="1"/>
          <p:nvPr/>
        </p:nvSpPr>
        <p:spPr>
          <a:xfrm>
            <a:off x="761695" y="8524951"/>
            <a:ext cx="16764610" cy="333756"/>
          </a:xfrm>
          <a:prstGeom prst="rect">
            <a:avLst/>
          </a:prstGeom>
          <a:noFill/>
          <a:ln/>
        </p:spPr>
        <p:txBody>
          <a:bodyPr wrap="none" lIns="0" tIns="0" rIns="0" bIns="0" rtlCol="0" anchor="ctr"/>
          <a:lstStyle/>
          <a:p>
            <a:pPr algn="l" indent="0" marL="0">
              <a:buNone/>
            </a:pPr>
            <a:r>
              <a:rPr lang="en-US" sz="1800" dirty="0">
                <a:solidFill>
                  <a:srgbClr val="16130E"/>
                </a:solidFill>
                <a:latin typeface="IBM Plex Sans KR" pitchFamily="34" charset="0"/>
                <a:ea typeface="IBM Plex Sans KR" pitchFamily="34" charset="-122"/>
                <a:cs typeface="IBM Plex Sans KR" pitchFamily="34" charset="-120"/>
              </a:rPr>
              <a:t>Group A는 3σ 0.41 nm · target ±0.05 nm 부근에 모이나 Group B는 3σ 0.50 nm · target에 대해 +0.10 nm 양의 편향이 누적된다.</a:t>
            </a:r>
            <a:endParaRPr lang="en-US" sz="1800" dirty="0"/>
          </a:p>
        </p:txBody>
      </p:sp>
      <p:sp>
        <p:nvSpPr>
          <p:cNvPr id="82" name="Shape 78"/>
          <p:cNvSpPr/>
          <p:nvPr/>
        </p:nvSpPr>
        <p:spPr>
          <a:xfrm>
            <a:off x="761695" y="8524951"/>
            <a:ext cx="133502" cy="133502"/>
          </a:xfrm>
          <a:prstGeom prst="rect">
            <a:avLst/>
          </a:prstGeom>
          <a:solidFill>
            <a:srgbClr val="BD4A22"/>
          </a:solidFill>
          <a:ln w="12700">
            <a:solidFill>
              <a:srgbClr val="FFFFFF">
                <a:alpha val="0"/>
              </a:srgbClr>
            </a:solidFill>
            <a:prstDash val="solid"/>
          </a:ln>
        </p:spPr>
      </p:sp>
      <p:sp>
        <p:nvSpPr>
          <p:cNvPr id="83" name="Text 79"/>
          <p:cNvSpPr txBox="1"/>
          <p:nvPr/>
        </p:nvSpPr>
        <p:spPr>
          <a:xfrm>
            <a:off x="761695" y="9715500"/>
            <a:ext cx="16764610" cy="191110"/>
          </a:xfrm>
          <a:prstGeom prst="rect">
            <a:avLst/>
          </a:prstGeom>
          <a:noFill/>
          <a:ln/>
        </p:spPr>
        <p:txBody>
          <a:bodyPr wrap="none" lIns="0" tIns="0" rIns="0" bIns="0" rtlCol="0" anchor="ctr"/>
          <a:lstStyle/>
          <a:p>
            <a:pPr algn="l" indent="0" marL="0">
              <a:buNone/>
            </a:pPr>
            <a:r>
              <a:rPr lang="en-US" sz="1050" spc="42" kern="0" dirty="0">
                <a:solidFill>
                  <a:srgbClr val="756E5F"/>
                </a:solidFill>
                <a:latin typeface="IBM Plex Mono" pitchFamily="34" charset="0"/>
                <a:ea typeface="IBM Plex Mono" pitchFamily="34" charset="-122"/>
                <a:cs typeface="IBM Plex Mono" pitchFamily="34" charset="-120"/>
              </a:rPr>
              <a:t>※ 내부 테스트용 더미(가상) 데이터</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ECE1"/>
        </a:solidFill>
      </p:bgPr>
    </p:bg>
    <p:spTree>
      <p:nvGrpSpPr>
        <p:cNvPr id="1" name=""/>
        <p:cNvGrpSpPr/>
        <p:nvPr/>
      </p:nvGrpSpPr>
      <p:grpSpPr>
        <a:xfrm>
          <a:off x="0" y="0"/>
          <a:ext cx="0" cy="0"/>
          <a:chOff x="0" y="0"/>
          <a:chExt cx="0" cy="0"/>
        </a:xfrm>
      </p:grpSpPr>
      <p:pic>
        <p:nvPicPr>
          <p:cNvPr id="3" name="Image 0" descr="gen-dedup-ddc72069e50c60be25b8eb9ead861247.png">    </p:cNvPr>
          <p:cNvPicPr>
            <a:picLocks noChangeAspect="1"/>
          </p:cNvPicPr>
          <p:nvPr/>
        </p:nvPicPr>
        <p:blipFill>
          <a:blip r:embed="rId1"/>
          <a:srcRect l="-422" r="-422" t="0" b="0"/>
          <a:stretch/>
        </p:blipFill>
        <p:spPr>
          <a:xfrm>
            <a:off x="761695" y="2171700"/>
            <a:ext cx="838505" cy="28346"/>
          </a:xfrm>
          <a:prstGeom prst="rect">
            <a:avLst/>
          </a:prstGeom>
        </p:spPr>
      </p:pic>
      <p:sp>
        <p:nvSpPr>
          <p:cNvPr id="4" name="Shape 0"/>
          <p:cNvSpPr/>
          <p:nvPr/>
        </p:nvSpPr>
        <p:spPr>
          <a:xfrm>
            <a:off x="761695" y="4953305"/>
            <a:ext cx="9905695" cy="2857500"/>
          </a:xfrm>
          <a:prstGeom prst="roundRect">
            <a:avLst>
              <a:gd name="adj" fmla="val 2016"/>
            </a:avLst>
          </a:prstGeom>
          <a:solidFill>
            <a:srgbClr val="FAF6EA"/>
          </a:solidFill>
          <a:ln w="12700">
            <a:solidFill>
              <a:srgbClr val="D6CFBB"/>
            </a:solidFill>
            <a:prstDash val="solid"/>
          </a:ln>
        </p:spPr>
      </p:sp>
      <p:sp>
        <p:nvSpPr>
          <p:cNvPr id="5" name="Text 1"/>
          <p:cNvSpPr txBox="1"/>
          <p:nvPr/>
        </p:nvSpPr>
        <p:spPr>
          <a:xfrm>
            <a:off x="761695" y="761695"/>
            <a:ext cx="5715000" cy="191110"/>
          </a:xfrm>
          <a:prstGeom prst="rect">
            <a:avLst/>
          </a:prstGeom>
          <a:noFill/>
          <a:ln/>
        </p:spPr>
        <p:txBody>
          <a:bodyPr wrap="none" lIns="0" tIns="0" rIns="0" bIns="0" rtlCol="0" anchor="ctr"/>
          <a:lstStyle/>
          <a:p>
            <a:pPr algn="l" indent="0" marL="0">
              <a:buNone/>
            </a:pPr>
            <a:r>
              <a:rPr lang="en-US" sz="1050" spc="189" kern="0" dirty="0">
                <a:solidFill>
                  <a:srgbClr val="756E5F"/>
                </a:solidFill>
                <a:latin typeface="IBM Plex Mono" pitchFamily="34" charset="0"/>
                <a:ea typeface="IBM Plex Mono" pitchFamily="34" charset="-122"/>
                <a:cs typeface="IBM Plex Mono" pitchFamily="34" charset="-120"/>
              </a:rPr>
              <a:t>06 · CD 변동성</a:t>
            </a:r>
            <a:endParaRPr lang="en-US" sz="1050" dirty="0"/>
          </a:p>
        </p:txBody>
      </p:sp>
      <p:sp>
        <p:nvSpPr>
          <p:cNvPr id="6" name="Text 2"/>
          <p:cNvSpPr txBox="1"/>
          <p:nvPr/>
        </p:nvSpPr>
        <p:spPr>
          <a:xfrm>
            <a:off x="761695" y="1143000"/>
            <a:ext cx="16193110" cy="523951"/>
          </a:xfrm>
          <a:prstGeom prst="rect">
            <a:avLst/>
          </a:prstGeom>
          <a:noFill/>
          <a:ln/>
        </p:spPr>
        <p:txBody>
          <a:bodyPr wrap="none" lIns="0" tIns="0" rIns="0" bIns="0" rtlCol="0" anchor="ctr"/>
          <a:lstStyle/>
          <a:p>
            <a:pPr algn="l" indent="0" marL="0">
              <a:buNone/>
            </a:pPr>
            <a:r>
              <a:rPr lang="en-US" sz="3750" b="1" spc="-75" kern="0" dirty="0">
                <a:solidFill>
                  <a:srgbClr val="16130E"/>
                </a:solidFill>
                <a:latin typeface="IBM Plex Sans KR" pitchFamily="34" charset="0"/>
                <a:ea typeface="IBM Plex Sans KR" pitchFamily="34" charset="-122"/>
                <a:cs typeface="IBM Plex Sans KR" pitchFamily="34" charset="-120"/>
              </a:rPr>
              <a:t>ASEI CD Variation</a:t>
            </a:r>
            <a:endParaRPr lang="en-US" sz="3750" dirty="0"/>
          </a:p>
        </p:txBody>
      </p:sp>
      <p:sp>
        <p:nvSpPr>
          <p:cNvPr id="7" name="Text 3"/>
          <p:cNvSpPr txBox="1"/>
          <p:nvPr/>
        </p:nvSpPr>
        <p:spPr>
          <a:xfrm>
            <a:off x="761695" y="1762049"/>
            <a:ext cx="16193110" cy="286207"/>
          </a:xfrm>
          <a:prstGeom prst="rect">
            <a:avLst/>
          </a:prstGeom>
          <a:noFill/>
          <a:ln/>
        </p:spPr>
        <p:txBody>
          <a:bodyPr wrap="none" lIns="0" tIns="0" rIns="0" bIns="0" rtlCol="0" anchor="ctr"/>
          <a:lstStyle/>
          <a:p>
            <a:pPr algn="l" indent="0" marL="0">
              <a:buNone/>
            </a:pPr>
            <a:r>
              <a:rPr lang="en-US" sz="1500" dirty="0">
                <a:solidFill>
                  <a:srgbClr val="756E5F"/>
                </a:solidFill>
                <a:latin typeface="IBM Plex Sans KR" pitchFamily="34" charset="0"/>
                <a:ea typeface="IBM Plex Sans KR" pitchFamily="34" charset="-122"/>
                <a:cs typeface="IBM Plex Sans KR" pitchFamily="34" charset="-120"/>
              </a:rPr>
              <a:t>target </a:t>
            </a:r>
            <a:pPr algn="l" indent="0" marL="0">
              <a:buNone/>
            </a:pPr>
            <a:r>
              <a:rPr lang="en-US" sz="1500" dirty="0">
                <a:solidFill>
                  <a:srgbClr val="16130E"/>
                </a:solidFill>
                <a:latin typeface="IBM Plex Mono" pitchFamily="34" charset="0"/>
                <a:ea typeface="IBM Plex Mono" pitchFamily="34" charset="-122"/>
                <a:cs typeface="IBM Plex Mono" pitchFamily="34" charset="-120"/>
              </a:rPr>
              <a:t>17.4 nm</a:t>
            </a:r>
            <a:pPr algn="l" indent="0" marL="0">
              <a:buNone/>
            </a:pPr>
            <a:r>
              <a:rPr lang="en-US" sz="1500" dirty="0">
                <a:solidFill>
                  <a:srgbClr val="756E5F"/>
                </a:solidFill>
                <a:latin typeface="IBM Plex Sans KR" pitchFamily="34" charset="0"/>
                <a:ea typeface="IBM Plex Sans KR" pitchFamily="34" charset="-122"/>
                <a:cs typeface="IBM Plex Sans KR" pitchFamily="34" charset="-120"/>
              </a:rPr>
              <a:t> · wafer별 mean / 3σ / range / Δ</a:t>
            </a:r>
            <a:endParaRPr lang="en-US" sz="1500" dirty="0"/>
          </a:p>
        </p:txBody>
      </p:sp>
      <p:sp>
        <p:nvSpPr>
          <p:cNvPr id="8" name="Text 4"/>
          <p:cNvSpPr txBox="1"/>
          <p:nvPr/>
        </p:nvSpPr>
        <p:spPr>
          <a:xfrm>
            <a:off x="761695" y="2481682"/>
            <a:ext cx="1591056" cy="476402"/>
          </a:xfrm>
          <a:prstGeom prst="rect">
            <a:avLst/>
          </a:prstGeom>
          <a:solidFill>
            <a:srgbClr val="155E63">
              <a:alpha val="6000"/>
            </a:srgbClr>
          </a:solidFill>
          <a:ln w="12700">
            <a:solidFill>
              <a:srgbClr val="16130E"/>
            </a:solidFill>
          </a:ln>
        </p:spPr>
        <p:txBody>
          <a:bodyPr wrap="none" lIns="139700" tIns="101600" rIns="139700" bIns="101600" rtlCol="0" anchor="ctr"/>
          <a:lstStyle/>
          <a:p>
            <a:pPr algn="l" indent="0" marL="0">
              <a:buNone/>
            </a:pPr>
            <a:r>
              <a:rPr lang="en-US" sz="1350" b="1" dirty="0">
                <a:solidFill>
                  <a:srgbClr val="16130E"/>
                </a:solidFill>
                <a:latin typeface="IBM Plex Sans KR" pitchFamily="34" charset="0"/>
                <a:ea typeface="IBM Plex Sans KR" pitchFamily="34" charset="-122"/>
                <a:cs typeface="IBM Plex Sans KR" pitchFamily="34" charset="-120"/>
              </a:rPr>
              <a:t>Wafer</a:t>
            </a:r>
            <a:endParaRPr lang="en-US" sz="1350" dirty="0"/>
          </a:p>
        </p:txBody>
      </p:sp>
      <p:sp>
        <p:nvSpPr>
          <p:cNvPr id="9" name="Text 5"/>
          <p:cNvSpPr txBox="1"/>
          <p:nvPr/>
        </p:nvSpPr>
        <p:spPr>
          <a:xfrm>
            <a:off x="2347265" y="2481682"/>
            <a:ext cx="1791310" cy="476402"/>
          </a:xfrm>
          <a:prstGeom prst="rect">
            <a:avLst/>
          </a:prstGeom>
          <a:solidFill>
            <a:srgbClr val="155E63">
              <a:alpha val="6000"/>
            </a:srgbClr>
          </a:solidFill>
          <a:ln w="12700">
            <a:solidFill>
              <a:srgbClr val="16130E"/>
            </a:solidFill>
          </a:ln>
        </p:spPr>
        <p:txBody>
          <a:bodyPr wrap="none" lIns="139700" tIns="101600" rIns="139700" bIns="101600" rtlCol="0" anchor="ctr"/>
          <a:lstStyle/>
          <a:p>
            <a:pPr algn="l" indent="0" marL="0">
              <a:buNone/>
            </a:pPr>
            <a:r>
              <a:rPr lang="en-US" sz="1350" b="1" dirty="0">
                <a:solidFill>
                  <a:srgbClr val="16130E"/>
                </a:solidFill>
                <a:latin typeface="IBM Plex Sans KR" pitchFamily="34" charset="0"/>
                <a:ea typeface="IBM Plex Sans KR" pitchFamily="34" charset="-122"/>
                <a:cs typeface="IBM Plex Sans KR" pitchFamily="34" charset="-120"/>
              </a:rPr>
              <a:t>Group</a:t>
            </a:r>
            <a:endParaRPr lang="en-US" sz="1350" dirty="0"/>
          </a:p>
        </p:txBody>
      </p:sp>
      <p:sp>
        <p:nvSpPr>
          <p:cNvPr id="10" name="Text 6"/>
          <p:cNvSpPr txBox="1"/>
          <p:nvPr/>
        </p:nvSpPr>
        <p:spPr>
          <a:xfrm>
            <a:off x="4129430" y="2481682"/>
            <a:ext cx="1791310" cy="476402"/>
          </a:xfrm>
          <a:prstGeom prst="rect">
            <a:avLst/>
          </a:prstGeom>
          <a:solidFill>
            <a:srgbClr val="155E63">
              <a:alpha val="6000"/>
            </a:srgbClr>
          </a:solidFill>
          <a:ln w="12700">
            <a:solidFill>
              <a:srgbClr val="16130E"/>
            </a:solidFill>
          </a:ln>
        </p:spPr>
        <p:txBody>
          <a:bodyPr wrap="square" lIns="139700" tIns="101600" rIns="139700" bIns="101600" rtlCol="0" anchor="ctr"/>
          <a:lstStyle/>
          <a:p>
            <a:pPr algn="r" indent="0" marL="0">
              <a:buNone/>
            </a:pPr>
            <a:r>
              <a:rPr lang="en-US" sz="1275" b="1" dirty="0">
                <a:solidFill>
                  <a:srgbClr val="16130E"/>
                </a:solidFill>
                <a:latin typeface="IBM Plex Mono" pitchFamily="34" charset="0"/>
                <a:ea typeface="IBM Plex Mono" pitchFamily="34" charset="-122"/>
                <a:cs typeface="IBM Plex Mono" pitchFamily="34" charset="-120"/>
              </a:rPr>
              <a:t>Mean (nm)</a:t>
            </a:r>
            <a:endParaRPr lang="en-US" sz="1275" dirty="0"/>
          </a:p>
        </p:txBody>
      </p:sp>
      <p:sp>
        <p:nvSpPr>
          <p:cNvPr id="11" name="Text 7"/>
          <p:cNvSpPr txBox="1"/>
          <p:nvPr/>
        </p:nvSpPr>
        <p:spPr>
          <a:xfrm>
            <a:off x="5912510" y="2481682"/>
            <a:ext cx="1591056" cy="476402"/>
          </a:xfrm>
          <a:prstGeom prst="rect">
            <a:avLst/>
          </a:prstGeom>
          <a:solidFill>
            <a:srgbClr val="155E63">
              <a:alpha val="6000"/>
            </a:srgbClr>
          </a:solidFill>
          <a:ln w="12700">
            <a:solidFill>
              <a:srgbClr val="16130E"/>
            </a:solidFill>
          </a:ln>
        </p:spPr>
        <p:txBody>
          <a:bodyPr wrap="square" lIns="139700" tIns="101600" rIns="139700" bIns="101600" rtlCol="0" anchor="ctr"/>
          <a:lstStyle/>
          <a:p>
            <a:pPr algn="r" indent="0" marL="0">
              <a:buNone/>
            </a:pPr>
            <a:r>
              <a:rPr lang="en-US" sz="1275" b="1" dirty="0">
                <a:solidFill>
                  <a:srgbClr val="16130E"/>
                </a:solidFill>
                <a:latin typeface="IBM Plex Mono" pitchFamily="34" charset="0"/>
                <a:ea typeface="IBM Plex Mono" pitchFamily="34" charset="-122"/>
                <a:cs typeface="IBM Plex Mono" pitchFamily="34" charset="-120"/>
              </a:rPr>
              <a:t>3σ (nm)</a:t>
            </a:r>
            <a:endParaRPr lang="en-US" sz="1275" dirty="0"/>
          </a:p>
        </p:txBody>
      </p:sp>
      <p:sp>
        <p:nvSpPr>
          <p:cNvPr id="12" name="Text 8"/>
          <p:cNvSpPr txBox="1"/>
          <p:nvPr/>
        </p:nvSpPr>
        <p:spPr>
          <a:xfrm>
            <a:off x="7498080" y="2481682"/>
            <a:ext cx="1591056" cy="476402"/>
          </a:xfrm>
          <a:prstGeom prst="rect">
            <a:avLst/>
          </a:prstGeom>
          <a:solidFill>
            <a:srgbClr val="155E63">
              <a:alpha val="6000"/>
            </a:srgbClr>
          </a:solidFill>
          <a:ln w="12700">
            <a:solidFill>
              <a:srgbClr val="16130E"/>
            </a:solidFill>
          </a:ln>
        </p:spPr>
        <p:txBody>
          <a:bodyPr wrap="square" lIns="139700" tIns="101600" rIns="139700" bIns="101600" rtlCol="0" anchor="ctr"/>
          <a:lstStyle/>
          <a:p>
            <a:pPr algn="r" indent="0" marL="0">
              <a:buNone/>
            </a:pPr>
            <a:r>
              <a:rPr lang="en-US" sz="1275" b="1" dirty="0">
                <a:solidFill>
                  <a:srgbClr val="16130E"/>
                </a:solidFill>
                <a:latin typeface="IBM Plex Mono" pitchFamily="34" charset="0"/>
                <a:ea typeface="IBM Plex Mono" pitchFamily="34" charset="-122"/>
                <a:cs typeface="IBM Plex Mono" pitchFamily="34" charset="-120"/>
              </a:rPr>
              <a:t>Range (nm)</a:t>
            </a:r>
            <a:endParaRPr lang="en-US" sz="1275" dirty="0"/>
          </a:p>
        </p:txBody>
      </p:sp>
      <p:sp>
        <p:nvSpPr>
          <p:cNvPr id="13" name="Text 9"/>
          <p:cNvSpPr txBox="1"/>
          <p:nvPr/>
        </p:nvSpPr>
        <p:spPr>
          <a:xfrm>
            <a:off x="9082735" y="2481682"/>
            <a:ext cx="1591056" cy="476402"/>
          </a:xfrm>
          <a:prstGeom prst="rect">
            <a:avLst/>
          </a:prstGeom>
          <a:solidFill>
            <a:srgbClr val="155E63">
              <a:alpha val="6000"/>
            </a:srgbClr>
          </a:solidFill>
          <a:ln w="12700">
            <a:solidFill>
              <a:srgbClr val="16130E"/>
            </a:solidFill>
          </a:ln>
        </p:spPr>
        <p:txBody>
          <a:bodyPr wrap="square" lIns="139700" tIns="101600" rIns="139700" bIns="101600" rtlCol="0" anchor="ctr"/>
          <a:lstStyle/>
          <a:p>
            <a:pPr algn="r" indent="0" marL="0">
              <a:buNone/>
            </a:pPr>
            <a:r>
              <a:rPr lang="en-US" sz="1275" b="1" dirty="0">
                <a:solidFill>
                  <a:srgbClr val="16130E"/>
                </a:solidFill>
                <a:latin typeface="IBM Plex Mono" pitchFamily="34" charset="0"/>
                <a:ea typeface="IBM Plex Mono" pitchFamily="34" charset="-122"/>
                <a:cs typeface="IBM Plex Mono" pitchFamily="34" charset="-120"/>
              </a:rPr>
              <a:t>Δ vs target</a:t>
            </a:r>
            <a:endParaRPr lang="en-US" sz="1275" dirty="0"/>
          </a:p>
        </p:txBody>
      </p:sp>
      <p:sp>
        <p:nvSpPr>
          <p:cNvPr id="14" name="Shape 10"/>
          <p:cNvSpPr/>
          <p:nvPr/>
        </p:nvSpPr>
        <p:spPr>
          <a:xfrm>
            <a:off x="761695" y="3424428"/>
            <a:ext cx="1591056" cy="9144"/>
          </a:xfrm>
          <a:prstGeom prst="rect">
            <a:avLst/>
          </a:prstGeom>
          <a:solidFill>
            <a:srgbClr val="C7BFA8"/>
          </a:solidFill>
          <a:ln w="12700">
            <a:solidFill>
              <a:srgbClr val="C7BFA8">
                <a:alpha val="0"/>
              </a:srgbClr>
            </a:solidFill>
            <a:prstDash val="solid"/>
          </a:ln>
        </p:spPr>
      </p:sp>
      <p:sp>
        <p:nvSpPr>
          <p:cNvPr id="15" name="Text 11"/>
          <p:cNvSpPr txBox="1"/>
          <p:nvPr/>
        </p:nvSpPr>
        <p:spPr>
          <a:xfrm>
            <a:off x="761695" y="2957170"/>
            <a:ext cx="1591056"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Mono" pitchFamily="34" charset="0"/>
                <a:ea typeface="IBM Plex Mono" pitchFamily="34" charset="-122"/>
                <a:cs typeface="IBM Plex Mono" pitchFamily="34" charset="-120"/>
              </a:rPr>
              <a:t>W01</a:t>
            </a:r>
            <a:endParaRPr lang="en-US" sz="1350" dirty="0"/>
          </a:p>
        </p:txBody>
      </p:sp>
      <p:sp>
        <p:nvSpPr>
          <p:cNvPr id="16" name="Shape 12"/>
          <p:cNvSpPr/>
          <p:nvPr/>
        </p:nvSpPr>
        <p:spPr>
          <a:xfrm>
            <a:off x="2347265" y="3424428"/>
            <a:ext cx="1790395" cy="9144"/>
          </a:xfrm>
          <a:prstGeom prst="rect">
            <a:avLst/>
          </a:prstGeom>
          <a:solidFill>
            <a:srgbClr val="C7BFA8"/>
          </a:solidFill>
          <a:ln w="12700">
            <a:solidFill>
              <a:srgbClr val="C7BFA8">
                <a:alpha val="0"/>
              </a:srgbClr>
            </a:solidFill>
            <a:prstDash val="solid"/>
          </a:ln>
        </p:spPr>
      </p:sp>
      <p:sp>
        <p:nvSpPr>
          <p:cNvPr id="17" name="Text 13"/>
          <p:cNvSpPr txBox="1"/>
          <p:nvPr/>
        </p:nvSpPr>
        <p:spPr>
          <a:xfrm>
            <a:off x="2651760" y="2957170"/>
            <a:ext cx="1486814"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Air gap</a:t>
            </a:r>
            <a:endParaRPr lang="en-US" sz="1350" dirty="0"/>
          </a:p>
        </p:txBody>
      </p:sp>
      <p:sp>
        <p:nvSpPr>
          <p:cNvPr id="18" name="Shape 14"/>
          <p:cNvSpPr/>
          <p:nvPr/>
        </p:nvSpPr>
        <p:spPr>
          <a:xfrm>
            <a:off x="4129430" y="3424428"/>
            <a:ext cx="1790395" cy="9144"/>
          </a:xfrm>
          <a:prstGeom prst="rect">
            <a:avLst/>
          </a:prstGeom>
          <a:solidFill>
            <a:srgbClr val="C7BFA8"/>
          </a:solidFill>
          <a:ln w="12700">
            <a:solidFill>
              <a:srgbClr val="C7BFA8">
                <a:alpha val="0"/>
              </a:srgbClr>
            </a:solidFill>
            <a:prstDash val="solid"/>
          </a:ln>
        </p:spPr>
      </p:sp>
      <p:sp>
        <p:nvSpPr>
          <p:cNvPr id="19" name="Text 15"/>
          <p:cNvSpPr txBox="1"/>
          <p:nvPr/>
        </p:nvSpPr>
        <p:spPr>
          <a:xfrm>
            <a:off x="4129430" y="2957170"/>
            <a:ext cx="1791310"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17.36</a:t>
            </a:r>
            <a:endParaRPr lang="en-US" sz="1275" dirty="0"/>
          </a:p>
        </p:txBody>
      </p:sp>
      <p:sp>
        <p:nvSpPr>
          <p:cNvPr id="20" name="Shape 16"/>
          <p:cNvSpPr/>
          <p:nvPr/>
        </p:nvSpPr>
        <p:spPr>
          <a:xfrm>
            <a:off x="5912510" y="3424428"/>
            <a:ext cx="1591056" cy="9144"/>
          </a:xfrm>
          <a:prstGeom prst="rect">
            <a:avLst/>
          </a:prstGeom>
          <a:solidFill>
            <a:srgbClr val="C7BFA8"/>
          </a:solidFill>
          <a:ln w="12700">
            <a:solidFill>
              <a:srgbClr val="C7BFA8">
                <a:alpha val="0"/>
              </a:srgbClr>
            </a:solidFill>
            <a:prstDash val="solid"/>
          </a:ln>
        </p:spPr>
      </p:sp>
      <p:sp>
        <p:nvSpPr>
          <p:cNvPr id="21" name="Text 17"/>
          <p:cNvSpPr txBox="1"/>
          <p:nvPr/>
        </p:nvSpPr>
        <p:spPr>
          <a:xfrm>
            <a:off x="5912510" y="2957170"/>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0.34</a:t>
            </a:r>
            <a:endParaRPr lang="en-US" sz="1275" dirty="0"/>
          </a:p>
        </p:txBody>
      </p:sp>
      <p:sp>
        <p:nvSpPr>
          <p:cNvPr id="22" name="Shape 18"/>
          <p:cNvSpPr/>
          <p:nvPr/>
        </p:nvSpPr>
        <p:spPr>
          <a:xfrm>
            <a:off x="7498080" y="3424428"/>
            <a:ext cx="1591056" cy="9144"/>
          </a:xfrm>
          <a:prstGeom prst="rect">
            <a:avLst/>
          </a:prstGeom>
          <a:solidFill>
            <a:srgbClr val="C7BFA8"/>
          </a:solidFill>
          <a:ln w="12700">
            <a:solidFill>
              <a:srgbClr val="C7BFA8">
                <a:alpha val="0"/>
              </a:srgbClr>
            </a:solidFill>
            <a:prstDash val="solid"/>
          </a:ln>
        </p:spPr>
      </p:sp>
      <p:sp>
        <p:nvSpPr>
          <p:cNvPr id="23" name="Text 19"/>
          <p:cNvSpPr txBox="1"/>
          <p:nvPr/>
        </p:nvSpPr>
        <p:spPr>
          <a:xfrm>
            <a:off x="7498080" y="2957170"/>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0.94</a:t>
            </a:r>
            <a:endParaRPr lang="en-US" sz="1275" dirty="0"/>
          </a:p>
        </p:txBody>
      </p:sp>
      <p:sp>
        <p:nvSpPr>
          <p:cNvPr id="24" name="Shape 20"/>
          <p:cNvSpPr/>
          <p:nvPr/>
        </p:nvSpPr>
        <p:spPr>
          <a:xfrm>
            <a:off x="9082735" y="3424428"/>
            <a:ext cx="1591056" cy="9144"/>
          </a:xfrm>
          <a:prstGeom prst="rect">
            <a:avLst/>
          </a:prstGeom>
          <a:solidFill>
            <a:srgbClr val="C7BFA8"/>
          </a:solidFill>
          <a:ln w="12700">
            <a:solidFill>
              <a:srgbClr val="C7BFA8">
                <a:alpha val="0"/>
              </a:srgbClr>
            </a:solidFill>
            <a:prstDash val="solid"/>
          </a:ln>
        </p:spPr>
      </p:sp>
      <p:sp>
        <p:nvSpPr>
          <p:cNvPr id="25" name="Text 21"/>
          <p:cNvSpPr txBox="1"/>
          <p:nvPr/>
        </p:nvSpPr>
        <p:spPr>
          <a:xfrm>
            <a:off x="9082735" y="2957170"/>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−0.04</a:t>
            </a:r>
            <a:endParaRPr lang="en-US" sz="1275" dirty="0"/>
          </a:p>
        </p:txBody>
      </p:sp>
      <p:sp>
        <p:nvSpPr>
          <p:cNvPr id="26" name="Shape 22"/>
          <p:cNvSpPr/>
          <p:nvPr/>
        </p:nvSpPr>
        <p:spPr>
          <a:xfrm>
            <a:off x="761695" y="3900830"/>
            <a:ext cx="1591056" cy="9144"/>
          </a:xfrm>
          <a:prstGeom prst="rect">
            <a:avLst/>
          </a:prstGeom>
          <a:solidFill>
            <a:srgbClr val="C7BFA8"/>
          </a:solidFill>
          <a:ln w="12700">
            <a:solidFill>
              <a:srgbClr val="C7BFA8">
                <a:alpha val="0"/>
              </a:srgbClr>
            </a:solidFill>
            <a:prstDash val="solid"/>
          </a:ln>
        </p:spPr>
      </p:sp>
      <p:sp>
        <p:nvSpPr>
          <p:cNvPr id="27" name="Text 23"/>
          <p:cNvSpPr txBox="1"/>
          <p:nvPr/>
        </p:nvSpPr>
        <p:spPr>
          <a:xfrm>
            <a:off x="761695" y="3433572"/>
            <a:ext cx="1591056"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Mono" pitchFamily="34" charset="0"/>
                <a:ea typeface="IBM Plex Mono" pitchFamily="34" charset="-122"/>
                <a:cs typeface="IBM Plex Mono" pitchFamily="34" charset="-120"/>
              </a:rPr>
              <a:t>W02</a:t>
            </a:r>
            <a:endParaRPr lang="en-US" sz="1350" dirty="0"/>
          </a:p>
        </p:txBody>
      </p:sp>
      <p:sp>
        <p:nvSpPr>
          <p:cNvPr id="28" name="Shape 24"/>
          <p:cNvSpPr/>
          <p:nvPr/>
        </p:nvSpPr>
        <p:spPr>
          <a:xfrm>
            <a:off x="2347265" y="3900830"/>
            <a:ext cx="1790395" cy="9144"/>
          </a:xfrm>
          <a:prstGeom prst="rect">
            <a:avLst/>
          </a:prstGeom>
          <a:solidFill>
            <a:srgbClr val="C7BFA8"/>
          </a:solidFill>
          <a:ln w="12700">
            <a:solidFill>
              <a:srgbClr val="C7BFA8">
                <a:alpha val="0"/>
              </a:srgbClr>
            </a:solidFill>
            <a:prstDash val="solid"/>
          </a:ln>
        </p:spPr>
      </p:sp>
      <p:sp>
        <p:nvSpPr>
          <p:cNvPr id="29" name="Text 25"/>
          <p:cNvSpPr txBox="1"/>
          <p:nvPr/>
        </p:nvSpPr>
        <p:spPr>
          <a:xfrm>
            <a:off x="2651760" y="3433572"/>
            <a:ext cx="1486814"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Air gap</a:t>
            </a:r>
            <a:endParaRPr lang="en-US" sz="1350" dirty="0"/>
          </a:p>
        </p:txBody>
      </p:sp>
      <p:sp>
        <p:nvSpPr>
          <p:cNvPr id="30" name="Shape 26"/>
          <p:cNvSpPr/>
          <p:nvPr/>
        </p:nvSpPr>
        <p:spPr>
          <a:xfrm>
            <a:off x="4129430" y="3900830"/>
            <a:ext cx="1790395" cy="9144"/>
          </a:xfrm>
          <a:prstGeom prst="rect">
            <a:avLst/>
          </a:prstGeom>
          <a:solidFill>
            <a:srgbClr val="C7BFA8"/>
          </a:solidFill>
          <a:ln w="12700">
            <a:solidFill>
              <a:srgbClr val="C7BFA8">
                <a:alpha val="0"/>
              </a:srgbClr>
            </a:solidFill>
            <a:prstDash val="solid"/>
          </a:ln>
        </p:spPr>
      </p:sp>
      <p:sp>
        <p:nvSpPr>
          <p:cNvPr id="31" name="Text 27"/>
          <p:cNvSpPr txBox="1"/>
          <p:nvPr/>
        </p:nvSpPr>
        <p:spPr>
          <a:xfrm>
            <a:off x="4129430" y="3433572"/>
            <a:ext cx="1791310"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17.42</a:t>
            </a:r>
            <a:endParaRPr lang="en-US" sz="1275" dirty="0"/>
          </a:p>
        </p:txBody>
      </p:sp>
      <p:sp>
        <p:nvSpPr>
          <p:cNvPr id="32" name="Shape 28"/>
          <p:cNvSpPr/>
          <p:nvPr/>
        </p:nvSpPr>
        <p:spPr>
          <a:xfrm>
            <a:off x="5912510" y="3900830"/>
            <a:ext cx="1591056" cy="9144"/>
          </a:xfrm>
          <a:prstGeom prst="rect">
            <a:avLst/>
          </a:prstGeom>
          <a:solidFill>
            <a:srgbClr val="C7BFA8"/>
          </a:solidFill>
          <a:ln w="12700">
            <a:solidFill>
              <a:srgbClr val="C7BFA8">
                <a:alpha val="0"/>
              </a:srgbClr>
            </a:solidFill>
            <a:prstDash val="solid"/>
          </a:ln>
        </p:spPr>
      </p:sp>
      <p:sp>
        <p:nvSpPr>
          <p:cNvPr id="33" name="Text 29"/>
          <p:cNvSpPr txBox="1"/>
          <p:nvPr/>
        </p:nvSpPr>
        <p:spPr>
          <a:xfrm>
            <a:off x="5912510" y="3433572"/>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0.36</a:t>
            </a:r>
            <a:endParaRPr lang="en-US" sz="1275" dirty="0"/>
          </a:p>
        </p:txBody>
      </p:sp>
      <p:sp>
        <p:nvSpPr>
          <p:cNvPr id="34" name="Shape 30"/>
          <p:cNvSpPr/>
          <p:nvPr/>
        </p:nvSpPr>
        <p:spPr>
          <a:xfrm>
            <a:off x="7498080" y="3900830"/>
            <a:ext cx="1591056" cy="9144"/>
          </a:xfrm>
          <a:prstGeom prst="rect">
            <a:avLst/>
          </a:prstGeom>
          <a:solidFill>
            <a:srgbClr val="C7BFA8"/>
          </a:solidFill>
          <a:ln w="12700">
            <a:solidFill>
              <a:srgbClr val="C7BFA8">
                <a:alpha val="0"/>
              </a:srgbClr>
            </a:solidFill>
            <a:prstDash val="solid"/>
          </a:ln>
        </p:spPr>
      </p:sp>
      <p:sp>
        <p:nvSpPr>
          <p:cNvPr id="35" name="Text 31"/>
          <p:cNvSpPr txBox="1"/>
          <p:nvPr/>
        </p:nvSpPr>
        <p:spPr>
          <a:xfrm>
            <a:off x="7498080" y="3433572"/>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1.02</a:t>
            </a:r>
            <a:endParaRPr lang="en-US" sz="1275" dirty="0"/>
          </a:p>
        </p:txBody>
      </p:sp>
      <p:sp>
        <p:nvSpPr>
          <p:cNvPr id="36" name="Shape 32"/>
          <p:cNvSpPr/>
          <p:nvPr/>
        </p:nvSpPr>
        <p:spPr>
          <a:xfrm>
            <a:off x="9082735" y="3900830"/>
            <a:ext cx="1591056" cy="9144"/>
          </a:xfrm>
          <a:prstGeom prst="rect">
            <a:avLst/>
          </a:prstGeom>
          <a:solidFill>
            <a:srgbClr val="C7BFA8"/>
          </a:solidFill>
          <a:ln w="12700">
            <a:solidFill>
              <a:srgbClr val="C7BFA8">
                <a:alpha val="0"/>
              </a:srgbClr>
            </a:solidFill>
            <a:prstDash val="solid"/>
          </a:ln>
        </p:spPr>
      </p:sp>
      <p:sp>
        <p:nvSpPr>
          <p:cNvPr id="37" name="Text 33"/>
          <p:cNvSpPr txBox="1"/>
          <p:nvPr/>
        </p:nvSpPr>
        <p:spPr>
          <a:xfrm>
            <a:off x="9082735" y="3433572"/>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+0.02</a:t>
            </a:r>
            <a:endParaRPr lang="en-US" sz="1275" dirty="0"/>
          </a:p>
        </p:txBody>
      </p:sp>
      <p:sp>
        <p:nvSpPr>
          <p:cNvPr id="38" name="Shape 34"/>
          <p:cNvSpPr/>
          <p:nvPr/>
        </p:nvSpPr>
        <p:spPr>
          <a:xfrm>
            <a:off x="761695" y="4377233"/>
            <a:ext cx="1591056" cy="9144"/>
          </a:xfrm>
          <a:prstGeom prst="rect">
            <a:avLst/>
          </a:prstGeom>
          <a:solidFill>
            <a:srgbClr val="C7BFA8"/>
          </a:solidFill>
          <a:ln w="12700">
            <a:solidFill>
              <a:srgbClr val="C7BFA8">
                <a:alpha val="0"/>
              </a:srgbClr>
            </a:solidFill>
            <a:prstDash val="solid"/>
          </a:ln>
        </p:spPr>
      </p:sp>
      <p:sp>
        <p:nvSpPr>
          <p:cNvPr id="39" name="Text 35"/>
          <p:cNvSpPr txBox="1"/>
          <p:nvPr/>
        </p:nvSpPr>
        <p:spPr>
          <a:xfrm>
            <a:off x="761695" y="3909974"/>
            <a:ext cx="1591056"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Mono" pitchFamily="34" charset="0"/>
                <a:ea typeface="IBM Plex Mono" pitchFamily="34" charset="-122"/>
                <a:cs typeface="IBM Plex Mono" pitchFamily="34" charset="-120"/>
              </a:rPr>
              <a:t>W03</a:t>
            </a:r>
            <a:endParaRPr lang="en-US" sz="1350" dirty="0"/>
          </a:p>
        </p:txBody>
      </p:sp>
      <p:sp>
        <p:nvSpPr>
          <p:cNvPr id="40" name="Shape 36"/>
          <p:cNvSpPr/>
          <p:nvPr/>
        </p:nvSpPr>
        <p:spPr>
          <a:xfrm>
            <a:off x="2347265" y="4377233"/>
            <a:ext cx="1790395" cy="9144"/>
          </a:xfrm>
          <a:prstGeom prst="rect">
            <a:avLst/>
          </a:prstGeom>
          <a:solidFill>
            <a:srgbClr val="C7BFA8"/>
          </a:solidFill>
          <a:ln w="12700">
            <a:solidFill>
              <a:srgbClr val="C7BFA8">
                <a:alpha val="0"/>
              </a:srgbClr>
            </a:solidFill>
            <a:prstDash val="solid"/>
          </a:ln>
        </p:spPr>
      </p:sp>
      <p:sp>
        <p:nvSpPr>
          <p:cNvPr id="41" name="Text 37"/>
          <p:cNvSpPr txBox="1"/>
          <p:nvPr/>
        </p:nvSpPr>
        <p:spPr>
          <a:xfrm>
            <a:off x="2651760" y="3909974"/>
            <a:ext cx="1486814"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Reference</a:t>
            </a:r>
            <a:endParaRPr lang="en-US" sz="1350" dirty="0"/>
          </a:p>
        </p:txBody>
      </p:sp>
      <p:sp>
        <p:nvSpPr>
          <p:cNvPr id="42" name="Shape 38"/>
          <p:cNvSpPr/>
          <p:nvPr/>
        </p:nvSpPr>
        <p:spPr>
          <a:xfrm>
            <a:off x="4129430" y="4377233"/>
            <a:ext cx="1790395" cy="9144"/>
          </a:xfrm>
          <a:prstGeom prst="rect">
            <a:avLst/>
          </a:prstGeom>
          <a:solidFill>
            <a:srgbClr val="C7BFA8"/>
          </a:solidFill>
          <a:ln w="12700">
            <a:solidFill>
              <a:srgbClr val="C7BFA8">
                <a:alpha val="0"/>
              </a:srgbClr>
            </a:solidFill>
            <a:prstDash val="solid"/>
          </a:ln>
        </p:spPr>
      </p:sp>
      <p:sp>
        <p:nvSpPr>
          <p:cNvPr id="43" name="Text 39"/>
          <p:cNvSpPr txBox="1"/>
          <p:nvPr/>
        </p:nvSpPr>
        <p:spPr>
          <a:xfrm>
            <a:off x="4129430" y="3909974"/>
            <a:ext cx="1791310"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17.51</a:t>
            </a:r>
            <a:endParaRPr lang="en-US" sz="1275" dirty="0"/>
          </a:p>
        </p:txBody>
      </p:sp>
      <p:sp>
        <p:nvSpPr>
          <p:cNvPr id="44" name="Shape 40"/>
          <p:cNvSpPr/>
          <p:nvPr/>
        </p:nvSpPr>
        <p:spPr>
          <a:xfrm>
            <a:off x="5912510" y="4377233"/>
            <a:ext cx="1591056" cy="9144"/>
          </a:xfrm>
          <a:prstGeom prst="rect">
            <a:avLst/>
          </a:prstGeom>
          <a:solidFill>
            <a:srgbClr val="C7BFA8"/>
          </a:solidFill>
          <a:ln w="12700">
            <a:solidFill>
              <a:srgbClr val="C7BFA8">
                <a:alpha val="0"/>
              </a:srgbClr>
            </a:solidFill>
            <a:prstDash val="solid"/>
          </a:ln>
        </p:spPr>
      </p:sp>
      <p:sp>
        <p:nvSpPr>
          <p:cNvPr id="45" name="Text 41"/>
          <p:cNvSpPr txBox="1"/>
          <p:nvPr/>
        </p:nvSpPr>
        <p:spPr>
          <a:xfrm>
            <a:off x="5912510" y="3909974"/>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0.45</a:t>
            </a:r>
            <a:endParaRPr lang="en-US" sz="1275" dirty="0"/>
          </a:p>
        </p:txBody>
      </p:sp>
      <p:sp>
        <p:nvSpPr>
          <p:cNvPr id="46" name="Shape 42"/>
          <p:cNvSpPr/>
          <p:nvPr/>
        </p:nvSpPr>
        <p:spPr>
          <a:xfrm>
            <a:off x="7498080" y="4377233"/>
            <a:ext cx="1591056" cy="9144"/>
          </a:xfrm>
          <a:prstGeom prst="rect">
            <a:avLst/>
          </a:prstGeom>
          <a:solidFill>
            <a:srgbClr val="C7BFA8"/>
          </a:solidFill>
          <a:ln w="12700">
            <a:solidFill>
              <a:srgbClr val="C7BFA8">
                <a:alpha val="0"/>
              </a:srgbClr>
            </a:solidFill>
            <a:prstDash val="solid"/>
          </a:ln>
        </p:spPr>
      </p:sp>
      <p:sp>
        <p:nvSpPr>
          <p:cNvPr id="47" name="Text 43"/>
          <p:cNvSpPr txBox="1"/>
          <p:nvPr/>
        </p:nvSpPr>
        <p:spPr>
          <a:xfrm>
            <a:off x="7498080" y="3909974"/>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1.28</a:t>
            </a:r>
            <a:endParaRPr lang="en-US" sz="1275" dirty="0"/>
          </a:p>
        </p:txBody>
      </p:sp>
      <p:sp>
        <p:nvSpPr>
          <p:cNvPr id="48" name="Shape 44"/>
          <p:cNvSpPr/>
          <p:nvPr/>
        </p:nvSpPr>
        <p:spPr>
          <a:xfrm>
            <a:off x="9082735" y="4377233"/>
            <a:ext cx="1591056" cy="9144"/>
          </a:xfrm>
          <a:prstGeom prst="rect">
            <a:avLst/>
          </a:prstGeom>
          <a:solidFill>
            <a:srgbClr val="C7BFA8"/>
          </a:solidFill>
          <a:ln w="12700">
            <a:solidFill>
              <a:srgbClr val="C7BFA8">
                <a:alpha val="0"/>
              </a:srgbClr>
            </a:solidFill>
            <a:prstDash val="solid"/>
          </a:ln>
        </p:spPr>
      </p:sp>
      <p:sp>
        <p:nvSpPr>
          <p:cNvPr id="49" name="Text 45"/>
          <p:cNvSpPr txBox="1"/>
          <p:nvPr/>
        </p:nvSpPr>
        <p:spPr>
          <a:xfrm>
            <a:off x="9082735" y="3909974"/>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+0.11</a:t>
            </a:r>
            <a:endParaRPr lang="en-US" sz="1275" dirty="0"/>
          </a:p>
        </p:txBody>
      </p:sp>
      <p:sp>
        <p:nvSpPr>
          <p:cNvPr id="50" name="Shape 46"/>
          <p:cNvSpPr/>
          <p:nvPr/>
        </p:nvSpPr>
        <p:spPr>
          <a:xfrm>
            <a:off x="761695" y="4853635"/>
            <a:ext cx="1591056" cy="9144"/>
          </a:xfrm>
          <a:prstGeom prst="rect">
            <a:avLst/>
          </a:prstGeom>
          <a:solidFill>
            <a:srgbClr val="16130E"/>
          </a:solidFill>
          <a:ln w="12700">
            <a:solidFill>
              <a:srgbClr val="16130E">
                <a:alpha val="0"/>
              </a:srgbClr>
            </a:solidFill>
            <a:prstDash val="solid"/>
          </a:ln>
        </p:spPr>
      </p:sp>
      <p:sp>
        <p:nvSpPr>
          <p:cNvPr id="51" name="Text 47"/>
          <p:cNvSpPr txBox="1"/>
          <p:nvPr/>
        </p:nvSpPr>
        <p:spPr>
          <a:xfrm>
            <a:off x="761695" y="4386377"/>
            <a:ext cx="1591056"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Mono" pitchFamily="34" charset="0"/>
                <a:ea typeface="IBM Plex Mono" pitchFamily="34" charset="-122"/>
                <a:cs typeface="IBM Plex Mono" pitchFamily="34" charset="-120"/>
              </a:rPr>
              <a:t>W04</a:t>
            </a:r>
            <a:endParaRPr lang="en-US" sz="1350" dirty="0"/>
          </a:p>
        </p:txBody>
      </p:sp>
      <p:sp>
        <p:nvSpPr>
          <p:cNvPr id="52" name="Shape 48"/>
          <p:cNvSpPr/>
          <p:nvPr/>
        </p:nvSpPr>
        <p:spPr>
          <a:xfrm>
            <a:off x="2347265" y="4853635"/>
            <a:ext cx="1790395" cy="9144"/>
          </a:xfrm>
          <a:prstGeom prst="rect">
            <a:avLst/>
          </a:prstGeom>
          <a:solidFill>
            <a:srgbClr val="16130E"/>
          </a:solidFill>
          <a:ln w="12700">
            <a:solidFill>
              <a:srgbClr val="16130E">
                <a:alpha val="0"/>
              </a:srgbClr>
            </a:solidFill>
            <a:prstDash val="solid"/>
          </a:ln>
        </p:spPr>
      </p:sp>
      <p:sp>
        <p:nvSpPr>
          <p:cNvPr id="53" name="Text 49"/>
          <p:cNvSpPr txBox="1"/>
          <p:nvPr/>
        </p:nvSpPr>
        <p:spPr>
          <a:xfrm>
            <a:off x="2651760" y="4386377"/>
            <a:ext cx="1486814"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Reference</a:t>
            </a:r>
            <a:endParaRPr lang="en-US" sz="1350" dirty="0"/>
          </a:p>
        </p:txBody>
      </p:sp>
      <p:sp>
        <p:nvSpPr>
          <p:cNvPr id="54" name="Shape 50"/>
          <p:cNvSpPr/>
          <p:nvPr/>
        </p:nvSpPr>
        <p:spPr>
          <a:xfrm>
            <a:off x="4129430" y="4853635"/>
            <a:ext cx="1790395" cy="9144"/>
          </a:xfrm>
          <a:prstGeom prst="rect">
            <a:avLst/>
          </a:prstGeom>
          <a:solidFill>
            <a:srgbClr val="16130E"/>
          </a:solidFill>
          <a:ln w="12700">
            <a:solidFill>
              <a:srgbClr val="16130E">
                <a:alpha val="0"/>
              </a:srgbClr>
            </a:solidFill>
            <a:prstDash val="solid"/>
          </a:ln>
        </p:spPr>
      </p:sp>
      <p:sp>
        <p:nvSpPr>
          <p:cNvPr id="55" name="Text 51"/>
          <p:cNvSpPr txBox="1"/>
          <p:nvPr/>
        </p:nvSpPr>
        <p:spPr>
          <a:xfrm>
            <a:off x="4129430" y="4386377"/>
            <a:ext cx="1791310"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17.48</a:t>
            </a:r>
            <a:endParaRPr lang="en-US" sz="1275" dirty="0"/>
          </a:p>
        </p:txBody>
      </p:sp>
      <p:sp>
        <p:nvSpPr>
          <p:cNvPr id="56" name="Shape 52"/>
          <p:cNvSpPr/>
          <p:nvPr/>
        </p:nvSpPr>
        <p:spPr>
          <a:xfrm>
            <a:off x="5912510" y="4853635"/>
            <a:ext cx="1591056" cy="9144"/>
          </a:xfrm>
          <a:prstGeom prst="rect">
            <a:avLst/>
          </a:prstGeom>
          <a:solidFill>
            <a:srgbClr val="16130E"/>
          </a:solidFill>
          <a:ln w="12700">
            <a:solidFill>
              <a:srgbClr val="16130E">
                <a:alpha val="0"/>
              </a:srgbClr>
            </a:solidFill>
            <a:prstDash val="solid"/>
          </a:ln>
        </p:spPr>
      </p:sp>
      <p:sp>
        <p:nvSpPr>
          <p:cNvPr id="57" name="Text 53"/>
          <p:cNvSpPr txBox="1"/>
          <p:nvPr/>
        </p:nvSpPr>
        <p:spPr>
          <a:xfrm>
            <a:off x="5912510" y="4386377"/>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0.42</a:t>
            </a:r>
            <a:endParaRPr lang="en-US" sz="1275" dirty="0"/>
          </a:p>
        </p:txBody>
      </p:sp>
      <p:sp>
        <p:nvSpPr>
          <p:cNvPr id="58" name="Shape 54"/>
          <p:cNvSpPr/>
          <p:nvPr/>
        </p:nvSpPr>
        <p:spPr>
          <a:xfrm>
            <a:off x="7498080" y="4853635"/>
            <a:ext cx="1591056" cy="9144"/>
          </a:xfrm>
          <a:prstGeom prst="rect">
            <a:avLst/>
          </a:prstGeom>
          <a:solidFill>
            <a:srgbClr val="16130E"/>
          </a:solidFill>
          <a:ln w="12700">
            <a:solidFill>
              <a:srgbClr val="16130E">
                <a:alpha val="0"/>
              </a:srgbClr>
            </a:solidFill>
            <a:prstDash val="solid"/>
          </a:ln>
        </p:spPr>
      </p:sp>
      <p:sp>
        <p:nvSpPr>
          <p:cNvPr id="59" name="Text 55"/>
          <p:cNvSpPr txBox="1"/>
          <p:nvPr/>
        </p:nvSpPr>
        <p:spPr>
          <a:xfrm>
            <a:off x="7498080" y="4386377"/>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1.21</a:t>
            </a:r>
            <a:endParaRPr lang="en-US" sz="1275" dirty="0"/>
          </a:p>
        </p:txBody>
      </p:sp>
      <p:sp>
        <p:nvSpPr>
          <p:cNvPr id="60" name="Shape 56"/>
          <p:cNvSpPr/>
          <p:nvPr/>
        </p:nvSpPr>
        <p:spPr>
          <a:xfrm>
            <a:off x="9082735" y="4853635"/>
            <a:ext cx="1591056" cy="9144"/>
          </a:xfrm>
          <a:prstGeom prst="rect">
            <a:avLst/>
          </a:prstGeom>
          <a:solidFill>
            <a:srgbClr val="16130E"/>
          </a:solidFill>
          <a:ln w="12700">
            <a:solidFill>
              <a:srgbClr val="16130E">
                <a:alpha val="0"/>
              </a:srgbClr>
            </a:solidFill>
            <a:prstDash val="solid"/>
          </a:ln>
        </p:spPr>
      </p:sp>
      <p:sp>
        <p:nvSpPr>
          <p:cNvPr id="61" name="Text 57"/>
          <p:cNvSpPr txBox="1"/>
          <p:nvPr/>
        </p:nvSpPr>
        <p:spPr>
          <a:xfrm>
            <a:off x="9082735" y="4386377"/>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+0.08</a:t>
            </a:r>
            <a:endParaRPr lang="en-US" sz="1275" dirty="0"/>
          </a:p>
        </p:txBody>
      </p:sp>
      <p:sp>
        <p:nvSpPr>
          <p:cNvPr id="62" name="Shape 58"/>
          <p:cNvSpPr/>
          <p:nvPr/>
        </p:nvSpPr>
        <p:spPr>
          <a:xfrm>
            <a:off x="2479853" y="3165653"/>
            <a:ext cx="95098" cy="95098"/>
          </a:xfrm>
          <a:prstGeom prst="rect">
            <a:avLst/>
          </a:prstGeom>
          <a:solidFill>
            <a:srgbClr val="155E63"/>
          </a:solidFill>
          <a:ln w="12700">
            <a:solidFill>
              <a:srgbClr val="FFFFFF">
                <a:alpha val="0"/>
              </a:srgbClr>
            </a:solidFill>
            <a:prstDash val="solid"/>
          </a:ln>
        </p:spPr>
      </p:sp>
      <p:sp>
        <p:nvSpPr>
          <p:cNvPr id="63" name="Shape 59"/>
          <p:cNvSpPr/>
          <p:nvPr/>
        </p:nvSpPr>
        <p:spPr>
          <a:xfrm>
            <a:off x="2479853" y="3642055"/>
            <a:ext cx="95098" cy="95098"/>
          </a:xfrm>
          <a:prstGeom prst="rect">
            <a:avLst/>
          </a:prstGeom>
          <a:solidFill>
            <a:srgbClr val="155E63"/>
          </a:solidFill>
          <a:ln w="12700">
            <a:solidFill>
              <a:srgbClr val="FFFFFF">
                <a:alpha val="0"/>
              </a:srgbClr>
            </a:solidFill>
            <a:prstDash val="solid"/>
          </a:ln>
        </p:spPr>
      </p:sp>
      <p:sp>
        <p:nvSpPr>
          <p:cNvPr id="64" name="Shape 60"/>
          <p:cNvSpPr/>
          <p:nvPr/>
        </p:nvSpPr>
        <p:spPr>
          <a:xfrm>
            <a:off x="2479853" y="4118458"/>
            <a:ext cx="95098" cy="95098"/>
          </a:xfrm>
          <a:prstGeom prst="rect">
            <a:avLst/>
          </a:prstGeom>
          <a:solidFill>
            <a:srgbClr val="9A4520"/>
          </a:solidFill>
          <a:ln w="12700">
            <a:solidFill>
              <a:srgbClr val="FFFFFF">
                <a:alpha val="0"/>
              </a:srgbClr>
            </a:solidFill>
            <a:prstDash val="solid"/>
          </a:ln>
        </p:spPr>
      </p:sp>
      <p:sp>
        <p:nvSpPr>
          <p:cNvPr id="65" name="Shape 61"/>
          <p:cNvSpPr/>
          <p:nvPr/>
        </p:nvSpPr>
        <p:spPr>
          <a:xfrm>
            <a:off x="2479853" y="4594860"/>
            <a:ext cx="95098" cy="95098"/>
          </a:xfrm>
          <a:prstGeom prst="rect">
            <a:avLst/>
          </a:prstGeom>
          <a:solidFill>
            <a:srgbClr val="9A4520"/>
          </a:solidFill>
          <a:ln w="12700">
            <a:solidFill>
              <a:srgbClr val="FFFFFF">
                <a:alpha val="0"/>
              </a:srgbClr>
            </a:solidFill>
            <a:prstDash val="solid"/>
          </a:ln>
        </p:spPr>
      </p:sp>
      <p:sp>
        <p:nvSpPr>
          <p:cNvPr id="66" name="Text 62"/>
          <p:cNvSpPr txBox="1"/>
          <p:nvPr/>
        </p:nvSpPr>
        <p:spPr>
          <a:xfrm>
            <a:off x="990295" y="5181905"/>
            <a:ext cx="9430207" cy="257861"/>
          </a:xfrm>
          <a:prstGeom prst="rect">
            <a:avLst/>
          </a:prstGeom>
          <a:noFill/>
          <a:ln/>
        </p:spPr>
        <p:txBody>
          <a:bodyPr wrap="none" lIns="0" tIns="0" rIns="0" bIns="0" rtlCol="0" anchor="ct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그룹 평균 비교</a:t>
            </a:r>
            <a:endParaRPr lang="en-US" sz="1350" dirty="0"/>
          </a:p>
        </p:txBody>
      </p:sp>
      <p:sp>
        <p:nvSpPr>
          <p:cNvPr id="67" name="Text 63"/>
          <p:cNvSpPr txBox="1"/>
          <p:nvPr/>
        </p:nvSpPr>
        <p:spPr>
          <a:xfrm>
            <a:off x="990295" y="5572354"/>
            <a:ext cx="2105863" cy="162763"/>
          </a:xfrm>
          <a:prstGeom prst="rect">
            <a:avLst/>
          </a:prstGeom>
          <a:noFill/>
          <a:ln/>
        </p:spPr>
        <p:txBody>
          <a:bodyPr wrap="none" lIns="0" tIns="0" rIns="0" bIns="0" rtlCol="0" anchor="ctr"/>
          <a:lstStyle/>
          <a:p>
            <a:pPr algn="l" indent="0" marL="0">
              <a:buNone/>
            </a:pPr>
            <a:r>
              <a:rPr lang="en-US" sz="975" spc="156" kern="0" dirty="0">
                <a:solidFill>
                  <a:srgbClr val="155E63"/>
                </a:solidFill>
                <a:latin typeface="IBM Plex Mono" pitchFamily="34" charset="0"/>
                <a:ea typeface="IBM Plex Mono" pitchFamily="34" charset="-122"/>
                <a:cs typeface="IBM Plex Mono" pitchFamily="34" charset="-120"/>
              </a:rPr>
              <a:t>Group A · Air gap</a:t>
            </a:r>
            <a:endParaRPr lang="en-US" sz="975" dirty="0"/>
          </a:p>
        </p:txBody>
      </p:sp>
      <p:sp>
        <p:nvSpPr>
          <p:cNvPr id="68" name="Text 64"/>
          <p:cNvSpPr txBox="1"/>
          <p:nvPr/>
        </p:nvSpPr>
        <p:spPr>
          <a:xfrm>
            <a:off x="990295" y="5790895"/>
            <a:ext cx="2105863" cy="438912"/>
          </a:xfrm>
          <a:prstGeom prst="rect">
            <a:avLst/>
          </a:prstGeom>
          <a:noFill/>
          <a:ln/>
        </p:spPr>
        <p:txBody>
          <a:bodyPr wrap="none" lIns="0" tIns="0" rIns="0" bIns="0" rtlCol="0" anchor="ctr"/>
          <a:lstStyle/>
          <a:p>
            <a:pPr algn="l" indent="0" marL="0">
              <a:buNone/>
            </a:pPr>
            <a:r>
              <a:rPr lang="en-US" sz="3450" b="1" dirty="0">
                <a:solidFill>
                  <a:srgbClr val="16130E"/>
                </a:solidFill>
                <a:latin typeface="IBM Plex Mono" pitchFamily="34" charset="0"/>
                <a:ea typeface="IBM Plex Mono" pitchFamily="34" charset="-122"/>
                <a:cs typeface="IBM Plex Mono" pitchFamily="34" charset="-120"/>
              </a:rPr>
              <a:t>17.39 nm</a:t>
            </a:r>
            <a:endParaRPr lang="en-US" sz="3450" dirty="0"/>
          </a:p>
        </p:txBody>
      </p:sp>
      <p:sp>
        <p:nvSpPr>
          <p:cNvPr id="69" name="Text 65"/>
          <p:cNvSpPr txBox="1"/>
          <p:nvPr/>
        </p:nvSpPr>
        <p:spPr>
          <a:xfrm>
            <a:off x="990295" y="6267298"/>
            <a:ext cx="2105863" cy="181051"/>
          </a:xfrm>
          <a:prstGeom prst="rect">
            <a:avLst/>
          </a:prstGeom>
          <a:noFill/>
          <a:ln/>
        </p:spPr>
        <p:txBody>
          <a:bodyPr wrap="none" lIns="0" tIns="0" rIns="0" bIns="0" rtlCol="0" anchor="ctr"/>
          <a:lstStyle/>
          <a:p>
            <a:pPr algn="l" indent="0" marL="0">
              <a:buNone/>
            </a:pPr>
            <a:r>
              <a:rPr lang="en-US" sz="1125" dirty="0">
                <a:solidFill>
                  <a:srgbClr val="756E5F"/>
                </a:solidFill>
                <a:latin typeface="IBM Plex Mono" pitchFamily="34" charset="0"/>
                <a:ea typeface="IBM Plex Mono" pitchFamily="34" charset="-122"/>
                <a:cs typeface="IBM Plex Mono" pitchFamily="34" charset="-120"/>
              </a:rPr>
              <a:t>3σ 0.35 · Δ target −0.01</a:t>
            </a:r>
            <a:endParaRPr lang="en-US" sz="1125" dirty="0"/>
          </a:p>
        </p:txBody>
      </p:sp>
      <p:sp>
        <p:nvSpPr>
          <p:cNvPr id="70" name="Text 66"/>
          <p:cNvSpPr txBox="1"/>
          <p:nvPr/>
        </p:nvSpPr>
        <p:spPr>
          <a:xfrm>
            <a:off x="3664915" y="5572354"/>
            <a:ext cx="2105863" cy="162763"/>
          </a:xfrm>
          <a:prstGeom prst="rect">
            <a:avLst/>
          </a:prstGeom>
          <a:noFill/>
          <a:ln/>
        </p:spPr>
        <p:txBody>
          <a:bodyPr wrap="none" lIns="0" tIns="0" rIns="0" bIns="0" rtlCol="0" anchor="ctr"/>
          <a:lstStyle/>
          <a:p>
            <a:pPr algn="l" indent="0" marL="0">
              <a:buNone/>
            </a:pPr>
            <a:r>
              <a:rPr lang="en-US" sz="975" spc="156" kern="0" dirty="0">
                <a:solidFill>
                  <a:srgbClr val="9A4520"/>
                </a:solidFill>
                <a:latin typeface="IBM Plex Mono" pitchFamily="34" charset="0"/>
                <a:ea typeface="IBM Plex Mono" pitchFamily="34" charset="-122"/>
                <a:cs typeface="IBM Plex Mono" pitchFamily="34" charset="-120"/>
              </a:rPr>
              <a:t>Group B · Reference</a:t>
            </a:r>
            <a:endParaRPr lang="en-US" sz="975" dirty="0"/>
          </a:p>
        </p:txBody>
      </p:sp>
      <p:sp>
        <p:nvSpPr>
          <p:cNvPr id="71" name="Text 67"/>
          <p:cNvSpPr txBox="1"/>
          <p:nvPr/>
        </p:nvSpPr>
        <p:spPr>
          <a:xfrm>
            <a:off x="3664915" y="5790895"/>
            <a:ext cx="2105863" cy="438912"/>
          </a:xfrm>
          <a:prstGeom prst="rect">
            <a:avLst/>
          </a:prstGeom>
          <a:noFill/>
          <a:ln/>
        </p:spPr>
        <p:txBody>
          <a:bodyPr wrap="none" lIns="0" tIns="0" rIns="0" bIns="0" rtlCol="0" anchor="ctr"/>
          <a:lstStyle/>
          <a:p>
            <a:pPr algn="l" indent="0" marL="0">
              <a:buNone/>
            </a:pPr>
            <a:r>
              <a:rPr lang="en-US" sz="3450" b="1" dirty="0">
                <a:solidFill>
                  <a:srgbClr val="16130E"/>
                </a:solidFill>
                <a:latin typeface="IBM Plex Mono" pitchFamily="34" charset="0"/>
                <a:ea typeface="IBM Plex Mono" pitchFamily="34" charset="-122"/>
                <a:cs typeface="IBM Plex Mono" pitchFamily="34" charset="-120"/>
              </a:rPr>
              <a:t>17.50 nm</a:t>
            </a:r>
            <a:endParaRPr lang="en-US" sz="3450" dirty="0"/>
          </a:p>
        </p:txBody>
      </p:sp>
      <p:sp>
        <p:nvSpPr>
          <p:cNvPr id="72" name="Text 68"/>
          <p:cNvSpPr txBox="1"/>
          <p:nvPr/>
        </p:nvSpPr>
        <p:spPr>
          <a:xfrm>
            <a:off x="3664915" y="6267298"/>
            <a:ext cx="2105863" cy="181051"/>
          </a:xfrm>
          <a:prstGeom prst="rect">
            <a:avLst/>
          </a:prstGeom>
          <a:noFill/>
          <a:ln/>
        </p:spPr>
        <p:txBody>
          <a:bodyPr wrap="none" lIns="0" tIns="0" rIns="0" bIns="0" rtlCol="0" anchor="ctr"/>
          <a:lstStyle/>
          <a:p>
            <a:pPr algn="l" indent="0" marL="0">
              <a:buNone/>
            </a:pPr>
            <a:r>
              <a:rPr lang="en-US" sz="1125" dirty="0">
                <a:solidFill>
                  <a:srgbClr val="756E5F"/>
                </a:solidFill>
                <a:latin typeface="IBM Plex Mono" pitchFamily="34" charset="0"/>
                <a:ea typeface="IBM Plex Mono" pitchFamily="34" charset="-122"/>
                <a:cs typeface="IBM Plex Mono" pitchFamily="34" charset="-120"/>
              </a:rPr>
              <a:t>3σ 0.44 · Δ target +0.10</a:t>
            </a:r>
            <a:endParaRPr lang="en-US" sz="1125" dirty="0"/>
          </a:p>
        </p:txBody>
      </p:sp>
      <p:sp>
        <p:nvSpPr>
          <p:cNvPr id="73" name="Shape 69"/>
          <p:cNvSpPr/>
          <p:nvPr/>
        </p:nvSpPr>
        <p:spPr>
          <a:xfrm>
            <a:off x="990295" y="6734556"/>
            <a:ext cx="9430207" cy="590702"/>
          </a:xfrm>
          <a:prstGeom prst="roundRect">
            <a:avLst>
              <a:gd name="adj" fmla="val 4799"/>
            </a:avLst>
          </a:prstGeom>
          <a:solidFill>
            <a:srgbClr val="9B4520">
              <a:alpha val="8000"/>
            </a:srgbClr>
          </a:solidFill>
          <a:ln/>
        </p:spPr>
      </p:sp>
      <p:sp>
        <p:nvSpPr>
          <p:cNvPr id="74" name="Shape 70"/>
          <p:cNvSpPr/>
          <p:nvPr/>
        </p:nvSpPr>
        <p:spPr>
          <a:xfrm>
            <a:off x="990295" y="6734556"/>
            <a:ext cx="28346" cy="590702"/>
          </a:xfrm>
          <a:prstGeom prst="roundRect">
            <a:avLst>
              <a:gd name="adj" fmla="val 100001"/>
            </a:avLst>
          </a:prstGeom>
          <a:solidFill>
            <a:srgbClr val="9A4520"/>
          </a:solidFill>
          <a:ln w="12700">
            <a:solidFill>
              <a:srgbClr val="9A4520">
                <a:alpha val="0"/>
              </a:srgbClr>
            </a:solidFill>
            <a:prstDash val="solid"/>
          </a:ln>
        </p:spPr>
      </p:sp>
      <p:sp>
        <p:nvSpPr>
          <p:cNvPr id="75" name="Text 71"/>
          <p:cNvSpPr txBox="1"/>
          <p:nvPr/>
        </p:nvSpPr>
        <p:spPr>
          <a:xfrm>
            <a:off x="1228954" y="6905549"/>
            <a:ext cx="8982151" cy="247802"/>
          </a:xfrm>
          <a:prstGeom prst="rect">
            <a:avLst/>
          </a:prstGeom>
          <a:noFill/>
          <a:ln/>
        </p:spPr>
        <p:txBody>
          <a:bodyPr wrap="none" lIns="0" tIns="0" rIns="0" bIns="0" rtlCol="0" anchor="ctr"/>
          <a:lstStyle/>
          <a:p>
            <a:pPr algn="l" indent="0" marL="0">
              <a:buNone/>
            </a:pPr>
            <a:r>
              <a:rPr lang="en-US" sz="1275" dirty="0">
                <a:solidFill>
                  <a:srgbClr val="3A352D"/>
                </a:solidFill>
                <a:latin typeface="IBM Plex Sans KR" pitchFamily="34" charset="0"/>
                <a:ea typeface="IBM Plex Sans KR" pitchFamily="34" charset="-122"/>
                <a:cs typeface="IBM Plex Sans KR" pitchFamily="34" charset="-120"/>
              </a:rPr>
              <a:t>Reference group은 ASEI 시점에서도 +0.09 nm의 평균 편차를 유지 → AASI 대비 편향이 그대로 잔존하는 양상.</a:t>
            </a:r>
            <a:endParaRPr lang="en-US" sz="1275" dirty="0"/>
          </a:p>
        </p:txBody>
      </p:sp>
      <p:sp>
        <p:nvSpPr>
          <p:cNvPr id="76" name="Text 72"/>
          <p:cNvSpPr txBox="1"/>
          <p:nvPr/>
        </p:nvSpPr>
        <p:spPr>
          <a:xfrm>
            <a:off x="11239805" y="2476195"/>
            <a:ext cx="6286500" cy="305410"/>
          </a:xfrm>
          <a:prstGeom prst="rect">
            <a:avLst/>
          </a:prstGeom>
          <a:noFill/>
          <a:ln/>
        </p:spPr>
        <p:txBody>
          <a:bodyPr wrap="none" lIns="0" tIns="0" rIns="0" bIns="0" rtlCol="0" anchor="ctr"/>
          <a:lstStyle/>
          <a:p>
            <a:pPr algn="l" indent="0" marL="0">
              <a:buNone/>
            </a:pPr>
            <a:r>
              <a:rPr lang="en-US" sz="1575" dirty="0">
                <a:solidFill>
                  <a:srgbClr val="16130E"/>
                </a:solidFill>
                <a:latin typeface="IBM Plex Sans KR" pitchFamily="34" charset="0"/>
                <a:ea typeface="IBM Plex Sans KR" pitchFamily="34" charset="-122"/>
                <a:cs typeface="IBM Plex Sans KR" pitchFamily="34" charset="-120"/>
              </a:rPr>
              <a:t>관찰</a:t>
            </a:r>
            <a:endParaRPr lang="en-US" sz="1575" dirty="0"/>
          </a:p>
        </p:txBody>
      </p:sp>
      <p:sp>
        <p:nvSpPr>
          <p:cNvPr id="77" name="Text 73"/>
          <p:cNvSpPr txBox="1"/>
          <p:nvPr/>
        </p:nvSpPr>
        <p:spPr>
          <a:xfrm>
            <a:off x="11239805" y="2915107"/>
            <a:ext cx="6286500" cy="534010"/>
          </a:xfrm>
          <a:prstGeom prst="rect">
            <a:avLst/>
          </a:prstGeom>
          <a:noFill/>
          <a:ln/>
        </p:spPr>
        <p:txBody>
          <a:bodyPr wrap="square" lIns="0" tIns="0" rIns="0" bIns="0" rtlCol="0" anchor="ctr"/>
          <a:lstStyle/>
          <a:p>
            <a:pPr algn="l" indent="0" marL="0">
              <a:lnSpc>
                <a:spcPts val="2092"/>
              </a:lnSpc>
              <a:buNone/>
            </a:pPr>
            <a:r>
              <a:rPr lang="en-US" sz="1350" dirty="0">
                <a:solidFill>
                  <a:srgbClr val="3A352D"/>
                </a:solidFill>
                <a:latin typeface="IBM Plex Sans KR" pitchFamily="34" charset="0"/>
                <a:ea typeface="IBM Plex Sans KR" pitchFamily="34" charset="-122"/>
                <a:cs typeface="IBM Plex Sans KR" pitchFamily="34" charset="-120"/>
              </a:rPr>
              <a:t>ASEI 라인 폭 17.4 nm target 대비 Group A 평균 17.39, Group B 17.50. 그룹 평균 차이는 0.11 nm로 AASI 단계의 0.09 nm에서 거의 그대로 유지된다.</a:t>
            </a:r>
            <a:endParaRPr lang="en-US" sz="1350" dirty="0"/>
          </a:p>
        </p:txBody>
      </p:sp>
      <p:sp>
        <p:nvSpPr>
          <p:cNvPr id="78" name="Text 74"/>
          <p:cNvSpPr txBox="1"/>
          <p:nvPr/>
        </p:nvSpPr>
        <p:spPr>
          <a:xfrm>
            <a:off x="11239805" y="3617366"/>
            <a:ext cx="6286500" cy="305410"/>
          </a:xfrm>
          <a:prstGeom prst="rect">
            <a:avLst/>
          </a:prstGeom>
          <a:noFill/>
          <a:ln/>
        </p:spPr>
        <p:txBody>
          <a:bodyPr wrap="none" lIns="0" tIns="0" rIns="0" bIns="0" rtlCol="0" anchor="ctr"/>
          <a:lstStyle/>
          <a:p>
            <a:pPr algn="l" indent="0" marL="0">
              <a:buNone/>
            </a:pPr>
            <a:r>
              <a:rPr lang="en-US" sz="1575" dirty="0">
                <a:solidFill>
                  <a:srgbClr val="16130E"/>
                </a:solidFill>
                <a:latin typeface="IBM Plex Sans KR" pitchFamily="34" charset="0"/>
                <a:ea typeface="IBM Plex Sans KR" pitchFamily="34" charset="-122"/>
                <a:cs typeface="IBM Plex Sans KR" pitchFamily="34" charset="-120"/>
              </a:rPr>
              <a:t>분포 폭</a:t>
            </a:r>
            <a:endParaRPr lang="en-US" sz="1575" dirty="0"/>
          </a:p>
        </p:txBody>
      </p:sp>
      <p:sp>
        <p:nvSpPr>
          <p:cNvPr id="79" name="Text 75"/>
          <p:cNvSpPr txBox="1"/>
          <p:nvPr/>
        </p:nvSpPr>
        <p:spPr>
          <a:xfrm>
            <a:off x="11239805" y="4055364"/>
            <a:ext cx="6286500" cy="800100"/>
          </a:xfrm>
          <a:prstGeom prst="rect">
            <a:avLst/>
          </a:prstGeom>
          <a:noFill/>
          <a:ln/>
        </p:spPr>
        <p:txBody>
          <a:bodyPr wrap="square" lIns="0" tIns="0" rIns="0" bIns="0" rtlCol="0" anchor="ctr"/>
          <a:lstStyle/>
          <a:p>
            <a:pPr algn="l" indent="0" marL="0">
              <a:lnSpc>
                <a:spcPts val="2092"/>
              </a:lnSpc>
              <a:buNone/>
            </a:pPr>
            <a:r>
              <a:rPr lang="en-US" sz="1350" dirty="0">
                <a:solidFill>
                  <a:srgbClr val="3A352D"/>
                </a:solidFill>
                <a:latin typeface="IBM Plex Sans KR" pitchFamily="34" charset="0"/>
                <a:ea typeface="IBM Plex Sans KR" pitchFamily="34" charset="-122"/>
                <a:cs typeface="IBM Plex Sans KR" pitchFamily="34" charset="-120"/>
              </a:rPr>
              <a:t>3σ 기준 Group A 0.34 ~ 0.36 nm · Group B 0.42 ~ 0.45 nm. 17.4 nm nominal 대비 0.5 nm EPE budget과 비교 시 Air gap 그룹은 budget의 70 % 안팎, Reference 그룹은 90 % 근방까지 사용한다.</a:t>
            </a:r>
            <a:endParaRPr lang="en-US" sz="1350" dirty="0"/>
          </a:p>
        </p:txBody>
      </p:sp>
      <p:sp>
        <p:nvSpPr>
          <p:cNvPr id="80" name="Text 76"/>
          <p:cNvSpPr txBox="1"/>
          <p:nvPr/>
        </p:nvSpPr>
        <p:spPr>
          <a:xfrm>
            <a:off x="11239805" y="5023714"/>
            <a:ext cx="6286500" cy="305410"/>
          </a:xfrm>
          <a:prstGeom prst="rect">
            <a:avLst/>
          </a:prstGeom>
          <a:noFill/>
          <a:ln/>
        </p:spPr>
        <p:txBody>
          <a:bodyPr wrap="none" lIns="0" tIns="0" rIns="0" bIns="0" rtlCol="0" anchor="ctr"/>
          <a:lstStyle/>
          <a:p>
            <a:pPr algn="l" indent="0" marL="0">
              <a:buNone/>
            </a:pPr>
            <a:r>
              <a:rPr lang="en-US" sz="1575" dirty="0">
                <a:solidFill>
                  <a:srgbClr val="16130E"/>
                </a:solidFill>
                <a:latin typeface="IBM Plex Sans KR" pitchFamily="34" charset="0"/>
                <a:ea typeface="IBM Plex Sans KR" pitchFamily="34" charset="-122"/>
                <a:cs typeface="IBM Plex Sans KR" pitchFamily="34" charset="-120"/>
              </a:rPr>
              <a:t>설계 마진</a:t>
            </a:r>
            <a:endParaRPr lang="en-US" sz="1575" dirty="0"/>
          </a:p>
        </p:txBody>
      </p:sp>
      <p:sp>
        <p:nvSpPr>
          <p:cNvPr id="81" name="Text 77"/>
          <p:cNvSpPr txBox="1"/>
          <p:nvPr/>
        </p:nvSpPr>
        <p:spPr>
          <a:xfrm>
            <a:off x="11239805" y="5461711"/>
            <a:ext cx="6286500" cy="534010"/>
          </a:xfrm>
          <a:prstGeom prst="rect">
            <a:avLst/>
          </a:prstGeom>
          <a:noFill/>
          <a:ln/>
        </p:spPr>
        <p:txBody>
          <a:bodyPr wrap="square" lIns="0" tIns="0" rIns="0" bIns="0" rtlCol="0" anchor="ctr"/>
          <a:lstStyle/>
          <a:p>
            <a:pPr algn="l" indent="0" marL="0">
              <a:lnSpc>
                <a:spcPts val="2092"/>
              </a:lnSpc>
              <a:buNone/>
            </a:pPr>
            <a:r>
              <a:rPr lang="en-US" sz="1350" dirty="0">
                <a:solidFill>
                  <a:srgbClr val="3A352D"/>
                </a:solidFill>
                <a:latin typeface="IBM Plex Sans KR" pitchFamily="34" charset="0"/>
                <a:ea typeface="IBM Plex Sans KR" pitchFamily="34" charset="-122"/>
                <a:cs typeface="IBM Plex Sans KR" pitchFamily="34" charset="-120"/>
              </a:rPr>
              <a:t>AASI에서 본 +편향 누적이 본 단계까지 잔존한다는 사실은 Reference group의 recipe 보정이 단일 단계에서 끝나지 않는다는 신호로 본다.</a:t>
            </a:r>
            <a:endParaRPr lang="en-US" sz="1350" dirty="0"/>
          </a:p>
        </p:txBody>
      </p:sp>
      <p:sp>
        <p:nvSpPr>
          <p:cNvPr id="82" name="Text 78"/>
          <p:cNvSpPr txBox="1"/>
          <p:nvPr/>
        </p:nvSpPr>
        <p:spPr>
          <a:xfrm>
            <a:off x="761695" y="8524951"/>
            <a:ext cx="16764610" cy="333756"/>
          </a:xfrm>
          <a:prstGeom prst="rect">
            <a:avLst/>
          </a:prstGeom>
          <a:noFill/>
          <a:ln/>
        </p:spPr>
        <p:txBody>
          <a:bodyPr wrap="none" lIns="0" tIns="0" rIns="0" bIns="0" rtlCol="0" anchor="ctr"/>
          <a:lstStyle/>
          <a:p>
            <a:pPr algn="l" indent="0" marL="0">
              <a:buNone/>
            </a:pPr>
            <a:r>
              <a:rPr lang="en-US" sz="1800" dirty="0">
                <a:solidFill>
                  <a:srgbClr val="16130E"/>
                </a:solidFill>
                <a:latin typeface="IBM Plex Sans KR" pitchFamily="34" charset="0"/>
                <a:ea typeface="IBM Plex Sans KR" pitchFamily="34" charset="-122"/>
                <a:cs typeface="IBM Plex Sans KR" pitchFamily="34" charset="-120"/>
              </a:rPr>
              <a:t>그룹 평균 차이는 0.11 nm, 3σ 폭 차이는 0.09 nm 수준으로 AASI 단계의 그룹간 차이 패턴이 ASEI까지 거의 그대로 전이된다.</a:t>
            </a:r>
            <a:endParaRPr lang="en-US" sz="1800" dirty="0"/>
          </a:p>
        </p:txBody>
      </p:sp>
      <p:sp>
        <p:nvSpPr>
          <p:cNvPr id="83" name="Shape 79"/>
          <p:cNvSpPr/>
          <p:nvPr/>
        </p:nvSpPr>
        <p:spPr>
          <a:xfrm>
            <a:off x="761695" y="8524951"/>
            <a:ext cx="133502" cy="133502"/>
          </a:xfrm>
          <a:prstGeom prst="rect">
            <a:avLst/>
          </a:prstGeom>
          <a:solidFill>
            <a:srgbClr val="BD4A22"/>
          </a:solidFill>
          <a:ln w="12700">
            <a:solidFill>
              <a:srgbClr val="FFFFFF">
                <a:alpha val="0"/>
              </a:srgbClr>
            </a:solidFill>
            <a:prstDash val="solid"/>
          </a:ln>
        </p:spPr>
      </p:sp>
      <p:sp>
        <p:nvSpPr>
          <p:cNvPr id="84" name="Text 80"/>
          <p:cNvSpPr txBox="1"/>
          <p:nvPr/>
        </p:nvSpPr>
        <p:spPr>
          <a:xfrm>
            <a:off x="761695" y="9715500"/>
            <a:ext cx="16764610" cy="191110"/>
          </a:xfrm>
          <a:prstGeom prst="rect">
            <a:avLst/>
          </a:prstGeom>
          <a:noFill/>
          <a:ln/>
        </p:spPr>
        <p:txBody>
          <a:bodyPr wrap="none" lIns="0" tIns="0" rIns="0" bIns="0" rtlCol="0" anchor="ctr"/>
          <a:lstStyle/>
          <a:p>
            <a:pPr algn="l" indent="0" marL="0">
              <a:buNone/>
            </a:pPr>
            <a:r>
              <a:rPr lang="en-US" sz="1050" spc="42" kern="0" dirty="0">
                <a:solidFill>
                  <a:srgbClr val="756E5F"/>
                </a:solidFill>
                <a:latin typeface="IBM Plex Mono" pitchFamily="34" charset="0"/>
                <a:ea typeface="IBM Plex Mono" pitchFamily="34" charset="-122"/>
                <a:cs typeface="IBM Plex Mono" pitchFamily="34" charset="-120"/>
              </a:rPr>
              <a:t>※ 내부 테스트용 더미(가상) 데이터</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ECE1"/>
        </a:solidFill>
      </p:bgPr>
    </p:bg>
    <p:spTree>
      <p:nvGrpSpPr>
        <p:cNvPr id="1" name=""/>
        <p:cNvGrpSpPr/>
        <p:nvPr/>
      </p:nvGrpSpPr>
      <p:grpSpPr>
        <a:xfrm>
          <a:off x="0" y="0"/>
          <a:ext cx="0" cy="0"/>
          <a:chOff x="0" y="0"/>
          <a:chExt cx="0" cy="0"/>
        </a:xfrm>
      </p:grpSpPr>
      <p:pic>
        <p:nvPicPr>
          <p:cNvPr id="3" name="Image 0" descr="gen-dedup-ddc72069e50c60be25b8eb9ead861247.png">    </p:cNvPr>
          <p:cNvPicPr>
            <a:picLocks noChangeAspect="1"/>
          </p:cNvPicPr>
          <p:nvPr/>
        </p:nvPicPr>
        <p:blipFill>
          <a:blip r:embed="rId1"/>
          <a:srcRect l="-422" r="-422" t="0" b="0"/>
          <a:stretch/>
        </p:blipFill>
        <p:spPr>
          <a:xfrm>
            <a:off x="761695" y="2171700"/>
            <a:ext cx="838505" cy="28346"/>
          </a:xfrm>
          <a:prstGeom prst="rect">
            <a:avLst/>
          </a:prstGeom>
        </p:spPr>
      </p:pic>
      <p:sp>
        <p:nvSpPr>
          <p:cNvPr id="4" name="Shape 0"/>
          <p:cNvSpPr/>
          <p:nvPr/>
        </p:nvSpPr>
        <p:spPr>
          <a:xfrm>
            <a:off x="761695" y="4953305"/>
            <a:ext cx="4762195" cy="2857500"/>
          </a:xfrm>
          <a:prstGeom prst="roundRect">
            <a:avLst>
              <a:gd name="adj" fmla="val 1344"/>
            </a:avLst>
          </a:prstGeom>
          <a:solidFill>
            <a:srgbClr val="FAF6EA"/>
          </a:solidFill>
          <a:ln w="12700">
            <a:solidFill>
              <a:srgbClr val="D6CFBB"/>
            </a:solidFill>
            <a:prstDash val="solid"/>
          </a:ln>
        </p:spPr>
      </p:sp>
      <p:sp>
        <p:nvSpPr>
          <p:cNvPr id="5" name="Shape 1"/>
          <p:cNvSpPr/>
          <p:nvPr/>
        </p:nvSpPr>
        <p:spPr>
          <a:xfrm>
            <a:off x="761695" y="4953305"/>
            <a:ext cx="4762195" cy="38405"/>
          </a:xfrm>
          <a:prstGeom prst="roundRect">
            <a:avLst>
              <a:gd name="adj" fmla="val 99999"/>
            </a:avLst>
          </a:prstGeom>
          <a:solidFill>
            <a:srgbClr val="155E63"/>
          </a:solidFill>
          <a:ln w="12700">
            <a:solidFill>
              <a:srgbClr val="155E63">
                <a:alpha val="0"/>
              </a:srgbClr>
            </a:solidFill>
            <a:prstDash val="solid"/>
          </a:ln>
        </p:spPr>
      </p:sp>
      <p:sp>
        <p:nvSpPr>
          <p:cNvPr id="6" name="Shape 2"/>
          <p:cNvSpPr/>
          <p:nvPr/>
        </p:nvSpPr>
        <p:spPr>
          <a:xfrm>
            <a:off x="5905195" y="4953305"/>
            <a:ext cx="4762195" cy="2857500"/>
          </a:xfrm>
          <a:prstGeom prst="roundRect">
            <a:avLst>
              <a:gd name="adj" fmla="val 1344"/>
            </a:avLst>
          </a:prstGeom>
          <a:solidFill>
            <a:srgbClr val="FAF6EA"/>
          </a:solidFill>
          <a:ln w="12700">
            <a:solidFill>
              <a:srgbClr val="D6CFBB"/>
            </a:solidFill>
            <a:prstDash val="solid"/>
          </a:ln>
        </p:spPr>
      </p:sp>
      <p:sp>
        <p:nvSpPr>
          <p:cNvPr id="7" name="Shape 3"/>
          <p:cNvSpPr/>
          <p:nvPr/>
        </p:nvSpPr>
        <p:spPr>
          <a:xfrm>
            <a:off x="5905195" y="4953305"/>
            <a:ext cx="4762195" cy="38405"/>
          </a:xfrm>
          <a:prstGeom prst="roundRect">
            <a:avLst>
              <a:gd name="adj" fmla="val 99999"/>
            </a:avLst>
          </a:prstGeom>
          <a:solidFill>
            <a:srgbClr val="9A4520"/>
          </a:solidFill>
          <a:ln w="12700">
            <a:solidFill>
              <a:srgbClr val="9A4520">
                <a:alpha val="0"/>
              </a:srgbClr>
            </a:solidFill>
            <a:prstDash val="solid"/>
          </a:ln>
        </p:spPr>
      </p:sp>
      <p:sp>
        <p:nvSpPr>
          <p:cNvPr id="8" name="Text 4"/>
          <p:cNvSpPr txBox="1"/>
          <p:nvPr/>
        </p:nvSpPr>
        <p:spPr>
          <a:xfrm>
            <a:off x="761695" y="761695"/>
            <a:ext cx="5715000" cy="191110"/>
          </a:xfrm>
          <a:prstGeom prst="rect">
            <a:avLst/>
          </a:prstGeom>
          <a:noFill/>
          <a:ln/>
        </p:spPr>
        <p:txBody>
          <a:bodyPr wrap="none" lIns="0" tIns="0" rIns="0" bIns="0" rtlCol="0" anchor="ctr"/>
          <a:lstStyle/>
          <a:p>
            <a:pPr algn="l" indent="0" marL="0">
              <a:buNone/>
            </a:pPr>
            <a:r>
              <a:rPr lang="en-US" sz="1050" spc="189" kern="0" dirty="0">
                <a:solidFill>
                  <a:srgbClr val="756E5F"/>
                </a:solidFill>
                <a:latin typeface="IBM Plex Mono" pitchFamily="34" charset="0"/>
                <a:ea typeface="IBM Plex Mono" pitchFamily="34" charset="-122"/>
                <a:cs typeface="IBM Plex Mono" pitchFamily="34" charset="-120"/>
              </a:rPr>
              <a:t>07 · CD 변동성</a:t>
            </a:r>
            <a:endParaRPr lang="en-US" sz="1050" dirty="0"/>
          </a:p>
        </p:txBody>
      </p:sp>
      <p:sp>
        <p:nvSpPr>
          <p:cNvPr id="9" name="Text 5"/>
          <p:cNvSpPr txBox="1"/>
          <p:nvPr/>
        </p:nvSpPr>
        <p:spPr>
          <a:xfrm>
            <a:off x="761695" y="1143000"/>
            <a:ext cx="16193110" cy="523951"/>
          </a:xfrm>
          <a:prstGeom prst="rect">
            <a:avLst/>
          </a:prstGeom>
          <a:noFill/>
          <a:ln/>
        </p:spPr>
        <p:txBody>
          <a:bodyPr wrap="none" lIns="0" tIns="0" rIns="0" bIns="0" rtlCol="0" anchor="ctr"/>
          <a:lstStyle/>
          <a:p>
            <a:pPr algn="l" indent="0" marL="0">
              <a:buNone/>
            </a:pPr>
            <a:r>
              <a:rPr lang="en-US" sz="3750" b="1" spc="-75" kern="0" dirty="0">
                <a:solidFill>
                  <a:srgbClr val="16130E"/>
                </a:solidFill>
                <a:latin typeface="IBM Plex Sans KR" pitchFamily="34" charset="0"/>
                <a:ea typeface="IBM Plex Sans KR" pitchFamily="34" charset="-122"/>
                <a:cs typeface="IBM Plex Sans KR" pitchFamily="34" charset="-120"/>
              </a:rPr>
              <a:t>AMI CD Variation</a:t>
            </a:r>
            <a:endParaRPr lang="en-US" sz="3750" dirty="0"/>
          </a:p>
        </p:txBody>
      </p:sp>
      <p:sp>
        <p:nvSpPr>
          <p:cNvPr id="10" name="Text 6"/>
          <p:cNvSpPr txBox="1"/>
          <p:nvPr/>
        </p:nvSpPr>
        <p:spPr>
          <a:xfrm>
            <a:off x="761695" y="1762049"/>
            <a:ext cx="16193110" cy="286207"/>
          </a:xfrm>
          <a:prstGeom prst="rect">
            <a:avLst/>
          </a:prstGeom>
          <a:noFill/>
          <a:ln/>
        </p:spPr>
        <p:txBody>
          <a:bodyPr wrap="none" lIns="0" tIns="0" rIns="0" bIns="0" rtlCol="0" anchor="ctr"/>
          <a:lstStyle/>
          <a:p>
            <a:pPr algn="l" indent="0" marL="0">
              <a:buNone/>
            </a:pPr>
            <a:r>
              <a:rPr lang="en-US" sz="1500" dirty="0">
                <a:solidFill>
                  <a:srgbClr val="756E5F"/>
                </a:solidFill>
                <a:latin typeface="IBM Plex Sans KR" pitchFamily="34" charset="0"/>
                <a:ea typeface="IBM Plex Sans KR" pitchFamily="34" charset="-122"/>
                <a:cs typeface="IBM Plex Sans KR" pitchFamily="34" charset="-120"/>
              </a:rPr>
              <a:t>target </a:t>
            </a:r>
            <a:pPr algn="l" indent="0" marL="0">
              <a:buNone/>
            </a:pPr>
            <a:r>
              <a:rPr lang="en-US" sz="1500" dirty="0">
                <a:solidFill>
                  <a:srgbClr val="16130E"/>
                </a:solidFill>
                <a:latin typeface="IBM Plex Mono" pitchFamily="34" charset="0"/>
                <a:ea typeface="IBM Plex Mono" pitchFamily="34" charset="-122"/>
                <a:cs typeface="IBM Plex Mono" pitchFamily="34" charset="-120"/>
              </a:rPr>
              <a:t>8.6 nm</a:t>
            </a:r>
            <a:pPr algn="l" indent="0" marL="0">
              <a:buNone/>
            </a:pPr>
            <a:r>
              <a:rPr lang="en-US" sz="1500" dirty="0">
                <a:solidFill>
                  <a:srgbClr val="756E5F"/>
                </a:solidFill>
                <a:latin typeface="IBM Plex Sans KR" pitchFamily="34" charset="0"/>
                <a:ea typeface="IBM Plex Sans KR" pitchFamily="34" charset="-122"/>
                <a:cs typeface="IBM Plex Sans KR" pitchFamily="34" charset="-120"/>
              </a:rPr>
              <a:t> · wafer별 mean / 3σ / range / Δ</a:t>
            </a:r>
            <a:endParaRPr lang="en-US" sz="1500" dirty="0"/>
          </a:p>
        </p:txBody>
      </p:sp>
      <p:sp>
        <p:nvSpPr>
          <p:cNvPr id="11" name="Text 7"/>
          <p:cNvSpPr txBox="1"/>
          <p:nvPr/>
        </p:nvSpPr>
        <p:spPr>
          <a:xfrm>
            <a:off x="761695" y="2481682"/>
            <a:ext cx="1591056" cy="476402"/>
          </a:xfrm>
          <a:prstGeom prst="rect">
            <a:avLst/>
          </a:prstGeom>
          <a:solidFill>
            <a:srgbClr val="155E63">
              <a:alpha val="6000"/>
            </a:srgbClr>
          </a:solidFill>
          <a:ln w="12700">
            <a:solidFill>
              <a:srgbClr val="16130E"/>
            </a:solidFill>
          </a:ln>
        </p:spPr>
        <p:txBody>
          <a:bodyPr wrap="none" lIns="139700" tIns="101600" rIns="139700" bIns="101600" rtlCol="0" anchor="ctr"/>
          <a:lstStyle/>
          <a:p>
            <a:pPr algn="l" indent="0" marL="0">
              <a:buNone/>
            </a:pPr>
            <a:r>
              <a:rPr lang="en-US" sz="1350" b="1" dirty="0">
                <a:solidFill>
                  <a:srgbClr val="16130E"/>
                </a:solidFill>
                <a:latin typeface="IBM Plex Sans KR" pitchFamily="34" charset="0"/>
                <a:ea typeface="IBM Plex Sans KR" pitchFamily="34" charset="-122"/>
                <a:cs typeface="IBM Plex Sans KR" pitchFamily="34" charset="-120"/>
              </a:rPr>
              <a:t>Wafer</a:t>
            </a:r>
            <a:endParaRPr lang="en-US" sz="1350" dirty="0"/>
          </a:p>
        </p:txBody>
      </p:sp>
      <p:sp>
        <p:nvSpPr>
          <p:cNvPr id="12" name="Text 8"/>
          <p:cNvSpPr txBox="1"/>
          <p:nvPr/>
        </p:nvSpPr>
        <p:spPr>
          <a:xfrm>
            <a:off x="2347265" y="2481682"/>
            <a:ext cx="1791310" cy="476402"/>
          </a:xfrm>
          <a:prstGeom prst="rect">
            <a:avLst/>
          </a:prstGeom>
          <a:solidFill>
            <a:srgbClr val="155E63">
              <a:alpha val="6000"/>
            </a:srgbClr>
          </a:solidFill>
          <a:ln w="12700">
            <a:solidFill>
              <a:srgbClr val="16130E"/>
            </a:solidFill>
          </a:ln>
        </p:spPr>
        <p:txBody>
          <a:bodyPr wrap="none" lIns="139700" tIns="101600" rIns="139700" bIns="101600" rtlCol="0" anchor="ctr"/>
          <a:lstStyle/>
          <a:p>
            <a:pPr algn="l" indent="0" marL="0">
              <a:buNone/>
            </a:pPr>
            <a:r>
              <a:rPr lang="en-US" sz="1350" b="1" dirty="0">
                <a:solidFill>
                  <a:srgbClr val="16130E"/>
                </a:solidFill>
                <a:latin typeface="IBM Plex Sans KR" pitchFamily="34" charset="0"/>
                <a:ea typeface="IBM Plex Sans KR" pitchFamily="34" charset="-122"/>
                <a:cs typeface="IBM Plex Sans KR" pitchFamily="34" charset="-120"/>
              </a:rPr>
              <a:t>Group</a:t>
            </a:r>
            <a:endParaRPr lang="en-US" sz="1350" dirty="0"/>
          </a:p>
        </p:txBody>
      </p:sp>
      <p:sp>
        <p:nvSpPr>
          <p:cNvPr id="13" name="Text 9"/>
          <p:cNvSpPr txBox="1"/>
          <p:nvPr/>
        </p:nvSpPr>
        <p:spPr>
          <a:xfrm>
            <a:off x="4129430" y="2481682"/>
            <a:ext cx="1791310" cy="476402"/>
          </a:xfrm>
          <a:prstGeom prst="rect">
            <a:avLst/>
          </a:prstGeom>
          <a:solidFill>
            <a:srgbClr val="155E63">
              <a:alpha val="6000"/>
            </a:srgbClr>
          </a:solidFill>
          <a:ln w="12700">
            <a:solidFill>
              <a:srgbClr val="16130E"/>
            </a:solidFill>
          </a:ln>
        </p:spPr>
        <p:txBody>
          <a:bodyPr wrap="square" lIns="139700" tIns="101600" rIns="139700" bIns="101600" rtlCol="0" anchor="ctr"/>
          <a:lstStyle/>
          <a:p>
            <a:pPr algn="r" indent="0" marL="0">
              <a:buNone/>
            </a:pPr>
            <a:r>
              <a:rPr lang="en-US" sz="1275" b="1" dirty="0">
                <a:solidFill>
                  <a:srgbClr val="16130E"/>
                </a:solidFill>
                <a:latin typeface="IBM Plex Mono" pitchFamily="34" charset="0"/>
                <a:ea typeface="IBM Plex Mono" pitchFamily="34" charset="-122"/>
                <a:cs typeface="IBM Plex Mono" pitchFamily="34" charset="-120"/>
              </a:rPr>
              <a:t>Mean (nm)</a:t>
            </a:r>
            <a:endParaRPr lang="en-US" sz="1275" dirty="0"/>
          </a:p>
        </p:txBody>
      </p:sp>
      <p:sp>
        <p:nvSpPr>
          <p:cNvPr id="14" name="Text 10"/>
          <p:cNvSpPr txBox="1"/>
          <p:nvPr/>
        </p:nvSpPr>
        <p:spPr>
          <a:xfrm>
            <a:off x="5912510" y="2481682"/>
            <a:ext cx="1591056" cy="476402"/>
          </a:xfrm>
          <a:prstGeom prst="rect">
            <a:avLst/>
          </a:prstGeom>
          <a:solidFill>
            <a:srgbClr val="155E63">
              <a:alpha val="6000"/>
            </a:srgbClr>
          </a:solidFill>
          <a:ln w="12700">
            <a:solidFill>
              <a:srgbClr val="16130E"/>
            </a:solidFill>
          </a:ln>
        </p:spPr>
        <p:txBody>
          <a:bodyPr wrap="square" lIns="139700" tIns="101600" rIns="139700" bIns="101600" rtlCol="0" anchor="ctr"/>
          <a:lstStyle/>
          <a:p>
            <a:pPr algn="r" indent="0" marL="0">
              <a:buNone/>
            </a:pPr>
            <a:r>
              <a:rPr lang="en-US" sz="1275" b="1" dirty="0">
                <a:solidFill>
                  <a:srgbClr val="16130E"/>
                </a:solidFill>
                <a:latin typeface="IBM Plex Mono" pitchFamily="34" charset="0"/>
                <a:ea typeface="IBM Plex Mono" pitchFamily="34" charset="-122"/>
                <a:cs typeface="IBM Plex Mono" pitchFamily="34" charset="-120"/>
              </a:rPr>
              <a:t>3σ (nm)</a:t>
            </a:r>
            <a:endParaRPr lang="en-US" sz="1275" dirty="0"/>
          </a:p>
        </p:txBody>
      </p:sp>
      <p:sp>
        <p:nvSpPr>
          <p:cNvPr id="15" name="Text 11"/>
          <p:cNvSpPr txBox="1"/>
          <p:nvPr/>
        </p:nvSpPr>
        <p:spPr>
          <a:xfrm>
            <a:off x="7498080" y="2481682"/>
            <a:ext cx="1591056" cy="476402"/>
          </a:xfrm>
          <a:prstGeom prst="rect">
            <a:avLst/>
          </a:prstGeom>
          <a:solidFill>
            <a:srgbClr val="155E63">
              <a:alpha val="6000"/>
            </a:srgbClr>
          </a:solidFill>
          <a:ln w="12700">
            <a:solidFill>
              <a:srgbClr val="16130E"/>
            </a:solidFill>
          </a:ln>
        </p:spPr>
        <p:txBody>
          <a:bodyPr wrap="square" lIns="139700" tIns="101600" rIns="139700" bIns="101600" rtlCol="0" anchor="ctr"/>
          <a:lstStyle/>
          <a:p>
            <a:pPr algn="r" indent="0" marL="0">
              <a:buNone/>
            </a:pPr>
            <a:r>
              <a:rPr lang="en-US" sz="1275" b="1" dirty="0">
                <a:solidFill>
                  <a:srgbClr val="16130E"/>
                </a:solidFill>
                <a:latin typeface="IBM Plex Mono" pitchFamily="34" charset="0"/>
                <a:ea typeface="IBM Plex Mono" pitchFamily="34" charset="-122"/>
                <a:cs typeface="IBM Plex Mono" pitchFamily="34" charset="-120"/>
              </a:rPr>
              <a:t>Range (nm)</a:t>
            </a:r>
            <a:endParaRPr lang="en-US" sz="1275" dirty="0"/>
          </a:p>
        </p:txBody>
      </p:sp>
      <p:sp>
        <p:nvSpPr>
          <p:cNvPr id="16" name="Text 12"/>
          <p:cNvSpPr txBox="1"/>
          <p:nvPr/>
        </p:nvSpPr>
        <p:spPr>
          <a:xfrm>
            <a:off x="9082735" y="2481682"/>
            <a:ext cx="1591056" cy="476402"/>
          </a:xfrm>
          <a:prstGeom prst="rect">
            <a:avLst/>
          </a:prstGeom>
          <a:solidFill>
            <a:srgbClr val="155E63">
              <a:alpha val="6000"/>
            </a:srgbClr>
          </a:solidFill>
          <a:ln w="12700">
            <a:solidFill>
              <a:srgbClr val="16130E"/>
            </a:solidFill>
          </a:ln>
        </p:spPr>
        <p:txBody>
          <a:bodyPr wrap="square" lIns="139700" tIns="101600" rIns="139700" bIns="101600" rtlCol="0" anchor="ctr"/>
          <a:lstStyle/>
          <a:p>
            <a:pPr algn="r" indent="0" marL="0">
              <a:buNone/>
            </a:pPr>
            <a:r>
              <a:rPr lang="en-US" sz="1275" b="1" dirty="0">
                <a:solidFill>
                  <a:srgbClr val="16130E"/>
                </a:solidFill>
                <a:latin typeface="IBM Plex Mono" pitchFamily="34" charset="0"/>
                <a:ea typeface="IBM Plex Mono" pitchFamily="34" charset="-122"/>
                <a:cs typeface="IBM Plex Mono" pitchFamily="34" charset="-120"/>
              </a:rPr>
              <a:t>Δ vs target</a:t>
            </a:r>
            <a:endParaRPr lang="en-US" sz="1275" dirty="0"/>
          </a:p>
        </p:txBody>
      </p:sp>
      <p:sp>
        <p:nvSpPr>
          <p:cNvPr id="17" name="Shape 13"/>
          <p:cNvSpPr/>
          <p:nvPr/>
        </p:nvSpPr>
        <p:spPr>
          <a:xfrm>
            <a:off x="761695" y="3424428"/>
            <a:ext cx="1591056" cy="9144"/>
          </a:xfrm>
          <a:prstGeom prst="rect">
            <a:avLst/>
          </a:prstGeom>
          <a:solidFill>
            <a:srgbClr val="C7BFA8"/>
          </a:solidFill>
          <a:ln w="12700">
            <a:solidFill>
              <a:srgbClr val="C7BFA8">
                <a:alpha val="0"/>
              </a:srgbClr>
            </a:solidFill>
            <a:prstDash val="solid"/>
          </a:ln>
        </p:spPr>
      </p:sp>
      <p:sp>
        <p:nvSpPr>
          <p:cNvPr id="18" name="Text 14"/>
          <p:cNvSpPr txBox="1"/>
          <p:nvPr/>
        </p:nvSpPr>
        <p:spPr>
          <a:xfrm>
            <a:off x="761695" y="2957170"/>
            <a:ext cx="1591056"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Mono" pitchFamily="34" charset="0"/>
                <a:ea typeface="IBM Plex Mono" pitchFamily="34" charset="-122"/>
                <a:cs typeface="IBM Plex Mono" pitchFamily="34" charset="-120"/>
              </a:rPr>
              <a:t>W01</a:t>
            </a:r>
            <a:endParaRPr lang="en-US" sz="1350" dirty="0"/>
          </a:p>
        </p:txBody>
      </p:sp>
      <p:sp>
        <p:nvSpPr>
          <p:cNvPr id="19" name="Shape 15"/>
          <p:cNvSpPr/>
          <p:nvPr/>
        </p:nvSpPr>
        <p:spPr>
          <a:xfrm>
            <a:off x="2347265" y="3424428"/>
            <a:ext cx="1790395" cy="9144"/>
          </a:xfrm>
          <a:prstGeom prst="rect">
            <a:avLst/>
          </a:prstGeom>
          <a:solidFill>
            <a:srgbClr val="C7BFA8"/>
          </a:solidFill>
          <a:ln w="12700">
            <a:solidFill>
              <a:srgbClr val="C7BFA8">
                <a:alpha val="0"/>
              </a:srgbClr>
            </a:solidFill>
            <a:prstDash val="solid"/>
          </a:ln>
        </p:spPr>
      </p:sp>
      <p:sp>
        <p:nvSpPr>
          <p:cNvPr id="20" name="Text 16"/>
          <p:cNvSpPr txBox="1"/>
          <p:nvPr/>
        </p:nvSpPr>
        <p:spPr>
          <a:xfrm>
            <a:off x="2651760" y="2957170"/>
            <a:ext cx="1486814"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Air gap</a:t>
            </a:r>
            <a:endParaRPr lang="en-US" sz="1350" dirty="0"/>
          </a:p>
        </p:txBody>
      </p:sp>
      <p:sp>
        <p:nvSpPr>
          <p:cNvPr id="21" name="Shape 17"/>
          <p:cNvSpPr/>
          <p:nvPr/>
        </p:nvSpPr>
        <p:spPr>
          <a:xfrm>
            <a:off x="4129430" y="3424428"/>
            <a:ext cx="1790395" cy="9144"/>
          </a:xfrm>
          <a:prstGeom prst="rect">
            <a:avLst/>
          </a:prstGeom>
          <a:solidFill>
            <a:srgbClr val="C7BFA8"/>
          </a:solidFill>
          <a:ln w="12700">
            <a:solidFill>
              <a:srgbClr val="C7BFA8">
                <a:alpha val="0"/>
              </a:srgbClr>
            </a:solidFill>
            <a:prstDash val="solid"/>
          </a:ln>
        </p:spPr>
      </p:sp>
      <p:sp>
        <p:nvSpPr>
          <p:cNvPr id="22" name="Text 18"/>
          <p:cNvSpPr txBox="1"/>
          <p:nvPr/>
        </p:nvSpPr>
        <p:spPr>
          <a:xfrm>
            <a:off x="4129430" y="2957170"/>
            <a:ext cx="1791310"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8.58</a:t>
            </a:r>
            <a:endParaRPr lang="en-US" sz="1275" dirty="0"/>
          </a:p>
        </p:txBody>
      </p:sp>
      <p:sp>
        <p:nvSpPr>
          <p:cNvPr id="23" name="Shape 19"/>
          <p:cNvSpPr/>
          <p:nvPr/>
        </p:nvSpPr>
        <p:spPr>
          <a:xfrm>
            <a:off x="5912510" y="3424428"/>
            <a:ext cx="1591056" cy="9144"/>
          </a:xfrm>
          <a:prstGeom prst="rect">
            <a:avLst/>
          </a:prstGeom>
          <a:solidFill>
            <a:srgbClr val="C7BFA8"/>
          </a:solidFill>
          <a:ln w="12700">
            <a:solidFill>
              <a:srgbClr val="C7BFA8">
                <a:alpha val="0"/>
              </a:srgbClr>
            </a:solidFill>
            <a:prstDash val="solid"/>
          </a:ln>
        </p:spPr>
      </p:sp>
      <p:sp>
        <p:nvSpPr>
          <p:cNvPr id="24" name="Text 20"/>
          <p:cNvSpPr txBox="1"/>
          <p:nvPr/>
        </p:nvSpPr>
        <p:spPr>
          <a:xfrm>
            <a:off x="5912510" y="2957170"/>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0.28</a:t>
            </a:r>
            <a:endParaRPr lang="en-US" sz="1275" dirty="0"/>
          </a:p>
        </p:txBody>
      </p:sp>
      <p:sp>
        <p:nvSpPr>
          <p:cNvPr id="25" name="Shape 21"/>
          <p:cNvSpPr/>
          <p:nvPr/>
        </p:nvSpPr>
        <p:spPr>
          <a:xfrm>
            <a:off x="7498080" y="3424428"/>
            <a:ext cx="1591056" cy="9144"/>
          </a:xfrm>
          <a:prstGeom prst="rect">
            <a:avLst/>
          </a:prstGeom>
          <a:solidFill>
            <a:srgbClr val="C7BFA8"/>
          </a:solidFill>
          <a:ln w="12700">
            <a:solidFill>
              <a:srgbClr val="C7BFA8">
                <a:alpha val="0"/>
              </a:srgbClr>
            </a:solidFill>
            <a:prstDash val="solid"/>
          </a:ln>
        </p:spPr>
      </p:sp>
      <p:sp>
        <p:nvSpPr>
          <p:cNvPr id="26" name="Text 22"/>
          <p:cNvSpPr txBox="1"/>
          <p:nvPr/>
        </p:nvSpPr>
        <p:spPr>
          <a:xfrm>
            <a:off x="7498080" y="2957170"/>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0.72</a:t>
            </a:r>
            <a:endParaRPr lang="en-US" sz="1275" dirty="0"/>
          </a:p>
        </p:txBody>
      </p:sp>
      <p:sp>
        <p:nvSpPr>
          <p:cNvPr id="27" name="Shape 23"/>
          <p:cNvSpPr/>
          <p:nvPr/>
        </p:nvSpPr>
        <p:spPr>
          <a:xfrm>
            <a:off x="9082735" y="3424428"/>
            <a:ext cx="1591056" cy="9144"/>
          </a:xfrm>
          <a:prstGeom prst="rect">
            <a:avLst/>
          </a:prstGeom>
          <a:solidFill>
            <a:srgbClr val="C7BFA8"/>
          </a:solidFill>
          <a:ln w="12700">
            <a:solidFill>
              <a:srgbClr val="C7BFA8">
                <a:alpha val="0"/>
              </a:srgbClr>
            </a:solidFill>
            <a:prstDash val="solid"/>
          </a:ln>
        </p:spPr>
      </p:sp>
      <p:sp>
        <p:nvSpPr>
          <p:cNvPr id="28" name="Text 24"/>
          <p:cNvSpPr txBox="1"/>
          <p:nvPr/>
        </p:nvSpPr>
        <p:spPr>
          <a:xfrm>
            <a:off x="9082735" y="2957170"/>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−0.02</a:t>
            </a:r>
            <a:endParaRPr lang="en-US" sz="1275" dirty="0"/>
          </a:p>
        </p:txBody>
      </p:sp>
      <p:sp>
        <p:nvSpPr>
          <p:cNvPr id="29" name="Shape 25"/>
          <p:cNvSpPr/>
          <p:nvPr/>
        </p:nvSpPr>
        <p:spPr>
          <a:xfrm>
            <a:off x="761695" y="3900830"/>
            <a:ext cx="1591056" cy="9144"/>
          </a:xfrm>
          <a:prstGeom prst="rect">
            <a:avLst/>
          </a:prstGeom>
          <a:solidFill>
            <a:srgbClr val="C7BFA8"/>
          </a:solidFill>
          <a:ln w="12700">
            <a:solidFill>
              <a:srgbClr val="C7BFA8">
                <a:alpha val="0"/>
              </a:srgbClr>
            </a:solidFill>
            <a:prstDash val="solid"/>
          </a:ln>
        </p:spPr>
      </p:sp>
      <p:sp>
        <p:nvSpPr>
          <p:cNvPr id="30" name="Text 26"/>
          <p:cNvSpPr txBox="1"/>
          <p:nvPr/>
        </p:nvSpPr>
        <p:spPr>
          <a:xfrm>
            <a:off x="761695" y="3433572"/>
            <a:ext cx="1591056"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Mono" pitchFamily="34" charset="0"/>
                <a:ea typeface="IBM Plex Mono" pitchFamily="34" charset="-122"/>
                <a:cs typeface="IBM Plex Mono" pitchFamily="34" charset="-120"/>
              </a:rPr>
              <a:t>W02</a:t>
            </a:r>
            <a:endParaRPr lang="en-US" sz="1350" dirty="0"/>
          </a:p>
        </p:txBody>
      </p:sp>
      <p:sp>
        <p:nvSpPr>
          <p:cNvPr id="31" name="Shape 27"/>
          <p:cNvSpPr/>
          <p:nvPr/>
        </p:nvSpPr>
        <p:spPr>
          <a:xfrm>
            <a:off x="2347265" y="3900830"/>
            <a:ext cx="1790395" cy="9144"/>
          </a:xfrm>
          <a:prstGeom prst="rect">
            <a:avLst/>
          </a:prstGeom>
          <a:solidFill>
            <a:srgbClr val="C7BFA8"/>
          </a:solidFill>
          <a:ln w="12700">
            <a:solidFill>
              <a:srgbClr val="C7BFA8">
                <a:alpha val="0"/>
              </a:srgbClr>
            </a:solidFill>
            <a:prstDash val="solid"/>
          </a:ln>
        </p:spPr>
      </p:sp>
      <p:sp>
        <p:nvSpPr>
          <p:cNvPr id="32" name="Text 28"/>
          <p:cNvSpPr txBox="1"/>
          <p:nvPr/>
        </p:nvSpPr>
        <p:spPr>
          <a:xfrm>
            <a:off x="2651760" y="3433572"/>
            <a:ext cx="1486814"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Air gap</a:t>
            </a:r>
            <a:endParaRPr lang="en-US" sz="1350" dirty="0"/>
          </a:p>
        </p:txBody>
      </p:sp>
      <p:sp>
        <p:nvSpPr>
          <p:cNvPr id="33" name="Shape 29"/>
          <p:cNvSpPr/>
          <p:nvPr/>
        </p:nvSpPr>
        <p:spPr>
          <a:xfrm>
            <a:off x="4129430" y="3900830"/>
            <a:ext cx="1790395" cy="9144"/>
          </a:xfrm>
          <a:prstGeom prst="rect">
            <a:avLst/>
          </a:prstGeom>
          <a:solidFill>
            <a:srgbClr val="C7BFA8"/>
          </a:solidFill>
          <a:ln w="12700">
            <a:solidFill>
              <a:srgbClr val="C7BFA8">
                <a:alpha val="0"/>
              </a:srgbClr>
            </a:solidFill>
            <a:prstDash val="solid"/>
          </a:ln>
        </p:spPr>
      </p:sp>
      <p:sp>
        <p:nvSpPr>
          <p:cNvPr id="34" name="Text 30"/>
          <p:cNvSpPr txBox="1"/>
          <p:nvPr/>
        </p:nvSpPr>
        <p:spPr>
          <a:xfrm>
            <a:off x="4129430" y="3433572"/>
            <a:ext cx="1791310"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8.61</a:t>
            </a:r>
            <a:endParaRPr lang="en-US" sz="1275" dirty="0"/>
          </a:p>
        </p:txBody>
      </p:sp>
      <p:sp>
        <p:nvSpPr>
          <p:cNvPr id="35" name="Shape 31"/>
          <p:cNvSpPr/>
          <p:nvPr/>
        </p:nvSpPr>
        <p:spPr>
          <a:xfrm>
            <a:off x="5912510" y="3900830"/>
            <a:ext cx="1591056" cy="9144"/>
          </a:xfrm>
          <a:prstGeom prst="rect">
            <a:avLst/>
          </a:prstGeom>
          <a:solidFill>
            <a:srgbClr val="C7BFA8"/>
          </a:solidFill>
          <a:ln w="12700">
            <a:solidFill>
              <a:srgbClr val="C7BFA8">
                <a:alpha val="0"/>
              </a:srgbClr>
            </a:solidFill>
            <a:prstDash val="solid"/>
          </a:ln>
        </p:spPr>
      </p:sp>
      <p:sp>
        <p:nvSpPr>
          <p:cNvPr id="36" name="Text 32"/>
          <p:cNvSpPr txBox="1"/>
          <p:nvPr/>
        </p:nvSpPr>
        <p:spPr>
          <a:xfrm>
            <a:off x="5912510" y="3433572"/>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0.30</a:t>
            </a:r>
            <a:endParaRPr lang="en-US" sz="1275" dirty="0"/>
          </a:p>
        </p:txBody>
      </p:sp>
      <p:sp>
        <p:nvSpPr>
          <p:cNvPr id="37" name="Shape 33"/>
          <p:cNvSpPr/>
          <p:nvPr/>
        </p:nvSpPr>
        <p:spPr>
          <a:xfrm>
            <a:off x="7498080" y="3900830"/>
            <a:ext cx="1591056" cy="9144"/>
          </a:xfrm>
          <a:prstGeom prst="rect">
            <a:avLst/>
          </a:prstGeom>
          <a:solidFill>
            <a:srgbClr val="C7BFA8"/>
          </a:solidFill>
          <a:ln w="12700">
            <a:solidFill>
              <a:srgbClr val="C7BFA8">
                <a:alpha val="0"/>
              </a:srgbClr>
            </a:solidFill>
            <a:prstDash val="solid"/>
          </a:ln>
        </p:spPr>
      </p:sp>
      <p:sp>
        <p:nvSpPr>
          <p:cNvPr id="38" name="Text 34"/>
          <p:cNvSpPr txBox="1"/>
          <p:nvPr/>
        </p:nvSpPr>
        <p:spPr>
          <a:xfrm>
            <a:off x="7498080" y="3433572"/>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0.78</a:t>
            </a:r>
            <a:endParaRPr lang="en-US" sz="1275" dirty="0"/>
          </a:p>
        </p:txBody>
      </p:sp>
      <p:sp>
        <p:nvSpPr>
          <p:cNvPr id="39" name="Shape 35"/>
          <p:cNvSpPr/>
          <p:nvPr/>
        </p:nvSpPr>
        <p:spPr>
          <a:xfrm>
            <a:off x="9082735" y="3900830"/>
            <a:ext cx="1591056" cy="9144"/>
          </a:xfrm>
          <a:prstGeom prst="rect">
            <a:avLst/>
          </a:prstGeom>
          <a:solidFill>
            <a:srgbClr val="C7BFA8"/>
          </a:solidFill>
          <a:ln w="12700">
            <a:solidFill>
              <a:srgbClr val="C7BFA8">
                <a:alpha val="0"/>
              </a:srgbClr>
            </a:solidFill>
            <a:prstDash val="solid"/>
          </a:ln>
        </p:spPr>
      </p:sp>
      <p:sp>
        <p:nvSpPr>
          <p:cNvPr id="40" name="Text 36"/>
          <p:cNvSpPr txBox="1"/>
          <p:nvPr/>
        </p:nvSpPr>
        <p:spPr>
          <a:xfrm>
            <a:off x="9082735" y="3433572"/>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+0.01</a:t>
            </a:r>
            <a:endParaRPr lang="en-US" sz="1275" dirty="0"/>
          </a:p>
        </p:txBody>
      </p:sp>
      <p:sp>
        <p:nvSpPr>
          <p:cNvPr id="41" name="Shape 37"/>
          <p:cNvSpPr/>
          <p:nvPr/>
        </p:nvSpPr>
        <p:spPr>
          <a:xfrm>
            <a:off x="761695" y="4377233"/>
            <a:ext cx="1591056" cy="9144"/>
          </a:xfrm>
          <a:prstGeom prst="rect">
            <a:avLst/>
          </a:prstGeom>
          <a:solidFill>
            <a:srgbClr val="C7BFA8"/>
          </a:solidFill>
          <a:ln w="12700">
            <a:solidFill>
              <a:srgbClr val="C7BFA8">
                <a:alpha val="0"/>
              </a:srgbClr>
            </a:solidFill>
            <a:prstDash val="solid"/>
          </a:ln>
        </p:spPr>
      </p:sp>
      <p:sp>
        <p:nvSpPr>
          <p:cNvPr id="42" name="Text 38"/>
          <p:cNvSpPr txBox="1"/>
          <p:nvPr/>
        </p:nvSpPr>
        <p:spPr>
          <a:xfrm>
            <a:off x="761695" y="3909974"/>
            <a:ext cx="1591056"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Mono" pitchFamily="34" charset="0"/>
                <a:ea typeface="IBM Plex Mono" pitchFamily="34" charset="-122"/>
                <a:cs typeface="IBM Plex Mono" pitchFamily="34" charset="-120"/>
              </a:rPr>
              <a:t>W03</a:t>
            </a:r>
            <a:endParaRPr lang="en-US" sz="1350" dirty="0"/>
          </a:p>
        </p:txBody>
      </p:sp>
      <p:sp>
        <p:nvSpPr>
          <p:cNvPr id="43" name="Shape 39"/>
          <p:cNvSpPr/>
          <p:nvPr/>
        </p:nvSpPr>
        <p:spPr>
          <a:xfrm>
            <a:off x="2347265" y="4377233"/>
            <a:ext cx="1790395" cy="9144"/>
          </a:xfrm>
          <a:prstGeom prst="rect">
            <a:avLst/>
          </a:prstGeom>
          <a:solidFill>
            <a:srgbClr val="C7BFA8"/>
          </a:solidFill>
          <a:ln w="12700">
            <a:solidFill>
              <a:srgbClr val="C7BFA8">
                <a:alpha val="0"/>
              </a:srgbClr>
            </a:solidFill>
            <a:prstDash val="solid"/>
          </a:ln>
        </p:spPr>
      </p:sp>
      <p:sp>
        <p:nvSpPr>
          <p:cNvPr id="44" name="Text 40"/>
          <p:cNvSpPr txBox="1"/>
          <p:nvPr/>
        </p:nvSpPr>
        <p:spPr>
          <a:xfrm>
            <a:off x="2651760" y="3909974"/>
            <a:ext cx="1486814"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Reference</a:t>
            </a:r>
            <a:endParaRPr lang="en-US" sz="1350" dirty="0"/>
          </a:p>
        </p:txBody>
      </p:sp>
      <p:sp>
        <p:nvSpPr>
          <p:cNvPr id="45" name="Shape 41"/>
          <p:cNvSpPr/>
          <p:nvPr/>
        </p:nvSpPr>
        <p:spPr>
          <a:xfrm>
            <a:off x="4129430" y="4377233"/>
            <a:ext cx="1790395" cy="9144"/>
          </a:xfrm>
          <a:prstGeom prst="rect">
            <a:avLst/>
          </a:prstGeom>
          <a:solidFill>
            <a:srgbClr val="C7BFA8"/>
          </a:solidFill>
          <a:ln w="12700">
            <a:solidFill>
              <a:srgbClr val="C7BFA8">
                <a:alpha val="0"/>
              </a:srgbClr>
            </a:solidFill>
            <a:prstDash val="solid"/>
          </a:ln>
        </p:spPr>
      </p:sp>
      <p:sp>
        <p:nvSpPr>
          <p:cNvPr id="46" name="Text 42"/>
          <p:cNvSpPr txBox="1"/>
          <p:nvPr/>
        </p:nvSpPr>
        <p:spPr>
          <a:xfrm>
            <a:off x="4129430" y="3909974"/>
            <a:ext cx="1791310"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8.71</a:t>
            </a:r>
            <a:endParaRPr lang="en-US" sz="1275" dirty="0"/>
          </a:p>
        </p:txBody>
      </p:sp>
      <p:sp>
        <p:nvSpPr>
          <p:cNvPr id="47" name="Shape 43"/>
          <p:cNvSpPr/>
          <p:nvPr/>
        </p:nvSpPr>
        <p:spPr>
          <a:xfrm>
            <a:off x="5912510" y="4377233"/>
            <a:ext cx="1591056" cy="9144"/>
          </a:xfrm>
          <a:prstGeom prst="rect">
            <a:avLst/>
          </a:prstGeom>
          <a:solidFill>
            <a:srgbClr val="C7BFA8"/>
          </a:solidFill>
          <a:ln w="12700">
            <a:solidFill>
              <a:srgbClr val="C7BFA8">
                <a:alpha val="0"/>
              </a:srgbClr>
            </a:solidFill>
            <a:prstDash val="solid"/>
          </a:ln>
        </p:spPr>
      </p:sp>
      <p:sp>
        <p:nvSpPr>
          <p:cNvPr id="48" name="Text 44"/>
          <p:cNvSpPr txBox="1"/>
          <p:nvPr/>
        </p:nvSpPr>
        <p:spPr>
          <a:xfrm>
            <a:off x="5912510" y="3909974"/>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0.38</a:t>
            </a:r>
            <a:endParaRPr lang="en-US" sz="1275" dirty="0"/>
          </a:p>
        </p:txBody>
      </p:sp>
      <p:sp>
        <p:nvSpPr>
          <p:cNvPr id="49" name="Shape 45"/>
          <p:cNvSpPr/>
          <p:nvPr/>
        </p:nvSpPr>
        <p:spPr>
          <a:xfrm>
            <a:off x="7498080" y="4377233"/>
            <a:ext cx="1591056" cy="9144"/>
          </a:xfrm>
          <a:prstGeom prst="rect">
            <a:avLst/>
          </a:prstGeom>
          <a:solidFill>
            <a:srgbClr val="C7BFA8"/>
          </a:solidFill>
          <a:ln w="12700">
            <a:solidFill>
              <a:srgbClr val="C7BFA8">
                <a:alpha val="0"/>
              </a:srgbClr>
            </a:solidFill>
            <a:prstDash val="solid"/>
          </a:ln>
        </p:spPr>
      </p:sp>
      <p:sp>
        <p:nvSpPr>
          <p:cNvPr id="50" name="Text 46"/>
          <p:cNvSpPr txBox="1"/>
          <p:nvPr/>
        </p:nvSpPr>
        <p:spPr>
          <a:xfrm>
            <a:off x="7498080" y="3909974"/>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0.96</a:t>
            </a:r>
            <a:endParaRPr lang="en-US" sz="1275" dirty="0"/>
          </a:p>
        </p:txBody>
      </p:sp>
      <p:sp>
        <p:nvSpPr>
          <p:cNvPr id="51" name="Shape 47"/>
          <p:cNvSpPr/>
          <p:nvPr/>
        </p:nvSpPr>
        <p:spPr>
          <a:xfrm>
            <a:off x="9082735" y="4377233"/>
            <a:ext cx="1591056" cy="9144"/>
          </a:xfrm>
          <a:prstGeom prst="rect">
            <a:avLst/>
          </a:prstGeom>
          <a:solidFill>
            <a:srgbClr val="C7BFA8"/>
          </a:solidFill>
          <a:ln w="12700">
            <a:solidFill>
              <a:srgbClr val="C7BFA8">
                <a:alpha val="0"/>
              </a:srgbClr>
            </a:solidFill>
            <a:prstDash val="solid"/>
          </a:ln>
        </p:spPr>
      </p:sp>
      <p:sp>
        <p:nvSpPr>
          <p:cNvPr id="52" name="Text 48"/>
          <p:cNvSpPr txBox="1"/>
          <p:nvPr/>
        </p:nvSpPr>
        <p:spPr>
          <a:xfrm>
            <a:off x="9082735" y="3909974"/>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+0.11</a:t>
            </a:r>
            <a:endParaRPr lang="en-US" sz="1275" dirty="0"/>
          </a:p>
        </p:txBody>
      </p:sp>
      <p:sp>
        <p:nvSpPr>
          <p:cNvPr id="53" name="Shape 49"/>
          <p:cNvSpPr/>
          <p:nvPr/>
        </p:nvSpPr>
        <p:spPr>
          <a:xfrm>
            <a:off x="761695" y="4853635"/>
            <a:ext cx="1591056" cy="9144"/>
          </a:xfrm>
          <a:prstGeom prst="rect">
            <a:avLst/>
          </a:prstGeom>
          <a:solidFill>
            <a:srgbClr val="16130E"/>
          </a:solidFill>
          <a:ln w="12700">
            <a:solidFill>
              <a:srgbClr val="16130E">
                <a:alpha val="0"/>
              </a:srgbClr>
            </a:solidFill>
            <a:prstDash val="solid"/>
          </a:ln>
        </p:spPr>
      </p:sp>
      <p:sp>
        <p:nvSpPr>
          <p:cNvPr id="54" name="Text 50"/>
          <p:cNvSpPr txBox="1"/>
          <p:nvPr/>
        </p:nvSpPr>
        <p:spPr>
          <a:xfrm>
            <a:off x="761695" y="4386377"/>
            <a:ext cx="1591056"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Mono" pitchFamily="34" charset="0"/>
                <a:ea typeface="IBM Plex Mono" pitchFamily="34" charset="-122"/>
                <a:cs typeface="IBM Plex Mono" pitchFamily="34" charset="-120"/>
              </a:rPr>
              <a:t>W04</a:t>
            </a:r>
            <a:endParaRPr lang="en-US" sz="1350" dirty="0"/>
          </a:p>
        </p:txBody>
      </p:sp>
      <p:sp>
        <p:nvSpPr>
          <p:cNvPr id="55" name="Shape 51"/>
          <p:cNvSpPr/>
          <p:nvPr/>
        </p:nvSpPr>
        <p:spPr>
          <a:xfrm>
            <a:off x="2347265" y="4853635"/>
            <a:ext cx="1790395" cy="9144"/>
          </a:xfrm>
          <a:prstGeom prst="rect">
            <a:avLst/>
          </a:prstGeom>
          <a:solidFill>
            <a:srgbClr val="16130E"/>
          </a:solidFill>
          <a:ln w="12700">
            <a:solidFill>
              <a:srgbClr val="16130E">
                <a:alpha val="0"/>
              </a:srgbClr>
            </a:solidFill>
            <a:prstDash val="solid"/>
          </a:ln>
        </p:spPr>
      </p:sp>
      <p:sp>
        <p:nvSpPr>
          <p:cNvPr id="56" name="Text 52"/>
          <p:cNvSpPr txBox="1"/>
          <p:nvPr/>
        </p:nvSpPr>
        <p:spPr>
          <a:xfrm>
            <a:off x="2651760" y="4386377"/>
            <a:ext cx="1486814"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Reference</a:t>
            </a:r>
            <a:endParaRPr lang="en-US" sz="1350" dirty="0"/>
          </a:p>
        </p:txBody>
      </p:sp>
      <p:sp>
        <p:nvSpPr>
          <p:cNvPr id="57" name="Shape 53"/>
          <p:cNvSpPr/>
          <p:nvPr/>
        </p:nvSpPr>
        <p:spPr>
          <a:xfrm>
            <a:off x="4129430" y="4853635"/>
            <a:ext cx="1790395" cy="9144"/>
          </a:xfrm>
          <a:prstGeom prst="rect">
            <a:avLst/>
          </a:prstGeom>
          <a:solidFill>
            <a:srgbClr val="16130E"/>
          </a:solidFill>
          <a:ln w="12700">
            <a:solidFill>
              <a:srgbClr val="16130E">
                <a:alpha val="0"/>
              </a:srgbClr>
            </a:solidFill>
            <a:prstDash val="solid"/>
          </a:ln>
        </p:spPr>
      </p:sp>
      <p:sp>
        <p:nvSpPr>
          <p:cNvPr id="58" name="Text 54"/>
          <p:cNvSpPr txBox="1"/>
          <p:nvPr/>
        </p:nvSpPr>
        <p:spPr>
          <a:xfrm>
            <a:off x="4129430" y="4386377"/>
            <a:ext cx="1791310"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8.68</a:t>
            </a:r>
            <a:endParaRPr lang="en-US" sz="1275" dirty="0"/>
          </a:p>
        </p:txBody>
      </p:sp>
      <p:sp>
        <p:nvSpPr>
          <p:cNvPr id="59" name="Shape 55"/>
          <p:cNvSpPr/>
          <p:nvPr/>
        </p:nvSpPr>
        <p:spPr>
          <a:xfrm>
            <a:off x="5912510" y="4853635"/>
            <a:ext cx="1591056" cy="9144"/>
          </a:xfrm>
          <a:prstGeom prst="rect">
            <a:avLst/>
          </a:prstGeom>
          <a:solidFill>
            <a:srgbClr val="16130E"/>
          </a:solidFill>
          <a:ln w="12700">
            <a:solidFill>
              <a:srgbClr val="16130E">
                <a:alpha val="0"/>
              </a:srgbClr>
            </a:solidFill>
            <a:prstDash val="solid"/>
          </a:ln>
        </p:spPr>
      </p:sp>
      <p:sp>
        <p:nvSpPr>
          <p:cNvPr id="60" name="Text 56"/>
          <p:cNvSpPr txBox="1"/>
          <p:nvPr/>
        </p:nvSpPr>
        <p:spPr>
          <a:xfrm>
            <a:off x="5912510" y="4386377"/>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0.36</a:t>
            </a:r>
            <a:endParaRPr lang="en-US" sz="1275" dirty="0"/>
          </a:p>
        </p:txBody>
      </p:sp>
      <p:sp>
        <p:nvSpPr>
          <p:cNvPr id="61" name="Shape 57"/>
          <p:cNvSpPr/>
          <p:nvPr/>
        </p:nvSpPr>
        <p:spPr>
          <a:xfrm>
            <a:off x="7498080" y="4853635"/>
            <a:ext cx="1591056" cy="9144"/>
          </a:xfrm>
          <a:prstGeom prst="rect">
            <a:avLst/>
          </a:prstGeom>
          <a:solidFill>
            <a:srgbClr val="16130E"/>
          </a:solidFill>
          <a:ln w="12700">
            <a:solidFill>
              <a:srgbClr val="16130E">
                <a:alpha val="0"/>
              </a:srgbClr>
            </a:solidFill>
            <a:prstDash val="solid"/>
          </a:ln>
        </p:spPr>
      </p:sp>
      <p:sp>
        <p:nvSpPr>
          <p:cNvPr id="62" name="Text 58"/>
          <p:cNvSpPr txBox="1"/>
          <p:nvPr/>
        </p:nvSpPr>
        <p:spPr>
          <a:xfrm>
            <a:off x="7498080" y="4386377"/>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0.91</a:t>
            </a:r>
            <a:endParaRPr lang="en-US" sz="1275" dirty="0"/>
          </a:p>
        </p:txBody>
      </p:sp>
      <p:sp>
        <p:nvSpPr>
          <p:cNvPr id="63" name="Shape 59"/>
          <p:cNvSpPr/>
          <p:nvPr/>
        </p:nvSpPr>
        <p:spPr>
          <a:xfrm>
            <a:off x="9082735" y="4853635"/>
            <a:ext cx="1591056" cy="9144"/>
          </a:xfrm>
          <a:prstGeom prst="rect">
            <a:avLst/>
          </a:prstGeom>
          <a:solidFill>
            <a:srgbClr val="16130E"/>
          </a:solidFill>
          <a:ln w="12700">
            <a:solidFill>
              <a:srgbClr val="16130E">
                <a:alpha val="0"/>
              </a:srgbClr>
            </a:solidFill>
            <a:prstDash val="solid"/>
          </a:ln>
        </p:spPr>
      </p:sp>
      <p:sp>
        <p:nvSpPr>
          <p:cNvPr id="64" name="Text 60"/>
          <p:cNvSpPr txBox="1"/>
          <p:nvPr/>
        </p:nvSpPr>
        <p:spPr>
          <a:xfrm>
            <a:off x="9082735" y="4386377"/>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+0.08</a:t>
            </a:r>
            <a:endParaRPr lang="en-US" sz="1275" dirty="0"/>
          </a:p>
        </p:txBody>
      </p:sp>
      <p:sp>
        <p:nvSpPr>
          <p:cNvPr id="65" name="Shape 61"/>
          <p:cNvSpPr/>
          <p:nvPr/>
        </p:nvSpPr>
        <p:spPr>
          <a:xfrm>
            <a:off x="2479853" y="3165653"/>
            <a:ext cx="95098" cy="95098"/>
          </a:xfrm>
          <a:prstGeom prst="rect">
            <a:avLst/>
          </a:prstGeom>
          <a:solidFill>
            <a:srgbClr val="155E63"/>
          </a:solidFill>
          <a:ln w="12700">
            <a:solidFill>
              <a:srgbClr val="FFFFFF">
                <a:alpha val="0"/>
              </a:srgbClr>
            </a:solidFill>
            <a:prstDash val="solid"/>
          </a:ln>
        </p:spPr>
      </p:sp>
      <p:sp>
        <p:nvSpPr>
          <p:cNvPr id="66" name="Shape 62"/>
          <p:cNvSpPr/>
          <p:nvPr/>
        </p:nvSpPr>
        <p:spPr>
          <a:xfrm>
            <a:off x="2479853" y="3642055"/>
            <a:ext cx="95098" cy="95098"/>
          </a:xfrm>
          <a:prstGeom prst="rect">
            <a:avLst/>
          </a:prstGeom>
          <a:solidFill>
            <a:srgbClr val="155E63"/>
          </a:solidFill>
          <a:ln w="12700">
            <a:solidFill>
              <a:srgbClr val="FFFFFF">
                <a:alpha val="0"/>
              </a:srgbClr>
            </a:solidFill>
            <a:prstDash val="solid"/>
          </a:ln>
        </p:spPr>
      </p:sp>
      <p:sp>
        <p:nvSpPr>
          <p:cNvPr id="67" name="Shape 63"/>
          <p:cNvSpPr/>
          <p:nvPr/>
        </p:nvSpPr>
        <p:spPr>
          <a:xfrm>
            <a:off x="2479853" y="4118458"/>
            <a:ext cx="95098" cy="95098"/>
          </a:xfrm>
          <a:prstGeom prst="rect">
            <a:avLst/>
          </a:prstGeom>
          <a:solidFill>
            <a:srgbClr val="9A4520"/>
          </a:solidFill>
          <a:ln w="12700">
            <a:solidFill>
              <a:srgbClr val="FFFFFF">
                <a:alpha val="0"/>
              </a:srgbClr>
            </a:solidFill>
            <a:prstDash val="solid"/>
          </a:ln>
        </p:spPr>
      </p:sp>
      <p:sp>
        <p:nvSpPr>
          <p:cNvPr id="68" name="Shape 64"/>
          <p:cNvSpPr/>
          <p:nvPr/>
        </p:nvSpPr>
        <p:spPr>
          <a:xfrm>
            <a:off x="2479853" y="4594860"/>
            <a:ext cx="95098" cy="95098"/>
          </a:xfrm>
          <a:prstGeom prst="rect">
            <a:avLst/>
          </a:prstGeom>
          <a:solidFill>
            <a:srgbClr val="9A4520"/>
          </a:solidFill>
          <a:ln w="12700">
            <a:solidFill>
              <a:srgbClr val="FFFFFF">
                <a:alpha val="0"/>
              </a:srgbClr>
            </a:solidFill>
            <a:prstDash val="solid"/>
          </a:ln>
        </p:spPr>
      </p:sp>
      <p:sp>
        <p:nvSpPr>
          <p:cNvPr id="69" name="Text 65"/>
          <p:cNvSpPr txBox="1"/>
          <p:nvPr/>
        </p:nvSpPr>
        <p:spPr>
          <a:xfrm>
            <a:off x="990295" y="5143500"/>
            <a:ext cx="4286707" cy="162763"/>
          </a:xfrm>
          <a:prstGeom prst="rect">
            <a:avLst/>
          </a:prstGeom>
          <a:noFill/>
          <a:ln/>
        </p:spPr>
        <p:txBody>
          <a:bodyPr wrap="none" lIns="0" tIns="0" rIns="0" bIns="0" rtlCol="0" anchor="ctr"/>
          <a:lstStyle/>
          <a:p>
            <a:pPr algn="l" indent="0" marL="0">
              <a:buNone/>
            </a:pPr>
            <a:r>
              <a:rPr lang="en-US" sz="975" spc="156" kern="0" dirty="0">
                <a:solidFill>
                  <a:srgbClr val="155E63"/>
                </a:solidFill>
                <a:latin typeface="IBM Plex Mono" pitchFamily="34" charset="0"/>
                <a:ea typeface="IBM Plex Mono" pitchFamily="34" charset="-122"/>
                <a:cs typeface="IBM Plex Mono" pitchFamily="34" charset="-120"/>
              </a:rPr>
              <a:t>AIR-GAP · AMI</a:t>
            </a:r>
            <a:endParaRPr lang="en-US" sz="975" dirty="0"/>
          </a:p>
        </p:txBody>
      </p:sp>
      <p:sp>
        <p:nvSpPr>
          <p:cNvPr id="70" name="Text 66"/>
          <p:cNvSpPr txBox="1"/>
          <p:nvPr/>
        </p:nvSpPr>
        <p:spPr>
          <a:xfrm>
            <a:off x="990295" y="5438851"/>
            <a:ext cx="4286707" cy="609905"/>
          </a:xfrm>
          <a:prstGeom prst="rect">
            <a:avLst/>
          </a:prstGeom>
          <a:noFill/>
          <a:ln/>
        </p:spPr>
        <p:txBody>
          <a:bodyPr wrap="none" lIns="0" tIns="0" rIns="0" bIns="0" rtlCol="0" anchor="ctr"/>
          <a:lstStyle/>
          <a:p>
            <a:pPr algn="l" indent="0" marL="0">
              <a:buNone/>
            </a:pPr>
            <a:r>
              <a:rPr lang="en-US" sz="4800" b="1" spc="-96" kern="0" dirty="0">
                <a:solidFill>
                  <a:srgbClr val="16130E"/>
                </a:solidFill>
                <a:latin typeface="IBM Plex Mono" pitchFamily="34" charset="0"/>
                <a:ea typeface="IBM Plex Mono" pitchFamily="34" charset="-122"/>
                <a:cs typeface="IBM Plex Mono" pitchFamily="34" charset="-120"/>
              </a:rPr>
              <a:t>0.29 nm</a:t>
            </a:r>
            <a:endParaRPr lang="en-US" sz="4800" dirty="0"/>
          </a:p>
        </p:txBody>
      </p:sp>
      <p:sp>
        <p:nvSpPr>
          <p:cNvPr id="71" name="Text 67"/>
          <p:cNvSpPr txBox="1"/>
          <p:nvPr/>
        </p:nvSpPr>
        <p:spPr>
          <a:xfrm>
            <a:off x="990295" y="6163056"/>
            <a:ext cx="4286707" cy="247802"/>
          </a:xfrm>
          <a:prstGeom prst="rect">
            <a:avLst/>
          </a:prstGeom>
          <a:noFill/>
          <a:ln/>
        </p:spPr>
        <p:txBody>
          <a:bodyPr wrap="none" lIns="0" tIns="0" rIns="0" bIns="0" rtlCol="0" anchor="ctr"/>
          <a:lstStyle/>
          <a:p>
            <a:pPr algn="l" indent="0" marL="0">
              <a:buNone/>
            </a:pPr>
            <a:r>
              <a:rPr lang="en-US" sz="1275" dirty="0">
                <a:solidFill>
                  <a:srgbClr val="3A352D"/>
                </a:solidFill>
                <a:latin typeface="IBM Plex Sans KR" pitchFamily="34" charset="0"/>
                <a:ea typeface="IBM Plex Sans KR" pitchFamily="34" charset="-122"/>
                <a:cs typeface="IBM Plex Sans KR" pitchFamily="34" charset="-120"/>
              </a:rPr>
              <a:t>Group A 평균 3σ</a:t>
            </a:r>
            <a:endParaRPr lang="en-US" sz="1275" dirty="0"/>
          </a:p>
        </p:txBody>
      </p:sp>
      <p:sp>
        <p:nvSpPr>
          <p:cNvPr id="72" name="Text 68"/>
          <p:cNvSpPr txBox="1"/>
          <p:nvPr/>
        </p:nvSpPr>
        <p:spPr>
          <a:xfrm>
            <a:off x="990295" y="6538874"/>
            <a:ext cx="4286707" cy="191110"/>
          </a:xfrm>
          <a:prstGeom prst="rect">
            <a:avLst/>
          </a:prstGeom>
          <a:noFill/>
          <a:ln/>
        </p:spPr>
        <p:txBody>
          <a:bodyPr wrap="none" lIns="0" tIns="0" rIns="0" bIns="0" rtlCol="0" anchor="ctr"/>
          <a:lstStyle/>
          <a:p>
            <a:pPr algn="l" indent="0" marL="0">
              <a:buNone/>
            </a:pPr>
            <a:r>
              <a:rPr lang="en-US" sz="1050" dirty="0">
                <a:solidFill>
                  <a:srgbClr val="756E5F"/>
                </a:solidFill>
                <a:latin typeface="IBM Plex Mono" pitchFamily="34" charset="0"/>
                <a:ea typeface="IBM Plex Mono" pitchFamily="34" charset="-122"/>
                <a:cs typeface="IBM Plex Mono" pitchFamily="34" charset="-120"/>
              </a:rPr>
              <a:t>target 대비 ±0.05 nm 이내 측정값 100 %</a:t>
            </a:r>
            <a:endParaRPr lang="en-US" sz="1050" dirty="0"/>
          </a:p>
        </p:txBody>
      </p:sp>
      <p:sp>
        <p:nvSpPr>
          <p:cNvPr id="73" name="Text 69"/>
          <p:cNvSpPr txBox="1"/>
          <p:nvPr/>
        </p:nvSpPr>
        <p:spPr>
          <a:xfrm>
            <a:off x="6133795" y="5143500"/>
            <a:ext cx="4286707" cy="162763"/>
          </a:xfrm>
          <a:prstGeom prst="rect">
            <a:avLst/>
          </a:prstGeom>
          <a:noFill/>
          <a:ln/>
        </p:spPr>
        <p:txBody>
          <a:bodyPr wrap="none" lIns="0" tIns="0" rIns="0" bIns="0" rtlCol="0" anchor="ctr"/>
          <a:lstStyle/>
          <a:p>
            <a:pPr algn="l" indent="0" marL="0">
              <a:buNone/>
            </a:pPr>
            <a:r>
              <a:rPr lang="en-US" sz="975" spc="156" kern="0" dirty="0">
                <a:solidFill>
                  <a:srgbClr val="9A4520"/>
                </a:solidFill>
                <a:latin typeface="IBM Plex Mono" pitchFamily="34" charset="0"/>
                <a:ea typeface="IBM Plex Mono" pitchFamily="34" charset="-122"/>
                <a:cs typeface="IBM Plex Mono" pitchFamily="34" charset="-120"/>
              </a:rPr>
              <a:t>REFERENCE · AMI</a:t>
            </a:r>
            <a:endParaRPr lang="en-US" sz="975" dirty="0"/>
          </a:p>
        </p:txBody>
      </p:sp>
      <p:sp>
        <p:nvSpPr>
          <p:cNvPr id="74" name="Text 70"/>
          <p:cNvSpPr txBox="1"/>
          <p:nvPr/>
        </p:nvSpPr>
        <p:spPr>
          <a:xfrm>
            <a:off x="6133795" y="5438851"/>
            <a:ext cx="4286707" cy="609905"/>
          </a:xfrm>
          <a:prstGeom prst="rect">
            <a:avLst/>
          </a:prstGeom>
          <a:noFill/>
          <a:ln/>
        </p:spPr>
        <p:txBody>
          <a:bodyPr wrap="none" lIns="0" tIns="0" rIns="0" bIns="0" rtlCol="0" anchor="ctr"/>
          <a:lstStyle/>
          <a:p>
            <a:pPr algn="l" indent="0" marL="0">
              <a:buNone/>
            </a:pPr>
            <a:r>
              <a:rPr lang="en-US" sz="4800" b="1" spc="-96" kern="0" dirty="0">
                <a:solidFill>
                  <a:srgbClr val="16130E"/>
                </a:solidFill>
                <a:latin typeface="IBM Plex Mono" pitchFamily="34" charset="0"/>
                <a:ea typeface="IBM Plex Mono" pitchFamily="34" charset="-122"/>
                <a:cs typeface="IBM Plex Mono" pitchFamily="34" charset="-120"/>
              </a:rPr>
              <a:t>0.37 nm</a:t>
            </a:r>
            <a:endParaRPr lang="en-US" sz="4800" dirty="0"/>
          </a:p>
        </p:txBody>
      </p:sp>
      <p:sp>
        <p:nvSpPr>
          <p:cNvPr id="75" name="Text 71"/>
          <p:cNvSpPr txBox="1"/>
          <p:nvPr/>
        </p:nvSpPr>
        <p:spPr>
          <a:xfrm>
            <a:off x="6133795" y="6163056"/>
            <a:ext cx="4286707" cy="247802"/>
          </a:xfrm>
          <a:prstGeom prst="rect">
            <a:avLst/>
          </a:prstGeom>
          <a:noFill/>
          <a:ln/>
        </p:spPr>
        <p:txBody>
          <a:bodyPr wrap="none" lIns="0" tIns="0" rIns="0" bIns="0" rtlCol="0" anchor="ctr"/>
          <a:lstStyle/>
          <a:p>
            <a:pPr algn="l" indent="0" marL="0">
              <a:buNone/>
            </a:pPr>
            <a:r>
              <a:rPr lang="en-US" sz="1275" dirty="0">
                <a:solidFill>
                  <a:srgbClr val="3A352D"/>
                </a:solidFill>
                <a:latin typeface="IBM Plex Sans KR" pitchFamily="34" charset="0"/>
                <a:ea typeface="IBM Plex Sans KR" pitchFamily="34" charset="-122"/>
                <a:cs typeface="IBM Plex Sans KR" pitchFamily="34" charset="-120"/>
              </a:rPr>
              <a:t>Group B 평균 3σ</a:t>
            </a:r>
            <a:endParaRPr lang="en-US" sz="1275" dirty="0"/>
          </a:p>
        </p:txBody>
      </p:sp>
      <p:sp>
        <p:nvSpPr>
          <p:cNvPr id="76" name="Text 72"/>
          <p:cNvSpPr txBox="1"/>
          <p:nvPr/>
        </p:nvSpPr>
        <p:spPr>
          <a:xfrm>
            <a:off x="6133795" y="6538874"/>
            <a:ext cx="4286707" cy="191110"/>
          </a:xfrm>
          <a:prstGeom prst="rect">
            <a:avLst/>
          </a:prstGeom>
          <a:noFill/>
          <a:ln/>
        </p:spPr>
        <p:txBody>
          <a:bodyPr wrap="none" lIns="0" tIns="0" rIns="0" bIns="0" rtlCol="0" anchor="ctr"/>
          <a:lstStyle/>
          <a:p>
            <a:pPr algn="l" indent="0" marL="0">
              <a:buNone/>
            </a:pPr>
            <a:r>
              <a:rPr lang="en-US" sz="1050" dirty="0">
                <a:solidFill>
                  <a:srgbClr val="756E5F"/>
                </a:solidFill>
                <a:latin typeface="IBM Plex Mono" pitchFamily="34" charset="0"/>
                <a:ea typeface="IBM Plex Mono" pitchFamily="34" charset="-122"/>
                <a:cs typeface="IBM Plex Mono" pitchFamily="34" charset="-120"/>
              </a:rPr>
              <a:t>target 대비 +0.10 nm 안팎 누적</a:t>
            </a:r>
            <a:endParaRPr lang="en-US" sz="1050" dirty="0"/>
          </a:p>
        </p:txBody>
      </p:sp>
      <p:sp>
        <p:nvSpPr>
          <p:cNvPr id="77" name="Text 73"/>
          <p:cNvSpPr txBox="1"/>
          <p:nvPr/>
        </p:nvSpPr>
        <p:spPr>
          <a:xfrm>
            <a:off x="11239805" y="2476195"/>
            <a:ext cx="6286500" cy="305410"/>
          </a:xfrm>
          <a:prstGeom prst="rect">
            <a:avLst/>
          </a:prstGeom>
          <a:noFill/>
          <a:ln/>
        </p:spPr>
        <p:txBody>
          <a:bodyPr wrap="none" lIns="0" tIns="0" rIns="0" bIns="0" rtlCol="0" anchor="ctr"/>
          <a:lstStyle/>
          <a:p>
            <a:pPr algn="l" indent="0" marL="0">
              <a:buNone/>
            </a:pPr>
            <a:r>
              <a:rPr lang="en-US" sz="1575" dirty="0">
                <a:solidFill>
                  <a:srgbClr val="16130E"/>
                </a:solidFill>
                <a:latin typeface="IBM Plex Sans KR" pitchFamily="34" charset="0"/>
                <a:ea typeface="IBM Plex Sans KR" pitchFamily="34" charset="-122"/>
                <a:cs typeface="IBM Plex Sans KR" pitchFamily="34" charset="-120"/>
              </a:rPr>
              <a:t>관찰</a:t>
            </a:r>
            <a:endParaRPr lang="en-US" sz="1575" dirty="0"/>
          </a:p>
        </p:txBody>
      </p:sp>
      <p:sp>
        <p:nvSpPr>
          <p:cNvPr id="78" name="Text 74"/>
          <p:cNvSpPr txBox="1"/>
          <p:nvPr/>
        </p:nvSpPr>
        <p:spPr>
          <a:xfrm>
            <a:off x="11239805" y="2915107"/>
            <a:ext cx="6286500" cy="534010"/>
          </a:xfrm>
          <a:prstGeom prst="rect">
            <a:avLst/>
          </a:prstGeom>
          <a:noFill/>
          <a:ln/>
        </p:spPr>
        <p:txBody>
          <a:bodyPr wrap="square" lIns="0" tIns="0" rIns="0" bIns="0" rtlCol="0" anchor="ctr"/>
          <a:lstStyle/>
          <a:p>
            <a:pPr algn="l" indent="0" marL="0">
              <a:lnSpc>
                <a:spcPts val="2092"/>
              </a:lnSpc>
              <a:buNone/>
            </a:pPr>
            <a:r>
              <a:rPr lang="en-US" sz="1350" dirty="0">
                <a:solidFill>
                  <a:srgbClr val="3A352D"/>
                </a:solidFill>
                <a:latin typeface="IBM Plex Sans KR" pitchFamily="34" charset="0"/>
                <a:ea typeface="IBM Plex Sans KR" pitchFamily="34" charset="-122"/>
                <a:cs typeface="IBM Plex Sans KR" pitchFamily="34" charset="-120"/>
              </a:rPr>
              <a:t>AMI 기준 8.6 nm target에서 Group A 평균 8.60 nm, Group B 평균 8.70 nm. 그룹 평균 차이는 0.10 nm, 3σ 차이는 0.08 nm 수준으로 두 wafer 모두 절대값이 target에 근접.</a:t>
            </a:r>
            <a:endParaRPr lang="en-US" sz="1350" dirty="0"/>
          </a:p>
        </p:txBody>
      </p:sp>
      <p:sp>
        <p:nvSpPr>
          <p:cNvPr id="79" name="Text 75"/>
          <p:cNvSpPr txBox="1"/>
          <p:nvPr/>
        </p:nvSpPr>
        <p:spPr>
          <a:xfrm>
            <a:off x="11239805" y="3617366"/>
            <a:ext cx="6286500" cy="305410"/>
          </a:xfrm>
          <a:prstGeom prst="rect">
            <a:avLst/>
          </a:prstGeom>
          <a:noFill/>
          <a:ln/>
        </p:spPr>
        <p:txBody>
          <a:bodyPr wrap="none" lIns="0" tIns="0" rIns="0" bIns="0" rtlCol="0" anchor="ctr"/>
          <a:lstStyle/>
          <a:p>
            <a:pPr algn="l" indent="0" marL="0">
              <a:buNone/>
            </a:pPr>
            <a:r>
              <a:rPr lang="en-US" sz="1575" dirty="0">
                <a:solidFill>
                  <a:srgbClr val="16130E"/>
                </a:solidFill>
                <a:latin typeface="IBM Plex Sans KR" pitchFamily="34" charset="0"/>
                <a:ea typeface="IBM Plex Sans KR" pitchFamily="34" charset="-122"/>
                <a:cs typeface="IBM Plex Sans KR" pitchFamily="34" charset="-120"/>
              </a:rPr>
              <a:t>EPE-Budget 얘기로 환산</a:t>
            </a:r>
            <a:endParaRPr lang="en-US" sz="1575" dirty="0"/>
          </a:p>
        </p:txBody>
      </p:sp>
      <p:sp>
        <p:nvSpPr>
          <p:cNvPr id="80" name="Text 76"/>
          <p:cNvSpPr txBox="1"/>
          <p:nvPr/>
        </p:nvSpPr>
        <p:spPr>
          <a:xfrm>
            <a:off x="11239805" y="4055364"/>
            <a:ext cx="6286500" cy="534010"/>
          </a:xfrm>
          <a:prstGeom prst="rect">
            <a:avLst/>
          </a:prstGeom>
          <a:noFill/>
          <a:ln/>
        </p:spPr>
        <p:txBody>
          <a:bodyPr wrap="square" lIns="0" tIns="0" rIns="0" bIns="0" rtlCol="0" anchor="ctr"/>
          <a:lstStyle/>
          <a:p>
            <a:pPr algn="l" indent="0" marL="0">
              <a:lnSpc>
                <a:spcPts val="2092"/>
              </a:lnSpc>
              <a:buNone/>
            </a:pPr>
            <a:r>
              <a:rPr lang="en-US" sz="1350" dirty="0">
                <a:solidFill>
                  <a:srgbClr val="3A352D"/>
                </a:solidFill>
                <a:latin typeface="IBM Plex Sans KR" pitchFamily="34" charset="0"/>
                <a:ea typeface="IBM Plex Sans KR" pitchFamily="34" charset="-122"/>
                <a:cs typeface="IBM Plex Sans KR" pitchFamily="34" charset="-120"/>
              </a:rPr>
              <a:t>0.5 nm 한계에서 본 AMI 측값 분포는 Group A wafer는 budget의 약 58 %를 점유, Group B wafer는 약 74 % 점유 — Reference 쪽이 EPE 한계에 약 16 %p 더 가까워진다.</a:t>
            </a:r>
            <a:endParaRPr lang="en-US" sz="1350" dirty="0"/>
          </a:p>
        </p:txBody>
      </p:sp>
      <p:sp>
        <p:nvSpPr>
          <p:cNvPr id="81" name="Text 77"/>
          <p:cNvSpPr txBox="1"/>
          <p:nvPr/>
        </p:nvSpPr>
        <p:spPr>
          <a:xfrm>
            <a:off x="11239805" y="4758538"/>
            <a:ext cx="6286500" cy="305410"/>
          </a:xfrm>
          <a:prstGeom prst="rect">
            <a:avLst/>
          </a:prstGeom>
          <a:noFill/>
          <a:ln/>
        </p:spPr>
        <p:txBody>
          <a:bodyPr wrap="none" lIns="0" tIns="0" rIns="0" bIns="0" rtlCol="0" anchor="ctr"/>
          <a:lstStyle/>
          <a:p>
            <a:pPr algn="l" indent="0" marL="0">
              <a:buNone/>
            </a:pPr>
            <a:r>
              <a:rPr lang="en-US" sz="1575" dirty="0">
                <a:solidFill>
                  <a:srgbClr val="16130E"/>
                </a:solidFill>
                <a:latin typeface="IBM Plex Sans KR" pitchFamily="34" charset="0"/>
                <a:ea typeface="IBM Plex Sans KR" pitchFamily="34" charset="-122"/>
                <a:cs typeface="IBM Plex Sans KR" pitchFamily="34" charset="-120"/>
              </a:rPr>
              <a:t>이전 단계와의 비교</a:t>
            </a:r>
            <a:endParaRPr lang="en-US" sz="1575" dirty="0"/>
          </a:p>
        </p:txBody>
      </p:sp>
      <p:sp>
        <p:nvSpPr>
          <p:cNvPr id="82" name="Text 78"/>
          <p:cNvSpPr txBox="1"/>
          <p:nvPr/>
        </p:nvSpPr>
        <p:spPr>
          <a:xfrm>
            <a:off x="11239805" y="5196535"/>
            <a:ext cx="6286500" cy="534010"/>
          </a:xfrm>
          <a:prstGeom prst="rect">
            <a:avLst/>
          </a:prstGeom>
          <a:noFill/>
          <a:ln/>
        </p:spPr>
        <p:txBody>
          <a:bodyPr wrap="square" lIns="0" tIns="0" rIns="0" bIns="0" rtlCol="0" anchor="ctr"/>
          <a:lstStyle/>
          <a:p>
            <a:pPr algn="l" indent="0" marL="0">
              <a:lnSpc>
                <a:spcPts val="2092"/>
              </a:lnSpc>
              <a:buNone/>
            </a:pPr>
            <a:r>
              <a:rPr lang="en-US" sz="1350" dirty="0">
                <a:solidFill>
                  <a:srgbClr val="3A352D"/>
                </a:solidFill>
                <a:latin typeface="IBM Plex Sans KR" pitchFamily="34" charset="0"/>
                <a:ea typeface="IBM Plex Sans KR" pitchFamily="34" charset="-122"/>
                <a:cs typeface="IBM Plex Sans KR" pitchFamily="34" charset="-120"/>
              </a:rPr>
              <a:t>AASI 대비 절대 CD는 약 1/3 수준으로 줄어들지만 절대 변동 폭(0.29 vs 0.37 nm)도 함께 줄어, 두 그룹의 상대적 차이는 nominal 대비 환산 시 비슷하게 유지된다.</a:t>
            </a:r>
            <a:endParaRPr lang="en-US" sz="1350" dirty="0"/>
          </a:p>
        </p:txBody>
      </p:sp>
      <p:sp>
        <p:nvSpPr>
          <p:cNvPr id="83" name="Text 79"/>
          <p:cNvSpPr txBox="1"/>
          <p:nvPr/>
        </p:nvSpPr>
        <p:spPr>
          <a:xfrm>
            <a:off x="761695" y="8524951"/>
            <a:ext cx="16764610" cy="333756"/>
          </a:xfrm>
          <a:prstGeom prst="rect">
            <a:avLst/>
          </a:prstGeom>
          <a:noFill/>
          <a:ln/>
        </p:spPr>
        <p:txBody>
          <a:bodyPr wrap="none" lIns="0" tIns="0" rIns="0" bIns="0" rtlCol="0" anchor="ctr"/>
          <a:lstStyle/>
          <a:p>
            <a:pPr algn="l" indent="0" marL="0">
              <a:buNone/>
            </a:pPr>
            <a:r>
              <a:rPr lang="en-US" sz="1800" dirty="0">
                <a:solidFill>
                  <a:srgbClr val="16130E"/>
                </a:solidFill>
                <a:latin typeface="IBM Plex Sans KR" pitchFamily="34" charset="0"/>
                <a:ea typeface="IBM Plex Sans KR" pitchFamily="34" charset="-122"/>
                <a:cs typeface="IBM Plex Sans KR" pitchFamily="34" charset="-120"/>
              </a:rPr>
              <a:t>AMI 8.6 nm 단계에서 Group A는 3σ 0.29 nm · target ±0.02 nm 안팎, Group B는 3σ 0.37 nm · +0.09 ~ +0.11 nm 양의 편향 잔존.</a:t>
            </a:r>
            <a:endParaRPr lang="en-US" sz="1800" dirty="0"/>
          </a:p>
        </p:txBody>
      </p:sp>
      <p:sp>
        <p:nvSpPr>
          <p:cNvPr id="84" name="Shape 80"/>
          <p:cNvSpPr/>
          <p:nvPr/>
        </p:nvSpPr>
        <p:spPr>
          <a:xfrm>
            <a:off x="761695" y="8524951"/>
            <a:ext cx="133502" cy="133502"/>
          </a:xfrm>
          <a:prstGeom prst="rect">
            <a:avLst/>
          </a:prstGeom>
          <a:solidFill>
            <a:srgbClr val="BD4A22"/>
          </a:solidFill>
          <a:ln w="12700">
            <a:solidFill>
              <a:srgbClr val="FFFFFF">
                <a:alpha val="0"/>
              </a:srgbClr>
            </a:solidFill>
            <a:prstDash val="solid"/>
          </a:ln>
        </p:spPr>
      </p:sp>
      <p:sp>
        <p:nvSpPr>
          <p:cNvPr id="85" name="Text 81"/>
          <p:cNvSpPr txBox="1"/>
          <p:nvPr/>
        </p:nvSpPr>
        <p:spPr>
          <a:xfrm>
            <a:off x="761695" y="9715500"/>
            <a:ext cx="16764610" cy="191110"/>
          </a:xfrm>
          <a:prstGeom prst="rect">
            <a:avLst/>
          </a:prstGeom>
          <a:noFill/>
          <a:ln/>
        </p:spPr>
        <p:txBody>
          <a:bodyPr wrap="none" lIns="0" tIns="0" rIns="0" bIns="0" rtlCol="0" anchor="ctr"/>
          <a:lstStyle/>
          <a:p>
            <a:pPr algn="l" indent="0" marL="0">
              <a:buNone/>
            </a:pPr>
            <a:r>
              <a:rPr lang="en-US" sz="1050" spc="42" kern="0" dirty="0">
                <a:solidFill>
                  <a:srgbClr val="756E5F"/>
                </a:solidFill>
                <a:latin typeface="IBM Plex Mono" pitchFamily="34" charset="0"/>
                <a:ea typeface="IBM Plex Mono" pitchFamily="34" charset="-122"/>
                <a:cs typeface="IBM Plex Mono" pitchFamily="34" charset="-120"/>
              </a:rPr>
              <a:t>※ 내부 테스트용 더미(가상) 데이터</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ECE1"/>
        </a:solidFill>
      </p:bgPr>
    </p:bg>
    <p:spTree>
      <p:nvGrpSpPr>
        <p:cNvPr id="1" name=""/>
        <p:cNvGrpSpPr/>
        <p:nvPr/>
      </p:nvGrpSpPr>
      <p:grpSpPr>
        <a:xfrm>
          <a:off x="0" y="0"/>
          <a:ext cx="0" cy="0"/>
          <a:chOff x="0" y="0"/>
          <a:chExt cx="0" cy="0"/>
        </a:xfrm>
      </p:grpSpPr>
      <p:pic>
        <p:nvPicPr>
          <p:cNvPr id="3" name="Image 0" descr="gen-dedup-ddc72069e50c60be25b8eb9ead861247.png">    </p:cNvPr>
          <p:cNvPicPr>
            <a:picLocks noChangeAspect="1"/>
          </p:cNvPicPr>
          <p:nvPr/>
        </p:nvPicPr>
        <p:blipFill>
          <a:blip r:embed="rId1"/>
          <a:srcRect l="-422" r="-422" t="0" b="0"/>
          <a:stretch/>
        </p:blipFill>
        <p:spPr>
          <a:xfrm>
            <a:off x="761695" y="2171700"/>
            <a:ext cx="838505" cy="28346"/>
          </a:xfrm>
          <a:prstGeom prst="rect">
            <a:avLst/>
          </a:prstGeom>
        </p:spPr>
      </p:pic>
      <p:sp>
        <p:nvSpPr>
          <p:cNvPr id="4" name="Shape 0"/>
          <p:cNvSpPr/>
          <p:nvPr/>
        </p:nvSpPr>
        <p:spPr>
          <a:xfrm>
            <a:off x="761695" y="4953305"/>
            <a:ext cx="9905695" cy="2857500"/>
          </a:xfrm>
          <a:prstGeom prst="roundRect">
            <a:avLst>
              <a:gd name="adj" fmla="val 2016"/>
            </a:avLst>
          </a:prstGeom>
          <a:solidFill>
            <a:srgbClr val="FAF6EA"/>
          </a:solidFill>
          <a:ln w="12700">
            <a:solidFill>
              <a:srgbClr val="D6CFBB"/>
            </a:solidFill>
            <a:prstDash val="solid"/>
          </a:ln>
        </p:spPr>
      </p:sp>
      <p:sp>
        <p:nvSpPr>
          <p:cNvPr id="5" name="Text 1"/>
          <p:cNvSpPr txBox="1"/>
          <p:nvPr/>
        </p:nvSpPr>
        <p:spPr>
          <a:xfrm>
            <a:off x="761695" y="761695"/>
            <a:ext cx="5715000" cy="191110"/>
          </a:xfrm>
          <a:prstGeom prst="rect">
            <a:avLst/>
          </a:prstGeom>
          <a:noFill/>
          <a:ln/>
        </p:spPr>
        <p:txBody>
          <a:bodyPr wrap="none" lIns="0" tIns="0" rIns="0" bIns="0" rtlCol="0" anchor="ctr"/>
          <a:lstStyle/>
          <a:p>
            <a:pPr algn="l" indent="0" marL="0">
              <a:buNone/>
            </a:pPr>
            <a:r>
              <a:rPr lang="en-US" sz="1050" spc="189" kern="0" dirty="0">
                <a:solidFill>
                  <a:srgbClr val="756E5F"/>
                </a:solidFill>
                <a:latin typeface="IBM Plex Mono" pitchFamily="34" charset="0"/>
                <a:ea typeface="IBM Plex Mono" pitchFamily="34" charset="-122"/>
                <a:cs typeface="IBM Plex Mono" pitchFamily="34" charset="-120"/>
              </a:rPr>
              <a:t>08 · CD 변동성 (최종)</a:t>
            </a:r>
            <a:endParaRPr lang="en-US" sz="1050" dirty="0"/>
          </a:p>
        </p:txBody>
      </p:sp>
      <p:sp>
        <p:nvSpPr>
          <p:cNvPr id="6" name="Text 2"/>
          <p:cNvSpPr txBox="1"/>
          <p:nvPr/>
        </p:nvSpPr>
        <p:spPr>
          <a:xfrm>
            <a:off x="761695" y="1143000"/>
            <a:ext cx="16193110" cy="523951"/>
          </a:xfrm>
          <a:prstGeom prst="rect">
            <a:avLst/>
          </a:prstGeom>
          <a:noFill/>
          <a:ln/>
        </p:spPr>
        <p:txBody>
          <a:bodyPr wrap="none" lIns="0" tIns="0" rIns="0" bIns="0" rtlCol="0" anchor="ctr"/>
          <a:lstStyle/>
          <a:p>
            <a:pPr algn="l" indent="0" marL="0">
              <a:buNone/>
            </a:pPr>
            <a:r>
              <a:rPr lang="en-US" sz="3750" b="1" spc="-75" kern="0" dirty="0">
                <a:solidFill>
                  <a:srgbClr val="16130E"/>
                </a:solidFill>
                <a:latin typeface="IBM Plex Sans KR" pitchFamily="34" charset="0"/>
                <a:ea typeface="IBM Plex Sans KR" pitchFamily="34" charset="-122"/>
                <a:cs typeface="IBM Plex Sans KR" pitchFamily="34" charset="-120"/>
              </a:rPr>
              <a:t>ACI CD Variation</a:t>
            </a:r>
            <a:endParaRPr lang="en-US" sz="3750" dirty="0"/>
          </a:p>
        </p:txBody>
      </p:sp>
      <p:sp>
        <p:nvSpPr>
          <p:cNvPr id="7" name="Text 3"/>
          <p:cNvSpPr txBox="1"/>
          <p:nvPr/>
        </p:nvSpPr>
        <p:spPr>
          <a:xfrm>
            <a:off x="761695" y="1762049"/>
            <a:ext cx="16193110" cy="286207"/>
          </a:xfrm>
          <a:prstGeom prst="rect">
            <a:avLst/>
          </a:prstGeom>
          <a:noFill/>
          <a:ln/>
        </p:spPr>
        <p:txBody>
          <a:bodyPr wrap="none" lIns="0" tIns="0" rIns="0" bIns="0" rtlCol="0" anchor="ctr"/>
          <a:lstStyle/>
          <a:p>
            <a:pPr algn="l" indent="0" marL="0">
              <a:buNone/>
            </a:pPr>
            <a:r>
              <a:rPr lang="en-US" sz="1500" dirty="0">
                <a:solidFill>
                  <a:srgbClr val="756E5F"/>
                </a:solidFill>
                <a:latin typeface="IBM Plex Sans KR" pitchFamily="34" charset="0"/>
                <a:ea typeface="IBM Plex Sans KR" pitchFamily="34" charset="-122"/>
                <a:cs typeface="IBM Plex Sans KR" pitchFamily="34" charset="-120"/>
              </a:rPr>
              <a:t>target </a:t>
            </a:r>
            <a:pPr algn="l" indent="0" marL="0">
              <a:buNone/>
            </a:pPr>
            <a:r>
              <a:rPr lang="en-US" sz="1500" dirty="0">
                <a:solidFill>
                  <a:srgbClr val="16130E"/>
                </a:solidFill>
                <a:latin typeface="IBM Plex Mono" pitchFamily="34" charset="0"/>
                <a:ea typeface="IBM Plex Mono" pitchFamily="34" charset="-122"/>
                <a:cs typeface="IBM Plex Mono" pitchFamily="34" charset="-120"/>
              </a:rPr>
              <a:t>8.6 nm</a:t>
            </a:r>
            <a:pPr algn="l" indent="0" marL="0">
              <a:buNone/>
            </a:pPr>
            <a:r>
              <a:rPr lang="en-US" sz="1500" dirty="0">
                <a:solidFill>
                  <a:srgbClr val="756E5F"/>
                </a:solidFill>
                <a:latin typeface="IBM Plex Sans KR" pitchFamily="34" charset="0"/>
                <a:ea typeface="IBM Plex Sans KR" pitchFamily="34" charset="-122"/>
                <a:cs typeface="IBM Plex Sans KR" pitchFamily="34" charset="-120"/>
              </a:rPr>
              <a:t> · wafer별 mean / 3σ / range / Δ — M3 라인 최종 측정 단계</a:t>
            </a:r>
            <a:endParaRPr lang="en-US" sz="1500" dirty="0"/>
          </a:p>
        </p:txBody>
      </p:sp>
      <p:sp>
        <p:nvSpPr>
          <p:cNvPr id="8" name="Text 4"/>
          <p:cNvSpPr txBox="1"/>
          <p:nvPr/>
        </p:nvSpPr>
        <p:spPr>
          <a:xfrm>
            <a:off x="761695" y="2481682"/>
            <a:ext cx="1591056" cy="476402"/>
          </a:xfrm>
          <a:prstGeom prst="rect">
            <a:avLst/>
          </a:prstGeom>
          <a:solidFill>
            <a:srgbClr val="155E63">
              <a:alpha val="6000"/>
            </a:srgbClr>
          </a:solidFill>
          <a:ln w="12700">
            <a:solidFill>
              <a:srgbClr val="16130E"/>
            </a:solidFill>
          </a:ln>
        </p:spPr>
        <p:txBody>
          <a:bodyPr wrap="none" lIns="139700" tIns="101600" rIns="139700" bIns="101600" rtlCol="0" anchor="ctr"/>
          <a:lstStyle/>
          <a:p>
            <a:pPr algn="l" indent="0" marL="0">
              <a:buNone/>
            </a:pPr>
            <a:r>
              <a:rPr lang="en-US" sz="1350" b="1" dirty="0">
                <a:solidFill>
                  <a:srgbClr val="16130E"/>
                </a:solidFill>
                <a:latin typeface="IBM Plex Sans KR" pitchFamily="34" charset="0"/>
                <a:ea typeface="IBM Plex Sans KR" pitchFamily="34" charset="-122"/>
                <a:cs typeface="IBM Plex Sans KR" pitchFamily="34" charset="-120"/>
              </a:rPr>
              <a:t>Wafer</a:t>
            </a:r>
            <a:endParaRPr lang="en-US" sz="1350" dirty="0"/>
          </a:p>
        </p:txBody>
      </p:sp>
      <p:sp>
        <p:nvSpPr>
          <p:cNvPr id="9" name="Text 5"/>
          <p:cNvSpPr txBox="1"/>
          <p:nvPr/>
        </p:nvSpPr>
        <p:spPr>
          <a:xfrm>
            <a:off x="2347265" y="2481682"/>
            <a:ext cx="1791310" cy="476402"/>
          </a:xfrm>
          <a:prstGeom prst="rect">
            <a:avLst/>
          </a:prstGeom>
          <a:solidFill>
            <a:srgbClr val="155E63">
              <a:alpha val="6000"/>
            </a:srgbClr>
          </a:solidFill>
          <a:ln w="12700">
            <a:solidFill>
              <a:srgbClr val="16130E"/>
            </a:solidFill>
          </a:ln>
        </p:spPr>
        <p:txBody>
          <a:bodyPr wrap="none" lIns="139700" tIns="101600" rIns="139700" bIns="101600" rtlCol="0" anchor="ctr"/>
          <a:lstStyle/>
          <a:p>
            <a:pPr algn="l" indent="0" marL="0">
              <a:buNone/>
            </a:pPr>
            <a:r>
              <a:rPr lang="en-US" sz="1350" b="1" dirty="0">
                <a:solidFill>
                  <a:srgbClr val="16130E"/>
                </a:solidFill>
                <a:latin typeface="IBM Plex Sans KR" pitchFamily="34" charset="0"/>
                <a:ea typeface="IBM Plex Sans KR" pitchFamily="34" charset="-122"/>
                <a:cs typeface="IBM Plex Sans KR" pitchFamily="34" charset="-120"/>
              </a:rPr>
              <a:t>Group</a:t>
            </a:r>
            <a:endParaRPr lang="en-US" sz="1350" dirty="0"/>
          </a:p>
        </p:txBody>
      </p:sp>
      <p:sp>
        <p:nvSpPr>
          <p:cNvPr id="10" name="Text 6"/>
          <p:cNvSpPr txBox="1"/>
          <p:nvPr/>
        </p:nvSpPr>
        <p:spPr>
          <a:xfrm>
            <a:off x="4129430" y="2481682"/>
            <a:ext cx="1791310" cy="476402"/>
          </a:xfrm>
          <a:prstGeom prst="rect">
            <a:avLst/>
          </a:prstGeom>
          <a:solidFill>
            <a:srgbClr val="155E63">
              <a:alpha val="6000"/>
            </a:srgbClr>
          </a:solidFill>
          <a:ln w="12700">
            <a:solidFill>
              <a:srgbClr val="16130E"/>
            </a:solidFill>
          </a:ln>
        </p:spPr>
        <p:txBody>
          <a:bodyPr wrap="square" lIns="139700" tIns="101600" rIns="139700" bIns="101600" rtlCol="0" anchor="ctr"/>
          <a:lstStyle/>
          <a:p>
            <a:pPr algn="r" indent="0" marL="0">
              <a:buNone/>
            </a:pPr>
            <a:r>
              <a:rPr lang="en-US" sz="1275" b="1" dirty="0">
                <a:solidFill>
                  <a:srgbClr val="16130E"/>
                </a:solidFill>
                <a:latin typeface="IBM Plex Mono" pitchFamily="34" charset="0"/>
                <a:ea typeface="IBM Plex Mono" pitchFamily="34" charset="-122"/>
                <a:cs typeface="IBM Plex Mono" pitchFamily="34" charset="-120"/>
              </a:rPr>
              <a:t>Mean (nm)</a:t>
            </a:r>
            <a:endParaRPr lang="en-US" sz="1275" dirty="0"/>
          </a:p>
        </p:txBody>
      </p:sp>
      <p:sp>
        <p:nvSpPr>
          <p:cNvPr id="11" name="Text 7"/>
          <p:cNvSpPr txBox="1"/>
          <p:nvPr/>
        </p:nvSpPr>
        <p:spPr>
          <a:xfrm>
            <a:off x="5912510" y="2481682"/>
            <a:ext cx="1591056" cy="476402"/>
          </a:xfrm>
          <a:prstGeom prst="rect">
            <a:avLst/>
          </a:prstGeom>
          <a:solidFill>
            <a:srgbClr val="155E63">
              <a:alpha val="6000"/>
            </a:srgbClr>
          </a:solidFill>
          <a:ln w="12700">
            <a:solidFill>
              <a:srgbClr val="16130E"/>
            </a:solidFill>
          </a:ln>
        </p:spPr>
        <p:txBody>
          <a:bodyPr wrap="square" lIns="139700" tIns="101600" rIns="139700" bIns="101600" rtlCol="0" anchor="ctr"/>
          <a:lstStyle/>
          <a:p>
            <a:pPr algn="r" indent="0" marL="0">
              <a:buNone/>
            </a:pPr>
            <a:r>
              <a:rPr lang="en-US" sz="1275" b="1" dirty="0">
                <a:solidFill>
                  <a:srgbClr val="16130E"/>
                </a:solidFill>
                <a:latin typeface="IBM Plex Mono" pitchFamily="34" charset="0"/>
                <a:ea typeface="IBM Plex Mono" pitchFamily="34" charset="-122"/>
                <a:cs typeface="IBM Plex Mono" pitchFamily="34" charset="-120"/>
              </a:rPr>
              <a:t>3σ (nm)</a:t>
            </a:r>
            <a:endParaRPr lang="en-US" sz="1275" dirty="0"/>
          </a:p>
        </p:txBody>
      </p:sp>
      <p:sp>
        <p:nvSpPr>
          <p:cNvPr id="12" name="Text 8"/>
          <p:cNvSpPr txBox="1"/>
          <p:nvPr/>
        </p:nvSpPr>
        <p:spPr>
          <a:xfrm>
            <a:off x="7498080" y="2481682"/>
            <a:ext cx="1591056" cy="476402"/>
          </a:xfrm>
          <a:prstGeom prst="rect">
            <a:avLst/>
          </a:prstGeom>
          <a:solidFill>
            <a:srgbClr val="155E63">
              <a:alpha val="6000"/>
            </a:srgbClr>
          </a:solidFill>
          <a:ln w="12700">
            <a:solidFill>
              <a:srgbClr val="16130E"/>
            </a:solidFill>
          </a:ln>
        </p:spPr>
        <p:txBody>
          <a:bodyPr wrap="square" lIns="139700" tIns="101600" rIns="139700" bIns="101600" rtlCol="0" anchor="ctr"/>
          <a:lstStyle/>
          <a:p>
            <a:pPr algn="r" indent="0" marL="0">
              <a:buNone/>
            </a:pPr>
            <a:r>
              <a:rPr lang="en-US" sz="1275" b="1" dirty="0">
                <a:solidFill>
                  <a:srgbClr val="16130E"/>
                </a:solidFill>
                <a:latin typeface="IBM Plex Mono" pitchFamily="34" charset="0"/>
                <a:ea typeface="IBM Plex Mono" pitchFamily="34" charset="-122"/>
                <a:cs typeface="IBM Plex Mono" pitchFamily="34" charset="-120"/>
              </a:rPr>
              <a:t>Range (nm)</a:t>
            </a:r>
            <a:endParaRPr lang="en-US" sz="1275" dirty="0"/>
          </a:p>
        </p:txBody>
      </p:sp>
      <p:sp>
        <p:nvSpPr>
          <p:cNvPr id="13" name="Text 9"/>
          <p:cNvSpPr txBox="1"/>
          <p:nvPr/>
        </p:nvSpPr>
        <p:spPr>
          <a:xfrm>
            <a:off x="9082735" y="2481682"/>
            <a:ext cx="1591056" cy="476402"/>
          </a:xfrm>
          <a:prstGeom prst="rect">
            <a:avLst/>
          </a:prstGeom>
          <a:solidFill>
            <a:srgbClr val="155E63">
              <a:alpha val="6000"/>
            </a:srgbClr>
          </a:solidFill>
          <a:ln w="12700">
            <a:solidFill>
              <a:srgbClr val="16130E"/>
            </a:solidFill>
          </a:ln>
        </p:spPr>
        <p:txBody>
          <a:bodyPr wrap="square" lIns="139700" tIns="101600" rIns="139700" bIns="101600" rtlCol="0" anchor="ctr"/>
          <a:lstStyle/>
          <a:p>
            <a:pPr algn="r" indent="0" marL="0">
              <a:buNone/>
            </a:pPr>
            <a:r>
              <a:rPr lang="en-US" sz="1275" b="1" dirty="0">
                <a:solidFill>
                  <a:srgbClr val="16130E"/>
                </a:solidFill>
                <a:latin typeface="IBM Plex Mono" pitchFamily="34" charset="0"/>
                <a:ea typeface="IBM Plex Mono" pitchFamily="34" charset="-122"/>
                <a:cs typeface="IBM Plex Mono" pitchFamily="34" charset="-120"/>
              </a:rPr>
              <a:t>Δ vs target</a:t>
            </a:r>
            <a:endParaRPr lang="en-US" sz="1275" dirty="0"/>
          </a:p>
        </p:txBody>
      </p:sp>
      <p:sp>
        <p:nvSpPr>
          <p:cNvPr id="14" name="Shape 10"/>
          <p:cNvSpPr/>
          <p:nvPr/>
        </p:nvSpPr>
        <p:spPr>
          <a:xfrm>
            <a:off x="761695" y="3424428"/>
            <a:ext cx="1591056" cy="9144"/>
          </a:xfrm>
          <a:prstGeom prst="rect">
            <a:avLst/>
          </a:prstGeom>
          <a:solidFill>
            <a:srgbClr val="C7BFA8"/>
          </a:solidFill>
          <a:ln w="12700">
            <a:solidFill>
              <a:srgbClr val="C7BFA8">
                <a:alpha val="0"/>
              </a:srgbClr>
            </a:solidFill>
            <a:prstDash val="solid"/>
          </a:ln>
        </p:spPr>
      </p:sp>
      <p:sp>
        <p:nvSpPr>
          <p:cNvPr id="15" name="Text 11"/>
          <p:cNvSpPr txBox="1"/>
          <p:nvPr/>
        </p:nvSpPr>
        <p:spPr>
          <a:xfrm>
            <a:off x="761695" y="2957170"/>
            <a:ext cx="1591056"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Mono" pitchFamily="34" charset="0"/>
                <a:ea typeface="IBM Plex Mono" pitchFamily="34" charset="-122"/>
                <a:cs typeface="IBM Plex Mono" pitchFamily="34" charset="-120"/>
              </a:rPr>
              <a:t>W01</a:t>
            </a:r>
            <a:endParaRPr lang="en-US" sz="1350" dirty="0"/>
          </a:p>
        </p:txBody>
      </p:sp>
      <p:sp>
        <p:nvSpPr>
          <p:cNvPr id="16" name="Shape 12"/>
          <p:cNvSpPr/>
          <p:nvPr/>
        </p:nvSpPr>
        <p:spPr>
          <a:xfrm>
            <a:off x="2347265" y="3424428"/>
            <a:ext cx="1790395" cy="9144"/>
          </a:xfrm>
          <a:prstGeom prst="rect">
            <a:avLst/>
          </a:prstGeom>
          <a:solidFill>
            <a:srgbClr val="C7BFA8"/>
          </a:solidFill>
          <a:ln w="12700">
            <a:solidFill>
              <a:srgbClr val="C7BFA8">
                <a:alpha val="0"/>
              </a:srgbClr>
            </a:solidFill>
            <a:prstDash val="solid"/>
          </a:ln>
        </p:spPr>
      </p:sp>
      <p:sp>
        <p:nvSpPr>
          <p:cNvPr id="17" name="Text 13"/>
          <p:cNvSpPr txBox="1"/>
          <p:nvPr/>
        </p:nvSpPr>
        <p:spPr>
          <a:xfrm>
            <a:off x="2651760" y="2957170"/>
            <a:ext cx="1486814"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Air gap</a:t>
            </a:r>
            <a:endParaRPr lang="en-US" sz="1350" dirty="0"/>
          </a:p>
        </p:txBody>
      </p:sp>
      <p:sp>
        <p:nvSpPr>
          <p:cNvPr id="18" name="Shape 14"/>
          <p:cNvSpPr/>
          <p:nvPr/>
        </p:nvSpPr>
        <p:spPr>
          <a:xfrm>
            <a:off x="4129430" y="3424428"/>
            <a:ext cx="1790395" cy="9144"/>
          </a:xfrm>
          <a:prstGeom prst="rect">
            <a:avLst/>
          </a:prstGeom>
          <a:solidFill>
            <a:srgbClr val="C7BFA8"/>
          </a:solidFill>
          <a:ln w="12700">
            <a:solidFill>
              <a:srgbClr val="C7BFA8">
                <a:alpha val="0"/>
              </a:srgbClr>
            </a:solidFill>
            <a:prstDash val="solid"/>
          </a:ln>
        </p:spPr>
      </p:sp>
      <p:sp>
        <p:nvSpPr>
          <p:cNvPr id="19" name="Text 15"/>
          <p:cNvSpPr txBox="1"/>
          <p:nvPr/>
        </p:nvSpPr>
        <p:spPr>
          <a:xfrm>
            <a:off x="4129430" y="2957170"/>
            <a:ext cx="1791310"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8.59</a:t>
            </a:r>
            <a:endParaRPr lang="en-US" sz="1275" dirty="0"/>
          </a:p>
        </p:txBody>
      </p:sp>
      <p:sp>
        <p:nvSpPr>
          <p:cNvPr id="20" name="Shape 16"/>
          <p:cNvSpPr/>
          <p:nvPr/>
        </p:nvSpPr>
        <p:spPr>
          <a:xfrm>
            <a:off x="5912510" y="3424428"/>
            <a:ext cx="1591056" cy="9144"/>
          </a:xfrm>
          <a:prstGeom prst="rect">
            <a:avLst/>
          </a:prstGeom>
          <a:solidFill>
            <a:srgbClr val="C7BFA8"/>
          </a:solidFill>
          <a:ln w="12700">
            <a:solidFill>
              <a:srgbClr val="C7BFA8">
                <a:alpha val="0"/>
              </a:srgbClr>
            </a:solidFill>
            <a:prstDash val="solid"/>
          </a:ln>
        </p:spPr>
      </p:sp>
      <p:sp>
        <p:nvSpPr>
          <p:cNvPr id="21" name="Text 17"/>
          <p:cNvSpPr txBox="1"/>
          <p:nvPr/>
        </p:nvSpPr>
        <p:spPr>
          <a:xfrm>
            <a:off x="5912510" y="2957170"/>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0.26</a:t>
            </a:r>
            <a:endParaRPr lang="en-US" sz="1275" dirty="0"/>
          </a:p>
        </p:txBody>
      </p:sp>
      <p:sp>
        <p:nvSpPr>
          <p:cNvPr id="22" name="Shape 18"/>
          <p:cNvSpPr/>
          <p:nvPr/>
        </p:nvSpPr>
        <p:spPr>
          <a:xfrm>
            <a:off x="7498080" y="3424428"/>
            <a:ext cx="1591056" cy="9144"/>
          </a:xfrm>
          <a:prstGeom prst="rect">
            <a:avLst/>
          </a:prstGeom>
          <a:solidFill>
            <a:srgbClr val="C7BFA8"/>
          </a:solidFill>
          <a:ln w="12700">
            <a:solidFill>
              <a:srgbClr val="C7BFA8">
                <a:alpha val="0"/>
              </a:srgbClr>
            </a:solidFill>
            <a:prstDash val="solid"/>
          </a:ln>
        </p:spPr>
      </p:sp>
      <p:sp>
        <p:nvSpPr>
          <p:cNvPr id="23" name="Text 19"/>
          <p:cNvSpPr txBox="1"/>
          <p:nvPr/>
        </p:nvSpPr>
        <p:spPr>
          <a:xfrm>
            <a:off x="7498080" y="2957170"/>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0.68</a:t>
            </a:r>
            <a:endParaRPr lang="en-US" sz="1275" dirty="0"/>
          </a:p>
        </p:txBody>
      </p:sp>
      <p:sp>
        <p:nvSpPr>
          <p:cNvPr id="24" name="Shape 20"/>
          <p:cNvSpPr/>
          <p:nvPr/>
        </p:nvSpPr>
        <p:spPr>
          <a:xfrm>
            <a:off x="9082735" y="3424428"/>
            <a:ext cx="1591056" cy="9144"/>
          </a:xfrm>
          <a:prstGeom prst="rect">
            <a:avLst/>
          </a:prstGeom>
          <a:solidFill>
            <a:srgbClr val="C7BFA8"/>
          </a:solidFill>
          <a:ln w="12700">
            <a:solidFill>
              <a:srgbClr val="C7BFA8">
                <a:alpha val="0"/>
              </a:srgbClr>
            </a:solidFill>
            <a:prstDash val="solid"/>
          </a:ln>
        </p:spPr>
      </p:sp>
      <p:sp>
        <p:nvSpPr>
          <p:cNvPr id="25" name="Text 21"/>
          <p:cNvSpPr txBox="1"/>
          <p:nvPr/>
        </p:nvSpPr>
        <p:spPr>
          <a:xfrm>
            <a:off x="9082735" y="2957170"/>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−0.01</a:t>
            </a:r>
            <a:endParaRPr lang="en-US" sz="1275" dirty="0"/>
          </a:p>
        </p:txBody>
      </p:sp>
      <p:sp>
        <p:nvSpPr>
          <p:cNvPr id="26" name="Shape 22"/>
          <p:cNvSpPr/>
          <p:nvPr/>
        </p:nvSpPr>
        <p:spPr>
          <a:xfrm>
            <a:off x="761695" y="3900830"/>
            <a:ext cx="1591056" cy="9144"/>
          </a:xfrm>
          <a:prstGeom prst="rect">
            <a:avLst/>
          </a:prstGeom>
          <a:solidFill>
            <a:srgbClr val="C7BFA8"/>
          </a:solidFill>
          <a:ln w="12700">
            <a:solidFill>
              <a:srgbClr val="C7BFA8">
                <a:alpha val="0"/>
              </a:srgbClr>
            </a:solidFill>
            <a:prstDash val="solid"/>
          </a:ln>
        </p:spPr>
      </p:sp>
      <p:sp>
        <p:nvSpPr>
          <p:cNvPr id="27" name="Text 23"/>
          <p:cNvSpPr txBox="1"/>
          <p:nvPr/>
        </p:nvSpPr>
        <p:spPr>
          <a:xfrm>
            <a:off x="761695" y="3433572"/>
            <a:ext cx="1591056"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Mono" pitchFamily="34" charset="0"/>
                <a:ea typeface="IBM Plex Mono" pitchFamily="34" charset="-122"/>
                <a:cs typeface="IBM Plex Mono" pitchFamily="34" charset="-120"/>
              </a:rPr>
              <a:t>W02</a:t>
            </a:r>
            <a:endParaRPr lang="en-US" sz="1350" dirty="0"/>
          </a:p>
        </p:txBody>
      </p:sp>
      <p:sp>
        <p:nvSpPr>
          <p:cNvPr id="28" name="Shape 24"/>
          <p:cNvSpPr/>
          <p:nvPr/>
        </p:nvSpPr>
        <p:spPr>
          <a:xfrm>
            <a:off x="2347265" y="3900830"/>
            <a:ext cx="1790395" cy="9144"/>
          </a:xfrm>
          <a:prstGeom prst="rect">
            <a:avLst/>
          </a:prstGeom>
          <a:solidFill>
            <a:srgbClr val="C7BFA8"/>
          </a:solidFill>
          <a:ln w="12700">
            <a:solidFill>
              <a:srgbClr val="C7BFA8">
                <a:alpha val="0"/>
              </a:srgbClr>
            </a:solidFill>
            <a:prstDash val="solid"/>
          </a:ln>
        </p:spPr>
      </p:sp>
      <p:sp>
        <p:nvSpPr>
          <p:cNvPr id="29" name="Text 25"/>
          <p:cNvSpPr txBox="1"/>
          <p:nvPr/>
        </p:nvSpPr>
        <p:spPr>
          <a:xfrm>
            <a:off x="2651760" y="3433572"/>
            <a:ext cx="1486814"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Air gap</a:t>
            </a:r>
            <a:endParaRPr lang="en-US" sz="1350" dirty="0"/>
          </a:p>
        </p:txBody>
      </p:sp>
      <p:sp>
        <p:nvSpPr>
          <p:cNvPr id="30" name="Shape 26"/>
          <p:cNvSpPr/>
          <p:nvPr/>
        </p:nvSpPr>
        <p:spPr>
          <a:xfrm>
            <a:off x="4129430" y="3900830"/>
            <a:ext cx="1790395" cy="9144"/>
          </a:xfrm>
          <a:prstGeom prst="rect">
            <a:avLst/>
          </a:prstGeom>
          <a:solidFill>
            <a:srgbClr val="C7BFA8"/>
          </a:solidFill>
          <a:ln w="12700">
            <a:solidFill>
              <a:srgbClr val="C7BFA8">
                <a:alpha val="0"/>
              </a:srgbClr>
            </a:solidFill>
            <a:prstDash val="solid"/>
          </a:ln>
        </p:spPr>
      </p:sp>
      <p:sp>
        <p:nvSpPr>
          <p:cNvPr id="31" name="Text 27"/>
          <p:cNvSpPr txBox="1"/>
          <p:nvPr/>
        </p:nvSpPr>
        <p:spPr>
          <a:xfrm>
            <a:off x="4129430" y="3433572"/>
            <a:ext cx="1791310"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8.62</a:t>
            </a:r>
            <a:endParaRPr lang="en-US" sz="1275" dirty="0"/>
          </a:p>
        </p:txBody>
      </p:sp>
      <p:sp>
        <p:nvSpPr>
          <p:cNvPr id="32" name="Shape 28"/>
          <p:cNvSpPr/>
          <p:nvPr/>
        </p:nvSpPr>
        <p:spPr>
          <a:xfrm>
            <a:off x="5912510" y="3900830"/>
            <a:ext cx="1591056" cy="9144"/>
          </a:xfrm>
          <a:prstGeom prst="rect">
            <a:avLst/>
          </a:prstGeom>
          <a:solidFill>
            <a:srgbClr val="C7BFA8"/>
          </a:solidFill>
          <a:ln w="12700">
            <a:solidFill>
              <a:srgbClr val="C7BFA8">
                <a:alpha val="0"/>
              </a:srgbClr>
            </a:solidFill>
            <a:prstDash val="solid"/>
          </a:ln>
        </p:spPr>
      </p:sp>
      <p:sp>
        <p:nvSpPr>
          <p:cNvPr id="33" name="Text 29"/>
          <p:cNvSpPr txBox="1"/>
          <p:nvPr/>
        </p:nvSpPr>
        <p:spPr>
          <a:xfrm>
            <a:off x="5912510" y="3433572"/>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0.29</a:t>
            </a:r>
            <a:endParaRPr lang="en-US" sz="1275" dirty="0"/>
          </a:p>
        </p:txBody>
      </p:sp>
      <p:sp>
        <p:nvSpPr>
          <p:cNvPr id="34" name="Shape 30"/>
          <p:cNvSpPr/>
          <p:nvPr/>
        </p:nvSpPr>
        <p:spPr>
          <a:xfrm>
            <a:off x="7498080" y="3900830"/>
            <a:ext cx="1591056" cy="9144"/>
          </a:xfrm>
          <a:prstGeom prst="rect">
            <a:avLst/>
          </a:prstGeom>
          <a:solidFill>
            <a:srgbClr val="C7BFA8"/>
          </a:solidFill>
          <a:ln w="12700">
            <a:solidFill>
              <a:srgbClr val="C7BFA8">
                <a:alpha val="0"/>
              </a:srgbClr>
            </a:solidFill>
            <a:prstDash val="solid"/>
          </a:ln>
        </p:spPr>
      </p:sp>
      <p:sp>
        <p:nvSpPr>
          <p:cNvPr id="35" name="Text 31"/>
          <p:cNvSpPr txBox="1"/>
          <p:nvPr/>
        </p:nvSpPr>
        <p:spPr>
          <a:xfrm>
            <a:off x="7498080" y="3433572"/>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0.74</a:t>
            </a:r>
            <a:endParaRPr lang="en-US" sz="1275" dirty="0"/>
          </a:p>
        </p:txBody>
      </p:sp>
      <p:sp>
        <p:nvSpPr>
          <p:cNvPr id="36" name="Shape 32"/>
          <p:cNvSpPr/>
          <p:nvPr/>
        </p:nvSpPr>
        <p:spPr>
          <a:xfrm>
            <a:off x="9082735" y="3900830"/>
            <a:ext cx="1591056" cy="9144"/>
          </a:xfrm>
          <a:prstGeom prst="rect">
            <a:avLst/>
          </a:prstGeom>
          <a:solidFill>
            <a:srgbClr val="C7BFA8"/>
          </a:solidFill>
          <a:ln w="12700">
            <a:solidFill>
              <a:srgbClr val="C7BFA8">
                <a:alpha val="0"/>
              </a:srgbClr>
            </a:solidFill>
            <a:prstDash val="solid"/>
          </a:ln>
        </p:spPr>
      </p:sp>
      <p:sp>
        <p:nvSpPr>
          <p:cNvPr id="37" name="Text 33"/>
          <p:cNvSpPr txBox="1"/>
          <p:nvPr/>
        </p:nvSpPr>
        <p:spPr>
          <a:xfrm>
            <a:off x="9082735" y="3433572"/>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+0.02</a:t>
            </a:r>
            <a:endParaRPr lang="en-US" sz="1275" dirty="0"/>
          </a:p>
        </p:txBody>
      </p:sp>
      <p:sp>
        <p:nvSpPr>
          <p:cNvPr id="38" name="Shape 34"/>
          <p:cNvSpPr/>
          <p:nvPr/>
        </p:nvSpPr>
        <p:spPr>
          <a:xfrm>
            <a:off x="761695" y="4377233"/>
            <a:ext cx="1591056" cy="9144"/>
          </a:xfrm>
          <a:prstGeom prst="rect">
            <a:avLst/>
          </a:prstGeom>
          <a:solidFill>
            <a:srgbClr val="C7BFA8"/>
          </a:solidFill>
          <a:ln w="12700">
            <a:solidFill>
              <a:srgbClr val="C7BFA8">
                <a:alpha val="0"/>
              </a:srgbClr>
            </a:solidFill>
            <a:prstDash val="solid"/>
          </a:ln>
        </p:spPr>
      </p:sp>
      <p:sp>
        <p:nvSpPr>
          <p:cNvPr id="39" name="Text 35"/>
          <p:cNvSpPr txBox="1"/>
          <p:nvPr/>
        </p:nvSpPr>
        <p:spPr>
          <a:xfrm>
            <a:off x="761695" y="3909974"/>
            <a:ext cx="1591056"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Mono" pitchFamily="34" charset="0"/>
                <a:ea typeface="IBM Plex Mono" pitchFamily="34" charset="-122"/>
                <a:cs typeface="IBM Plex Mono" pitchFamily="34" charset="-120"/>
              </a:rPr>
              <a:t>W03</a:t>
            </a:r>
            <a:endParaRPr lang="en-US" sz="1350" dirty="0"/>
          </a:p>
        </p:txBody>
      </p:sp>
      <p:sp>
        <p:nvSpPr>
          <p:cNvPr id="40" name="Shape 36"/>
          <p:cNvSpPr/>
          <p:nvPr/>
        </p:nvSpPr>
        <p:spPr>
          <a:xfrm>
            <a:off x="2347265" y="4377233"/>
            <a:ext cx="1790395" cy="9144"/>
          </a:xfrm>
          <a:prstGeom prst="rect">
            <a:avLst/>
          </a:prstGeom>
          <a:solidFill>
            <a:srgbClr val="C7BFA8"/>
          </a:solidFill>
          <a:ln w="12700">
            <a:solidFill>
              <a:srgbClr val="C7BFA8">
                <a:alpha val="0"/>
              </a:srgbClr>
            </a:solidFill>
            <a:prstDash val="solid"/>
          </a:ln>
        </p:spPr>
      </p:sp>
      <p:sp>
        <p:nvSpPr>
          <p:cNvPr id="41" name="Text 37"/>
          <p:cNvSpPr txBox="1"/>
          <p:nvPr/>
        </p:nvSpPr>
        <p:spPr>
          <a:xfrm>
            <a:off x="2651760" y="3909974"/>
            <a:ext cx="1486814"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Reference</a:t>
            </a:r>
            <a:endParaRPr lang="en-US" sz="1350" dirty="0"/>
          </a:p>
        </p:txBody>
      </p:sp>
      <p:sp>
        <p:nvSpPr>
          <p:cNvPr id="42" name="Shape 38"/>
          <p:cNvSpPr/>
          <p:nvPr/>
        </p:nvSpPr>
        <p:spPr>
          <a:xfrm>
            <a:off x="4129430" y="4377233"/>
            <a:ext cx="1790395" cy="9144"/>
          </a:xfrm>
          <a:prstGeom prst="rect">
            <a:avLst/>
          </a:prstGeom>
          <a:solidFill>
            <a:srgbClr val="C7BFA8"/>
          </a:solidFill>
          <a:ln w="12700">
            <a:solidFill>
              <a:srgbClr val="C7BFA8">
                <a:alpha val="0"/>
              </a:srgbClr>
            </a:solidFill>
            <a:prstDash val="solid"/>
          </a:ln>
        </p:spPr>
      </p:sp>
      <p:sp>
        <p:nvSpPr>
          <p:cNvPr id="43" name="Text 39"/>
          <p:cNvSpPr txBox="1"/>
          <p:nvPr/>
        </p:nvSpPr>
        <p:spPr>
          <a:xfrm>
            <a:off x="4129430" y="3909974"/>
            <a:ext cx="1791310"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8.69</a:t>
            </a:r>
            <a:endParaRPr lang="en-US" sz="1275" dirty="0"/>
          </a:p>
        </p:txBody>
      </p:sp>
      <p:sp>
        <p:nvSpPr>
          <p:cNvPr id="44" name="Shape 40"/>
          <p:cNvSpPr/>
          <p:nvPr/>
        </p:nvSpPr>
        <p:spPr>
          <a:xfrm>
            <a:off x="5912510" y="4377233"/>
            <a:ext cx="1591056" cy="9144"/>
          </a:xfrm>
          <a:prstGeom prst="rect">
            <a:avLst/>
          </a:prstGeom>
          <a:solidFill>
            <a:srgbClr val="C7BFA8"/>
          </a:solidFill>
          <a:ln w="12700">
            <a:solidFill>
              <a:srgbClr val="C7BFA8">
                <a:alpha val="0"/>
              </a:srgbClr>
            </a:solidFill>
            <a:prstDash val="solid"/>
          </a:ln>
        </p:spPr>
      </p:sp>
      <p:sp>
        <p:nvSpPr>
          <p:cNvPr id="45" name="Text 41"/>
          <p:cNvSpPr txBox="1"/>
          <p:nvPr/>
        </p:nvSpPr>
        <p:spPr>
          <a:xfrm>
            <a:off x="5912510" y="3909974"/>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0.36</a:t>
            </a:r>
            <a:endParaRPr lang="en-US" sz="1275" dirty="0"/>
          </a:p>
        </p:txBody>
      </p:sp>
      <p:sp>
        <p:nvSpPr>
          <p:cNvPr id="46" name="Shape 42"/>
          <p:cNvSpPr/>
          <p:nvPr/>
        </p:nvSpPr>
        <p:spPr>
          <a:xfrm>
            <a:off x="7498080" y="4377233"/>
            <a:ext cx="1591056" cy="9144"/>
          </a:xfrm>
          <a:prstGeom prst="rect">
            <a:avLst/>
          </a:prstGeom>
          <a:solidFill>
            <a:srgbClr val="C7BFA8"/>
          </a:solidFill>
          <a:ln w="12700">
            <a:solidFill>
              <a:srgbClr val="C7BFA8">
                <a:alpha val="0"/>
              </a:srgbClr>
            </a:solidFill>
            <a:prstDash val="solid"/>
          </a:ln>
        </p:spPr>
      </p:sp>
      <p:sp>
        <p:nvSpPr>
          <p:cNvPr id="47" name="Text 43"/>
          <p:cNvSpPr txBox="1"/>
          <p:nvPr/>
        </p:nvSpPr>
        <p:spPr>
          <a:xfrm>
            <a:off x="7498080" y="3909974"/>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0.92</a:t>
            </a:r>
            <a:endParaRPr lang="en-US" sz="1275" dirty="0"/>
          </a:p>
        </p:txBody>
      </p:sp>
      <p:sp>
        <p:nvSpPr>
          <p:cNvPr id="48" name="Shape 44"/>
          <p:cNvSpPr/>
          <p:nvPr/>
        </p:nvSpPr>
        <p:spPr>
          <a:xfrm>
            <a:off x="9082735" y="4377233"/>
            <a:ext cx="1591056" cy="9144"/>
          </a:xfrm>
          <a:prstGeom prst="rect">
            <a:avLst/>
          </a:prstGeom>
          <a:solidFill>
            <a:srgbClr val="C7BFA8"/>
          </a:solidFill>
          <a:ln w="12700">
            <a:solidFill>
              <a:srgbClr val="C7BFA8">
                <a:alpha val="0"/>
              </a:srgbClr>
            </a:solidFill>
            <a:prstDash val="solid"/>
          </a:ln>
        </p:spPr>
      </p:sp>
      <p:sp>
        <p:nvSpPr>
          <p:cNvPr id="49" name="Text 45"/>
          <p:cNvSpPr txBox="1"/>
          <p:nvPr/>
        </p:nvSpPr>
        <p:spPr>
          <a:xfrm>
            <a:off x="9082735" y="3909974"/>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+0.09</a:t>
            </a:r>
            <a:endParaRPr lang="en-US" sz="1275" dirty="0"/>
          </a:p>
        </p:txBody>
      </p:sp>
      <p:sp>
        <p:nvSpPr>
          <p:cNvPr id="50" name="Shape 46"/>
          <p:cNvSpPr/>
          <p:nvPr/>
        </p:nvSpPr>
        <p:spPr>
          <a:xfrm>
            <a:off x="761695" y="4853635"/>
            <a:ext cx="1591056" cy="9144"/>
          </a:xfrm>
          <a:prstGeom prst="rect">
            <a:avLst/>
          </a:prstGeom>
          <a:solidFill>
            <a:srgbClr val="16130E"/>
          </a:solidFill>
          <a:ln w="12700">
            <a:solidFill>
              <a:srgbClr val="16130E">
                <a:alpha val="0"/>
              </a:srgbClr>
            </a:solidFill>
            <a:prstDash val="solid"/>
          </a:ln>
        </p:spPr>
      </p:sp>
      <p:sp>
        <p:nvSpPr>
          <p:cNvPr id="51" name="Text 47"/>
          <p:cNvSpPr txBox="1"/>
          <p:nvPr/>
        </p:nvSpPr>
        <p:spPr>
          <a:xfrm>
            <a:off x="761695" y="4386377"/>
            <a:ext cx="1591056"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Mono" pitchFamily="34" charset="0"/>
                <a:ea typeface="IBM Plex Mono" pitchFamily="34" charset="-122"/>
                <a:cs typeface="IBM Plex Mono" pitchFamily="34" charset="-120"/>
              </a:rPr>
              <a:t>W04</a:t>
            </a:r>
            <a:endParaRPr lang="en-US" sz="1350" dirty="0"/>
          </a:p>
        </p:txBody>
      </p:sp>
      <p:sp>
        <p:nvSpPr>
          <p:cNvPr id="52" name="Shape 48"/>
          <p:cNvSpPr/>
          <p:nvPr/>
        </p:nvSpPr>
        <p:spPr>
          <a:xfrm>
            <a:off x="2347265" y="4853635"/>
            <a:ext cx="1790395" cy="9144"/>
          </a:xfrm>
          <a:prstGeom prst="rect">
            <a:avLst/>
          </a:prstGeom>
          <a:solidFill>
            <a:srgbClr val="16130E"/>
          </a:solidFill>
          <a:ln w="12700">
            <a:solidFill>
              <a:srgbClr val="16130E">
                <a:alpha val="0"/>
              </a:srgbClr>
            </a:solidFill>
            <a:prstDash val="solid"/>
          </a:ln>
        </p:spPr>
      </p:sp>
      <p:sp>
        <p:nvSpPr>
          <p:cNvPr id="53" name="Text 49"/>
          <p:cNvSpPr txBox="1"/>
          <p:nvPr/>
        </p:nvSpPr>
        <p:spPr>
          <a:xfrm>
            <a:off x="2651760" y="4386377"/>
            <a:ext cx="1486814"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Reference</a:t>
            </a:r>
            <a:endParaRPr lang="en-US" sz="1350" dirty="0"/>
          </a:p>
        </p:txBody>
      </p:sp>
      <p:sp>
        <p:nvSpPr>
          <p:cNvPr id="54" name="Shape 50"/>
          <p:cNvSpPr/>
          <p:nvPr/>
        </p:nvSpPr>
        <p:spPr>
          <a:xfrm>
            <a:off x="4129430" y="4853635"/>
            <a:ext cx="1790395" cy="9144"/>
          </a:xfrm>
          <a:prstGeom prst="rect">
            <a:avLst/>
          </a:prstGeom>
          <a:solidFill>
            <a:srgbClr val="16130E"/>
          </a:solidFill>
          <a:ln w="12700">
            <a:solidFill>
              <a:srgbClr val="16130E">
                <a:alpha val="0"/>
              </a:srgbClr>
            </a:solidFill>
            <a:prstDash val="solid"/>
          </a:ln>
        </p:spPr>
      </p:sp>
      <p:sp>
        <p:nvSpPr>
          <p:cNvPr id="55" name="Text 51"/>
          <p:cNvSpPr txBox="1"/>
          <p:nvPr/>
        </p:nvSpPr>
        <p:spPr>
          <a:xfrm>
            <a:off x="4129430" y="4386377"/>
            <a:ext cx="1791310"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8.66</a:t>
            </a:r>
            <a:endParaRPr lang="en-US" sz="1275" dirty="0"/>
          </a:p>
        </p:txBody>
      </p:sp>
      <p:sp>
        <p:nvSpPr>
          <p:cNvPr id="56" name="Shape 52"/>
          <p:cNvSpPr/>
          <p:nvPr/>
        </p:nvSpPr>
        <p:spPr>
          <a:xfrm>
            <a:off x="5912510" y="4853635"/>
            <a:ext cx="1591056" cy="9144"/>
          </a:xfrm>
          <a:prstGeom prst="rect">
            <a:avLst/>
          </a:prstGeom>
          <a:solidFill>
            <a:srgbClr val="16130E"/>
          </a:solidFill>
          <a:ln w="12700">
            <a:solidFill>
              <a:srgbClr val="16130E">
                <a:alpha val="0"/>
              </a:srgbClr>
            </a:solidFill>
            <a:prstDash val="solid"/>
          </a:ln>
        </p:spPr>
      </p:sp>
      <p:sp>
        <p:nvSpPr>
          <p:cNvPr id="57" name="Text 53"/>
          <p:cNvSpPr txBox="1"/>
          <p:nvPr/>
        </p:nvSpPr>
        <p:spPr>
          <a:xfrm>
            <a:off x="5912510" y="4386377"/>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0.33</a:t>
            </a:r>
            <a:endParaRPr lang="en-US" sz="1275" dirty="0"/>
          </a:p>
        </p:txBody>
      </p:sp>
      <p:sp>
        <p:nvSpPr>
          <p:cNvPr id="58" name="Shape 54"/>
          <p:cNvSpPr/>
          <p:nvPr/>
        </p:nvSpPr>
        <p:spPr>
          <a:xfrm>
            <a:off x="7498080" y="4853635"/>
            <a:ext cx="1591056" cy="9144"/>
          </a:xfrm>
          <a:prstGeom prst="rect">
            <a:avLst/>
          </a:prstGeom>
          <a:solidFill>
            <a:srgbClr val="16130E"/>
          </a:solidFill>
          <a:ln w="12700">
            <a:solidFill>
              <a:srgbClr val="16130E">
                <a:alpha val="0"/>
              </a:srgbClr>
            </a:solidFill>
            <a:prstDash val="solid"/>
          </a:ln>
        </p:spPr>
      </p:sp>
      <p:sp>
        <p:nvSpPr>
          <p:cNvPr id="59" name="Text 55"/>
          <p:cNvSpPr txBox="1"/>
          <p:nvPr/>
        </p:nvSpPr>
        <p:spPr>
          <a:xfrm>
            <a:off x="7498080" y="4386377"/>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0.86</a:t>
            </a:r>
            <a:endParaRPr lang="en-US" sz="1275" dirty="0"/>
          </a:p>
        </p:txBody>
      </p:sp>
      <p:sp>
        <p:nvSpPr>
          <p:cNvPr id="60" name="Shape 56"/>
          <p:cNvSpPr/>
          <p:nvPr/>
        </p:nvSpPr>
        <p:spPr>
          <a:xfrm>
            <a:off x="9082735" y="4853635"/>
            <a:ext cx="1591056" cy="9144"/>
          </a:xfrm>
          <a:prstGeom prst="rect">
            <a:avLst/>
          </a:prstGeom>
          <a:solidFill>
            <a:srgbClr val="16130E"/>
          </a:solidFill>
          <a:ln w="12700">
            <a:solidFill>
              <a:srgbClr val="16130E">
                <a:alpha val="0"/>
              </a:srgbClr>
            </a:solidFill>
            <a:prstDash val="solid"/>
          </a:ln>
        </p:spPr>
      </p:sp>
      <p:sp>
        <p:nvSpPr>
          <p:cNvPr id="61" name="Text 57"/>
          <p:cNvSpPr txBox="1"/>
          <p:nvPr/>
        </p:nvSpPr>
        <p:spPr>
          <a:xfrm>
            <a:off x="9082735" y="4386377"/>
            <a:ext cx="1591056"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+0.06</a:t>
            </a:r>
            <a:endParaRPr lang="en-US" sz="1275" dirty="0"/>
          </a:p>
        </p:txBody>
      </p:sp>
      <p:sp>
        <p:nvSpPr>
          <p:cNvPr id="62" name="Shape 58"/>
          <p:cNvSpPr/>
          <p:nvPr/>
        </p:nvSpPr>
        <p:spPr>
          <a:xfrm>
            <a:off x="2479853" y="3165653"/>
            <a:ext cx="95098" cy="95098"/>
          </a:xfrm>
          <a:prstGeom prst="rect">
            <a:avLst/>
          </a:prstGeom>
          <a:solidFill>
            <a:srgbClr val="155E63"/>
          </a:solidFill>
          <a:ln w="12700">
            <a:solidFill>
              <a:srgbClr val="FFFFFF">
                <a:alpha val="0"/>
              </a:srgbClr>
            </a:solidFill>
            <a:prstDash val="solid"/>
          </a:ln>
        </p:spPr>
      </p:sp>
      <p:sp>
        <p:nvSpPr>
          <p:cNvPr id="63" name="Shape 59"/>
          <p:cNvSpPr/>
          <p:nvPr/>
        </p:nvSpPr>
        <p:spPr>
          <a:xfrm>
            <a:off x="2479853" y="3642055"/>
            <a:ext cx="95098" cy="95098"/>
          </a:xfrm>
          <a:prstGeom prst="rect">
            <a:avLst/>
          </a:prstGeom>
          <a:solidFill>
            <a:srgbClr val="155E63"/>
          </a:solidFill>
          <a:ln w="12700">
            <a:solidFill>
              <a:srgbClr val="FFFFFF">
                <a:alpha val="0"/>
              </a:srgbClr>
            </a:solidFill>
            <a:prstDash val="solid"/>
          </a:ln>
        </p:spPr>
      </p:sp>
      <p:sp>
        <p:nvSpPr>
          <p:cNvPr id="64" name="Shape 60"/>
          <p:cNvSpPr/>
          <p:nvPr/>
        </p:nvSpPr>
        <p:spPr>
          <a:xfrm>
            <a:off x="2479853" y="4118458"/>
            <a:ext cx="95098" cy="95098"/>
          </a:xfrm>
          <a:prstGeom prst="rect">
            <a:avLst/>
          </a:prstGeom>
          <a:solidFill>
            <a:srgbClr val="9A4520"/>
          </a:solidFill>
          <a:ln w="12700">
            <a:solidFill>
              <a:srgbClr val="FFFFFF">
                <a:alpha val="0"/>
              </a:srgbClr>
            </a:solidFill>
            <a:prstDash val="solid"/>
          </a:ln>
        </p:spPr>
      </p:sp>
      <p:sp>
        <p:nvSpPr>
          <p:cNvPr id="65" name="Shape 61"/>
          <p:cNvSpPr/>
          <p:nvPr/>
        </p:nvSpPr>
        <p:spPr>
          <a:xfrm>
            <a:off x="2479853" y="4594860"/>
            <a:ext cx="95098" cy="95098"/>
          </a:xfrm>
          <a:prstGeom prst="rect">
            <a:avLst/>
          </a:prstGeom>
          <a:solidFill>
            <a:srgbClr val="9A4520"/>
          </a:solidFill>
          <a:ln w="12700">
            <a:solidFill>
              <a:srgbClr val="FFFFFF">
                <a:alpha val="0"/>
              </a:srgbClr>
            </a:solidFill>
            <a:prstDash val="solid"/>
          </a:ln>
        </p:spPr>
      </p:sp>
      <p:sp>
        <p:nvSpPr>
          <p:cNvPr id="66" name="Text 62"/>
          <p:cNvSpPr txBox="1"/>
          <p:nvPr/>
        </p:nvSpPr>
        <p:spPr>
          <a:xfrm>
            <a:off x="990295" y="5181905"/>
            <a:ext cx="9430207" cy="257861"/>
          </a:xfrm>
          <a:prstGeom prst="rect">
            <a:avLst/>
          </a:prstGeom>
          <a:noFill/>
          <a:ln/>
        </p:spPr>
        <p:txBody>
          <a:bodyPr wrap="none" lIns="0" tIns="0" rIns="0" bIns="0" rtlCol="0" anchor="ct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step 별 그룹 평균 비교 추이</a:t>
            </a:r>
            <a:endParaRPr lang="en-US" sz="1350" dirty="0"/>
          </a:p>
        </p:txBody>
      </p:sp>
      <p:sp>
        <p:nvSpPr>
          <p:cNvPr id="67" name="Text 63"/>
          <p:cNvSpPr txBox="1"/>
          <p:nvPr/>
        </p:nvSpPr>
        <p:spPr>
          <a:xfrm>
            <a:off x="990295" y="5609844"/>
            <a:ext cx="1791310" cy="162763"/>
          </a:xfrm>
          <a:prstGeom prst="rect">
            <a:avLst/>
          </a:prstGeom>
          <a:noFill/>
          <a:ln/>
        </p:spPr>
        <p:txBody>
          <a:bodyPr wrap="none" lIns="0" tIns="0" rIns="0" bIns="0" rtlCol="0" anchor="ctr"/>
          <a:lstStyle/>
          <a:p>
            <a:pPr algn="l" indent="0" marL="0">
              <a:buNone/>
            </a:pPr>
            <a:r>
              <a:rPr lang="en-US" sz="975" spc="137" kern="0" dirty="0">
                <a:solidFill>
                  <a:srgbClr val="155E63"/>
                </a:solidFill>
                <a:latin typeface="IBM Plex Mono" pitchFamily="34" charset="0"/>
                <a:ea typeface="IBM Plex Mono" pitchFamily="34" charset="-122"/>
                <a:cs typeface="IBM Plex Mono" pitchFamily="34" charset="-120"/>
              </a:rPr>
              <a:t>AASI</a:t>
            </a:r>
            <a:endParaRPr lang="en-US" sz="975" dirty="0"/>
          </a:p>
        </p:txBody>
      </p:sp>
      <p:sp>
        <p:nvSpPr>
          <p:cNvPr id="68" name="Text 64"/>
          <p:cNvSpPr txBox="1"/>
          <p:nvPr/>
        </p:nvSpPr>
        <p:spPr>
          <a:xfrm>
            <a:off x="990295" y="5829300"/>
            <a:ext cx="1791310" cy="305410"/>
          </a:xfrm>
          <a:prstGeom prst="rect">
            <a:avLst/>
          </a:prstGeom>
          <a:noFill/>
          <a:ln/>
        </p:spPr>
        <p:txBody>
          <a:bodyPr wrap="none" lIns="0" tIns="0" rIns="0" bIns="0" rtlCol="0" anchor="ctr"/>
          <a:lstStyle/>
          <a:p>
            <a:pPr algn="l" indent="0" marL="0">
              <a:buNone/>
            </a:pPr>
            <a:r>
              <a:rPr lang="en-US" sz="1800" b="1" dirty="0">
                <a:solidFill>
                  <a:srgbClr val="16130E"/>
                </a:solidFill>
                <a:latin typeface="IBM Plex Mono" pitchFamily="34" charset="0"/>
                <a:ea typeface="IBM Plex Mono" pitchFamily="34" charset="-122"/>
                <a:cs typeface="IBM Plex Mono" pitchFamily="34" charset="-120"/>
              </a:rPr>
              <a:t>25.71 / 25.80</a:t>
            </a:r>
            <a:endParaRPr lang="en-US" sz="1800" dirty="0"/>
          </a:p>
        </p:txBody>
      </p:sp>
      <p:sp>
        <p:nvSpPr>
          <p:cNvPr id="69" name="Text 65"/>
          <p:cNvSpPr txBox="1"/>
          <p:nvPr/>
        </p:nvSpPr>
        <p:spPr>
          <a:xfrm>
            <a:off x="990295" y="6172200"/>
            <a:ext cx="1791310" cy="200254"/>
          </a:xfrm>
          <a:prstGeom prst="rect">
            <a:avLst/>
          </a:prstGeom>
          <a:noFill/>
          <a:ln/>
        </p:spPr>
        <p:txBody>
          <a:bodyPr wrap="none" lIns="0" tIns="0" rIns="0" bIns="0" rtlCol="0" anchor="ctr"/>
          <a:lstStyle/>
          <a:p>
            <a:pPr algn="l" indent="0" marL="0">
              <a:buNone/>
            </a:pPr>
            <a:r>
              <a:rPr lang="en-US" sz="1050" dirty="0">
                <a:solidFill>
                  <a:srgbClr val="756E5F"/>
                </a:solidFill>
                <a:latin typeface="IBM Plex Sans KR" pitchFamily="34" charset="0"/>
                <a:ea typeface="IBM Plex Sans KR" pitchFamily="34" charset="-122"/>
                <a:cs typeface="IBM Plex Sans KR" pitchFamily="34" charset="-120"/>
              </a:rPr>
              <a:t>Δ 0.09</a:t>
            </a:r>
            <a:endParaRPr lang="en-US" sz="1050" dirty="0"/>
          </a:p>
        </p:txBody>
      </p:sp>
      <p:sp>
        <p:nvSpPr>
          <p:cNvPr id="70" name="Text 66"/>
          <p:cNvSpPr txBox="1"/>
          <p:nvPr/>
        </p:nvSpPr>
        <p:spPr>
          <a:xfrm>
            <a:off x="3154680" y="5609844"/>
            <a:ext cx="1791310" cy="162763"/>
          </a:xfrm>
          <a:prstGeom prst="rect">
            <a:avLst/>
          </a:prstGeom>
          <a:noFill/>
          <a:ln/>
        </p:spPr>
        <p:txBody>
          <a:bodyPr wrap="none" lIns="0" tIns="0" rIns="0" bIns="0" rtlCol="0" anchor="ctr"/>
          <a:lstStyle/>
          <a:p>
            <a:pPr algn="l" indent="0" marL="0">
              <a:buNone/>
            </a:pPr>
            <a:r>
              <a:rPr lang="en-US" sz="975" spc="137" kern="0" dirty="0">
                <a:solidFill>
                  <a:srgbClr val="155E63"/>
                </a:solidFill>
                <a:latin typeface="IBM Plex Mono" pitchFamily="34" charset="0"/>
                <a:ea typeface="IBM Plex Mono" pitchFamily="34" charset="-122"/>
                <a:cs typeface="IBM Plex Mono" pitchFamily="34" charset="-120"/>
              </a:rPr>
              <a:t>ASEI</a:t>
            </a:r>
            <a:endParaRPr lang="en-US" sz="975" dirty="0"/>
          </a:p>
        </p:txBody>
      </p:sp>
      <p:sp>
        <p:nvSpPr>
          <p:cNvPr id="71" name="Text 67"/>
          <p:cNvSpPr txBox="1"/>
          <p:nvPr/>
        </p:nvSpPr>
        <p:spPr>
          <a:xfrm>
            <a:off x="3154680" y="5829300"/>
            <a:ext cx="1791310" cy="305410"/>
          </a:xfrm>
          <a:prstGeom prst="rect">
            <a:avLst/>
          </a:prstGeom>
          <a:noFill/>
          <a:ln/>
        </p:spPr>
        <p:txBody>
          <a:bodyPr wrap="none" lIns="0" tIns="0" rIns="0" bIns="0" rtlCol="0" anchor="ctr"/>
          <a:lstStyle/>
          <a:p>
            <a:pPr algn="l" indent="0" marL="0">
              <a:buNone/>
            </a:pPr>
            <a:r>
              <a:rPr lang="en-US" sz="1800" b="1" dirty="0">
                <a:solidFill>
                  <a:srgbClr val="16130E"/>
                </a:solidFill>
                <a:latin typeface="IBM Plex Mono" pitchFamily="34" charset="0"/>
                <a:ea typeface="IBM Plex Mono" pitchFamily="34" charset="-122"/>
                <a:cs typeface="IBM Plex Mono" pitchFamily="34" charset="-120"/>
              </a:rPr>
              <a:t>17.39 / 17.50</a:t>
            </a:r>
            <a:endParaRPr lang="en-US" sz="1800" dirty="0"/>
          </a:p>
        </p:txBody>
      </p:sp>
      <p:sp>
        <p:nvSpPr>
          <p:cNvPr id="72" name="Text 68"/>
          <p:cNvSpPr txBox="1"/>
          <p:nvPr/>
        </p:nvSpPr>
        <p:spPr>
          <a:xfrm>
            <a:off x="3154680" y="6172200"/>
            <a:ext cx="1791310" cy="200254"/>
          </a:xfrm>
          <a:prstGeom prst="rect">
            <a:avLst/>
          </a:prstGeom>
          <a:noFill/>
          <a:ln/>
        </p:spPr>
        <p:txBody>
          <a:bodyPr wrap="none" lIns="0" tIns="0" rIns="0" bIns="0" rtlCol="0" anchor="ctr"/>
          <a:lstStyle/>
          <a:p>
            <a:pPr algn="l" indent="0" marL="0">
              <a:buNone/>
            </a:pPr>
            <a:r>
              <a:rPr lang="en-US" sz="1050" dirty="0">
                <a:solidFill>
                  <a:srgbClr val="756E5F"/>
                </a:solidFill>
                <a:latin typeface="IBM Plex Sans KR" pitchFamily="34" charset="0"/>
                <a:ea typeface="IBM Plex Sans KR" pitchFamily="34" charset="-122"/>
                <a:cs typeface="IBM Plex Sans KR" pitchFamily="34" charset="-120"/>
              </a:rPr>
              <a:t>Δ 0.11</a:t>
            </a:r>
            <a:endParaRPr lang="en-US" sz="1050" dirty="0"/>
          </a:p>
        </p:txBody>
      </p:sp>
      <p:sp>
        <p:nvSpPr>
          <p:cNvPr id="73" name="Text 69"/>
          <p:cNvSpPr txBox="1"/>
          <p:nvPr/>
        </p:nvSpPr>
        <p:spPr>
          <a:xfrm>
            <a:off x="5319065" y="5609844"/>
            <a:ext cx="1515161" cy="162763"/>
          </a:xfrm>
          <a:prstGeom prst="rect">
            <a:avLst/>
          </a:prstGeom>
          <a:noFill/>
          <a:ln/>
        </p:spPr>
        <p:txBody>
          <a:bodyPr wrap="none" lIns="0" tIns="0" rIns="0" bIns="0" rtlCol="0" anchor="ctr"/>
          <a:lstStyle/>
          <a:p>
            <a:pPr algn="l" indent="0" marL="0">
              <a:buNone/>
            </a:pPr>
            <a:r>
              <a:rPr lang="en-US" sz="975" spc="137" kern="0" dirty="0">
                <a:solidFill>
                  <a:srgbClr val="155E63"/>
                </a:solidFill>
                <a:latin typeface="IBM Plex Mono" pitchFamily="34" charset="0"/>
                <a:ea typeface="IBM Plex Mono" pitchFamily="34" charset="-122"/>
                <a:cs typeface="IBM Plex Mono" pitchFamily="34" charset="-120"/>
              </a:rPr>
              <a:t>AMI</a:t>
            </a:r>
            <a:endParaRPr lang="en-US" sz="975" dirty="0"/>
          </a:p>
        </p:txBody>
      </p:sp>
      <p:sp>
        <p:nvSpPr>
          <p:cNvPr id="74" name="Text 70"/>
          <p:cNvSpPr txBox="1"/>
          <p:nvPr/>
        </p:nvSpPr>
        <p:spPr>
          <a:xfrm>
            <a:off x="5319065" y="5829300"/>
            <a:ext cx="1515161" cy="305410"/>
          </a:xfrm>
          <a:prstGeom prst="rect">
            <a:avLst/>
          </a:prstGeom>
          <a:noFill/>
          <a:ln/>
        </p:spPr>
        <p:txBody>
          <a:bodyPr wrap="none" lIns="0" tIns="0" rIns="0" bIns="0" rtlCol="0" anchor="ctr"/>
          <a:lstStyle/>
          <a:p>
            <a:pPr algn="l" indent="0" marL="0">
              <a:buNone/>
            </a:pPr>
            <a:r>
              <a:rPr lang="en-US" sz="1800" b="1" dirty="0">
                <a:solidFill>
                  <a:srgbClr val="16130E"/>
                </a:solidFill>
                <a:latin typeface="IBM Plex Mono" pitchFamily="34" charset="0"/>
                <a:ea typeface="IBM Plex Mono" pitchFamily="34" charset="-122"/>
                <a:cs typeface="IBM Plex Mono" pitchFamily="34" charset="-120"/>
              </a:rPr>
              <a:t>8.60 / 8.70</a:t>
            </a:r>
            <a:endParaRPr lang="en-US" sz="1800" dirty="0"/>
          </a:p>
        </p:txBody>
      </p:sp>
      <p:sp>
        <p:nvSpPr>
          <p:cNvPr id="75" name="Text 71"/>
          <p:cNvSpPr txBox="1"/>
          <p:nvPr/>
        </p:nvSpPr>
        <p:spPr>
          <a:xfrm>
            <a:off x="5319065" y="6172200"/>
            <a:ext cx="1515161" cy="200254"/>
          </a:xfrm>
          <a:prstGeom prst="rect">
            <a:avLst/>
          </a:prstGeom>
          <a:noFill/>
          <a:ln/>
        </p:spPr>
        <p:txBody>
          <a:bodyPr wrap="none" lIns="0" tIns="0" rIns="0" bIns="0" rtlCol="0" anchor="ctr"/>
          <a:lstStyle/>
          <a:p>
            <a:pPr algn="l" indent="0" marL="0">
              <a:buNone/>
            </a:pPr>
            <a:r>
              <a:rPr lang="en-US" sz="1050" dirty="0">
                <a:solidFill>
                  <a:srgbClr val="756E5F"/>
                </a:solidFill>
                <a:latin typeface="IBM Plex Sans KR" pitchFamily="34" charset="0"/>
                <a:ea typeface="IBM Plex Sans KR" pitchFamily="34" charset="-122"/>
                <a:cs typeface="IBM Plex Sans KR" pitchFamily="34" charset="-120"/>
              </a:rPr>
              <a:t>Δ 0.10</a:t>
            </a:r>
            <a:endParaRPr lang="en-US" sz="1050" dirty="0"/>
          </a:p>
        </p:txBody>
      </p:sp>
      <p:sp>
        <p:nvSpPr>
          <p:cNvPr id="76" name="Text 72"/>
          <p:cNvSpPr txBox="1"/>
          <p:nvPr/>
        </p:nvSpPr>
        <p:spPr>
          <a:xfrm>
            <a:off x="7208215" y="5609844"/>
            <a:ext cx="1515161" cy="162763"/>
          </a:xfrm>
          <a:prstGeom prst="rect">
            <a:avLst/>
          </a:prstGeom>
          <a:noFill/>
          <a:ln/>
        </p:spPr>
        <p:txBody>
          <a:bodyPr wrap="none" lIns="0" tIns="0" rIns="0" bIns="0" rtlCol="0" anchor="ctr"/>
          <a:lstStyle/>
          <a:p>
            <a:pPr algn="l" indent="0" marL="0">
              <a:buNone/>
            </a:pPr>
            <a:r>
              <a:rPr lang="en-US" sz="975" spc="137" kern="0" dirty="0">
                <a:solidFill>
                  <a:srgbClr val="155E63"/>
                </a:solidFill>
                <a:latin typeface="IBM Plex Mono" pitchFamily="34" charset="0"/>
                <a:ea typeface="IBM Plex Mono" pitchFamily="34" charset="-122"/>
                <a:cs typeface="IBM Plex Mono" pitchFamily="34" charset="-120"/>
              </a:rPr>
              <a:t>ACI</a:t>
            </a:r>
            <a:endParaRPr lang="en-US" sz="975" dirty="0"/>
          </a:p>
        </p:txBody>
      </p:sp>
      <p:sp>
        <p:nvSpPr>
          <p:cNvPr id="77" name="Text 73"/>
          <p:cNvSpPr txBox="1"/>
          <p:nvPr/>
        </p:nvSpPr>
        <p:spPr>
          <a:xfrm>
            <a:off x="7208215" y="5829300"/>
            <a:ext cx="1515161" cy="305410"/>
          </a:xfrm>
          <a:prstGeom prst="rect">
            <a:avLst/>
          </a:prstGeom>
          <a:noFill/>
          <a:ln/>
        </p:spPr>
        <p:txBody>
          <a:bodyPr wrap="none" lIns="0" tIns="0" rIns="0" bIns="0" rtlCol="0" anchor="ctr"/>
          <a:lstStyle/>
          <a:p>
            <a:pPr algn="l" indent="0" marL="0">
              <a:buNone/>
            </a:pPr>
            <a:r>
              <a:rPr lang="en-US" sz="1800" b="1" dirty="0">
                <a:solidFill>
                  <a:srgbClr val="16130E"/>
                </a:solidFill>
                <a:latin typeface="IBM Plex Mono" pitchFamily="34" charset="0"/>
                <a:ea typeface="IBM Plex Mono" pitchFamily="34" charset="-122"/>
                <a:cs typeface="IBM Plex Mono" pitchFamily="34" charset="-120"/>
              </a:rPr>
              <a:t>8.61 / 8.68</a:t>
            </a:r>
            <a:endParaRPr lang="en-US" sz="1800" dirty="0"/>
          </a:p>
        </p:txBody>
      </p:sp>
      <p:sp>
        <p:nvSpPr>
          <p:cNvPr id="78" name="Text 74"/>
          <p:cNvSpPr txBox="1"/>
          <p:nvPr/>
        </p:nvSpPr>
        <p:spPr>
          <a:xfrm>
            <a:off x="7208215" y="6172200"/>
            <a:ext cx="1515161" cy="200254"/>
          </a:xfrm>
          <a:prstGeom prst="rect">
            <a:avLst/>
          </a:prstGeom>
          <a:noFill/>
          <a:ln/>
        </p:spPr>
        <p:txBody>
          <a:bodyPr wrap="none" lIns="0" tIns="0" rIns="0" bIns="0" rtlCol="0" anchor="ctr"/>
          <a:lstStyle/>
          <a:p>
            <a:pPr algn="l" indent="0" marL="0">
              <a:buNone/>
            </a:pPr>
            <a:r>
              <a:rPr lang="en-US" sz="1050" dirty="0">
                <a:solidFill>
                  <a:srgbClr val="756E5F"/>
                </a:solidFill>
                <a:latin typeface="IBM Plex Sans KR" pitchFamily="34" charset="0"/>
                <a:ea typeface="IBM Plex Sans KR" pitchFamily="34" charset="-122"/>
                <a:cs typeface="IBM Plex Sans KR" pitchFamily="34" charset="-120"/>
              </a:rPr>
              <a:t>Δ 0.07</a:t>
            </a:r>
            <a:endParaRPr lang="en-US" sz="1050" dirty="0"/>
          </a:p>
        </p:txBody>
      </p:sp>
      <p:sp>
        <p:nvSpPr>
          <p:cNvPr id="79" name="Shape 75"/>
          <p:cNvSpPr/>
          <p:nvPr/>
        </p:nvSpPr>
        <p:spPr>
          <a:xfrm>
            <a:off x="990295" y="6581851"/>
            <a:ext cx="9430207" cy="790956"/>
          </a:xfrm>
          <a:prstGeom prst="roundRect">
            <a:avLst>
              <a:gd name="adj" fmla="val 3584"/>
            </a:avLst>
          </a:prstGeom>
          <a:solidFill>
            <a:srgbClr val="155E63">
              <a:alpha val="6000"/>
            </a:srgbClr>
          </a:solidFill>
          <a:ln/>
        </p:spPr>
      </p:sp>
      <p:sp>
        <p:nvSpPr>
          <p:cNvPr id="80" name="Shape 76"/>
          <p:cNvSpPr/>
          <p:nvPr/>
        </p:nvSpPr>
        <p:spPr>
          <a:xfrm>
            <a:off x="990295" y="6581851"/>
            <a:ext cx="28346" cy="790956"/>
          </a:xfrm>
          <a:prstGeom prst="roundRect">
            <a:avLst>
              <a:gd name="adj" fmla="val 100001"/>
            </a:avLst>
          </a:prstGeom>
          <a:solidFill>
            <a:srgbClr val="155E63"/>
          </a:solidFill>
          <a:ln w="12700">
            <a:solidFill>
              <a:srgbClr val="155E63">
                <a:alpha val="0"/>
              </a:srgbClr>
            </a:solidFill>
            <a:prstDash val="solid"/>
          </a:ln>
        </p:spPr>
      </p:sp>
      <p:sp>
        <p:nvSpPr>
          <p:cNvPr id="81" name="Text 77"/>
          <p:cNvSpPr txBox="1"/>
          <p:nvPr/>
        </p:nvSpPr>
        <p:spPr>
          <a:xfrm>
            <a:off x="1228954" y="6734556"/>
            <a:ext cx="8982151" cy="486461"/>
          </a:xfrm>
          <a:prstGeom prst="rect">
            <a:avLst/>
          </a:prstGeom>
          <a:noFill/>
          <a:ln/>
        </p:spPr>
        <p:txBody>
          <a:bodyPr wrap="square" lIns="0" tIns="0" rIns="0" bIns="0" rtlCol="0" anchor="ctr"/>
          <a:lstStyle/>
          <a:p>
            <a:pPr algn="l" indent="0" marL="0">
              <a:lnSpc>
                <a:spcPts val="1913"/>
              </a:lnSpc>
              <a:buNone/>
            </a:pPr>
            <a:r>
              <a:rPr lang="en-US" sz="1275" dirty="0">
                <a:solidFill>
                  <a:srgbClr val="3A352D"/>
                </a:solidFill>
                <a:latin typeface="IBM Plex Sans KR" pitchFamily="34" charset="0"/>
                <a:ea typeface="IBM Plex Sans KR" pitchFamily="34" charset="-122"/>
                <a:cs typeface="IBM Plex Sans KR" pitchFamily="34" charset="-120"/>
              </a:rPr>
              <a:t>그룹간 Δ는 AASI 0.09 → ASEI 0.11 → AMI 0.10 → ACI 0.07 순으로 절대 편차는 줄지만, Reference group의 +편향은 ACI 단계까지 잔존한다.</a:t>
            </a:r>
            <a:endParaRPr lang="en-US" sz="1275" dirty="0"/>
          </a:p>
        </p:txBody>
      </p:sp>
      <p:sp>
        <p:nvSpPr>
          <p:cNvPr id="82" name="Text 78"/>
          <p:cNvSpPr txBox="1"/>
          <p:nvPr/>
        </p:nvSpPr>
        <p:spPr>
          <a:xfrm>
            <a:off x="11239805" y="2476195"/>
            <a:ext cx="6286500" cy="305410"/>
          </a:xfrm>
          <a:prstGeom prst="rect">
            <a:avLst/>
          </a:prstGeom>
          <a:noFill/>
          <a:ln/>
        </p:spPr>
        <p:txBody>
          <a:bodyPr wrap="none" lIns="0" tIns="0" rIns="0" bIns="0" rtlCol="0" anchor="ctr"/>
          <a:lstStyle/>
          <a:p>
            <a:pPr algn="l" indent="0" marL="0">
              <a:buNone/>
            </a:pPr>
            <a:r>
              <a:rPr lang="en-US" sz="1575" dirty="0">
                <a:solidFill>
                  <a:srgbClr val="16130E"/>
                </a:solidFill>
                <a:latin typeface="IBM Plex Sans KR" pitchFamily="34" charset="0"/>
                <a:ea typeface="IBM Plex Sans KR" pitchFamily="34" charset="-122"/>
                <a:cs typeface="IBM Plex Sans KR" pitchFamily="34" charset="-120"/>
              </a:rPr>
              <a:t>ACI 단계의 의의</a:t>
            </a:r>
            <a:endParaRPr lang="en-US" sz="1575" dirty="0"/>
          </a:p>
        </p:txBody>
      </p:sp>
      <p:sp>
        <p:nvSpPr>
          <p:cNvPr id="83" name="Text 79"/>
          <p:cNvSpPr txBox="1"/>
          <p:nvPr/>
        </p:nvSpPr>
        <p:spPr>
          <a:xfrm>
            <a:off x="11239805" y="2915107"/>
            <a:ext cx="6286500" cy="534010"/>
          </a:xfrm>
          <a:prstGeom prst="rect">
            <a:avLst/>
          </a:prstGeom>
          <a:noFill/>
          <a:ln/>
        </p:spPr>
        <p:txBody>
          <a:bodyPr wrap="square" lIns="0" tIns="0" rIns="0" bIns="0" rtlCol="0" anchor="ctr"/>
          <a:lstStyle/>
          <a:p>
            <a:pPr algn="l" indent="0" marL="0">
              <a:lnSpc>
                <a:spcPts val="2092"/>
              </a:lnSpc>
              <a:buNone/>
            </a:pPr>
            <a:r>
              <a:rPr lang="en-US" sz="1350" dirty="0">
                <a:solidFill>
                  <a:srgbClr val="3A352D"/>
                </a:solidFill>
                <a:latin typeface="IBM Plex Sans KR" pitchFamily="34" charset="0"/>
                <a:ea typeface="IBM Plex Sans KR" pitchFamily="34" charset="-122"/>
                <a:cs typeface="IBM Plex Sans KR" pitchFamily="34" charset="-120"/>
              </a:rPr>
              <a:t>M3 layer의 라인 폭이 결정되는 마지막 CD 측정 포인트. cap 절연막 deposition 직전 시점의 라인을 대표한다.</a:t>
            </a:r>
            <a:endParaRPr lang="en-US" sz="1350" dirty="0"/>
          </a:p>
        </p:txBody>
      </p:sp>
      <p:sp>
        <p:nvSpPr>
          <p:cNvPr id="84" name="Text 80"/>
          <p:cNvSpPr txBox="1"/>
          <p:nvPr/>
        </p:nvSpPr>
        <p:spPr>
          <a:xfrm>
            <a:off x="11239805" y="3617366"/>
            <a:ext cx="6286500" cy="305410"/>
          </a:xfrm>
          <a:prstGeom prst="rect">
            <a:avLst/>
          </a:prstGeom>
          <a:noFill/>
          <a:ln/>
        </p:spPr>
        <p:txBody>
          <a:bodyPr wrap="none" lIns="0" tIns="0" rIns="0" bIns="0" rtlCol="0" anchor="ctr"/>
          <a:lstStyle/>
          <a:p>
            <a:pPr algn="l" indent="0" marL="0">
              <a:buNone/>
            </a:pPr>
            <a:r>
              <a:rPr lang="en-US" sz="1575" dirty="0">
                <a:solidFill>
                  <a:srgbClr val="16130E"/>
                </a:solidFill>
                <a:latin typeface="IBM Plex Sans KR" pitchFamily="34" charset="0"/>
                <a:ea typeface="IBM Plex Sans KR" pitchFamily="34" charset="-122"/>
                <a:cs typeface="IBM Plex Sans KR" pitchFamily="34" charset="-120"/>
              </a:rPr>
              <a:t>관찰</a:t>
            </a:r>
            <a:endParaRPr lang="en-US" sz="1575" dirty="0"/>
          </a:p>
        </p:txBody>
      </p:sp>
      <p:sp>
        <p:nvSpPr>
          <p:cNvPr id="85" name="Text 81"/>
          <p:cNvSpPr txBox="1"/>
          <p:nvPr/>
        </p:nvSpPr>
        <p:spPr>
          <a:xfrm>
            <a:off x="11239805" y="4055364"/>
            <a:ext cx="6286500" cy="534010"/>
          </a:xfrm>
          <a:prstGeom prst="rect">
            <a:avLst/>
          </a:prstGeom>
          <a:noFill/>
          <a:ln/>
        </p:spPr>
        <p:txBody>
          <a:bodyPr wrap="square" lIns="0" tIns="0" rIns="0" bIns="0" rtlCol="0" anchor="ctr"/>
          <a:lstStyle/>
          <a:p>
            <a:pPr algn="l" indent="0" marL="0">
              <a:lnSpc>
                <a:spcPts val="2092"/>
              </a:lnSpc>
              <a:buNone/>
            </a:pPr>
            <a:r>
              <a:rPr lang="en-US" sz="1350" dirty="0">
                <a:solidFill>
                  <a:srgbClr val="3A352D"/>
                </a:solidFill>
                <a:latin typeface="IBM Plex Sans KR" pitchFamily="34" charset="0"/>
                <a:ea typeface="IBM Plex Sans KR" pitchFamily="34" charset="-122"/>
                <a:cs typeface="IBM Plex Sans KR" pitchFamily="34" charset="-120"/>
              </a:rPr>
              <a:t>Group A 평균 8.61 · 3σ 0.28 nm, Group B 평균 8.68 · 3σ 0.35 nm. ACI에서 그룹간 차이는 0.07 nm로 4 step 중 가장 작다.</a:t>
            </a:r>
            <a:endParaRPr lang="en-US" sz="1350" dirty="0"/>
          </a:p>
        </p:txBody>
      </p:sp>
      <p:sp>
        <p:nvSpPr>
          <p:cNvPr id="86" name="Text 82"/>
          <p:cNvSpPr txBox="1"/>
          <p:nvPr/>
        </p:nvSpPr>
        <p:spPr>
          <a:xfrm>
            <a:off x="11239805" y="4758538"/>
            <a:ext cx="6286500" cy="305410"/>
          </a:xfrm>
          <a:prstGeom prst="rect">
            <a:avLst/>
          </a:prstGeom>
          <a:noFill/>
          <a:ln/>
        </p:spPr>
        <p:txBody>
          <a:bodyPr wrap="none" lIns="0" tIns="0" rIns="0" bIns="0" rtlCol="0" anchor="ctr"/>
          <a:lstStyle/>
          <a:p>
            <a:pPr algn="l" indent="0" marL="0">
              <a:buNone/>
            </a:pPr>
            <a:r>
              <a:rPr lang="en-US" sz="1575" dirty="0">
                <a:solidFill>
                  <a:srgbClr val="16130E"/>
                </a:solidFill>
                <a:latin typeface="IBM Plex Sans KR" pitchFamily="34" charset="0"/>
                <a:ea typeface="IBM Plex Sans KR" pitchFamily="34" charset="-122"/>
                <a:cs typeface="IBM Plex Sans KR" pitchFamily="34" charset="-120"/>
              </a:rPr>
              <a:t>최종 평가</a:t>
            </a:r>
            <a:endParaRPr lang="en-US" sz="1575" dirty="0"/>
          </a:p>
        </p:txBody>
      </p:sp>
      <p:sp>
        <p:nvSpPr>
          <p:cNvPr id="87" name="Text 83"/>
          <p:cNvSpPr txBox="1"/>
          <p:nvPr/>
        </p:nvSpPr>
        <p:spPr>
          <a:xfrm>
            <a:off x="11239805" y="5196535"/>
            <a:ext cx="6286500" cy="534010"/>
          </a:xfrm>
          <a:prstGeom prst="rect">
            <a:avLst/>
          </a:prstGeom>
          <a:noFill/>
          <a:ln/>
        </p:spPr>
        <p:txBody>
          <a:bodyPr wrap="square" lIns="0" tIns="0" rIns="0" bIns="0" rtlCol="0" anchor="ctr"/>
          <a:lstStyle/>
          <a:p>
            <a:pPr algn="l" indent="0" marL="0">
              <a:lnSpc>
                <a:spcPts val="2092"/>
              </a:lnSpc>
              <a:buNone/>
            </a:pPr>
            <a:r>
              <a:rPr lang="en-US" sz="1350" dirty="0">
                <a:solidFill>
                  <a:srgbClr val="3A352D"/>
                </a:solidFill>
                <a:latin typeface="IBM Plex Sans KR" pitchFamily="34" charset="0"/>
                <a:ea typeface="IBM Plex Sans KR" pitchFamily="34" charset="-122"/>
                <a:cs typeface="IBM Plex Sans KR" pitchFamily="34" charset="-120"/>
              </a:rPr>
              <a:t>Group A는 4 step 모두 target ±0.05 nm 이내에 들어가지만, Reference group은 한 단계도 negative 측으로 떨어지지 못한 채 +0.06 ~ +0.11 nm 구간을 유지한다.</a:t>
            </a:r>
            <a:endParaRPr lang="en-US" sz="1350" dirty="0"/>
          </a:p>
        </p:txBody>
      </p:sp>
      <p:sp>
        <p:nvSpPr>
          <p:cNvPr id="88" name="Text 84"/>
          <p:cNvSpPr txBox="1"/>
          <p:nvPr/>
        </p:nvSpPr>
        <p:spPr>
          <a:xfrm>
            <a:off x="761695" y="8524951"/>
            <a:ext cx="16764610" cy="333756"/>
          </a:xfrm>
          <a:prstGeom prst="rect">
            <a:avLst/>
          </a:prstGeom>
          <a:noFill/>
          <a:ln/>
        </p:spPr>
        <p:txBody>
          <a:bodyPr wrap="none" lIns="0" tIns="0" rIns="0" bIns="0" rtlCol="0" anchor="ctr"/>
          <a:lstStyle/>
          <a:p>
            <a:pPr algn="l" indent="0" marL="0">
              <a:buNone/>
            </a:pPr>
            <a:r>
              <a:rPr lang="en-US" sz="1800" dirty="0">
                <a:solidFill>
                  <a:srgbClr val="16130E"/>
                </a:solidFill>
                <a:latin typeface="IBM Plex Sans KR" pitchFamily="34" charset="0"/>
                <a:ea typeface="IBM Plex Sans KR" pitchFamily="34" charset="-122"/>
                <a:cs typeface="IBM Plex Sans KR" pitchFamily="34" charset="-120"/>
              </a:rPr>
              <a:t>Group A는 4 inline CD step 모두 target ±0.05 nm 안팎에 들어맞고, Group B는 +편향이 누적된 채 ACI까지 잔존한다.</a:t>
            </a:r>
            <a:endParaRPr lang="en-US" sz="1800" dirty="0"/>
          </a:p>
        </p:txBody>
      </p:sp>
      <p:sp>
        <p:nvSpPr>
          <p:cNvPr id="89" name="Shape 85"/>
          <p:cNvSpPr/>
          <p:nvPr/>
        </p:nvSpPr>
        <p:spPr>
          <a:xfrm>
            <a:off x="761695" y="8524951"/>
            <a:ext cx="133502" cy="133502"/>
          </a:xfrm>
          <a:prstGeom prst="rect">
            <a:avLst/>
          </a:prstGeom>
          <a:solidFill>
            <a:srgbClr val="BD4A22"/>
          </a:solidFill>
          <a:ln w="12700">
            <a:solidFill>
              <a:srgbClr val="FFFFFF">
                <a:alpha val="0"/>
              </a:srgbClr>
            </a:solidFill>
            <a:prstDash val="solid"/>
          </a:ln>
        </p:spPr>
      </p:sp>
      <p:sp>
        <p:nvSpPr>
          <p:cNvPr id="90" name="Text 86"/>
          <p:cNvSpPr txBox="1"/>
          <p:nvPr/>
        </p:nvSpPr>
        <p:spPr>
          <a:xfrm>
            <a:off x="761695" y="9715500"/>
            <a:ext cx="16764610" cy="191110"/>
          </a:xfrm>
          <a:prstGeom prst="rect">
            <a:avLst/>
          </a:prstGeom>
          <a:noFill/>
          <a:ln/>
        </p:spPr>
        <p:txBody>
          <a:bodyPr wrap="none" lIns="0" tIns="0" rIns="0" bIns="0" rtlCol="0" anchor="ctr"/>
          <a:lstStyle/>
          <a:p>
            <a:pPr algn="l" indent="0" marL="0">
              <a:buNone/>
            </a:pPr>
            <a:r>
              <a:rPr lang="en-US" sz="1050" spc="42" kern="0" dirty="0">
                <a:solidFill>
                  <a:srgbClr val="756E5F"/>
                </a:solidFill>
                <a:latin typeface="IBM Plex Mono" pitchFamily="34" charset="0"/>
                <a:ea typeface="IBM Plex Mono" pitchFamily="34" charset="-122"/>
                <a:cs typeface="IBM Plex Mono" pitchFamily="34" charset="-120"/>
              </a:rPr>
              <a:t>※ 내부 테스트용 더미(가상) 데이터</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ECE1"/>
        </a:solidFill>
      </p:bgPr>
    </p:bg>
    <p:spTree>
      <p:nvGrpSpPr>
        <p:cNvPr id="1" name=""/>
        <p:cNvGrpSpPr/>
        <p:nvPr/>
      </p:nvGrpSpPr>
      <p:grpSpPr>
        <a:xfrm>
          <a:off x="0" y="0"/>
          <a:ext cx="0" cy="0"/>
          <a:chOff x="0" y="0"/>
          <a:chExt cx="0" cy="0"/>
        </a:xfrm>
      </p:grpSpPr>
      <p:pic>
        <p:nvPicPr>
          <p:cNvPr id="3" name="Image 0" descr="gen-dedup-ddc72069e50c60be25b8eb9ead861247.png">    </p:cNvPr>
          <p:cNvPicPr>
            <a:picLocks noChangeAspect="1"/>
          </p:cNvPicPr>
          <p:nvPr/>
        </p:nvPicPr>
        <p:blipFill>
          <a:blip r:embed="rId1"/>
          <a:srcRect l="-422" r="-422" t="0" b="0"/>
          <a:stretch/>
        </p:blipFill>
        <p:spPr>
          <a:xfrm>
            <a:off x="761695" y="2171700"/>
            <a:ext cx="838505" cy="28346"/>
          </a:xfrm>
          <a:prstGeom prst="rect">
            <a:avLst/>
          </a:prstGeom>
        </p:spPr>
      </p:pic>
      <p:sp>
        <p:nvSpPr>
          <p:cNvPr id="4" name="Shape 0"/>
          <p:cNvSpPr/>
          <p:nvPr/>
        </p:nvSpPr>
        <p:spPr>
          <a:xfrm>
            <a:off x="761695" y="5715000"/>
            <a:ext cx="7810805" cy="2095805"/>
          </a:xfrm>
          <a:prstGeom prst="roundRect">
            <a:avLst>
              <a:gd name="adj" fmla="val 2749"/>
            </a:avLst>
          </a:prstGeom>
          <a:solidFill>
            <a:srgbClr val="FAF6EA"/>
          </a:solidFill>
          <a:ln w="12700">
            <a:solidFill>
              <a:srgbClr val="D6CFBB"/>
            </a:solidFill>
            <a:prstDash val="solid"/>
          </a:ln>
        </p:spPr>
      </p:sp>
      <p:sp>
        <p:nvSpPr>
          <p:cNvPr id="5" name="Shape 1"/>
          <p:cNvSpPr/>
          <p:nvPr/>
        </p:nvSpPr>
        <p:spPr>
          <a:xfrm>
            <a:off x="9239098" y="2667305"/>
            <a:ext cx="3810305" cy="3238805"/>
          </a:xfrm>
          <a:prstGeom prst="roundRect">
            <a:avLst>
              <a:gd name="adj" fmla="val 1779"/>
            </a:avLst>
          </a:prstGeom>
          <a:solidFill>
            <a:srgbClr val="FAF6EA"/>
          </a:solidFill>
          <a:ln w="12700">
            <a:solidFill>
              <a:srgbClr val="D6CFBB"/>
            </a:solidFill>
            <a:prstDash val="solid"/>
          </a:ln>
        </p:spPr>
      </p:sp>
      <p:sp>
        <p:nvSpPr>
          <p:cNvPr id="6" name="Shape 2"/>
          <p:cNvSpPr/>
          <p:nvPr/>
        </p:nvSpPr>
        <p:spPr>
          <a:xfrm>
            <a:off x="13430707" y="2667305"/>
            <a:ext cx="3810305" cy="3238805"/>
          </a:xfrm>
          <a:prstGeom prst="roundRect">
            <a:avLst>
              <a:gd name="adj" fmla="val 1779"/>
            </a:avLst>
          </a:prstGeom>
          <a:solidFill>
            <a:srgbClr val="FAF6EA"/>
          </a:solidFill>
          <a:ln w="12700">
            <a:solidFill>
              <a:srgbClr val="D6CFBB"/>
            </a:solidFill>
            <a:prstDash val="solid"/>
          </a:ln>
        </p:spPr>
      </p:sp>
      <p:sp>
        <p:nvSpPr>
          <p:cNvPr id="7" name="Shape 3"/>
          <p:cNvSpPr/>
          <p:nvPr/>
        </p:nvSpPr>
        <p:spPr>
          <a:xfrm>
            <a:off x="9239098" y="6191402"/>
            <a:ext cx="8001000" cy="571500"/>
          </a:xfrm>
          <a:prstGeom prst="roundRect">
            <a:avLst>
              <a:gd name="adj" fmla="val 6720"/>
            </a:avLst>
          </a:prstGeom>
          <a:solidFill>
            <a:srgbClr val="FAF6EA"/>
          </a:solidFill>
          <a:ln w="12700">
            <a:solidFill>
              <a:srgbClr val="D6CFBB"/>
            </a:solidFill>
            <a:prstDash val="solid"/>
          </a:ln>
        </p:spPr>
      </p:sp>
      <p:sp>
        <p:nvSpPr>
          <p:cNvPr id="8" name="Text 4"/>
          <p:cNvSpPr txBox="1"/>
          <p:nvPr/>
        </p:nvSpPr>
        <p:spPr>
          <a:xfrm>
            <a:off x="761695" y="761695"/>
            <a:ext cx="5715000" cy="191110"/>
          </a:xfrm>
          <a:prstGeom prst="rect">
            <a:avLst/>
          </a:prstGeom>
          <a:noFill/>
          <a:ln/>
        </p:spPr>
        <p:txBody>
          <a:bodyPr wrap="none" lIns="0" tIns="0" rIns="0" bIns="0" rtlCol="0" anchor="ctr"/>
          <a:lstStyle/>
          <a:p>
            <a:pPr algn="l" indent="0" marL="0">
              <a:buNone/>
            </a:pPr>
            <a:r>
              <a:rPr lang="en-US" sz="1050" spc="189" kern="0" dirty="0">
                <a:solidFill>
                  <a:srgbClr val="756E5F"/>
                </a:solidFill>
                <a:latin typeface="IBM Plex Mono" pitchFamily="34" charset="0"/>
                <a:ea typeface="IBM Plex Mono" pitchFamily="34" charset="-122"/>
                <a:cs typeface="IBM Plex Mono" pitchFamily="34" charset="-120"/>
              </a:rPr>
              <a:t>09 · In-wafer 균일성</a:t>
            </a:r>
            <a:endParaRPr lang="en-US" sz="1050" dirty="0"/>
          </a:p>
        </p:txBody>
      </p:sp>
      <p:sp>
        <p:nvSpPr>
          <p:cNvPr id="9" name="Text 5"/>
          <p:cNvSpPr txBox="1"/>
          <p:nvPr/>
        </p:nvSpPr>
        <p:spPr>
          <a:xfrm>
            <a:off x="761695" y="1143000"/>
            <a:ext cx="16193110" cy="523951"/>
          </a:xfrm>
          <a:prstGeom prst="rect">
            <a:avLst/>
          </a:prstGeom>
          <a:noFill/>
          <a:ln/>
        </p:spPr>
        <p:txBody>
          <a:bodyPr wrap="none" lIns="0" tIns="0" rIns="0" bIns="0" rtlCol="0" anchor="ctr"/>
          <a:lstStyle/>
          <a:p>
            <a:pPr algn="l" indent="0" marL="0">
              <a:buNone/>
            </a:pPr>
            <a:r>
              <a:rPr lang="en-US" sz="3750" b="1" spc="-75" kern="0" dirty="0">
                <a:solidFill>
                  <a:srgbClr val="16130E"/>
                </a:solidFill>
                <a:latin typeface="IBM Plex Sans KR" pitchFamily="34" charset="0"/>
                <a:ea typeface="IBM Plex Sans KR" pitchFamily="34" charset="-122"/>
                <a:cs typeface="IBM Plex Sans KR" pitchFamily="34" charset="-120"/>
              </a:rPr>
              <a:t>In-wafer Uniformity &amp; 25pt Wafer Map</a:t>
            </a:r>
            <a:endParaRPr lang="en-US" sz="3750" dirty="0"/>
          </a:p>
        </p:txBody>
      </p:sp>
      <p:sp>
        <p:nvSpPr>
          <p:cNvPr id="10" name="Text 6"/>
          <p:cNvSpPr txBox="1"/>
          <p:nvPr/>
        </p:nvSpPr>
        <p:spPr>
          <a:xfrm>
            <a:off x="761695" y="1762049"/>
            <a:ext cx="16193110" cy="286207"/>
          </a:xfrm>
          <a:prstGeom prst="rect">
            <a:avLst/>
          </a:prstGeom>
          <a:noFill/>
          <a:ln/>
        </p:spPr>
        <p:txBody>
          <a:bodyPr wrap="none" lIns="0" tIns="0" rIns="0" bIns="0" rtlCol="0" anchor="ctr"/>
          <a:lstStyle/>
          <a:p>
            <a:pPr algn="l" indent="0" marL="0">
              <a:buNone/>
            </a:pPr>
            <a:r>
              <a:rPr lang="en-US" sz="1500" dirty="0">
                <a:solidFill>
                  <a:srgbClr val="756E5F"/>
                </a:solidFill>
                <a:latin typeface="IBM Plex Sans KR" pitchFamily="34" charset="0"/>
                <a:ea typeface="IBM Plex Sans KR" pitchFamily="34" charset="-122"/>
                <a:cs typeface="IBM Plex Sans KR" pitchFamily="34" charset="-120"/>
              </a:rPr>
              <a:t>AASI 기준 · M3 layer · 5 × 5 격자 · 색 = target 25.7 nm 대비 편차</a:t>
            </a:r>
            <a:endParaRPr lang="en-US" sz="1500" dirty="0"/>
          </a:p>
        </p:txBody>
      </p:sp>
      <p:sp>
        <p:nvSpPr>
          <p:cNvPr id="11" name="Text 7"/>
          <p:cNvSpPr txBox="1"/>
          <p:nvPr/>
        </p:nvSpPr>
        <p:spPr>
          <a:xfrm>
            <a:off x="761695" y="2476195"/>
            <a:ext cx="7810805" cy="305410"/>
          </a:xfrm>
          <a:prstGeom prst="rect">
            <a:avLst/>
          </a:prstGeom>
          <a:noFill/>
          <a:ln/>
        </p:spPr>
        <p:txBody>
          <a:bodyPr wrap="none" lIns="0" tIns="0" rIns="0" bIns="0" rtlCol="0" anchor="ctr"/>
          <a:lstStyle/>
          <a:p>
            <a:pPr algn="l" indent="0" marL="0">
              <a:buNone/>
            </a:pPr>
            <a:r>
              <a:rPr lang="en-US" sz="1575" dirty="0">
                <a:solidFill>
                  <a:srgbClr val="16130E"/>
                </a:solidFill>
                <a:latin typeface="IBM Plex Sans KR" pitchFamily="34" charset="0"/>
                <a:ea typeface="IBM Plex Sans KR" pitchFamily="34" charset="-122"/>
                <a:cs typeface="IBM Plex Sans KR" pitchFamily="34" charset="-120"/>
              </a:rPr>
              <a:t>Wafer 요약 지표</a:t>
            </a:r>
            <a:endParaRPr lang="en-US" sz="1575" dirty="0"/>
          </a:p>
        </p:txBody>
      </p:sp>
      <p:sp>
        <p:nvSpPr>
          <p:cNvPr id="12" name="Text 8"/>
          <p:cNvSpPr txBox="1"/>
          <p:nvPr/>
        </p:nvSpPr>
        <p:spPr>
          <a:xfrm>
            <a:off x="761695" y="2900477"/>
            <a:ext cx="1410005" cy="476402"/>
          </a:xfrm>
          <a:prstGeom prst="rect">
            <a:avLst/>
          </a:prstGeom>
          <a:solidFill>
            <a:srgbClr val="155E63">
              <a:alpha val="6000"/>
            </a:srgbClr>
          </a:solidFill>
          <a:ln w="12700">
            <a:solidFill>
              <a:srgbClr val="16130E"/>
            </a:solidFill>
          </a:ln>
        </p:spPr>
        <p:txBody>
          <a:bodyPr wrap="none" lIns="139700" tIns="101600" rIns="139700" bIns="101600" rtlCol="0" anchor="ctr"/>
          <a:lstStyle/>
          <a:p>
            <a:pPr algn="l" indent="0" marL="0">
              <a:buNone/>
            </a:pPr>
            <a:r>
              <a:rPr lang="en-US" sz="1350" b="1" dirty="0">
                <a:solidFill>
                  <a:srgbClr val="16130E"/>
                </a:solidFill>
                <a:latin typeface="IBM Plex Sans KR" pitchFamily="34" charset="0"/>
                <a:ea typeface="IBM Plex Sans KR" pitchFamily="34" charset="-122"/>
                <a:cs typeface="IBM Plex Sans KR" pitchFamily="34" charset="-120"/>
              </a:rPr>
              <a:t>Wafer</a:t>
            </a:r>
            <a:endParaRPr lang="en-US" sz="1350" dirty="0"/>
          </a:p>
        </p:txBody>
      </p:sp>
      <p:sp>
        <p:nvSpPr>
          <p:cNvPr id="13" name="Text 9"/>
          <p:cNvSpPr txBox="1"/>
          <p:nvPr/>
        </p:nvSpPr>
        <p:spPr>
          <a:xfrm>
            <a:off x="2168042" y="2900477"/>
            <a:ext cx="1724558" cy="476402"/>
          </a:xfrm>
          <a:prstGeom prst="rect">
            <a:avLst/>
          </a:prstGeom>
          <a:solidFill>
            <a:srgbClr val="155E63">
              <a:alpha val="6000"/>
            </a:srgbClr>
          </a:solidFill>
          <a:ln w="12700">
            <a:solidFill>
              <a:srgbClr val="16130E"/>
            </a:solidFill>
          </a:ln>
        </p:spPr>
        <p:txBody>
          <a:bodyPr wrap="none" lIns="139700" tIns="101600" rIns="139700" bIns="101600" rtlCol="0" anchor="ctr"/>
          <a:lstStyle/>
          <a:p>
            <a:pPr algn="l" indent="0" marL="0">
              <a:buNone/>
            </a:pPr>
            <a:r>
              <a:rPr lang="en-US" sz="1350" b="1" dirty="0">
                <a:solidFill>
                  <a:srgbClr val="16130E"/>
                </a:solidFill>
                <a:latin typeface="IBM Plex Sans KR" pitchFamily="34" charset="0"/>
                <a:ea typeface="IBM Plex Sans KR" pitchFamily="34" charset="-122"/>
                <a:cs typeface="IBM Plex Sans KR" pitchFamily="34" charset="-120"/>
              </a:rPr>
              <a:t>Group</a:t>
            </a:r>
            <a:endParaRPr lang="en-US" sz="1350" dirty="0"/>
          </a:p>
        </p:txBody>
      </p:sp>
      <p:sp>
        <p:nvSpPr>
          <p:cNvPr id="14" name="Text 10"/>
          <p:cNvSpPr txBox="1"/>
          <p:nvPr/>
        </p:nvSpPr>
        <p:spPr>
          <a:xfrm>
            <a:off x="3886200" y="2900477"/>
            <a:ext cx="1724558" cy="476402"/>
          </a:xfrm>
          <a:prstGeom prst="rect">
            <a:avLst/>
          </a:prstGeom>
          <a:solidFill>
            <a:srgbClr val="155E63">
              <a:alpha val="6000"/>
            </a:srgbClr>
          </a:solidFill>
          <a:ln w="12700">
            <a:solidFill>
              <a:srgbClr val="16130E"/>
            </a:solidFill>
          </a:ln>
        </p:spPr>
        <p:txBody>
          <a:bodyPr wrap="square" lIns="139700" tIns="101600" rIns="139700" bIns="101600" rtlCol="0" anchor="ctr"/>
          <a:lstStyle/>
          <a:p>
            <a:pPr algn="r" indent="0" marL="0">
              <a:buNone/>
            </a:pPr>
            <a:r>
              <a:rPr lang="en-US" sz="1275" b="1" dirty="0">
                <a:solidFill>
                  <a:srgbClr val="16130E"/>
                </a:solidFill>
                <a:latin typeface="IBM Plex Mono" pitchFamily="34" charset="0"/>
                <a:ea typeface="IBM Plex Mono" pitchFamily="34" charset="-122"/>
                <a:cs typeface="IBM Plex Mono" pitchFamily="34" charset="-120"/>
              </a:rPr>
              <a:t>WIW 3σ (%)</a:t>
            </a:r>
            <a:endParaRPr lang="en-US" sz="1275" dirty="0"/>
          </a:p>
        </p:txBody>
      </p:sp>
      <p:sp>
        <p:nvSpPr>
          <p:cNvPr id="15" name="Text 11"/>
          <p:cNvSpPr txBox="1"/>
          <p:nvPr/>
        </p:nvSpPr>
        <p:spPr>
          <a:xfrm>
            <a:off x="5604358" y="2900477"/>
            <a:ext cx="1562710" cy="476402"/>
          </a:xfrm>
          <a:prstGeom prst="rect">
            <a:avLst/>
          </a:prstGeom>
          <a:solidFill>
            <a:srgbClr val="155E63">
              <a:alpha val="6000"/>
            </a:srgbClr>
          </a:solidFill>
          <a:ln w="12700">
            <a:solidFill>
              <a:srgbClr val="16130E"/>
            </a:solidFill>
          </a:ln>
        </p:spPr>
        <p:txBody>
          <a:bodyPr wrap="square" lIns="139700" tIns="101600" rIns="139700" bIns="101600" rtlCol="0" anchor="ctr"/>
          <a:lstStyle/>
          <a:p>
            <a:pPr algn="r" indent="0" marL="0">
              <a:buNone/>
            </a:pPr>
            <a:r>
              <a:rPr lang="en-US" sz="1275" b="1" dirty="0">
                <a:solidFill>
                  <a:srgbClr val="16130E"/>
                </a:solidFill>
                <a:latin typeface="IBM Plex Mono" pitchFamily="34" charset="0"/>
                <a:ea typeface="IBM Plex Mono" pitchFamily="34" charset="-122"/>
                <a:cs typeface="IBM Plex Mono" pitchFamily="34" charset="-120"/>
              </a:rPr>
              <a:t>Range (nm)</a:t>
            </a:r>
            <a:endParaRPr lang="en-US" sz="1275" dirty="0"/>
          </a:p>
        </p:txBody>
      </p:sp>
      <p:sp>
        <p:nvSpPr>
          <p:cNvPr id="16" name="Text 12"/>
          <p:cNvSpPr txBox="1"/>
          <p:nvPr/>
        </p:nvSpPr>
        <p:spPr>
          <a:xfrm>
            <a:off x="7166153" y="2900477"/>
            <a:ext cx="1410005" cy="476402"/>
          </a:xfrm>
          <a:prstGeom prst="rect">
            <a:avLst/>
          </a:prstGeom>
          <a:solidFill>
            <a:srgbClr val="155E63">
              <a:alpha val="6000"/>
            </a:srgbClr>
          </a:solidFill>
          <a:ln w="12700">
            <a:solidFill>
              <a:srgbClr val="16130E"/>
            </a:solidFill>
          </a:ln>
        </p:spPr>
        <p:txBody>
          <a:bodyPr wrap="square" lIns="139700" tIns="101600" rIns="139700" bIns="101600" rtlCol="0" anchor="ctr"/>
          <a:lstStyle/>
          <a:p>
            <a:pPr algn="r" indent="0" marL="0">
              <a:buNone/>
            </a:pPr>
            <a:r>
              <a:rPr lang="en-US" sz="1275" b="1" dirty="0">
                <a:solidFill>
                  <a:srgbClr val="16130E"/>
                </a:solidFill>
                <a:latin typeface="IBM Plex Mono" pitchFamily="34" charset="0"/>
                <a:ea typeface="IBM Plex Mono" pitchFamily="34" charset="-122"/>
                <a:cs typeface="IBM Plex Mono" pitchFamily="34" charset="-120"/>
              </a:rPr>
              <a:t>Out-of-spec</a:t>
            </a:r>
            <a:endParaRPr lang="en-US" sz="1275" dirty="0"/>
          </a:p>
        </p:txBody>
      </p:sp>
      <p:sp>
        <p:nvSpPr>
          <p:cNvPr id="17" name="Shape 13"/>
          <p:cNvSpPr/>
          <p:nvPr/>
        </p:nvSpPr>
        <p:spPr>
          <a:xfrm>
            <a:off x="761695" y="3844138"/>
            <a:ext cx="1410005" cy="9144"/>
          </a:xfrm>
          <a:prstGeom prst="rect">
            <a:avLst/>
          </a:prstGeom>
          <a:solidFill>
            <a:srgbClr val="C7BFA8"/>
          </a:solidFill>
          <a:ln w="12700">
            <a:solidFill>
              <a:srgbClr val="C7BFA8">
                <a:alpha val="0"/>
              </a:srgbClr>
            </a:solidFill>
            <a:prstDash val="solid"/>
          </a:ln>
        </p:spPr>
      </p:sp>
      <p:sp>
        <p:nvSpPr>
          <p:cNvPr id="18" name="Text 14"/>
          <p:cNvSpPr txBox="1"/>
          <p:nvPr/>
        </p:nvSpPr>
        <p:spPr>
          <a:xfrm>
            <a:off x="761695" y="3376879"/>
            <a:ext cx="1410005"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Mono" pitchFamily="34" charset="0"/>
                <a:ea typeface="IBM Plex Mono" pitchFamily="34" charset="-122"/>
                <a:cs typeface="IBM Plex Mono" pitchFamily="34" charset="-120"/>
              </a:rPr>
              <a:t>W01</a:t>
            </a:r>
            <a:endParaRPr lang="en-US" sz="1350" dirty="0"/>
          </a:p>
        </p:txBody>
      </p:sp>
      <p:sp>
        <p:nvSpPr>
          <p:cNvPr id="19" name="Shape 15"/>
          <p:cNvSpPr/>
          <p:nvPr/>
        </p:nvSpPr>
        <p:spPr>
          <a:xfrm>
            <a:off x="2168042" y="3844138"/>
            <a:ext cx="1723644" cy="9144"/>
          </a:xfrm>
          <a:prstGeom prst="rect">
            <a:avLst/>
          </a:prstGeom>
          <a:solidFill>
            <a:srgbClr val="C7BFA8"/>
          </a:solidFill>
          <a:ln w="12700">
            <a:solidFill>
              <a:srgbClr val="C7BFA8">
                <a:alpha val="0"/>
              </a:srgbClr>
            </a:solidFill>
            <a:prstDash val="solid"/>
          </a:ln>
        </p:spPr>
      </p:sp>
      <p:sp>
        <p:nvSpPr>
          <p:cNvPr id="20" name="Text 16"/>
          <p:cNvSpPr txBox="1"/>
          <p:nvPr/>
        </p:nvSpPr>
        <p:spPr>
          <a:xfrm>
            <a:off x="2472538" y="3376879"/>
            <a:ext cx="1420063"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Air gap</a:t>
            </a:r>
            <a:endParaRPr lang="en-US" sz="1350" dirty="0"/>
          </a:p>
        </p:txBody>
      </p:sp>
      <p:sp>
        <p:nvSpPr>
          <p:cNvPr id="21" name="Shape 17"/>
          <p:cNvSpPr/>
          <p:nvPr/>
        </p:nvSpPr>
        <p:spPr>
          <a:xfrm>
            <a:off x="3886200" y="3844138"/>
            <a:ext cx="1723644" cy="9144"/>
          </a:xfrm>
          <a:prstGeom prst="rect">
            <a:avLst/>
          </a:prstGeom>
          <a:solidFill>
            <a:srgbClr val="C7BFA8"/>
          </a:solidFill>
          <a:ln w="12700">
            <a:solidFill>
              <a:srgbClr val="C7BFA8">
                <a:alpha val="0"/>
              </a:srgbClr>
            </a:solidFill>
            <a:prstDash val="solid"/>
          </a:ln>
        </p:spPr>
      </p:sp>
      <p:sp>
        <p:nvSpPr>
          <p:cNvPr id="22" name="Text 18"/>
          <p:cNvSpPr txBox="1"/>
          <p:nvPr/>
        </p:nvSpPr>
        <p:spPr>
          <a:xfrm>
            <a:off x="3886200" y="3376879"/>
            <a:ext cx="1724558"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0.84</a:t>
            </a:r>
            <a:endParaRPr lang="en-US" sz="1275" dirty="0"/>
          </a:p>
        </p:txBody>
      </p:sp>
      <p:sp>
        <p:nvSpPr>
          <p:cNvPr id="23" name="Shape 19"/>
          <p:cNvSpPr/>
          <p:nvPr/>
        </p:nvSpPr>
        <p:spPr>
          <a:xfrm>
            <a:off x="5604358" y="3844138"/>
            <a:ext cx="1561795" cy="9144"/>
          </a:xfrm>
          <a:prstGeom prst="rect">
            <a:avLst/>
          </a:prstGeom>
          <a:solidFill>
            <a:srgbClr val="C7BFA8"/>
          </a:solidFill>
          <a:ln w="12700">
            <a:solidFill>
              <a:srgbClr val="C7BFA8">
                <a:alpha val="0"/>
              </a:srgbClr>
            </a:solidFill>
            <a:prstDash val="solid"/>
          </a:ln>
        </p:spPr>
      </p:sp>
      <p:sp>
        <p:nvSpPr>
          <p:cNvPr id="24" name="Text 20"/>
          <p:cNvSpPr txBox="1"/>
          <p:nvPr/>
        </p:nvSpPr>
        <p:spPr>
          <a:xfrm>
            <a:off x="5604358" y="3376879"/>
            <a:ext cx="1562710"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1.18</a:t>
            </a:r>
            <a:endParaRPr lang="en-US" sz="1275" dirty="0"/>
          </a:p>
        </p:txBody>
      </p:sp>
      <p:sp>
        <p:nvSpPr>
          <p:cNvPr id="25" name="Shape 21"/>
          <p:cNvSpPr/>
          <p:nvPr/>
        </p:nvSpPr>
        <p:spPr>
          <a:xfrm>
            <a:off x="7166153" y="3844138"/>
            <a:ext cx="1410005" cy="9144"/>
          </a:xfrm>
          <a:prstGeom prst="rect">
            <a:avLst/>
          </a:prstGeom>
          <a:solidFill>
            <a:srgbClr val="C7BFA8"/>
          </a:solidFill>
          <a:ln w="12700">
            <a:solidFill>
              <a:srgbClr val="C7BFA8">
                <a:alpha val="0"/>
              </a:srgbClr>
            </a:solidFill>
            <a:prstDash val="solid"/>
          </a:ln>
        </p:spPr>
      </p:sp>
      <p:sp>
        <p:nvSpPr>
          <p:cNvPr id="26" name="Text 22"/>
          <p:cNvSpPr txBox="1"/>
          <p:nvPr/>
        </p:nvSpPr>
        <p:spPr>
          <a:xfrm>
            <a:off x="7166153" y="3376879"/>
            <a:ext cx="1410005"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 / 25</a:t>
            </a:r>
            <a:endParaRPr lang="en-US" sz="1275" dirty="0"/>
          </a:p>
        </p:txBody>
      </p:sp>
      <p:sp>
        <p:nvSpPr>
          <p:cNvPr id="27" name="Shape 23"/>
          <p:cNvSpPr/>
          <p:nvPr/>
        </p:nvSpPr>
        <p:spPr>
          <a:xfrm>
            <a:off x="761695" y="4320540"/>
            <a:ext cx="1410005" cy="9144"/>
          </a:xfrm>
          <a:prstGeom prst="rect">
            <a:avLst/>
          </a:prstGeom>
          <a:solidFill>
            <a:srgbClr val="C7BFA8"/>
          </a:solidFill>
          <a:ln w="12700">
            <a:solidFill>
              <a:srgbClr val="C7BFA8">
                <a:alpha val="0"/>
              </a:srgbClr>
            </a:solidFill>
            <a:prstDash val="solid"/>
          </a:ln>
        </p:spPr>
      </p:sp>
      <p:sp>
        <p:nvSpPr>
          <p:cNvPr id="28" name="Text 24"/>
          <p:cNvSpPr txBox="1"/>
          <p:nvPr/>
        </p:nvSpPr>
        <p:spPr>
          <a:xfrm>
            <a:off x="761695" y="3853282"/>
            <a:ext cx="1410005"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Mono" pitchFamily="34" charset="0"/>
                <a:ea typeface="IBM Plex Mono" pitchFamily="34" charset="-122"/>
                <a:cs typeface="IBM Plex Mono" pitchFamily="34" charset="-120"/>
              </a:rPr>
              <a:t>W02</a:t>
            </a:r>
            <a:endParaRPr lang="en-US" sz="1350" dirty="0"/>
          </a:p>
        </p:txBody>
      </p:sp>
      <p:sp>
        <p:nvSpPr>
          <p:cNvPr id="29" name="Shape 25"/>
          <p:cNvSpPr/>
          <p:nvPr/>
        </p:nvSpPr>
        <p:spPr>
          <a:xfrm>
            <a:off x="2168042" y="4320540"/>
            <a:ext cx="1723644" cy="9144"/>
          </a:xfrm>
          <a:prstGeom prst="rect">
            <a:avLst/>
          </a:prstGeom>
          <a:solidFill>
            <a:srgbClr val="C7BFA8"/>
          </a:solidFill>
          <a:ln w="12700">
            <a:solidFill>
              <a:srgbClr val="C7BFA8">
                <a:alpha val="0"/>
              </a:srgbClr>
            </a:solidFill>
            <a:prstDash val="solid"/>
          </a:ln>
        </p:spPr>
      </p:sp>
      <p:sp>
        <p:nvSpPr>
          <p:cNvPr id="30" name="Text 26"/>
          <p:cNvSpPr txBox="1"/>
          <p:nvPr/>
        </p:nvSpPr>
        <p:spPr>
          <a:xfrm>
            <a:off x="2472538" y="3853282"/>
            <a:ext cx="1420063"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Air gap</a:t>
            </a:r>
            <a:endParaRPr lang="en-US" sz="1350" dirty="0"/>
          </a:p>
        </p:txBody>
      </p:sp>
      <p:sp>
        <p:nvSpPr>
          <p:cNvPr id="31" name="Shape 27"/>
          <p:cNvSpPr/>
          <p:nvPr/>
        </p:nvSpPr>
        <p:spPr>
          <a:xfrm>
            <a:off x="3886200" y="4320540"/>
            <a:ext cx="1723644" cy="9144"/>
          </a:xfrm>
          <a:prstGeom prst="rect">
            <a:avLst/>
          </a:prstGeom>
          <a:solidFill>
            <a:srgbClr val="C7BFA8"/>
          </a:solidFill>
          <a:ln w="12700">
            <a:solidFill>
              <a:srgbClr val="C7BFA8">
                <a:alpha val="0"/>
              </a:srgbClr>
            </a:solidFill>
            <a:prstDash val="solid"/>
          </a:ln>
        </p:spPr>
      </p:sp>
      <p:sp>
        <p:nvSpPr>
          <p:cNvPr id="32" name="Text 28"/>
          <p:cNvSpPr txBox="1"/>
          <p:nvPr/>
        </p:nvSpPr>
        <p:spPr>
          <a:xfrm>
            <a:off x="3886200" y="3853282"/>
            <a:ext cx="1724558"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0.91</a:t>
            </a:r>
            <a:endParaRPr lang="en-US" sz="1275" dirty="0"/>
          </a:p>
        </p:txBody>
      </p:sp>
      <p:sp>
        <p:nvSpPr>
          <p:cNvPr id="33" name="Shape 29"/>
          <p:cNvSpPr/>
          <p:nvPr/>
        </p:nvSpPr>
        <p:spPr>
          <a:xfrm>
            <a:off x="5604358" y="4320540"/>
            <a:ext cx="1561795" cy="9144"/>
          </a:xfrm>
          <a:prstGeom prst="rect">
            <a:avLst/>
          </a:prstGeom>
          <a:solidFill>
            <a:srgbClr val="C7BFA8"/>
          </a:solidFill>
          <a:ln w="12700">
            <a:solidFill>
              <a:srgbClr val="C7BFA8">
                <a:alpha val="0"/>
              </a:srgbClr>
            </a:solidFill>
            <a:prstDash val="solid"/>
          </a:ln>
        </p:spPr>
      </p:sp>
      <p:sp>
        <p:nvSpPr>
          <p:cNvPr id="34" name="Text 30"/>
          <p:cNvSpPr txBox="1"/>
          <p:nvPr/>
        </p:nvSpPr>
        <p:spPr>
          <a:xfrm>
            <a:off x="5604358" y="3853282"/>
            <a:ext cx="1562710"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1.09</a:t>
            </a:r>
            <a:endParaRPr lang="en-US" sz="1275" dirty="0"/>
          </a:p>
        </p:txBody>
      </p:sp>
      <p:sp>
        <p:nvSpPr>
          <p:cNvPr id="35" name="Shape 31"/>
          <p:cNvSpPr/>
          <p:nvPr/>
        </p:nvSpPr>
        <p:spPr>
          <a:xfrm>
            <a:off x="7166153" y="4320540"/>
            <a:ext cx="1410005" cy="9144"/>
          </a:xfrm>
          <a:prstGeom prst="rect">
            <a:avLst/>
          </a:prstGeom>
          <a:solidFill>
            <a:srgbClr val="C7BFA8"/>
          </a:solidFill>
          <a:ln w="12700">
            <a:solidFill>
              <a:srgbClr val="C7BFA8">
                <a:alpha val="0"/>
              </a:srgbClr>
            </a:solidFill>
            <a:prstDash val="solid"/>
          </a:ln>
        </p:spPr>
      </p:sp>
      <p:sp>
        <p:nvSpPr>
          <p:cNvPr id="36" name="Text 32"/>
          <p:cNvSpPr txBox="1"/>
          <p:nvPr/>
        </p:nvSpPr>
        <p:spPr>
          <a:xfrm>
            <a:off x="7166153" y="3853282"/>
            <a:ext cx="1410005"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 / 25</a:t>
            </a:r>
            <a:endParaRPr lang="en-US" sz="1275" dirty="0"/>
          </a:p>
        </p:txBody>
      </p:sp>
      <p:sp>
        <p:nvSpPr>
          <p:cNvPr id="37" name="Shape 33"/>
          <p:cNvSpPr/>
          <p:nvPr/>
        </p:nvSpPr>
        <p:spPr>
          <a:xfrm>
            <a:off x="761695" y="4796028"/>
            <a:ext cx="1410005" cy="9144"/>
          </a:xfrm>
          <a:prstGeom prst="rect">
            <a:avLst/>
          </a:prstGeom>
          <a:solidFill>
            <a:srgbClr val="C7BFA8"/>
          </a:solidFill>
          <a:ln w="12700">
            <a:solidFill>
              <a:srgbClr val="C7BFA8">
                <a:alpha val="0"/>
              </a:srgbClr>
            </a:solidFill>
            <a:prstDash val="solid"/>
          </a:ln>
        </p:spPr>
      </p:sp>
      <p:sp>
        <p:nvSpPr>
          <p:cNvPr id="38" name="Text 34"/>
          <p:cNvSpPr txBox="1"/>
          <p:nvPr/>
        </p:nvSpPr>
        <p:spPr>
          <a:xfrm>
            <a:off x="761695" y="4328770"/>
            <a:ext cx="1410005"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Mono" pitchFamily="34" charset="0"/>
                <a:ea typeface="IBM Plex Mono" pitchFamily="34" charset="-122"/>
                <a:cs typeface="IBM Plex Mono" pitchFamily="34" charset="-120"/>
              </a:rPr>
              <a:t>W03</a:t>
            </a:r>
            <a:endParaRPr lang="en-US" sz="1350" dirty="0"/>
          </a:p>
        </p:txBody>
      </p:sp>
      <p:sp>
        <p:nvSpPr>
          <p:cNvPr id="39" name="Shape 35"/>
          <p:cNvSpPr/>
          <p:nvPr/>
        </p:nvSpPr>
        <p:spPr>
          <a:xfrm>
            <a:off x="2168042" y="4796028"/>
            <a:ext cx="1723644" cy="9144"/>
          </a:xfrm>
          <a:prstGeom prst="rect">
            <a:avLst/>
          </a:prstGeom>
          <a:solidFill>
            <a:srgbClr val="C7BFA8"/>
          </a:solidFill>
          <a:ln w="12700">
            <a:solidFill>
              <a:srgbClr val="C7BFA8">
                <a:alpha val="0"/>
              </a:srgbClr>
            </a:solidFill>
            <a:prstDash val="solid"/>
          </a:ln>
        </p:spPr>
      </p:sp>
      <p:sp>
        <p:nvSpPr>
          <p:cNvPr id="40" name="Text 36"/>
          <p:cNvSpPr txBox="1"/>
          <p:nvPr/>
        </p:nvSpPr>
        <p:spPr>
          <a:xfrm>
            <a:off x="2472538" y="4328770"/>
            <a:ext cx="1420063"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Reference</a:t>
            </a:r>
            <a:endParaRPr lang="en-US" sz="1350" dirty="0"/>
          </a:p>
        </p:txBody>
      </p:sp>
      <p:sp>
        <p:nvSpPr>
          <p:cNvPr id="41" name="Shape 37"/>
          <p:cNvSpPr/>
          <p:nvPr/>
        </p:nvSpPr>
        <p:spPr>
          <a:xfrm>
            <a:off x="3886200" y="4796028"/>
            <a:ext cx="1723644" cy="9144"/>
          </a:xfrm>
          <a:prstGeom prst="rect">
            <a:avLst/>
          </a:prstGeom>
          <a:solidFill>
            <a:srgbClr val="C7BFA8"/>
          </a:solidFill>
          <a:ln w="12700">
            <a:solidFill>
              <a:srgbClr val="C7BFA8">
                <a:alpha val="0"/>
              </a:srgbClr>
            </a:solidFill>
            <a:prstDash val="solid"/>
          </a:ln>
        </p:spPr>
      </p:sp>
      <p:sp>
        <p:nvSpPr>
          <p:cNvPr id="42" name="Text 38"/>
          <p:cNvSpPr txBox="1"/>
          <p:nvPr/>
        </p:nvSpPr>
        <p:spPr>
          <a:xfrm>
            <a:off x="3886200" y="4328770"/>
            <a:ext cx="1724558"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1.32</a:t>
            </a:r>
            <a:endParaRPr lang="en-US" sz="1275" dirty="0"/>
          </a:p>
        </p:txBody>
      </p:sp>
      <p:sp>
        <p:nvSpPr>
          <p:cNvPr id="43" name="Shape 39"/>
          <p:cNvSpPr/>
          <p:nvPr/>
        </p:nvSpPr>
        <p:spPr>
          <a:xfrm>
            <a:off x="5604358" y="4796028"/>
            <a:ext cx="1561795" cy="9144"/>
          </a:xfrm>
          <a:prstGeom prst="rect">
            <a:avLst/>
          </a:prstGeom>
          <a:solidFill>
            <a:srgbClr val="C7BFA8"/>
          </a:solidFill>
          <a:ln w="12700">
            <a:solidFill>
              <a:srgbClr val="C7BFA8">
                <a:alpha val="0"/>
              </a:srgbClr>
            </a:solidFill>
            <a:prstDash val="solid"/>
          </a:ln>
        </p:spPr>
      </p:sp>
      <p:sp>
        <p:nvSpPr>
          <p:cNvPr id="44" name="Text 40"/>
          <p:cNvSpPr txBox="1"/>
          <p:nvPr/>
        </p:nvSpPr>
        <p:spPr>
          <a:xfrm>
            <a:off x="5604358" y="4328770"/>
            <a:ext cx="1562710"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1.42</a:t>
            </a:r>
            <a:endParaRPr lang="en-US" sz="1275" dirty="0"/>
          </a:p>
        </p:txBody>
      </p:sp>
      <p:sp>
        <p:nvSpPr>
          <p:cNvPr id="45" name="Shape 41"/>
          <p:cNvSpPr/>
          <p:nvPr/>
        </p:nvSpPr>
        <p:spPr>
          <a:xfrm>
            <a:off x="7166153" y="4796028"/>
            <a:ext cx="1410005" cy="9144"/>
          </a:xfrm>
          <a:prstGeom prst="rect">
            <a:avLst/>
          </a:prstGeom>
          <a:solidFill>
            <a:srgbClr val="C7BFA8"/>
          </a:solidFill>
          <a:ln w="12700">
            <a:solidFill>
              <a:srgbClr val="C7BFA8">
                <a:alpha val="0"/>
              </a:srgbClr>
            </a:solidFill>
            <a:prstDash val="solid"/>
          </a:ln>
        </p:spPr>
      </p:sp>
      <p:sp>
        <p:nvSpPr>
          <p:cNvPr id="46" name="Text 42"/>
          <p:cNvSpPr txBox="1"/>
          <p:nvPr/>
        </p:nvSpPr>
        <p:spPr>
          <a:xfrm>
            <a:off x="7166153" y="4328770"/>
            <a:ext cx="1410005"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 / 25</a:t>
            </a:r>
            <a:endParaRPr lang="en-US" sz="1275" dirty="0"/>
          </a:p>
        </p:txBody>
      </p:sp>
      <p:sp>
        <p:nvSpPr>
          <p:cNvPr id="47" name="Shape 43"/>
          <p:cNvSpPr/>
          <p:nvPr/>
        </p:nvSpPr>
        <p:spPr>
          <a:xfrm>
            <a:off x="761695" y="5272430"/>
            <a:ext cx="1410005" cy="9144"/>
          </a:xfrm>
          <a:prstGeom prst="rect">
            <a:avLst/>
          </a:prstGeom>
          <a:solidFill>
            <a:srgbClr val="16130E"/>
          </a:solidFill>
          <a:ln w="12700">
            <a:solidFill>
              <a:srgbClr val="16130E">
                <a:alpha val="0"/>
              </a:srgbClr>
            </a:solidFill>
            <a:prstDash val="solid"/>
          </a:ln>
        </p:spPr>
      </p:sp>
      <p:sp>
        <p:nvSpPr>
          <p:cNvPr id="48" name="Text 44"/>
          <p:cNvSpPr txBox="1"/>
          <p:nvPr/>
        </p:nvSpPr>
        <p:spPr>
          <a:xfrm>
            <a:off x="761695" y="4805172"/>
            <a:ext cx="1410005"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Mono" pitchFamily="34" charset="0"/>
                <a:ea typeface="IBM Plex Mono" pitchFamily="34" charset="-122"/>
                <a:cs typeface="IBM Plex Mono" pitchFamily="34" charset="-120"/>
              </a:rPr>
              <a:t>W04</a:t>
            </a:r>
            <a:endParaRPr lang="en-US" sz="1350" dirty="0"/>
          </a:p>
        </p:txBody>
      </p:sp>
      <p:sp>
        <p:nvSpPr>
          <p:cNvPr id="49" name="Shape 45"/>
          <p:cNvSpPr/>
          <p:nvPr/>
        </p:nvSpPr>
        <p:spPr>
          <a:xfrm>
            <a:off x="2168042" y="5272430"/>
            <a:ext cx="1723644" cy="9144"/>
          </a:xfrm>
          <a:prstGeom prst="rect">
            <a:avLst/>
          </a:prstGeom>
          <a:solidFill>
            <a:srgbClr val="16130E"/>
          </a:solidFill>
          <a:ln w="12700">
            <a:solidFill>
              <a:srgbClr val="16130E">
                <a:alpha val="0"/>
              </a:srgbClr>
            </a:solidFill>
            <a:prstDash val="solid"/>
          </a:ln>
        </p:spPr>
      </p:sp>
      <p:sp>
        <p:nvSpPr>
          <p:cNvPr id="50" name="Text 46"/>
          <p:cNvSpPr txBox="1"/>
          <p:nvPr/>
        </p:nvSpPr>
        <p:spPr>
          <a:xfrm>
            <a:off x="2472538" y="4805172"/>
            <a:ext cx="1420063" cy="362102"/>
          </a:xfrm>
          <a:prstGeom prst="rect">
            <a:avLst/>
          </a:prstGeom>
          <a:solidFill>
            <a:srgbClr val="FFFFFF">
              <a:alpha val="0"/>
            </a:srgbClr>
          </a:solidFill>
          <a:ln>
            <a:solidFill>
              <a:srgbClr val="FFFFFF">
                <a:alpha val="0"/>
              </a:srgbClr>
            </a:solidFill>
          </a:ln>
        </p:spPr>
        <p:txBody>
          <a:bodyPr wrap="none" lIns="139700" tIns="101600" rIns="139700" bIns="0" rtlCol="0" anchor="ct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Reference</a:t>
            </a:r>
            <a:endParaRPr lang="en-US" sz="1350" dirty="0"/>
          </a:p>
        </p:txBody>
      </p:sp>
      <p:sp>
        <p:nvSpPr>
          <p:cNvPr id="51" name="Shape 47"/>
          <p:cNvSpPr/>
          <p:nvPr/>
        </p:nvSpPr>
        <p:spPr>
          <a:xfrm>
            <a:off x="3886200" y="5272430"/>
            <a:ext cx="1723644" cy="9144"/>
          </a:xfrm>
          <a:prstGeom prst="rect">
            <a:avLst/>
          </a:prstGeom>
          <a:solidFill>
            <a:srgbClr val="16130E"/>
          </a:solidFill>
          <a:ln w="12700">
            <a:solidFill>
              <a:srgbClr val="16130E">
                <a:alpha val="0"/>
              </a:srgbClr>
            </a:solidFill>
            <a:prstDash val="solid"/>
          </a:ln>
        </p:spPr>
      </p:sp>
      <p:sp>
        <p:nvSpPr>
          <p:cNvPr id="52" name="Text 48"/>
          <p:cNvSpPr txBox="1"/>
          <p:nvPr/>
        </p:nvSpPr>
        <p:spPr>
          <a:xfrm>
            <a:off x="3886200" y="4805172"/>
            <a:ext cx="1724558"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1.24</a:t>
            </a:r>
            <a:endParaRPr lang="en-US" sz="1275" dirty="0"/>
          </a:p>
        </p:txBody>
      </p:sp>
      <p:sp>
        <p:nvSpPr>
          <p:cNvPr id="53" name="Shape 49"/>
          <p:cNvSpPr/>
          <p:nvPr/>
        </p:nvSpPr>
        <p:spPr>
          <a:xfrm>
            <a:off x="5604358" y="5272430"/>
            <a:ext cx="1561795" cy="9144"/>
          </a:xfrm>
          <a:prstGeom prst="rect">
            <a:avLst/>
          </a:prstGeom>
          <a:solidFill>
            <a:srgbClr val="16130E"/>
          </a:solidFill>
          <a:ln w="12700">
            <a:solidFill>
              <a:srgbClr val="16130E">
                <a:alpha val="0"/>
              </a:srgbClr>
            </a:solidFill>
            <a:prstDash val="solid"/>
          </a:ln>
        </p:spPr>
      </p:sp>
      <p:sp>
        <p:nvSpPr>
          <p:cNvPr id="54" name="Text 50"/>
          <p:cNvSpPr txBox="1"/>
          <p:nvPr/>
        </p:nvSpPr>
        <p:spPr>
          <a:xfrm>
            <a:off x="5604358" y="4805172"/>
            <a:ext cx="1562710"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1.36</a:t>
            </a:r>
            <a:endParaRPr lang="en-US" sz="1275" dirty="0"/>
          </a:p>
        </p:txBody>
      </p:sp>
      <p:sp>
        <p:nvSpPr>
          <p:cNvPr id="55" name="Shape 51"/>
          <p:cNvSpPr/>
          <p:nvPr/>
        </p:nvSpPr>
        <p:spPr>
          <a:xfrm>
            <a:off x="7166153" y="5272430"/>
            <a:ext cx="1410005" cy="9144"/>
          </a:xfrm>
          <a:prstGeom prst="rect">
            <a:avLst/>
          </a:prstGeom>
          <a:solidFill>
            <a:srgbClr val="16130E"/>
          </a:solidFill>
          <a:ln w="12700">
            <a:solidFill>
              <a:srgbClr val="16130E">
                <a:alpha val="0"/>
              </a:srgbClr>
            </a:solidFill>
            <a:prstDash val="solid"/>
          </a:ln>
        </p:spPr>
      </p:sp>
      <p:sp>
        <p:nvSpPr>
          <p:cNvPr id="56" name="Text 52"/>
          <p:cNvSpPr txBox="1"/>
          <p:nvPr/>
        </p:nvSpPr>
        <p:spPr>
          <a:xfrm>
            <a:off x="7166153" y="4805172"/>
            <a:ext cx="1410005" cy="362102"/>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 / 25</a:t>
            </a:r>
            <a:endParaRPr lang="en-US" sz="1275" dirty="0"/>
          </a:p>
        </p:txBody>
      </p:sp>
      <p:sp>
        <p:nvSpPr>
          <p:cNvPr id="57" name="Shape 53"/>
          <p:cNvSpPr/>
          <p:nvPr/>
        </p:nvSpPr>
        <p:spPr>
          <a:xfrm>
            <a:off x="2301545" y="3584448"/>
            <a:ext cx="95098" cy="95098"/>
          </a:xfrm>
          <a:prstGeom prst="rect">
            <a:avLst/>
          </a:prstGeom>
          <a:solidFill>
            <a:srgbClr val="155E63"/>
          </a:solidFill>
          <a:ln w="12700">
            <a:solidFill>
              <a:srgbClr val="FFFFFF">
                <a:alpha val="0"/>
              </a:srgbClr>
            </a:solidFill>
            <a:prstDash val="solid"/>
          </a:ln>
        </p:spPr>
      </p:sp>
      <p:sp>
        <p:nvSpPr>
          <p:cNvPr id="58" name="Shape 54"/>
          <p:cNvSpPr/>
          <p:nvPr/>
        </p:nvSpPr>
        <p:spPr>
          <a:xfrm>
            <a:off x="2301545" y="4060850"/>
            <a:ext cx="95098" cy="95098"/>
          </a:xfrm>
          <a:prstGeom prst="rect">
            <a:avLst/>
          </a:prstGeom>
          <a:solidFill>
            <a:srgbClr val="155E63"/>
          </a:solidFill>
          <a:ln w="12700">
            <a:solidFill>
              <a:srgbClr val="FFFFFF">
                <a:alpha val="0"/>
              </a:srgbClr>
            </a:solidFill>
            <a:prstDash val="solid"/>
          </a:ln>
        </p:spPr>
      </p:sp>
      <p:sp>
        <p:nvSpPr>
          <p:cNvPr id="59" name="Shape 55"/>
          <p:cNvSpPr/>
          <p:nvPr/>
        </p:nvSpPr>
        <p:spPr>
          <a:xfrm>
            <a:off x="2301545" y="4537253"/>
            <a:ext cx="95098" cy="95098"/>
          </a:xfrm>
          <a:prstGeom prst="rect">
            <a:avLst/>
          </a:prstGeom>
          <a:solidFill>
            <a:srgbClr val="9A4520"/>
          </a:solidFill>
          <a:ln w="12700">
            <a:solidFill>
              <a:srgbClr val="FFFFFF">
                <a:alpha val="0"/>
              </a:srgbClr>
            </a:solidFill>
            <a:prstDash val="solid"/>
          </a:ln>
        </p:spPr>
      </p:sp>
      <p:sp>
        <p:nvSpPr>
          <p:cNvPr id="60" name="Shape 56"/>
          <p:cNvSpPr/>
          <p:nvPr/>
        </p:nvSpPr>
        <p:spPr>
          <a:xfrm>
            <a:off x="2301545" y="5013655"/>
            <a:ext cx="95098" cy="95098"/>
          </a:xfrm>
          <a:prstGeom prst="rect">
            <a:avLst/>
          </a:prstGeom>
          <a:solidFill>
            <a:srgbClr val="9A4520"/>
          </a:solidFill>
          <a:ln w="12700">
            <a:solidFill>
              <a:srgbClr val="FFFFFF">
                <a:alpha val="0"/>
              </a:srgbClr>
            </a:solidFill>
            <a:prstDash val="solid"/>
          </a:ln>
        </p:spPr>
      </p:sp>
      <p:sp>
        <p:nvSpPr>
          <p:cNvPr id="61" name="Text 57"/>
          <p:cNvSpPr txBox="1"/>
          <p:nvPr/>
        </p:nvSpPr>
        <p:spPr>
          <a:xfrm>
            <a:off x="990295" y="5886907"/>
            <a:ext cx="7334402" cy="286207"/>
          </a:xfrm>
          <a:prstGeom prst="rect">
            <a:avLst/>
          </a:prstGeom>
          <a:noFill/>
          <a:ln/>
        </p:spPr>
        <p:txBody>
          <a:bodyPr wrap="none" lIns="0" tIns="0" rIns="0" bIns="0" rtlCol="0" anchor="ctr"/>
          <a:lstStyle/>
          <a:p>
            <a:pPr algn="l" indent="0" marL="0">
              <a:buNone/>
            </a:pPr>
            <a:r>
              <a:rPr lang="en-US" sz="1500" dirty="0">
                <a:solidFill>
                  <a:srgbClr val="16130E"/>
                </a:solidFill>
                <a:latin typeface="IBM Plex Sans KR" pitchFamily="34" charset="0"/>
                <a:ea typeface="IBM Plex Sans KR" pitchFamily="34" charset="-122"/>
                <a:cs typeface="IBM Plex Sans KR" pitchFamily="34" charset="-120"/>
              </a:rPr>
              <a:t>균일성 해석</a:t>
            </a:r>
            <a:endParaRPr lang="en-US" sz="1500" dirty="0"/>
          </a:p>
        </p:txBody>
      </p:sp>
      <p:sp>
        <p:nvSpPr>
          <p:cNvPr id="62" name="Text 58"/>
          <p:cNvSpPr txBox="1"/>
          <p:nvPr/>
        </p:nvSpPr>
        <p:spPr>
          <a:xfrm>
            <a:off x="990295" y="6286500"/>
            <a:ext cx="7615123" cy="247802"/>
          </a:xfrm>
          <a:prstGeom prst="rect">
            <a:avLst/>
          </a:prstGeom>
          <a:noFill/>
          <a:ln/>
        </p:spPr>
        <p:txBody>
          <a:bodyPr wrap="none" lIns="0" tIns="0" rIns="0" bIns="0" rtlCol="0" anchor="ctr"/>
          <a:lstStyle/>
          <a:p>
            <a:pPr algn="l" indent="0" marL="0">
              <a:buNone/>
            </a:pPr>
            <a:r>
              <a:rPr lang="en-US" sz="1275" dirty="0">
                <a:solidFill>
                  <a:srgbClr val="3A352D"/>
                </a:solidFill>
                <a:latin typeface="IBM Plex Sans KR" pitchFamily="34" charset="0"/>
                <a:ea typeface="IBM Plex Sans KR" pitchFamily="34" charset="-122"/>
                <a:cs typeface="IBM Plex Sans KR" pitchFamily="34" charset="-120"/>
              </a:rPr>
              <a:t>· Group A WIW 3σ 0.84 ~ 0.91 % · Group B 1.24 ~ 1.32 % — 그룹간 최대 0.5 %p 격차</a:t>
            </a:r>
            <a:endParaRPr lang="en-US" sz="1275" dirty="0"/>
          </a:p>
        </p:txBody>
      </p:sp>
      <p:sp>
        <p:nvSpPr>
          <p:cNvPr id="63" name="Text 59"/>
          <p:cNvSpPr txBox="1"/>
          <p:nvPr/>
        </p:nvSpPr>
        <p:spPr>
          <a:xfrm>
            <a:off x="990295" y="6605626"/>
            <a:ext cx="7751369" cy="247802"/>
          </a:xfrm>
          <a:prstGeom prst="rect">
            <a:avLst/>
          </a:prstGeom>
          <a:noFill/>
          <a:ln/>
        </p:spPr>
        <p:txBody>
          <a:bodyPr wrap="none" lIns="0" tIns="0" rIns="0" bIns="0" rtlCol="0" anchor="ctr"/>
          <a:lstStyle/>
          <a:p>
            <a:pPr algn="l" indent="0" marL="0">
              <a:buNone/>
            </a:pPr>
            <a:r>
              <a:rPr lang="en-US" sz="1275" dirty="0">
                <a:solidFill>
                  <a:srgbClr val="3A352D"/>
                </a:solidFill>
                <a:latin typeface="IBM Plex Sans KR" pitchFamily="34" charset="0"/>
                <a:ea typeface="IBM Plex Sans KR" pitchFamily="34" charset="-122"/>
                <a:cs typeface="IBM Plex Sans KR" pitchFamily="34" charset="-120"/>
              </a:rPr>
              <a:t>· 25 측정점 모두 ±0.10 nm 이내 nominal 범위 안 — Reference 쪽 변동 폭 30 ~ 35 % 더 큼</a:t>
            </a:r>
            <a:endParaRPr lang="en-US" sz="1275" dirty="0"/>
          </a:p>
        </p:txBody>
      </p:sp>
      <p:sp>
        <p:nvSpPr>
          <p:cNvPr id="64" name="Text 60"/>
          <p:cNvSpPr txBox="1"/>
          <p:nvPr/>
        </p:nvSpPr>
        <p:spPr>
          <a:xfrm>
            <a:off x="990295" y="6924751"/>
            <a:ext cx="8020202" cy="247802"/>
          </a:xfrm>
          <a:prstGeom prst="rect">
            <a:avLst/>
          </a:prstGeom>
          <a:noFill/>
          <a:ln/>
        </p:spPr>
        <p:txBody>
          <a:bodyPr wrap="none" lIns="0" tIns="0" rIns="0" bIns="0" rtlCol="0" anchor="ctr"/>
          <a:lstStyle/>
          <a:p>
            <a:pPr algn="l" indent="0" marL="0">
              <a:buNone/>
            </a:pPr>
            <a:r>
              <a:rPr lang="en-US" sz="1275" dirty="0">
                <a:solidFill>
                  <a:srgbClr val="3A352D"/>
                </a:solidFill>
                <a:latin typeface="IBM Plex Sans KR" pitchFamily="34" charset="0"/>
                <a:ea typeface="IBM Plex Sans KR" pitchFamily="34" charset="-122"/>
                <a:cs typeface="IBM Plex Sans KR" pitchFamily="34" charset="-120"/>
              </a:rPr>
              <a:t>· 동일 spec 조건에서 Reference wafer가 site당 분산이 더 펼쳐진다는 점이 우측 wafer map에서도 가시화된다</a:t>
            </a:r>
            <a:endParaRPr lang="en-US" sz="1275" dirty="0"/>
          </a:p>
        </p:txBody>
      </p:sp>
      <p:sp>
        <p:nvSpPr>
          <p:cNvPr id="65" name="Text 61"/>
          <p:cNvSpPr txBox="1"/>
          <p:nvPr/>
        </p:nvSpPr>
        <p:spPr>
          <a:xfrm>
            <a:off x="9467698" y="2800807"/>
            <a:ext cx="3581705" cy="257861"/>
          </a:xfrm>
          <a:prstGeom prst="rect">
            <a:avLst/>
          </a:prstGeom>
          <a:noFill/>
          <a:ln/>
        </p:spPr>
        <p:txBody>
          <a:bodyPr wrap="none" lIns="0" tIns="0" rIns="0" bIns="0" rtlCol="0" anchor="ctr"/>
          <a:lstStyle/>
          <a:p>
            <a:pPr algn="l" indent="0" marL="0">
              <a:buNone/>
            </a:pPr>
            <a:r>
              <a:rPr lang="en-US" sz="1350" dirty="0">
                <a:solidFill>
                  <a:srgbClr val="155E63"/>
                </a:solidFill>
                <a:latin typeface="IBM Plex Sans KR" pitchFamily="34" charset="0"/>
                <a:ea typeface="IBM Plex Sans KR" pitchFamily="34" charset="-122"/>
                <a:cs typeface="IBM Plex Sans KR" pitchFamily="34" charset="-120"/>
              </a:rPr>
              <a:t>W01 · AIR GAP </a:t>
            </a:r>
            <a:pPr algn="l" indent="0" marL="0">
              <a:buNone/>
            </a:pPr>
            <a:r>
              <a:rPr lang="en-US" sz="1050" dirty="0">
                <a:solidFill>
                  <a:srgbClr val="756E5F"/>
                </a:solidFill>
                <a:latin typeface="IBM Plex Mono" pitchFamily="34" charset="0"/>
                <a:ea typeface="IBM Plex Mono" pitchFamily="34" charset="-122"/>
                <a:cs typeface="IBM Plex Mono" pitchFamily="34" charset="-120"/>
              </a:rPr>
              <a:t>μ 25.68 · 3σ 0.42</a:t>
            </a:r>
            <a:endParaRPr lang="en-US" sz="1350" dirty="0"/>
          </a:p>
        </p:txBody>
      </p:sp>
      <p:sp>
        <p:nvSpPr>
          <p:cNvPr id="66" name="Text 62"/>
          <p:cNvSpPr txBox="1"/>
          <p:nvPr/>
        </p:nvSpPr>
        <p:spPr>
          <a:xfrm>
            <a:off x="9849002" y="3143707"/>
            <a:ext cx="495605" cy="305410"/>
          </a:xfrm>
          <a:prstGeom prst="rect">
            <a:avLst/>
          </a:prstGeom>
          <a:noFill/>
          <a:ln/>
        </p:spPr>
        <p:txBody>
          <a:bodyPr wrap="square" lIns="0" tIns="0" rIns="0" bIns="0" rtlCol="0" anchor="ctr"/>
          <a:lstStyle/>
          <a:p>
            <a:pPr algn="ctr" indent="0" marL="0">
              <a:buNone/>
            </a:pPr>
            <a:r>
              <a:rPr lang="en-US" sz="1050" dirty="0">
                <a:solidFill>
                  <a:srgbClr val="756E5F"/>
                </a:solidFill>
                <a:latin typeface="IBM Plex Mono" pitchFamily="34" charset="0"/>
                <a:ea typeface="IBM Plex Mono" pitchFamily="34" charset="-122"/>
                <a:cs typeface="IBM Plex Mono" pitchFamily="34" charset="-120"/>
              </a:rPr>
              <a:t>1</a:t>
            </a:r>
            <a:endParaRPr lang="en-US" sz="1050" dirty="0"/>
          </a:p>
        </p:txBody>
      </p:sp>
      <p:sp>
        <p:nvSpPr>
          <p:cNvPr id="67" name="Text 63"/>
          <p:cNvSpPr txBox="1"/>
          <p:nvPr/>
        </p:nvSpPr>
        <p:spPr>
          <a:xfrm>
            <a:off x="10344607" y="3143707"/>
            <a:ext cx="495605" cy="305410"/>
          </a:xfrm>
          <a:prstGeom prst="rect">
            <a:avLst/>
          </a:prstGeom>
          <a:noFill/>
          <a:ln/>
        </p:spPr>
        <p:txBody>
          <a:bodyPr wrap="square" lIns="0" tIns="0" rIns="0" bIns="0" rtlCol="0" anchor="ctr"/>
          <a:lstStyle/>
          <a:p>
            <a:pPr algn="ctr" indent="0" marL="0">
              <a:buNone/>
            </a:pPr>
            <a:r>
              <a:rPr lang="en-US" sz="1050" dirty="0">
                <a:solidFill>
                  <a:srgbClr val="756E5F"/>
                </a:solidFill>
                <a:latin typeface="IBM Plex Mono" pitchFamily="34" charset="0"/>
                <a:ea typeface="IBM Plex Mono" pitchFamily="34" charset="-122"/>
                <a:cs typeface="IBM Plex Mono" pitchFamily="34" charset="-120"/>
              </a:rPr>
              <a:t>2</a:t>
            </a:r>
            <a:endParaRPr lang="en-US" sz="1050" dirty="0"/>
          </a:p>
        </p:txBody>
      </p:sp>
      <p:sp>
        <p:nvSpPr>
          <p:cNvPr id="68" name="Text 64"/>
          <p:cNvSpPr txBox="1"/>
          <p:nvPr/>
        </p:nvSpPr>
        <p:spPr>
          <a:xfrm>
            <a:off x="10839298" y="3143707"/>
            <a:ext cx="495605" cy="305410"/>
          </a:xfrm>
          <a:prstGeom prst="rect">
            <a:avLst/>
          </a:prstGeom>
          <a:noFill/>
          <a:ln/>
        </p:spPr>
        <p:txBody>
          <a:bodyPr wrap="square" lIns="0" tIns="0" rIns="0" bIns="0" rtlCol="0" anchor="ctr"/>
          <a:lstStyle/>
          <a:p>
            <a:pPr algn="ctr" indent="0" marL="0">
              <a:buNone/>
            </a:pPr>
            <a:r>
              <a:rPr lang="en-US" sz="1050" dirty="0">
                <a:solidFill>
                  <a:srgbClr val="756E5F"/>
                </a:solidFill>
                <a:latin typeface="IBM Plex Mono" pitchFamily="34" charset="0"/>
                <a:ea typeface="IBM Plex Mono" pitchFamily="34" charset="-122"/>
                <a:cs typeface="IBM Plex Mono" pitchFamily="34" charset="-120"/>
              </a:rPr>
              <a:t>3</a:t>
            </a:r>
            <a:endParaRPr lang="en-US" sz="1050" dirty="0"/>
          </a:p>
        </p:txBody>
      </p:sp>
      <p:sp>
        <p:nvSpPr>
          <p:cNvPr id="69" name="Text 65"/>
          <p:cNvSpPr txBox="1"/>
          <p:nvPr/>
        </p:nvSpPr>
        <p:spPr>
          <a:xfrm>
            <a:off x="11334902" y="3143707"/>
            <a:ext cx="495605" cy="305410"/>
          </a:xfrm>
          <a:prstGeom prst="rect">
            <a:avLst/>
          </a:prstGeom>
          <a:noFill/>
          <a:ln/>
        </p:spPr>
        <p:txBody>
          <a:bodyPr wrap="square" lIns="0" tIns="0" rIns="0" bIns="0" rtlCol="0" anchor="ctr"/>
          <a:lstStyle/>
          <a:p>
            <a:pPr algn="ctr" indent="0" marL="0">
              <a:buNone/>
            </a:pPr>
            <a:r>
              <a:rPr lang="en-US" sz="1050" dirty="0">
                <a:solidFill>
                  <a:srgbClr val="756E5F"/>
                </a:solidFill>
                <a:latin typeface="IBM Plex Mono" pitchFamily="34" charset="0"/>
                <a:ea typeface="IBM Plex Mono" pitchFamily="34" charset="-122"/>
                <a:cs typeface="IBM Plex Mono" pitchFamily="34" charset="-120"/>
              </a:rPr>
              <a:t>4</a:t>
            </a:r>
            <a:endParaRPr lang="en-US" sz="1050" dirty="0"/>
          </a:p>
        </p:txBody>
      </p:sp>
      <p:sp>
        <p:nvSpPr>
          <p:cNvPr id="70" name="Text 66"/>
          <p:cNvSpPr txBox="1"/>
          <p:nvPr/>
        </p:nvSpPr>
        <p:spPr>
          <a:xfrm>
            <a:off x="11830507" y="3143707"/>
            <a:ext cx="495605" cy="305410"/>
          </a:xfrm>
          <a:prstGeom prst="rect">
            <a:avLst/>
          </a:prstGeom>
          <a:noFill/>
          <a:ln/>
        </p:spPr>
        <p:txBody>
          <a:bodyPr wrap="square" lIns="0" tIns="0" rIns="0" bIns="0" rtlCol="0" anchor="ctr"/>
          <a:lstStyle/>
          <a:p>
            <a:pPr algn="ctr" indent="0" marL="0">
              <a:buNone/>
            </a:pPr>
            <a:r>
              <a:rPr lang="en-US" sz="1050" dirty="0">
                <a:solidFill>
                  <a:srgbClr val="756E5F"/>
                </a:solidFill>
                <a:latin typeface="IBM Plex Mono" pitchFamily="34" charset="0"/>
                <a:ea typeface="IBM Plex Mono" pitchFamily="34" charset="-122"/>
                <a:cs typeface="IBM Plex Mono" pitchFamily="34" charset="-120"/>
              </a:rPr>
              <a:t>5</a:t>
            </a:r>
            <a:endParaRPr lang="en-US" sz="1050" dirty="0"/>
          </a:p>
        </p:txBody>
      </p:sp>
      <p:sp>
        <p:nvSpPr>
          <p:cNvPr id="71" name="Text 67"/>
          <p:cNvSpPr txBox="1"/>
          <p:nvPr/>
        </p:nvSpPr>
        <p:spPr>
          <a:xfrm>
            <a:off x="9544507" y="3448202"/>
            <a:ext cx="305410" cy="495605"/>
          </a:xfrm>
          <a:prstGeom prst="rect">
            <a:avLst/>
          </a:prstGeom>
          <a:noFill/>
          <a:ln/>
        </p:spPr>
        <p:txBody>
          <a:bodyPr wrap="square" lIns="0" tIns="0" rIns="0" bIns="0" rtlCol="0" anchor="ctr"/>
          <a:lstStyle/>
          <a:p>
            <a:pPr algn="ctr" indent="0" marL="0">
              <a:buNone/>
            </a:pPr>
            <a:r>
              <a:rPr lang="en-US" sz="1050" dirty="0">
                <a:solidFill>
                  <a:srgbClr val="756E5F"/>
                </a:solidFill>
                <a:latin typeface="IBM Plex Mono" pitchFamily="34" charset="0"/>
                <a:ea typeface="IBM Plex Mono" pitchFamily="34" charset="-122"/>
                <a:cs typeface="IBM Plex Mono" pitchFamily="34" charset="-120"/>
              </a:rPr>
              <a:t>A</a:t>
            </a:r>
            <a:endParaRPr lang="en-US" sz="1050" dirty="0"/>
          </a:p>
        </p:txBody>
      </p:sp>
      <p:sp>
        <p:nvSpPr>
          <p:cNvPr id="72" name="Text 68"/>
          <p:cNvSpPr txBox="1"/>
          <p:nvPr/>
        </p:nvSpPr>
        <p:spPr>
          <a:xfrm>
            <a:off x="9544507" y="3943807"/>
            <a:ext cx="305410" cy="495605"/>
          </a:xfrm>
          <a:prstGeom prst="rect">
            <a:avLst/>
          </a:prstGeom>
          <a:noFill/>
          <a:ln/>
        </p:spPr>
        <p:txBody>
          <a:bodyPr wrap="square" lIns="0" tIns="0" rIns="0" bIns="0" rtlCol="0" anchor="ctr"/>
          <a:lstStyle/>
          <a:p>
            <a:pPr algn="ctr" indent="0" marL="0">
              <a:buNone/>
            </a:pPr>
            <a:r>
              <a:rPr lang="en-US" sz="1050" dirty="0">
                <a:solidFill>
                  <a:srgbClr val="756E5F"/>
                </a:solidFill>
                <a:latin typeface="IBM Plex Mono" pitchFamily="34" charset="0"/>
                <a:ea typeface="IBM Plex Mono" pitchFamily="34" charset="-122"/>
                <a:cs typeface="IBM Plex Mono" pitchFamily="34" charset="-120"/>
              </a:rPr>
              <a:t>B</a:t>
            </a:r>
            <a:endParaRPr lang="en-US" sz="1050" dirty="0"/>
          </a:p>
        </p:txBody>
      </p:sp>
      <p:sp>
        <p:nvSpPr>
          <p:cNvPr id="73" name="Text 69"/>
          <p:cNvSpPr txBox="1"/>
          <p:nvPr/>
        </p:nvSpPr>
        <p:spPr>
          <a:xfrm>
            <a:off x="9544507" y="4438498"/>
            <a:ext cx="305410" cy="495605"/>
          </a:xfrm>
          <a:prstGeom prst="rect">
            <a:avLst/>
          </a:prstGeom>
          <a:noFill/>
          <a:ln/>
        </p:spPr>
        <p:txBody>
          <a:bodyPr wrap="square" lIns="0" tIns="0" rIns="0" bIns="0" rtlCol="0" anchor="ctr"/>
          <a:lstStyle/>
          <a:p>
            <a:pPr algn="ctr" indent="0" marL="0">
              <a:buNone/>
            </a:pPr>
            <a:r>
              <a:rPr lang="en-US" sz="1050" dirty="0">
                <a:solidFill>
                  <a:srgbClr val="756E5F"/>
                </a:solidFill>
                <a:latin typeface="IBM Plex Mono" pitchFamily="34" charset="0"/>
                <a:ea typeface="IBM Plex Mono" pitchFamily="34" charset="-122"/>
                <a:cs typeface="IBM Plex Mono" pitchFamily="34" charset="-120"/>
              </a:rPr>
              <a:t>C</a:t>
            </a:r>
            <a:endParaRPr lang="en-US" sz="1050" dirty="0"/>
          </a:p>
        </p:txBody>
      </p:sp>
      <p:sp>
        <p:nvSpPr>
          <p:cNvPr id="74" name="Text 70"/>
          <p:cNvSpPr txBox="1"/>
          <p:nvPr/>
        </p:nvSpPr>
        <p:spPr>
          <a:xfrm>
            <a:off x="9544507" y="4934102"/>
            <a:ext cx="305410" cy="495605"/>
          </a:xfrm>
          <a:prstGeom prst="rect">
            <a:avLst/>
          </a:prstGeom>
          <a:noFill/>
          <a:ln/>
        </p:spPr>
        <p:txBody>
          <a:bodyPr wrap="square" lIns="0" tIns="0" rIns="0" bIns="0" rtlCol="0" anchor="ctr"/>
          <a:lstStyle/>
          <a:p>
            <a:pPr algn="ctr" indent="0" marL="0">
              <a:buNone/>
            </a:pPr>
            <a:r>
              <a:rPr lang="en-US" sz="1050" dirty="0">
                <a:solidFill>
                  <a:srgbClr val="756E5F"/>
                </a:solidFill>
                <a:latin typeface="IBM Plex Mono" pitchFamily="34" charset="0"/>
                <a:ea typeface="IBM Plex Mono" pitchFamily="34" charset="-122"/>
                <a:cs typeface="IBM Plex Mono" pitchFamily="34" charset="-120"/>
              </a:rPr>
              <a:t>D</a:t>
            </a:r>
            <a:endParaRPr lang="en-US" sz="1050" dirty="0"/>
          </a:p>
        </p:txBody>
      </p:sp>
      <p:sp>
        <p:nvSpPr>
          <p:cNvPr id="75" name="Text 71"/>
          <p:cNvSpPr txBox="1"/>
          <p:nvPr/>
        </p:nvSpPr>
        <p:spPr>
          <a:xfrm>
            <a:off x="9544507" y="5429707"/>
            <a:ext cx="305410" cy="495605"/>
          </a:xfrm>
          <a:prstGeom prst="rect">
            <a:avLst/>
          </a:prstGeom>
          <a:noFill/>
          <a:ln/>
        </p:spPr>
        <p:txBody>
          <a:bodyPr wrap="square" lIns="0" tIns="0" rIns="0" bIns="0" rtlCol="0" anchor="ctr"/>
          <a:lstStyle/>
          <a:p>
            <a:pPr algn="ctr" indent="0" marL="0">
              <a:buNone/>
            </a:pPr>
            <a:r>
              <a:rPr lang="en-US" sz="1050" dirty="0">
                <a:solidFill>
                  <a:srgbClr val="756E5F"/>
                </a:solidFill>
                <a:latin typeface="IBM Plex Mono" pitchFamily="34" charset="0"/>
                <a:ea typeface="IBM Plex Mono" pitchFamily="34" charset="-122"/>
                <a:cs typeface="IBM Plex Mono" pitchFamily="34" charset="-120"/>
              </a:rPr>
              <a:t>E</a:t>
            </a:r>
            <a:endParaRPr lang="en-US" sz="1050" dirty="0"/>
          </a:p>
        </p:txBody>
      </p:sp>
      <p:sp>
        <p:nvSpPr>
          <p:cNvPr id="76" name="Shape 72"/>
          <p:cNvSpPr/>
          <p:nvPr/>
        </p:nvSpPr>
        <p:spPr>
          <a:xfrm>
            <a:off x="9849002" y="3448202"/>
            <a:ext cx="495605" cy="495605"/>
          </a:xfrm>
          <a:prstGeom prst="rect">
            <a:avLst/>
          </a:prstGeom>
          <a:solidFill>
            <a:srgbClr val="D9E5E3"/>
          </a:solidFill>
          <a:ln/>
        </p:spPr>
      </p:sp>
      <p:sp>
        <p:nvSpPr>
          <p:cNvPr id="77" name="Shape 73"/>
          <p:cNvSpPr/>
          <p:nvPr/>
        </p:nvSpPr>
        <p:spPr>
          <a:xfrm>
            <a:off x="10335463" y="3448202"/>
            <a:ext cx="9144" cy="495605"/>
          </a:xfrm>
          <a:prstGeom prst="rect">
            <a:avLst/>
          </a:prstGeom>
          <a:solidFill>
            <a:srgbClr val="C7BFA8"/>
          </a:solidFill>
          <a:ln w="12700">
            <a:solidFill>
              <a:srgbClr val="C7BFA8">
                <a:alpha val="0"/>
              </a:srgbClr>
            </a:solidFill>
            <a:prstDash val="solid"/>
          </a:ln>
        </p:spPr>
      </p:sp>
      <p:sp>
        <p:nvSpPr>
          <p:cNvPr id="78" name="Text 74"/>
          <p:cNvSpPr txBox="1"/>
          <p:nvPr/>
        </p:nvSpPr>
        <p:spPr>
          <a:xfrm>
            <a:off x="9849002" y="3448202"/>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25.62</a:t>
            </a:r>
            <a:endParaRPr lang="en-US" sz="1125" dirty="0"/>
          </a:p>
        </p:txBody>
      </p:sp>
      <p:sp>
        <p:nvSpPr>
          <p:cNvPr id="79" name="Shape 75"/>
          <p:cNvSpPr/>
          <p:nvPr/>
        </p:nvSpPr>
        <p:spPr>
          <a:xfrm>
            <a:off x="10344607" y="3448202"/>
            <a:ext cx="495605" cy="495605"/>
          </a:xfrm>
          <a:prstGeom prst="rect">
            <a:avLst/>
          </a:prstGeom>
          <a:solidFill>
            <a:srgbClr val="E4ECE9"/>
          </a:solidFill>
          <a:ln/>
        </p:spPr>
      </p:sp>
      <p:sp>
        <p:nvSpPr>
          <p:cNvPr id="80" name="Shape 76"/>
          <p:cNvSpPr/>
          <p:nvPr/>
        </p:nvSpPr>
        <p:spPr>
          <a:xfrm>
            <a:off x="10831068" y="3448202"/>
            <a:ext cx="9144" cy="495605"/>
          </a:xfrm>
          <a:prstGeom prst="rect">
            <a:avLst/>
          </a:prstGeom>
          <a:solidFill>
            <a:srgbClr val="C7BFA8"/>
          </a:solidFill>
          <a:ln w="12700">
            <a:solidFill>
              <a:srgbClr val="C7BFA8">
                <a:alpha val="0"/>
              </a:srgbClr>
            </a:solidFill>
            <a:prstDash val="solid"/>
          </a:ln>
        </p:spPr>
      </p:sp>
      <p:sp>
        <p:nvSpPr>
          <p:cNvPr id="81" name="Text 77"/>
          <p:cNvSpPr txBox="1"/>
          <p:nvPr/>
        </p:nvSpPr>
        <p:spPr>
          <a:xfrm>
            <a:off x="10344607" y="3448202"/>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25.71</a:t>
            </a:r>
            <a:endParaRPr lang="en-US" sz="1125" dirty="0"/>
          </a:p>
        </p:txBody>
      </p:sp>
      <p:sp>
        <p:nvSpPr>
          <p:cNvPr id="82" name="Shape 78"/>
          <p:cNvSpPr/>
          <p:nvPr/>
        </p:nvSpPr>
        <p:spPr>
          <a:xfrm>
            <a:off x="10839298" y="3448202"/>
            <a:ext cx="495605" cy="495605"/>
          </a:xfrm>
          <a:prstGeom prst="rect">
            <a:avLst/>
          </a:prstGeom>
          <a:solidFill>
            <a:srgbClr val="DEE8E5"/>
          </a:solidFill>
          <a:ln/>
        </p:spPr>
      </p:sp>
      <p:sp>
        <p:nvSpPr>
          <p:cNvPr id="83" name="Shape 79"/>
          <p:cNvSpPr/>
          <p:nvPr/>
        </p:nvSpPr>
        <p:spPr>
          <a:xfrm>
            <a:off x="11325758" y="3448202"/>
            <a:ext cx="9144" cy="495605"/>
          </a:xfrm>
          <a:prstGeom prst="rect">
            <a:avLst/>
          </a:prstGeom>
          <a:solidFill>
            <a:srgbClr val="C7BFA8"/>
          </a:solidFill>
          <a:ln w="12700">
            <a:solidFill>
              <a:srgbClr val="C7BFA8">
                <a:alpha val="0"/>
              </a:srgbClr>
            </a:solidFill>
            <a:prstDash val="solid"/>
          </a:ln>
        </p:spPr>
      </p:sp>
      <p:sp>
        <p:nvSpPr>
          <p:cNvPr id="84" name="Text 80"/>
          <p:cNvSpPr txBox="1"/>
          <p:nvPr/>
        </p:nvSpPr>
        <p:spPr>
          <a:xfrm>
            <a:off x="10839298" y="3448202"/>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25.66</a:t>
            </a:r>
            <a:endParaRPr lang="en-US" sz="1125" dirty="0"/>
          </a:p>
        </p:txBody>
      </p:sp>
      <p:sp>
        <p:nvSpPr>
          <p:cNvPr id="85" name="Shape 81"/>
          <p:cNvSpPr/>
          <p:nvPr/>
        </p:nvSpPr>
        <p:spPr>
          <a:xfrm>
            <a:off x="11334902" y="3448202"/>
            <a:ext cx="495605" cy="495605"/>
          </a:xfrm>
          <a:prstGeom prst="rect">
            <a:avLst/>
          </a:prstGeom>
          <a:solidFill>
            <a:srgbClr val="E4ECE9"/>
          </a:solidFill>
          <a:ln/>
        </p:spPr>
      </p:sp>
      <p:sp>
        <p:nvSpPr>
          <p:cNvPr id="86" name="Shape 82"/>
          <p:cNvSpPr/>
          <p:nvPr/>
        </p:nvSpPr>
        <p:spPr>
          <a:xfrm>
            <a:off x="11821363" y="3448202"/>
            <a:ext cx="9144" cy="495605"/>
          </a:xfrm>
          <a:prstGeom prst="rect">
            <a:avLst/>
          </a:prstGeom>
          <a:solidFill>
            <a:srgbClr val="C7BFA8"/>
          </a:solidFill>
          <a:ln w="12700">
            <a:solidFill>
              <a:srgbClr val="C7BFA8">
                <a:alpha val="0"/>
              </a:srgbClr>
            </a:solidFill>
            <a:prstDash val="solid"/>
          </a:ln>
        </p:spPr>
      </p:sp>
      <p:sp>
        <p:nvSpPr>
          <p:cNvPr id="87" name="Text 83"/>
          <p:cNvSpPr txBox="1"/>
          <p:nvPr/>
        </p:nvSpPr>
        <p:spPr>
          <a:xfrm>
            <a:off x="11334902" y="3448202"/>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25.74</a:t>
            </a:r>
            <a:endParaRPr lang="en-US" sz="1125" dirty="0"/>
          </a:p>
        </p:txBody>
      </p:sp>
      <p:sp>
        <p:nvSpPr>
          <p:cNvPr id="88" name="Text 84"/>
          <p:cNvSpPr txBox="1"/>
          <p:nvPr/>
        </p:nvSpPr>
        <p:spPr>
          <a:xfrm>
            <a:off x="11830507" y="3448202"/>
            <a:ext cx="495605" cy="495605"/>
          </a:xfrm>
          <a:prstGeom prst="rect">
            <a:avLst/>
          </a:prstGeom>
          <a:solidFill>
            <a:srgbClr val="E4ECE9"/>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25.69</a:t>
            </a:r>
            <a:endParaRPr lang="en-US" sz="1125" dirty="0"/>
          </a:p>
        </p:txBody>
      </p:sp>
      <p:sp>
        <p:nvSpPr>
          <p:cNvPr id="89" name="Shape 85"/>
          <p:cNvSpPr/>
          <p:nvPr/>
        </p:nvSpPr>
        <p:spPr>
          <a:xfrm>
            <a:off x="9849002" y="3943807"/>
            <a:ext cx="495605" cy="495605"/>
          </a:xfrm>
          <a:prstGeom prst="rect">
            <a:avLst/>
          </a:prstGeom>
          <a:solidFill>
            <a:srgbClr val="DEE8E5"/>
          </a:solidFill>
          <a:ln/>
        </p:spPr>
      </p:sp>
      <p:sp>
        <p:nvSpPr>
          <p:cNvPr id="90" name="Shape 86"/>
          <p:cNvSpPr/>
          <p:nvPr/>
        </p:nvSpPr>
        <p:spPr>
          <a:xfrm>
            <a:off x="10335463" y="3943807"/>
            <a:ext cx="9144" cy="495605"/>
          </a:xfrm>
          <a:prstGeom prst="rect">
            <a:avLst/>
          </a:prstGeom>
          <a:solidFill>
            <a:srgbClr val="C7BFA8"/>
          </a:solidFill>
          <a:ln w="12700">
            <a:solidFill>
              <a:srgbClr val="C7BFA8">
                <a:alpha val="0"/>
              </a:srgbClr>
            </a:solidFill>
            <a:prstDash val="solid"/>
          </a:ln>
        </p:spPr>
      </p:sp>
      <p:sp>
        <p:nvSpPr>
          <p:cNvPr id="91" name="Text 87"/>
          <p:cNvSpPr txBox="1"/>
          <p:nvPr/>
        </p:nvSpPr>
        <p:spPr>
          <a:xfrm>
            <a:off x="9849002" y="3943807"/>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25.65</a:t>
            </a:r>
            <a:endParaRPr lang="en-US" sz="1125" dirty="0"/>
          </a:p>
        </p:txBody>
      </p:sp>
      <p:sp>
        <p:nvSpPr>
          <p:cNvPr id="92" name="Shape 88"/>
          <p:cNvSpPr/>
          <p:nvPr/>
        </p:nvSpPr>
        <p:spPr>
          <a:xfrm>
            <a:off x="10344607" y="3943807"/>
            <a:ext cx="495605" cy="495605"/>
          </a:xfrm>
          <a:prstGeom prst="rect">
            <a:avLst/>
          </a:prstGeom>
          <a:solidFill>
            <a:srgbClr val="E4ECE9"/>
          </a:solidFill>
          <a:ln/>
        </p:spPr>
      </p:sp>
      <p:sp>
        <p:nvSpPr>
          <p:cNvPr id="93" name="Shape 89"/>
          <p:cNvSpPr/>
          <p:nvPr/>
        </p:nvSpPr>
        <p:spPr>
          <a:xfrm>
            <a:off x="10831068" y="3943807"/>
            <a:ext cx="9144" cy="495605"/>
          </a:xfrm>
          <a:prstGeom prst="rect">
            <a:avLst/>
          </a:prstGeom>
          <a:solidFill>
            <a:srgbClr val="C7BFA8"/>
          </a:solidFill>
          <a:ln w="12700">
            <a:solidFill>
              <a:srgbClr val="C7BFA8">
                <a:alpha val="0"/>
              </a:srgbClr>
            </a:solidFill>
            <a:prstDash val="solid"/>
          </a:ln>
        </p:spPr>
      </p:sp>
      <p:sp>
        <p:nvSpPr>
          <p:cNvPr id="94" name="Text 90"/>
          <p:cNvSpPr txBox="1"/>
          <p:nvPr/>
        </p:nvSpPr>
        <p:spPr>
          <a:xfrm>
            <a:off x="10344607" y="3943807"/>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25.69</a:t>
            </a:r>
            <a:endParaRPr lang="en-US" sz="1125" dirty="0"/>
          </a:p>
        </p:txBody>
      </p:sp>
      <p:sp>
        <p:nvSpPr>
          <p:cNvPr id="95" name="Shape 91"/>
          <p:cNvSpPr/>
          <p:nvPr/>
        </p:nvSpPr>
        <p:spPr>
          <a:xfrm>
            <a:off x="10839298" y="3943807"/>
            <a:ext cx="495605" cy="495605"/>
          </a:xfrm>
          <a:prstGeom prst="rect">
            <a:avLst/>
          </a:prstGeom>
          <a:solidFill>
            <a:srgbClr val="E4ECE9"/>
          </a:solidFill>
          <a:ln/>
        </p:spPr>
      </p:sp>
      <p:sp>
        <p:nvSpPr>
          <p:cNvPr id="96" name="Shape 92"/>
          <p:cNvSpPr/>
          <p:nvPr/>
        </p:nvSpPr>
        <p:spPr>
          <a:xfrm>
            <a:off x="11325758" y="3943807"/>
            <a:ext cx="9144" cy="495605"/>
          </a:xfrm>
          <a:prstGeom prst="rect">
            <a:avLst/>
          </a:prstGeom>
          <a:solidFill>
            <a:srgbClr val="C7BFA8"/>
          </a:solidFill>
          <a:ln w="12700">
            <a:solidFill>
              <a:srgbClr val="C7BFA8">
                <a:alpha val="0"/>
              </a:srgbClr>
            </a:solidFill>
            <a:prstDash val="solid"/>
          </a:ln>
        </p:spPr>
      </p:sp>
      <p:sp>
        <p:nvSpPr>
          <p:cNvPr id="97" name="Text 93"/>
          <p:cNvSpPr txBox="1"/>
          <p:nvPr/>
        </p:nvSpPr>
        <p:spPr>
          <a:xfrm>
            <a:off x="10839298" y="3943807"/>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25.72</a:t>
            </a:r>
            <a:endParaRPr lang="en-US" sz="1125" dirty="0"/>
          </a:p>
        </p:txBody>
      </p:sp>
      <p:sp>
        <p:nvSpPr>
          <p:cNvPr id="98" name="Shape 94"/>
          <p:cNvSpPr/>
          <p:nvPr/>
        </p:nvSpPr>
        <p:spPr>
          <a:xfrm>
            <a:off x="11334902" y="3943807"/>
            <a:ext cx="495605" cy="495605"/>
          </a:xfrm>
          <a:prstGeom prst="rect">
            <a:avLst/>
          </a:prstGeom>
          <a:solidFill>
            <a:srgbClr val="D9E5E3"/>
          </a:solidFill>
          <a:ln/>
        </p:spPr>
      </p:sp>
      <p:sp>
        <p:nvSpPr>
          <p:cNvPr id="99" name="Shape 95"/>
          <p:cNvSpPr/>
          <p:nvPr/>
        </p:nvSpPr>
        <p:spPr>
          <a:xfrm>
            <a:off x="11821363" y="3943807"/>
            <a:ext cx="9144" cy="495605"/>
          </a:xfrm>
          <a:prstGeom prst="rect">
            <a:avLst/>
          </a:prstGeom>
          <a:solidFill>
            <a:srgbClr val="C7BFA8"/>
          </a:solidFill>
          <a:ln w="12700">
            <a:solidFill>
              <a:srgbClr val="C7BFA8">
                <a:alpha val="0"/>
              </a:srgbClr>
            </a:solidFill>
            <a:prstDash val="solid"/>
          </a:ln>
        </p:spPr>
      </p:sp>
      <p:sp>
        <p:nvSpPr>
          <p:cNvPr id="100" name="Text 96"/>
          <p:cNvSpPr txBox="1"/>
          <p:nvPr/>
        </p:nvSpPr>
        <p:spPr>
          <a:xfrm>
            <a:off x="11334902" y="3943807"/>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25.61</a:t>
            </a:r>
            <a:endParaRPr lang="en-US" sz="1125" dirty="0"/>
          </a:p>
        </p:txBody>
      </p:sp>
      <p:sp>
        <p:nvSpPr>
          <p:cNvPr id="101" name="Text 97"/>
          <p:cNvSpPr txBox="1"/>
          <p:nvPr/>
        </p:nvSpPr>
        <p:spPr>
          <a:xfrm>
            <a:off x="11830507" y="3943807"/>
            <a:ext cx="495605" cy="495605"/>
          </a:xfrm>
          <a:prstGeom prst="rect">
            <a:avLst/>
          </a:prstGeom>
          <a:solidFill>
            <a:srgbClr val="E4ECE9"/>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25.74</a:t>
            </a:r>
            <a:endParaRPr lang="en-US" sz="1125" dirty="0"/>
          </a:p>
        </p:txBody>
      </p:sp>
      <p:sp>
        <p:nvSpPr>
          <p:cNvPr id="102" name="Shape 98"/>
          <p:cNvSpPr/>
          <p:nvPr/>
        </p:nvSpPr>
        <p:spPr>
          <a:xfrm>
            <a:off x="9849002" y="4438498"/>
            <a:ext cx="495605" cy="495605"/>
          </a:xfrm>
          <a:prstGeom prst="rect">
            <a:avLst/>
          </a:prstGeom>
          <a:solidFill>
            <a:srgbClr val="E4ECE9"/>
          </a:solidFill>
          <a:ln/>
        </p:spPr>
      </p:sp>
      <p:sp>
        <p:nvSpPr>
          <p:cNvPr id="103" name="Shape 99"/>
          <p:cNvSpPr/>
          <p:nvPr/>
        </p:nvSpPr>
        <p:spPr>
          <a:xfrm>
            <a:off x="10335463" y="4438498"/>
            <a:ext cx="9144" cy="495605"/>
          </a:xfrm>
          <a:prstGeom prst="rect">
            <a:avLst/>
          </a:prstGeom>
          <a:solidFill>
            <a:srgbClr val="C7BFA8"/>
          </a:solidFill>
          <a:ln w="12700">
            <a:solidFill>
              <a:srgbClr val="C7BFA8">
                <a:alpha val="0"/>
              </a:srgbClr>
            </a:solidFill>
            <a:prstDash val="solid"/>
          </a:ln>
        </p:spPr>
      </p:sp>
      <p:sp>
        <p:nvSpPr>
          <p:cNvPr id="104" name="Text 100"/>
          <p:cNvSpPr txBox="1"/>
          <p:nvPr/>
        </p:nvSpPr>
        <p:spPr>
          <a:xfrm>
            <a:off x="9849002" y="4438498"/>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25.78</a:t>
            </a:r>
            <a:endParaRPr lang="en-US" sz="1125" dirty="0"/>
          </a:p>
        </p:txBody>
      </p:sp>
      <p:sp>
        <p:nvSpPr>
          <p:cNvPr id="105" name="Shape 101"/>
          <p:cNvSpPr/>
          <p:nvPr/>
        </p:nvSpPr>
        <p:spPr>
          <a:xfrm>
            <a:off x="10344607" y="4438498"/>
            <a:ext cx="495605" cy="495605"/>
          </a:xfrm>
          <a:prstGeom prst="rect">
            <a:avLst/>
          </a:prstGeom>
          <a:solidFill>
            <a:srgbClr val="DEE8E5"/>
          </a:solidFill>
          <a:ln/>
        </p:spPr>
      </p:sp>
      <p:sp>
        <p:nvSpPr>
          <p:cNvPr id="106" name="Shape 102"/>
          <p:cNvSpPr/>
          <p:nvPr/>
        </p:nvSpPr>
        <p:spPr>
          <a:xfrm>
            <a:off x="10831068" y="4438498"/>
            <a:ext cx="9144" cy="495605"/>
          </a:xfrm>
          <a:prstGeom prst="rect">
            <a:avLst/>
          </a:prstGeom>
          <a:solidFill>
            <a:srgbClr val="C7BFA8"/>
          </a:solidFill>
          <a:ln w="12700">
            <a:solidFill>
              <a:srgbClr val="C7BFA8">
                <a:alpha val="0"/>
              </a:srgbClr>
            </a:solidFill>
            <a:prstDash val="solid"/>
          </a:ln>
        </p:spPr>
      </p:sp>
      <p:sp>
        <p:nvSpPr>
          <p:cNvPr id="107" name="Text 103"/>
          <p:cNvSpPr txBox="1"/>
          <p:nvPr/>
        </p:nvSpPr>
        <p:spPr>
          <a:xfrm>
            <a:off x="10344607" y="4438498"/>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25.65</a:t>
            </a:r>
            <a:endParaRPr lang="en-US" sz="1125" dirty="0"/>
          </a:p>
        </p:txBody>
      </p:sp>
      <p:sp>
        <p:nvSpPr>
          <p:cNvPr id="108" name="Shape 104"/>
          <p:cNvSpPr/>
          <p:nvPr/>
        </p:nvSpPr>
        <p:spPr>
          <a:xfrm>
            <a:off x="10839298" y="4438498"/>
            <a:ext cx="495605" cy="495605"/>
          </a:xfrm>
          <a:prstGeom prst="rect">
            <a:avLst/>
          </a:prstGeom>
          <a:solidFill>
            <a:srgbClr val="E4ECE9"/>
          </a:solidFill>
          <a:ln/>
        </p:spPr>
      </p:sp>
      <p:sp>
        <p:nvSpPr>
          <p:cNvPr id="109" name="Shape 105"/>
          <p:cNvSpPr/>
          <p:nvPr/>
        </p:nvSpPr>
        <p:spPr>
          <a:xfrm>
            <a:off x="11325758" y="4438498"/>
            <a:ext cx="9144" cy="495605"/>
          </a:xfrm>
          <a:prstGeom prst="rect">
            <a:avLst/>
          </a:prstGeom>
          <a:solidFill>
            <a:srgbClr val="C7BFA8"/>
          </a:solidFill>
          <a:ln w="12700">
            <a:solidFill>
              <a:srgbClr val="C7BFA8">
                <a:alpha val="0"/>
              </a:srgbClr>
            </a:solidFill>
            <a:prstDash val="solid"/>
          </a:ln>
        </p:spPr>
      </p:sp>
      <p:sp>
        <p:nvSpPr>
          <p:cNvPr id="110" name="Text 106"/>
          <p:cNvSpPr txBox="1"/>
          <p:nvPr/>
        </p:nvSpPr>
        <p:spPr>
          <a:xfrm>
            <a:off x="10839298" y="4438498"/>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25.71</a:t>
            </a:r>
            <a:endParaRPr lang="en-US" sz="1125" dirty="0"/>
          </a:p>
        </p:txBody>
      </p:sp>
      <p:sp>
        <p:nvSpPr>
          <p:cNvPr id="111" name="Shape 107"/>
          <p:cNvSpPr/>
          <p:nvPr/>
        </p:nvSpPr>
        <p:spPr>
          <a:xfrm>
            <a:off x="11334902" y="4438498"/>
            <a:ext cx="495605" cy="495605"/>
          </a:xfrm>
          <a:prstGeom prst="rect">
            <a:avLst/>
          </a:prstGeom>
          <a:solidFill>
            <a:srgbClr val="DEE8E5"/>
          </a:solidFill>
          <a:ln/>
        </p:spPr>
      </p:sp>
      <p:sp>
        <p:nvSpPr>
          <p:cNvPr id="112" name="Shape 108"/>
          <p:cNvSpPr/>
          <p:nvPr/>
        </p:nvSpPr>
        <p:spPr>
          <a:xfrm>
            <a:off x="11821363" y="4438498"/>
            <a:ext cx="9144" cy="495605"/>
          </a:xfrm>
          <a:prstGeom prst="rect">
            <a:avLst/>
          </a:prstGeom>
          <a:solidFill>
            <a:srgbClr val="C7BFA8"/>
          </a:solidFill>
          <a:ln w="12700">
            <a:solidFill>
              <a:srgbClr val="C7BFA8">
                <a:alpha val="0"/>
              </a:srgbClr>
            </a:solidFill>
            <a:prstDash val="solid"/>
          </a:ln>
        </p:spPr>
      </p:sp>
      <p:sp>
        <p:nvSpPr>
          <p:cNvPr id="113" name="Text 109"/>
          <p:cNvSpPr txBox="1"/>
          <p:nvPr/>
        </p:nvSpPr>
        <p:spPr>
          <a:xfrm>
            <a:off x="11334902" y="4438498"/>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25.67</a:t>
            </a:r>
            <a:endParaRPr lang="en-US" sz="1125" dirty="0"/>
          </a:p>
        </p:txBody>
      </p:sp>
      <p:sp>
        <p:nvSpPr>
          <p:cNvPr id="114" name="Text 110"/>
          <p:cNvSpPr txBox="1"/>
          <p:nvPr/>
        </p:nvSpPr>
        <p:spPr>
          <a:xfrm>
            <a:off x="11830507" y="4438498"/>
            <a:ext cx="495605" cy="495605"/>
          </a:xfrm>
          <a:prstGeom prst="rect">
            <a:avLst/>
          </a:prstGeom>
          <a:solidFill>
            <a:srgbClr val="D9E5E3"/>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25.63</a:t>
            </a:r>
            <a:endParaRPr lang="en-US" sz="1125" dirty="0"/>
          </a:p>
        </p:txBody>
      </p:sp>
      <p:sp>
        <p:nvSpPr>
          <p:cNvPr id="115" name="Shape 111"/>
          <p:cNvSpPr/>
          <p:nvPr/>
        </p:nvSpPr>
        <p:spPr>
          <a:xfrm>
            <a:off x="9849002" y="4934102"/>
            <a:ext cx="495605" cy="495605"/>
          </a:xfrm>
          <a:prstGeom prst="rect">
            <a:avLst/>
          </a:prstGeom>
          <a:solidFill>
            <a:srgbClr val="CFE0DD"/>
          </a:solidFill>
          <a:ln/>
        </p:spPr>
      </p:sp>
      <p:sp>
        <p:nvSpPr>
          <p:cNvPr id="116" name="Shape 112"/>
          <p:cNvSpPr/>
          <p:nvPr/>
        </p:nvSpPr>
        <p:spPr>
          <a:xfrm>
            <a:off x="10335463" y="4934102"/>
            <a:ext cx="9144" cy="495605"/>
          </a:xfrm>
          <a:prstGeom prst="rect">
            <a:avLst/>
          </a:prstGeom>
          <a:solidFill>
            <a:srgbClr val="C7BFA8"/>
          </a:solidFill>
          <a:ln w="12700">
            <a:solidFill>
              <a:srgbClr val="C7BFA8">
                <a:alpha val="0"/>
              </a:srgbClr>
            </a:solidFill>
            <a:prstDash val="solid"/>
          </a:ln>
        </p:spPr>
      </p:sp>
      <p:sp>
        <p:nvSpPr>
          <p:cNvPr id="117" name="Text 113"/>
          <p:cNvSpPr txBox="1"/>
          <p:nvPr/>
        </p:nvSpPr>
        <p:spPr>
          <a:xfrm>
            <a:off x="9849002" y="4934102"/>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25.59</a:t>
            </a:r>
            <a:endParaRPr lang="en-US" sz="1125" dirty="0"/>
          </a:p>
        </p:txBody>
      </p:sp>
      <p:sp>
        <p:nvSpPr>
          <p:cNvPr id="118" name="Shape 114"/>
          <p:cNvSpPr/>
          <p:nvPr/>
        </p:nvSpPr>
        <p:spPr>
          <a:xfrm>
            <a:off x="10344607" y="4934102"/>
            <a:ext cx="495605" cy="495605"/>
          </a:xfrm>
          <a:prstGeom prst="rect">
            <a:avLst/>
          </a:prstGeom>
          <a:solidFill>
            <a:srgbClr val="E4ECE9"/>
          </a:solidFill>
          <a:ln/>
        </p:spPr>
      </p:sp>
      <p:sp>
        <p:nvSpPr>
          <p:cNvPr id="119" name="Shape 115"/>
          <p:cNvSpPr/>
          <p:nvPr/>
        </p:nvSpPr>
        <p:spPr>
          <a:xfrm>
            <a:off x="10831068" y="4934102"/>
            <a:ext cx="9144" cy="495605"/>
          </a:xfrm>
          <a:prstGeom prst="rect">
            <a:avLst/>
          </a:prstGeom>
          <a:solidFill>
            <a:srgbClr val="C7BFA8"/>
          </a:solidFill>
          <a:ln w="12700">
            <a:solidFill>
              <a:srgbClr val="C7BFA8">
                <a:alpha val="0"/>
              </a:srgbClr>
            </a:solidFill>
            <a:prstDash val="solid"/>
          </a:ln>
        </p:spPr>
      </p:sp>
      <p:sp>
        <p:nvSpPr>
          <p:cNvPr id="120" name="Text 116"/>
          <p:cNvSpPr txBox="1"/>
          <p:nvPr/>
        </p:nvSpPr>
        <p:spPr>
          <a:xfrm>
            <a:off x="10344607" y="4934102"/>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25.73</a:t>
            </a:r>
            <a:endParaRPr lang="en-US" sz="1125" dirty="0"/>
          </a:p>
        </p:txBody>
      </p:sp>
      <p:sp>
        <p:nvSpPr>
          <p:cNvPr id="121" name="Shape 117"/>
          <p:cNvSpPr/>
          <p:nvPr/>
        </p:nvSpPr>
        <p:spPr>
          <a:xfrm>
            <a:off x="10839298" y="4934102"/>
            <a:ext cx="495605" cy="495605"/>
          </a:xfrm>
          <a:prstGeom prst="rect">
            <a:avLst/>
          </a:prstGeom>
          <a:solidFill>
            <a:srgbClr val="E4ECE9"/>
          </a:solidFill>
          <a:ln/>
        </p:spPr>
      </p:sp>
      <p:sp>
        <p:nvSpPr>
          <p:cNvPr id="122" name="Shape 118"/>
          <p:cNvSpPr/>
          <p:nvPr/>
        </p:nvSpPr>
        <p:spPr>
          <a:xfrm>
            <a:off x="11325758" y="4934102"/>
            <a:ext cx="9144" cy="495605"/>
          </a:xfrm>
          <a:prstGeom prst="rect">
            <a:avLst/>
          </a:prstGeom>
          <a:solidFill>
            <a:srgbClr val="C7BFA8"/>
          </a:solidFill>
          <a:ln w="12700">
            <a:solidFill>
              <a:srgbClr val="C7BFA8">
                <a:alpha val="0"/>
              </a:srgbClr>
            </a:solidFill>
            <a:prstDash val="solid"/>
          </a:ln>
        </p:spPr>
      </p:sp>
      <p:sp>
        <p:nvSpPr>
          <p:cNvPr id="123" name="Text 119"/>
          <p:cNvSpPr txBox="1"/>
          <p:nvPr/>
        </p:nvSpPr>
        <p:spPr>
          <a:xfrm>
            <a:off x="10839298" y="4934102"/>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25.68</a:t>
            </a:r>
            <a:endParaRPr lang="en-US" sz="1125" dirty="0"/>
          </a:p>
        </p:txBody>
      </p:sp>
      <p:sp>
        <p:nvSpPr>
          <p:cNvPr id="124" name="Shape 120"/>
          <p:cNvSpPr/>
          <p:nvPr/>
        </p:nvSpPr>
        <p:spPr>
          <a:xfrm>
            <a:off x="11334902" y="4934102"/>
            <a:ext cx="495605" cy="495605"/>
          </a:xfrm>
          <a:prstGeom prst="rect">
            <a:avLst/>
          </a:prstGeom>
          <a:solidFill>
            <a:srgbClr val="E4ECE9"/>
          </a:solidFill>
          <a:ln/>
        </p:spPr>
      </p:sp>
      <p:sp>
        <p:nvSpPr>
          <p:cNvPr id="125" name="Shape 121"/>
          <p:cNvSpPr/>
          <p:nvPr/>
        </p:nvSpPr>
        <p:spPr>
          <a:xfrm>
            <a:off x="11821363" y="4934102"/>
            <a:ext cx="9144" cy="495605"/>
          </a:xfrm>
          <a:prstGeom prst="rect">
            <a:avLst/>
          </a:prstGeom>
          <a:solidFill>
            <a:srgbClr val="C7BFA8"/>
          </a:solidFill>
          <a:ln w="12700">
            <a:solidFill>
              <a:srgbClr val="C7BFA8">
                <a:alpha val="0"/>
              </a:srgbClr>
            </a:solidFill>
            <a:prstDash val="solid"/>
          </a:ln>
        </p:spPr>
      </p:sp>
      <p:sp>
        <p:nvSpPr>
          <p:cNvPr id="126" name="Text 122"/>
          <p:cNvSpPr txBox="1"/>
          <p:nvPr/>
        </p:nvSpPr>
        <p:spPr>
          <a:xfrm>
            <a:off x="11334902" y="4934102"/>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25.70</a:t>
            </a:r>
            <a:endParaRPr lang="en-US" sz="1125" dirty="0"/>
          </a:p>
        </p:txBody>
      </p:sp>
      <p:sp>
        <p:nvSpPr>
          <p:cNvPr id="127" name="Text 123"/>
          <p:cNvSpPr txBox="1"/>
          <p:nvPr/>
        </p:nvSpPr>
        <p:spPr>
          <a:xfrm>
            <a:off x="11830507" y="4934102"/>
            <a:ext cx="495605" cy="495605"/>
          </a:xfrm>
          <a:prstGeom prst="rect">
            <a:avLst/>
          </a:prstGeom>
          <a:solidFill>
            <a:srgbClr val="DEE8E5"/>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25.65</a:t>
            </a:r>
            <a:endParaRPr lang="en-US" sz="1125" dirty="0"/>
          </a:p>
        </p:txBody>
      </p:sp>
      <p:sp>
        <p:nvSpPr>
          <p:cNvPr id="128" name="Shape 124"/>
          <p:cNvSpPr/>
          <p:nvPr/>
        </p:nvSpPr>
        <p:spPr>
          <a:xfrm>
            <a:off x="9849002" y="5429707"/>
            <a:ext cx="495605" cy="495605"/>
          </a:xfrm>
          <a:prstGeom prst="rect">
            <a:avLst/>
          </a:prstGeom>
          <a:solidFill>
            <a:srgbClr val="E4ECE9"/>
          </a:solidFill>
          <a:ln/>
        </p:spPr>
      </p:sp>
      <p:sp>
        <p:nvSpPr>
          <p:cNvPr id="129" name="Shape 125"/>
          <p:cNvSpPr/>
          <p:nvPr/>
        </p:nvSpPr>
        <p:spPr>
          <a:xfrm>
            <a:off x="10335463" y="5429707"/>
            <a:ext cx="9144" cy="495605"/>
          </a:xfrm>
          <a:prstGeom prst="rect">
            <a:avLst/>
          </a:prstGeom>
          <a:solidFill>
            <a:srgbClr val="C7BFA8"/>
          </a:solidFill>
          <a:ln w="12700">
            <a:solidFill>
              <a:srgbClr val="C7BFA8">
                <a:alpha val="0"/>
              </a:srgbClr>
            </a:solidFill>
            <a:prstDash val="solid"/>
          </a:ln>
        </p:spPr>
      </p:sp>
      <p:sp>
        <p:nvSpPr>
          <p:cNvPr id="130" name="Text 126"/>
          <p:cNvSpPr txBox="1"/>
          <p:nvPr/>
        </p:nvSpPr>
        <p:spPr>
          <a:xfrm>
            <a:off x="9849002" y="5429707"/>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25.72</a:t>
            </a:r>
            <a:endParaRPr lang="en-US" sz="1125" dirty="0"/>
          </a:p>
        </p:txBody>
      </p:sp>
      <p:sp>
        <p:nvSpPr>
          <p:cNvPr id="131" name="Shape 127"/>
          <p:cNvSpPr/>
          <p:nvPr/>
        </p:nvSpPr>
        <p:spPr>
          <a:xfrm>
            <a:off x="10344607" y="5429707"/>
            <a:ext cx="495605" cy="495605"/>
          </a:xfrm>
          <a:prstGeom prst="rect">
            <a:avLst/>
          </a:prstGeom>
          <a:solidFill>
            <a:srgbClr val="DEE8E5"/>
          </a:solidFill>
          <a:ln/>
        </p:spPr>
      </p:sp>
      <p:sp>
        <p:nvSpPr>
          <p:cNvPr id="132" name="Shape 128"/>
          <p:cNvSpPr/>
          <p:nvPr/>
        </p:nvSpPr>
        <p:spPr>
          <a:xfrm>
            <a:off x="10831068" y="5429707"/>
            <a:ext cx="9144" cy="495605"/>
          </a:xfrm>
          <a:prstGeom prst="rect">
            <a:avLst/>
          </a:prstGeom>
          <a:solidFill>
            <a:srgbClr val="C7BFA8"/>
          </a:solidFill>
          <a:ln w="12700">
            <a:solidFill>
              <a:srgbClr val="C7BFA8">
                <a:alpha val="0"/>
              </a:srgbClr>
            </a:solidFill>
            <a:prstDash val="solid"/>
          </a:ln>
        </p:spPr>
      </p:sp>
      <p:sp>
        <p:nvSpPr>
          <p:cNvPr id="133" name="Text 129"/>
          <p:cNvSpPr txBox="1"/>
          <p:nvPr/>
        </p:nvSpPr>
        <p:spPr>
          <a:xfrm>
            <a:off x="10344607" y="5429707"/>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25.66</a:t>
            </a:r>
            <a:endParaRPr lang="en-US" sz="1125" dirty="0"/>
          </a:p>
        </p:txBody>
      </p:sp>
      <p:sp>
        <p:nvSpPr>
          <p:cNvPr id="134" name="Shape 130"/>
          <p:cNvSpPr/>
          <p:nvPr/>
        </p:nvSpPr>
        <p:spPr>
          <a:xfrm>
            <a:off x="10839298" y="5429707"/>
            <a:ext cx="495605" cy="495605"/>
          </a:xfrm>
          <a:prstGeom prst="rect">
            <a:avLst/>
          </a:prstGeom>
          <a:solidFill>
            <a:srgbClr val="D9E5E3"/>
          </a:solidFill>
          <a:ln/>
        </p:spPr>
      </p:sp>
      <p:sp>
        <p:nvSpPr>
          <p:cNvPr id="135" name="Shape 131"/>
          <p:cNvSpPr/>
          <p:nvPr/>
        </p:nvSpPr>
        <p:spPr>
          <a:xfrm>
            <a:off x="11325758" y="5429707"/>
            <a:ext cx="9144" cy="495605"/>
          </a:xfrm>
          <a:prstGeom prst="rect">
            <a:avLst/>
          </a:prstGeom>
          <a:solidFill>
            <a:srgbClr val="C7BFA8"/>
          </a:solidFill>
          <a:ln w="12700">
            <a:solidFill>
              <a:srgbClr val="C7BFA8">
                <a:alpha val="0"/>
              </a:srgbClr>
            </a:solidFill>
            <a:prstDash val="solid"/>
          </a:ln>
        </p:spPr>
      </p:sp>
      <p:sp>
        <p:nvSpPr>
          <p:cNvPr id="136" name="Text 132"/>
          <p:cNvSpPr txBox="1"/>
          <p:nvPr/>
        </p:nvSpPr>
        <p:spPr>
          <a:xfrm>
            <a:off x="10839298" y="5429707"/>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25.61</a:t>
            </a:r>
            <a:endParaRPr lang="en-US" sz="1125" dirty="0"/>
          </a:p>
        </p:txBody>
      </p:sp>
      <p:sp>
        <p:nvSpPr>
          <p:cNvPr id="137" name="Shape 133"/>
          <p:cNvSpPr/>
          <p:nvPr/>
        </p:nvSpPr>
        <p:spPr>
          <a:xfrm>
            <a:off x="11334902" y="5429707"/>
            <a:ext cx="495605" cy="495605"/>
          </a:xfrm>
          <a:prstGeom prst="rect">
            <a:avLst/>
          </a:prstGeom>
          <a:solidFill>
            <a:srgbClr val="E4ECE9"/>
          </a:solidFill>
          <a:ln/>
        </p:spPr>
      </p:sp>
      <p:sp>
        <p:nvSpPr>
          <p:cNvPr id="138" name="Shape 134"/>
          <p:cNvSpPr/>
          <p:nvPr/>
        </p:nvSpPr>
        <p:spPr>
          <a:xfrm>
            <a:off x="11821363" y="5429707"/>
            <a:ext cx="9144" cy="495605"/>
          </a:xfrm>
          <a:prstGeom prst="rect">
            <a:avLst/>
          </a:prstGeom>
          <a:solidFill>
            <a:srgbClr val="C7BFA8"/>
          </a:solidFill>
          <a:ln w="12700">
            <a:solidFill>
              <a:srgbClr val="C7BFA8">
                <a:alpha val="0"/>
              </a:srgbClr>
            </a:solidFill>
            <a:prstDash val="solid"/>
          </a:ln>
        </p:spPr>
      </p:sp>
      <p:sp>
        <p:nvSpPr>
          <p:cNvPr id="139" name="Text 135"/>
          <p:cNvSpPr txBox="1"/>
          <p:nvPr/>
        </p:nvSpPr>
        <p:spPr>
          <a:xfrm>
            <a:off x="11334902" y="5429707"/>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25.69</a:t>
            </a:r>
            <a:endParaRPr lang="en-US" sz="1125" dirty="0"/>
          </a:p>
        </p:txBody>
      </p:sp>
      <p:sp>
        <p:nvSpPr>
          <p:cNvPr id="140" name="Text 136"/>
          <p:cNvSpPr txBox="1"/>
          <p:nvPr/>
        </p:nvSpPr>
        <p:spPr>
          <a:xfrm>
            <a:off x="11830507" y="5429707"/>
            <a:ext cx="495605" cy="495605"/>
          </a:xfrm>
          <a:prstGeom prst="rect">
            <a:avLst/>
          </a:prstGeom>
          <a:solidFill>
            <a:srgbClr val="E4ECE9"/>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25.74</a:t>
            </a:r>
            <a:endParaRPr lang="en-US" sz="1125" dirty="0"/>
          </a:p>
        </p:txBody>
      </p:sp>
      <p:sp>
        <p:nvSpPr>
          <p:cNvPr id="141" name="Text 137"/>
          <p:cNvSpPr txBox="1"/>
          <p:nvPr/>
        </p:nvSpPr>
        <p:spPr>
          <a:xfrm>
            <a:off x="13659307" y="2800807"/>
            <a:ext cx="3581705" cy="257861"/>
          </a:xfrm>
          <a:prstGeom prst="rect">
            <a:avLst/>
          </a:prstGeom>
          <a:noFill/>
          <a:ln/>
        </p:spPr>
        <p:txBody>
          <a:bodyPr wrap="none" lIns="0" tIns="0" rIns="0" bIns="0" rtlCol="0" anchor="ctr"/>
          <a:lstStyle/>
          <a:p>
            <a:pPr algn="l" indent="0" marL="0">
              <a:buNone/>
            </a:pPr>
            <a:r>
              <a:rPr lang="en-US" sz="1350" dirty="0">
                <a:solidFill>
                  <a:srgbClr val="9A4520"/>
                </a:solidFill>
                <a:latin typeface="IBM Plex Sans KR" pitchFamily="34" charset="0"/>
                <a:ea typeface="IBM Plex Sans KR" pitchFamily="34" charset="-122"/>
                <a:cs typeface="IBM Plex Sans KR" pitchFamily="34" charset="-120"/>
              </a:rPr>
              <a:t>W03 · REFERENCE </a:t>
            </a:r>
            <a:pPr algn="l" indent="0" marL="0">
              <a:buNone/>
            </a:pPr>
            <a:r>
              <a:rPr lang="en-US" sz="1050" dirty="0">
                <a:solidFill>
                  <a:srgbClr val="756E5F"/>
                </a:solidFill>
                <a:latin typeface="IBM Plex Mono" pitchFamily="34" charset="0"/>
                <a:ea typeface="IBM Plex Mono" pitchFamily="34" charset="-122"/>
                <a:cs typeface="IBM Plex Mono" pitchFamily="34" charset="-120"/>
              </a:rPr>
              <a:t>μ 25.81 · 3σ 0.51</a:t>
            </a:r>
            <a:endParaRPr lang="en-US" sz="1350" dirty="0"/>
          </a:p>
        </p:txBody>
      </p:sp>
      <p:sp>
        <p:nvSpPr>
          <p:cNvPr id="142" name="Text 138"/>
          <p:cNvSpPr txBox="1"/>
          <p:nvPr/>
        </p:nvSpPr>
        <p:spPr>
          <a:xfrm>
            <a:off x="14039698" y="3143707"/>
            <a:ext cx="495605" cy="305410"/>
          </a:xfrm>
          <a:prstGeom prst="rect">
            <a:avLst/>
          </a:prstGeom>
          <a:noFill/>
          <a:ln/>
        </p:spPr>
        <p:txBody>
          <a:bodyPr wrap="square" lIns="0" tIns="0" rIns="0" bIns="0" rtlCol="0" anchor="ctr"/>
          <a:lstStyle/>
          <a:p>
            <a:pPr algn="ctr" indent="0" marL="0">
              <a:buNone/>
            </a:pPr>
            <a:r>
              <a:rPr lang="en-US" sz="1050" dirty="0">
                <a:solidFill>
                  <a:srgbClr val="756E5F"/>
                </a:solidFill>
                <a:latin typeface="IBM Plex Mono" pitchFamily="34" charset="0"/>
                <a:ea typeface="IBM Plex Mono" pitchFamily="34" charset="-122"/>
                <a:cs typeface="IBM Plex Mono" pitchFamily="34" charset="-120"/>
              </a:rPr>
              <a:t>1</a:t>
            </a:r>
            <a:endParaRPr lang="en-US" sz="1050" dirty="0"/>
          </a:p>
        </p:txBody>
      </p:sp>
      <p:sp>
        <p:nvSpPr>
          <p:cNvPr id="143" name="Text 139"/>
          <p:cNvSpPr txBox="1"/>
          <p:nvPr/>
        </p:nvSpPr>
        <p:spPr>
          <a:xfrm>
            <a:off x="14535302" y="3143707"/>
            <a:ext cx="495605" cy="305410"/>
          </a:xfrm>
          <a:prstGeom prst="rect">
            <a:avLst/>
          </a:prstGeom>
          <a:noFill/>
          <a:ln/>
        </p:spPr>
        <p:txBody>
          <a:bodyPr wrap="square" lIns="0" tIns="0" rIns="0" bIns="0" rtlCol="0" anchor="ctr"/>
          <a:lstStyle/>
          <a:p>
            <a:pPr algn="ctr" indent="0" marL="0">
              <a:buNone/>
            </a:pPr>
            <a:r>
              <a:rPr lang="en-US" sz="1050" dirty="0">
                <a:solidFill>
                  <a:srgbClr val="756E5F"/>
                </a:solidFill>
                <a:latin typeface="IBM Plex Mono" pitchFamily="34" charset="0"/>
                <a:ea typeface="IBM Plex Mono" pitchFamily="34" charset="-122"/>
                <a:cs typeface="IBM Plex Mono" pitchFamily="34" charset="-120"/>
              </a:rPr>
              <a:t>2</a:t>
            </a:r>
            <a:endParaRPr lang="en-US" sz="1050" dirty="0"/>
          </a:p>
        </p:txBody>
      </p:sp>
      <p:sp>
        <p:nvSpPr>
          <p:cNvPr id="144" name="Text 140"/>
          <p:cNvSpPr txBox="1"/>
          <p:nvPr/>
        </p:nvSpPr>
        <p:spPr>
          <a:xfrm>
            <a:off x="15030907" y="3143707"/>
            <a:ext cx="495605" cy="305410"/>
          </a:xfrm>
          <a:prstGeom prst="rect">
            <a:avLst/>
          </a:prstGeom>
          <a:noFill/>
          <a:ln/>
        </p:spPr>
        <p:txBody>
          <a:bodyPr wrap="square" lIns="0" tIns="0" rIns="0" bIns="0" rtlCol="0" anchor="ctr"/>
          <a:lstStyle/>
          <a:p>
            <a:pPr algn="ctr" indent="0" marL="0">
              <a:buNone/>
            </a:pPr>
            <a:r>
              <a:rPr lang="en-US" sz="1050" dirty="0">
                <a:solidFill>
                  <a:srgbClr val="756E5F"/>
                </a:solidFill>
                <a:latin typeface="IBM Plex Mono" pitchFamily="34" charset="0"/>
                <a:ea typeface="IBM Plex Mono" pitchFamily="34" charset="-122"/>
                <a:cs typeface="IBM Plex Mono" pitchFamily="34" charset="-120"/>
              </a:rPr>
              <a:t>3</a:t>
            </a:r>
            <a:endParaRPr lang="en-US" sz="1050" dirty="0"/>
          </a:p>
        </p:txBody>
      </p:sp>
      <p:sp>
        <p:nvSpPr>
          <p:cNvPr id="145" name="Text 141"/>
          <p:cNvSpPr txBox="1"/>
          <p:nvPr/>
        </p:nvSpPr>
        <p:spPr>
          <a:xfrm>
            <a:off x="15525598" y="3143707"/>
            <a:ext cx="495605" cy="305410"/>
          </a:xfrm>
          <a:prstGeom prst="rect">
            <a:avLst/>
          </a:prstGeom>
          <a:noFill/>
          <a:ln/>
        </p:spPr>
        <p:txBody>
          <a:bodyPr wrap="square" lIns="0" tIns="0" rIns="0" bIns="0" rtlCol="0" anchor="ctr"/>
          <a:lstStyle/>
          <a:p>
            <a:pPr algn="ctr" indent="0" marL="0">
              <a:buNone/>
            </a:pPr>
            <a:r>
              <a:rPr lang="en-US" sz="1050" dirty="0">
                <a:solidFill>
                  <a:srgbClr val="756E5F"/>
                </a:solidFill>
                <a:latin typeface="IBM Plex Mono" pitchFamily="34" charset="0"/>
                <a:ea typeface="IBM Plex Mono" pitchFamily="34" charset="-122"/>
                <a:cs typeface="IBM Plex Mono" pitchFamily="34" charset="-120"/>
              </a:rPr>
              <a:t>4</a:t>
            </a:r>
            <a:endParaRPr lang="en-US" sz="1050" dirty="0"/>
          </a:p>
        </p:txBody>
      </p:sp>
      <p:sp>
        <p:nvSpPr>
          <p:cNvPr id="146" name="Text 142"/>
          <p:cNvSpPr txBox="1"/>
          <p:nvPr/>
        </p:nvSpPr>
        <p:spPr>
          <a:xfrm>
            <a:off x="16021202" y="3143707"/>
            <a:ext cx="495605" cy="305410"/>
          </a:xfrm>
          <a:prstGeom prst="rect">
            <a:avLst/>
          </a:prstGeom>
          <a:noFill/>
          <a:ln/>
        </p:spPr>
        <p:txBody>
          <a:bodyPr wrap="square" lIns="0" tIns="0" rIns="0" bIns="0" rtlCol="0" anchor="ctr"/>
          <a:lstStyle/>
          <a:p>
            <a:pPr algn="ctr" indent="0" marL="0">
              <a:buNone/>
            </a:pPr>
            <a:r>
              <a:rPr lang="en-US" sz="1050" dirty="0">
                <a:solidFill>
                  <a:srgbClr val="756E5F"/>
                </a:solidFill>
                <a:latin typeface="IBM Plex Mono" pitchFamily="34" charset="0"/>
                <a:ea typeface="IBM Plex Mono" pitchFamily="34" charset="-122"/>
                <a:cs typeface="IBM Plex Mono" pitchFamily="34" charset="-120"/>
              </a:rPr>
              <a:t>5</a:t>
            </a:r>
            <a:endParaRPr lang="en-US" sz="1050" dirty="0"/>
          </a:p>
        </p:txBody>
      </p:sp>
      <p:sp>
        <p:nvSpPr>
          <p:cNvPr id="147" name="Text 143"/>
          <p:cNvSpPr txBox="1"/>
          <p:nvPr/>
        </p:nvSpPr>
        <p:spPr>
          <a:xfrm>
            <a:off x="13735202" y="3448202"/>
            <a:ext cx="305410" cy="495605"/>
          </a:xfrm>
          <a:prstGeom prst="rect">
            <a:avLst/>
          </a:prstGeom>
          <a:noFill/>
          <a:ln/>
        </p:spPr>
        <p:txBody>
          <a:bodyPr wrap="square" lIns="0" tIns="0" rIns="0" bIns="0" rtlCol="0" anchor="ctr"/>
          <a:lstStyle/>
          <a:p>
            <a:pPr algn="ctr" indent="0" marL="0">
              <a:buNone/>
            </a:pPr>
            <a:r>
              <a:rPr lang="en-US" sz="1050" dirty="0">
                <a:solidFill>
                  <a:srgbClr val="756E5F"/>
                </a:solidFill>
                <a:latin typeface="IBM Plex Mono" pitchFamily="34" charset="0"/>
                <a:ea typeface="IBM Plex Mono" pitchFamily="34" charset="-122"/>
                <a:cs typeface="IBM Plex Mono" pitchFamily="34" charset="-120"/>
              </a:rPr>
              <a:t>A</a:t>
            </a:r>
            <a:endParaRPr lang="en-US" sz="1050" dirty="0"/>
          </a:p>
        </p:txBody>
      </p:sp>
      <p:sp>
        <p:nvSpPr>
          <p:cNvPr id="148" name="Text 144"/>
          <p:cNvSpPr txBox="1"/>
          <p:nvPr/>
        </p:nvSpPr>
        <p:spPr>
          <a:xfrm>
            <a:off x="13735202" y="3943807"/>
            <a:ext cx="305410" cy="495605"/>
          </a:xfrm>
          <a:prstGeom prst="rect">
            <a:avLst/>
          </a:prstGeom>
          <a:noFill/>
          <a:ln/>
        </p:spPr>
        <p:txBody>
          <a:bodyPr wrap="square" lIns="0" tIns="0" rIns="0" bIns="0" rtlCol="0" anchor="ctr"/>
          <a:lstStyle/>
          <a:p>
            <a:pPr algn="ctr" indent="0" marL="0">
              <a:buNone/>
            </a:pPr>
            <a:r>
              <a:rPr lang="en-US" sz="1050" dirty="0">
                <a:solidFill>
                  <a:srgbClr val="756E5F"/>
                </a:solidFill>
                <a:latin typeface="IBM Plex Mono" pitchFamily="34" charset="0"/>
                <a:ea typeface="IBM Plex Mono" pitchFamily="34" charset="-122"/>
                <a:cs typeface="IBM Plex Mono" pitchFamily="34" charset="-120"/>
              </a:rPr>
              <a:t>B</a:t>
            </a:r>
            <a:endParaRPr lang="en-US" sz="1050" dirty="0"/>
          </a:p>
        </p:txBody>
      </p:sp>
      <p:sp>
        <p:nvSpPr>
          <p:cNvPr id="149" name="Text 145"/>
          <p:cNvSpPr txBox="1"/>
          <p:nvPr/>
        </p:nvSpPr>
        <p:spPr>
          <a:xfrm>
            <a:off x="13735202" y="4438498"/>
            <a:ext cx="305410" cy="495605"/>
          </a:xfrm>
          <a:prstGeom prst="rect">
            <a:avLst/>
          </a:prstGeom>
          <a:noFill/>
          <a:ln/>
        </p:spPr>
        <p:txBody>
          <a:bodyPr wrap="square" lIns="0" tIns="0" rIns="0" bIns="0" rtlCol="0" anchor="ctr"/>
          <a:lstStyle/>
          <a:p>
            <a:pPr algn="ctr" indent="0" marL="0">
              <a:buNone/>
            </a:pPr>
            <a:r>
              <a:rPr lang="en-US" sz="1050" dirty="0">
                <a:solidFill>
                  <a:srgbClr val="756E5F"/>
                </a:solidFill>
                <a:latin typeface="IBM Plex Mono" pitchFamily="34" charset="0"/>
                <a:ea typeface="IBM Plex Mono" pitchFamily="34" charset="-122"/>
                <a:cs typeface="IBM Plex Mono" pitchFamily="34" charset="-120"/>
              </a:rPr>
              <a:t>C</a:t>
            </a:r>
            <a:endParaRPr lang="en-US" sz="1050" dirty="0"/>
          </a:p>
        </p:txBody>
      </p:sp>
      <p:sp>
        <p:nvSpPr>
          <p:cNvPr id="150" name="Text 146"/>
          <p:cNvSpPr txBox="1"/>
          <p:nvPr/>
        </p:nvSpPr>
        <p:spPr>
          <a:xfrm>
            <a:off x="13735202" y="4934102"/>
            <a:ext cx="305410" cy="495605"/>
          </a:xfrm>
          <a:prstGeom prst="rect">
            <a:avLst/>
          </a:prstGeom>
          <a:noFill/>
          <a:ln/>
        </p:spPr>
        <p:txBody>
          <a:bodyPr wrap="square" lIns="0" tIns="0" rIns="0" bIns="0" rtlCol="0" anchor="ctr"/>
          <a:lstStyle/>
          <a:p>
            <a:pPr algn="ctr" indent="0" marL="0">
              <a:buNone/>
            </a:pPr>
            <a:r>
              <a:rPr lang="en-US" sz="1050" dirty="0">
                <a:solidFill>
                  <a:srgbClr val="756E5F"/>
                </a:solidFill>
                <a:latin typeface="IBM Plex Mono" pitchFamily="34" charset="0"/>
                <a:ea typeface="IBM Plex Mono" pitchFamily="34" charset="-122"/>
                <a:cs typeface="IBM Plex Mono" pitchFamily="34" charset="-120"/>
              </a:rPr>
              <a:t>D</a:t>
            </a:r>
            <a:endParaRPr lang="en-US" sz="1050" dirty="0"/>
          </a:p>
        </p:txBody>
      </p:sp>
      <p:sp>
        <p:nvSpPr>
          <p:cNvPr id="151" name="Text 147"/>
          <p:cNvSpPr txBox="1"/>
          <p:nvPr/>
        </p:nvSpPr>
        <p:spPr>
          <a:xfrm>
            <a:off x="13735202" y="5429707"/>
            <a:ext cx="305410" cy="495605"/>
          </a:xfrm>
          <a:prstGeom prst="rect">
            <a:avLst/>
          </a:prstGeom>
          <a:noFill/>
          <a:ln/>
        </p:spPr>
        <p:txBody>
          <a:bodyPr wrap="square" lIns="0" tIns="0" rIns="0" bIns="0" rtlCol="0" anchor="ctr"/>
          <a:lstStyle/>
          <a:p>
            <a:pPr algn="ctr" indent="0" marL="0">
              <a:buNone/>
            </a:pPr>
            <a:r>
              <a:rPr lang="en-US" sz="1050" dirty="0">
                <a:solidFill>
                  <a:srgbClr val="756E5F"/>
                </a:solidFill>
                <a:latin typeface="IBM Plex Mono" pitchFamily="34" charset="0"/>
                <a:ea typeface="IBM Plex Mono" pitchFamily="34" charset="-122"/>
                <a:cs typeface="IBM Plex Mono" pitchFamily="34" charset="-120"/>
              </a:rPr>
              <a:t>E</a:t>
            </a:r>
            <a:endParaRPr lang="en-US" sz="1050" dirty="0"/>
          </a:p>
        </p:txBody>
      </p:sp>
      <p:sp>
        <p:nvSpPr>
          <p:cNvPr id="152" name="Shape 148"/>
          <p:cNvSpPr/>
          <p:nvPr/>
        </p:nvSpPr>
        <p:spPr>
          <a:xfrm>
            <a:off x="14039698" y="3448202"/>
            <a:ext cx="495605" cy="495605"/>
          </a:xfrm>
          <a:prstGeom prst="rect">
            <a:avLst/>
          </a:prstGeom>
          <a:solidFill>
            <a:srgbClr val="FAF3E8"/>
          </a:solidFill>
          <a:ln/>
        </p:spPr>
      </p:sp>
      <p:sp>
        <p:nvSpPr>
          <p:cNvPr id="153" name="Shape 149"/>
          <p:cNvSpPr/>
          <p:nvPr/>
        </p:nvSpPr>
        <p:spPr>
          <a:xfrm>
            <a:off x="14526158" y="3448202"/>
            <a:ext cx="9144" cy="495605"/>
          </a:xfrm>
          <a:prstGeom prst="rect">
            <a:avLst/>
          </a:prstGeom>
          <a:solidFill>
            <a:srgbClr val="C7BFA8"/>
          </a:solidFill>
          <a:ln w="12700">
            <a:solidFill>
              <a:srgbClr val="C7BFA8">
                <a:alpha val="0"/>
              </a:srgbClr>
            </a:solidFill>
            <a:prstDash val="solid"/>
          </a:ln>
        </p:spPr>
      </p:sp>
      <p:sp>
        <p:nvSpPr>
          <p:cNvPr id="154" name="Text 150"/>
          <p:cNvSpPr txBox="1"/>
          <p:nvPr/>
        </p:nvSpPr>
        <p:spPr>
          <a:xfrm>
            <a:off x="14039698" y="3448202"/>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25.74</a:t>
            </a:r>
            <a:endParaRPr lang="en-US" sz="1125" dirty="0"/>
          </a:p>
        </p:txBody>
      </p:sp>
      <p:sp>
        <p:nvSpPr>
          <p:cNvPr id="155" name="Shape 151"/>
          <p:cNvSpPr/>
          <p:nvPr/>
        </p:nvSpPr>
        <p:spPr>
          <a:xfrm>
            <a:off x="14535302" y="3448202"/>
            <a:ext cx="495605" cy="495605"/>
          </a:xfrm>
          <a:prstGeom prst="rect">
            <a:avLst/>
          </a:prstGeom>
          <a:solidFill>
            <a:srgbClr val="F1DBBF"/>
          </a:solidFill>
          <a:ln/>
        </p:spPr>
      </p:sp>
      <p:sp>
        <p:nvSpPr>
          <p:cNvPr id="156" name="Shape 152"/>
          <p:cNvSpPr/>
          <p:nvPr/>
        </p:nvSpPr>
        <p:spPr>
          <a:xfrm>
            <a:off x="15021763" y="3448202"/>
            <a:ext cx="9144" cy="495605"/>
          </a:xfrm>
          <a:prstGeom prst="rect">
            <a:avLst/>
          </a:prstGeom>
          <a:solidFill>
            <a:srgbClr val="C7BFA8"/>
          </a:solidFill>
          <a:ln w="12700">
            <a:solidFill>
              <a:srgbClr val="C7BFA8">
                <a:alpha val="0"/>
              </a:srgbClr>
            </a:solidFill>
            <a:prstDash val="solid"/>
          </a:ln>
        </p:spPr>
      </p:sp>
      <p:sp>
        <p:nvSpPr>
          <p:cNvPr id="157" name="Text 153"/>
          <p:cNvSpPr txBox="1"/>
          <p:nvPr/>
        </p:nvSpPr>
        <p:spPr>
          <a:xfrm>
            <a:off x="14535302" y="3448202"/>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25.86</a:t>
            </a:r>
            <a:endParaRPr lang="en-US" sz="1125" dirty="0"/>
          </a:p>
        </p:txBody>
      </p:sp>
      <p:sp>
        <p:nvSpPr>
          <p:cNvPr id="158" name="Shape 154"/>
          <p:cNvSpPr/>
          <p:nvPr/>
        </p:nvSpPr>
        <p:spPr>
          <a:xfrm>
            <a:off x="15030907" y="3448202"/>
            <a:ext cx="495605" cy="495605"/>
          </a:xfrm>
          <a:prstGeom prst="rect">
            <a:avLst/>
          </a:prstGeom>
          <a:solidFill>
            <a:srgbClr val="EAC9A6"/>
          </a:solidFill>
          <a:ln/>
        </p:spPr>
      </p:sp>
      <p:sp>
        <p:nvSpPr>
          <p:cNvPr id="159" name="Shape 155"/>
          <p:cNvSpPr/>
          <p:nvPr/>
        </p:nvSpPr>
        <p:spPr>
          <a:xfrm>
            <a:off x="15517368" y="3448202"/>
            <a:ext cx="9144" cy="495605"/>
          </a:xfrm>
          <a:prstGeom prst="rect">
            <a:avLst/>
          </a:prstGeom>
          <a:solidFill>
            <a:srgbClr val="C7BFA8"/>
          </a:solidFill>
          <a:ln w="12700">
            <a:solidFill>
              <a:srgbClr val="C7BFA8">
                <a:alpha val="0"/>
              </a:srgbClr>
            </a:solidFill>
            <a:prstDash val="solid"/>
          </a:ln>
        </p:spPr>
      </p:sp>
      <p:sp>
        <p:nvSpPr>
          <p:cNvPr id="160" name="Text 156"/>
          <p:cNvSpPr txBox="1"/>
          <p:nvPr/>
        </p:nvSpPr>
        <p:spPr>
          <a:xfrm>
            <a:off x="15030907" y="3448202"/>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25.91</a:t>
            </a:r>
            <a:endParaRPr lang="en-US" sz="1125" dirty="0"/>
          </a:p>
        </p:txBody>
      </p:sp>
      <p:sp>
        <p:nvSpPr>
          <p:cNvPr id="161" name="Shape 157"/>
          <p:cNvSpPr/>
          <p:nvPr/>
        </p:nvSpPr>
        <p:spPr>
          <a:xfrm>
            <a:off x="15525598" y="3448202"/>
            <a:ext cx="495605" cy="495605"/>
          </a:xfrm>
          <a:prstGeom prst="rect">
            <a:avLst/>
          </a:prstGeom>
          <a:solidFill>
            <a:srgbClr val="ECD9CB"/>
          </a:solidFill>
          <a:ln/>
        </p:spPr>
      </p:sp>
      <p:sp>
        <p:nvSpPr>
          <p:cNvPr id="162" name="Shape 158"/>
          <p:cNvSpPr/>
          <p:nvPr/>
        </p:nvSpPr>
        <p:spPr>
          <a:xfrm>
            <a:off x="16012058" y="3448202"/>
            <a:ext cx="9144" cy="495605"/>
          </a:xfrm>
          <a:prstGeom prst="rect">
            <a:avLst/>
          </a:prstGeom>
          <a:solidFill>
            <a:srgbClr val="C7BFA8"/>
          </a:solidFill>
          <a:ln w="12700">
            <a:solidFill>
              <a:srgbClr val="C7BFA8">
                <a:alpha val="0"/>
              </a:srgbClr>
            </a:solidFill>
            <a:prstDash val="solid"/>
          </a:ln>
        </p:spPr>
      </p:sp>
      <p:sp>
        <p:nvSpPr>
          <p:cNvPr id="163" name="Text 159"/>
          <p:cNvSpPr txBox="1"/>
          <p:nvPr/>
        </p:nvSpPr>
        <p:spPr>
          <a:xfrm>
            <a:off x="15525598" y="3448202"/>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25.78</a:t>
            </a:r>
            <a:endParaRPr lang="en-US" sz="1125" dirty="0"/>
          </a:p>
        </p:txBody>
      </p:sp>
      <p:sp>
        <p:nvSpPr>
          <p:cNvPr id="164" name="Text 160"/>
          <p:cNvSpPr txBox="1"/>
          <p:nvPr/>
        </p:nvSpPr>
        <p:spPr>
          <a:xfrm>
            <a:off x="16021202" y="3448202"/>
            <a:ext cx="495605" cy="495605"/>
          </a:xfrm>
          <a:prstGeom prst="rect">
            <a:avLst/>
          </a:prstGeom>
          <a:solidFill>
            <a:srgbClr val="F2DEC3"/>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25.84</a:t>
            </a:r>
            <a:endParaRPr lang="en-US" sz="1125" dirty="0"/>
          </a:p>
        </p:txBody>
      </p:sp>
      <p:sp>
        <p:nvSpPr>
          <p:cNvPr id="165" name="Shape 161"/>
          <p:cNvSpPr/>
          <p:nvPr/>
        </p:nvSpPr>
        <p:spPr>
          <a:xfrm>
            <a:off x="14039698" y="3943807"/>
            <a:ext cx="495605" cy="495605"/>
          </a:xfrm>
          <a:prstGeom prst="rect">
            <a:avLst/>
          </a:prstGeom>
          <a:solidFill>
            <a:srgbClr val="DEE8E5"/>
          </a:solidFill>
          <a:ln/>
        </p:spPr>
      </p:sp>
      <p:sp>
        <p:nvSpPr>
          <p:cNvPr id="166" name="Shape 162"/>
          <p:cNvSpPr/>
          <p:nvPr/>
        </p:nvSpPr>
        <p:spPr>
          <a:xfrm>
            <a:off x="14526158" y="3943807"/>
            <a:ext cx="9144" cy="495605"/>
          </a:xfrm>
          <a:prstGeom prst="rect">
            <a:avLst/>
          </a:prstGeom>
          <a:solidFill>
            <a:srgbClr val="C7BFA8"/>
          </a:solidFill>
          <a:ln w="12700">
            <a:solidFill>
              <a:srgbClr val="C7BFA8">
                <a:alpha val="0"/>
              </a:srgbClr>
            </a:solidFill>
            <a:prstDash val="solid"/>
          </a:ln>
        </p:spPr>
      </p:sp>
      <p:sp>
        <p:nvSpPr>
          <p:cNvPr id="167" name="Text 163"/>
          <p:cNvSpPr txBox="1"/>
          <p:nvPr/>
        </p:nvSpPr>
        <p:spPr>
          <a:xfrm>
            <a:off x="14039698" y="3943807"/>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25.65</a:t>
            </a:r>
            <a:endParaRPr lang="en-US" sz="1125" dirty="0"/>
          </a:p>
        </p:txBody>
      </p:sp>
      <p:sp>
        <p:nvSpPr>
          <p:cNvPr id="168" name="Shape 164"/>
          <p:cNvSpPr/>
          <p:nvPr/>
        </p:nvSpPr>
        <p:spPr>
          <a:xfrm>
            <a:off x="14535302" y="3943807"/>
            <a:ext cx="495605" cy="495605"/>
          </a:xfrm>
          <a:prstGeom prst="rect">
            <a:avLst/>
          </a:prstGeom>
          <a:solidFill>
            <a:srgbClr val="ECCBB0"/>
          </a:solidFill>
          <a:ln/>
        </p:spPr>
      </p:sp>
      <p:sp>
        <p:nvSpPr>
          <p:cNvPr id="169" name="Shape 165"/>
          <p:cNvSpPr/>
          <p:nvPr/>
        </p:nvSpPr>
        <p:spPr>
          <a:xfrm>
            <a:off x="15021763" y="3943807"/>
            <a:ext cx="9144" cy="495605"/>
          </a:xfrm>
          <a:prstGeom prst="rect">
            <a:avLst/>
          </a:prstGeom>
          <a:solidFill>
            <a:srgbClr val="C7BFA8"/>
          </a:solidFill>
          <a:ln w="12700">
            <a:solidFill>
              <a:srgbClr val="C7BFA8">
                <a:alpha val="0"/>
              </a:srgbClr>
            </a:solidFill>
            <a:prstDash val="solid"/>
          </a:ln>
        </p:spPr>
      </p:sp>
      <p:sp>
        <p:nvSpPr>
          <p:cNvPr id="170" name="Text 166"/>
          <p:cNvSpPr txBox="1"/>
          <p:nvPr/>
        </p:nvSpPr>
        <p:spPr>
          <a:xfrm>
            <a:off x="14535302" y="3943807"/>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25.95</a:t>
            </a:r>
            <a:endParaRPr lang="en-US" sz="1125" dirty="0"/>
          </a:p>
        </p:txBody>
      </p:sp>
      <p:sp>
        <p:nvSpPr>
          <p:cNvPr id="171" name="Shape 167"/>
          <p:cNvSpPr/>
          <p:nvPr/>
        </p:nvSpPr>
        <p:spPr>
          <a:xfrm>
            <a:off x="15030907" y="3943807"/>
            <a:ext cx="495605" cy="495605"/>
          </a:xfrm>
          <a:prstGeom prst="rect">
            <a:avLst/>
          </a:prstGeom>
          <a:solidFill>
            <a:srgbClr val="ECD9CB"/>
          </a:solidFill>
          <a:ln/>
        </p:spPr>
      </p:sp>
      <p:sp>
        <p:nvSpPr>
          <p:cNvPr id="172" name="Shape 168"/>
          <p:cNvSpPr/>
          <p:nvPr/>
        </p:nvSpPr>
        <p:spPr>
          <a:xfrm>
            <a:off x="15517368" y="3943807"/>
            <a:ext cx="9144" cy="495605"/>
          </a:xfrm>
          <a:prstGeom prst="rect">
            <a:avLst/>
          </a:prstGeom>
          <a:solidFill>
            <a:srgbClr val="C7BFA8"/>
          </a:solidFill>
          <a:ln w="12700">
            <a:solidFill>
              <a:srgbClr val="C7BFA8">
                <a:alpha val="0"/>
              </a:srgbClr>
            </a:solidFill>
            <a:prstDash val="solid"/>
          </a:ln>
        </p:spPr>
      </p:sp>
      <p:sp>
        <p:nvSpPr>
          <p:cNvPr id="173" name="Text 169"/>
          <p:cNvSpPr txBox="1"/>
          <p:nvPr/>
        </p:nvSpPr>
        <p:spPr>
          <a:xfrm>
            <a:off x="15030907" y="3943807"/>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25.71</a:t>
            </a:r>
            <a:endParaRPr lang="en-US" sz="1125" dirty="0"/>
          </a:p>
        </p:txBody>
      </p:sp>
      <p:sp>
        <p:nvSpPr>
          <p:cNvPr id="174" name="Shape 170"/>
          <p:cNvSpPr/>
          <p:nvPr/>
        </p:nvSpPr>
        <p:spPr>
          <a:xfrm>
            <a:off x="15525598" y="3943807"/>
            <a:ext cx="495605" cy="495605"/>
          </a:xfrm>
          <a:prstGeom prst="rect">
            <a:avLst/>
          </a:prstGeom>
          <a:solidFill>
            <a:srgbClr val="EAC9A6"/>
          </a:solidFill>
          <a:ln/>
        </p:spPr>
      </p:sp>
      <p:sp>
        <p:nvSpPr>
          <p:cNvPr id="175" name="Shape 171"/>
          <p:cNvSpPr/>
          <p:nvPr/>
        </p:nvSpPr>
        <p:spPr>
          <a:xfrm>
            <a:off x="16012058" y="3943807"/>
            <a:ext cx="9144" cy="495605"/>
          </a:xfrm>
          <a:prstGeom prst="rect">
            <a:avLst/>
          </a:prstGeom>
          <a:solidFill>
            <a:srgbClr val="C7BFA8"/>
          </a:solidFill>
          <a:ln w="12700">
            <a:solidFill>
              <a:srgbClr val="C7BFA8">
                <a:alpha val="0"/>
              </a:srgbClr>
            </a:solidFill>
            <a:prstDash val="solid"/>
          </a:ln>
        </p:spPr>
      </p:sp>
      <p:sp>
        <p:nvSpPr>
          <p:cNvPr id="176" name="Text 172"/>
          <p:cNvSpPr txBox="1"/>
          <p:nvPr/>
        </p:nvSpPr>
        <p:spPr>
          <a:xfrm>
            <a:off x="15525598" y="3943807"/>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25.89</a:t>
            </a:r>
            <a:endParaRPr lang="en-US" sz="1125" dirty="0"/>
          </a:p>
        </p:txBody>
      </p:sp>
      <p:sp>
        <p:nvSpPr>
          <p:cNvPr id="177" name="Text 173"/>
          <p:cNvSpPr txBox="1"/>
          <p:nvPr/>
        </p:nvSpPr>
        <p:spPr>
          <a:xfrm>
            <a:off x="16021202" y="3943807"/>
            <a:ext cx="495605" cy="495605"/>
          </a:xfrm>
          <a:prstGeom prst="rect">
            <a:avLst/>
          </a:prstGeom>
          <a:solidFill>
            <a:srgbClr val="ECD9CB"/>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25.78</a:t>
            </a:r>
            <a:endParaRPr lang="en-US" sz="1125" dirty="0"/>
          </a:p>
        </p:txBody>
      </p:sp>
      <p:sp>
        <p:nvSpPr>
          <p:cNvPr id="178" name="Shape 174"/>
          <p:cNvSpPr/>
          <p:nvPr/>
        </p:nvSpPr>
        <p:spPr>
          <a:xfrm>
            <a:off x="14039698" y="4438498"/>
            <a:ext cx="495605" cy="495605"/>
          </a:xfrm>
          <a:prstGeom prst="rect">
            <a:avLst/>
          </a:prstGeom>
          <a:solidFill>
            <a:srgbClr val="E8C3A0"/>
          </a:solidFill>
          <a:ln/>
        </p:spPr>
      </p:sp>
      <p:sp>
        <p:nvSpPr>
          <p:cNvPr id="179" name="Shape 175"/>
          <p:cNvSpPr/>
          <p:nvPr/>
        </p:nvSpPr>
        <p:spPr>
          <a:xfrm>
            <a:off x="14526158" y="4438498"/>
            <a:ext cx="9144" cy="495605"/>
          </a:xfrm>
          <a:prstGeom prst="rect">
            <a:avLst/>
          </a:prstGeom>
          <a:solidFill>
            <a:srgbClr val="C7BFA8"/>
          </a:solidFill>
          <a:ln w="12700">
            <a:solidFill>
              <a:srgbClr val="C7BFA8">
                <a:alpha val="0"/>
              </a:srgbClr>
            </a:solidFill>
            <a:prstDash val="solid"/>
          </a:ln>
        </p:spPr>
      </p:sp>
      <p:sp>
        <p:nvSpPr>
          <p:cNvPr id="180" name="Text 176"/>
          <p:cNvSpPr txBox="1"/>
          <p:nvPr/>
        </p:nvSpPr>
        <p:spPr>
          <a:xfrm>
            <a:off x="14039698" y="4438498"/>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25.99</a:t>
            </a:r>
            <a:endParaRPr lang="en-US" sz="1125" dirty="0"/>
          </a:p>
        </p:txBody>
      </p:sp>
      <p:sp>
        <p:nvSpPr>
          <p:cNvPr id="181" name="Shape 177"/>
          <p:cNvSpPr/>
          <p:nvPr/>
        </p:nvSpPr>
        <p:spPr>
          <a:xfrm>
            <a:off x="14535302" y="4438498"/>
            <a:ext cx="495605" cy="495605"/>
          </a:xfrm>
          <a:prstGeom prst="rect">
            <a:avLst/>
          </a:prstGeom>
          <a:solidFill>
            <a:srgbClr val="DEE8E5"/>
          </a:solidFill>
          <a:ln/>
        </p:spPr>
      </p:sp>
      <p:sp>
        <p:nvSpPr>
          <p:cNvPr id="182" name="Shape 178"/>
          <p:cNvSpPr/>
          <p:nvPr/>
        </p:nvSpPr>
        <p:spPr>
          <a:xfrm>
            <a:off x="15021763" y="4438498"/>
            <a:ext cx="9144" cy="495605"/>
          </a:xfrm>
          <a:prstGeom prst="rect">
            <a:avLst/>
          </a:prstGeom>
          <a:solidFill>
            <a:srgbClr val="C7BFA8"/>
          </a:solidFill>
          <a:ln w="12700">
            <a:solidFill>
              <a:srgbClr val="C7BFA8">
                <a:alpha val="0"/>
              </a:srgbClr>
            </a:solidFill>
            <a:prstDash val="solid"/>
          </a:ln>
        </p:spPr>
      </p:sp>
      <p:sp>
        <p:nvSpPr>
          <p:cNvPr id="183" name="Text 179"/>
          <p:cNvSpPr txBox="1"/>
          <p:nvPr/>
        </p:nvSpPr>
        <p:spPr>
          <a:xfrm>
            <a:off x="14535302" y="4438498"/>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25.69</a:t>
            </a:r>
            <a:endParaRPr lang="en-US" sz="1125" dirty="0"/>
          </a:p>
        </p:txBody>
      </p:sp>
      <p:sp>
        <p:nvSpPr>
          <p:cNvPr id="184" name="Shape 180"/>
          <p:cNvSpPr/>
          <p:nvPr/>
        </p:nvSpPr>
        <p:spPr>
          <a:xfrm>
            <a:off x="15030907" y="4438498"/>
            <a:ext cx="495605" cy="495605"/>
          </a:xfrm>
          <a:prstGeom prst="rect">
            <a:avLst/>
          </a:prstGeom>
          <a:solidFill>
            <a:srgbClr val="F2DEC3"/>
          </a:solidFill>
          <a:ln/>
        </p:spPr>
      </p:sp>
      <p:sp>
        <p:nvSpPr>
          <p:cNvPr id="185" name="Shape 181"/>
          <p:cNvSpPr/>
          <p:nvPr/>
        </p:nvSpPr>
        <p:spPr>
          <a:xfrm>
            <a:off x="15517368" y="4438498"/>
            <a:ext cx="9144" cy="495605"/>
          </a:xfrm>
          <a:prstGeom prst="rect">
            <a:avLst/>
          </a:prstGeom>
          <a:solidFill>
            <a:srgbClr val="C7BFA8"/>
          </a:solidFill>
          <a:ln w="12700">
            <a:solidFill>
              <a:srgbClr val="C7BFA8">
                <a:alpha val="0"/>
              </a:srgbClr>
            </a:solidFill>
            <a:prstDash val="solid"/>
          </a:ln>
        </p:spPr>
      </p:sp>
      <p:sp>
        <p:nvSpPr>
          <p:cNvPr id="186" name="Text 182"/>
          <p:cNvSpPr txBox="1"/>
          <p:nvPr/>
        </p:nvSpPr>
        <p:spPr>
          <a:xfrm>
            <a:off x="15030907" y="4438498"/>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25.83</a:t>
            </a:r>
            <a:endParaRPr lang="en-US" sz="1125" dirty="0"/>
          </a:p>
        </p:txBody>
      </p:sp>
      <p:sp>
        <p:nvSpPr>
          <p:cNvPr id="187" name="Shape 183"/>
          <p:cNvSpPr/>
          <p:nvPr/>
        </p:nvSpPr>
        <p:spPr>
          <a:xfrm>
            <a:off x="15525598" y="4438498"/>
            <a:ext cx="495605" cy="495605"/>
          </a:xfrm>
          <a:prstGeom prst="rect">
            <a:avLst/>
          </a:prstGeom>
          <a:solidFill>
            <a:srgbClr val="ECD9CB"/>
          </a:solidFill>
          <a:ln/>
        </p:spPr>
      </p:sp>
      <p:sp>
        <p:nvSpPr>
          <p:cNvPr id="188" name="Shape 184"/>
          <p:cNvSpPr/>
          <p:nvPr/>
        </p:nvSpPr>
        <p:spPr>
          <a:xfrm>
            <a:off x="16012058" y="4438498"/>
            <a:ext cx="9144" cy="495605"/>
          </a:xfrm>
          <a:prstGeom prst="rect">
            <a:avLst/>
          </a:prstGeom>
          <a:solidFill>
            <a:srgbClr val="C7BFA8"/>
          </a:solidFill>
          <a:ln w="12700">
            <a:solidFill>
              <a:srgbClr val="C7BFA8">
                <a:alpha val="0"/>
              </a:srgbClr>
            </a:solidFill>
            <a:prstDash val="solid"/>
          </a:ln>
        </p:spPr>
      </p:sp>
      <p:sp>
        <p:nvSpPr>
          <p:cNvPr id="189" name="Text 185"/>
          <p:cNvSpPr txBox="1"/>
          <p:nvPr/>
        </p:nvSpPr>
        <p:spPr>
          <a:xfrm>
            <a:off x="15525598" y="4438498"/>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25.77</a:t>
            </a:r>
            <a:endParaRPr lang="en-US" sz="1125" dirty="0"/>
          </a:p>
        </p:txBody>
      </p:sp>
      <p:sp>
        <p:nvSpPr>
          <p:cNvPr id="190" name="Text 186"/>
          <p:cNvSpPr txBox="1"/>
          <p:nvPr/>
        </p:nvSpPr>
        <p:spPr>
          <a:xfrm>
            <a:off x="16021202" y="4438498"/>
            <a:ext cx="495605" cy="495605"/>
          </a:xfrm>
          <a:prstGeom prst="rect">
            <a:avLst/>
          </a:prstGeom>
          <a:solidFill>
            <a:srgbClr val="E4ECE9"/>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25.66</a:t>
            </a:r>
            <a:endParaRPr lang="en-US" sz="1125" dirty="0"/>
          </a:p>
        </p:txBody>
      </p:sp>
      <p:sp>
        <p:nvSpPr>
          <p:cNvPr id="191" name="Shape 187"/>
          <p:cNvSpPr/>
          <p:nvPr/>
        </p:nvSpPr>
        <p:spPr>
          <a:xfrm>
            <a:off x="14039698" y="4934102"/>
            <a:ext cx="495605" cy="495605"/>
          </a:xfrm>
          <a:prstGeom prst="rect">
            <a:avLst/>
          </a:prstGeom>
          <a:solidFill>
            <a:srgbClr val="D9E5E3"/>
          </a:solidFill>
          <a:ln/>
        </p:spPr>
      </p:sp>
      <p:sp>
        <p:nvSpPr>
          <p:cNvPr id="192" name="Shape 188"/>
          <p:cNvSpPr/>
          <p:nvPr/>
        </p:nvSpPr>
        <p:spPr>
          <a:xfrm>
            <a:off x="14526158" y="4934102"/>
            <a:ext cx="9144" cy="495605"/>
          </a:xfrm>
          <a:prstGeom prst="rect">
            <a:avLst/>
          </a:prstGeom>
          <a:solidFill>
            <a:srgbClr val="C7BFA8"/>
          </a:solidFill>
          <a:ln w="12700">
            <a:solidFill>
              <a:srgbClr val="C7BFA8">
                <a:alpha val="0"/>
              </a:srgbClr>
            </a:solidFill>
            <a:prstDash val="solid"/>
          </a:ln>
        </p:spPr>
      </p:sp>
      <p:sp>
        <p:nvSpPr>
          <p:cNvPr id="193" name="Text 189"/>
          <p:cNvSpPr txBox="1"/>
          <p:nvPr/>
        </p:nvSpPr>
        <p:spPr>
          <a:xfrm>
            <a:off x="14039698" y="4934102"/>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25.62</a:t>
            </a:r>
            <a:endParaRPr lang="en-US" sz="1125" dirty="0"/>
          </a:p>
        </p:txBody>
      </p:sp>
      <p:sp>
        <p:nvSpPr>
          <p:cNvPr id="194" name="Shape 190"/>
          <p:cNvSpPr/>
          <p:nvPr/>
        </p:nvSpPr>
        <p:spPr>
          <a:xfrm>
            <a:off x="14535302" y="4934102"/>
            <a:ext cx="495605" cy="495605"/>
          </a:xfrm>
          <a:prstGeom prst="rect">
            <a:avLst/>
          </a:prstGeom>
          <a:solidFill>
            <a:srgbClr val="ECCBB0"/>
          </a:solidFill>
          <a:ln/>
        </p:spPr>
      </p:sp>
      <p:sp>
        <p:nvSpPr>
          <p:cNvPr id="195" name="Shape 191"/>
          <p:cNvSpPr/>
          <p:nvPr/>
        </p:nvSpPr>
        <p:spPr>
          <a:xfrm>
            <a:off x="15021763" y="4934102"/>
            <a:ext cx="9144" cy="495605"/>
          </a:xfrm>
          <a:prstGeom prst="rect">
            <a:avLst/>
          </a:prstGeom>
          <a:solidFill>
            <a:srgbClr val="C7BFA8"/>
          </a:solidFill>
          <a:ln w="12700">
            <a:solidFill>
              <a:srgbClr val="C7BFA8">
                <a:alpha val="0"/>
              </a:srgbClr>
            </a:solidFill>
            <a:prstDash val="solid"/>
          </a:ln>
        </p:spPr>
      </p:sp>
      <p:sp>
        <p:nvSpPr>
          <p:cNvPr id="196" name="Text 192"/>
          <p:cNvSpPr txBox="1"/>
          <p:nvPr/>
        </p:nvSpPr>
        <p:spPr>
          <a:xfrm>
            <a:off x="14535302" y="4934102"/>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25.96</a:t>
            </a:r>
            <a:endParaRPr lang="en-US" sz="1125" dirty="0"/>
          </a:p>
        </p:txBody>
      </p:sp>
      <p:sp>
        <p:nvSpPr>
          <p:cNvPr id="197" name="Shape 193"/>
          <p:cNvSpPr/>
          <p:nvPr/>
        </p:nvSpPr>
        <p:spPr>
          <a:xfrm>
            <a:off x="15030907" y="4934102"/>
            <a:ext cx="495605" cy="495605"/>
          </a:xfrm>
          <a:prstGeom prst="rect">
            <a:avLst/>
          </a:prstGeom>
          <a:solidFill>
            <a:srgbClr val="ECD9CB"/>
          </a:solidFill>
          <a:ln/>
        </p:spPr>
      </p:sp>
      <p:sp>
        <p:nvSpPr>
          <p:cNvPr id="198" name="Shape 194"/>
          <p:cNvSpPr/>
          <p:nvPr/>
        </p:nvSpPr>
        <p:spPr>
          <a:xfrm>
            <a:off x="15517368" y="4934102"/>
            <a:ext cx="9144" cy="495605"/>
          </a:xfrm>
          <a:prstGeom prst="rect">
            <a:avLst/>
          </a:prstGeom>
          <a:solidFill>
            <a:srgbClr val="C7BFA8"/>
          </a:solidFill>
          <a:ln w="12700">
            <a:solidFill>
              <a:srgbClr val="C7BFA8">
                <a:alpha val="0"/>
              </a:srgbClr>
            </a:solidFill>
            <a:prstDash val="solid"/>
          </a:ln>
        </p:spPr>
      </p:sp>
      <p:sp>
        <p:nvSpPr>
          <p:cNvPr id="199" name="Text 195"/>
          <p:cNvSpPr txBox="1"/>
          <p:nvPr/>
        </p:nvSpPr>
        <p:spPr>
          <a:xfrm>
            <a:off x="15030907" y="4934102"/>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25.74</a:t>
            </a:r>
            <a:endParaRPr lang="en-US" sz="1125" dirty="0"/>
          </a:p>
        </p:txBody>
      </p:sp>
      <p:sp>
        <p:nvSpPr>
          <p:cNvPr id="200" name="Shape 196"/>
          <p:cNvSpPr/>
          <p:nvPr/>
        </p:nvSpPr>
        <p:spPr>
          <a:xfrm>
            <a:off x="15525598" y="4934102"/>
            <a:ext cx="495605" cy="495605"/>
          </a:xfrm>
          <a:prstGeom prst="rect">
            <a:avLst/>
          </a:prstGeom>
          <a:solidFill>
            <a:srgbClr val="F2DEC3"/>
          </a:solidFill>
          <a:ln/>
        </p:spPr>
      </p:sp>
      <p:sp>
        <p:nvSpPr>
          <p:cNvPr id="201" name="Shape 197"/>
          <p:cNvSpPr/>
          <p:nvPr/>
        </p:nvSpPr>
        <p:spPr>
          <a:xfrm>
            <a:off x="16012058" y="4934102"/>
            <a:ext cx="9144" cy="495605"/>
          </a:xfrm>
          <a:prstGeom prst="rect">
            <a:avLst/>
          </a:prstGeom>
          <a:solidFill>
            <a:srgbClr val="C7BFA8"/>
          </a:solidFill>
          <a:ln w="12700">
            <a:solidFill>
              <a:srgbClr val="C7BFA8">
                <a:alpha val="0"/>
              </a:srgbClr>
            </a:solidFill>
            <a:prstDash val="solid"/>
          </a:ln>
        </p:spPr>
      </p:sp>
      <p:sp>
        <p:nvSpPr>
          <p:cNvPr id="202" name="Text 198"/>
          <p:cNvSpPr txBox="1"/>
          <p:nvPr/>
        </p:nvSpPr>
        <p:spPr>
          <a:xfrm>
            <a:off x="15525598" y="4934102"/>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25.86</a:t>
            </a:r>
            <a:endParaRPr lang="en-US" sz="1125" dirty="0"/>
          </a:p>
        </p:txBody>
      </p:sp>
      <p:sp>
        <p:nvSpPr>
          <p:cNvPr id="203" name="Text 199"/>
          <p:cNvSpPr txBox="1"/>
          <p:nvPr/>
        </p:nvSpPr>
        <p:spPr>
          <a:xfrm>
            <a:off x="16021202" y="4934102"/>
            <a:ext cx="495605" cy="495605"/>
          </a:xfrm>
          <a:prstGeom prst="rect">
            <a:avLst/>
          </a:prstGeom>
          <a:solidFill>
            <a:srgbClr val="ECD9CB"/>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25.72</a:t>
            </a:r>
            <a:endParaRPr lang="en-US" sz="1125" dirty="0"/>
          </a:p>
        </p:txBody>
      </p:sp>
      <p:sp>
        <p:nvSpPr>
          <p:cNvPr id="204" name="Shape 200"/>
          <p:cNvSpPr/>
          <p:nvPr/>
        </p:nvSpPr>
        <p:spPr>
          <a:xfrm>
            <a:off x="14039698" y="5429707"/>
            <a:ext cx="495605" cy="495605"/>
          </a:xfrm>
          <a:prstGeom prst="rect">
            <a:avLst/>
          </a:prstGeom>
          <a:solidFill>
            <a:srgbClr val="F1DBBF"/>
          </a:solidFill>
          <a:ln/>
        </p:spPr>
      </p:sp>
      <p:sp>
        <p:nvSpPr>
          <p:cNvPr id="205" name="Shape 201"/>
          <p:cNvSpPr/>
          <p:nvPr/>
        </p:nvSpPr>
        <p:spPr>
          <a:xfrm>
            <a:off x="14526158" y="5429707"/>
            <a:ext cx="9144" cy="495605"/>
          </a:xfrm>
          <a:prstGeom prst="rect">
            <a:avLst/>
          </a:prstGeom>
          <a:solidFill>
            <a:srgbClr val="C7BFA8"/>
          </a:solidFill>
          <a:ln w="12700">
            <a:solidFill>
              <a:srgbClr val="C7BFA8">
                <a:alpha val="0"/>
              </a:srgbClr>
            </a:solidFill>
            <a:prstDash val="solid"/>
          </a:ln>
        </p:spPr>
      </p:sp>
      <p:sp>
        <p:nvSpPr>
          <p:cNvPr id="206" name="Text 202"/>
          <p:cNvSpPr txBox="1"/>
          <p:nvPr/>
        </p:nvSpPr>
        <p:spPr>
          <a:xfrm>
            <a:off x="14039698" y="5429707"/>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25.81</a:t>
            </a:r>
            <a:endParaRPr lang="en-US" sz="1125" dirty="0"/>
          </a:p>
        </p:txBody>
      </p:sp>
      <p:sp>
        <p:nvSpPr>
          <p:cNvPr id="207" name="Shape 203"/>
          <p:cNvSpPr/>
          <p:nvPr/>
        </p:nvSpPr>
        <p:spPr>
          <a:xfrm>
            <a:off x="14535302" y="5429707"/>
            <a:ext cx="495605" cy="495605"/>
          </a:xfrm>
          <a:prstGeom prst="rect">
            <a:avLst/>
          </a:prstGeom>
          <a:solidFill>
            <a:srgbClr val="DEE8E5"/>
          </a:solidFill>
          <a:ln/>
        </p:spPr>
      </p:sp>
      <p:sp>
        <p:nvSpPr>
          <p:cNvPr id="208" name="Shape 204"/>
          <p:cNvSpPr/>
          <p:nvPr/>
        </p:nvSpPr>
        <p:spPr>
          <a:xfrm>
            <a:off x="15021763" y="5429707"/>
            <a:ext cx="9144" cy="495605"/>
          </a:xfrm>
          <a:prstGeom prst="rect">
            <a:avLst/>
          </a:prstGeom>
          <a:solidFill>
            <a:srgbClr val="C7BFA8"/>
          </a:solidFill>
          <a:ln w="12700">
            <a:solidFill>
              <a:srgbClr val="C7BFA8">
                <a:alpha val="0"/>
              </a:srgbClr>
            </a:solidFill>
            <a:prstDash val="solid"/>
          </a:ln>
        </p:spPr>
      </p:sp>
      <p:sp>
        <p:nvSpPr>
          <p:cNvPr id="209" name="Text 205"/>
          <p:cNvSpPr txBox="1"/>
          <p:nvPr/>
        </p:nvSpPr>
        <p:spPr>
          <a:xfrm>
            <a:off x="14535302" y="5429707"/>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25.68</a:t>
            </a:r>
            <a:endParaRPr lang="en-US" sz="1125" dirty="0"/>
          </a:p>
        </p:txBody>
      </p:sp>
      <p:sp>
        <p:nvSpPr>
          <p:cNvPr id="210" name="Shape 206"/>
          <p:cNvSpPr/>
          <p:nvPr/>
        </p:nvSpPr>
        <p:spPr>
          <a:xfrm>
            <a:off x="15030907" y="5429707"/>
            <a:ext cx="495605" cy="495605"/>
          </a:xfrm>
          <a:prstGeom prst="rect">
            <a:avLst/>
          </a:prstGeom>
          <a:solidFill>
            <a:srgbClr val="D9E5E3"/>
          </a:solidFill>
          <a:ln/>
        </p:spPr>
      </p:sp>
      <p:sp>
        <p:nvSpPr>
          <p:cNvPr id="211" name="Shape 207"/>
          <p:cNvSpPr/>
          <p:nvPr/>
        </p:nvSpPr>
        <p:spPr>
          <a:xfrm>
            <a:off x="15517368" y="5429707"/>
            <a:ext cx="9144" cy="495605"/>
          </a:xfrm>
          <a:prstGeom prst="rect">
            <a:avLst/>
          </a:prstGeom>
          <a:solidFill>
            <a:srgbClr val="C7BFA8"/>
          </a:solidFill>
          <a:ln w="12700">
            <a:solidFill>
              <a:srgbClr val="C7BFA8">
                <a:alpha val="0"/>
              </a:srgbClr>
            </a:solidFill>
            <a:prstDash val="solid"/>
          </a:ln>
        </p:spPr>
      </p:sp>
      <p:sp>
        <p:nvSpPr>
          <p:cNvPr id="212" name="Text 208"/>
          <p:cNvSpPr txBox="1"/>
          <p:nvPr/>
        </p:nvSpPr>
        <p:spPr>
          <a:xfrm>
            <a:off x="15030907" y="5429707"/>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25.62</a:t>
            </a:r>
            <a:endParaRPr lang="en-US" sz="1125" dirty="0"/>
          </a:p>
        </p:txBody>
      </p:sp>
      <p:sp>
        <p:nvSpPr>
          <p:cNvPr id="213" name="Shape 209"/>
          <p:cNvSpPr/>
          <p:nvPr/>
        </p:nvSpPr>
        <p:spPr>
          <a:xfrm>
            <a:off x="15525598" y="5429707"/>
            <a:ext cx="495605" cy="495605"/>
          </a:xfrm>
          <a:prstGeom prst="rect">
            <a:avLst/>
          </a:prstGeom>
          <a:solidFill>
            <a:srgbClr val="EAC9A6"/>
          </a:solidFill>
          <a:ln/>
        </p:spPr>
      </p:sp>
      <p:sp>
        <p:nvSpPr>
          <p:cNvPr id="214" name="Shape 210"/>
          <p:cNvSpPr/>
          <p:nvPr/>
        </p:nvSpPr>
        <p:spPr>
          <a:xfrm>
            <a:off x="16012058" y="5429707"/>
            <a:ext cx="9144" cy="495605"/>
          </a:xfrm>
          <a:prstGeom prst="rect">
            <a:avLst/>
          </a:prstGeom>
          <a:solidFill>
            <a:srgbClr val="C7BFA8"/>
          </a:solidFill>
          <a:ln w="12700">
            <a:solidFill>
              <a:srgbClr val="C7BFA8">
                <a:alpha val="0"/>
              </a:srgbClr>
            </a:solidFill>
            <a:prstDash val="solid"/>
          </a:ln>
        </p:spPr>
      </p:sp>
      <p:sp>
        <p:nvSpPr>
          <p:cNvPr id="215" name="Text 211"/>
          <p:cNvSpPr txBox="1"/>
          <p:nvPr/>
        </p:nvSpPr>
        <p:spPr>
          <a:xfrm>
            <a:off x="15525598" y="5429707"/>
            <a:ext cx="486461" cy="495605"/>
          </a:xfrm>
          <a:prstGeom prst="rect">
            <a:avLst/>
          </a:prstGeom>
          <a:solidFill>
            <a:srgbClr val="FFFFFF">
              <a:alpha val="0"/>
            </a:srgbClr>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25.93</a:t>
            </a:r>
            <a:endParaRPr lang="en-US" sz="1125" dirty="0"/>
          </a:p>
        </p:txBody>
      </p:sp>
      <p:sp>
        <p:nvSpPr>
          <p:cNvPr id="216" name="Text 212"/>
          <p:cNvSpPr txBox="1"/>
          <p:nvPr/>
        </p:nvSpPr>
        <p:spPr>
          <a:xfrm>
            <a:off x="16021202" y="5429707"/>
            <a:ext cx="495605" cy="495605"/>
          </a:xfrm>
          <a:prstGeom prst="rect">
            <a:avLst/>
          </a:prstGeom>
          <a:solidFill>
            <a:srgbClr val="ECD9CB"/>
          </a:solidFill>
          <a:ln>
            <a:solidFill>
              <a:srgbClr val="FFFFFF">
                <a:alpha val="0"/>
              </a:srgbClr>
            </a:solidFill>
          </a:ln>
        </p:spPr>
        <p:txBody>
          <a:bodyPr wrap="square" lIns="0" tIns="0" rIns="0" bIns="0" rtlCol="0" anchor="ctr"/>
          <a:lstStyle/>
          <a:p>
            <a:pPr algn="ctr" indent="0" marL="0">
              <a:buNone/>
            </a:pPr>
            <a:r>
              <a:rPr lang="en-US" sz="1125" dirty="0">
                <a:solidFill>
                  <a:srgbClr val="16130E"/>
                </a:solidFill>
                <a:latin typeface="IBM Plex Mono" pitchFamily="34" charset="0"/>
                <a:ea typeface="IBM Plex Mono" pitchFamily="34" charset="-122"/>
                <a:cs typeface="IBM Plex Mono" pitchFamily="34" charset="-120"/>
              </a:rPr>
              <a:t>25.79</a:t>
            </a:r>
            <a:endParaRPr lang="en-US" sz="1125" dirty="0"/>
          </a:p>
        </p:txBody>
      </p:sp>
      <p:sp>
        <p:nvSpPr>
          <p:cNvPr id="217" name="Text 213"/>
          <p:cNvSpPr txBox="1"/>
          <p:nvPr/>
        </p:nvSpPr>
        <p:spPr>
          <a:xfrm>
            <a:off x="9430207" y="6286500"/>
            <a:ext cx="7620610" cy="152705"/>
          </a:xfrm>
          <a:prstGeom prst="rect">
            <a:avLst/>
          </a:prstGeom>
          <a:noFill/>
          <a:ln/>
        </p:spPr>
        <p:txBody>
          <a:bodyPr wrap="none" lIns="0" tIns="0" rIns="0" bIns="0" rtlCol="0" anchor="ctr"/>
          <a:lstStyle/>
          <a:p>
            <a:pPr algn="l" indent="0" marL="0">
              <a:buNone/>
            </a:pPr>
            <a:r>
              <a:rPr lang="en-US" sz="825" spc="116" kern="0" dirty="0">
                <a:solidFill>
                  <a:srgbClr val="756E5F"/>
                </a:solidFill>
                <a:latin typeface="IBM Plex Mono" pitchFamily="34" charset="0"/>
                <a:ea typeface="IBM Plex Mono" pitchFamily="34" charset="-122"/>
                <a:cs typeface="IBM Plex Mono" pitchFamily="34" charset="-120"/>
              </a:rPr>
              <a:t>편차 색상 · target 25.7 nm</a:t>
            </a:r>
            <a:endParaRPr lang="en-US" sz="825" dirty="0"/>
          </a:p>
        </p:txBody>
      </p:sp>
      <p:sp>
        <p:nvSpPr>
          <p:cNvPr id="218" name="Shape 214"/>
          <p:cNvSpPr/>
          <p:nvPr/>
        </p:nvSpPr>
        <p:spPr>
          <a:xfrm>
            <a:off x="9430207" y="6510528"/>
            <a:ext cx="209398" cy="133502"/>
          </a:xfrm>
          <a:prstGeom prst="rect">
            <a:avLst/>
          </a:prstGeom>
          <a:solidFill>
            <a:srgbClr val="CFE0DD"/>
          </a:solidFill>
          <a:ln w="12700">
            <a:solidFill>
              <a:srgbClr val="C7BFA8"/>
            </a:solidFill>
            <a:prstDash val="solid"/>
          </a:ln>
        </p:spPr>
      </p:sp>
      <p:sp>
        <p:nvSpPr>
          <p:cNvPr id="219" name="Text 215"/>
          <p:cNvSpPr txBox="1"/>
          <p:nvPr/>
        </p:nvSpPr>
        <p:spPr>
          <a:xfrm>
            <a:off x="9696298" y="6495898"/>
            <a:ext cx="523951" cy="162763"/>
          </a:xfrm>
          <a:prstGeom prst="rect">
            <a:avLst/>
          </a:prstGeom>
          <a:noFill/>
          <a:ln/>
        </p:spPr>
        <p:txBody>
          <a:bodyPr wrap="none" lIns="0" tIns="0" rIns="0" bIns="0" rtlCol="0" anchor="ctr"/>
          <a:lstStyle/>
          <a:p>
            <a:pPr algn="l" indent="0" marL="0">
              <a:buNone/>
            </a:pPr>
            <a:r>
              <a:rPr lang="en-US" sz="975" dirty="0">
                <a:solidFill>
                  <a:srgbClr val="16130E"/>
                </a:solidFill>
                <a:latin typeface="IBM Plex Mono" pitchFamily="34" charset="0"/>
                <a:ea typeface="IBM Plex Mono" pitchFamily="34" charset="-122"/>
                <a:cs typeface="IBM Plex Mono" pitchFamily="34" charset="-120"/>
              </a:rPr>
              <a:t>≤ −0.10</a:t>
            </a:r>
            <a:endParaRPr lang="en-US" sz="975" dirty="0"/>
          </a:p>
        </p:txBody>
      </p:sp>
      <p:sp>
        <p:nvSpPr>
          <p:cNvPr id="220" name="Shape 216"/>
          <p:cNvSpPr/>
          <p:nvPr/>
        </p:nvSpPr>
        <p:spPr>
          <a:xfrm>
            <a:off x="10350094" y="6510528"/>
            <a:ext cx="209398" cy="133502"/>
          </a:xfrm>
          <a:prstGeom prst="rect">
            <a:avLst/>
          </a:prstGeom>
          <a:solidFill>
            <a:srgbClr val="D9E5E3"/>
          </a:solidFill>
          <a:ln w="12700">
            <a:solidFill>
              <a:srgbClr val="C7BFA8"/>
            </a:solidFill>
            <a:prstDash val="solid"/>
          </a:ln>
        </p:spPr>
      </p:sp>
      <p:sp>
        <p:nvSpPr>
          <p:cNvPr id="221" name="Text 217"/>
          <p:cNvSpPr txBox="1"/>
          <p:nvPr/>
        </p:nvSpPr>
        <p:spPr>
          <a:xfrm>
            <a:off x="10617098" y="6495898"/>
            <a:ext cx="972007" cy="162763"/>
          </a:xfrm>
          <a:prstGeom prst="rect">
            <a:avLst/>
          </a:prstGeom>
          <a:noFill/>
          <a:ln/>
        </p:spPr>
        <p:txBody>
          <a:bodyPr wrap="none" lIns="0" tIns="0" rIns="0" bIns="0" rtlCol="0" anchor="ctr"/>
          <a:lstStyle/>
          <a:p>
            <a:pPr algn="l" indent="0" marL="0">
              <a:buNone/>
            </a:pPr>
            <a:r>
              <a:rPr lang="en-US" sz="975" dirty="0">
                <a:solidFill>
                  <a:srgbClr val="16130E"/>
                </a:solidFill>
                <a:latin typeface="IBM Plex Mono" pitchFamily="34" charset="0"/>
                <a:ea typeface="IBM Plex Mono" pitchFamily="34" charset="-122"/>
                <a:cs typeface="IBM Plex Mono" pitchFamily="34" charset="-120"/>
              </a:rPr>
              <a:t>−0.10 ~ −0.05</a:t>
            </a:r>
            <a:endParaRPr lang="en-US" sz="975" dirty="0"/>
          </a:p>
        </p:txBody>
      </p:sp>
      <p:sp>
        <p:nvSpPr>
          <p:cNvPr id="222" name="Shape 218"/>
          <p:cNvSpPr/>
          <p:nvPr/>
        </p:nvSpPr>
        <p:spPr>
          <a:xfrm>
            <a:off x="11716207" y="6510528"/>
            <a:ext cx="209398" cy="133502"/>
          </a:xfrm>
          <a:prstGeom prst="rect">
            <a:avLst/>
          </a:prstGeom>
          <a:solidFill>
            <a:srgbClr val="FAF6EA"/>
          </a:solidFill>
          <a:ln w="12700">
            <a:solidFill>
              <a:srgbClr val="C7BFA8"/>
            </a:solidFill>
            <a:prstDash val="solid"/>
          </a:ln>
        </p:spPr>
      </p:sp>
      <p:sp>
        <p:nvSpPr>
          <p:cNvPr id="223" name="Text 219"/>
          <p:cNvSpPr txBox="1"/>
          <p:nvPr/>
        </p:nvSpPr>
        <p:spPr>
          <a:xfrm>
            <a:off x="11983212" y="6495898"/>
            <a:ext cx="381305" cy="162763"/>
          </a:xfrm>
          <a:prstGeom prst="rect">
            <a:avLst/>
          </a:prstGeom>
          <a:noFill/>
          <a:ln/>
        </p:spPr>
        <p:txBody>
          <a:bodyPr wrap="none" lIns="0" tIns="0" rIns="0" bIns="0" rtlCol="0" anchor="ctr"/>
          <a:lstStyle/>
          <a:p>
            <a:pPr algn="l" indent="0" marL="0">
              <a:buNone/>
            </a:pPr>
            <a:r>
              <a:rPr lang="en-US" sz="975" dirty="0">
                <a:solidFill>
                  <a:srgbClr val="16130E"/>
                </a:solidFill>
                <a:latin typeface="IBM Plex Mono" pitchFamily="34" charset="0"/>
                <a:ea typeface="IBM Plex Mono" pitchFamily="34" charset="-122"/>
                <a:cs typeface="IBM Plex Mono" pitchFamily="34" charset="-120"/>
              </a:rPr>
              <a:t>±0.05</a:t>
            </a:r>
            <a:endParaRPr lang="en-US" sz="975" dirty="0"/>
          </a:p>
        </p:txBody>
      </p:sp>
      <p:sp>
        <p:nvSpPr>
          <p:cNvPr id="224" name="Shape 220"/>
          <p:cNvSpPr/>
          <p:nvPr/>
        </p:nvSpPr>
        <p:spPr>
          <a:xfrm>
            <a:off x="12487961" y="6510528"/>
            <a:ext cx="209398" cy="133502"/>
          </a:xfrm>
          <a:prstGeom prst="rect">
            <a:avLst/>
          </a:prstGeom>
          <a:solidFill>
            <a:srgbClr val="F1DBBF"/>
          </a:solidFill>
          <a:ln w="12700">
            <a:solidFill>
              <a:srgbClr val="C7BFA8"/>
            </a:solidFill>
            <a:prstDash val="solid"/>
          </a:ln>
        </p:spPr>
      </p:sp>
      <p:sp>
        <p:nvSpPr>
          <p:cNvPr id="225" name="Text 221"/>
          <p:cNvSpPr txBox="1"/>
          <p:nvPr/>
        </p:nvSpPr>
        <p:spPr>
          <a:xfrm>
            <a:off x="12754966" y="6495898"/>
            <a:ext cx="972007" cy="162763"/>
          </a:xfrm>
          <a:prstGeom prst="rect">
            <a:avLst/>
          </a:prstGeom>
          <a:noFill/>
          <a:ln/>
        </p:spPr>
        <p:txBody>
          <a:bodyPr wrap="none" lIns="0" tIns="0" rIns="0" bIns="0" rtlCol="0" anchor="ctr"/>
          <a:lstStyle/>
          <a:p>
            <a:pPr algn="l" indent="0" marL="0">
              <a:buNone/>
            </a:pPr>
            <a:r>
              <a:rPr lang="en-US" sz="975" dirty="0">
                <a:solidFill>
                  <a:srgbClr val="16130E"/>
                </a:solidFill>
                <a:latin typeface="IBM Plex Mono" pitchFamily="34" charset="0"/>
                <a:ea typeface="IBM Plex Mono" pitchFamily="34" charset="-122"/>
                <a:cs typeface="IBM Plex Mono" pitchFamily="34" charset="-120"/>
              </a:rPr>
              <a:t>+0.10 ~ +0.15</a:t>
            </a:r>
            <a:endParaRPr lang="en-US" sz="975" dirty="0"/>
          </a:p>
        </p:txBody>
      </p:sp>
      <p:sp>
        <p:nvSpPr>
          <p:cNvPr id="226" name="Shape 222"/>
          <p:cNvSpPr/>
          <p:nvPr/>
        </p:nvSpPr>
        <p:spPr>
          <a:xfrm>
            <a:off x="13854074" y="6510528"/>
            <a:ext cx="209398" cy="133502"/>
          </a:xfrm>
          <a:prstGeom prst="rect">
            <a:avLst/>
          </a:prstGeom>
          <a:solidFill>
            <a:srgbClr val="E8C3A0"/>
          </a:solidFill>
          <a:ln w="12700">
            <a:solidFill>
              <a:srgbClr val="C7BFA8"/>
            </a:solidFill>
            <a:prstDash val="solid"/>
          </a:ln>
        </p:spPr>
      </p:sp>
      <p:sp>
        <p:nvSpPr>
          <p:cNvPr id="227" name="Text 223"/>
          <p:cNvSpPr txBox="1"/>
          <p:nvPr/>
        </p:nvSpPr>
        <p:spPr>
          <a:xfrm>
            <a:off x="14120165" y="6495898"/>
            <a:ext cx="523951" cy="162763"/>
          </a:xfrm>
          <a:prstGeom prst="rect">
            <a:avLst/>
          </a:prstGeom>
          <a:noFill/>
          <a:ln/>
        </p:spPr>
        <p:txBody>
          <a:bodyPr wrap="none" lIns="0" tIns="0" rIns="0" bIns="0" rtlCol="0" anchor="ctr"/>
          <a:lstStyle/>
          <a:p>
            <a:pPr algn="l" indent="0" marL="0">
              <a:buNone/>
            </a:pPr>
            <a:r>
              <a:rPr lang="en-US" sz="975" dirty="0">
                <a:solidFill>
                  <a:srgbClr val="16130E"/>
                </a:solidFill>
                <a:latin typeface="IBM Plex Mono" pitchFamily="34" charset="0"/>
                <a:ea typeface="IBM Plex Mono" pitchFamily="34" charset="-122"/>
                <a:cs typeface="IBM Plex Mono" pitchFamily="34" charset="-120"/>
              </a:rPr>
              <a:t>≥ +0.20</a:t>
            </a:r>
            <a:endParaRPr lang="en-US" sz="975" dirty="0"/>
          </a:p>
        </p:txBody>
      </p:sp>
      <p:sp>
        <p:nvSpPr>
          <p:cNvPr id="228" name="Text 224"/>
          <p:cNvSpPr txBox="1"/>
          <p:nvPr/>
        </p:nvSpPr>
        <p:spPr>
          <a:xfrm>
            <a:off x="761695" y="8524951"/>
            <a:ext cx="17450410" cy="333756"/>
          </a:xfrm>
          <a:prstGeom prst="rect">
            <a:avLst/>
          </a:prstGeom>
          <a:noFill/>
          <a:ln/>
        </p:spPr>
        <p:txBody>
          <a:bodyPr wrap="none" lIns="0" tIns="0" rIns="0" bIns="0" rtlCol="0" anchor="ctr"/>
          <a:lstStyle/>
          <a:p>
            <a:pPr algn="l" indent="0" marL="0">
              <a:buNone/>
            </a:pPr>
            <a:r>
              <a:rPr lang="en-US" sz="1800" dirty="0">
                <a:solidFill>
                  <a:srgbClr val="16130E"/>
                </a:solidFill>
                <a:latin typeface="IBM Plex Sans KR" pitchFamily="34" charset="0"/>
                <a:ea typeface="IBM Plex Sans KR" pitchFamily="34" charset="-122"/>
                <a:cs typeface="IBM Plex Sans KR" pitchFamily="34" charset="-120"/>
              </a:rPr>
              <a:t>W01은 ±0.10 nm 이내 cool tint 위주로 25/25 site가 target 주변에 모이지만, W03은 +0.20 nm 위로 올라가는 hot spot이 4 site로 분포가 더 펼쳐진다.</a:t>
            </a:r>
            <a:endParaRPr lang="en-US" sz="1800" dirty="0"/>
          </a:p>
        </p:txBody>
      </p:sp>
      <p:sp>
        <p:nvSpPr>
          <p:cNvPr id="229" name="Shape 225"/>
          <p:cNvSpPr/>
          <p:nvPr/>
        </p:nvSpPr>
        <p:spPr>
          <a:xfrm>
            <a:off x="761695" y="8524951"/>
            <a:ext cx="133502" cy="133502"/>
          </a:xfrm>
          <a:prstGeom prst="rect">
            <a:avLst/>
          </a:prstGeom>
          <a:solidFill>
            <a:srgbClr val="BD4A22"/>
          </a:solidFill>
          <a:ln w="12700">
            <a:solidFill>
              <a:srgbClr val="FFFFFF">
                <a:alpha val="0"/>
              </a:srgbClr>
            </a:solidFill>
            <a:prstDash val="solid"/>
          </a:ln>
        </p:spPr>
      </p:sp>
      <p:sp>
        <p:nvSpPr>
          <p:cNvPr id="230" name="Text 226"/>
          <p:cNvSpPr txBox="1"/>
          <p:nvPr/>
        </p:nvSpPr>
        <p:spPr>
          <a:xfrm>
            <a:off x="761695" y="9715500"/>
            <a:ext cx="16764610" cy="191110"/>
          </a:xfrm>
          <a:prstGeom prst="rect">
            <a:avLst/>
          </a:prstGeom>
          <a:noFill/>
          <a:ln/>
        </p:spPr>
        <p:txBody>
          <a:bodyPr wrap="none" lIns="0" tIns="0" rIns="0" bIns="0" rtlCol="0" anchor="ctr"/>
          <a:lstStyle/>
          <a:p>
            <a:pPr algn="l" indent="0" marL="0">
              <a:buNone/>
            </a:pPr>
            <a:r>
              <a:rPr lang="en-US" sz="1050" spc="42" kern="0" dirty="0">
                <a:solidFill>
                  <a:srgbClr val="756E5F"/>
                </a:solidFill>
                <a:latin typeface="IBM Plex Mono" pitchFamily="34" charset="0"/>
                <a:ea typeface="IBM Plex Mono" pitchFamily="34" charset="-122"/>
                <a:cs typeface="IBM Plex Mono" pitchFamily="34" charset="-120"/>
              </a:rPr>
              <a:t>※ 내부 테스트용 더미(가상) 데이터</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ECE1"/>
        </a:solidFill>
      </p:bgPr>
    </p:bg>
    <p:spTree>
      <p:nvGrpSpPr>
        <p:cNvPr id="1" name=""/>
        <p:cNvGrpSpPr/>
        <p:nvPr/>
      </p:nvGrpSpPr>
      <p:grpSpPr>
        <a:xfrm>
          <a:off x="0" y="0"/>
          <a:ext cx="0" cy="0"/>
          <a:chOff x="0" y="0"/>
          <a:chExt cx="0" cy="0"/>
        </a:xfrm>
      </p:grpSpPr>
      <p:pic>
        <p:nvPicPr>
          <p:cNvPr id="3" name="Image 0" descr="gen-dedup-ddc72069e50c60be25b8eb9ead861247.png">    </p:cNvPr>
          <p:cNvPicPr>
            <a:picLocks noChangeAspect="1"/>
          </p:cNvPicPr>
          <p:nvPr/>
        </p:nvPicPr>
        <p:blipFill>
          <a:blip r:embed="rId1"/>
          <a:srcRect l="-422" r="-422" t="0" b="0"/>
          <a:stretch/>
        </p:blipFill>
        <p:spPr>
          <a:xfrm>
            <a:off x="761695" y="2171700"/>
            <a:ext cx="838505" cy="28346"/>
          </a:xfrm>
          <a:prstGeom prst="rect">
            <a:avLst/>
          </a:prstGeom>
        </p:spPr>
      </p:pic>
      <p:sp>
        <p:nvSpPr>
          <p:cNvPr id="4" name="Shape 0"/>
          <p:cNvSpPr/>
          <p:nvPr/>
        </p:nvSpPr>
        <p:spPr>
          <a:xfrm>
            <a:off x="12191695" y="2476195"/>
            <a:ext cx="5333695" cy="1904695"/>
          </a:xfrm>
          <a:prstGeom prst="roundRect">
            <a:avLst>
              <a:gd name="adj" fmla="val 2016"/>
            </a:avLst>
          </a:prstGeom>
          <a:solidFill>
            <a:srgbClr val="FAF6EA"/>
          </a:solidFill>
          <a:ln w="12700">
            <a:solidFill>
              <a:srgbClr val="D6CFBB"/>
            </a:solidFill>
            <a:prstDash val="solid"/>
          </a:ln>
        </p:spPr>
      </p:sp>
      <p:sp>
        <p:nvSpPr>
          <p:cNvPr id="5" name="Shape 1"/>
          <p:cNvSpPr/>
          <p:nvPr/>
        </p:nvSpPr>
        <p:spPr>
          <a:xfrm>
            <a:off x="12191695" y="2476195"/>
            <a:ext cx="38405" cy="1904695"/>
          </a:xfrm>
          <a:prstGeom prst="roundRect">
            <a:avLst>
              <a:gd name="adj" fmla="val 99999"/>
            </a:avLst>
          </a:prstGeom>
          <a:solidFill>
            <a:srgbClr val="155E63"/>
          </a:solidFill>
          <a:ln w="12700">
            <a:solidFill>
              <a:srgbClr val="155E63">
                <a:alpha val="0"/>
              </a:srgbClr>
            </a:solidFill>
            <a:prstDash val="solid"/>
          </a:ln>
        </p:spPr>
      </p:sp>
      <p:sp>
        <p:nvSpPr>
          <p:cNvPr id="6" name="Shape 2"/>
          <p:cNvSpPr/>
          <p:nvPr/>
        </p:nvSpPr>
        <p:spPr>
          <a:xfrm>
            <a:off x="12191695" y="4610405"/>
            <a:ext cx="5333695" cy="1904695"/>
          </a:xfrm>
          <a:prstGeom prst="roundRect">
            <a:avLst>
              <a:gd name="adj" fmla="val 2016"/>
            </a:avLst>
          </a:prstGeom>
          <a:solidFill>
            <a:srgbClr val="FAF6EA"/>
          </a:solidFill>
          <a:ln w="12700">
            <a:solidFill>
              <a:srgbClr val="D6CFBB"/>
            </a:solidFill>
            <a:prstDash val="solid"/>
          </a:ln>
        </p:spPr>
      </p:sp>
      <p:sp>
        <p:nvSpPr>
          <p:cNvPr id="7" name="Shape 3"/>
          <p:cNvSpPr/>
          <p:nvPr/>
        </p:nvSpPr>
        <p:spPr>
          <a:xfrm>
            <a:off x="12191695" y="4610405"/>
            <a:ext cx="38405" cy="1904695"/>
          </a:xfrm>
          <a:prstGeom prst="roundRect">
            <a:avLst>
              <a:gd name="adj" fmla="val 99999"/>
            </a:avLst>
          </a:prstGeom>
          <a:solidFill>
            <a:srgbClr val="155E63"/>
          </a:solidFill>
          <a:ln w="12700">
            <a:solidFill>
              <a:srgbClr val="155E63">
                <a:alpha val="0"/>
              </a:srgbClr>
            </a:solidFill>
            <a:prstDash val="solid"/>
          </a:ln>
        </p:spPr>
      </p:sp>
      <p:sp>
        <p:nvSpPr>
          <p:cNvPr id="8" name="Shape 4"/>
          <p:cNvSpPr/>
          <p:nvPr/>
        </p:nvSpPr>
        <p:spPr>
          <a:xfrm>
            <a:off x="12191695" y="6743700"/>
            <a:ext cx="5333695" cy="1143000"/>
          </a:xfrm>
          <a:prstGeom prst="roundRect">
            <a:avLst>
              <a:gd name="adj" fmla="val 3360"/>
            </a:avLst>
          </a:prstGeom>
          <a:solidFill>
            <a:srgbClr val="FAF6EA"/>
          </a:solidFill>
          <a:ln w="12700">
            <a:solidFill>
              <a:srgbClr val="D6CFBB"/>
            </a:solidFill>
            <a:prstDash val="solid"/>
          </a:ln>
        </p:spPr>
      </p:sp>
      <p:sp>
        <p:nvSpPr>
          <p:cNvPr id="9" name="Text 5"/>
          <p:cNvSpPr txBox="1"/>
          <p:nvPr/>
        </p:nvSpPr>
        <p:spPr>
          <a:xfrm>
            <a:off x="761695" y="761695"/>
            <a:ext cx="5715000" cy="191110"/>
          </a:xfrm>
          <a:prstGeom prst="rect">
            <a:avLst/>
          </a:prstGeom>
          <a:noFill/>
          <a:ln/>
        </p:spPr>
        <p:txBody>
          <a:bodyPr wrap="none" lIns="0" tIns="0" rIns="0" bIns="0" rtlCol="0" anchor="ctr"/>
          <a:lstStyle/>
          <a:p>
            <a:pPr algn="l" indent="0" marL="0">
              <a:buNone/>
            </a:pPr>
            <a:r>
              <a:rPr lang="en-US" sz="1050" spc="189" kern="0" dirty="0">
                <a:solidFill>
                  <a:srgbClr val="756E5F"/>
                </a:solidFill>
                <a:latin typeface="IBM Plex Mono" pitchFamily="34" charset="0"/>
                <a:ea typeface="IBM Plex Mono" pitchFamily="34" charset="-122"/>
                <a:cs typeface="IBM Plex Mono" pitchFamily="34" charset="-120"/>
              </a:rPr>
              <a:t>10 · 전기 특성</a:t>
            </a:r>
            <a:endParaRPr lang="en-US" sz="1050" dirty="0"/>
          </a:p>
        </p:txBody>
      </p:sp>
      <p:sp>
        <p:nvSpPr>
          <p:cNvPr id="10" name="Text 6"/>
          <p:cNvSpPr txBox="1"/>
          <p:nvPr/>
        </p:nvSpPr>
        <p:spPr>
          <a:xfrm>
            <a:off x="761695" y="1143000"/>
            <a:ext cx="16193110" cy="523951"/>
          </a:xfrm>
          <a:prstGeom prst="rect">
            <a:avLst/>
          </a:prstGeom>
          <a:noFill/>
          <a:ln/>
        </p:spPr>
        <p:txBody>
          <a:bodyPr wrap="none" lIns="0" tIns="0" rIns="0" bIns="0" rtlCol="0" anchor="ctr"/>
          <a:lstStyle/>
          <a:p>
            <a:pPr algn="l" indent="0" marL="0">
              <a:buNone/>
            </a:pPr>
            <a:r>
              <a:rPr lang="en-US" sz="3750" b="1" spc="-75" kern="0" dirty="0">
                <a:solidFill>
                  <a:srgbClr val="16130E"/>
                </a:solidFill>
                <a:latin typeface="IBM Plex Sans KR" pitchFamily="34" charset="0"/>
                <a:ea typeface="IBM Plex Sans KR" pitchFamily="34" charset="-122"/>
                <a:cs typeface="IBM Plex Sans KR" pitchFamily="34" charset="-120"/>
              </a:rPr>
              <a:t>전기 특성 결과 (M3 e-test)</a:t>
            </a:r>
            <a:endParaRPr lang="en-US" sz="3750" dirty="0"/>
          </a:p>
        </p:txBody>
      </p:sp>
      <p:sp>
        <p:nvSpPr>
          <p:cNvPr id="11" name="Text 7"/>
          <p:cNvSpPr txBox="1"/>
          <p:nvPr/>
        </p:nvSpPr>
        <p:spPr>
          <a:xfrm>
            <a:off x="761695" y="1762049"/>
            <a:ext cx="16193110" cy="286207"/>
          </a:xfrm>
          <a:prstGeom prst="rect">
            <a:avLst/>
          </a:prstGeom>
          <a:noFill/>
          <a:ln/>
        </p:spPr>
        <p:txBody>
          <a:bodyPr wrap="none" lIns="0" tIns="0" rIns="0" bIns="0" rtlCol="0" anchor="ctr"/>
          <a:lstStyle/>
          <a:p>
            <a:pPr algn="l" indent="0" marL="0">
              <a:buNone/>
            </a:pPr>
            <a:r>
              <a:rPr lang="en-US" sz="1500" dirty="0">
                <a:solidFill>
                  <a:srgbClr val="756E5F"/>
                </a:solidFill>
                <a:latin typeface="IBM Plex Sans KR" pitchFamily="34" charset="0"/>
                <a:ea typeface="IBM Plex Sans KR" pitchFamily="34" charset="-122"/>
                <a:cs typeface="IBM Plex Sans KR" pitchFamily="34" charset="-120"/>
              </a:rPr>
              <a:t>7 항목 · Air·Reference group 평균 비교 · Δ (Air − Ref)</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61695" y="2476195"/>
          <a:ext cx="11049610" cy="3820363"/>
        </p:xfrm>
        <a:graphic>
          <a:graphicData uri="http://schemas.openxmlformats.org/drawingml/2006/table">
            <a:tbl>
              <a:tblPr/>
              <a:tblGrid>
                <a:gridCol w="3314426"/>
                <a:gridCol w="1215137"/>
                <a:gridCol w="1547037"/>
                <a:gridCol w="1547037"/>
                <a:gridCol w="1547037"/>
                <a:gridCol w="1878937"/>
              </a:tblGrid>
              <a:tr h="477545">
                <a:tc>
                  <a:txBody>
                    <a:bodyPr/>
                    <a:lstStyle/>
                    <a:p>
                      <a:pPr algn="l" indent="0" marL="0">
                        <a:buNone/>
                      </a:pPr>
                      <a:r>
                        <a:rPr lang="en-US" sz="1350" b="1" dirty="0">
                          <a:solidFill>
                            <a:srgbClr val="16130E"/>
                          </a:solidFill>
                          <a:latin typeface="IBM Plex Sans KR" pitchFamily="34" charset="0"/>
                          <a:ea typeface="IBM Plex Sans KR" pitchFamily="34" charset="-122"/>
                          <a:cs typeface="IBM Plex Sans KR" pitchFamily="34" charset="-120"/>
                        </a:rPr>
                        <a:t>Metric</a:t>
                      </a:r>
                      <a:endParaRPr lang="en-US" sz="1350" dirty="0">
                        <a:latin typeface="IBM Plex Sans KR" charset="0"/>
                        <a:ea typeface="IBM Plex Sans KR" charset="0"/>
                        <a:cs typeface="IBM Plex Sans KR"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9525" cap="flat" cmpd="sng" algn="ctr">
                      <a:solidFill>
                        <a:srgbClr val="16130E"/>
                      </a:solidFill>
                      <a:prstDash val="solid"/>
                      <a:round/>
                      <a:headEnd type="none" w="med" len="med"/>
                      <a:tailEnd type="none" w="med" len="med"/>
                    </a:lnT>
                    <a:lnB w="9525" cap="flat" cmpd="sng" algn="ctr">
                      <a:solidFill>
                        <a:srgbClr val="C7BFA8"/>
                      </a:solidFill>
                      <a:prstDash val="solid"/>
                      <a:round/>
                      <a:headEnd type="none" w="med" len="med"/>
                      <a:tailEnd type="none" w="med" len="med"/>
                    </a:lnB>
                    <a:solidFill>
                      <a:srgbClr val="155E63">
                        <a:alpha val="6000"/>
                      </a:srgbClr>
                    </a:solidFill>
                  </a:tcPr>
                </a:tc>
                <a:tc>
                  <a:txBody>
                    <a:bodyPr/>
                    <a:lstStyle/>
                    <a:p>
                      <a:pPr algn="l" indent="0" marL="0">
                        <a:buNone/>
                      </a:pPr>
                      <a:r>
                        <a:rPr lang="en-US" sz="1350" b="1" dirty="0">
                          <a:solidFill>
                            <a:srgbClr val="16130E"/>
                          </a:solidFill>
                          <a:latin typeface="IBM Plex Sans KR" pitchFamily="34" charset="0"/>
                          <a:ea typeface="IBM Plex Sans KR" pitchFamily="34" charset="-122"/>
                          <a:cs typeface="IBM Plex Sans KR" pitchFamily="34" charset="-120"/>
                        </a:rPr>
                        <a:t>Unit</a:t>
                      </a:r>
                      <a:endParaRPr lang="en-US" sz="1350" dirty="0">
                        <a:latin typeface="IBM Plex Sans KR" charset="0"/>
                        <a:ea typeface="IBM Plex Sans KR" charset="0"/>
                        <a:cs typeface="IBM Plex Sans KR"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9525" cap="flat" cmpd="sng" algn="ctr">
                      <a:solidFill>
                        <a:srgbClr val="16130E"/>
                      </a:solidFill>
                      <a:prstDash val="solid"/>
                      <a:round/>
                      <a:headEnd type="none" w="med" len="med"/>
                      <a:tailEnd type="none" w="med" len="med"/>
                    </a:lnT>
                    <a:lnB w="9525" cap="flat" cmpd="sng" algn="ctr">
                      <a:solidFill>
                        <a:srgbClr val="C7BFA8"/>
                      </a:solidFill>
                      <a:prstDash val="solid"/>
                      <a:round/>
                      <a:headEnd type="none" w="med" len="med"/>
                      <a:tailEnd type="none" w="med" len="med"/>
                    </a:lnB>
                    <a:solidFill>
                      <a:srgbClr val="155E63">
                        <a:alpha val="6000"/>
                      </a:srgbClr>
                    </a:solidFill>
                  </a:tcPr>
                </a:tc>
                <a:tc>
                  <a:txBody>
                    <a:bodyPr/>
                    <a:lstStyle/>
                    <a:p>
                      <a:pPr algn="r" indent="0" marL="0">
                        <a:buNone/>
                      </a:pPr>
                      <a:r>
                        <a:rPr lang="en-US" sz="1275" b="1" dirty="0">
                          <a:solidFill>
                            <a:srgbClr val="16130E"/>
                          </a:solidFill>
                          <a:latin typeface="IBM Plex Mono" pitchFamily="34" charset="0"/>
                          <a:ea typeface="IBM Plex Mono" pitchFamily="34" charset="-122"/>
                          <a:cs typeface="IBM Plex Mono" pitchFamily="34" charset="-120"/>
                        </a:rPr>
                        <a:t>Air avg</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9525" cap="flat" cmpd="sng" algn="ctr">
                      <a:solidFill>
                        <a:srgbClr val="16130E"/>
                      </a:solidFill>
                      <a:prstDash val="solid"/>
                      <a:round/>
                      <a:headEnd type="none" w="med" len="med"/>
                      <a:tailEnd type="none" w="med" len="med"/>
                    </a:lnT>
                    <a:lnB w="9525" cap="flat" cmpd="sng" algn="ctr">
                      <a:solidFill>
                        <a:srgbClr val="C7BFA8"/>
                      </a:solidFill>
                      <a:prstDash val="solid"/>
                      <a:round/>
                      <a:headEnd type="none" w="med" len="med"/>
                      <a:tailEnd type="none" w="med" len="med"/>
                    </a:lnB>
                    <a:solidFill>
                      <a:srgbClr val="155E63">
                        <a:alpha val="6000"/>
                      </a:srgbClr>
                    </a:solidFill>
                  </a:tcPr>
                </a:tc>
                <a:tc>
                  <a:txBody>
                    <a:bodyPr/>
                    <a:lstStyle/>
                    <a:p>
                      <a:pPr algn="r" indent="0" marL="0">
                        <a:buNone/>
                      </a:pPr>
                      <a:r>
                        <a:rPr lang="en-US" sz="1275" b="1" dirty="0">
                          <a:solidFill>
                            <a:srgbClr val="16130E"/>
                          </a:solidFill>
                          <a:latin typeface="IBM Plex Mono" pitchFamily="34" charset="0"/>
                          <a:ea typeface="IBM Plex Mono" pitchFamily="34" charset="-122"/>
                          <a:cs typeface="IBM Plex Mono" pitchFamily="34" charset="-120"/>
                        </a:rPr>
                        <a:t>Ref avg</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9525" cap="flat" cmpd="sng" algn="ctr">
                      <a:solidFill>
                        <a:srgbClr val="16130E"/>
                      </a:solidFill>
                      <a:prstDash val="solid"/>
                      <a:round/>
                      <a:headEnd type="none" w="med" len="med"/>
                      <a:tailEnd type="none" w="med" len="med"/>
                    </a:lnT>
                    <a:lnB w="9525" cap="flat" cmpd="sng" algn="ctr">
                      <a:solidFill>
                        <a:srgbClr val="C7BFA8"/>
                      </a:solidFill>
                      <a:prstDash val="solid"/>
                      <a:round/>
                      <a:headEnd type="none" w="med" len="med"/>
                      <a:tailEnd type="none" w="med" len="med"/>
                    </a:lnB>
                    <a:solidFill>
                      <a:srgbClr val="155E63">
                        <a:alpha val="6000"/>
                      </a:srgbClr>
                    </a:solidFill>
                  </a:tcPr>
                </a:tc>
                <a:tc>
                  <a:txBody>
                    <a:bodyPr/>
                    <a:lstStyle/>
                    <a:p>
                      <a:pPr algn="r" indent="0" marL="0">
                        <a:buNone/>
                      </a:pPr>
                      <a:r>
                        <a:rPr lang="en-US" sz="1275" b="1" dirty="0">
                          <a:solidFill>
                            <a:srgbClr val="16130E"/>
                          </a:solidFill>
                          <a:latin typeface="IBM Plex Mono" pitchFamily="34" charset="0"/>
                          <a:ea typeface="IBM Plex Mono" pitchFamily="34" charset="-122"/>
                          <a:cs typeface="IBM Plex Mono" pitchFamily="34" charset="-120"/>
                        </a:rPr>
                        <a:t>Δ</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9525" cap="flat" cmpd="sng" algn="ctr">
                      <a:solidFill>
                        <a:srgbClr val="16130E"/>
                      </a:solidFill>
                      <a:prstDash val="solid"/>
                      <a:round/>
                      <a:headEnd type="none" w="med" len="med"/>
                      <a:tailEnd type="none" w="med" len="med"/>
                    </a:lnT>
                    <a:lnB w="9525" cap="flat" cmpd="sng" algn="ctr">
                      <a:solidFill>
                        <a:srgbClr val="C7BFA8"/>
                      </a:solidFill>
                      <a:prstDash val="solid"/>
                      <a:round/>
                      <a:headEnd type="none" w="med" len="med"/>
                      <a:tailEnd type="none" w="med" len="med"/>
                    </a:lnB>
                    <a:solidFill>
                      <a:srgbClr val="155E63">
                        <a:alpha val="6000"/>
                      </a:srgbClr>
                    </a:solidFill>
                  </a:tcPr>
                </a:tc>
                <a:tc>
                  <a:txBody>
                    <a:bodyPr/>
                    <a:lstStyle/>
                    <a:p>
                      <a:pPr algn="r" indent="0" marL="0">
                        <a:buNone/>
                      </a:pPr>
                      <a:r>
                        <a:rPr lang="en-US" sz="1275" b="1" dirty="0">
                          <a:solidFill>
                            <a:srgbClr val="16130E"/>
                          </a:solidFill>
                          <a:latin typeface="IBM Plex Mono" pitchFamily="34" charset="0"/>
                          <a:ea typeface="IBM Plex Mono" pitchFamily="34" charset="-122"/>
                          <a:cs typeface="IBM Plex Mono" pitchFamily="34" charset="-120"/>
                        </a:rPr>
                        <a:t>Δ (%)</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9525" cap="flat" cmpd="sng" algn="ctr">
                      <a:solidFill>
                        <a:srgbClr val="16130E"/>
                      </a:solidFill>
                      <a:prstDash val="solid"/>
                      <a:round/>
                      <a:headEnd type="none" w="med" len="med"/>
                      <a:tailEnd type="none" w="med" len="med"/>
                    </a:lnT>
                    <a:lnB w="9525" cap="flat" cmpd="sng" algn="ctr">
                      <a:solidFill>
                        <a:srgbClr val="C7BFA8"/>
                      </a:solidFill>
                      <a:prstDash val="solid"/>
                      <a:round/>
                      <a:headEnd type="none" w="med" len="med"/>
                      <a:tailEnd type="none" w="med" len="med"/>
                    </a:lnB>
                    <a:solidFill>
                      <a:srgbClr val="155E63">
                        <a:alpha val="6000"/>
                      </a:srgbClr>
                    </a:solidFill>
                  </a:tcPr>
                </a:tc>
              </a:tr>
              <a:tr h="477545">
                <a:tc>
                  <a:txBody>
                    <a:bodyP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R_line @ 25°C</a:t>
                      </a:r>
                      <a:endParaRPr lang="en-US" sz="1350" dirty="0">
                        <a:latin typeface="IBM Plex Sans KR" charset="0"/>
                        <a:ea typeface="IBM Plex Sans KR" charset="0"/>
                        <a:cs typeface="IBM Plex Sans KR"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Ω/μm</a:t>
                      </a:r>
                      <a:endParaRPr lang="en-US" sz="1350" dirty="0">
                        <a:latin typeface="IBM Plex Sans KR" charset="0"/>
                        <a:ea typeface="IBM Plex Sans KR" charset="0"/>
                        <a:cs typeface="IBM Plex Sans KR"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143.6</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157.5</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−13.9</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r" indent="0" marL="0">
                        <a:buNone/>
                      </a:pPr>
                      <a:r>
                        <a:rPr lang="en-US" sz="1275" dirty="0">
                          <a:solidFill>
                            <a:srgbClr val="155E63"/>
                          </a:solidFill>
                          <a:latin typeface="IBM Plex Mono" pitchFamily="34" charset="0"/>
                          <a:ea typeface="IBM Plex Mono" pitchFamily="34" charset="-122"/>
                          <a:cs typeface="IBM Plex Mono" pitchFamily="34" charset="-120"/>
                        </a:rPr>
                        <a:t>−8.8 %</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r>
              <a:tr h="477545">
                <a:tc>
                  <a:txBody>
                    <a:bodyP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C line-to-line @ 1 MHz</a:t>
                      </a:r>
                      <a:endParaRPr lang="en-US" sz="1350" dirty="0">
                        <a:latin typeface="IBM Plex Sans KR" charset="0"/>
                        <a:ea typeface="IBM Plex Sans KR" charset="0"/>
                        <a:cs typeface="IBM Plex Sans KR"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fF/μm</a:t>
                      </a:r>
                      <a:endParaRPr lang="en-US" sz="1350" dirty="0">
                        <a:latin typeface="IBM Plex Sans KR" charset="0"/>
                        <a:ea typeface="IBM Plex Sans KR" charset="0"/>
                        <a:cs typeface="IBM Plex Sans KR"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0.144</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0.237</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−0.093</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r" indent="0" marL="0">
                        <a:buNone/>
                      </a:pPr>
                      <a:r>
                        <a:rPr lang="en-US" sz="1275" dirty="0">
                          <a:solidFill>
                            <a:srgbClr val="155E63"/>
                          </a:solidFill>
                          <a:latin typeface="IBM Plex Mono" pitchFamily="34" charset="0"/>
                          <a:ea typeface="IBM Plex Mono" pitchFamily="34" charset="-122"/>
                          <a:cs typeface="IBM Plex Mono" pitchFamily="34" charset="-120"/>
                        </a:rPr>
                        <a:t>−39.2 %</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r>
              <a:tr h="477545">
                <a:tc>
                  <a:txBody>
                    <a:bodyP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RC delay (typ.)</a:t>
                      </a:r>
                      <a:endParaRPr lang="en-US" sz="1350" dirty="0">
                        <a:latin typeface="IBM Plex Sans KR" charset="0"/>
                        <a:ea typeface="IBM Plex Sans KR" charset="0"/>
                        <a:cs typeface="IBM Plex Sans KR"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ps/μm</a:t>
                      </a:r>
                      <a:endParaRPr lang="en-US" sz="1350" dirty="0">
                        <a:latin typeface="IBM Plex Sans KR" charset="0"/>
                        <a:ea typeface="IBM Plex Sans KR" charset="0"/>
                        <a:cs typeface="IBM Plex Sans KR"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20.6</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37.3</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−16.7</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r" indent="0" marL="0">
                        <a:buNone/>
                      </a:pPr>
                      <a:r>
                        <a:rPr lang="en-US" sz="1275" dirty="0">
                          <a:solidFill>
                            <a:srgbClr val="155E63"/>
                          </a:solidFill>
                          <a:latin typeface="IBM Plex Mono" pitchFamily="34" charset="0"/>
                          <a:ea typeface="IBM Plex Mono" pitchFamily="34" charset="-122"/>
                          <a:cs typeface="IBM Plex Mono" pitchFamily="34" charset="-120"/>
                        </a:rPr>
                        <a:t>−44.8 %</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r>
              <a:tr h="477545">
                <a:tc>
                  <a:txBody>
                    <a:bodyP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Leakage @ 1 V</a:t>
                      </a:r>
                      <a:endParaRPr lang="en-US" sz="1350" dirty="0">
                        <a:latin typeface="IBM Plex Sans KR" charset="0"/>
                        <a:ea typeface="IBM Plex Sans KR" charset="0"/>
                        <a:cs typeface="IBM Plex Sans KR"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pA</a:t>
                      </a:r>
                      <a:endParaRPr lang="en-US" sz="1350" dirty="0">
                        <a:latin typeface="IBM Plex Sans KR" charset="0"/>
                        <a:ea typeface="IBM Plex Sans KR" charset="0"/>
                        <a:cs typeface="IBM Plex Sans KR"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5.0</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8.4</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−3.4</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r" indent="0" marL="0">
                        <a:buNone/>
                      </a:pPr>
                      <a:r>
                        <a:rPr lang="en-US" sz="1275" dirty="0">
                          <a:solidFill>
                            <a:srgbClr val="155E63"/>
                          </a:solidFill>
                          <a:latin typeface="IBM Plex Mono" pitchFamily="34" charset="0"/>
                          <a:ea typeface="IBM Plex Mono" pitchFamily="34" charset="-122"/>
                          <a:cs typeface="IBM Plex Mono" pitchFamily="34" charset="-120"/>
                        </a:rPr>
                        <a:t>−40.5 %</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r>
              <a:tr h="477545">
                <a:tc>
                  <a:txBody>
                    <a:bodyP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Breakdown voltage</a:t>
                      </a:r>
                      <a:endParaRPr lang="en-US" sz="1350" dirty="0">
                        <a:latin typeface="IBM Plex Sans KR" charset="0"/>
                        <a:ea typeface="IBM Plex Sans KR" charset="0"/>
                        <a:cs typeface="IBM Plex Sans KR"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V</a:t>
                      </a:r>
                      <a:endParaRPr lang="en-US" sz="1350" dirty="0">
                        <a:latin typeface="IBM Plex Sans KR" charset="0"/>
                        <a:ea typeface="IBM Plex Sans KR" charset="0"/>
                        <a:cs typeface="IBM Plex Sans KR"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14.0</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12.8</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+1.2</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r" indent="0" marL="0">
                        <a:buNone/>
                      </a:pPr>
                      <a:r>
                        <a:rPr lang="en-US" sz="1275" dirty="0">
                          <a:solidFill>
                            <a:srgbClr val="2F7A4E"/>
                          </a:solidFill>
                          <a:latin typeface="IBM Plex Mono" pitchFamily="34" charset="0"/>
                          <a:ea typeface="IBM Plex Mono" pitchFamily="34" charset="-122"/>
                          <a:cs typeface="IBM Plex Mono" pitchFamily="34" charset="-120"/>
                        </a:rPr>
                        <a:t>+9.4 %</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r>
              <a:tr h="477545">
                <a:tc>
                  <a:txBody>
                    <a:bodyP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TDDB t_63% @ 1 MV/cm, 125°C</a:t>
                      </a:r>
                      <a:endParaRPr lang="en-US" sz="1350" dirty="0">
                        <a:latin typeface="IBM Plex Sans KR" charset="0"/>
                        <a:ea typeface="IBM Plex Sans KR" charset="0"/>
                        <a:cs typeface="IBM Plex Sans KR"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yr</a:t>
                      </a:r>
                      <a:endParaRPr lang="en-US" sz="1350" dirty="0">
                        <a:latin typeface="IBM Plex Sans KR" charset="0"/>
                        <a:ea typeface="IBM Plex Sans KR" charset="0"/>
                        <a:cs typeface="IBM Plex Sans KR"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12.0</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9.5</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+2.5</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c>
                  <a:txBody>
                    <a:bodyPr/>
                    <a:lstStyle/>
                    <a:p>
                      <a:pPr algn="r" indent="0" marL="0">
                        <a:buNone/>
                      </a:pPr>
                      <a:r>
                        <a:rPr lang="en-US" sz="1275" dirty="0">
                          <a:solidFill>
                            <a:srgbClr val="2F7A4E"/>
                          </a:solidFill>
                          <a:latin typeface="IBM Plex Mono" pitchFamily="34" charset="0"/>
                          <a:ea typeface="IBM Plex Mono" pitchFamily="34" charset="-122"/>
                          <a:cs typeface="IBM Plex Mono" pitchFamily="34" charset="-120"/>
                        </a:rPr>
                        <a:t>+26.3 %</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C7BFA8"/>
                      </a:solidFill>
                      <a:prstDash val="solid"/>
                      <a:round/>
                      <a:headEnd type="none" w="med" len="med"/>
                      <a:tailEnd type="none" w="med" len="med"/>
                    </a:lnB>
                  </a:tcPr>
                </a:tc>
              </a:tr>
              <a:tr h="477545">
                <a:tc>
                  <a:txBody>
                    <a:bodyP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k effective (extracted)</a:t>
                      </a:r>
                      <a:endParaRPr lang="en-US" sz="1350" dirty="0">
                        <a:latin typeface="IBM Plex Sans KR" charset="0"/>
                        <a:ea typeface="IBM Plex Sans KR" charset="0"/>
                        <a:cs typeface="IBM Plex Sans KR"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16130E"/>
                      </a:solidFill>
                      <a:prstDash val="solid"/>
                      <a:round/>
                      <a:headEnd type="none" w="med" len="med"/>
                      <a:tailEnd type="none" w="med" len="med"/>
                    </a:lnB>
                  </a:tcPr>
                </a:tc>
                <a:tc>
                  <a:txBody>
                    <a:bodyPr/>
                    <a:lstStyle/>
                    <a:p>
                      <a:pPr algn="l" indent="0" marL="0">
                        <a:buNone/>
                      </a:pPr>
                      <a:r>
                        <a:rPr lang="en-US" sz="1350" dirty="0">
                          <a:solidFill>
                            <a:srgbClr val="16130E"/>
                          </a:solidFill>
                          <a:latin typeface="IBM Plex Sans KR" pitchFamily="34" charset="0"/>
                          <a:ea typeface="IBM Plex Sans KR" pitchFamily="34" charset="-122"/>
                          <a:cs typeface="IBM Plex Sans KR" pitchFamily="34" charset="-120"/>
                        </a:rPr>
                        <a:t>—</a:t>
                      </a:r>
                      <a:endParaRPr lang="en-US" sz="1350" dirty="0">
                        <a:latin typeface="IBM Plex Sans KR" charset="0"/>
                        <a:ea typeface="IBM Plex Sans KR" charset="0"/>
                        <a:cs typeface="IBM Plex Sans KR"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16130E"/>
                      </a:solidFill>
                      <a:prstDash val="solid"/>
                      <a:round/>
                      <a:headEnd type="none" w="med" len="med"/>
                      <a:tailEnd type="none" w="med" len="med"/>
                    </a:lnB>
                  </a:tcPr>
                </a:tc>
                <a:tc>
                  <a:txBody>
                    <a:bodyP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2.45</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16130E"/>
                      </a:solidFill>
                      <a:prstDash val="solid"/>
                      <a:round/>
                      <a:headEnd type="none" w="med" len="med"/>
                      <a:tailEnd type="none" w="med" len="med"/>
                    </a:lnB>
                  </a:tcPr>
                </a:tc>
                <a:tc>
                  <a:txBody>
                    <a:bodyP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3.71</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16130E"/>
                      </a:solidFill>
                      <a:prstDash val="solid"/>
                      <a:round/>
                      <a:headEnd type="none" w="med" len="med"/>
                      <a:tailEnd type="none" w="med" len="med"/>
                    </a:lnB>
                  </a:tcPr>
                </a:tc>
                <a:tc>
                  <a:txBody>
                    <a:bodyPr/>
                    <a:lstStyle/>
                    <a:p>
                      <a:pPr algn="r" indent="0" marL="0">
                        <a:buNone/>
                      </a:pPr>
                      <a:r>
                        <a:rPr lang="en-US" sz="1275" dirty="0">
                          <a:solidFill>
                            <a:srgbClr val="16130E"/>
                          </a:solidFill>
                          <a:latin typeface="IBM Plex Mono" pitchFamily="34" charset="0"/>
                          <a:ea typeface="IBM Plex Mono" pitchFamily="34" charset="-122"/>
                          <a:cs typeface="IBM Plex Mono" pitchFamily="34" charset="-120"/>
                        </a:rPr>
                        <a:t>−1.26</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16130E"/>
                      </a:solidFill>
                      <a:prstDash val="solid"/>
                      <a:round/>
                      <a:headEnd type="none" w="med" len="med"/>
                      <a:tailEnd type="none" w="med" len="med"/>
                    </a:lnB>
                  </a:tcPr>
                </a:tc>
                <a:tc>
                  <a:txBody>
                    <a:bodyPr/>
                    <a:lstStyle/>
                    <a:p>
                      <a:pPr algn="r" indent="0" marL="0">
                        <a:buNone/>
                      </a:pPr>
                      <a:r>
                        <a:rPr lang="en-US" sz="1275" dirty="0">
                          <a:solidFill>
                            <a:srgbClr val="155E63"/>
                          </a:solidFill>
                          <a:latin typeface="IBM Plex Mono" pitchFamily="34" charset="0"/>
                          <a:ea typeface="IBM Plex Mono" pitchFamily="34" charset="-122"/>
                          <a:cs typeface="IBM Plex Mono" pitchFamily="34" charset="-120"/>
                        </a:rPr>
                        <a:t>−33.9 %</a:t>
                      </a:r>
                      <a:endParaRPr lang="en-US" sz="1275" dirty="0">
                        <a:latin typeface="IBM Plex Mono" charset="0"/>
                        <a:ea typeface="IBM Plex Mono" charset="0"/>
                        <a:cs typeface="IBM Plex Mono" charset="0"/>
                      </a:endParaRPr>
                    </a:p>
                  </a:txBody>
                  <a:tcPr marL="133502" marR="133502" marT="105156" marB="105156" anchor="ctr">
                    <a:lnL w="0" cap="flat" cmpd="sng" algn="ctr">
                      <a:solidFill>
                        <a:srgbClr val="C7BFA8"/>
                      </a:solidFill>
                      <a:prstDash val="solid"/>
                      <a:round/>
                      <a:headEnd type="none" w="med" len="med"/>
                      <a:tailEnd type="none" w="med" len="med"/>
                    </a:lnL>
                    <a:lnR w="0" cap="flat" cmpd="sng" algn="ctr">
                      <a:solidFill>
                        <a:srgbClr val="C7BFA8"/>
                      </a:solidFill>
                      <a:prstDash val="solid"/>
                      <a:round/>
                      <a:headEnd type="none" w="med" len="med"/>
                      <a:tailEnd type="none" w="med" len="med"/>
                    </a:lnR>
                    <a:lnT w="0" cap="flat" cmpd="sng" algn="ctr">
                      <a:solidFill>
                        <a:srgbClr val="C7BFA8"/>
                      </a:solidFill>
                      <a:prstDash val="solid"/>
                      <a:round/>
                      <a:headEnd type="none" w="med" len="med"/>
                      <a:tailEnd type="none" w="med" len="med"/>
                    </a:lnT>
                    <a:lnB w="9525" cap="flat" cmpd="sng" algn="ctr">
                      <a:solidFill>
                        <a:srgbClr val="16130E"/>
                      </a:solidFill>
                      <a:prstDash val="solid"/>
                      <a:round/>
                      <a:headEnd type="none" w="med" len="med"/>
                      <a:tailEnd type="none" w="med" len="med"/>
                    </a:lnB>
                  </a:tcPr>
                </a:tc>
              </a:tr>
            </a:tbl>
          </a:graphicData>
        </a:graphic>
      </p:graphicFrame>
      <p:sp>
        <p:nvSpPr>
          <p:cNvPr id="13" name="Text 8"/>
          <p:cNvSpPr txBox="1"/>
          <p:nvPr/>
        </p:nvSpPr>
        <p:spPr>
          <a:xfrm>
            <a:off x="761695" y="7429500"/>
            <a:ext cx="11049610" cy="191110"/>
          </a:xfrm>
          <a:prstGeom prst="rect">
            <a:avLst/>
          </a:prstGeom>
          <a:noFill/>
          <a:ln/>
        </p:spPr>
        <p:txBody>
          <a:bodyPr wrap="none" lIns="0" tIns="0" rIns="0" bIns="0" rtlCol="0" anchor="ctr"/>
          <a:lstStyle/>
          <a:p>
            <a:pPr algn="l" indent="0" marL="0">
              <a:buNone/>
            </a:pPr>
            <a:r>
              <a:rPr lang="en-US" sz="1050" spc="42" kern="0" dirty="0">
                <a:solidFill>
                  <a:srgbClr val="756E5F"/>
                </a:solidFill>
                <a:latin typeface="IBM Plex Mono" pitchFamily="34" charset="0"/>
                <a:ea typeface="IBM Plex Mono" pitchFamily="34" charset="-122"/>
                <a:cs typeface="IBM Plex Mono" pitchFamily="34" charset="-120"/>
              </a:rPr>
              <a:t>Air avg = W01·W02 평균 / Ref avg = W03·W04 평균 · Δ = Air − Ref · 모든 측정 M3 layer 단일 · 25°C except where noted</a:t>
            </a:r>
            <a:endParaRPr lang="en-US" sz="1050" dirty="0"/>
          </a:p>
        </p:txBody>
      </p:sp>
      <p:sp>
        <p:nvSpPr>
          <p:cNvPr id="14" name="Text 9"/>
          <p:cNvSpPr txBox="1"/>
          <p:nvPr/>
        </p:nvSpPr>
        <p:spPr>
          <a:xfrm>
            <a:off x="12420295" y="2667305"/>
            <a:ext cx="4953305" cy="181051"/>
          </a:xfrm>
          <a:prstGeom prst="rect">
            <a:avLst/>
          </a:prstGeom>
          <a:noFill/>
          <a:ln/>
        </p:spPr>
        <p:txBody>
          <a:bodyPr wrap="none" lIns="0" tIns="0" rIns="0" bIns="0" rtlCol="0" anchor="ctr"/>
          <a:lstStyle/>
          <a:p>
            <a:pPr algn="l" indent="0" marL="0">
              <a:buNone/>
            </a:pPr>
            <a:r>
              <a:rPr lang="en-US" sz="975" spc="156" kern="0" dirty="0">
                <a:solidFill>
                  <a:srgbClr val="155E63"/>
                </a:solidFill>
                <a:latin typeface="IBM Plex Mono" pitchFamily="34" charset="0"/>
                <a:ea typeface="IBM Plex Mono" pitchFamily="34" charset="-122"/>
                <a:cs typeface="IBM Plex Mono" pitchFamily="34" charset="-120"/>
              </a:rPr>
              <a:t>C 손실</a:t>
            </a:r>
            <a:endParaRPr lang="en-US" sz="975" dirty="0"/>
          </a:p>
        </p:txBody>
      </p:sp>
      <p:sp>
        <p:nvSpPr>
          <p:cNvPr id="15" name="Text 10"/>
          <p:cNvSpPr txBox="1"/>
          <p:nvPr/>
        </p:nvSpPr>
        <p:spPr>
          <a:xfrm>
            <a:off x="12420295" y="2943454"/>
            <a:ext cx="4953305" cy="457200"/>
          </a:xfrm>
          <a:prstGeom prst="rect">
            <a:avLst/>
          </a:prstGeom>
          <a:noFill/>
          <a:ln/>
        </p:spPr>
        <p:txBody>
          <a:bodyPr wrap="none" lIns="0" tIns="0" rIns="0" bIns="0" rtlCol="0" anchor="ctr"/>
          <a:lstStyle/>
          <a:p>
            <a:pPr algn="l" indent="0" marL="0">
              <a:buNone/>
            </a:pPr>
            <a:r>
              <a:rPr lang="en-US" sz="3600" b="1" spc="-72" kern="0" dirty="0">
                <a:solidFill>
                  <a:srgbClr val="16130E"/>
                </a:solidFill>
                <a:latin typeface="IBM Plex Mono" pitchFamily="34" charset="0"/>
                <a:ea typeface="IBM Plex Mono" pitchFamily="34" charset="-122"/>
                <a:cs typeface="IBM Plex Mono" pitchFamily="34" charset="-120"/>
              </a:rPr>
              <a:t>−39.2 %</a:t>
            </a:r>
            <a:endParaRPr lang="en-US" sz="3600" dirty="0"/>
          </a:p>
        </p:txBody>
      </p:sp>
      <p:sp>
        <p:nvSpPr>
          <p:cNvPr id="16" name="Text 11"/>
          <p:cNvSpPr txBox="1"/>
          <p:nvPr/>
        </p:nvSpPr>
        <p:spPr>
          <a:xfrm>
            <a:off x="12420295" y="3534156"/>
            <a:ext cx="4953305" cy="486461"/>
          </a:xfrm>
          <a:prstGeom prst="rect">
            <a:avLst/>
          </a:prstGeom>
          <a:noFill/>
          <a:ln/>
        </p:spPr>
        <p:txBody>
          <a:bodyPr wrap="square" lIns="0" tIns="0" rIns="0" bIns="0" rtlCol="0" anchor="ctr"/>
          <a:lstStyle/>
          <a:p>
            <a:pPr algn="l" indent="0" marL="0">
              <a:lnSpc>
                <a:spcPts val="1913"/>
              </a:lnSpc>
              <a:buNone/>
            </a:pPr>
            <a:r>
              <a:rPr lang="en-US" sz="1275" dirty="0">
                <a:solidFill>
                  <a:srgbClr val="3A352D"/>
                </a:solidFill>
                <a:latin typeface="IBM Plex Sans KR" pitchFamily="34" charset="0"/>
                <a:ea typeface="IBM Plex Sans KR" pitchFamily="34" charset="-122"/>
                <a:cs typeface="IBM Plex Sans KR" pitchFamily="34" charset="-120"/>
              </a:rPr>
              <a:t>Line-to-line capacitance 0.144 vs 0.237 fF/μm. 배치 자유공간이 확보되어 inter-line 전자기 결합이 4割 가까이 줄어든다.</a:t>
            </a:r>
            <a:endParaRPr lang="en-US" sz="1275" dirty="0"/>
          </a:p>
        </p:txBody>
      </p:sp>
      <p:sp>
        <p:nvSpPr>
          <p:cNvPr id="17" name="Text 12"/>
          <p:cNvSpPr txBox="1"/>
          <p:nvPr/>
        </p:nvSpPr>
        <p:spPr>
          <a:xfrm>
            <a:off x="12420295" y="4800600"/>
            <a:ext cx="4953305" cy="181051"/>
          </a:xfrm>
          <a:prstGeom prst="rect">
            <a:avLst/>
          </a:prstGeom>
          <a:noFill/>
          <a:ln/>
        </p:spPr>
        <p:txBody>
          <a:bodyPr wrap="none" lIns="0" tIns="0" rIns="0" bIns="0" rtlCol="0" anchor="ctr"/>
          <a:lstStyle/>
          <a:p>
            <a:pPr algn="l" indent="0" marL="0">
              <a:buNone/>
            </a:pPr>
            <a:r>
              <a:rPr lang="en-US" sz="975" spc="156" kern="0" dirty="0">
                <a:solidFill>
                  <a:srgbClr val="155E63"/>
                </a:solidFill>
                <a:latin typeface="IBM Plex Mono" pitchFamily="34" charset="0"/>
                <a:ea typeface="IBM Plex Mono" pitchFamily="34" charset="-122"/>
                <a:cs typeface="IBM Plex Mono" pitchFamily="34" charset="-120"/>
              </a:rPr>
              <a:t>RC 지연</a:t>
            </a:r>
            <a:endParaRPr lang="en-US" sz="975" dirty="0"/>
          </a:p>
        </p:txBody>
      </p:sp>
      <p:sp>
        <p:nvSpPr>
          <p:cNvPr id="18" name="Text 13"/>
          <p:cNvSpPr txBox="1"/>
          <p:nvPr/>
        </p:nvSpPr>
        <p:spPr>
          <a:xfrm>
            <a:off x="12420295" y="5076749"/>
            <a:ext cx="4953305" cy="457200"/>
          </a:xfrm>
          <a:prstGeom prst="rect">
            <a:avLst/>
          </a:prstGeom>
          <a:noFill/>
          <a:ln/>
        </p:spPr>
        <p:txBody>
          <a:bodyPr wrap="none" lIns="0" tIns="0" rIns="0" bIns="0" rtlCol="0" anchor="ctr"/>
          <a:lstStyle/>
          <a:p>
            <a:pPr algn="l" indent="0" marL="0">
              <a:buNone/>
            </a:pPr>
            <a:r>
              <a:rPr lang="en-US" sz="3600" b="1" spc="-72" kern="0" dirty="0">
                <a:solidFill>
                  <a:srgbClr val="16130E"/>
                </a:solidFill>
                <a:latin typeface="IBM Plex Mono" pitchFamily="34" charset="0"/>
                <a:ea typeface="IBM Plex Mono" pitchFamily="34" charset="-122"/>
                <a:cs typeface="IBM Plex Mono" pitchFamily="34" charset="-120"/>
              </a:rPr>
              <a:t>−44.8 %</a:t>
            </a:r>
            <a:endParaRPr lang="en-US" sz="3600" dirty="0"/>
          </a:p>
        </p:txBody>
      </p:sp>
      <p:sp>
        <p:nvSpPr>
          <p:cNvPr id="19" name="Text 14"/>
          <p:cNvSpPr txBox="1"/>
          <p:nvPr/>
        </p:nvSpPr>
        <p:spPr>
          <a:xfrm>
            <a:off x="12420295" y="5667451"/>
            <a:ext cx="4953305" cy="486461"/>
          </a:xfrm>
          <a:prstGeom prst="rect">
            <a:avLst/>
          </a:prstGeom>
          <a:noFill/>
          <a:ln/>
        </p:spPr>
        <p:txBody>
          <a:bodyPr wrap="square" lIns="0" tIns="0" rIns="0" bIns="0" rtlCol="0" anchor="ctr"/>
          <a:lstStyle/>
          <a:p>
            <a:pPr algn="l" indent="0" marL="0">
              <a:lnSpc>
                <a:spcPts val="1913"/>
              </a:lnSpc>
              <a:buNone/>
            </a:pPr>
            <a:r>
              <a:rPr lang="en-US" sz="1275" dirty="0">
                <a:solidFill>
                  <a:srgbClr val="3A352D"/>
                </a:solidFill>
                <a:latin typeface="IBM Plex Sans KR" pitchFamily="34" charset="0"/>
                <a:ea typeface="IBM Plex Sans KR" pitchFamily="34" charset="-122"/>
                <a:cs typeface="IBM Plex Sans KR" pitchFamily="34" charset="-120"/>
              </a:rPr>
              <a:t>RC delay 20.6 vs 37.3 ps/μm. C 손실의 절대적 감소가 R 손실보다 커 전체 전파 지연이 거의 ½로 줄어든다.</a:t>
            </a:r>
            <a:endParaRPr lang="en-US" sz="1275" dirty="0"/>
          </a:p>
        </p:txBody>
      </p:sp>
      <p:sp>
        <p:nvSpPr>
          <p:cNvPr id="20" name="Text 15"/>
          <p:cNvSpPr txBox="1"/>
          <p:nvPr/>
        </p:nvSpPr>
        <p:spPr>
          <a:xfrm>
            <a:off x="12420295" y="6933895"/>
            <a:ext cx="4953305" cy="715061"/>
          </a:xfrm>
          <a:prstGeom prst="rect">
            <a:avLst/>
          </a:prstGeom>
          <a:noFill/>
          <a:ln/>
        </p:spPr>
        <p:txBody>
          <a:bodyPr wrap="square" lIns="0" tIns="0" rIns="0" bIns="0" rtlCol="0" anchor="ctr"/>
          <a:lstStyle/>
          <a:p>
            <a:pPr algn="l" indent="0" marL="0">
              <a:lnSpc>
                <a:spcPts val="1860"/>
              </a:lnSpc>
              <a:buNone/>
            </a:pPr>
            <a:r>
              <a:rPr lang="en-US" sz="1200" dirty="0">
                <a:solidFill>
                  <a:srgbClr val="3A352D"/>
                </a:solidFill>
                <a:latin typeface="IBM Plex Sans KR" pitchFamily="34" charset="0"/>
                <a:ea typeface="IBM Plex Sans KR" pitchFamily="34" charset="-122"/>
                <a:cs typeface="IBM Plex Sans KR" pitchFamily="34" charset="-120"/>
              </a:rPr>
              <a:t>신뢰성 항목 — Breakdown V +9.4 %, TDDB t_63% +26.3 % — Air gap이 절대 단락 전압을 끌어올리고, 125°C 가속 시험에서도 lifetime이 길어지는 방향으로 동작한다.</a:t>
            </a:r>
            <a:endParaRPr lang="en-US" sz="1200" dirty="0"/>
          </a:p>
        </p:txBody>
      </p:sp>
      <p:sp>
        <p:nvSpPr>
          <p:cNvPr id="21" name="Text 16"/>
          <p:cNvSpPr txBox="1"/>
          <p:nvPr/>
        </p:nvSpPr>
        <p:spPr>
          <a:xfrm>
            <a:off x="761695" y="8524951"/>
            <a:ext cx="16764610" cy="667512"/>
          </a:xfrm>
          <a:prstGeom prst="rect">
            <a:avLst/>
          </a:prstGeom>
          <a:noFill/>
          <a:ln/>
        </p:spPr>
        <p:txBody>
          <a:bodyPr wrap="square" lIns="0" tIns="0" rIns="0" bIns="0" rtlCol="0" anchor="ctr"/>
          <a:lstStyle/>
          <a:p>
            <a:pPr algn="l" indent="0" marL="0">
              <a:lnSpc>
                <a:spcPts val="2610"/>
              </a:lnSpc>
              <a:buNone/>
            </a:pPr>
            <a:r>
              <a:rPr lang="en-US" sz="1800" dirty="0">
                <a:solidFill>
                  <a:srgbClr val="16130E"/>
                </a:solidFill>
                <a:latin typeface="IBM Plex Sans KR" pitchFamily="34" charset="0"/>
                <a:ea typeface="IBM Plex Sans KR" pitchFamily="34" charset="-122"/>
                <a:cs typeface="IBM Plex Sans KR" pitchFamily="34" charset="-120"/>
              </a:rPr>
              <a:t>Air gap group에서 C는 −39 %, RC delay는 −45 % 수준으로 떨어지고 TDDB lifetime · Breakdown V 모두 동시에 개선되어 정밀도 손실 없이 전기 손실 축이 한꺼번에 줄어든다.</a:t>
            </a:r>
            <a:endParaRPr lang="en-US" sz="1800" dirty="0"/>
          </a:p>
        </p:txBody>
      </p:sp>
      <p:sp>
        <p:nvSpPr>
          <p:cNvPr id="22" name="Shape 17"/>
          <p:cNvSpPr/>
          <p:nvPr/>
        </p:nvSpPr>
        <p:spPr>
          <a:xfrm>
            <a:off x="761695" y="8524951"/>
            <a:ext cx="133502" cy="133502"/>
          </a:xfrm>
          <a:prstGeom prst="rect">
            <a:avLst/>
          </a:prstGeom>
          <a:solidFill>
            <a:srgbClr val="BD4A22"/>
          </a:solidFill>
          <a:ln w="12700">
            <a:solidFill>
              <a:srgbClr val="FFFFFF">
                <a:alpha val="0"/>
              </a:srgbClr>
            </a:solidFill>
            <a:prstDash val="solid"/>
          </a:ln>
        </p:spPr>
      </p:sp>
      <p:sp>
        <p:nvSpPr>
          <p:cNvPr id="23" name="Text 18"/>
          <p:cNvSpPr txBox="1"/>
          <p:nvPr/>
        </p:nvSpPr>
        <p:spPr>
          <a:xfrm>
            <a:off x="761695" y="9715500"/>
            <a:ext cx="16764610" cy="191110"/>
          </a:xfrm>
          <a:prstGeom prst="rect">
            <a:avLst/>
          </a:prstGeom>
          <a:noFill/>
          <a:ln/>
        </p:spPr>
        <p:txBody>
          <a:bodyPr wrap="none" lIns="0" tIns="0" rIns="0" bIns="0" rtlCol="0" anchor="ctr"/>
          <a:lstStyle/>
          <a:p>
            <a:pPr algn="l" indent="0" marL="0">
              <a:buNone/>
            </a:pPr>
            <a:r>
              <a:rPr lang="en-US" sz="1050" spc="42" kern="0" dirty="0">
                <a:solidFill>
                  <a:srgbClr val="756E5F"/>
                </a:solidFill>
                <a:latin typeface="IBM Plex Mono" pitchFamily="34" charset="0"/>
                <a:ea typeface="IBM Plex Mono" pitchFamily="34" charset="-122"/>
                <a:cs typeface="IBM Plex Mono" pitchFamily="34" charset="-120"/>
              </a:rPr>
              <a:t>※ 내부 테스트용 더미(가상) 데이터</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2026-10-04T07:30:22Z</dcterms:created>
  <dcterms:modified xsi:type="dcterms:W3CDTF">2026-10-04T07:30:22Z</dcterms:modified>
</cp:coreProperties>
</file>