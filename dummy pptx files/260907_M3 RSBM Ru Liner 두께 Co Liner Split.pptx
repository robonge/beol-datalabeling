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1번 슬라이드는 보고서 전체의 첫 화면입니다. 표지 역할 없이 곧바로 평가 개요로 진입하도록 의도했고, 좌측 절반에는 평가의 목적·대상·wafer 수·측정 항목을, 우측 절반에는 세 가지 스플릿 조건(Ru 1nm, Ru 2nm, Co liner)과 각 split에 배정된 wafer ID를 배치했습니다.
한 wafer당 69개 site 측정은 후속 슬라이드의 CD 표와 wafer map과 동일한 출처임을 명시해야 합니다. 또한 모든 dummy figure는 6 wafer에 대해 무작위 주입 값이 아니라 분포의 평균·표준편차가 split 간에 자연스러운 차이가 있도록 5번·11번·12번 슬라이드와 일관되게 잡았습니다.
스피커는 페이지 우측 상단 코너 마커, 상단 그리드 라인, 그리고 좌측 평가 조건 박스의 좌측 6px 강조 라인의 시각적 계보를 짧게 짚어 주면 디자인 일관성을 인지시키는 데 도움이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샘플 매트릭스 페이지에서는 6장의 wafer 카드를 3×2 그리드로 풀어 배치했습니다. 각 카드 상단의 8px 컬러 바는 이 시리즈 전체에서 사용하는 split 인코딩 컬러(Ru1nm #1E5F9C, Ru2nm #4F86C0, Co #94A3B8)입니다.
slot 번호는 carrier 상 1~25 슬롯 중 일부를 차례로 비워 둔 가짜 값이니 현장에서는 무시해도 좋고, 단지 wafer 간 격리(intra-carrier 분산)를 흉내내기 위함임을 짚어 주세요.
우측 그룹 요약 박스는 후속 슬라이드의 색상 매핑과 동일한 순서로 배치해 두었습니다. 발표 때는 "Group C는 baseline, Group A·B는 비교군"이라는 한 줄을 슬라이드 차원의 안내로 명시해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후속 CD 슬라이드(04~06번)에서 다루는 모든 항목의 target과 정의를 한 화면에 고정해 두는 사전 정의 페이지입니다.
AASI 25.5nm · ASEI 18.3nm · AMI 9.1nm · ACI 9.8nm은 dummy 값이지만 일반적인 M3 라인 공정의 step 순서를 따랐다는 점에서 의미를 부여했습니다 — AASI(에칭 직후) → ASEI(스트립 후) → AMI(metal 증착 후) → ACI(CMP 후). 발표 때 이 sequence가 의도적인 것임을 한 번 언급해 주세요.
4개 카드의 컬러는 1번 슬라이드와 2번 슬라이드의 split 인코딩과 별도로, 항목의 색 자체는 의미가 없도록 모두 비슷한 채도 그라데이션으로 잡았습니다. 대신 카드 상단의 6px 컬러 바를 항목별로 살짝 차등해 카드 간 시각적 리듬을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AASI 슬라이드에서는 chart와 table을 같이 두는 형식을 도입했습니다. 좌측 막대 차트는 wafer별 mean의 위치 감각을 주기 위한 시각 요소이고, 우측 표가 실제 권위 있는 값입니다. 발표 때 "차트의 높이는 Δ(vs target)를, 윗·아래 whisker는 range를 의미한다"는 점을 짚어 주세요.
색은 split 인코딩을 그대로 답습했습니다 — A=Ru1nm 진남, B=Ru2nm 미드 블루, C=Co는 그레이 블루. Co는 baseline이지만 의도적으로 약간 더 큰 mean 값을 갖도록 dummy를 설계했습니다.
Ru 1nm vs Ru 2nm의 차이는 작지만 mean/3σ/range 모두에서 B group이 약간 더 안정적이라는 신호를 만들었습니다. 키 takeaway에 명시한 수치는 표에서 그대로 인용한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ASEI 단계에서도 layout은 04번과 동일한 차트 + 우측 표 구조를 유지했습니다. 발표 때 "AASI와 ASEI를 같은 자리에서 비교할 수 있도록 형식을 통일했다"고 짧게 짚어 주세요.
W05가 가장 작은 range(2.31)와 가장 작은 3σ(0.52)를 보이지만 절대 mean 자체는 W02(18.16)가 가장 낮습니다 — dummy 분포에서 group B의 두 wafer가 동일 split이라는 점을 부각하기 위해 일부러 range는 W02, 3σ는 W05가 가장 낮게 잡혔습니다. 발표 때도 이 차이가 의도된 분산임을 부기할 수 있습니다.
Co wafer(W03+W06)은 ASEI 단계에서도 0.15~0.20 nm 정도 target 위로 벗어났습니다 — AASI 대비 Δ 차이는 거의 동일하게 유지되고 있으니, "Co liner가 에칭 단계에서 이미 +side에 위치하고 strip 후에도 따라간다"는 짧은 phrasing이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06은 sub-10 nm 영역의 두 항목 AMI와 ACI를 한 슬라이드에 좌우 표로 함께 묶었습니다. AMI는 9.1 nm, ACI는 9.8 nm — CMP 후 슬라이트가 +0.7 nm 정도 넓어지는 것이 dummy 분포 의도입니다.
Δ vs target column이 양수면 패턴이 target보다 더 넓다는 의미인데, 발표자가 헷갈리지 않도록 "Δ drift 양수 = 더 넓은 라인"이라는 한 줄 가이드를 함께 말해 주세요.
Take-away의 "AMI→ACI Co Δ drift +0.01 ~ +0.04 nm"은 의도된 분포값 — 발표 때 CMP 손실 일관성을 짚어주면 후속 W2W 비교(슬라이드 11)와 잘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In-wafer uniformity는 split × 4 CD 항목을 cross-tabulate한 페이지입니다. 좌측 큰 표가 메인 집계, 우측 보조 표가 항목별 3σ의 breakdown, 그리고 call-out 두 줄이 핵심 메시지를 받습니다.
dummy로 만든 분포 의도는 (1) B(Ru 2nm)이 4개 항목 모두에서 가장 작고, (2) C(Co)는 AMI에서 상대 격차가 가장 크다는 점입니다. 발표 때 "sub-10 영역으로 갈수록 A·B·C 격차가 벌어진다"는 한 문장이 후속 wafer map·전기특성과 자연스럽게 연결되도록 의도했습니다.
우측 call-out은 LEGI와 diameter 정보를 보여줍니다. 만약 발표 시간이 짧다면 좌측 큰 표만으로도 충분히 self-contained이니, 둘 중 하나만 가리키셔도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69pt wafer map은 split 대표 wafer 3장(W01, W02, W03)을 동일 canvas에 가로로 펼친 시각 자료입니다. 9×8=72 cell 중 3 corners를 hatched로 표시해 69 measured cell이 되도록 했으며, 실제 셀 색은 dummy 분포 의도에 맞춰 split별로 다르게 칠했습니다.
dummy distribution 의도:
- W01 (Ru1nm) — 7AA4CB / 3A78B5 / DCE3EE 혼합, 가장자리 약간 어둡게
- W02 (Ru2nm) — DCE3EE(±0.2, ref)가 압도적으로 많고 가장자리만 7AA4CB
- W03 (Co) — 가장자리에 warm hue(C9A589, B07A52)가 들어와 baseline 대비 균일도가 떨어지는 시그널
Color legend는 top row에 두어 한눈에 인코딩 정보를 확인할 수 있도록 했습니다. 발표 시간이 짧을 때는 3 wafer 가운데 W02만 가리키며 "이 wafer가 가장 ref에 가까운데, 가장자리에만 약간 ±0.6 정도로 벗어났다" 정도로 짚어 주셔도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09번 슬라이드는 B group wafer에서 capture된 정상 SEM 단면을 reference로 보여줍니다. 발표 때 "이 단면 자체는 외부 공개 자료 기반 reference 단면이며, 정상 분포의 reference interpretation을 함께 제시한다"는 점을 부기해 주세요.
우측 4-item observation list는 의도적으로 한 줄씩 자기완결적으로 작성했습니다 — 발표자가 1분 내로 빠르게 짚을 수 있도록.
이 슬라이드에서 한 가지 결정적인 분기: dummy 분포가 정상이라는 시그널을 만들고 싶었다면, 큰 문제 단면은 다음 슬라이드(10번)에서 다루도록 분리했습니다.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10번 페이지에서는 두 가지 이상 사례를 동일 슬라이드에 좌우 배치했습니다. 둘 다 Group C (Co liner) wafer에서만 발생했고, 1건성 결함입니다.
Case 01은 FIB-SEM 단면에서 본 liner 비연속 — wafer edge에서 발생. CD 영향(국부 +3.4nm)은 명시했지만 wafer mean drift는 의도적으로 작게 만들어 wafer distribution을 해치지 않게 했습니다.
Case 02는 low-k IMD crack과 Cu 라인 부양 — CMP 압력 hotspot 가설을 명시했지만 다른 wafer에서 재현되지 않았다는 점이 발표 때 짚어지면 좋습니다.
색은 이 슬라이드에서만 의도적으로 warm alarm(#B85C3D) accent로 빠졌고, 좌측 점선 stripe도 같은 hex로 두어 시리즈 전체에서 한 번만 warm 색이 등장하도록 의도했습니다. 발표 시간이 부족하면 각 case의 OBSERVATION 부분만 가볍게 짚어 주셔도 self-contained입니다.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11번 슬라이드는 split 내부 wafer pair spread 만을 보는 W2W 비교 페이지입니다. in-wafer Δ(슬라이드 07)와 의도적으로 분리되어 있습니다. 발표 때 "in-wafer는 split×CD 평균, 이번 W2W는 split 내부 wafer pair의 차이만 본다"고 짧게 짚어 주세요.
Ranking 우측 카드에서 B → C → A 순으로 두지만 dummy 분포 의도상 1·3위가 거의 동률입니다. 발표 시간이 부족하다면 큰 표만 가리키셔도 self-contained입니다. 우측 ranking 카드의 색은 ranking 순위가 아니라 split 색을 답습한 점만 짚어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12번 슬라이드 — 전기 특성을 도식이 아닌 numeric table로 직접 비교한 페이지입니다. 의도적으로 모든 split에서 모든 측정 항목이 dummy 분포값으로 들어가 있지만 B가 일관되게 best입니다. 키 takeaway의 "+29% EM TTF"는 절대값(1380 vs 980) 기준입니다.
Score 정렬은 색으로 표시 — best split 셀은 weight 700 + split 컬러로 칠했고, 다른 두 split은 weight 500 + 회색조로 두어 시각적으로도 빠르게 B의 우세를 인지할 수 있도록 했습니다.
Test condition 노트는 두 컬럼 분할 — 발표 시간이 짧을 때는 표 + takeaway만, 길 때는 노트의 test condition까지 짚어 주시면 됩니다. 7개 항목이 table에 다 들어가 있어 "전기 properties는 도식 아닌 숫자"라는 의사결정 요구사항도 충족됩니다.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1.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5.png"/><Relationship Id="rId7" Type="http://schemas.openxmlformats.org/officeDocument/2006/relationships/image" Target="../media/image-4-7.png"/><Relationship Id="rId8" Type="http://schemas.openxmlformats.org/officeDocument/2006/relationships/image" Target="../media/image-4-7.png"/><Relationship Id="rId9" Type="http://schemas.openxmlformats.org/officeDocument/2006/relationships/image" Target="../media/image-4-9.png"/><Relationship Id="rId10" Type="http://schemas.openxmlformats.org/officeDocument/2006/relationships/image" Target="../media/image-4-9.png"/><Relationship Id="rId11" Type="http://schemas.openxmlformats.org/officeDocument/2006/relationships/image" Target="../media/image-4-5.png"/><Relationship Id="rId12" Type="http://schemas.openxmlformats.org/officeDocument/2006/relationships/image" Target="../media/image-4-5.png"/><Relationship Id="rId13" Type="http://schemas.openxmlformats.org/officeDocument/2006/relationships/image" Target="../media/image-4-7.png"/><Relationship Id="rId14" Type="http://schemas.openxmlformats.org/officeDocument/2006/relationships/image" Target="../media/image-4-7.png"/><Relationship Id="rId15" Type="http://schemas.openxmlformats.org/officeDocument/2006/relationships/image" Target="../media/image-4-9.png"/><Relationship Id="rId16" Type="http://schemas.openxmlformats.org/officeDocument/2006/relationships/image" Target="../media/image-4-9.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slideLayout" Target="../slideLayouts/slideLayout1.xml"/><Relationship Id="rId2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5.png"/><Relationship Id="rId8" Type="http://schemas.openxmlformats.org/officeDocument/2006/relationships/image" Target="../media/image-5-5.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9.png"/><Relationship Id="rId12" Type="http://schemas.openxmlformats.org/officeDocument/2006/relationships/image" Target="../media/image-5-9.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3.png"/><Relationship Id="rId16" Type="http://schemas.openxmlformats.org/officeDocument/2006/relationships/image" Target="../media/image-5-13.png"/><Relationship Id="rId17" Type="http://schemas.openxmlformats.org/officeDocument/2006/relationships/image" Target="../media/image-5-5.png"/><Relationship Id="rId18" Type="http://schemas.openxmlformats.org/officeDocument/2006/relationships/image" Target="../media/image-5-18.png"/><Relationship Id="rId19" Type="http://schemas.openxmlformats.org/officeDocument/2006/relationships/image" Target="../media/image-5-5.png"/><Relationship Id="rId20" Type="http://schemas.openxmlformats.org/officeDocument/2006/relationships/image" Target="../media/image-5-5.png"/><Relationship Id="rId21" Type="http://schemas.openxmlformats.org/officeDocument/2006/relationships/image" Target="../media/image-5-9.png"/><Relationship Id="rId22" Type="http://schemas.openxmlformats.org/officeDocument/2006/relationships/image" Target="../media/image-5-22.png"/><Relationship Id="rId23" Type="http://schemas.openxmlformats.org/officeDocument/2006/relationships/image" Target="../media/image-5-9.png"/><Relationship Id="rId24" Type="http://schemas.openxmlformats.org/officeDocument/2006/relationships/image" Target="../media/image-5-9.png"/><Relationship Id="rId25" Type="http://schemas.openxmlformats.org/officeDocument/2006/relationships/image" Target="../media/image-5-13.png"/><Relationship Id="rId26" Type="http://schemas.openxmlformats.org/officeDocument/2006/relationships/image" Target="../media/image-5-14.png"/><Relationship Id="rId27" Type="http://schemas.openxmlformats.org/officeDocument/2006/relationships/image" Target="../media/image-5-13.png"/><Relationship Id="rId28" Type="http://schemas.openxmlformats.org/officeDocument/2006/relationships/image" Target="../media/image-5-13.png"/><Relationship Id="rId29" Type="http://schemas.openxmlformats.org/officeDocument/2006/relationships/image" Target="../media/image-5-29.png"/><Relationship Id="rId30" Type="http://schemas.openxmlformats.org/officeDocument/2006/relationships/image" Target="../media/image-5-30.png"/><Relationship Id="rId31" Type="http://schemas.openxmlformats.org/officeDocument/2006/relationships/slideLayout" Target="../slideLayouts/slideLayout1.xml"/><Relationship Id="rId3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3.png"/><Relationship Id="rId5" Type="http://schemas.openxmlformats.org/officeDocument/2006/relationships/image" Target="../media/image-8-3.png"/><Relationship Id="rId6" Type="http://schemas.openxmlformats.org/officeDocument/2006/relationships/image" Target="../media/image-8-3.png"/><Relationship Id="rId7" Type="http://schemas.openxmlformats.org/officeDocument/2006/relationships/image" Target="../media/image-8-3.png"/><Relationship Id="rId8" Type="http://schemas.openxmlformats.org/officeDocument/2006/relationships/image" Target="../media/image-8-3.png"/><Relationship Id="rId9" Type="http://schemas.openxmlformats.org/officeDocument/2006/relationships/image" Target="../media/image-8-3.png"/><Relationship Id="rId10" Type="http://schemas.openxmlformats.org/officeDocument/2006/relationships/image" Target="../media/image-8-3.png"/><Relationship Id="rId11" Type="http://schemas.openxmlformats.org/officeDocument/2006/relationships/image" Target="../media/image-8-3.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3238805"/>
            <a:ext cx="7239305" cy="5143500"/>
          </a:xfrm>
          <a:prstGeom prst="rect">
            <a:avLst/>
          </a:prstGeom>
          <a:solidFill>
            <a:srgbClr val="FFFFFF"/>
          </a:solidFill>
          <a:ln w="12700">
            <a:solidFill>
              <a:srgbClr val="C8D3E2"/>
            </a:solidFill>
            <a:prstDash val="solid"/>
          </a:ln>
        </p:spPr>
      </p:sp>
      <p:sp>
        <p:nvSpPr>
          <p:cNvPr id="5" name="Shape 1"/>
          <p:cNvSpPr/>
          <p:nvPr/>
        </p:nvSpPr>
        <p:spPr>
          <a:xfrm>
            <a:off x="857707" y="3238805"/>
            <a:ext cx="57607" cy="5143500"/>
          </a:xfrm>
          <a:prstGeom prst="rect">
            <a:avLst/>
          </a:prstGeom>
          <a:solidFill>
            <a:srgbClr val="1E5F9C"/>
          </a:solidFill>
          <a:ln w="12700">
            <a:solidFill>
              <a:srgbClr val="1E5F9C">
                <a:alpha val="0"/>
              </a:srgbClr>
            </a:solidFill>
            <a:prstDash val="solid"/>
          </a:ln>
        </p:spPr>
      </p:sp>
      <p:sp>
        <p:nvSpPr>
          <p:cNvPr id="6" name="Shape 2"/>
          <p:cNvSpPr/>
          <p:nvPr/>
        </p:nvSpPr>
        <p:spPr>
          <a:xfrm>
            <a:off x="8667598" y="4095598"/>
            <a:ext cx="8762695" cy="1333195"/>
          </a:xfrm>
          <a:prstGeom prst="rect">
            <a:avLst/>
          </a:prstGeom>
          <a:solidFill>
            <a:srgbClr val="FFFFFF"/>
          </a:solidFill>
          <a:ln w="12700">
            <a:solidFill>
              <a:srgbClr val="C8D3E2"/>
            </a:solidFill>
            <a:prstDash val="solid"/>
          </a:ln>
        </p:spPr>
      </p:sp>
      <p:sp>
        <p:nvSpPr>
          <p:cNvPr id="7" name="Shape 3"/>
          <p:cNvSpPr/>
          <p:nvPr/>
        </p:nvSpPr>
        <p:spPr>
          <a:xfrm>
            <a:off x="8667598" y="5572354"/>
            <a:ext cx="8762695" cy="1333195"/>
          </a:xfrm>
          <a:prstGeom prst="rect">
            <a:avLst/>
          </a:prstGeom>
          <a:solidFill>
            <a:srgbClr val="FFFFFF"/>
          </a:solidFill>
          <a:ln w="12700">
            <a:solidFill>
              <a:srgbClr val="C8D3E2"/>
            </a:solidFill>
            <a:prstDash val="solid"/>
          </a:ln>
        </p:spPr>
      </p:sp>
      <p:sp>
        <p:nvSpPr>
          <p:cNvPr id="8" name="Shape 4"/>
          <p:cNvSpPr/>
          <p:nvPr/>
        </p:nvSpPr>
        <p:spPr>
          <a:xfrm>
            <a:off x="8667598" y="7048195"/>
            <a:ext cx="8762695" cy="1333195"/>
          </a:xfrm>
          <a:prstGeom prst="rect">
            <a:avLst/>
          </a:prstGeom>
          <a:solidFill>
            <a:srgbClr val="FFFFFF"/>
          </a:solidFill>
          <a:ln w="12700">
            <a:solidFill>
              <a:srgbClr val="C8D3E2"/>
            </a:solidFill>
            <a:prstDash val="solid"/>
          </a:ln>
        </p:spPr>
      </p:sp>
      <p:sp>
        <p:nvSpPr>
          <p:cNvPr id="9" name="Shape 5"/>
          <p:cNvSpPr/>
          <p:nvPr/>
        </p:nvSpPr>
        <p:spPr>
          <a:xfrm>
            <a:off x="16840505" y="1123798"/>
            <a:ext cx="780898" cy="19202"/>
          </a:xfrm>
          <a:prstGeom prst="rect">
            <a:avLst/>
          </a:prstGeom>
          <a:solidFill>
            <a:srgbClr val="1E5F9C"/>
          </a:solidFill>
          <a:ln w="12700">
            <a:solidFill>
              <a:srgbClr val="1E5F9C">
                <a:alpha val="0"/>
              </a:srgbClr>
            </a:solidFill>
            <a:prstDash val="solid"/>
          </a:ln>
        </p:spPr>
      </p:sp>
      <p:sp>
        <p:nvSpPr>
          <p:cNvPr id="10" name="Shape 6"/>
          <p:cNvSpPr/>
          <p:nvPr/>
        </p:nvSpPr>
        <p:spPr>
          <a:xfrm>
            <a:off x="17602200" y="1123798"/>
            <a:ext cx="19202" cy="780898"/>
          </a:xfrm>
          <a:prstGeom prst="rect">
            <a:avLst/>
          </a:prstGeom>
          <a:solidFill>
            <a:srgbClr val="1E5F9C"/>
          </a:solidFill>
          <a:ln w="12700">
            <a:solidFill>
              <a:srgbClr val="1E5F9C">
                <a:alpha val="0"/>
              </a:srgbClr>
            </a:solidFill>
            <a:prstDash val="solid"/>
          </a:ln>
        </p:spPr>
      </p:sp>
      <p:pic>
        <p:nvPicPr>
          <p:cNvPr id="11" name="Image 1" descr="gen-dedup-1140d4b6615c72d3d43e1a2156941833.png">    </p:cNvPr>
          <p:cNvPicPr>
            <a:picLocks noChangeAspect="1"/>
          </p:cNvPicPr>
          <p:nvPr/>
        </p:nvPicPr>
        <p:blipFill>
          <a:blip r:embed="rId2"/>
          <a:srcRect l="0" r="0" t="-68" b="-68"/>
          <a:stretch/>
        </p:blipFill>
        <p:spPr>
          <a:xfrm>
            <a:off x="8667598" y="4095598"/>
            <a:ext cx="95098" cy="1333195"/>
          </a:xfrm>
          <a:prstGeom prst="rect">
            <a:avLst/>
          </a:prstGeom>
        </p:spPr>
      </p:pic>
      <p:pic>
        <p:nvPicPr>
          <p:cNvPr id="12" name="Image 2" descr="gen-dedup-437b3feb73f5519f13cf0bd1585ed879.png">    </p:cNvPr>
          <p:cNvPicPr>
            <a:picLocks noChangeAspect="1"/>
          </p:cNvPicPr>
          <p:nvPr/>
        </p:nvPicPr>
        <p:blipFill>
          <a:blip r:embed="rId3"/>
          <a:srcRect l="0" r="0" t="-68" b="-68"/>
          <a:stretch/>
        </p:blipFill>
        <p:spPr>
          <a:xfrm>
            <a:off x="8667598" y="5572354"/>
            <a:ext cx="95098" cy="1333195"/>
          </a:xfrm>
          <a:prstGeom prst="rect">
            <a:avLst/>
          </a:prstGeom>
        </p:spPr>
      </p:pic>
      <p:pic>
        <p:nvPicPr>
          <p:cNvPr id="13" name="Image 3" descr="gen-dedup-d1f24e6cba9a3ace96fc55eedba9f844.png">    </p:cNvPr>
          <p:cNvPicPr>
            <a:picLocks noChangeAspect="1"/>
          </p:cNvPicPr>
          <p:nvPr/>
        </p:nvPicPr>
        <p:blipFill>
          <a:blip r:embed="rId4"/>
          <a:srcRect l="0" r="0" t="-68" b="-68"/>
          <a:stretch/>
        </p:blipFill>
        <p:spPr>
          <a:xfrm>
            <a:off x="8667598" y="7048195"/>
            <a:ext cx="95098" cy="1333195"/>
          </a:xfrm>
          <a:prstGeom prst="rect">
            <a:avLst/>
          </a:prstGeom>
        </p:spPr>
      </p:pic>
      <p:sp>
        <p:nvSpPr>
          <p:cNvPr id="14" name="Shape 7"/>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15" name="Image 4" descr="gen-dedup-3c3f0190f3348a605df0239cea9995bf.png">    </p:cNvPr>
          <p:cNvPicPr>
            <a:picLocks noChangeAspect="1"/>
          </p:cNvPicPr>
          <p:nvPr/>
        </p:nvPicPr>
        <p:blipFill>
          <a:blip r:embed="rId5"/>
          <a:srcRect l="-2083" r="-2083" t="0" b="0"/>
          <a:stretch/>
        </p:blipFill>
        <p:spPr>
          <a:xfrm>
            <a:off x="0" y="9562795"/>
            <a:ext cx="18288000" cy="9144"/>
          </a:xfrm>
          <a:prstGeom prst="rect">
            <a:avLst/>
          </a:prstGeom>
        </p:spPr>
      </p:pic>
      <p:pic>
        <p:nvPicPr>
          <p:cNvPr id="16" name="Image 5" descr="gen-dedup-12d7cb0a28bbcaca3e8d32c19dc56a81.png">    </p:cNvPr>
          <p:cNvPicPr>
            <a:picLocks noChangeAspect="1"/>
          </p:cNvPicPr>
          <p:nvPr/>
        </p:nvPicPr>
        <p:blipFill>
          <a:blip r:embed="rId6"/>
          <a:srcRect l="0" r="0" t="-424" b="-424"/>
          <a:stretch/>
        </p:blipFill>
        <p:spPr>
          <a:xfrm>
            <a:off x="857707" y="657454"/>
            <a:ext cx="323698" cy="19202"/>
          </a:xfrm>
          <a:prstGeom prst="rect">
            <a:avLst/>
          </a:prstGeom>
        </p:spPr>
      </p:pic>
      <p:sp>
        <p:nvSpPr>
          <p:cNvPr id="17" name="Text 8"/>
          <p:cNvSpPr txBox="1"/>
          <p:nvPr/>
        </p:nvSpPr>
        <p:spPr>
          <a:xfrm>
            <a:off x="1314907" y="571500"/>
            <a:ext cx="2286000" cy="191110"/>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01 · 평가 개요</a:t>
            </a:r>
            <a:endParaRPr lang="en-US" sz="1050" dirty="0"/>
          </a:p>
        </p:txBody>
      </p:sp>
      <p:sp>
        <p:nvSpPr>
          <p:cNvPr id="18" name="Shape 9"/>
          <p:cNvSpPr/>
          <p:nvPr/>
        </p:nvSpPr>
        <p:spPr>
          <a:xfrm>
            <a:off x="16824046" y="566928"/>
            <a:ext cx="57607" cy="57607"/>
          </a:xfrm>
          <a:prstGeom prst="ellipse">
            <a:avLst/>
          </a:prstGeom>
          <a:solidFill>
            <a:srgbClr val="1E5F9C"/>
          </a:solidFill>
          <a:ln w="12700">
            <a:solidFill>
              <a:srgbClr val="FFFFFF">
                <a:alpha val="0"/>
              </a:srgbClr>
            </a:solidFill>
            <a:prstDash val="solid"/>
          </a:ln>
        </p:spPr>
      </p:sp>
      <p:sp>
        <p:nvSpPr>
          <p:cNvPr id="19" name="Text 10"/>
          <p:cNvSpPr txBox="1"/>
          <p:nvPr/>
        </p:nvSpPr>
        <p:spPr>
          <a:xfrm>
            <a:off x="16742664" y="514807"/>
            <a:ext cx="787298"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01 / 12</a:t>
            </a:r>
            <a:endParaRPr lang="en-US" sz="975" dirty="0"/>
          </a:p>
        </p:txBody>
      </p:sp>
      <p:sp>
        <p:nvSpPr>
          <p:cNvPr id="20" name="Text 11"/>
          <p:cNvSpPr txBox="1"/>
          <p:nvPr/>
        </p:nvSpPr>
        <p:spPr>
          <a:xfrm>
            <a:off x="838505" y="1143000"/>
            <a:ext cx="12382805" cy="648310"/>
          </a:xfrm>
          <a:prstGeom prst="rect">
            <a:avLst/>
          </a:prstGeom>
          <a:noFill/>
          <a:ln/>
        </p:spPr>
        <p:txBody>
          <a:bodyPr wrap="none" lIns="0" tIns="0" rIns="0" bIns="0" rtlCol="0" anchor="ctr"/>
          <a:lstStyle/>
          <a:p>
            <a:pPr algn="l" indent="0" marL="0">
              <a:buNone/>
            </a:pPr>
            <a:r>
              <a:rPr lang="en-US" sz="4800" b="1" spc="-48" kern="0" dirty="0">
                <a:solidFill>
                  <a:srgbClr val="14213D"/>
                </a:solidFill>
                <a:latin typeface="Noto Sans KR" pitchFamily="34" charset="0"/>
                <a:ea typeface="Noto Sans KR" pitchFamily="34" charset="-122"/>
                <a:cs typeface="Noto Sans KR" pitchFamily="34" charset="-120"/>
              </a:rPr>
              <a:t>평가 목적 및 조건</a:t>
            </a:r>
            <a:endParaRPr lang="en-US" sz="4800" dirty="0"/>
          </a:p>
        </p:txBody>
      </p:sp>
      <p:sp>
        <p:nvSpPr>
          <p:cNvPr id="21" name="Text 12"/>
          <p:cNvSpPr txBox="1"/>
          <p:nvPr/>
        </p:nvSpPr>
        <p:spPr>
          <a:xfrm>
            <a:off x="838505" y="1927555"/>
            <a:ext cx="12382805" cy="636422"/>
          </a:xfrm>
          <a:prstGeom prst="rect">
            <a:avLst/>
          </a:prstGeom>
          <a:noFill/>
          <a:ln/>
        </p:spPr>
        <p:txBody>
          <a:bodyPr wrap="square" lIns="0" tIns="0" rIns="0" bIns="0" rtlCol="0" anchor="t"/>
          <a:lstStyle/>
          <a:p>
            <a:pPr algn="l" indent="0" marL="0">
              <a:lnSpc>
                <a:spcPts val="2392"/>
              </a:lnSpc>
              <a:buNone/>
            </a:pPr>
            <a:r>
              <a:rPr lang="en-US" sz="1650" spc="33" kern="0" dirty="0">
                <a:solidFill>
                  <a:srgbClr val="455670"/>
                </a:solidFill>
                <a:latin typeface="Noto Sans KR" pitchFamily="34" charset="0"/>
                <a:ea typeface="Noto Sans KR" pitchFamily="34" charset="-122"/>
                <a:cs typeface="Noto Sans KR" pitchFamily="34" charset="-120"/>
              </a:rPr>
              <a:t>M3 금속층의 RSBM 스플릿 평가 — 라인 CD / 균일도 / 전기적 특성을</a:t>
            </a:r>
            <a:pPr algn="l" indent="0" marL="0">
              <a:lnSpc>
                <a:spcPts val="2392"/>
              </a:lnSpc>
              <a:buNone/>
            </a:pPr>
            <a:endParaRPr lang="en-US" sz="1650" dirty="0"/>
          </a:p>
          <a:p>
            <a:pPr algn="l" indent="0" marL="0">
              <a:lnSpc>
                <a:spcPts val="2392"/>
              </a:lnSpc>
              <a:buNone/>
            </a:pPr>
            <a:r>
              <a:rPr lang="en-US" sz="1650" spc="33" kern="0" dirty="0">
                <a:solidFill>
                  <a:srgbClr val="455670"/>
                </a:solidFill>
                <a:latin typeface="Noto Sans KR" pitchFamily="34" charset="0"/>
                <a:ea typeface="Noto Sans KR" pitchFamily="34" charset="-122"/>
                <a:cs typeface="Noto Sans KR" pitchFamily="34" charset="-120"/>
              </a:rPr>
              <a:t>Ru liner 1nm · Ru liner 2nm · Co liner 세 조건에서 비교한다.</a:t>
            </a:r>
            <a:endParaRPr lang="en-US" sz="1650" dirty="0"/>
          </a:p>
        </p:txBody>
      </p:sp>
      <p:sp>
        <p:nvSpPr>
          <p:cNvPr id="22" name="Text 13"/>
          <p:cNvSpPr txBox="1"/>
          <p:nvPr/>
        </p:nvSpPr>
        <p:spPr>
          <a:xfrm>
            <a:off x="1181405" y="3504895"/>
            <a:ext cx="6477610" cy="143561"/>
          </a:xfrm>
          <a:prstGeom prst="rect">
            <a:avLst/>
          </a:prstGeom>
          <a:noFill/>
          <a:ln/>
        </p:spPr>
        <p:txBody>
          <a:bodyPr wrap="none" lIns="0" tIns="0" rIns="0" bIns="0" rtlCol="0" anchor="ctr"/>
          <a:lstStyle/>
          <a:p>
            <a:pPr algn="l" indent="0" marL="0">
              <a:buNone/>
            </a:pPr>
            <a:r>
              <a:rPr lang="en-US" sz="900" b="1" spc="270" kern="0" dirty="0">
                <a:solidFill>
                  <a:srgbClr val="94A3B8"/>
                </a:solidFill>
                <a:latin typeface="Sora" pitchFamily="34" charset="0"/>
                <a:ea typeface="Sora" pitchFamily="34" charset="-122"/>
                <a:cs typeface="Sora" pitchFamily="34" charset="-120"/>
              </a:rPr>
              <a:t>EVALUATION CONDITIONS</a:t>
            </a:r>
            <a:endParaRPr lang="en-US" sz="900" dirty="0"/>
          </a:p>
        </p:txBody>
      </p:sp>
      <p:sp>
        <p:nvSpPr>
          <p:cNvPr id="23" name="Text 14"/>
          <p:cNvSpPr txBox="1"/>
          <p:nvPr/>
        </p:nvSpPr>
        <p:spPr>
          <a:xfrm>
            <a:off x="1181405" y="3705149"/>
            <a:ext cx="6477610" cy="438912"/>
          </a:xfrm>
          <a:prstGeom prst="rect">
            <a:avLst/>
          </a:prstGeom>
          <a:noFill/>
          <a:ln/>
        </p:spPr>
        <p:txBody>
          <a:bodyPr wrap="none" lIns="0" tIns="0" rIns="0" bIns="0" rtlCol="0" anchor="ctr"/>
          <a:lstStyle/>
          <a:p>
            <a:pPr algn="l" indent="0" marL="0">
              <a:buNone/>
            </a:pPr>
            <a:r>
              <a:rPr lang="en-US" sz="2400" b="1" dirty="0">
                <a:solidFill>
                  <a:srgbClr val="14213D"/>
                </a:solidFill>
                <a:latin typeface="Noto Sans KR" pitchFamily="34" charset="0"/>
                <a:ea typeface="Noto Sans KR" pitchFamily="34" charset="-122"/>
                <a:cs typeface="Noto Sans KR" pitchFamily="34" charset="-120"/>
              </a:rPr>
              <a:t>평가 조건</a:t>
            </a:r>
            <a:endParaRPr lang="en-US" sz="2400" dirty="0"/>
          </a:p>
        </p:txBody>
      </p:sp>
      <p:sp>
        <p:nvSpPr>
          <p:cNvPr id="24" name="Shape 15"/>
          <p:cNvSpPr/>
          <p:nvPr/>
        </p:nvSpPr>
        <p:spPr>
          <a:xfrm>
            <a:off x="1181405" y="5372100"/>
            <a:ext cx="6476695" cy="9144"/>
          </a:xfrm>
          <a:prstGeom prst="rect">
            <a:avLst/>
          </a:prstGeom>
          <a:solidFill>
            <a:srgbClr val="DCE3EE"/>
          </a:solidFill>
          <a:ln w="12700">
            <a:solidFill>
              <a:srgbClr val="DCE3EE">
                <a:alpha val="0"/>
              </a:srgbClr>
            </a:solidFill>
            <a:prstDash val="solid"/>
          </a:ln>
        </p:spPr>
      </p:sp>
      <p:sp>
        <p:nvSpPr>
          <p:cNvPr id="25" name="Text 16"/>
          <p:cNvSpPr txBox="1"/>
          <p:nvPr/>
        </p:nvSpPr>
        <p:spPr>
          <a:xfrm>
            <a:off x="1181405" y="4714646"/>
            <a:ext cx="1143000" cy="152705"/>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목적</a:t>
            </a:r>
            <a:endParaRPr lang="en-US" sz="825" dirty="0"/>
          </a:p>
        </p:txBody>
      </p:sp>
      <p:sp>
        <p:nvSpPr>
          <p:cNvPr id="26" name="Text 17"/>
          <p:cNvSpPr txBox="1"/>
          <p:nvPr/>
        </p:nvSpPr>
        <p:spPr>
          <a:xfrm>
            <a:off x="2553005" y="4572000"/>
            <a:ext cx="5106010" cy="667512"/>
          </a:xfrm>
          <a:prstGeom prst="rect">
            <a:avLst/>
          </a:prstGeom>
          <a:noFill/>
          <a:ln/>
        </p:spPr>
        <p:txBody>
          <a:bodyPr wrap="square" lIns="0" tIns="0" rIns="0" bIns="0" rtlCol="0" anchor="ctr"/>
          <a:lstStyle/>
          <a:p>
            <a:pPr algn="l" indent="0" marL="0">
              <a:buNone/>
            </a:pPr>
            <a:r>
              <a:rPr lang="en-US" sz="1800" dirty="0">
                <a:solidFill>
                  <a:srgbClr val="14213D"/>
                </a:solidFill>
                <a:latin typeface="Noto Sans KR" pitchFamily="34" charset="0"/>
                <a:ea typeface="Noto Sans KR" pitchFamily="34" charset="-122"/>
                <a:cs typeface="Noto Sans KR" pitchFamily="34" charset="-120"/>
              </a:rPr>
              <a:t>Ru liner 두께 / Co liner가 M3 CD 균일도와 전기 저항에 미치는 영향 평가</a:t>
            </a:r>
            <a:endParaRPr lang="en-US" sz="1800" dirty="0"/>
          </a:p>
        </p:txBody>
      </p:sp>
      <p:sp>
        <p:nvSpPr>
          <p:cNvPr id="27" name="Shape 18"/>
          <p:cNvSpPr/>
          <p:nvPr/>
        </p:nvSpPr>
        <p:spPr>
          <a:xfrm>
            <a:off x="1181405" y="5982005"/>
            <a:ext cx="6476695" cy="9144"/>
          </a:xfrm>
          <a:prstGeom prst="rect">
            <a:avLst/>
          </a:prstGeom>
          <a:solidFill>
            <a:srgbClr val="DCE3EE"/>
          </a:solidFill>
          <a:ln w="12700">
            <a:solidFill>
              <a:srgbClr val="DCE3EE">
                <a:alpha val="0"/>
              </a:srgbClr>
            </a:solidFill>
            <a:prstDash val="solid"/>
          </a:ln>
        </p:spPr>
      </p:sp>
      <p:sp>
        <p:nvSpPr>
          <p:cNvPr id="28" name="Text 19"/>
          <p:cNvSpPr txBox="1"/>
          <p:nvPr/>
        </p:nvSpPr>
        <p:spPr>
          <a:xfrm>
            <a:off x="1181405" y="5658307"/>
            <a:ext cx="1143000" cy="152705"/>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대상</a:t>
            </a:r>
            <a:endParaRPr lang="en-US" sz="825" dirty="0"/>
          </a:p>
        </p:txBody>
      </p:sp>
      <p:sp>
        <p:nvSpPr>
          <p:cNvPr id="29" name="Text 20"/>
          <p:cNvSpPr txBox="1"/>
          <p:nvPr/>
        </p:nvSpPr>
        <p:spPr>
          <a:xfrm>
            <a:off x="2553005" y="5514746"/>
            <a:ext cx="5106010" cy="333756"/>
          </a:xfrm>
          <a:prstGeom prst="rect">
            <a:avLst/>
          </a:prstGeom>
          <a:noFill/>
          <a:ln/>
        </p:spPr>
        <p:txBody>
          <a:bodyPr wrap="none" lIns="0" tIns="0" rIns="0" bIns="0" rtlCol="0" anchor="ctr"/>
          <a:lstStyle/>
          <a:p>
            <a:pPr algn="l" indent="0" marL="0">
              <a:buNone/>
            </a:pPr>
            <a:r>
              <a:rPr lang="en-US" sz="1800" dirty="0">
                <a:solidFill>
                  <a:srgbClr val="14213D"/>
                </a:solidFill>
                <a:latin typeface="Noto Sans KR" pitchFamily="34" charset="0"/>
                <a:ea typeface="Noto Sans KR" pitchFamily="34" charset="-122"/>
                <a:cs typeface="Noto Sans KR" pitchFamily="34" charset="-120"/>
              </a:rPr>
              <a:t>M3 라인 + M2-M3 Via, low-k IMD (k≈3.0)</a:t>
            </a:r>
            <a:endParaRPr lang="en-US" sz="1800" dirty="0"/>
          </a:p>
        </p:txBody>
      </p:sp>
      <p:sp>
        <p:nvSpPr>
          <p:cNvPr id="30" name="Shape 21"/>
          <p:cNvSpPr/>
          <p:nvPr/>
        </p:nvSpPr>
        <p:spPr>
          <a:xfrm>
            <a:off x="1181405" y="6591910"/>
            <a:ext cx="6476695" cy="9144"/>
          </a:xfrm>
          <a:prstGeom prst="rect">
            <a:avLst/>
          </a:prstGeom>
          <a:solidFill>
            <a:srgbClr val="DCE3EE"/>
          </a:solidFill>
          <a:ln w="12700">
            <a:solidFill>
              <a:srgbClr val="DCE3EE">
                <a:alpha val="0"/>
              </a:srgbClr>
            </a:solidFill>
            <a:prstDash val="solid"/>
          </a:ln>
        </p:spPr>
      </p:sp>
      <p:sp>
        <p:nvSpPr>
          <p:cNvPr id="31" name="Text 22"/>
          <p:cNvSpPr txBox="1"/>
          <p:nvPr/>
        </p:nvSpPr>
        <p:spPr>
          <a:xfrm>
            <a:off x="1181405" y="6286500"/>
            <a:ext cx="11430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wafer</a:t>
            </a:r>
            <a:endParaRPr lang="en-US" sz="825" dirty="0"/>
          </a:p>
        </p:txBody>
      </p:sp>
      <p:sp>
        <p:nvSpPr>
          <p:cNvPr id="32" name="Text 23"/>
          <p:cNvSpPr txBox="1"/>
          <p:nvPr/>
        </p:nvSpPr>
        <p:spPr>
          <a:xfrm>
            <a:off x="2553005" y="6124651"/>
            <a:ext cx="5106010" cy="333756"/>
          </a:xfrm>
          <a:prstGeom prst="rect">
            <a:avLst/>
          </a:prstGeom>
          <a:noFill/>
          <a:ln/>
        </p:spPr>
        <p:txBody>
          <a:bodyPr wrap="none" lIns="0" tIns="0" rIns="0" bIns="0" rtlCol="0" anchor="ctr"/>
          <a:lstStyle/>
          <a:p>
            <a:pPr algn="l" indent="0" marL="0">
              <a:buNone/>
            </a:pPr>
            <a:r>
              <a:rPr lang="en-US" sz="1800" dirty="0">
                <a:solidFill>
                  <a:srgbClr val="14213D"/>
                </a:solidFill>
                <a:latin typeface="Noto Sans KR" pitchFamily="34" charset="0"/>
                <a:ea typeface="Noto Sans KR" pitchFamily="34" charset="-122"/>
                <a:cs typeface="Noto Sans KR" pitchFamily="34" charset="-120"/>
              </a:rPr>
              <a:t>총 6매 / split당 2매 (300mm)</a:t>
            </a:r>
            <a:endParaRPr lang="en-US" sz="1800" dirty="0"/>
          </a:p>
        </p:txBody>
      </p:sp>
      <p:sp>
        <p:nvSpPr>
          <p:cNvPr id="33" name="Text 24"/>
          <p:cNvSpPr txBox="1"/>
          <p:nvPr/>
        </p:nvSpPr>
        <p:spPr>
          <a:xfrm>
            <a:off x="1181405" y="6877202"/>
            <a:ext cx="1143000" cy="152705"/>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측정</a:t>
            </a:r>
            <a:endParaRPr lang="en-US" sz="825" dirty="0"/>
          </a:p>
        </p:txBody>
      </p:sp>
      <p:sp>
        <p:nvSpPr>
          <p:cNvPr id="34" name="Text 25"/>
          <p:cNvSpPr txBox="1"/>
          <p:nvPr/>
        </p:nvSpPr>
        <p:spPr>
          <a:xfrm>
            <a:off x="2553005" y="6734556"/>
            <a:ext cx="5106010" cy="667512"/>
          </a:xfrm>
          <a:prstGeom prst="rect">
            <a:avLst/>
          </a:prstGeom>
          <a:noFill/>
          <a:ln/>
        </p:spPr>
        <p:txBody>
          <a:bodyPr wrap="square" lIns="0" tIns="0" rIns="0" bIns="0" rtlCol="0" anchor="ctr"/>
          <a:lstStyle/>
          <a:p>
            <a:pPr algn="l" indent="0" marL="0">
              <a:buNone/>
            </a:pPr>
            <a:r>
              <a:rPr lang="en-US" sz="1800" dirty="0">
                <a:solidFill>
                  <a:srgbClr val="14213D"/>
                </a:solidFill>
                <a:latin typeface="Noto Sans KR" pitchFamily="34" charset="0"/>
                <a:ea typeface="Noto Sans KR" pitchFamily="34" charset="-122"/>
                <a:cs typeface="Noto Sans KR" pitchFamily="34" charset="-120"/>
              </a:rPr>
              <a:t>CD-SEM (wafer당 69 site) · 단면 SEM/TEM · 전기 시험</a:t>
            </a:r>
            <a:endParaRPr lang="en-US" sz="1800" dirty="0"/>
          </a:p>
        </p:txBody>
      </p:sp>
      <p:sp>
        <p:nvSpPr>
          <p:cNvPr id="35" name="Text 26"/>
          <p:cNvSpPr txBox="1"/>
          <p:nvPr/>
        </p:nvSpPr>
        <p:spPr>
          <a:xfrm>
            <a:off x="8667598" y="3238805"/>
            <a:ext cx="8763610" cy="143561"/>
          </a:xfrm>
          <a:prstGeom prst="rect">
            <a:avLst/>
          </a:prstGeom>
          <a:noFill/>
          <a:ln/>
        </p:spPr>
        <p:txBody>
          <a:bodyPr wrap="none" lIns="0" tIns="0" rIns="0" bIns="0" rtlCol="0" anchor="ctr"/>
          <a:lstStyle/>
          <a:p>
            <a:pPr algn="l" indent="0" marL="0">
              <a:buNone/>
            </a:pPr>
            <a:r>
              <a:rPr lang="en-US" sz="900" b="1" spc="270" kern="0" dirty="0">
                <a:solidFill>
                  <a:srgbClr val="94A3B8"/>
                </a:solidFill>
                <a:latin typeface="Sora" pitchFamily="34" charset="0"/>
                <a:ea typeface="Sora" pitchFamily="34" charset="-122"/>
                <a:cs typeface="Sora" pitchFamily="34" charset="-120"/>
              </a:rPr>
              <a:t>PROCESS SPLIT</a:t>
            </a:r>
            <a:endParaRPr lang="en-US" sz="900" dirty="0"/>
          </a:p>
        </p:txBody>
      </p:sp>
      <p:sp>
        <p:nvSpPr>
          <p:cNvPr id="36" name="Text 27"/>
          <p:cNvSpPr txBox="1"/>
          <p:nvPr/>
        </p:nvSpPr>
        <p:spPr>
          <a:xfrm>
            <a:off x="8667598" y="3438144"/>
            <a:ext cx="8763610" cy="438912"/>
          </a:xfrm>
          <a:prstGeom prst="rect">
            <a:avLst/>
          </a:prstGeom>
          <a:noFill/>
          <a:ln/>
        </p:spPr>
        <p:txBody>
          <a:bodyPr wrap="none" lIns="0" tIns="0" rIns="0" bIns="0" rtlCol="0" anchor="ctr"/>
          <a:lstStyle/>
          <a:p>
            <a:pPr algn="l" indent="0" marL="0">
              <a:buNone/>
            </a:pPr>
            <a:r>
              <a:rPr lang="en-US" sz="2400" b="1" dirty="0">
                <a:solidFill>
                  <a:srgbClr val="14213D"/>
                </a:solidFill>
                <a:latin typeface="Noto Sans KR" pitchFamily="34" charset="0"/>
                <a:ea typeface="Noto Sans KR" pitchFamily="34" charset="-122"/>
                <a:cs typeface="Noto Sans KR" pitchFamily="34" charset="-120"/>
              </a:rPr>
              <a:t>3개 스플릿 조건</a:t>
            </a:r>
            <a:endParaRPr lang="en-US" sz="2400" dirty="0"/>
          </a:p>
        </p:txBody>
      </p:sp>
      <p:sp>
        <p:nvSpPr>
          <p:cNvPr id="37" name="Text 28"/>
          <p:cNvSpPr txBox="1"/>
          <p:nvPr/>
        </p:nvSpPr>
        <p:spPr>
          <a:xfrm>
            <a:off x="8991295" y="4324198"/>
            <a:ext cx="5715000" cy="162763"/>
          </a:xfrm>
          <a:prstGeom prst="rect">
            <a:avLst/>
          </a:prstGeom>
          <a:noFill/>
          <a:ln/>
        </p:spPr>
        <p:txBody>
          <a:bodyPr wrap="none" lIns="0" tIns="0" rIns="0" bIns="0" rtlCol="0" anchor="ctr"/>
          <a:lstStyle/>
          <a:p>
            <a:pPr algn="l" indent="0" marL="0">
              <a:buNone/>
            </a:pPr>
            <a:r>
              <a:rPr lang="en-US" sz="975" b="1" spc="195" kern="0" dirty="0">
                <a:solidFill>
                  <a:srgbClr val="1E5F9C"/>
                </a:solidFill>
                <a:latin typeface="Sora" pitchFamily="34" charset="0"/>
                <a:ea typeface="Sora" pitchFamily="34" charset="-122"/>
                <a:cs typeface="Sora" pitchFamily="34" charset="-120"/>
              </a:rPr>
              <a:t>CONDITION A</a:t>
            </a:r>
            <a:endParaRPr lang="en-US" sz="975" dirty="0"/>
          </a:p>
        </p:txBody>
      </p:sp>
      <p:sp>
        <p:nvSpPr>
          <p:cNvPr id="38" name="Text 29"/>
          <p:cNvSpPr txBox="1"/>
          <p:nvPr/>
        </p:nvSpPr>
        <p:spPr>
          <a:xfrm>
            <a:off x="8991295" y="4543654"/>
            <a:ext cx="5715000" cy="362102"/>
          </a:xfrm>
          <a:prstGeom prst="rect">
            <a:avLst/>
          </a:prstGeom>
          <a:noFill/>
          <a:ln/>
        </p:spPr>
        <p:txBody>
          <a:bodyPr wrap="none" lIns="0" tIns="0" rIns="0" bIns="0" rtlCol="0" anchor="ctr"/>
          <a:lstStyle/>
          <a:p>
            <a:pPr algn="l" indent="0" marL="0">
              <a:buNone/>
            </a:pPr>
            <a:r>
              <a:rPr lang="en-US" sz="2700" b="1" dirty="0">
                <a:solidFill>
                  <a:srgbClr val="14213D"/>
                </a:solidFill>
                <a:latin typeface="Noto Sans KR" pitchFamily="34" charset="0"/>
                <a:ea typeface="Noto Sans KR" pitchFamily="34" charset="-122"/>
                <a:cs typeface="Noto Sans KR" pitchFamily="34" charset="-120"/>
              </a:rPr>
              <a:t>Ru liner · 1 nm</a:t>
            </a:r>
            <a:endParaRPr lang="en-US" sz="2700" dirty="0"/>
          </a:p>
        </p:txBody>
      </p:sp>
      <p:sp>
        <p:nvSpPr>
          <p:cNvPr id="39" name="Text 30"/>
          <p:cNvSpPr txBox="1"/>
          <p:nvPr/>
        </p:nvSpPr>
        <p:spPr>
          <a:xfrm>
            <a:off x="8991295" y="4979822"/>
            <a:ext cx="5715000" cy="247802"/>
          </a:xfrm>
          <a:prstGeom prst="rect">
            <a:avLst/>
          </a:prstGeom>
          <a:noFill/>
          <a:ln/>
        </p:spPr>
        <p:txBody>
          <a:bodyPr wrap="non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ALD Ru / 기상 CVD 순 / 구리 PVD 시드</a:t>
            </a:r>
            <a:endParaRPr lang="en-US" sz="1350" dirty="0"/>
          </a:p>
        </p:txBody>
      </p:sp>
      <p:sp>
        <p:nvSpPr>
          <p:cNvPr id="40" name="Text 31"/>
          <p:cNvSpPr txBox="1"/>
          <p:nvPr/>
        </p:nvSpPr>
        <p:spPr>
          <a:xfrm>
            <a:off x="15335402" y="4419295"/>
            <a:ext cx="1905610" cy="438912"/>
          </a:xfrm>
          <a:prstGeom prst="rect">
            <a:avLst/>
          </a:prstGeom>
          <a:noFill/>
          <a:ln/>
        </p:spPr>
        <p:txBody>
          <a:bodyPr wrap="none" lIns="0" tIns="0" rIns="0" bIns="0" rtlCol="0" anchor="ctr"/>
          <a:lstStyle/>
          <a:p>
            <a:pPr algn="r" indent="0" marL="0">
              <a:buNone/>
            </a:pPr>
            <a:r>
              <a:rPr lang="en-US" sz="3450" b="1" dirty="0">
                <a:solidFill>
                  <a:srgbClr val="1E5F9C"/>
                </a:solidFill>
                <a:latin typeface="Sora" pitchFamily="34" charset="0"/>
                <a:ea typeface="Sora" pitchFamily="34" charset="-122"/>
                <a:cs typeface="Sora" pitchFamily="34" charset="-120"/>
              </a:rPr>
              <a:t>W01</a:t>
            </a:r>
            <a:endParaRPr lang="en-US" sz="3450" dirty="0"/>
          </a:p>
        </p:txBody>
      </p:sp>
      <p:sp>
        <p:nvSpPr>
          <p:cNvPr id="41" name="Text 32"/>
          <p:cNvSpPr txBox="1"/>
          <p:nvPr/>
        </p:nvSpPr>
        <p:spPr>
          <a:xfrm>
            <a:off x="15335402" y="4914900"/>
            <a:ext cx="1905610" cy="438912"/>
          </a:xfrm>
          <a:prstGeom prst="rect">
            <a:avLst/>
          </a:prstGeom>
          <a:noFill/>
          <a:ln/>
        </p:spPr>
        <p:txBody>
          <a:bodyPr wrap="none" lIns="0" tIns="0" rIns="0" bIns="0" rtlCol="0" anchor="ctr"/>
          <a:lstStyle/>
          <a:p>
            <a:pPr algn="r" indent="0" marL="0">
              <a:buNone/>
            </a:pPr>
            <a:r>
              <a:rPr lang="en-US" sz="3450" b="1" dirty="0">
                <a:solidFill>
                  <a:srgbClr val="1E5F9C"/>
                </a:solidFill>
                <a:latin typeface="Sora" pitchFamily="34" charset="0"/>
                <a:ea typeface="Sora" pitchFamily="34" charset="-122"/>
                <a:cs typeface="Sora" pitchFamily="34" charset="-120"/>
              </a:rPr>
              <a:t>W04</a:t>
            </a:r>
            <a:endParaRPr lang="en-US" sz="3450" dirty="0"/>
          </a:p>
        </p:txBody>
      </p:sp>
      <p:sp>
        <p:nvSpPr>
          <p:cNvPr id="42" name="Text 33"/>
          <p:cNvSpPr txBox="1"/>
          <p:nvPr/>
        </p:nvSpPr>
        <p:spPr>
          <a:xfrm>
            <a:off x="8991295" y="5800954"/>
            <a:ext cx="5715000" cy="162763"/>
          </a:xfrm>
          <a:prstGeom prst="rect">
            <a:avLst/>
          </a:prstGeom>
          <a:noFill/>
          <a:ln/>
        </p:spPr>
        <p:txBody>
          <a:bodyPr wrap="none" lIns="0" tIns="0" rIns="0" bIns="0" rtlCol="0" anchor="ctr"/>
          <a:lstStyle/>
          <a:p>
            <a:pPr algn="l" indent="0" marL="0">
              <a:buNone/>
            </a:pPr>
            <a:r>
              <a:rPr lang="en-US" sz="975" b="1" spc="195" kern="0" dirty="0">
                <a:solidFill>
                  <a:srgbClr val="4F86C0"/>
                </a:solidFill>
                <a:latin typeface="Sora" pitchFamily="34" charset="0"/>
                <a:ea typeface="Sora" pitchFamily="34" charset="-122"/>
                <a:cs typeface="Sora" pitchFamily="34" charset="-120"/>
              </a:rPr>
              <a:t>CONDITION B</a:t>
            </a:r>
            <a:endParaRPr lang="en-US" sz="975" dirty="0"/>
          </a:p>
        </p:txBody>
      </p:sp>
      <p:sp>
        <p:nvSpPr>
          <p:cNvPr id="43" name="Text 34"/>
          <p:cNvSpPr txBox="1"/>
          <p:nvPr/>
        </p:nvSpPr>
        <p:spPr>
          <a:xfrm>
            <a:off x="8991295" y="6019495"/>
            <a:ext cx="5715000" cy="362102"/>
          </a:xfrm>
          <a:prstGeom prst="rect">
            <a:avLst/>
          </a:prstGeom>
          <a:noFill/>
          <a:ln/>
        </p:spPr>
        <p:txBody>
          <a:bodyPr wrap="none" lIns="0" tIns="0" rIns="0" bIns="0" rtlCol="0" anchor="ctr"/>
          <a:lstStyle/>
          <a:p>
            <a:pPr algn="l" indent="0" marL="0">
              <a:buNone/>
            </a:pPr>
            <a:r>
              <a:rPr lang="en-US" sz="2700" b="1" dirty="0">
                <a:solidFill>
                  <a:srgbClr val="14213D"/>
                </a:solidFill>
                <a:latin typeface="Noto Sans KR" pitchFamily="34" charset="0"/>
                <a:ea typeface="Noto Sans KR" pitchFamily="34" charset="-122"/>
                <a:cs typeface="Noto Sans KR" pitchFamily="34" charset="-120"/>
              </a:rPr>
              <a:t>Ru liner · 2 nm</a:t>
            </a:r>
            <a:endParaRPr lang="en-US" sz="2700" dirty="0"/>
          </a:p>
        </p:txBody>
      </p:sp>
      <p:sp>
        <p:nvSpPr>
          <p:cNvPr id="44" name="Text 35"/>
          <p:cNvSpPr txBox="1"/>
          <p:nvPr/>
        </p:nvSpPr>
        <p:spPr>
          <a:xfrm>
            <a:off x="8991295" y="6455664"/>
            <a:ext cx="5715000" cy="247802"/>
          </a:xfrm>
          <a:prstGeom prst="rect">
            <a:avLst/>
          </a:prstGeom>
          <a:noFill/>
          <a:ln/>
        </p:spPr>
        <p:txBody>
          <a:bodyPr wrap="non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ALD Ru / 두께 2nm / 동일 시드</a:t>
            </a:r>
            <a:endParaRPr lang="en-US" sz="1350" dirty="0"/>
          </a:p>
        </p:txBody>
      </p:sp>
      <p:sp>
        <p:nvSpPr>
          <p:cNvPr id="45" name="Text 36"/>
          <p:cNvSpPr txBox="1"/>
          <p:nvPr/>
        </p:nvSpPr>
        <p:spPr>
          <a:xfrm>
            <a:off x="15335402" y="5896051"/>
            <a:ext cx="1905610" cy="438912"/>
          </a:xfrm>
          <a:prstGeom prst="rect">
            <a:avLst/>
          </a:prstGeom>
          <a:noFill/>
          <a:ln/>
        </p:spPr>
        <p:txBody>
          <a:bodyPr wrap="none" lIns="0" tIns="0" rIns="0" bIns="0" rtlCol="0" anchor="ctr"/>
          <a:lstStyle/>
          <a:p>
            <a:pPr algn="r" indent="0" marL="0">
              <a:buNone/>
            </a:pPr>
            <a:r>
              <a:rPr lang="en-US" sz="3450" b="1" dirty="0">
                <a:solidFill>
                  <a:srgbClr val="4F86C0"/>
                </a:solidFill>
                <a:latin typeface="Sora" pitchFamily="34" charset="0"/>
                <a:ea typeface="Sora" pitchFamily="34" charset="-122"/>
                <a:cs typeface="Sora" pitchFamily="34" charset="-120"/>
              </a:rPr>
              <a:t>W02</a:t>
            </a:r>
            <a:endParaRPr lang="en-US" sz="3450" dirty="0"/>
          </a:p>
        </p:txBody>
      </p:sp>
      <p:sp>
        <p:nvSpPr>
          <p:cNvPr id="46" name="Text 37"/>
          <p:cNvSpPr txBox="1"/>
          <p:nvPr/>
        </p:nvSpPr>
        <p:spPr>
          <a:xfrm>
            <a:off x="15335402" y="6391656"/>
            <a:ext cx="1905610" cy="438912"/>
          </a:xfrm>
          <a:prstGeom prst="rect">
            <a:avLst/>
          </a:prstGeom>
          <a:noFill/>
          <a:ln/>
        </p:spPr>
        <p:txBody>
          <a:bodyPr wrap="none" lIns="0" tIns="0" rIns="0" bIns="0" rtlCol="0" anchor="ctr"/>
          <a:lstStyle/>
          <a:p>
            <a:pPr algn="r" indent="0" marL="0">
              <a:buNone/>
            </a:pPr>
            <a:r>
              <a:rPr lang="en-US" sz="3450" b="1" dirty="0">
                <a:solidFill>
                  <a:srgbClr val="4F86C0"/>
                </a:solidFill>
                <a:latin typeface="Sora" pitchFamily="34" charset="0"/>
                <a:ea typeface="Sora" pitchFamily="34" charset="-122"/>
                <a:cs typeface="Sora" pitchFamily="34" charset="-120"/>
              </a:rPr>
              <a:t>W05</a:t>
            </a:r>
            <a:endParaRPr lang="en-US" sz="3450" dirty="0"/>
          </a:p>
        </p:txBody>
      </p:sp>
      <p:sp>
        <p:nvSpPr>
          <p:cNvPr id="47" name="Text 38"/>
          <p:cNvSpPr txBox="1"/>
          <p:nvPr/>
        </p:nvSpPr>
        <p:spPr>
          <a:xfrm>
            <a:off x="8991295" y="7276795"/>
            <a:ext cx="5715000" cy="162763"/>
          </a:xfrm>
          <a:prstGeom prst="rect">
            <a:avLst/>
          </a:prstGeom>
          <a:noFill/>
          <a:ln/>
        </p:spPr>
        <p:txBody>
          <a:bodyPr wrap="none" lIns="0" tIns="0" rIns="0" bIns="0" rtlCol="0" anchor="ctr"/>
          <a:lstStyle/>
          <a:p>
            <a:pPr algn="l" indent="0" marL="0">
              <a:buNone/>
            </a:pPr>
            <a:r>
              <a:rPr lang="en-US" sz="975" b="1" spc="195" kern="0" dirty="0">
                <a:solidFill>
                  <a:srgbClr val="6F7D94"/>
                </a:solidFill>
                <a:latin typeface="Sora" pitchFamily="34" charset="0"/>
                <a:ea typeface="Sora" pitchFamily="34" charset="-122"/>
                <a:cs typeface="Sora" pitchFamily="34" charset="-120"/>
              </a:rPr>
              <a:t>CONDITION C · BASELINE</a:t>
            </a:r>
            <a:endParaRPr lang="en-US" sz="975" dirty="0"/>
          </a:p>
        </p:txBody>
      </p:sp>
      <p:sp>
        <p:nvSpPr>
          <p:cNvPr id="48" name="Text 39"/>
          <p:cNvSpPr txBox="1"/>
          <p:nvPr/>
        </p:nvSpPr>
        <p:spPr>
          <a:xfrm>
            <a:off x="8991295" y="7496251"/>
            <a:ext cx="5715000" cy="362102"/>
          </a:xfrm>
          <a:prstGeom prst="rect">
            <a:avLst/>
          </a:prstGeom>
          <a:noFill/>
          <a:ln/>
        </p:spPr>
        <p:txBody>
          <a:bodyPr wrap="none" lIns="0" tIns="0" rIns="0" bIns="0" rtlCol="0" anchor="ctr"/>
          <a:lstStyle/>
          <a:p>
            <a:pPr algn="l" indent="0" marL="0">
              <a:buNone/>
            </a:pPr>
            <a:r>
              <a:rPr lang="en-US" sz="2700" b="1" dirty="0">
                <a:solidFill>
                  <a:srgbClr val="14213D"/>
                </a:solidFill>
                <a:latin typeface="Noto Sans KR" pitchFamily="34" charset="0"/>
                <a:ea typeface="Noto Sans KR" pitchFamily="34" charset="-122"/>
                <a:cs typeface="Noto Sans KR" pitchFamily="34" charset="-120"/>
              </a:rPr>
              <a:t>Co liner</a:t>
            </a:r>
            <a:endParaRPr lang="en-US" sz="2700" dirty="0"/>
          </a:p>
        </p:txBody>
      </p:sp>
      <p:sp>
        <p:nvSpPr>
          <p:cNvPr id="49" name="Text 40"/>
          <p:cNvSpPr txBox="1"/>
          <p:nvPr/>
        </p:nvSpPr>
        <p:spPr>
          <a:xfrm>
            <a:off x="8991295" y="7932420"/>
            <a:ext cx="5715000" cy="247802"/>
          </a:xfrm>
          <a:prstGeom prst="rect">
            <a:avLst/>
          </a:prstGeom>
          <a:noFill/>
          <a:ln/>
        </p:spPr>
        <p:txBody>
          <a:bodyPr wrap="non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PVD Co / 비교 기준 라인 (liner 미사용 아님)</a:t>
            </a:r>
            <a:endParaRPr lang="en-US" sz="1350" dirty="0"/>
          </a:p>
        </p:txBody>
      </p:sp>
      <p:sp>
        <p:nvSpPr>
          <p:cNvPr id="50" name="Text 41"/>
          <p:cNvSpPr txBox="1"/>
          <p:nvPr/>
        </p:nvSpPr>
        <p:spPr>
          <a:xfrm>
            <a:off x="15335402" y="7372807"/>
            <a:ext cx="1905610" cy="438912"/>
          </a:xfrm>
          <a:prstGeom prst="rect">
            <a:avLst/>
          </a:prstGeom>
          <a:noFill/>
          <a:ln/>
        </p:spPr>
        <p:txBody>
          <a:bodyPr wrap="none" lIns="0" tIns="0" rIns="0" bIns="0" rtlCol="0" anchor="ctr"/>
          <a:lstStyle/>
          <a:p>
            <a:pPr algn="r" indent="0" marL="0">
              <a:buNone/>
            </a:pPr>
            <a:r>
              <a:rPr lang="en-US" sz="3450" b="1" dirty="0">
                <a:solidFill>
                  <a:srgbClr val="6F7D94"/>
                </a:solidFill>
                <a:latin typeface="Sora" pitchFamily="34" charset="0"/>
                <a:ea typeface="Sora" pitchFamily="34" charset="-122"/>
                <a:cs typeface="Sora" pitchFamily="34" charset="-120"/>
              </a:rPr>
              <a:t>W03</a:t>
            </a:r>
            <a:endParaRPr lang="en-US" sz="3450" dirty="0"/>
          </a:p>
        </p:txBody>
      </p:sp>
      <p:sp>
        <p:nvSpPr>
          <p:cNvPr id="51" name="Text 42"/>
          <p:cNvSpPr txBox="1"/>
          <p:nvPr/>
        </p:nvSpPr>
        <p:spPr>
          <a:xfrm>
            <a:off x="15335402" y="7867498"/>
            <a:ext cx="1905610" cy="438912"/>
          </a:xfrm>
          <a:prstGeom prst="rect">
            <a:avLst/>
          </a:prstGeom>
          <a:noFill/>
          <a:ln/>
        </p:spPr>
        <p:txBody>
          <a:bodyPr wrap="none" lIns="0" tIns="0" rIns="0" bIns="0" rtlCol="0" anchor="ctr"/>
          <a:lstStyle/>
          <a:p>
            <a:pPr algn="r" indent="0" marL="0">
              <a:buNone/>
            </a:pPr>
            <a:r>
              <a:rPr lang="en-US" sz="3450" b="1" dirty="0">
                <a:solidFill>
                  <a:srgbClr val="6F7D94"/>
                </a:solidFill>
                <a:latin typeface="Sora" pitchFamily="34" charset="0"/>
                <a:ea typeface="Sora" pitchFamily="34" charset="-122"/>
                <a:cs typeface="Sora" pitchFamily="34" charset="-120"/>
              </a:rPr>
              <a:t>W06</a:t>
            </a:r>
            <a:endParaRPr lang="en-US" sz="3450" dirty="0"/>
          </a:p>
        </p:txBody>
      </p:sp>
      <p:sp>
        <p:nvSpPr>
          <p:cNvPr id="52" name="Text 43"/>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53" name="Image 6" descr="gen-dedup-a95c956e3bd879e41d2e7daca8566398.png">    </p:cNvPr>
          <p:cNvPicPr>
            <a:picLocks noChangeAspect="1"/>
          </p:cNvPicPr>
          <p:nvPr/>
        </p:nvPicPr>
        <p:blipFill>
          <a:blip r:embed="rId7"/>
          <a:srcRect l="-2083" r="-2083" t="0" b="0"/>
          <a:stretch/>
        </p:blipFill>
        <p:spPr>
          <a:xfrm>
            <a:off x="2656332" y="9096451"/>
            <a:ext cx="571500" cy="9144"/>
          </a:xfrm>
          <a:prstGeom prst="rect">
            <a:avLst/>
          </a:prstGeom>
        </p:spPr>
      </p:pic>
      <p:sp>
        <p:nvSpPr>
          <p:cNvPr id="54" name="Text 44"/>
          <p:cNvSpPr txBox="1"/>
          <p:nvPr/>
        </p:nvSpPr>
        <p:spPr>
          <a:xfrm>
            <a:off x="3456432" y="8934602"/>
            <a:ext cx="12617806"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3개 스플릿 × 2 wafer씩 총 6매 — Ru 두께 효과가 균일도와 라인 Rs에 모두 반영되도록 측정 범위를 광역화했다.</a:t>
            </a:r>
            <a:endParaRPr lang="en-US" sz="1800" dirty="0"/>
          </a:p>
        </p:txBody>
      </p:sp>
      <p:sp>
        <p:nvSpPr>
          <p:cNvPr id="55" name="Text 45"/>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56" name="Text 46"/>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3143707"/>
            <a:ext cx="3429000" cy="2286000"/>
          </a:xfrm>
          <a:prstGeom prst="rect">
            <a:avLst/>
          </a:prstGeom>
          <a:solidFill>
            <a:srgbClr val="FFFFFF"/>
          </a:solidFill>
          <a:ln w="12700">
            <a:solidFill>
              <a:srgbClr val="C8D3E2"/>
            </a:solidFill>
            <a:prstDash val="solid"/>
          </a:ln>
        </p:spPr>
      </p:sp>
      <p:sp>
        <p:nvSpPr>
          <p:cNvPr id="5" name="Shape 1"/>
          <p:cNvSpPr/>
          <p:nvPr/>
        </p:nvSpPr>
        <p:spPr>
          <a:xfrm>
            <a:off x="4572000" y="3143707"/>
            <a:ext cx="3429000" cy="2286000"/>
          </a:xfrm>
          <a:prstGeom prst="rect">
            <a:avLst/>
          </a:prstGeom>
          <a:solidFill>
            <a:srgbClr val="FFFFFF"/>
          </a:solidFill>
          <a:ln w="12700">
            <a:solidFill>
              <a:srgbClr val="C8D3E2"/>
            </a:solidFill>
            <a:prstDash val="solid"/>
          </a:ln>
        </p:spPr>
      </p:sp>
      <p:sp>
        <p:nvSpPr>
          <p:cNvPr id="6" name="Shape 2"/>
          <p:cNvSpPr/>
          <p:nvPr/>
        </p:nvSpPr>
        <p:spPr>
          <a:xfrm>
            <a:off x="8287207" y="3143707"/>
            <a:ext cx="3429000" cy="2286000"/>
          </a:xfrm>
          <a:prstGeom prst="rect">
            <a:avLst/>
          </a:prstGeom>
          <a:solidFill>
            <a:srgbClr val="FFFFFF"/>
          </a:solidFill>
          <a:ln w="12700">
            <a:solidFill>
              <a:srgbClr val="C8D3E2"/>
            </a:solidFill>
            <a:prstDash val="solid"/>
          </a:ln>
        </p:spPr>
      </p:sp>
      <p:sp>
        <p:nvSpPr>
          <p:cNvPr id="7" name="Shape 3"/>
          <p:cNvSpPr/>
          <p:nvPr/>
        </p:nvSpPr>
        <p:spPr>
          <a:xfrm>
            <a:off x="857707" y="5715000"/>
            <a:ext cx="3429000" cy="2286000"/>
          </a:xfrm>
          <a:prstGeom prst="rect">
            <a:avLst/>
          </a:prstGeom>
          <a:solidFill>
            <a:srgbClr val="FFFFFF"/>
          </a:solidFill>
          <a:ln w="12700">
            <a:solidFill>
              <a:srgbClr val="C8D3E2"/>
            </a:solidFill>
            <a:prstDash val="solid"/>
          </a:ln>
        </p:spPr>
      </p:sp>
      <p:sp>
        <p:nvSpPr>
          <p:cNvPr id="8" name="Shape 4"/>
          <p:cNvSpPr/>
          <p:nvPr/>
        </p:nvSpPr>
        <p:spPr>
          <a:xfrm>
            <a:off x="4572000" y="5715000"/>
            <a:ext cx="3429000" cy="2286000"/>
          </a:xfrm>
          <a:prstGeom prst="rect">
            <a:avLst/>
          </a:prstGeom>
          <a:solidFill>
            <a:srgbClr val="FFFFFF"/>
          </a:solidFill>
          <a:ln w="12700">
            <a:solidFill>
              <a:srgbClr val="C8D3E2"/>
            </a:solidFill>
            <a:prstDash val="solid"/>
          </a:ln>
        </p:spPr>
      </p:sp>
      <p:sp>
        <p:nvSpPr>
          <p:cNvPr id="9" name="Shape 5"/>
          <p:cNvSpPr/>
          <p:nvPr/>
        </p:nvSpPr>
        <p:spPr>
          <a:xfrm>
            <a:off x="8287207" y="5715000"/>
            <a:ext cx="3429000" cy="2286000"/>
          </a:xfrm>
          <a:prstGeom prst="rect">
            <a:avLst/>
          </a:prstGeom>
          <a:solidFill>
            <a:srgbClr val="FFFFFF"/>
          </a:solidFill>
          <a:ln w="12700">
            <a:solidFill>
              <a:srgbClr val="C8D3E2"/>
            </a:solidFill>
            <a:prstDash val="solid"/>
          </a:ln>
        </p:spPr>
      </p:sp>
      <p:sp>
        <p:nvSpPr>
          <p:cNvPr id="10" name="Shape 6"/>
          <p:cNvSpPr/>
          <p:nvPr/>
        </p:nvSpPr>
        <p:spPr>
          <a:xfrm>
            <a:off x="12287707" y="3143707"/>
            <a:ext cx="5143500" cy="4858207"/>
          </a:xfrm>
          <a:prstGeom prst="rect">
            <a:avLst/>
          </a:prstGeom>
          <a:solidFill>
            <a:srgbClr val="FFFFFF"/>
          </a:solidFill>
          <a:ln w="12700">
            <a:solidFill>
              <a:srgbClr val="C8D3E2"/>
            </a:solidFill>
            <a:prstDash val="solid"/>
          </a:ln>
        </p:spPr>
      </p:sp>
      <p:pic>
        <p:nvPicPr>
          <p:cNvPr id="11" name="Image 1" descr="gen-dedup-c2ef8ddeb515069e78aad82973d5baa8.png">    </p:cNvPr>
          <p:cNvPicPr>
            <a:picLocks noChangeAspect="1"/>
          </p:cNvPicPr>
          <p:nvPr/>
        </p:nvPicPr>
        <p:blipFill>
          <a:blip r:embed="rId2"/>
          <a:srcRect l="-201" r="-201" t="0" b="0"/>
          <a:stretch/>
        </p:blipFill>
        <p:spPr>
          <a:xfrm>
            <a:off x="857707" y="3143707"/>
            <a:ext cx="3429000" cy="75895"/>
          </a:xfrm>
          <a:prstGeom prst="rect">
            <a:avLst/>
          </a:prstGeom>
        </p:spPr>
      </p:pic>
      <p:pic>
        <p:nvPicPr>
          <p:cNvPr id="12" name="Image 2" descr="gen-dedup-5b75a66aae94e01ea42a8fd2727c5653.png">    </p:cNvPr>
          <p:cNvPicPr>
            <a:picLocks noChangeAspect="1"/>
          </p:cNvPicPr>
          <p:nvPr/>
        </p:nvPicPr>
        <p:blipFill>
          <a:blip r:embed="rId3"/>
          <a:srcRect l="-201" r="-201" t="0" b="0"/>
          <a:stretch/>
        </p:blipFill>
        <p:spPr>
          <a:xfrm>
            <a:off x="4572000" y="3143707"/>
            <a:ext cx="3429000" cy="75895"/>
          </a:xfrm>
          <a:prstGeom prst="rect">
            <a:avLst/>
          </a:prstGeom>
        </p:spPr>
      </p:pic>
      <p:pic>
        <p:nvPicPr>
          <p:cNvPr id="13" name="Image 3" descr="gen-dedup-807fc4d74e75cc2476d2eb45e2b44f88.png">    </p:cNvPr>
          <p:cNvPicPr>
            <a:picLocks noChangeAspect="1"/>
          </p:cNvPicPr>
          <p:nvPr/>
        </p:nvPicPr>
        <p:blipFill>
          <a:blip r:embed="rId4"/>
          <a:srcRect l="-201" r="-201" t="0" b="0"/>
          <a:stretch/>
        </p:blipFill>
        <p:spPr>
          <a:xfrm>
            <a:off x="8287207" y="3143707"/>
            <a:ext cx="3429000" cy="75895"/>
          </a:xfrm>
          <a:prstGeom prst="rect">
            <a:avLst/>
          </a:prstGeom>
        </p:spPr>
      </p:pic>
      <p:pic>
        <p:nvPicPr>
          <p:cNvPr id="14" name="Image 4" descr="gen-dedup-c2ef8ddeb515069e78aad82973d5baa8.png">    </p:cNvPr>
          <p:cNvPicPr>
            <a:picLocks noChangeAspect="1"/>
          </p:cNvPicPr>
          <p:nvPr/>
        </p:nvPicPr>
        <p:blipFill>
          <a:blip r:embed="rId5"/>
          <a:srcRect l="-201" r="-201" t="0" b="0"/>
          <a:stretch/>
        </p:blipFill>
        <p:spPr>
          <a:xfrm>
            <a:off x="857707" y="5715000"/>
            <a:ext cx="3429000" cy="75895"/>
          </a:xfrm>
          <a:prstGeom prst="rect">
            <a:avLst/>
          </a:prstGeom>
        </p:spPr>
      </p:pic>
      <p:pic>
        <p:nvPicPr>
          <p:cNvPr id="15" name="Image 5" descr="gen-dedup-5b75a66aae94e01ea42a8fd2727c5653.png">    </p:cNvPr>
          <p:cNvPicPr>
            <a:picLocks noChangeAspect="1"/>
          </p:cNvPicPr>
          <p:nvPr/>
        </p:nvPicPr>
        <p:blipFill>
          <a:blip r:embed="rId6"/>
          <a:srcRect l="-201" r="-201" t="0" b="0"/>
          <a:stretch/>
        </p:blipFill>
        <p:spPr>
          <a:xfrm>
            <a:off x="4572000" y="5715000"/>
            <a:ext cx="3429000" cy="75895"/>
          </a:xfrm>
          <a:prstGeom prst="rect">
            <a:avLst/>
          </a:prstGeom>
        </p:spPr>
      </p:pic>
      <p:pic>
        <p:nvPicPr>
          <p:cNvPr id="16" name="Image 6" descr="gen-dedup-807fc4d74e75cc2476d2eb45e2b44f88.png">    </p:cNvPr>
          <p:cNvPicPr>
            <a:picLocks noChangeAspect="1"/>
          </p:cNvPicPr>
          <p:nvPr/>
        </p:nvPicPr>
        <p:blipFill>
          <a:blip r:embed="rId7"/>
          <a:srcRect l="-201" r="-201" t="0" b="0"/>
          <a:stretch/>
        </p:blipFill>
        <p:spPr>
          <a:xfrm>
            <a:off x="8287207" y="5715000"/>
            <a:ext cx="3429000" cy="75895"/>
          </a:xfrm>
          <a:prstGeom prst="rect">
            <a:avLst/>
          </a:prstGeom>
        </p:spPr>
      </p:pic>
      <p:sp>
        <p:nvSpPr>
          <p:cNvPr id="17" name="Shape 7"/>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18" name="Image 7" descr="gen-dedup-3c3f0190f3348a605df0239cea9995bf.png">    </p:cNvPr>
          <p:cNvPicPr>
            <a:picLocks noChangeAspect="1"/>
          </p:cNvPicPr>
          <p:nvPr/>
        </p:nvPicPr>
        <p:blipFill>
          <a:blip r:embed="rId8"/>
          <a:srcRect l="-2083" r="-2083" t="0" b="0"/>
          <a:stretch/>
        </p:blipFill>
        <p:spPr>
          <a:xfrm>
            <a:off x="0" y="9562795"/>
            <a:ext cx="18288000" cy="9144"/>
          </a:xfrm>
          <a:prstGeom prst="rect">
            <a:avLst/>
          </a:prstGeom>
        </p:spPr>
      </p:pic>
      <p:pic>
        <p:nvPicPr>
          <p:cNvPr id="19" name="Image 8" descr="gen-dedup-12d7cb0a28bbcaca3e8d32c19dc56a81.png">    </p:cNvPr>
          <p:cNvPicPr>
            <a:picLocks noChangeAspect="1"/>
          </p:cNvPicPr>
          <p:nvPr/>
        </p:nvPicPr>
        <p:blipFill>
          <a:blip r:embed="rId9"/>
          <a:srcRect l="0" r="0" t="-424" b="-424"/>
          <a:stretch/>
        </p:blipFill>
        <p:spPr>
          <a:xfrm>
            <a:off x="857707" y="657454"/>
            <a:ext cx="323698" cy="19202"/>
          </a:xfrm>
          <a:prstGeom prst="rect">
            <a:avLst/>
          </a:prstGeom>
        </p:spPr>
      </p:pic>
      <p:sp>
        <p:nvSpPr>
          <p:cNvPr id="20" name="Text 8"/>
          <p:cNvSpPr txBox="1"/>
          <p:nvPr/>
        </p:nvSpPr>
        <p:spPr>
          <a:xfrm>
            <a:off x="1314907" y="571500"/>
            <a:ext cx="2495398" cy="191110"/>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02 · 샘플 매트릭스</a:t>
            </a:r>
            <a:endParaRPr lang="en-US" sz="1050" dirty="0"/>
          </a:p>
        </p:txBody>
      </p:sp>
      <p:sp>
        <p:nvSpPr>
          <p:cNvPr id="21" name="Shape 9"/>
          <p:cNvSpPr/>
          <p:nvPr/>
        </p:nvSpPr>
        <p:spPr>
          <a:xfrm>
            <a:off x="16799357" y="566928"/>
            <a:ext cx="57607" cy="57607"/>
          </a:xfrm>
          <a:prstGeom prst="ellipse">
            <a:avLst/>
          </a:prstGeom>
          <a:solidFill>
            <a:srgbClr val="1E5F9C"/>
          </a:solidFill>
          <a:ln w="12700">
            <a:solidFill>
              <a:srgbClr val="FFFFFF">
                <a:alpha val="0"/>
              </a:srgbClr>
            </a:solidFill>
            <a:prstDash val="solid"/>
          </a:ln>
        </p:spPr>
      </p:sp>
      <p:sp>
        <p:nvSpPr>
          <p:cNvPr id="22" name="Text 10"/>
          <p:cNvSpPr txBox="1"/>
          <p:nvPr/>
        </p:nvSpPr>
        <p:spPr>
          <a:xfrm>
            <a:off x="16741750" y="514807"/>
            <a:ext cx="790956"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02 / 12</a:t>
            </a:r>
            <a:endParaRPr lang="en-US" sz="975" dirty="0"/>
          </a:p>
        </p:txBody>
      </p:sp>
      <p:sp>
        <p:nvSpPr>
          <p:cNvPr id="23" name="Text 11"/>
          <p:cNvSpPr txBox="1"/>
          <p:nvPr/>
        </p:nvSpPr>
        <p:spPr>
          <a:xfrm>
            <a:off x="838505" y="1143000"/>
            <a:ext cx="1428750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샘플 매트릭스</a:t>
            </a:r>
            <a:endParaRPr lang="en-US" sz="4500" dirty="0"/>
          </a:p>
        </p:txBody>
      </p:sp>
      <p:sp>
        <p:nvSpPr>
          <p:cNvPr id="24" name="Text 12"/>
          <p:cNvSpPr txBox="1"/>
          <p:nvPr/>
        </p:nvSpPr>
        <p:spPr>
          <a:xfrm>
            <a:off x="838505" y="1876349"/>
            <a:ext cx="1428750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6 wafer의 lot 위치 / split 배정 / 측정 lot site — 좌측은 in-line 공정 히스토리, 우측은 평가 lot의 분포를 보여준다.</a:t>
            </a:r>
            <a:endParaRPr lang="en-US" sz="1650" dirty="0"/>
          </a:p>
        </p:txBody>
      </p:sp>
      <p:sp>
        <p:nvSpPr>
          <p:cNvPr id="25" name="Text 13"/>
          <p:cNvSpPr txBox="1"/>
          <p:nvPr/>
        </p:nvSpPr>
        <p:spPr>
          <a:xfrm>
            <a:off x="857707" y="2676449"/>
            <a:ext cx="848563" cy="143561"/>
          </a:xfrm>
          <a:prstGeom prst="rect">
            <a:avLst/>
          </a:prstGeom>
          <a:noFill/>
          <a:ln/>
        </p:spPr>
        <p:txBody>
          <a:bodyPr wrap="none" lIns="0" tIns="0" rIns="0" bIns="0" rtlCol="0" anchor="ctr"/>
          <a:lstStyle/>
          <a:p>
            <a:pPr algn="l" indent="0" marL="0">
              <a:buNone/>
            </a:pPr>
            <a:r>
              <a:rPr lang="en-US" sz="900" b="1" spc="234" kern="0" dirty="0">
                <a:solidFill>
                  <a:srgbClr val="94A3B8"/>
                </a:solidFill>
                <a:latin typeface="Sora" pitchFamily="34" charset="0"/>
                <a:ea typeface="Sora" pitchFamily="34" charset="-122"/>
                <a:cs typeface="Sora" pitchFamily="34" charset="-120"/>
              </a:rPr>
              <a:t>6 WAFERS</a:t>
            </a:r>
            <a:endParaRPr lang="en-US" sz="900" dirty="0"/>
          </a:p>
        </p:txBody>
      </p:sp>
      <p:pic>
        <p:nvPicPr>
          <p:cNvPr id="26" name="Image 9" descr="gen-dedup-e2c1c7ba0665fc6befdeca5ffd5f6bf0.png">    </p:cNvPr>
          <p:cNvPicPr>
            <a:picLocks noChangeAspect="1"/>
          </p:cNvPicPr>
          <p:nvPr/>
        </p:nvPicPr>
        <p:blipFill>
          <a:blip r:embed="rId10"/>
          <a:srcRect l="-2083" r="-2083" t="0" b="0"/>
          <a:stretch/>
        </p:blipFill>
        <p:spPr>
          <a:xfrm>
            <a:off x="1829714" y="2781605"/>
            <a:ext cx="571500" cy="9144"/>
          </a:xfrm>
          <a:prstGeom prst="rect">
            <a:avLst/>
          </a:prstGeom>
        </p:spPr>
      </p:pic>
      <p:sp>
        <p:nvSpPr>
          <p:cNvPr id="27" name="Text 14"/>
          <p:cNvSpPr txBox="1"/>
          <p:nvPr/>
        </p:nvSpPr>
        <p:spPr>
          <a:xfrm>
            <a:off x="2534717" y="2590495"/>
            <a:ext cx="3521354" cy="247802"/>
          </a:xfrm>
          <a:prstGeom prst="rect">
            <a:avLst/>
          </a:prstGeom>
          <a:noFill/>
          <a:ln/>
        </p:spPr>
        <p:txBody>
          <a:bodyPr wrap="non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3 split × 2 wafer / wafer ID와 lot 슬롯</a:t>
            </a:r>
            <a:endParaRPr lang="en-US" sz="1350" dirty="0"/>
          </a:p>
        </p:txBody>
      </p:sp>
      <p:sp>
        <p:nvSpPr>
          <p:cNvPr id="28" name="Text 15"/>
          <p:cNvSpPr txBox="1"/>
          <p:nvPr/>
        </p:nvSpPr>
        <p:spPr>
          <a:xfrm>
            <a:off x="1086307" y="3448202"/>
            <a:ext cx="1000354" cy="438912"/>
          </a:xfrm>
          <a:prstGeom prst="rect">
            <a:avLst/>
          </a:prstGeom>
          <a:noFill/>
          <a:ln/>
        </p:spPr>
        <p:txBody>
          <a:bodyPr wrap="none" lIns="0" tIns="0" rIns="0" bIns="0" rtlCol="0" anchor="ctr"/>
          <a:lstStyle/>
          <a:p>
            <a:pPr algn="l" indent="0" marL="0">
              <a:buNone/>
            </a:pPr>
            <a:r>
              <a:rPr lang="en-US" sz="3450" b="1" dirty="0">
                <a:solidFill>
                  <a:srgbClr val="1E5F9C"/>
                </a:solidFill>
                <a:latin typeface="Sora" pitchFamily="34" charset="0"/>
                <a:ea typeface="Sora" pitchFamily="34" charset="-122"/>
                <a:cs typeface="Sora" pitchFamily="34" charset="-120"/>
              </a:rPr>
              <a:t>W01</a:t>
            </a:r>
            <a:endParaRPr lang="en-US" sz="3450" dirty="0"/>
          </a:p>
        </p:txBody>
      </p:sp>
      <p:sp>
        <p:nvSpPr>
          <p:cNvPr id="29" name="Text 16"/>
          <p:cNvSpPr txBox="1"/>
          <p:nvPr/>
        </p:nvSpPr>
        <p:spPr>
          <a:xfrm>
            <a:off x="3348533" y="3715207"/>
            <a:ext cx="600761" cy="133502"/>
          </a:xfrm>
          <a:prstGeom prst="rect">
            <a:avLst/>
          </a:prstGeom>
          <a:noFill/>
          <a:ln/>
        </p:spPr>
        <p:txBody>
          <a:bodyPr wrap="none" lIns="0" tIns="0" rIns="0" bIns="0" rtlCol="0" anchor="ctr"/>
          <a:lstStyle/>
          <a:p>
            <a:pPr algn="l" indent="0" marL="0">
              <a:buNone/>
            </a:pPr>
            <a:r>
              <a:rPr lang="en-US" sz="825" b="1" spc="165" kern="0" dirty="0">
                <a:solidFill>
                  <a:srgbClr val="94A3B8"/>
                </a:solidFill>
                <a:latin typeface="Sora" pitchFamily="34" charset="0"/>
                <a:ea typeface="Sora" pitchFamily="34" charset="-122"/>
                <a:cs typeface="Sora" pitchFamily="34" charset="-120"/>
              </a:rPr>
              <a:t>SLOT 03</a:t>
            </a:r>
            <a:endParaRPr lang="en-US" sz="825" dirty="0"/>
          </a:p>
        </p:txBody>
      </p:sp>
      <p:sp>
        <p:nvSpPr>
          <p:cNvPr id="30" name="Text 17"/>
          <p:cNvSpPr txBox="1"/>
          <p:nvPr/>
        </p:nvSpPr>
        <p:spPr>
          <a:xfrm>
            <a:off x="1086307" y="4058107"/>
            <a:ext cx="285750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Ru liner · 1 nm</a:t>
            </a:r>
            <a:endParaRPr lang="en-US" sz="1800" dirty="0"/>
          </a:p>
        </p:txBody>
      </p:sp>
      <p:sp>
        <p:nvSpPr>
          <p:cNvPr id="31" name="Text 18"/>
          <p:cNvSpPr txBox="1"/>
          <p:nvPr/>
        </p:nvSpPr>
        <p:spPr>
          <a:xfrm>
            <a:off x="1086307" y="4524451"/>
            <a:ext cx="9144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SPLIT</a:t>
            </a:r>
            <a:endParaRPr lang="en-US" sz="825" dirty="0"/>
          </a:p>
        </p:txBody>
      </p:sp>
      <p:sp>
        <p:nvSpPr>
          <p:cNvPr id="32" name="Text 19"/>
          <p:cNvSpPr txBox="1"/>
          <p:nvPr/>
        </p:nvSpPr>
        <p:spPr>
          <a:xfrm>
            <a:off x="1086307" y="4714646"/>
            <a:ext cx="1088136" cy="247802"/>
          </a:xfrm>
          <a:prstGeom prst="rect">
            <a:avLst/>
          </a:prstGeom>
          <a:noFill/>
          <a:ln/>
        </p:spPr>
        <p:txBody>
          <a:bodyPr wrap="none" lIns="0" tIns="0" rIns="0" bIns="0" rtlCol="0" anchor="ctr"/>
          <a:lstStyle/>
          <a:p>
            <a:pPr algn="l" indent="0" marL="0">
              <a:buNone/>
            </a:pPr>
            <a:r>
              <a:rPr lang="en-US" sz="1350" b="1" dirty="0">
                <a:solidFill>
                  <a:srgbClr val="1E5F9C"/>
                </a:solidFill>
                <a:latin typeface="Noto Sans KR" pitchFamily="34" charset="0"/>
                <a:ea typeface="Noto Sans KR" pitchFamily="34" charset="-122"/>
                <a:cs typeface="Noto Sans KR" pitchFamily="34" charset="-120"/>
              </a:rPr>
              <a:t>A · Ru 1nm</a:t>
            </a:r>
            <a:endParaRPr lang="en-US" sz="1350" dirty="0"/>
          </a:p>
        </p:txBody>
      </p:sp>
      <p:sp>
        <p:nvSpPr>
          <p:cNvPr id="33" name="Text 20"/>
          <p:cNvSpPr txBox="1"/>
          <p:nvPr/>
        </p:nvSpPr>
        <p:spPr>
          <a:xfrm>
            <a:off x="2226564" y="4524451"/>
            <a:ext cx="87691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PASS</a:t>
            </a:r>
            <a:endParaRPr lang="en-US" sz="825" dirty="0"/>
          </a:p>
        </p:txBody>
      </p:sp>
      <p:sp>
        <p:nvSpPr>
          <p:cNvPr id="34" name="Text 21"/>
          <p:cNvSpPr txBox="1"/>
          <p:nvPr/>
        </p:nvSpPr>
        <p:spPr>
          <a:xfrm>
            <a:off x="2226564" y="4714646"/>
            <a:ext cx="99212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W2P6 · OK</a:t>
            </a:r>
            <a:endParaRPr lang="en-US" sz="1350" dirty="0"/>
          </a:p>
        </p:txBody>
      </p:sp>
      <p:sp>
        <p:nvSpPr>
          <p:cNvPr id="35" name="Text 22"/>
          <p:cNvSpPr txBox="1"/>
          <p:nvPr/>
        </p:nvSpPr>
        <p:spPr>
          <a:xfrm>
            <a:off x="3330245" y="4524451"/>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SITES</a:t>
            </a:r>
            <a:endParaRPr lang="en-US" sz="825" dirty="0"/>
          </a:p>
        </p:txBody>
      </p:sp>
      <p:sp>
        <p:nvSpPr>
          <p:cNvPr id="36" name="Text 23"/>
          <p:cNvSpPr txBox="1"/>
          <p:nvPr/>
        </p:nvSpPr>
        <p:spPr>
          <a:xfrm>
            <a:off x="3330245" y="4714646"/>
            <a:ext cx="68031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69 / 69</a:t>
            </a:r>
            <a:endParaRPr lang="en-US" sz="1350" dirty="0"/>
          </a:p>
        </p:txBody>
      </p:sp>
      <p:sp>
        <p:nvSpPr>
          <p:cNvPr id="37" name="Text 24"/>
          <p:cNvSpPr txBox="1"/>
          <p:nvPr/>
        </p:nvSpPr>
        <p:spPr>
          <a:xfrm>
            <a:off x="4800600" y="3448202"/>
            <a:ext cx="1086307" cy="438912"/>
          </a:xfrm>
          <a:prstGeom prst="rect">
            <a:avLst/>
          </a:prstGeom>
          <a:noFill/>
          <a:ln/>
        </p:spPr>
        <p:txBody>
          <a:bodyPr wrap="none" lIns="0" tIns="0" rIns="0" bIns="0" rtlCol="0" anchor="ctr"/>
          <a:lstStyle/>
          <a:p>
            <a:pPr algn="l" indent="0" marL="0">
              <a:buNone/>
            </a:pPr>
            <a:r>
              <a:rPr lang="en-US" sz="3450" b="1" dirty="0">
                <a:solidFill>
                  <a:srgbClr val="4F86C0"/>
                </a:solidFill>
                <a:latin typeface="Sora" pitchFamily="34" charset="0"/>
                <a:ea typeface="Sora" pitchFamily="34" charset="-122"/>
                <a:cs typeface="Sora" pitchFamily="34" charset="-120"/>
              </a:rPr>
              <a:t>W02</a:t>
            </a:r>
            <a:endParaRPr lang="en-US" sz="3450" dirty="0"/>
          </a:p>
        </p:txBody>
      </p:sp>
      <p:sp>
        <p:nvSpPr>
          <p:cNvPr id="38" name="Text 25"/>
          <p:cNvSpPr txBox="1"/>
          <p:nvPr/>
        </p:nvSpPr>
        <p:spPr>
          <a:xfrm>
            <a:off x="7060082" y="3715207"/>
            <a:ext cx="600761" cy="133502"/>
          </a:xfrm>
          <a:prstGeom prst="rect">
            <a:avLst/>
          </a:prstGeom>
          <a:noFill/>
          <a:ln/>
        </p:spPr>
        <p:txBody>
          <a:bodyPr wrap="none" lIns="0" tIns="0" rIns="0" bIns="0" rtlCol="0" anchor="ctr"/>
          <a:lstStyle/>
          <a:p>
            <a:pPr algn="l" indent="0" marL="0">
              <a:buNone/>
            </a:pPr>
            <a:r>
              <a:rPr lang="en-US" sz="825" b="1" spc="165" kern="0" dirty="0">
                <a:solidFill>
                  <a:srgbClr val="94A3B8"/>
                </a:solidFill>
                <a:latin typeface="Sora" pitchFamily="34" charset="0"/>
                <a:ea typeface="Sora" pitchFamily="34" charset="-122"/>
                <a:cs typeface="Sora" pitchFamily="34" charset="-120"/>
              </a:rPr>
              <a:t>SLOT 08</a:t>
            </a:r>
            <a:endParaRPr lang="en-US" sz="825" dirty="0"/>
          </a:p>
        </p:txBody>
      </p:sp>
      <p:sp>
        <p:nvSpPr>
          <p:cNvPr id="39" name="Text 26"/>
          <p:cNvSpPr txBox="1"/>
          <p:nvPr/>
        </p:nvSpPr>
        <p:spPr>
          <a:xfrm>
            <a:off x="4800600" y="4058107"/>
            <a:ext cx="285750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Ru liner · 2 nm</a:t>
            </a:r>
            <a:endParaRPr lang="en-US" sz="1800" dirty="0"/>
          </a:p>
        </p:txBody>
      </p:sp>
      <p:sp>
        <p:nvSpPr>
          <p:cNvPr id="40" name="Text 27"/>
          <p:cNvSpPr txBox="1"/>
          <p:nvPr/>
        </p:nvSpPr>
        <p:spPr>
          <a:xfrm>
            <a:off x="4800600" y="4524451"/>
            <a:ext cx="924458"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SPLIT</a:t>
            </a:r>
            <a:endParaRPr lang="en-US" sz="825" dirty="0"/>
          </a:p>
        </p:txBody>
      </p:sp>
      <p:sp>
        <p:nvSpPr>
          <p:cNvPr id="41" name="Text 28"/>
          <p:cNvSpPr txBox="1"/>
          <p:nvPr/>
        </p:nvSpPr>
        <p:spPr>
          <a:xfrm>
            <a:off x="4800600" y="4714646"/>
            <a:ext cx="1100023" cy="247802"/>
          </a:xfrm>
          <a:prstGeom prst="rect">
            <a:avLst/>
          </a:prstGeom>
          <a:noFill/>
          <a:ln/>
        </p:spPr>
        <p:txBody>
          <a:bodyPr wrap="none" lIns="0" tIns="0" rIns="0" bIns="0" rtlCol="0" anchor="ctr"/>
          <a:lstStyle/>
          <a:p>
            <a:pPr algn="l" indent="0" marL="0">
              <a:buNone/>
            </a:pPr>
            <a:r>
              <a:rPr lang="en-US" sz="1350" b="1" dirty="0">
                <a:solidFill>
                  <a:srgbClr val="4F86C0"/>
                </a:solidFill>
                <a:latin typeface="Noto Sans KR" pitchFamily="34" charset="0"/>
                <a:ea typeface="Noto Sans KR" pitchFamily="34" charset="-122"/>
                <a:cs typeface="Noto Sans KR" pitchFamily="34" charset="-120"/>
              </a:rPr>
              <a:t>B · Ru 2nm</a:t>
            </a:r>
            <a:endParaRPr lang="en-US" sz="1350" dirty="0"/>
          </a:p>
        </p:txBody>
      </p:sp>
      <p:sp>
        <p:nvSpPr>
          <p:cNvPr id="42" name="Text 29"/>
          <p:cNvSpPr txBox="1"/>
          <p:nvPr/>
        </p:nvSpPr>
        <p:spPr>
          <a:xfrm>
            <a:off x="5948172" y="4524451"/>
            <a:ext cx="87691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PASS</a:t>
            </a:r>
            <a:endParaRPr lang="en-US" sz="825" dirty="0"/>
          </a:p>
        </p:txBody>
      </p:sp>
      <p:sp>
        <p:nvSpPr>
          <p:cNvPr id="43" name="Text 30"/>
          <p:cNvSpPr txBox="1"/>
          <p:nvPr/>
        </p:nvSpPr>
        <p:spPr>
          <a:xfrm>
            <a:off x="5948172" y="4714646"/>
            <a:ext cx="99212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W2P6 · OK</a:t>
            </a:r>
            <a:endParaRPr lang="en-US" sz="1350" dirty="0"/>
          </a:p>
        </p:txBody>
      </p:sp>
      <p:sp>
        <p:nvSpPr>
          <p:cNvPr id="44" name="Text 31"/>
          <p:cNvSpPr txBox="1"/>
          <p:nvPr/>
        </p:nvSpPr>
        <p:spPr>
          <a:xfrm>
            <a:off x="7051853" y="4524451"/>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SITES</a:t>
            </a:r>
            <a:endParaRPr lang="en-US" sz="825" dirty="0"/>
          </a:p>
        </p:txBody>
      </p:sp>
      <p:sp>
        <p:nvSpPr>
          <p:cNvPr id="45" name="Text 32"/>
          <p:cNvSpPr txBox="1"/>
          <p:nvPr/>
        </p:nvSpPr>
        <p:spPr>
          <a:xfrm>
            <a:off x="7051853" y="4714646"/>
            <a:ext cx="68031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69 / 69</a:t>
            </a:r>
            <a:endParaRPr lang="en-US" sz="1350" dirty="0"/>
          </a:p>
        </p:txBody>
      </p:sp>
      <p:sp>
        <p:nvSpPr>
          <p:cNvPr id="46" name="Text 33"/>
          <p:cNvSpPr txBox="1"/>
          <p:nvPr/>
        </p:nvSpPr>
        <p:spPr>
          <a:xfrm>
            <a:off x="8515807" y="3448202"/>
            <a:ext cx="1086307" cy="438912"/>
          </a:xfrm>
          <a:prstGeom prst="rect">
            <a:avLst/>
          </a:prstGeom>
          <a:noFill/>
          <a:ln/>
        </p:spPr>
        <p:txBody>
          <a:bodyPr wrap="none" lIns="0" tIns="0" rIns="0" bIns="0" rtlCol="0" anchor="ctr"/>
          <a:lstStyle/>
          <a:p>
            <a:pPr algn="l" indent="0" marL="0">
              <a:buNone/>
            </a:pPr>
            <a:r>
              <a:rPr lang="en-US" sz="3450" b="1" dirty="0">
                <a:solidFill>
                  <a:srgbClr val="6F7D94"/>
                </a:solidFill>
                <a:latin typeface="Sora" pitchFamily="34" charset="0"/>
                <a:ea typeface="Sora" pitchFamily="34" charset="-122"/>
                <a:cs typeface="Sora" pitchFamily="34" charset="-120"/>
              </a:rPr>
              <a:t>W03</a:t>
            </a:r>
            <a:endParaRPr lang="en-US" sz="3450" dirty="0"/>
          </a:p>
        </p:txBody>
      </p:sp>
      <p:sp>
        <p:nvSpPr>
          <p:cNvPr id="47" name="Text 34"/>
          <p:cNvSpPr txBox="1"/>
          <p:nvPr/>
        </p:nvSpPr>
        <p:spPr>
          <a:xfrm>
            <a:off x="10809122" y="3715207"/>
            <a:ext cx="666598" cy="133502"/>
          </a:xfrm>
          <a:prstGeom prst="rect">
            <a:avLst/>
          </a:prstGeom>
          <a:noFill/>
          <a:ln/>
        </p:spPr>
        <p:txBody>
          <a:bodyPr wrap="none" lIns="0" tIns="0" rIns="0" bIns="0" rtlCol="0" anchor="ctr"/>
          <a:lstStyle/>
          <a:p>
            <a:pPr algn="l" indent="0" marL="0">
              <a:buNone/>
            </a:pPr>
            <a:r>
              <a:rPr lang="en-US" sz="825" b="1" spc="165" kern="0" dirty="0">
                <a:solidFill>
                  <a:srgbClr val="94A3B8"/>
                </a:solidFill>
                <a:latin typeface="Sora" pitchFamily="34" charset="0"/>
                <a:ea typeface="Sora" pitchFamily="34" charset="-122"/>
                <a:cs typeface="Sora" pitchFamily="34" charset="-120"/>
              </a:rPr>
              <a:t>SLOT 14</a:t>
            </a:r>
            <a:endParaRPr lang="en-US" sz="825" dirty="0"/>
          </a:p>
        </p:txBody>
      </p:sp>
      <p:sp>
        <p:nvSpPr>
          <p:cNvPr id="48" name="Text 35"/>
          <p:cNvSpPr txBox="1"/>
          <p:nvPr/>
        </p:nvSpPr>
        <p:spPr>
          <a:xfrm>
            <a:off x="8515807" y="4058107"/>
            <a:ext cx="285750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Co liner</a:t>
            </a:r>
            <a:endParaRPr lang="en-US" sz="1800" dirty="0"/>
          </a:p>
        </p:txBody>
      </p:sp>
      <p:sp>
        <p:nvSpPr>
          <p:cNvPr id="49" name="Text 36"/>
          <p:cNvSpPr txBox="1"/>
          <p:nvPr/>
        </p:nvSpPr>
        <p:spPr>
          <a:xfrm>
            <a:off x="8515807" y="4524451"/>
            <a:ext cx="486461"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SPLIT</a:t>
            </a:r>
            <a:endParaRPr lang="en-US" sz="825" dirty="0"/>
          </a:p>
        </p:txBody>
      </p:sp>
      <p:sp>
        <p:nvSpPr>
          <p:cNvPr id="50" name="Text 37"/>
          <p:cNvSpPr txBox="1"/>
          <p:nvPr/>
        </p:nvSpPr>
        <p:spPr>
          <a:xfrm>
            <a:off x="8515807" y="4714646"/>
            <a:ext cx="578815" cy="247802"/>
          </a:xfrm>
          <a:prstGeom prst="rect">
            <a:avLst/>
          </a:prstGeom>
          <a:noFill/>
          <a:ln/>
        </p:spPr>
        <p:txBody>
          <a:bodyPr wrap="none" lIns="0" tIns="0" rIns="0" bIns="0" rtlCol="0" anchor="ctr"/>
          <a:lstStyle/>
          <a:p>
            <a:pPr algn="l" indent="0" marL="0">
              <a:buNone/>
            </a:pPr>
            <a:r>
              <a:rPr lang="en-US" sz="1350" b="1" dirty="0">
                <a:solidFill>
                  <a:srgbClr val="6F7D94"/>
                </a:solidFill>
                <a:latin typeface="Noto Sans KR" pitchFamily="34" charset="0"/>
                <a:ea typeface="Noto Sans KR" pitchFamily="34" charset="-122"/>
                <a:cs typeface="Noto Sans KR" pitchFamily="34" charset="-120"/>
              </a:rPr>
              <a:t>C · Co</a:t>
            </a:r>
            <a:endParaRPr lang="en-US" sz="1350" dirty="0"/>
          </a:p>
        </p:txBody>
      </p:sp>
      <p:sp>
        <p:nvSpPr>
          <p:cNvPr id="51" name="Text 38"/>
          <p:cNvSpPr txBox="1"/>
          <p:nvPr/>
        </p:nvSpPr>
        <p:spPr>
          <a:xfrm>
            <a:off x="9228125" y="4524451"/>
            <a:ext cx="87691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PASS</a:t>
            </a:r>
            <a:endParaRPr lang="en-US" sz="825" dirty="0"/>
          </a:p>
        </p:txBody>
      </p:sp>
      <p:sp>
        <p:nvSpPr>
          <p:cNvPr id="52" name="Text 39"/>
          <p:cNvSpPr txBox="1"/>
          <p:nvPr/>
        </p:nvSpPr>
        <p:spPr>
          <a:xfrm>
            <a:off x="9228125" y="4714646"/>
            <a:ext cx="99212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W2P6 · OK</a:t>
            </a:r>
            <a:endParaRPr lang="en-US" sz="1350" dirty="0"/>
          </a:p>
        </p:txBody>
      </p:sp>
      <p:sp>
        <p:nvSpPr>
          <p:cNvPr id="53" name="Text 40"/>
          <p:cNvSpPr txBox="1"/>
          <p:nvPr/>
        </p:nvSpPr>
        <p:spPr>
          <a:xfrm>
            <a:off x="10331806" y="4524451"/>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SITES</a:t>
            </a:r>
            <a:endParaRPr lang="en-US" sz="825" dirty="0"/>
          </a:p>
        </p:txBody>
      </p:sp>
      <p:sp>
        <p:nvSpPr>
          <p:cNvPr id="54" name="Text 41"/>
          <p:cNvSpPr txBox="1"/>
          <p:nvPr/>
        </p:nvSpPr>
        <p:spPr>
          <a:xfrm>
            <a:off x="10331806" y="4714646"/>
            <a:ext cx="68031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69 / 69</a:t>
            </a:r>
            <a:endParaRPr lang="en-US" sz="1350" dirty="0"/>
          </a:p>
        </p:txBody>
      </p:sp>
      <p:sp>
        <p:nvSpPr>
          <p:cNvPr id="55" name="Text 42"/>
          <p:cNvSpPr txBox="1"/>
          <p:nvPr/>
        </p:nvSpPr>
        <p:spPr>
          <a:xfrm>
            <a:off x="1086307" y="6019495"/>
            <a:ext cx="1105510" cy="438912"/>
          </a:xfrm>
          <a:prstGeom prst="rect">
            <a:avLst/>
          </a:prstGeom>
          <a:noFill/>
          <a:ln/>
        </p:spPr>
        <p:txBody>
          <a:bodyPr wrap="none" lIns="0" tIns="0" rIns="0" bIns="0" rtlCol="0" anchor="ctr"/>
          <a:lstStyle/>
          <a:p>
            <a:pPr algn="l" indent="0" marL="0">
              <a:buNone/>
            </a:pPr>
            <a:r>
              <a:rPr lang="en-US" sz="3450" b="1" dirty="0">
                <a:solidFill>
                  <a:srgbClr val="1E5F9C"/>
                </a:solidFill>
                <a:latin typeface="Sora" pitchFamily="34" charset="0"/>
                <a:ea typeface="Sora" pitchFamily="34" charset="-122"/>
                <a:cs typeface="Sora" pitchFamily="34" charset="-120"/>
              </a:rPr>
              <a:t>W04</a:t>
            </a:r>
            <a:endParaRPr lang="en-US" sz="3450" dirty="0"/>
          </a:p>
        </p:txBody>
      </p:sp>
      <p:sp>
        <p:nvSpPr>
          <p:cNvPr id="56" name="Text 43"/>
          <p:cNvSpPr txBox="1"/>
          <p:nvPr/>
        </p:nvSpPr>
        <p:spPr>
          <a:xfrm>
            <a:off x="3386023" y="6286500"/>
            <a:ext cx="664769" cy="133502"/>
          </a:xfrm>
          <a:prstGeom prst="rect">
            <a:avLst/>
          </a:prstGeom>
          <a:noFill/>
          <a:ln/>
        </p:spPr>
        <p:txBody>
          <a:bodyPr wrap="none" lIns="0" tIns="0" rIns="0" bIns="0" rtlCol="0" anchor="ctr"/>
          <a:lstStyle/>
          <a:p>
            <a:pPr algn="l" indent="0" marL="0">
              <a:buNone/>
            </a:pPr>
            <a:r>
              <a:rPr lang="en-US" sz="825" b="1" spc="165" kern="0" dirty="0">
                <a:solidFill>
                  <a:srgbClr val="94A3B8"/>
                </a:solidFill>
                <a:latin typeface="Sora" pitchFamily="34" charset="0"/>
                <a:ea typeface="Sora" pitchFamily="34" charset="-122"/>
                <a:cs typeface="Sora" pitchFamily="34" charset="-120"/>
              </a:rPr>
              <a:t>SLOT 17</a:t>
            </a:r>
            <a:endParaRPr lang="en-US" sz="825" dirty="0"/>
          </a:p>
        </p:txBody>
      </p:sp>
      <p:sp>
        <p:nvSpPr>
          <p:cNvPr id="57" name="Text 44"/>
          <p:cNvSpPr txBox="1"/>
          <p:nvPr/>
        </p:nvSpPr>
        <p:spPr>
          <a:xfrm>
            <a:off x="1086307" y="6629400"/>
            <a:ext cx="285750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Ru liner · 1 nm</a:t>
            </a:r>
            <a:endParaRPr lang="en-US" sz="1800" dirty="0"/>
          </a:p>
        </p:txBody>
      </p:sp>
      <p:sp>
        <p:nvSpPr>
          <p:cNvPr id="58" name="Text 45"/>
          <p:cNvSpPr txBox="1"/>
          <p:nvPr/>
        </p:nvSpPr>
        <p:spPr>
          <a:xfrm>
            <a:off x="1086307" y="7095744"/>
            <a:ext cx="9144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SPLIT</a:t>
            </a:r>
            <a:endParaRPr lang="en-US" sz="825" dirty="0"/>
          </a:p>
        </p:txBody>
      </p:sp>
      <p:sp>
        <p:nvSpPr>
          <p:cNvPr id="59" name="Text 46"/>
          <p:cNvSpPr txBox="1"/>
          <p:nvPr/>
        </p:nvSpPr>
        <p:spPr>
          <a:xfrm>
            <a:off x="1086307" y="7286854"/>
            <a:ext cx="1088136" cy="247802"/>
          </a:xfrm>
          <a:prstGeom prst="rect">
            <a:avLst/>
          </a:prstGeom>
          <a:noFill/>
          <a:ln/>
        </p:spPr>
        <p:txBody>
          <a:bodyPr wrap="none" lIns="0" tIns="0" rIns="0" bIns="0" rtlCol="0" anchor="ctr"/>
          <a:lstStyle/>
          <a:p>
            <a:pPr algn="l" indent="0" marL="0">
              <a:buNone/>
            </a:pPr>
            <a:r>
              <a:rPr lang="en-US" sz="1350" b="1" dirty="0">
                <a:solidFill>
                  <a:srgbClr val="1E5F9C"/>
                </a:solidFill>
                <a:latin typeface="Noto Sans KR" pitchFamily="34" charset="0"/>
                <a:ea typeface="Noto Sans KR" pitchFamily="34" charset="-122"/>
                <a:cs typeface="Noto Sans KR" pitchFamily="34" charset="-120"/>
              </a:rPr>
              <a:t>A · Ru 1nm</a:t>
            </a:r>
            <a:endParaRPr lang="en-US" sz="1350" dirty="0"/>
          </a:p>
        </p:txBody>
      </p:sp>
      <p:sp>
        <p:nvSpPr>
          <p:cNvPr id="60" name="Text 47"/>
          <p:cNvSpPr txBox="1"/>
          <p:nvPr/>
        </p:nvSpPr>
        <p:spPr>
          <a:xfrm>
            <a:off x="2226564" y="7095744"/>
            <a:ext cx="87691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PASS</a:t>
            </a:r>
            <a:endParaRPr lang="en-US" sz="825" dirty="0"/>
          </a:p>
        </p:txBody>
      </p:sp>
      <p:sp>
        <p:nvSpPr>
          <p:cNvPr id="61" name="Text 48"/>
          <p:cNvSpPr txBox="1"/>
          <p:nvPr/>
        </p:nvSpPr>
        <p:spPr>
          <a:xfrm>
            <a:off x="2226564" y="7286854"/>
            <a:ext cx="99212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W2P6 · OK</a:t>
            </a:r>
            <a:endParaRPr lang="en-US" sz="1350" dirty="0"/>
          </a:p>
        </p:txBody>
      </p:sp>
      <p:sp>
        <p:nvSpPr>
          <p:cNvPr id="62" name="Text 49"/>
          <p:cNvSpPr txBox="1"/>
          <p:nvPr/>
        </p:nvSpPr>
        <p:spPr>
          <a:xfrm>
            <a:off x="3330245" y="7095744"/>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SITES</a:t>
            </a:r>
            <a:endParaRPr lang="en-US" sz="825" dirty="0"/>
          </a:p>
        </p:txBody>
      </p:sp>
      <p:sp>
        <p:nvSpPr>
          <p:cNvPr id="63" name="Text 50"/>
          <p:cNvSpPr txBox="1"/>
          <p:nvPr/>
        </p:nvSpPr>
        <p:spPr>
          <a:xfrm>
            <a:off x="3330245" y="7286854"/>
            <a:ext cx="68031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69 / 69</a:t>
            </a:r>
            <a:endParaRPr lang="en-US" sz="1350" dirty="0"/>
          </a:p>
        </p:txBody>
      </p:sp>
      <p:sp>
        <p:nvSpPr>
          <p:cNvPr id="64" name="Text 51"/>
          <p:cNvSpPr txBox="1"/>
          <p:nvPr/>
        </p:nvSpPr>
        <p:spPr>
          <a:xfrm>
            <a:off x="4800600" y="6019495"/>
            <a:ext cx="1086307" cy="438912"/>
          </a:xfrm>
          <a:prstGeom prst="rect">
            <a:avLst/>
          </a:prstGeom>
          <a:noFill/>
          <a:ln/>
        </p:spPr>
        <p:txBody>
          <a:bodyPr wrap="none" lIns="0" tIns="0" rIns="0" bIns="0" rtlCol="0" anchor="ctr"/>
          <a:lstStyle/>
          <a:p>
            <a:pPr algn="l" indent="0" marL="0">
              <a:buNone/>
            </a:pPr>
            <a:r>
              <a:rPr lang="en-US" sz="3450" b="1" dirty="0">
                <a:solidFill>
                  <a:srgbClr val="4F86C0"/>
                </a:solidFill>
                <a:latin typeface="Sora" pitchFamily="34" charset="0"/>
                <a:ea typeface="Sora" pitchFamily="34" charset="-122"/>
                <a:cs typeface="Sora" pitchFamily="34" charset="-120"/>
              </a:rPr>
              <a:t>W05</a:t>
            </a:r>
            <a:endParaRPr lang="en-US" sz="3450" dirty="0"/>
          </a:p>
        </p:txBody>
      </p:sp>
      <p:sp>
        <p:nvSpPr>
          <p:cNvPr id="65" name="Text 52"/>
          <p:cNvSpPr txBox="1"/>
          <p:nvPr/>
        </p:nvSpPr>
        <p:spPr>
          <a:xfrm>
            <a:off x="7076542" y="6286500"/>
            <a:ext cx="590702" cy="133502"/>
          </a:xfrm>
          <a:prstGeom prst="rect">
            <a:avLst/>
          </a:prstGeom>
          <a:noFill/>
          <a:ln/>
        </p:spPr>
        <p:txBody>
          <a:bodyPr wrap="none" lIns="0" tIns="0" rIns="0" bIns="0" rtlCol="0" anchor="ctr"/>
          <a:lstStyle/>
          <a:p>
            <a:pPr algn="l" indent="0" marL="0">
              <a:buNone/>
            </a:pPr>
            <a:r>
              <a:rPr lang="en-US" sz="825" b="1" spc="165" kern="0" dirty="0">
                <a:solidFill>
                  <a:srgbClr val="94A3B8"/>
                </a:solidFill>
                <a:latin typeface="Sora" pitchFamily="34" charset="0"/>
                <a:ea typeface="Sora" pitchFamily="34" charset="-122"/>
                <a:cs typeface="Sora" pitchFamily="34" charset="-120"/>
              </a:rPr>
              <a:t>SLOT 22</a:t>
            </a:r>
            <a:endParaRPr lang="en-US" sz="825" dirty="0"/>
          </a:p>
        </p:txBody>
      </p:sp>
      <p:sp>
        <p:nvSpPr>
          <p:cNvPr id="66" name="Text 53"/>
          <p:cNvSpPr txBox="1"/>
          <p:nvPr/>
        </p:nvSpPr>
        <p:spPr>
          <a:xfrm>
            <a:off x="4800600" y="6629400"/>
            <a:ext cx="285750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Ru liner · 2 nm</a:t>
            </a:r>
            <a:endParaRPr lang="en-US" sz="1800" dirty="0"/>
          </a:p>
        </p:txBody>
      </p:sp>
      <p:sp>
        <p:nvSpPr>
          <p:cNvPr id="67" name="Text 54"/>
          <p:cNvSpPr txBox="1"/>
          <p:nvPr/>
        </p:nvSpPr>
        <p:spPr>
          <a:xfrm>
            <a:off x="4800600" y="7095744"/>
            <a:ext cx="924458"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SPLIT</a:t>
            </a:r>
            <a:endParaRPr lang="en-US" sz="825" dirty="0"/>
          </a:p>
        </p:txBody>
      </p:sp>
      <p:sp>
        <p:nvSpPr>
          <p:cNvPr id="68" name="Text 55"/>
          <p:cNvSpPr txBox="1"/>
          <p:nvPr/>
        </p:nvSpPr>
        <p:spPr>
          <a:xfrm>
            <a:off x="4800600" y="7286854"/>
            <a:ext cx="1100023" cy="247802"/>
          </a:xfrm>
          <a:prstGeom prst="rect">
            <a:avLst/>
          </a:prstGeom>
          <a:noFill/>
          <a:ln/>
        </p:spPr>
        <p:txBody>
          <a:bodyPr wrap="none" lIns="0" tIns="0" rIns="0" bIns="0" rtlCol="0" anchor="ctr"/>
          <a:lstStyle/>
          <a:p>
            <a:pPr algn="l" indent="0" marL="0">
              <a:buNone/>
            </a:pPr>
            <a:r>
              <a:rPr lang="en-US" sz="1350" b="1" dirty="0">
                <a:solidFill>
                  <a:srgbClr val="4F86C0"/>
                </a:solidFill>
                <a:latin typeface="Noto Sans KR" pitchFamily="34" charset="0"/>
                <a:ea typeface="Noto Sans KR" pitchFamily="34" charset="-122"/>
                <a:cs typeface="Noto Sans KR" pitchFamily="34" charset="-120"/>
              </a:rPr>
              <a:t>B · Ru 2nm</a:t>
            </a:r>
            <a:endParaRPr lang="en-US" sz="1350" dirty="0"/>
          </a:p>
        </p:txBody>
      </p:sp>
      <p:sp>
        <p:nvSpPr>
          <p:cNvPr id="69" name="Text 56"/>
          <p:cNvSpPr txBox="1"/>
          <p:nvPr/>
        </p:nvSpPr>
        <p:spPr>
          <a:xfrm>
            <a:off x="5948172" y="7095744"/>
            <a:ext cx="87691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PASS</a:t>
            </a:r>
            <a:endParaRPr lang="en-US" sz="825" dirty="0"/>
          </a:p>
        </p:txBody>
      </p:sp>
      <p:sp>
        <p:nvSpPr>
          <p:cNvPr id="70" name="Text 57"/>
          <p:cNvSpPr txBox="1"/>
          <p:nvPr/>
        </p:nvSpPr>
        <p:spPr>
          <a:xfrm>
            <a:off x="5948172" y="7286854"/>
            <a:ext cx="99212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W2P6 · OK</a:t>
            </a:r>
            <a:endParaRPr lang="en-US" sz="1350" dirty="0"/>
          </a:p>
        </p:txBody>
      </p:sp>
      <p:sp>
        <p:nvSpPr>
          <p:cNvPr id="71" name="Text 58"/>
          <p:cNvSpPr txBox="1"/>
          <p:nvPr/>
        </p:nvSpPr>
        <p:spPr>
          <a:xfrm>
            <a:off x="7051853" y="7095744"/>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SITES</a:t>
            </a:r>
            <a:endParaRPr lang="en-US" sz="825" dirty="0"/>
          </a:p>
        </p:txBody>
      </p:sp>
      <p:sp>
        <p:nvSpPr>
          <p:cNvPr id="72" name="Text 59"/>
          <p:cNvSpPr txBox="1"/>
          <p:nvPr/>
        </p:nvSpPr>
        <p:spPr>
          <a:xfrm>
            <a:off x="7051853" y="7286854"/>
            <a:ext cx="68031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69 / 69</a:t>
            </a:r>
            <a:endParaRPr lang="en-US" sz="1350" dirty="0"/>
          </a:p>
        </p:txBody>
      </p:sp>
      <p:sp>
        <p:nvSpPr>
          <p:cNvPr id="73" name="Text 60"/>
          <p:cNvSpPr txBox="1"/>
          <p:nvPr/>
        </p:nvSpPr>
        <p:spPr>
          <a:xfrm>
            <a:off x="8515807" y="6019495"/>
            <a:ext cx="1105510" cy="438912"/>
          </a:xfrm>
          <a:prstGeom prst="rect">
            <a:avLst/>
          </a:prstGeom>
          <a:noFill/>
          <a:ln/>
        </p:spPr>
        <p:txBody>
          <a:bodyPr wrap="none" lIns="0" tIns="0" rIns="0" bIns="0" rtlCol="0" anchor="ctr"/>
          <a:lstStyle/>
          <a:p>
            <a:pPr algn="l" indent="0" marL="0">
              <a:buNone/>
            </a:pPr>
            <a:r>
              <a:rPr lang="en-US" sz="3450" b="1" dirty="0">
                <a:solidFill>
                  <a:srgbClr val="6F7D94"/>
                </a:solidFill>
                <a:latin typeface="Sora" pitchFamily="34" charset="0"/>
                <a:ea typeface="Sora" pitchFamily="34" charset="-122"/>
                <a:cs typeface="Sora" pitchFamily="34" charset="-120"/>
              </a:rPr>
              <a:t>W06</a:t>
            </a:r>
            <a:endParaRPr lang="en-US" sz="3450" dirty="0"/>
          </a:p>
        </p:txBody>
      </p:sp>
      <p:sp>
        <p:nvSpPr>
          <p:cNvPr id="74" name="Text 61"/>
          <p:cNvSpPr txBox="1"/>
          <p:nvPr/>
        </p:nvSpPr>
        <p:spPr>
          <a:xfrm>
            <a:off x="10790834" y="6286500"/>
            <a:ext cx="590702" cy="133502"/>
          </a:xfrm>
          <a:prstGeom prst="rect">
            <a:avLst/>
          </a:prstGeom>
          <a:noFill/>
          <a:ln/>
        </p:spPr>
        <p:txBody>
          <a:bodyPr wrap="none" lIns="0" tIns="0" rIns="0" bIns="0" rtlCol="0" anchor="ctr"/>
          <a:lstStyle/>
          <a:p>
            <a:pPr algn="l" indent="0" marL="0">
              <a:buNone/>
            </a:pPr>
            <a:r>
              <a:rPr lang="en-US" sz="825" b="1" spc="165" kern="0" dirty="0">
                <a:solidFill>
                  <a:srgbClr val="94A3B8"/>
                </a:solidFill>
                <a:latin typeface="Sora" pitchFamily="34" charset="0"/>
                <a:ea typeface="Sora" pitchFamily="34" charset="-122"/>
                <a:cs typeface="Sora" pitchFamily="34" charset="-120"/>
              </a:rPr>
              <a:t>SLOT 25</a:t>
            </a:r>
            <a:endParaRPr lang="en-US" sz="825" dirty="0"/>
          </a:p>
        </p:txBody>
      </p:sp>
      <p:sp>
        <p:nvSpPr>
          <p:cNvPr id="75" name="Text 62"/>
          <p:cNvSpPr txBox="1"/>
          <p:nvPr/>
        </p:nvSpPr>
        <p:spPr>
          <a:xfrm>
            <a:off x="8515807" y="6629400"/>
            <a:ext cx="285750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Co liner</a:t>
            </a:r>
            <a:endParaRPr lang="en-US" sz="1800" dirty="0"/>
          </a:p>
        </p:txBody>
      </p:sp>
      <p:sp>
        <p:nvSpPr>
          <p:cNvPr id="76" name="Text 63"/>
          <p:cNvSpPr txBox="1"/>
          <p:nvPr/>
        </p:nvSpPr>
        <p:spPr>
          <a:xfrm>
            <a:off x="8515807" y="7095744"/>
            <a:ext cx="486461"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SPLIT</a:t>
            </a:r>
            <a:endParaRPr lang="en-US" sz="825" dirty="0"/>
          </a:p>
        </p:txBody>
      </p:sp>
      <p:sp>
        <p:nvSpPr>
          <p:cNvPr id="77" name="Text 64"/>
          <p:cNvSpPr txBox="1"/>
          <p:nvPr/>
        </p:nvSpPr>
        <p:spPr>
          <a:xfrm>
            <a:off x="8515807" y="7286854"/>
            <a:ext cx="578815" cy="247802"/>
          </a:xfrm>
          <a:prstGeom prst="rect">
            <a:avLst/>
          </a:prstGeom>
          <a:noFill/>
          <a:ln/>
        </p:spPr>
        <p:txBody>
          <a:bodyPr wrap="none" lIns="0" tIns="0" rIns="0" bIns="0" rtlCol="0" anchor="ctr"/>
          <a:lstStyle/>
          <a:p>
            <a:pPr algn="l" indent="0" marL="0">
              <a:buNone/>
            </a:pPr>
            <a:r>
              <a:rPr lang="en-US" sz="1350" b="1" dirty="0">
                <a:solidFill>
                  <a:srgbClr val="6F7D94"/>
                </a:solidFill>
                <a:latin typeface="Noto Sans KR" pitchFamily="34" charset="0"/>
                <a:ea typeface="Noto Sans KR" pitchFamily="34" charset="-122"/>
                <a:cs typeface="Noto Sans KR" pitchFamily="34" charset="-120"/>
              </a:rPr>
              <a:t>C · Co</a:t>
            </a:r>
            <a:endParaRPr lang="en-US" sz="1350" dirty="0"/>
          </a:p>
        </p:txBody>
      </p:sp>
      <p:sp>
        <p:nvSpPr>
          <p:cNvPr id="78" name="Text 65"/>
          <p:cNvSpPr txBox="1"/>
          <p:nvPr/>
        </p:nvSpPr>
        <p:spPr>
          <a:xfrm>
            <a:off x="9228125" y="7095744"/>
            <a:ext cx="87691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PASS</a:t>
            </a:r>
            <a:endParaRPr lang="en-US" sz="825" dirty="0"/>
          </a:p>
        </p:txBody>
      </p:sp>
      <p:sp>
        <p:nvSpPr>
          <p:cNvPr id="79" name="Text 66"/>
          <p:cNvSpPr txBox="1"/>
          <p:nvPr/>
        </p:nvSpPr>
        <p:spPr>
          <a:xfrm>
            <a:off x="9228125" y="7286854"/>
            <a:ext cx="99212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W2P6 · OK</a:t>
            </a:r>
            <a:endParaRPr lang="en-US" sz="1350" dirty="0"/>
          </a:p>
        </p:txBody>
      </p:sp>
      <p:sp>
        <p:nvSpPr>
          <p:cNvPr id="80" name="Text 67"/>
          <p:cNvSpPr txBox="1"/>
          <p:nvPr/>
        </p:nvSpPr>
        <p:spPr>
          <a:xfrm>
            <a:off x="10331806" y="7095744"/>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SITES</a:t>
            </a:r>
            <a:endParaRPr lang="en-US" sz="825" dirty="0"/>
          </a:p>
        </p:txBody>
      </p:sp>
      <p:sp>
        <p:nvSpPr>
          <p:cNvPr id="81" name="Text 68"/>
          <p:cNvSpPr txBox="1"/>
          <p:nvPr/>
        </p:nvSpPr>
        <p:spPr>
          <a:xfrm>
            <a:off x="10331806" y="7286854"/>
            <a:ext cx="680314"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69 / 69</a:t>
            </a:r>
            <a:endParaRPr lang="en-US" sz="1350" dirty="0"/>
          </a:p>
        </p:txBody>
      </p:sp>
      <p:sp>
        <p:nvSpPr>
          <p:cNvPr id="82" name="Text 69"/>
          <p:cNvSpPr txBox="1"/>
          <p:nvPr/>
        </p:nvSpPr>
        <p:spPr>
          <a:xfrm>
            <a:off x="12611405" y="3448202"/>
            <a:ext cx="4572000" cy="143561"/>
          </a:xfrm>
          <a:prstGeom prst="rect">
            <a:avLst/>
          </a:prstGeom>
          <a:noFill/>
          <a:ln/>
        </p:spPr>
        <p:txBody>
          <a:bodyPr wrap="none" lIns="0" tIns="0" rIns="0" bIns="0" rtlCol="0" anchor="ctr"/>
          <a:lstStyle/>
          <a:p>
            <a:pPr algn="l" indent="0" marL="0">
              <a:buNone/>
            </a:pPr>
            <a:r>
              <a:rPr lang="en-US" sz="900" b="1" spc="234" kern="0" dirty="0">
                <a:solidFill>
                  <a:srgbClr val="94A3B8"/>
                </a:solidFill>
                <a:latin typeface="Sora" pitchFamily="34" charset="0"/>
                <a:ea typeface="Sora" pitchFamily="34" charset="-122"/>
                <a:cs typeface="Sora" pitchFamily="34" charset="-120"/>
              </a:rPr>
              <a:t>GROUPING</a:t>
            </a:r>
            <a:endParaRPr lang="en-US" sz="900" dirty="0"/>
          </a:p>
        </p:txBody>
      </p:sp>
      <p:sp>
        <p:nvSpPr>
          <p:cNvPr id="83" name="Text 70"/>
          <p:cNvSpPr txBox="1"/>
          <p:nvPr/>
        </p:nvSpPr>
        <p:spPr>
          <a:xfrm>
            <a:off x="12611405" y="3648456"/>
            <a:ext cx="4572000" cy="381305"/>
          </a:xfrm>
          <a:prstGeom prst="rect">
            <a:avLst/>
          </a:prstGeom>
          <a:noFill/>
          <a:ln/>
        </p:spPr>
        <p:txBody>
          <a:bodyPr wrap="none" lIns="0" tIns="0" rIns="0" bIns="0" rtlCol="0" anchor="ctr"/>
          <a:lstStyle/>
          <a:p>
            <a:pPr algn="l" indent="0" marL="0">
              <a:buNone/>
            </a:pPr>
            <a:r>
              <a:rPr lang="en-US" sz="2100" b="1" dirty="0">
                <a:solidFill>
                  <a:srgbClr val="14213D"/>
                </a:solidFill>
                <a:latin typeface="Noto Sans KR" pitchFamily="34" charset="0"/>
                <a:ea typeface="Noto Sans KR" pitchFamily="34" charset="-122"/>
                <a:cs typeface="Noto Sans KR" pitchFamily="34" charset="-120"/>
              </a:rPr>
              <a:t>평가 그룹 요약</a:t>
            </a:r>
            <a:endParaRPr lang="en-US" sz="2100" dirty="0"/>
          </a:p>
        </p:txBody>
      </p:sp>
      <p:sp>
        <p:nvSpPr>
          <p:cNvPr id="84" name="Shape 71"/>
          <p:cNvSpPr/>
          <p:nvPr/>
        </p:nvSpPr>
        <p:spPr>
          <a:xfrm>
            <a:off x="12611405" y="4982566"/>
            <a:ext cx="4572000" cy="9144"/>
          </a:xfrm>
          <a:prstGeom prst="rect">
            <a:avLst/>
          </a:prstGeom>
          <a:solidFill>
            <a:srgbClr val="DCE3EE"/>
          </a:solidFill>
          <a:ln w="12700">
            <a:solidFill>
              <a:srgbClr val="DCE3EE">
                <a:alpha val="0"/>
              </a:srgbClr>
            </a:solidFill>
            <a:prstDash val="solid"/>
          </a:ln>
        </p:spPr>
      </p:sp>
      <p:sp>
        <p:nvSpPr>
          <p:cNvPr id="85" name="Shape 72"/>
          <p:cNvSpPr/>
          <p:nvPr/>
        </p:nvSpPr>
        <p:spPr>
          <a:xfrm>
            <a:off x="12611405" y="4172407"/>
            <a:ext cx="342900" cy="342900"/>
          </a:xfrm>
          <a:prstGeom prst="rect">
            <a:avLst/>
          </a:prstGeom>
          <a:solidFill>
            <a:srgbClr val="1E5F9C"/>
          </a:solidFill>
          <a:ln w="12700">
            <a:solidFill>
              <a:srgbClr val="FFFFFF">
                <a:alpha val="0"/>
              </a:srgbClr>
            </a:solidFill>
            <a:prstDash val="solid"/>
          </a:ln>
        </p:spPr>
      </p:sp>
      <p:sp>
        <p:nvSpPr>
          <p:cNvPr id="86" name="Text 73"/>
          <p:cNvSpPr txBox="1"/>
          <p:nvPr/>
        </p:nvSpPr>
        <p:spPr>
          <a:xfrm>
            <a:off x="13125298" y="4172407"/>
            <a:ext cx="4058107" cy="277063"/>
          </a:xfrm>
          <a:prstGeom prst="rect">
            <a:avLst/>
          </a:prstGeom>
          <a:noFill/>
          <a:ln/>
        </p:spPr>
        <p:txBody>
          <a:bodyPr wrap="none" lIns="0" tIns="0" rIns="0" bIns="0" rtlCol="0" anchor="ctr"/>
          <a:lstStyle/>
          <a:p>
            <a:pPr algn="l" indent="0" marL="0">
              <a:buNone/>
            </a:pPr>
            <a:r>
              <a:rPr lang="en-US" sz="1500" b="1" dirty="0">
                <a:solidFill>
                  <a:srgbClr val="14213D"/>
                </a:solidFill>
                <a:latin typeface="Noto Sans KR" pitchFamily="34" charset="0"/>
                <a:ea typeface="Noto Sans KR" pitchFamily="34" charset="-122"/>
                <a:cs typeface="Noto Sans KR" pitchFamily="34" charset="-120"/>
              </a:rPr>
              <a:t>Group A · Ru liner 1nm</a:t>
            </a:r>
            <a:endParaRPr lang="en-US" sz="1500" dirty="0"/>
          </a:p>
        </p:txBody>
      </p:sp>
      <p:sp>
        <p:nvSpPr>
          <p:cNvPr id="87" name="Text 74"/>
          <p:cNvSpPr txBox="1"/>
          <p:nvPr/>
        </p:nvSpPr>
        <p:spPr>
          <a:xfrm>
            <a:off x="13125298" y="4505249"/>
            <a:ext cx="4058107" cy="247802"/>
          </a:xfrm>
          <a:prstGeom prst="rect">
            <a:avLst/>
          </a:prstGeom>
          <a:noFill/>
          <a:ln/>
        </p:spPr>
        <p:txBody>
          <a:bodyPr wrap="non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2 wafer (W01 / W04)</a:t>
            </a:r>
            <a:endParaRPr lang="en-US" sz="1350" dirty="0"/>
          </a:p>
        </p:txBody>
      </p:sp>
      <p:sp>
        <p:nvSpPr>
          <p:cNvPr id="88" name="Shape 75"/>
          <p:cNvSpPr/>
          <p:nvPr/>
        </p:nvSpPr>
        <p:spPr>
          <a:xfrm>
            <a:off x="12611405" y="6029554"/>
            <a:ext cx="4572000" cy="9144"/>
          </a:xfrm>
          <a:prstGeom prst="rect">
            <a:avLst/>
          </a:prstGeom>
          <a:solidFill>
            <a:srgbClr val="DCE3EE"/>
          </a:solidFill>
          <a:ln w="12700">
            <a:solidFill>
              <a:srgbClr val="DCE3EE">
                <a:alpha val="0"/>
              </a:srgbClr>
            </a:solidFill>
            <a:prstDash val="solid"/>
          </a:ln>
        </p:spPr>
      </p:sp>
      <p:sp>
        <p:nvSpPr>
          <p:cNvPr id="89" name="Shape 76"/>
          <p:cNvSpPr/>
          <p:nvPr/>
        </p:nvSpPr>
        <p:spPr>
          <a:xfrm>
            <a:off x="12611405" y="5219395"/>
            <a:ext cx="342900" cy="342900"/>
          </a:xfrm>
          <a:prstGeom prst="rect">
            <a:avLst/>
          </a:prstGeom>
          <a:solidFill>
            <a:srgbClr val="4F86C0"/>
          </a:solidFill>
          <a:ln w="12700">
            <a:solidFill>
              <a:srgbClr val="FFFFFF">
                <a:alpha val="0"/>
              </a:srgbClr>
            </a:solidFill>
            <a:prstDash val="solid"/>
          </a:ln>
        </p:spPr>
      </p:sp>
      <p:sp>
        <p:nvSpPr>
          <p:cNvPr id="90" name="Text 77"/>
          <p:cNvSpPr txBox="1"/>
          <p:nvPr/>
        </p:nvSpPr>
        <p:spPr>
          <a:xfrm>
            <a:off x="13125298" y="5219395"/>
            <a:ext cx="4058107" cy="277063"/>
          </a:xfrm>
          <a:prstGeom prst="rect">
            <a:avLst/>
          </a:prstGeom>
          <a:noFill/>
          <a:ln/>
        </p:spPr>
        <p:txBody>
          <a:bodyPr wrap="none" lIns="0" tIns="0" rIns="0" bIns="0" rtlCol="0" anchor="ctr"/>
          <a:lstStyle/>
          <a:p>
            <a:pPr algn="l" indent="0" marL="0">
              <a:buNone/>
            </a:pPr>
            <a:r>
              <a:rPr lang="en-US" sz="1500" b="1" dirty="0">
                <a:solidFill>
                  <a:srgbClr val="14213D"/>
                </a:solidFill>
                <a:latin typeface="Noto Sans KR" pitchFamily="34" charset="0"/>
                <a:ea typeface="Noto Sans KR" pitchFamily="34" charset="-122"/>
                <a:cs typeface="Noto Sans KR" pitchFamily="34" charset="-120"/>
              </a:rPr>
              <a:t>Group B · Ru liner 2nm</a:t>
            </a:r>
            <a:endParaRPr lang="en-US" sz="1500" dirty="0"/>
          </a:p>
        </p:txBody>
      </p:sp>
      <p:sp>
        <p:nvSpPr>
          <p:cNvPr id="91" name="Text 78"/>
          <p:cNvSpPr txBox="1"/>
          <p:nvPr/>
        </p:nvSpPr>
        <p:spPr>
          <a:xfrm>
            <a:off x="13125298" y="5553151"/>
            <a:ext cx="4058107" cy="247802"/>
          </a:xfrm>
          <a:prstGeom prst="rect">
            <a:avLst/>
          </a:prstGeom>
          <a:noFill/>
          <a:ln/>
        </p:spPr>
        <p:txBody>
          <a:bodyPr wrap="non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2 wafer (W02 / W05)</a:t>
            </a:r>
            <a:endParaRPr lang="en-US" sz="1350" dirty="0"/>
          </a:p>
        </p:txBody>
      </p:sp>
      <p:sp>
        <p:nvSpPr>
          <p:cNvPr id="92" name="Shape 79"/>
          <p:cNvSpPr/>
          <p:nvPr/>
        </p:nvSpPr>
        <p:spPr>
          <a:xfrm>
            <a:off x="12611405" y="6267298"/>
            <a:ext cx="342900" cy="342900"/>
          </a:xfrm>
          <a:prstGeom prst="rect">
            <a:avLst/>
          </a:prstGeom>
          <a:solidFill>
            <a:srgbClr val="94A3B8"/>
          </a:solidFill>
          <a:ln w="12700">
            <a:solidFill>
              <a:srgbClr val="FFFFFF">
                <a:alpha val="0"/>
              </a:srgbClr>
            </a:solidFill>
            <a:prstDash val="solid"/>
          </a:ln>
        </p:spPr>
      </p:sp>
      <p:sp>
        <p:nvSpPr>
          <p:cNvPr id="93" name="Text 80"/>
          <p:cNvSpPr txBox="1"/>
          <p:nvPr/>
        </p:nvSpPr>
        <p:spPr>
          <a:xfrm>
            <a:off x="13125298" y="6267298"/>
            <a:ext cx="4058107" cy="277063"/>
          </a:xfrm>
          <a:prstGeom prst="rect">
            <a:avLst/>
          </a:prstGeom>
          <a:noFill/>
          <a:ln/>
        </p:spPr>
        <p:txBody>
          <a:bodyPr wrap="none" lIns="0" tIns="0" rIns="0" bIns="0" rtlCol="0" anchor="ctr"/>
          <a:lstStyle/>
          <a:p>
            <a:pPr algn="l" indent="0" marL="0">
              <a:buNone/>
            </a:pPr>
            <a:r>
              <a:rPr lang="en-US" sz="1500" b="1" dirty="0">
                <a:solidFill>
                  <a:srgbClr val="14213D"/>
                </a:solidFill>
                <a:latin typeface="Noto Sans KR" pitchFamily="34" charset="0"/>
                <a:ea typeface="Noto Sans KR" pitchFamily="34" charset="-122"/>
                <a:cs typeface="Noto Sans KR" pitchFamily="34" charset="-120"/>
              </a:rPr>
              <a:t>Group C · Co liner</a:t>
            </a:r>
            <a:endParaRPr lang="en-US" sz="1500" dirty="0"/>
          </a:p>
        </p:txBody>
      </p:sp>
      <p:sp>
        <p:nvSpPr>
          <p:cNvPr id="94" name="Text 81"/>
          <p:cNvSpPr txBox="1"/>
          <p:nvPr/>
        </p:nvSpPr>
        <p:spPr>
          <a:xfrm>
            <a:off x="13125298" y="6601054"/>
            <a:ext cx="4058107" cy="247802"/>
          </a:xfrm>
          <a:prstGeom prst="rect">
            <a:avLst/>
          </a:prstGeom>
          <a:noFill/>
          <a:ln/>
        </p:spPr>
        <p:txBody>
          <a:bodyPr wrap="non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2 wafer (W03 / W06) · baseline</a:t>
            </a:r>
            <a:endParaRPr lang="en-US" sz="1350" dirty="0"/>
          </a:p>
        </p:txBody>
      </p:sp>
      <p:sp>
        <p:nvSpPr>
          <p:cNvPr id="95" name="Text 82"/>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96" name="Image 10" descr="gen-dedup-a95c956e3bd879e41d2e7daca8566398.png">    </p:cNvPr>
          <p:cNvPicPr>
            <a:picLocks noChangeAspect="1"/>
          </p:cNvPicPr>
          <p:nvPr/>
        </p:nvPicPr>
        <p:blipFill>
          <a:blip r:embed="rId11"/>
          <a:srcRect l="-2083" r="-2083" t="0" b="0"/>
          <a:stretch/>
        </p:blipFill>
        <p:spPr>
          <a:xfrm>
            <a:off x="2656332" y="9096451"/>
            <a:ext cx="571500" cy="9144"/>
          </a:xfrm>
          <a:prstGeom prst="rect">
            <a:avLst/>
          </a:prstGeom>
        </p:spPr>
      </p:pic>
      <p:sp>
        <p:nvSpPr>
          <p:cNvPr id="97" name="Text 83"/>
          <p:cNvSpPr txBox="1"/>
          <p:nvPr/>
        </p:nvSpPr>
        <p:spPr>
          <a:xfrm>
            <a:off x="3456432" y="8934602"/>
            <a:ext cx="11630254"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정확히 6 wafer가 3 split에 균등 배정되었으며, slot 번호는 carrier 내 분산을 포함하도록 무작위로 흩어 배치했다.</a:t>
            </a:r>
            <a:endParaRPr lang="en-US" sz="1800" dirty="0"/>
          </a:p>
        </p:txBody>
      </p:sp>
      <p:sp>
        <p:nvSpPr>
          <p:cNvPr id="98" name="Text 84"/>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99" name="Text 85"/>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2857500"/>
            <a:ext cx="4000500" cy="2857500"/>
          </a:xfrm>
          <a:prstGeom prst="rect">
            <a:avLst/>
          </a:prstGeom>
          <a:solidFill>
            <a:srgbClr val="FFFFFF"/>
          </a:solidFill>
          <a:ln w="12700">
            <a:solidFill>
              <a:srgbClr val="C8D3E2"/>
            </a:solidFill>
            <a:prstDash val="solid"/>
          </a:ln>
        </p:spPr>
      </p:sp>
      <p:sp>
        <p:nvSpPr>
          <p:cNvPr id="5" name="Shape 1"/>
          <p:cNvSpPr/>
          <p:nvPr/>
        </p:nvSpPr>
        <p:spPr>
          <a:xfrm>
            <a:off x="5143500" y="2857500"/>
            <a:ext cx="4000500" cy="2857500"/>
          </a:xfrm>
          <a:prstGeom prst="rect">
            <a:avLst/>
          </a:prstGeom>
          <a:solidFill>
            <a:srgbClr val="FFFFFF"/>
          </a:solidFill>
          <a:ln w="12700">
            <a:solidFill>
              <a:srgbClr val="C8D3E2"/>
            </a:solidFill>
            <a:prstDash val="solid"/>
          </a:ln>
        </p:spPr>
      </p:sp>
      <p:sp>
        <p:nvSpPr>
          <p:cNvPr id="6" name="Shape 2"/>
          <p:cNvSpPr/>
          <p:nvPr/>
        </p:nvSpPr>
        <p:spPr>
          <a:xfrm>
            <a:off x="9430207" y="2857500"/>
            <a:ext cx="4000500" cy="2857500"/>
          </a:xfrm>
          <a:prstGeom prst="rect">
            <a:avLst/>
          </a:prstGeom>
          <a:solidFill>
            <a:srgbClr val="FFFFFF"/>
          </a:solidFill>
          <a:ln w="12700">
            <a:solidFill>
              <a:srgbClr val="C8D3E2"/>
            </a:solidFill>
            <a:prstDash val="solid"/>
          </a:ln>
        </p:spPr>
      </p:sp>
      <p:sp>
        <p:nvSpPr>
          <p:cNvPr id="7" name="Shape 3"/>
          <p:cNvSpPr/>
          <p:nvPr/>
        </p:nvSpPr>
        <p:spPr>
          <a:xfrm>
            <a:off x="13716000" y="2857500"/>
            <a:ext cx="3715207" cy="2857500"/>
          </a:xfrm>
          <a:prstGeom prst="rect">
            <a:avLst/>
          </a:prstGeom>
          <a:solidFill>
            <a:srgbClr val="FFFFFF"/>
          </a:solidFill>
          <a:ln w="12700">
            <a:solidFill>
              <a:srgbClr val="C8D3E2"/>
            </a:solidFill>
            <a:prstDash val="solid"/>
          </a:ln>
        </p:spPr>
      </p:sp>
      <p:sp>
        <p:nvSpPr>
          <p:cNvPr id="8" name="Shape 4"/>
          <p:cNvSpPr/>
          <p:nvPr/>
        </p:nvSpPr>
        <p:spPr>
          <a:xfrm>
            <a:off x="857707" y="6096305"/>
            <a:ext cx="16573500" cy="2286000"/>
          </a:xfrm>
          <a:prstGeom prst="rect">
            <a:avLst/>
          </a:prstGeom>
          <a:solidFill>
            <a:srgbClr val="FFFFFF"/>
          </a:solidFill>
          <a:ln w="12700">
            <a:solidFill>
              <a:srgbClr val="C8D3E2"/>
            </a:solidFill>
            <a:prstDash val="solid"/>
          </a:ln>
        </p:spPr>
      </p:sp>
      <p:pic>
        <p:nvPicPr>
          <p:cNvPr id="9" name="Image 1" descr="gen-dedup-aeb38c10e190b6e0b47c5c3271a9c9cb.png">    </p:cNvPr>
          <p:cNvPicPr>
            <a:picLocks noChangeAspect="1"/>
          </p:cNvPicPr>
          <p:nvPr/>
        </p:nvPicPr>
        <p:blipFill>
          <a:blip r:embed="rId2"/>
          <a:srcRect l="0" r="0" t="-400" b="-400"/>
          <a:stretch/>
        </p:blipFill>
        <p:spPr>
          <a:xfrm>
            <a:off x="857707" y="2857500"/>
            <a:ext cx="4000500" cy="57607"/>
          </a:xfrm>
          <a:prstGeom prst="rect">
            <a:avLst/>
          </a:prstGeom>
        </p:spPr>
      </p:pic>
      <p:pic>
        <p:nvPicPr>
          <p:cNvPr id="10" name="Image 2" descr="gen-dedup-684727f4d7ad8db7d9b86907bd84116c.png">    </p:cNvPr>
          <p:cNvPicPr>
            <a:picLocks noChangeAspect="1"/>
          </p:cNvPicPr>
          <p:nvPr/>
        </p:nvPicPr>
        <p:blipFill>
          <a:blip r:embed="rId3"/>
          <a:srcRect l="0" r="0" t="-400" b="-400"/>
          <a:stretch/>
        </p:blipFill>
        <p:spPr>
          <a:xfrm>
            <a:off x="5143500" y="2857500"/>
            <a:ext cx="4000500" cy="57607"/>
          </a:xfrm>
          <a:prstGeom prst="rect">
            <a:avLst/>
          </a:prstGeom>
        </p:spPr>
      </p:pic>
      <p:pic>
        <p:nvPicPr>
          <p:cNvPr id="11" name="Image 3" descr="gen-dedup-83f21780022cb47546c765b2871c529b.png">    </p:cNvPr>
          <p:cNvPicPr>
            <a:picLocks noChangeAspect="1"/>
          </p:cNvPicPr>
          <p:nvPr/>
        </p:nvPicPr>
        <p:blipFill>
          <a:blip r:embed="rId4"/>
          <a:srcRect l="0" r="0" t="-400" b="-400"/>
          <a:stretch/>
        </p:blipFill>
        <p:spPr>
          <a:xfrm>
            <a:off x="9430207" y="2857500"/>
            <a:ext cx="4000500" cy="57607"/>
          </a:xfrm>
          <a:prstGeom prst="rect">
            <a:avLst/>
          </a:prstGeom>
        </p:spPr>
      </p:pic>
      <p:pic>
        <p:nvPicPr>
          <p:cNvPr id="12" name="Image 4" descr="gen-dedup-298d42e73d765be928d96c8d7372dc9f.png">    </p:cNvPr>
          <p:cNvPicPr>
            <a:picLocks noChangeAspect="1"/>
          </p:cNvPicPr>
          <p:nvPr/>
        </p:nvPicPr>
        <p:blipFill>
          <a:blip r:embed="rId5"/>
          <a:srcRect l="0" r="0" t="-394" b="-394"/>
          <a:stretch/>
        </p:blipFill>
        <p:spPr>
          <a:xfrm>
            <a:off x="13716000" y="2857500"/>
            <a:ext cx="3715207" cy="57607"/>
          </a:xfrm>
          <a:prstGeom prst="rect">
            <a:avLst/>
          </a:prstGeom>
        </p:spPr>
      </p:pic>
      <p:sp>
        <p:nvSpPr>
          <p:cNvPr id="13" name="Shape 5"/>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14" name="Image 5" descr="gen-dedup-3c3f0190f3348a605df0239cea9995bf.png">    </p:cNvPr>
          <p:cNvPicPr>
            <a:picLocks noChangeAspect="1"/>
          </p:cNvPicPr>
          <p:nvPr/>
        </p:nvPicPr>
        <p:blipFill>
          <a:blip r:embed="rId6"/>
          <a:srcRect l="-2083" r="-2083" t="0" b="0"/>
          <a:stretch/>
        </p:blipFill>
        <p:spPr>
          <a:xfrm>
            <a:off x="0" y="9562795"/>
            <a:ext cx="18288000" cy="9144"/>
          </a:xfrm>
          <a:prstGeom prst="rect">
            <a:avLst/>
          </a:prstGeom>
        </p:spPr>
      </p:pic>
      <p:pic>
        <p:nvPicPr>
          <p:cNvPr id="15" name="Image 6" descr="gen-dedup-12d7cb0a28bbcaca3e8d32c19dc56a81.png">    </p:cNvPr>
          <p:cNvPicPr>
            <a:picLocks noChangeAspect="1"/>
          </p:cNvPicPr>
          <p:nvPr/>
        </p:nvPicPr>
        <p:blipFill>
          <a:blip r:embed="rId7"/>
          <a:srcRect l="0" r="0" t="-424" b="-424"/>
          <a:stretch/>
        </p:blipFill>
        <p:spPr>
          <a:xfrm>
            <a:off x="857707" y="657454"/>
            <a:ext cx="323698" cy="19202"/>
          </a:xfrm>
          <a:prstGeom prst="rect">
            <a:avLst/>
          </a:prstGeom>
        </p:spPr>
      </p:pic>
      <p:sp>
        <p:nvSpPr>
          <p:cNvPr id="16" name="Text 6"/>
          <p:cNvSpPr txBox="1"/>
          <p:nvPr/>
        </p:nvSpPr>
        <p:spPr>
          <a:xfrm>
            <a:off x="1314907" y="571500"/>
            <a:ext cx="2502713" cy="191110"/>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03 · CD 항목 정의</a:t>
            </a:r>
            <a:endParaRPr lang="en-US" sz="1050" dirty="0"/>
          </a:p>
        </p:txBody>
      </p:sp>
      <p:sp>
        <p:nvSpPr>
          <p:cNvPr id="17" name="Shape 7"/>
          <p:cNvSpPr/>
          <p:nvPr/>
        </p:nvSpPr>
        <p:spPr>
          <a:xfrm>
            <a:off x="16799357" y="566928"/>
            <a:ext cx="57607" cy="57607"/>
          </a:xfrm>
          <a:prstGeom prst="ellipse">
            <a:avLst/>
          </a:prstGeom>
          <a:solidFill>
            <a:srgbClr val="1E5F9C"/>
          </a:solidFill>
          <a:ln w="12700">
            <a:solidFill>
              <a:srgbClr val="FFFFFF">
                <a:alpha val="0"/>
              </a:srgbClr>
            </a:solidFill>
            <a:prstDash val="solid"/>
          </a:ln>
        </p:spPr>
      </p:sp>
      <p:sp>
        <p:nvSpPr>
          <p:cNvPr id="18" name="Text 8"/>
          <p:cNvSpPr txBox="1"/>
          <p:nvPr/>
        </p:nvSpPr>
        <p:spPr>
          <a:xfrm>
            <a:off x="16741750" y="514807"/>
            <a:ext cx="790956"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03 / 12</a:t>
            </a:r>
            <a:endParaRPr lang="en-US" sz="975" dirty="0"/>
          </a:p>
        </p:txBody>
      </p:sp>
      <p:sp>
        <p:nvSpPr>
          <p:cNvPr id="19" name="Text 9"/>
          <p:cNvSpPr txBox="1"/>
          <p:nvPr/>
        </p:nvSpPr>
        <p:spPr>
          <a:xfrm>
            <a:off x="838505" y="1143000"/>
            <a:ext cx="1428750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CD 측정 항목 정의</a:t>
            </a:r>
            <a:endParaRPr lang="en-US" sz="4500" dirty="0"/>
          </a:p>
        </p:txBody>
      </p:sp>
      <p:sp>
        <p:nvSpPr>
          <p:cNvPr id="20" name="Text 10"/>
          <p:cNvSpPr txBox="1"/>
          <p:nvPr/>
        </p:nvSpPr>
        <p:spPr>
          <a:xfrm>
            <a:off x="838505" y="1876349"/>
            <a:ext cx="1428750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4개 CD 항목을 CD-SEM으로 측정 — 각 항목의 </a:t>
            </a:r>
            <a:pPr algn="l" indent="0" marL="0">
              <a:buNone/>
            </a:pPr>
            <a:r>
              <a:rPr lang="en-US" sz="1650" b="1" dirty="0">
                <a:solidFill>
                  <a:srgbClr val="14213D"/>
                </a:solidFill>
                <a:latin typeface="Noto Sans KR" pitchFamily="34" charset="0"/>
                <a:ea typeface="Noto Sans KR" pitchFamily="34" charset="-122"/>
                <a:cs typeface="Noto Sans KR" pitchFamily="34" charset="-120"/>
              </a:rPr>
              <a:t>target</a:t>
            </a:r>
            <a:pPr algn="l" indent="0" marL="0">
              <a:buNone/>
            </a:pPr>
            <a:r>
              <a:rPr lang="en-US" sz="1650" dirty="0">
                <a:solidFill>
                  <a:srgbClr val="455670"/>
                </a:solidFill>
                <a:latin typeface="Noto Sans KR" pitchFamily="34" charset="0"/>
                <a:ea typeface="Noto Sans KR" pitchFamily="34" charset="-122"/>
                <a:cs typeface="Noto Sans KR" pitchFamily="34" charset="-120"/>
              </a:rPr>
              <a:t>과 sampling site는 분면별로 동일하게 고정한다.</a:t>
            </a:r>
            <a:endParaRPr lang="en-US" sz="1650" dirty="0"/>
          </a:p>
        </p:txBody>
      </p:sp>
      <p:sp>
        <p:nvSpPr>
          <p:cNvPr id="21" name="Text 11"/>
          <p:cNvSpPr txBox="1"/>
          <p:nvPr/>
        </p:nvSpPr>
        <p:spPr>
          <a:xfrm>
            <a:off x="1086307" y="3161995"/>
            <a:ext cx="3620110" cy="162763"/>
          </a:xfrm>
          <a:prstGeom prst="rect">
            <a:avLst/>
          </a:prstGeom>
          <a:noFill/>
          <a:ln/>
        </p:spPr>
        <p:txBody>
          <a:bodyPr wrap="none" lIns="0" tIns="0" rIns="0" bIns="0" rtlCol="0" anchor="ctr"/>
          <a:lstStyle/>
          <a:p>
            <a:pPr algn="l" indent="0" marL="0">
              <a:buNone/>
            </a:pPr>
            <a:r>
              <a:rPr lang="en-US" sz="975" b="1" spc="195" kern="0" dirty="0">
                <a:solidFill>
                  <a:srgbClr val="1E5F9C"/>
                </a:solidFill>
                <a:latin typeface="Sora" pitchFamily="34" charset="0"/>
                <a:ea typeface="Sora" pitchFamily="34" charset="-122"/>
                <a:cs typeface="Sora" pitchFamily="34" charset="-120"/>
              </a:rPr>
              <a:t>CD ITEM #1</a:t>
            </a:r>
            <a:endParaRPr lang="en-US" sz="975" dirty="0"/>
          </a:p>
        </p:txBody>
      </p:sp>
      <p:sp>
        <p:nvSpPr>
          <p:cNvPr id="22" name="Text 12"/>
          <p:cNvSpPr txBox="1"/>
          <p:nvPr/>
        </p:nvSpPr>
        <p:spPr>
          <a:xfrm>
            <a:off x="1086307" y="3419856"/>
            <a:ext cx="3620110" cy="438912"/>
          </a:xfrm>
          <a:prstGeom prst="rect">
            <a:avLst/>
          </a:prstGeom>
          <a:noFill/>
          <a:ln/>
        </p:spPr>
        <p:txBody>
          <a:bodyPr wrap="none" lIns="0" tIns="0" rIns="0" bIns="0" rtlCol="0" anchor="ctr"/>
          <a:lstStyle/>
          <a:p>
            <a:pPr algn="l" indent="0" marL="0">
              <a:buNone/>
            </a:pPr>
            <a:r>
              <a:rPr lang="en-US" sz="3450" b="1" spc="-34" kern="0" dirty="0">
                <a:solidFill>
                  <a:srgbClr val="14213D"/>
                </a:solidFill>
                <a:latin typeface="Noto Sans KR" pitchFamily="34" charset="0"/>
                <a:ea typeface="Noto Sans KR" pitchFamily="34" charset="-122"/>
                <a:cs typeface="Noto Sans KR" pitchFamily="34" charset="-120"/>
              </a:rPr>
              <a:t>AASI</a:t>
            </a:r>
            <a:endParaRPr lang="en-US" sz="3450" dirty="0"/>
          </a:p>
        </p:txBody>
      </p:sp>
      <p:sp>
        <p:nvSpPr>
          <p:cNvPr id="23" name="Text 13"/>
          <p:cNvSpPr txBox="1"/>
          <p:nvPr/>
        </p:nvSpPr>
        <p:spPr>
          <a:xfrm>
            <a:off x="1086307" y="3914546"/>
            <a:ext cx="3620110"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After-Ash Side-wall Inspection</a:t>
            </a:r>
            <a:endParaRPr lang="en-US" sz="1200" dirty="0"/>
          </a:p>
        </p:txBody>
      </p:sp>
      <p:sp>
        <p:nvSpPr>
          <p:cNvPr id="24" name="Text 14"/>
          <p:cNvSpPr txBox="1"/>
          <p:nvPr/>
        </p:nvSpPr>
        <p:spPr>
          <a:xfrm>
            <a:off x="1086307" y="4581144"/>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TARGET</a:t>
            </a:r>
            <a:endParaRPr lang="en-US" sz="825" dirty="0"/>
          </a:p>
        </p:txBody>
      </p:sp>
      <p:sp>
        <p:nvSpPr>
          <p:cNvPr id="25" name="Text 15"/>
          <p:cNvSpPr txBox="1"/>
          <p:nvPr/>
        </p:nvSpPr>
        <p:spPr>
          <a:xfrm>
            <a:off x="1749247" y="4352544"/>
            <a:ext cx="1666037" cy="362102"/>
          </a:xfrm>
          <a:prstGeom prst="rect">
            <a:avLst/>
          </a:prstGeom>
          <a:noFill/>
          <a:ln/>
        </p:spPr>
        <p:txBody>
          <a:bodyPr wrap="none" lIns="0" tIns="0" rIns="0" bIns="0" rtlCol="0" anchor="ctr"/>
          <a:lstStyle/>
          <a:p>
            <a:pPr algn="l" indent="0" marL="0">
              <a:buNone/>
            </a:pPr>
            <a:r>
              <a:rPr lang="en-US" sz="2850" b="1" dirty="0">
                <a:solidFill>
                  <a:srgbClr val="14213D"/>
                </a:solidFill>
                <a:latin typeface="Noto Sans KR" pitchFamily="34" charset="0"/>
                <a:ea typeface="Noto Sans KR" pitchFamily="34" charset="-122"/>
                <a:cs typeface="Noto Sans KR" pitchFamily="34" charset="-120"/>
              </a:rPr>
              <a:t>25.5</a:t>
            </a:r>
            <a:pPr algn="l" indent="0" marL="0">
              <a:buNone/>
            </a:pPr>
            <a:r>
              <a:rPr lang="en-US" sz="1650" b="1" dirty="0">
                <a:solidFill>
                  <a:srgbClr val="455670"/>
                </a:solidFill>
                <a:latin typeface="Noto Sans KR" pitchFamily="34" charset="0"/>
                <a:ea typeface="Noto Sans KR" pitchFamily="34" charset="-122"/>
                <a:cs typeface="Noto Sans KR" pitchFamily="34" charset="-120"/>
              </a:rPr>
              <a:t>nm</a:t>
            </a:r>
            <a:endParaRPr lang="en-US" sz="2850" dirty="0"/>
          </a:p>
        </p:txBody>
      </p:sp>
      <p:sp>
        <p:nvSpPr>
          <p:cNvPr id="26" name="Text 16"/>
          <p:cNvSpPr txBox="1"/>
          <p:nvPr/>
        </p:nvSpPr>
        <p:spPr>
          <a:xfrm>
            <a:off x="1086307" y="4886554"/>
            <a:ext cx="3620110" cy="219456"/>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에칭 후 라인 폭 / Trench top</a:t>
            </a:r>
            <a:endParaRPr lang="en-US" sz="1200" dirty="0"/>
          </a:p>
        </p:txBody>
      </p:sp>
      <p:sp>
        <p:nvSpPr>
          <p:cNvPr id="27" name="Text 17"/>
          <p:cNvSpPr txBox="1"/>
          <p:nvPr/>
        </p:nvSpPr>
        <p:spPr>
          <a:xfrm>
            <a:off x="5372100" y="3161995"/>
            <a:ext cx="3620110" cy="162763"/>
          </a:xfrm>
          <a:prstGeom prst="rect">
            <a:avLst/>
          </a:prstGeom>
          <a:noFill/>
          <a:ln/>
        </p:spPr>
        <p:txBody>
          <a:bodyPr wrap="none" lIns="0" tIns="0" rIns="0" bIns="0" rtlCol="0" anchor="ctr"/>
          <a:lstStyle/>
          <a:p>
            <a:pPr algn="l" indent="0" marL="0">
              <a:buNone/>
            </a:pPr>
            <a:r>
              <a:rPr lang="en-US" sz="975" b="1" spc="195" kern="0" dirty="0">
                <a:solidFill>
                  <a:srgbClr val="2E6FA6"/>
                </a:solidFill>
                <a:latin typeface="Sora" pitchFamily="34" charset="0"/>
                <a:ea typeface="Sora" pitchFamily="34" charset="-122"/>
                <a:cs typeface="Sora" pitchFamily="34" charset="-120"/>
              </a:rPr>
              <a:t>CD ITEM #2</a:t>
            </a:r>
            <a:endParaRPr lang="en-US" sz="975" dirty="0"/>
          </a:p>
        </p:txBody>
      </p:sp>
      <p:sp>
        <p:nvSpPr>
          <p:cNvPr id="28" name="Text 18"/>
          <p:cNvSpPr txBox="1"/>
          <p:nvPr/>
        </p:nvSpPr>
        <p:spPr>
          <a:xfrm>
            <a:off x="5372100" y="3419856"/>
            <a:ext cx="3620110" cy="438912"/>
          </a:xfrm>
          <a:prstGeom prst="rect">
            <a:avLst/>
          </a:prstGeom>
          <a:noFill/>
          <a:ln/>
        </p:spPr>
        <p:txBody>
          <a:bodyPr wrap="none" lIns="0" tIns="0" rIns="0" bIns="0" rtlCol="0" anchor="ctr"/>
          <a:lstStyle/>
          <a:p>
            <a:pPr algn="l" indent="0" marL="0">
              <a:buNone/>
            </a:pPr>
            <a:r>
              <a:rPr lang="en-US" sz="3450" b="1" spc="-34" kern="0" dirty="0">
                <a:solidFill>
                  <a:srgbClr val="14213D"/>
                </a:solidFill>
                <a:latin typeface="Noto Sans KR" pitchFamily="34" charset="0"/>
                <a:ea typeface="Noto Sans KR" pitchFamily="34" charset="-122"/>
                <a:cs typeface="Noto Sans KR" pitchFamily="34" charset="-120"/>
              </a:rPr>
              <a:t>ASEI</a:t>
            </a:r>
            <a:endParaRPr lang="en-US" sz="3450" dirty="0"/>
          </a:p>
        </p:txBody>
      </p:sp>
      <p:sp>
        <p:nvSpPr>
          <p:cNvPr id="29" name="Text 19"/>
          <p:cNvSpPr txBox="1"/>
          <p:nvPr/>
        </p:nvSpPr>
        <p:spPr>
          <a:xfrm>
            <a:off x="5372100" y="3914546"/>
            <a:ext cx="3620110"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After-Strip Etch-Inspection</a:t>
            </a:r>
            <a:endParaRPr lang="en-US" sz="1200" dirty="0"/>
          </a:p>
        </p:txBody>
      </p:sp>
      <p:sp>
        <p:nvSpPr>
          <p:cNvPr id="30" name="Text 20"/>
          <p:cNvSpPr txBox="1"/>
          <p:nvPr/>
        </p:nvSpPr>
        <p:spPr>
          <a:xfrm>
            <a:off x="5372100" y="4581144"/>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TARGET</a:t>
            </a:r>
            <a:endParaRPr lang="en-US" sz="825" dirty="0"/>
          </a:p>
        </p:txBody>
      </p:sp>
      <p:sp>
        <p:nvSpPr>
          <p:cNvPr id="31" name="Text 21"/>
          <p:cNvSpPr txBox="1"/>
          <p:nvPr/>
        </p:nvSpPr>
        <p:spPr>
          <a:xfrm>
            <a:off x="6035040" y="4352544"/>
            <a:ext cx="1666037" cy="362102"/>
          </a:xfrm>
          <a:prstGeom prst="rect">
            <a:avLst/>
          </a:prstGeom>
          <a:noFill/>
          <a:ln/>
        </p:spPr>
        <p:txBody>
          <a:bodyPr wrap="none" lIns="0" tIns="0" rIns="0" bIns="0" rtlCol="0" anchor="ctr"/>
          <a:lstStyle/>
          <a:p>
            <a:pPr algn="l" indent="0" marL="0">
              <a:buNone/>
            </a:pPr>
            <a:r>
              <a:rPr lang="en-US" sz="2850" b="1" dirty="0">
                <a:solidFill>
                  <a:srgbClr val="14213D"/>
                </a:solidFill>
                <a:latin typeface="Noto Sans KR" pitchFamily="34" charset="0"/>
                <a:ea typeface="Noto Sans KR" pitchFamily="34" charset="-122"/>
                <a:cs typeface="Noto Sans KR" pitchFamily="34" charset="-120"/>
              </a:rPr>
              <a:t>18.3</a:t>
            </a:r>
            <a:pPr algn="l" indent="0" marL="0">
              <a:buNone/>
            </a:pPr>
            <a:r>
              <a:rPr lang="en-US" sz="1650" b="1" dirty="0">
                <a:solidFill>
                  <a:srgbClr val="455670"/>
                </a:solidFill>
                <a:latin typeface="Noto Sans KR" pitchFamily="34" charset="0"/>
                <a:ea typeface="Noto Sans KR" pitchFamily="34" charset="-122"/>
                <a:cs typeface="Noto Sans KR" pitchFamily="34" charset="-120"/>
              </a:rPr>
              <a:t>nm</a:t>
            </a:r>
            <a:endParaRPr lang="en-US" sz="2850" dirty="0"/>
          </a:p>
        </p:txBody>
      </p:sp>
      <p:sp>
        <p:nvSpPr>
          <p:cNvPr id="32" name="Text 22"/>
          <p:cNvSpPr txBox="1"/>
          <p:nvPr/>
        </p:nvSpPr>
        <p:spPr>
          <a:xfrm>
            <a:off x="5372100" y="4886554"/>
            <a:ext cx="3620110" cy="219456"/>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스트립 후 라인 폭 / Trench mid</a:t>
            </a:r>
            <a:endParaRPr lang="en-US" sz="1200" dirty="0"/>
          </a:p>
        </p:txBody>
      </p:sp>
      <p:sp>
        <p:nvSpPr>
          <p:cNvPr id="33" name="Text 23"/>
          <p:cNvSpPr txBox="1"/>
          <p:nvPr/>
        </p:nvSpPr>
        <p:spPr>
          <a:xfrm>
            <a:off x="9658807" y="3161995"/>
            <a:ext cx="3620110" cy="162763"/>
          </a:xfrm>
          <a:prstGeom prst="rect">
            <a:avLst/>
          </a:prstGeom>
          <a:noFill/>
          <a:ln/>
        </p:spPr>
        <p:txBody>
          <a:bodyPr wrap="none" lIns="0" tIns="0" rIns="0" bIns="0" rtlCol="0" anchor="ctr"/>
          <a:lstStyle/>
          <a:p>
            <a:pPr algn="l" indent="0" marL="0">
              <a:buNone/>
            </a:pPr>
            <a:r>
              <a:rPr lang="en-US" sz="975" b="1" spc="195" kern="0" dirty="0">
                <a:solidFill>
                  <a:srgbClr val="4F86C0"/>
                </a:solidFill>
                <a:latin typeface="Sora" pitchFamily="34" charset="0"/>
                <a:ea typeface="Sora" pitchFamily="34" charset="-122"/>
                <a:cs typeface="Sora" pitchFamily="34" charset="-120"/>
              </a:rPr>
              <a:t>CD ITEM #3</a:t>
            </a:r>
            <a:endParaRPr lang="en-US" sz="975" dirty="0"/>
          </a:p>
        </p:txBody>
      </p:sp>
      <p:sp>
        <p:nvSpPr>
          <p:cNvPr id="34" name="Text 24"/>
          <p:cNvSpPr txBox="1"/>
          <p:nvPr/>
        </p:nvSpPr>
        <p:spPr>
          <a:xfrm>
            <a:off x="9658807" y="3419856"/>
            <a:ext cx="3620110" cy="438912"/>
          </a:xfrm>
          <a:prstGeom prst="rect">
            <a:avLst/>
          </a:prstGeom>
          <a:noFill/>
          <a:ln/>
        </p:spPr>
        <p:txBody>
          <a:bodyPr wrap="none" lIns="0" tIns="0" rIns="0" bIns="0" rtlCol="0" anchor="ctr"/>
          <a:lstStyle/>
          <a:p>
            <a:pPr algn="l" indent="0" marL="0">
              <a:buNone/>
            </a:pPr>
            <a:r>
              <a:rPr lang="en-US" sz="3450" b="1" spc="-34" kern="0" dirty="0">
                <a:solidFill>
                  <a:srgbClr val="14213D"/>
                </a:solidFill>
                <a:latin typeface="Noto Sans KR" pitchFamily="34" charset="0"/>
                <a:ea typeface="Noto Sans KR" pitchFamily="34" charset="-122"/>
                <a:cs typeface="Noto Sans KR" pitchFamily="34" charset="-120"/>
              </a:rPr>
              <a:t>AMI</a:t>
            </a:r>
            <a:endParaRPr lang="en-US" sz="3450" dirty="0"/>
          </a:p>
        </p:txBody>
      </p:sp>
      <p:sp>
        <p:nvSpPr>
          <p:cNvPr id="35" name="Text 25"/>
          <p:cNvSpPr txBox="1"/>
          <p:nvPr/>
        </p:nvSpPr>
        <p:spPr>
          <a:xfrm>
            <a:off x="9658807" y="3914546"/>
            <a:ext cx="3620110"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After-Metal Inspection</a:t>
            </a:r>
            <a:endParaRPr lang="en-US" sz="1200" dirty="0"/>
          </a:p>
        </p:txBody>
      </p:sp>
      <p:sp>
        <p:nvSpPr>
          <p:cNvPr id="36" name="Text 26"/>
          <p:cNvSpPr txBox="1"/>
          <p:nvPr/>
        </p:nvSpPr>
        <p:spPr>
          <a:xfrm>
            <a:off x="9658807" y="4581144"/>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TARGET</a:t>
            </a:r>
            <a:endParaRPr lang="en-US" sz="825" dirty="0"/>
          </a:p>
        </p:txBody>
      </p:sp>
      <p:sp>
        <p:nvSpPr>
          <p:cNvPr id="37" name="Text 27"/>
          <p:cNvSpPr txBox="1"/>
          <p:nvPr/>
        </p:nvSpPr>
        <p:spPr>
          <a:xfrm>
            <a:off x="10321747" y="4352544"/>
            <a:ext cx="1423721" cy="362102"/>
          </a:xfrm>
          <a:prstGeom prst="rect">
            <a:avLst/>
          </a:prstGeom>
          <a:noFill/>
          <a:ln/>
        </p:spPr>
        <p:txBody>
          <a:bodyPr wrap="none" lIns="0" tIns="0" rIns="0" bIns="0" rtlCol="0" anchor="ctr"/>
          <a:lstStyle/>
          <a:p>
            <a:pPr algn="l" indent="0" marL="0">
              <a:buNone/>
            </a:pPr>
            <a:r>
              <a:rPr lang="en-US" sz="2850" b="1" dirty="0">
                <a:solidFill>
                  <a:srgbClr val="14213D"/>
                </a:solidFill>
                <a:latin typeface="Noto Sans KR" pitchFamily="34" charset="0"/>
                <a:ea typeface="Noto Sans KR" pitchFamily="34" charset="-122"/>
                <a:cs typeface="Noto Sans KR" pitchFamily="34" charset="-120"/>
              </a:rPr>
              <a:t>9.1</a:t>
            </a:r>
            <a:pPr algn="l" indent="0" marL="0">
              <a:buNone/>
            </a:pPr>
            <a:r>
              <a:rPr lang="en-US" sz="1650" b="1" dirty="0">
                <a:solidFill>
                  <a:srgbClr val="455670"/>
                </a:solidFill>
                <a:latin typeface="Noto Sans KR" pitchFamily="34" charset="0"/>
                <a:ea typeface="Noto Sans KR" pitchFamily="34" charset="-122"/>
                <a:cs typeface="Noto Sans KR" pitchFamily="34" charset="-120"/>
              </a:rPr>
              <a:t>nm</a:t>
            </a:r>
            <a:endParaRPr lang="en-US" sz="2850" dirty="0"/>
          </a:p>
        </p:txBody>
      </p:sp>
      <p:sp>
        <p:nvSpPr>
          <p:cNvPr id="38" name="Text 28"/>
          <p:cNvSpPr txBox="1"/>
          <p:nvPr/>
        </p:nvSpPr>
        <p:spPr>
          <a:xfrm>
            <a:off x="9658807" y="4886554"/>
            <a:ext cx="3620110" cy="219456"/>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Metal-deposit 후 라인 폭</a:t>
            </a:r>
            <a:endParaRPr lang="en-US" sz="1200" dirty="0"/>
          </a:p>
        </p:txBody>
      </p:sp>
      <p:sp>
        <p:nvSpPr>
          <p:cNvPr id="39" name="Text 29"/>
          <p:cNvSpPr txBox="1"/>
          <p:nvPr/>
        </p:nvSpPr>
        <p:spPr>
          <a:xfrm>
            <a:off x="13944600" y="3161995"/>
            <a:ext cx="3238805" cy="162763"/>
          </a:xfrm>
          <a:prstGeom prst="rect">
            <a:avLst/>
          </a:prstGeom>
          <a:noFill/>
          <a:ln/>
        </p:spPr>
        <p:txBody>
          <a:bodyPr wrap="none" lIns="0" tIns="0" rIns="0" bIns="0" rtlCol="0" anchor="ctr"/>
          <a:lstStyle/>
          <a:p>
            <a:pPr algn="l" indent="0" marL="0">
              <a:buNone/>
            </a:pPr>
            <a:r>
              <a:rPr lang="en-US" sz="975" b="1" spc="195" kern="0" dirty="0">
                <a:solidFill>
                  <a:srgbClr val="6F7D94"/>
                </a:solidFill>
                <a:latin typeface="Sora" pitchFamily="34" charset="0"/>
                <a:ea typeface="Sora" pitchFamily="34" charset="-122"/>
                <a:cs typeface="Sora" pitchFamily="34" charset="-120"/>
              </a:rPr>
              <a:t>CD ITEM #4</a:t>
            </a:r>
            <a:endParaRPr lang="en-US" sz="975" dirty="0"/>
          </a:p>
        </p:txBody>
      </p:sp>
      <p:sp>
        <p:nvSpPr>
          <p:cNvPr id="40" name="Text 30"/>
          <p:cNvSpPr txBox="1"/>
          <p:nvPr/>
        </p:nvSpPr>
        <p:spPr>
          <a:xfrm>
            <a:off x="13944600" y="3419856"/>
            <a:ext cx="3238805" cy="438912"/>
          </a:xfrm>
          <a:prstGeom prst="rect">
            <a:avLst/>
          </a:prstGeom>
          <a:noFill/>
          <a:ln/>
        </p:spPr>
        <p:txBody>
          <a:bodyPr wrap="none" lIns="0" tIns="0" rIns="0" bIns="0" rtlCol="0" anchor="ctr"/>
          <a:lstStyle/>
          <a:p>
            <a:pPr algn="l" indent="0" marL="0">
              <a:buNone/>
            </a:pPr>
            <a:r>
              <a:rPr lang="en-US" sz="3450" b="1" spc="-34" kern="0" dirty="0">
                <a:solidFill>
                  <a:srgbClr val="14213D"/>
                </a:solidFill>
                <a:latin typeface="Noto Sans KR" pitchFamily="34" charset="0"/>
                <a:ea typeface="Noto Sans KR" pitchFamily="34" charset="-122"/>
                <a:cs typeface="Noto Sans KR" pitchFamily="34" charset="-120"/>
              </a:rPr>
              <a:t>ACI</a:t>
            </a:r>
            <a:endParaRPr lang="en-US" sz="3450" dirty="0"/>
          </a:p>
        </p:txBody>
      </p:sp>
      <p:sp>
        <p:nvSpPr>
          <p:cNvPr id="41" name="Text 31"/>
          <p:cNvSpPr txBox="1"/>
          <p:nvPr/>
        </p:nvSpPr>
        <p:spPr>
          <a:xfrm>
            <a:off x="13944600" y="3914546"/>
            <a:ext cx="3238805"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After-CMP Inspection</a:t>
            </a:r>
            <a:endParaRPr lang="en-US" sz="1200" dirty="0"/>
          </a:p>
        </p:txBody>
      </p:sp>
      <p:sp>
        <p:nvSpPr>
          <p:cNvPr id="42" name="Text 32"/>
          <p:cNvSpPr txBox="1"/>
          <p:nvPr/>
        </p:nvSpPr>
        <p:spPr>
          <a:xfrm>
            <a:off x="13944600" y="4581144"/>
            <a:ext cx="571500"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TARGET</a:t>
            </a:r>
            <a:endParaRPr lang="en-US" sz="825" dirty="0"/>
          </a:p>
        </p:txBody>
      </p:sp>
      <p:sp>
        <p:nvSpPr>
          <p:cNvPr id="43" name="Text 33"/>
          <p:cNvSpPr txBox="1"/>
          <p:nvPr/>
        </p:nvSpPr>
        <p:spPr>
          <a:xfrm>
            <a:off x="14607540" y="4352544"/>
            <a:ext cx="1423721" cy="362102"/>
          </a:xfrm>
          <a:prstGeom prst="rect">
            <a:avLst/>
          </a:prstGeom>
          <a:noFill/>
          <a:ln/>
        </p:spPr>
        <p:txBody>
          <a:bodyPr wrap="none" lIns="0" tIns="0" rIns="0" bIns="0" rtlCol="0" anchor="ctr"/>
          <a:lstStyle/>
          <a:p>
            <a:pPr algn="l" indent="0" marL="0">
              <a:buNone/>
            </a:pPr>
            <a:r>
              <a:rPr lang="en-US" sz="2850" b="1" dirty="0">
                <a:solidFill>
                  <a:srgbClr val="14213D"/>
                </a:solidFill>
                <a:latin typeface="Noto Sans KR" pitchFamily="34" charset="0"/>
                <a:ea typeface="Noto Sans KR" pitchFamily="34" charset="-122"/>
                <a:cs typeface="Noto Sans KR" pitchFamily="34" charset="-120"/>
              </a:rPr>
              <a:t>9.8</a:t>
            </a:r>
            <a:pPr algn="l" indent="0" marL="0">
              <a:buNone/>
            </a:pPr>
            <a:r>
              <a:rPr lang="en-US" sz="1650" b="1" dirty="0">
                <a:solidFill>
                  <a:srgbClr val="455670"/>
                </a:solidFill>
                <a:latin typeface="Noto Sans KR" pitchFamily="34" charset="0"/>
                <a:ea typeface="Noto Sans KR" pitchFamily="34" charset="-122"/>
                <a:cs typeface="Noto Sans KR" pitchFamily="34" charset="-120"/>
              </a:rPr>
              <a:t>nm</a:t>
            </a:r>
            <a:endParaRPr lang="en-US" sz="2850" dirty="0"/>
          </a:p>
        </p:txBody>
      </p:sp>
      <p:sp>
        <p:nvSpPr>
          <p:cNvPr id="44" name="Text 34"/>
          <p:cNvSpPr txBox="1"/>
          <p:nvPr/>
        </p:nvSpPr>
        <p:spPr>
          <a:xfrm>
            <a:off x="13944600" y="4886554"/>
            <a:ext cx="3238805" cy="219456"/>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CMP 후 라인 폭 (최종 단면)</a:t>
            </a:r>
            <a:endParaRPr lang="en-US" sz="1200" dirty="0"/>
          </a:p>
        </p:txBody>
      </p:sp>
      <p:sp>
        <p:nvSpPr>
          <p:cNvPr id="45" name="Text 35"/>
          <p:cNvSpPr txBox="1"/>
          <p:nvPr/>
        </p:nvSpPr>
        <p:spPr>
          <a:xfrm>
            <a:off x="1143000" y="6362395"/>
            <a:ext cx="16002000"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MEASUREMENT DEFINITION</a:t>
            </a:r>
            <a:endParaRPr lang="en-US" sz="900" dirty="0"/>
          </a:p>
        </p:txBody>
      </p:sp>
      <p:sp>
        <p:nvSpPr>
          <p:cNvPr id="46" name="Text 36"/>
          <p:cNvSpPr txBox="1"/>
          <p:nvPr/>
        </p:nvSpPr>
        <p:spPr>
          <a:xfrm>
            <a:off x="1143000" y="6562649"/>
            <a:ext cx="16002000" cy="419710"/>
          </a:xfrm>
          <a:prstGeom prst="rect">
            <a:avLst/>
          </a:prstGeom>
          <a:noFill/>
          <a:ln/>
        </p:spPr>
        <p:txBody>
          <a:bodyPr wrap="none" lIns="0" tIns="0" rIns="0" bIns="0" rtlCol="0" anchor="ctr"/>
          <a:lstStyle/>
          <a:p>
            <a:pPr algn="l" indent="0" marL="0">
              <a:buNone/>
            </a:pPr>
            <a:r>
              <a:rPr lang="en-US" sz="2250" b="1" dirty="0">
                <a:solidFill>
                  <a:srgbClr val="14213D"/>
                </a:solidFill>
                <a:latin typeface="Noto Sans KR" pitchFamily="34" charset="0"/>
                <a:ea typeface="Noto Sans KR" pitchFamily="34" charset="-122"/>
                <a:cs typeface="Noto Sans KR" pitchFamily="34" charset="-120"/>
              </a:rPr>
              <a:t>측정 절차 및 통계 정의</a:t>
            </a:r>
            <a:endParaRPr lang="en-US" sz="2250" dirty="0"/>
          </a:p>
        </p:txBody>
      </p:sp>
      <p:sp>
        <p:nvSpPr>
          <p:cNvPr id="47" name="Text 37"/>
          <p:cNvSpPr txBox="1"/>
          <p:nvPr/>
        </p:nvSpPr>
        <p:spPr>
          <a:xfrm>
            <a:off x="1143000" y="7162495"/>
            <a:ext cx="1334110" cy="295351"/>
          </a:xfrm>
          <a:prstGeom prst="rect">
            <a:avLst/>
          </a:prstGeom>
          <a:noFill/>
          <a:ln/>
        </p:spPr>
        <p:txBody>
          <a:bodyPr wrap="none" lIns="0" tIns="0" rIns="0" bIns="0" rtlCol="0" anchor="ctr"/>
          <a:lstStyle/>
          <a:p>
            <a:pPr algn="l" indent="0" marL="0">
              <a:buNone/>
            </a:pPr>
            <a:r>
              <a:rPr lang="en-US" sz="1500" b="1" dirty="0">
                <a:solidFill>
                  <a:srgbClr val="1E5F9C"/>
                </a:solidFill>
                <a:latin typeface="Noto Sans KR" pitchFamily="34" charset="0"/>
                <a:ea typeface="Noto Sans KR" pitchFamily="34" charset="-122"/>
                <a:cs typeface="Noto Sans KR" pitchFamily="34" charset="-120"/>
              </a:rPr>
              <a:t>장비</a:t>
            </a:r>
            <a:endParaRPr lang="en-US" sz="1500" dirty="0"/>
          </a:p>
        </p:txBody>
      </p:sp>
      <p:sp>
        <p:nvSpPr>
          <p:cNvPr id="48" name="Text 38"/>
          <p:cNvSpPr txBox="1"/>
          <p:nvPr/>
        </p:nvSpPr>
        <p:spPr>
          <a:xfrm>
            <a:off x="2609698" y="7162495"/>
            <a:ext cx="4867351" cy="295351"/>
          </a:xfrm>
          <a:prstGeom prst="rect">
            <a:avLst/>
          </a:prstGeom>
          <a:noFill/>
          <a:ln/>
        </p:spPr>
        <p:txBody>
          <a:bodyPr wrap="none" lIns="0" tIns="0" rIns="0" bIns="0" rtlCol="0" anchor="ctr"/>
          <a:lstStyle/>
          <a:p>
            <a:pPr algn="l" indent="0" marL="0">
              <a:buNone/>
            </a:pPr>
            <a:r>
              <a:rPr lang="en-US" sz="1500" dirty="0">
                <a:solidFill>
                  <a:srgbClr val="14213D"/>
                </a:solidFill>
                <a:latin typeface="Noto Sans KR" pitchFamily="34" charset="0"/>
                <a:ea typeface="Noto Sans KR" pitchFamily="34" charset="-122"/>
                <a:cs typeface="Noto Sans KR" pitchFamily="34" charset="-120"/>
              </a:rPr>
              <a:t>Hitachi 9380 CD-SEM / 200 kV TEM (단면 확인용)</a:t>
            </a:r>
            <a:endParaRPr lang="en-US" sz="1500" dirty="0"/>
          </a:p>
        </p:txBody>
      </p:sp>
      <p:sp>
        <p:nvSpPr>
          <p:cNvPr id="49" name="Text 39"/>
          <p:cNvSpPr txBox="1"/>
          <p:nvPr/>
        </p:nvSpPr>
        <p:spPr>
          <a:xfrm>
            <a:off x="1143000" y="7610551"/>
            <a:ext cx="1334110" cy="295351"/>
          </a:xfrm>
          <a:prstGeom prst="rect">
            <a:avLst/>
          </a:prstGeom>
          <a:noFill/>
          <a:ln/>
        </p:spPr>
        <p:txBody>
          <a:bodyPr wrap="none" lIns="0" tIns="0" rIns="0" bIns="0" rtlCol="0" anchor="ctr"/>
          <a:lstStyle/>
          <a:p>
            <a:pPr algn="l" indent="0" marL="0">
              <a:buNone/>
            </a:pPr>
            <a:r>
              <a:rPr lang="en-US" sz="1500" b="1" dirty="0">
                <a:solidFill>
                  <a:srgbClr val="1E5F9C"/>
                </a:solidFill>
                <a:latin typeface="Noto Sans KR" pitchFamily="34" charset="0"/>
                <a:ea typeface="Noto Sans KR" pitchFamily="34" charset="-122"/>
                <a:cs typeface="Noto Sans KR" pitchFamily="34" charset="-120"/>
              </a:rPr>
              <a:t>sampling</a:t>
            </a:r>
            <a:endParaRPr lang="en-US" sz="1500" dirty="0"/>
          </a:p>
        </p:txBody>
      </p:sp>
      <p:sp>
        <p:nvSpPr>
          <p:cNvPr id="50" name="Text 40"/>
          <p:cNvSpPr txBox="1"/>
          <p:nvPr/>
        </p:nvSpPr>
        <p:spPr>
          <a:xfrm>
            <a:off x="2609698" y="7610551"/>
            <a:ext cx="5077663" cy="295351"/>
          </a:xfrm>
          <a:prstGeom prst="rect">
            <a:avLst/>
          </a:prstGeom>
          <a:noFill/>
          <a:ln/>
        </p:spPr>
        <p:txBody>
          <a:bodyPr wrap="none" lIns="0" tIns="0" rIns="0" bIns="0" rtlCol="0" anchor="ctr"/>
          <a:lstStyle/>
          <a:p>
            <a:pPr algn="l" indent="0" marL="0">
              <a:buNone/>
            </a:pPr>
            <a:r>
              <a:rPr lang="en-US" sz="1500" dirty="0">
                <a:solidFill>
                  <a:srgbClr val="14213D"/>
                </a:solidFill>
                <a:latin typeface="Noto Sans KR" pitchFamily="34" charset="0"/>
                <a:ea typeface="Noto Sans KR" pitchFamily="34" charset="-122"/>
                <a:cs typeface="Noto Sans KR" pitchFamily="34" charset="-120"/>
              </a:rPr>
              <a:t>wafer당 69 site (8분면 + center), die 5개 × 13 area</a:t>
            </a:r>
            <a:endParaRPr lang="en-US" sz="1500" dirty="0"/>
          </a:p>
        </p:txBody>
      </p:sp>
      <p:sp>
        <p:nvSpPr>
          <p:cNvPr id="51" name="Text 41"/>
          <p:cNvSpPr txBox="1"/>
          <p:nvPr/>
        </p:nvSpPr>
        <p:spPr>
          <a:xfrm>
            <a:off x="9334195" y="7162495"/>
            <a:ext cx="1524305" cy="295351"/>
          </a:xfrm>
          <a:prstGeom prst="rect">
            <a:avLst/>
          </a:prstGeom>
          <a:noFill/>
          <a:ln/>
        </p:spPr>
        <p:txBody>
          <a:bodyPr wrap="none" lIns="0" tIns="0" rIns="0" bIns="0" rtlCol="0" anchor="ctr"/>
          <a:lstStyle/>
          <a:p>
            <a:pPr algn="l" indent="0" marL="0">
              <a:buNone/>
            </a:pPr>
            <a:r>
              <a:rPr lang="en-US" sz="1500" b="1" dirty="0">
                <a:solidFill>
                  <a:srgbClr val="1E5F9C"/>
                </a:solidFill>
                <a:latin typeface="Noto Sans KR" pitchFamily="34" charset="0"/>
                <a:ea typeface="Noto Sans KR" pitchFamily="34" charset="-122"/>
                <a:cs typeface="Noto Sans KR" pitchFamily="34" charset="-120"/>
              </a:rPr>
              <a:t>mean</a:t>
            </a:r>
            <a:endParaRPr lang="en-US" sz="1500" dirty="0"/>
          </a:p>
        </p:txBody>
      </p:sp>
      <p:sp>
        <p:nvSpPr>
          <p:cNvPr id="52" name="Text 42"/>
          <p:cNvSpPr txBox="1"/>
          <p:nvPr/>
        </p:nvSpPr>
        <p:spPr>
          <a:xfrm>
            <a:off x="10992002" y="7162495"/>
            <a:ext cx="3664001" cy="295351"/>
          </a:xfrm>
          <a:prstGeom prst="rect">
            <a:avLst/>
          </a:prstGeom>
          <a:noFill/>
          <a:ln/>
        </p:spPr>
        <p:txBody>
          <a:bodyPr wrap="none" lIns="0" tIns="0" rIns="0" bIns="0" rtlCol="0" anchor="ctr"/>
          <a:lstStyle/>
          <a:p>
            <a:pPr algn="l" indent="0" marL="0">
              <a:buNone/>
            </a:pPr>
            <a:r>
              <a:rPr lang="en-US" sz="1500" dirty="0">
                <a:solidFill>
                  <a:srgbClr val="14213D"/>
                </a:solidFill>
                <a:latin typeface="Noto Sans KR" pitchFamily="34" charset="0"/>
                <a:ea typeface="Noto Sans KR" pitchFamily="34" charset="-122"/>
                <a:cs typeface="Noto Sans KR" pitchFamily="34" charset="-120"/>
              </a:rPr>
              <a:t>69 site의 평균 / wafer별, split별 집계</a:t>
            </a:r>
            <a:endParaRPr lang="en-US" sz="1500" dirty="0"/>
          </a:p>
        </p:txBody>
      </p:sp>
      <p:sp>
        <p:nvSpPr>
          <p:cNvPr id="53" name="Text 43"/>
          <p:cNvSpPr txBox="1"/>
          <p:nvPr/>
        </p:nvSpPr>
        <p:spPr>
          <a:xfrm>
            <a:off x="9334195" y="7610551"/>
            <a:ext cx="1714500" cy="295351"/>
          </a:xfrm>
          <a:prstGeom prst="rect">
            <a:avLst/>
          </a:prstGeom>
          <a:noFill/>
          <a:ln/>
        </p:spPr>
        <p:txBody>
          <a:bodyPr wrap="none" lIns="0" tIns="0" rIns="0" bIns="0" rtlCol="0" anchor="ctr"/>
          <a:lstStyle/>
          <a:p>
            <a:pPr algn="l" indent="0" marL="0">
              <a:buNone/>
            </a:pPr>
            <a:r>
              <a:rPr lang="en-US" sz="1500" b="1" dirty="0">
                <a:solidFill>
                  <a:srgbClr val="1E5F9C"/>
                </a:solidFill>
                <a:latin typeface="Noto Sans KR" pitchFamily="34" charset="0"/>
                <a:ea typeface="Noto Sans KR" pitchFamily="34" charset="-122"/>
                <a:cs typeface="Noto Sans KR" pitchFamily="34" charset="-120"/>
              </a:rPr>
              <a:t>3σ · range · Δ</a:t>
            </a:r>
            <a:endParaRPr lang="en-US" sz="1500" dirty="0"/>
          </a:p>
        </p:txBody>
      </p:sp>
      <p:sp>
        <p:nvSpPr>
          <p:cNvPr id="54" name="Text 44"/>
          <p:cNvSpPr txBox="1"/>
          <p:nvPr/>
        </p:nvSpPr>
        <p:spPr>
          <a:xfrm>
            <a:off x="10992002" y="7610551"/>
            <a:ext cx="5277002" cy="295351"/>
          </a:xfrm>
          <a:prstGeom prst="rect">
            <a:avLst/>
          </a:prstGeom>
          <a:noFill/>
          <a:ln/>
        </p:spPr>
        <p:txBody>
          <a:bodyPr wrap="none" lIns="0" tIns="0" rIns="0" bIns="0" rtlCol="0" anchor="ctr"/>
          <a:lstStyle/>
          <a:p>
            <a:pPr algn="l" indent="0" marL="0">
              <a:buNone/>
            </a:pPr>
            <a:r>
              <a:rPr lang="en-US" sz="1500" dirty="0">
                <a:solidFill>
                  <a:srgbClr val="14213D"/>
                </a:solidFill>
                <a:latin typeface="Noto Sans KR" pitchFamily="34" charset="0"/>
                <a:ea typeface="Noto Sans KR" pitchFamily="34" charset="-122"/>
                <a:cs typeface="Noto Sans KR" pitchFamily="34" charset="-120"/>
              </a:rPr>
              <a:t>3σ(within-wafer), range, Δ vs target = mean − target</a:t>
            </a:r>
            <a:endParaRPr lang="en-US" sz="1500" dirty="0"/>
          </a:p>
        </p:txBody>
      </p:sp>
      <p:sp>
        <p:nvSpPr>
          <p:cNvPr id="55" name="Text 45"/>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56" name="Image 7" descr="gen-dedup-a95c956e3bd879e41d2e7daca8566398.png">    </p:cNvPr>
          <p:cNvPicPr>
            <a:picLocks noChangeAspect="1"/>
          </p:cNvPicPr>
          <p:nvPr/>
        </p:nvPicPr>
        <p:blipFill>
          <a:blip r:embed="rId8"/>
          <a:srcRect l="-2083" r="-2083" t="0" b="0"/>
          <a:stretch/>
        </p:blipFill>
        <p:spPr>
          <a:xfrm>
            <a:off x="2656332" y="9096451"/>
            <a:ext cx="571500" cy="9144"/>
          </a:xfrm>
          <a:prstGeom prst="rect">
            <a:avLst/>
          </a:prstGeom>
        </p:spPr>
      </p:pic>
      <p:sp>
        <p:nvSpPr>
          <p:cNvPr id="57" name="Text 46"/>
          <p:cNvSpPr txBox="1"/>
          <p:nvPr/>
        </p:nvSpPr>
        <p:spPr>
          <a:xfrm>
            <a:off x="3456432" y="8934602"/>
            <a:ext cx="13935456"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모든 CD 항목의 target과 sample 위치를 통일 — 이후 슬라이드의 wafer별 mean·3σ·range·Δ이 동일 methodology로 산출되도록 했다.</a:t>
            </a:r>
            <a:endParaRPr lang="en-US" sz="1800" dirty="0"/>
          </a:p>
        </p:txBody>
      </p:sp>
      <p:sp>
        <p:nvSpPr>
          <p:cNvPr id="58" name="Text 47"/>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59" name="Text 48"/>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2857500"/>
            <a:ext cx="10858500" cy="5333695"/>
          </a:xfrm>
          <a:prstGeom prst="rect">
            <a:avLst/>
          </a:prstGeom>
          <a:solidFill>
            <a:srgbClr val="FFFFFF"/>
          </a:solidFill>
          <a:ln w="12700">
            <a:solidFill>
              <a:srgbClr val="C8D3E2"/>
            </a:solidFill>
            <a:prstDash val="solid"/>
          </a:ln>
        </p:spPr>
      </p:sp>
      <p:sp>
        <p:nvSpPr>
          <p:cNvPr id="5" name="Shape 1"/>
          <p:cNvSpPr/>
          <p:nvPr/>
        </p:nvSpPr>
        <p:spPr>
          <a:xfrm>
            <a:off x="12001500" y="2857500"/>
            <a:ext cx="5429707" cy="5333695"/>
          </a:xfrm>
          <a:prstGeom prst="rect">
            <a:avLst/>
          </a:prstGeom>
          <a:solidFill>
            <a:srgbClr val="FFFFFF"/>
          </a:solidFill>
          <a:ln w="12700">
            <a:solidFill>
              <a:srgbClr val="C8D3E2"/>
            </a:solidFill>
            <a:prstDash val="solid"/>
          </a:ln>
        </p:spPr>
      </p:sp>
      <p:pic>
        <p:nvPicPr>
          <p:cNvPr id="6" name="Image 1" descr="gen-dedup-75765930c91dbe2c4efa0035913a3ed8.png">    </p:cNvPr>
          <p:cNvPicPr>
            <a:picLocks noChangeAspect="1"/>
          </p:cNvPicPr>
          <p:nvPr/>
        </p:nvPicPr>
        <p:blipFill>
          <a:blip r:embed="rId2"/>
          <a:srcRect l="-2083" r="-2083" t="0" b="0"/>
          <a:stretch/>
        </p:blipFill>
        <p:spPr>
          <a:xfrm>
            <a:off x="1904695" y="6476695"/>
            <a:ext cx="8953805" cy="9144"/>
          </a:xfrm>
          <a:prstGeom prst="rect">
            <a:avLst/>
          </a:prstGeom>
        </p:spPr>
      </p:pic>
      <p:pic>
        <p:nvPicPr>
          <p:cNvPr id="7" name="Image 2" descr="gen-dedup-1ad9b00ea1625f758fac7d5bd6069a95.png">    </p:cNvPr>
          <p:cNvPicPr>
            <a:picLocks noChangeAspect="1"/>
          </p:cNvPicPr>
          <p:nvPr/>
        </p:nvPicPr>
        <p:blipFill>
          <a:blip r:embed="rId3"/>
          <a:srcRect l="0" r="0" t="-2094" b="-2094"/>
          <a:stretch/>
        </p:blipFill>
        <p:spPr>
          <a:xfrm>
            <a:off x="1904695" y="3905402"/>
            <a:ext cx="9144" cy="2572207"/>
          </a:xfrm>
          <a:prstGeom prst="rect">
            <a:avLst/>
          </a:prstGeom>
        </p:spPr>
      </p:pic>
      <p:sp>
        <p:nvSpPr>
          <p:cNvPr id="8" name="Shape 2"/>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9" name="Image 3" descr="gen-dedup-3c3f0190f3348a605df0239cea9995bf.png">    </p:cNvPr>
          <p:cNvPicPr>
            <a:picLocks noChangeAspect="1"/>
          </p:cNvPicPr>
          <p:nvPr/>
        </p:nvPicPr>
        <p:blipFill>
          <a:blip r:embed="rId4"/>
          <a:srcRect l="-2083" r="-2083" t="0" b="0"/>
          <a:stretch/>
        </p:blipFill>
        <p:spPr>
          <a:xfrm>
            <a:off x="0" y="9562795"/>
            <a:ext cx="18288000" cy="9144"/>
          </a:xfrm>
          <a:prstGeom prst="rect">
            <a:avLst/>
          </a:prstGeom>
        </p:spPr>
      </p:pic>
      <p:sp>
        <p:nvSpPr>
          <p:cNvPr id="10" name="Shape 3"/>
          <p:cNvSpPr/>
          <p:nvPr/>
        </p:nvSpPr>
        <p:spPr>
          <a:xfrm>
            <a:off x="6933895" y="3924605"/>
            <a:ext cx="19202" cy="2553005"/>
          </a:xfrm>
          <a:prstGeom prst="rect">
            <a:avLst/>
          </a:prstGeom>
          <a:solidFill>
            <a:srgbClr val="94A3B8"/>
          </a:solidFill>
          <a:ln w="12700">
            <a:solidFill>
              <a:srgbClr val="94A3B8">
                <a:alpha val="0"/>
              </a:srgbClr>
            </a:solidFill>
            <a:prstDash val="solid"/>
          </a:ln>
        </p:spPr>
      </p:sp>
      <p:sp>
        <p:nvSpPr>
          <p:cNvPr id="11" name="Shape 4"/>
          <p:cNvSpPr/>
          <p:nvPr/>
        </p:nvSpPr>
        <p:spPr>
          <a:xfrm>
            <a:off x="2361895" y="5000854"/>
            <a:ext cx="228600" cy="457200"/>
          </a:xfrm>
          <a:prstGeom prst="rect">
            <a:avLst/>
          </a:prstGeom>
          <a:solidFill>
            <a:srgbClr val="1E5F9C"/>
          </a:solidFill>
          <a:ln w="12700">
            <a:solidFill>
              <a:srgbClr val="FFFFFF">
                <a:alpha val="0"/>
              </a:srgbClr>
            </a:solidFill>
            <a:prstDash val="solid"/>
          </a:ln>
        </p:spPr>
      </p:sp>
      <p:pic>
        <p:nvPicPr>
          <p:cNvPr id="12" name="Image 4" descr="gen-dedup-8965af9e898545980c83cc9f5e0471b1.png">    </p:cNvPr>
          <p:cNvPicPr>
            <a:picLocks noChangeAspect="1"/>
          </p:cNvPicPr>
          <p:nvPr/>
        </p:nvPicPr>
        <p:blipFill>
          <a:blip r:embed="rId5"/>
          <a:srcRect l="0" r="0" t="-400" b="-400"/>
          <a:stretch/>
        </p:blipFill>
        <p:spPr>
          <a:xfrm>
            <a:off x="2247595" y="4981651"/>
            <a:ext cx="457200" cy="19202"/>
          </a:xfrm>
          <a:prstGeom prst="rect">
            <a:avLst/>
          </a:prstGeom>
        </p:spPr>
      </p:pic>
      <p:pic>
        <p:nvPicPr>
          <p:cNvPr id="13" name="Image 5" descr="gen-dedup-8965af9e898545980c83cc9f5e0471b1.png">    </p:cNvPr>
          <p:cNvPicPr>
            <a:picLocks noChangeAspect="1"/>
          </p:cNvPicPr>
          <p:nvPr/>
        </p:nvPicPr>
        <p:blipFill>
          <a:blip r:embed="rId6"/>
          <a:srcRect l="0" r="0" t="-400" b="-400"/>
          <a:stretch/>
        </p:blipFill>
        <p:spPr>
          <a:xfrm>
            <a:off x="2247595" y="5458054"/>
            <a:ext cx="457200" cy="19202"/>
          </a:xfrm>
          <a:prstGeom prst="rect">
            <a:avLst/>
          </a:prstGeom>
        </p:spPr>
      </p:pic>
      <p:sp>
        <p:nvSpPr>
          <p:cNvPr id="14" name="Shape 5"/>
          <p:cNvSpPr/>
          <p:nvPr/>
        </p:nvSpPr>
        <p:spPr>
          <a:xfrm>
            <a:off x="3791102" y="5086807"/>
            <a:ext cx="228600" cy="286207"/>
          </a:xfrm>
          <a:prstGeom prst="rect">
            <a:avLst/>
          </a:prstGeom>
          <a:solidFill>
            <a:srgbClr val="4F86C0"/>
          </a:solidFill>
          <a:ln w="12700">
            <a:solidFill>
              <a:srgbClr val="FFFFFF">
                <a:alpha val="0"/>
              </a:srgbClr>
            </a:solidFill>
            <a:prstDash val="solid"/>
          </a:ln>
        </p:spPr>
      </p:sp>
      <p:pic>
        <p:nvPicPr>
          <p:cNvPr id="15" name="Image 6" descr="gen-dedup-8dcfd29e859a2d417982e609cdf07130.png">    </p:cNvPr>
          <p:cNvPicPr>
            <a:picLocks noChangeAspect="1"/>
          </p:cNvPicPr>
          <p:nvPr/>
        </p:nvPicPr>
        <p:blipFill>
          <a:blip r:embed="rId7"/>
          <a:srcRect l="0" r="0" t="-400" b="-400"/>
          <a:stretch/>
        </p:blipFill>
        <p:spPr>
          <a:xfrm>
            <a:off x="3676802" y="5067605"/>
            <a:ext cx="457200" cy="19202"/>
          </a:xfrm>
          <a:prstGeom prst="rect">
            <a:avLst/>
          </a:prstGeom>
        </p:spPr>
      </p:pic>
      <p:pic>
        <p:nvPicPr>
          <p:cNvPr id="16" name="Image 7" descr="gen-dedup-8dcfd29e859a2d417982e609cdf07130.png">    </p:cNvPr>
          <p:cNvPicPr>
            <a:picLocks noChangeAspect="1"/>
          </p:cNvPicPr>
          <p:nvPr/>
        </p:nvPicPr>
        <p:blipFill>
          <a:blip r:embed="rId8"/>
          <a:srcRect l="0" r="0" t="-400" b="-400"/>
          <a:stretch/>
        </p:blipFill>
        <p:spPr>
          <a:xfrm>
            <a:off x="3676802" y="5372100"/>
            <a:ext cx="457200" cy="19202"/>
          </a:xfrm>
          <a:prstGeom prst="rect">
            <a:avLst/>
          </a:prstGeom>
        </p:spPr>
      </p:pic>
      <p:sp>
        <p:nvSpPr>
          <p:cNvPr id="17" name="Shape 6"/>
          <p:cNvSpPr/>
          <p:nvPr/>
        </p:nvSpPr>
        <p:spPr>
          <a:xfrm>
            <a:off x="5219395" y="4839005"/>
            <a:ext cx="228600" cy="780898"/>
          </a:xfrm>
          <a:prstGeom prst="rect">
            <a:avLst/>
          </a:prstGeom>
          <a:solidFill>
            <a:srgbClr val="94A3B8"/>
          </a:solidFill>
          <a:ln w="12700">
            <a:solidFill>
              <a:srgbClr val="FFFFFF">
                <a:alpha val="0"/>
              </a:srgbClr>
            </a:solidFill>
            <a:prstDash val="solid"/>
          </a:ln>
        </p:spPr>
      </p:sp>
      <p:pic>
        <p:nvPicPr>
          <p:cNvPr id="18" name="Image 8" descr="gen-dedup-0acb1a399828f5a7da75ae1eecf57fee.png">    </p:cNvPr>
          <p:cNvPicPr>
            <a:picLocks noChangeAspect="1"/>
          </p:cNvPicPr>
          <p:nvPr/>
        </p:nvPicPr>
        <p:blipFill>
          <a:blip r:embed="rId9"/>
          <a:srcRect l="0" r="0" t="-400" b="-400"/>
          <a:stretch/>
        </p:blipFill>
        <p:spPr>
          <a:xfrm>
            <a:off x="5105095" y="4819802"/>
            <a:ext cx="457200" cy="19202"/>
          </a:xfrm>
          <a:prstGeom prst="rect">
            <a:avLst/>
          </a:prstGeom>
        </p:spPr>
      </p:pic>
      <p:pic>
        <p:nvPicPr>
          <p:cNvPr id="19" name="Image 9" descr="gen-dedup-0acb1a399828f5a7da75ae1eecf57fee.png">    </p:cNvPr>
          <p:cNvPicPr>
            <a:picLocks noChangeAspect="1"/>
          </p:cNvPicPr>
          <p:nvPr/>
        </p:nvPicPr>
        <p:blipFill>
          <a:blip r:embed="rId10"/>
          <a:srcRect l="0" r="0" t="-400" b="-400"/>
          <a:stretch/>
        </p:blipFill>
        <p:spPr>
          <a:xfrm>
            <a:off x="5105095" y="5619902"/>
            <a:ext cx="457200" cy="19202"/>
          </a:xfrm>
          <a:prstGeom prst="rect">
            <a:avLst/>
          </a:prstGeom>
        </p:spPr>
      </p:pic>
      <p:sp>
        <p:nvSpPr>
          <p:cNvPr id="20" name="Shape 7"/>
          <p:cNvSpPr/>
          <p:nvPr/>
        </p:nvSpPr>
        <p:spPr>
          <a:xfrm>
            <a:off x="6648602" y="4953305"/>
            <a:ext cx="228600" cy="552298"/>
          </a:xfrm>
          <a:prstGeom prst="rect">
            <a:avLst/>
          </a:prstGeom>
          <a:solidFill>
            <a:srgbClr val="1E5F9C"/>
          </a:solidFill>
          <a:ln w="12700">
            <a:solidFill>
              <a:srgbClr val="FFFFFF">
                <a:alpha val="0"/>
              </a:srgbClr>
            </a:solidFill>
            <a:prstDash val="solid"/>
          </a:ln>
        </p:spPr>
      </p:sp>
      <p:pic>
        <p:nvPicPr>
          <p:cNvPr id="21" name="Image 10" descr="gen-dedup-8965af9e898545980c83cc9f5e0471b1.png">    </p:cNvPr>
          <p:cNvPicPr>
            <a:picLocks noChangeAspect="1"/>
          </p:cNvPicPr>
          <p:nvPr/>
        </p:nvPicPr>
        <p:blipFill>
          <a:blip r:embed="rId11"/>
          <a:srcRect l="0" r="0" t="-400" b="-400"/>
          <a:stretch/>
        </p:blipFill>
        <p:spPr>
          <a:xfrm>
            <a:off x="6534302" y="4934102"/>
            <a:ext cx="457200" cy="19202"/>
          </a:xfrm>
          <a:prstGeom prst="rect">
            <a:avLst/>
          </a:prstGeom>
        </p:spPr>
      </p:pic>
      <p:pic>
        <p:nvPicPr>
          <p:cNvPr id="22" name="Image 11" descr="gen-dedup-8965af9e898545980c83cc9f5e0471b1.png">    </p:cNvPr>
          <p:cNvPicPr>
            <a:picLocks noChangeAspect="1"/>
          </p:cNvPicPr>
          <p:nvPr/>
        </p:nvPicPr>
        <p:blipFill>
          <a:blip r:embed="rId12"/>
          <a:srcRect l="0" r="0" t="-400" b="-400"/>
          <a:stretch/>
        </p:blipFill>
        <p:spPr>
          <a:xfrm>
            <a:off x="6534302" y="5505602"/>
            <a:ext cx="457200" cy="19202"/>
          </a:xfrm>
          <a:prstGeom prst="rect">
            <a:avLst/>
          </a:prstGeom>
        </p:spPr>
      </p:pic>
      <p:sp>
        <p:nvSpPr>
          <p:cNvPr id="23" name="Shape 8"/>
          <p:cNvSpPr/>
          <p:nvPr/>
        </p:nvSpPr>
        <p:spPr>
          <a:xfrm>
            <a:off x="8076895" y="5038344"/>
            <a:ext cx="228600" cy="381305"/>
          </a:xfrm>
          <a:prstGeom prst="rect">
            <a:avLst/>
          </a:prstGeom>
          <a:solidFill>
            <a:srgbClr val="4F86C0"/>
          </a:solidFill>
          <a:ln w="12700">
            <a:solidFill>
              <a:srgbClr val="FFFFFF">
                <a:alpha val="0"/>
              </a:srgbClr>
            </a:solidFill>
            <a:prstDash val="solid"/>
          </a:ln>
        </p:spPr>
      </p:sp>
      <p:pic>
        <p:nvPicPr>
          <p:cNvPr id="24" name="Image 12" descr="gen-dedup-8dcfd29e859a2d417982e609cdf07130.png">    </p:cNvPr>
          <p:cNvPicPr>
            <a:picLocks noChangeAspect="1"/>
          </p:cNvPicPr>
          <p:nvPr/>
        </p:nvPicPr>
        <p:blipFill>
          <a:blip r:embed="rId13"/>
          <a:srcRect l="0" r="0" t="-400" b="-400"/>
          <a:stretch/>
        </p:blipFill>
        <p:spPr>
          <a:xfrm>
            <a:off x="7962595" y="5020056"/>
            <a:ext cx="457200" cy="19202"/>
          </a:xfrm>
          <a:prstGeom prst="rect">
            <a:avLst/>
          </a:prstGeom>
        </p:spPr>
      </p:pic>
      <p:pic>
        <p:nvPicPr>
          <p:cNvPr id="25" name="Image 13" descr="gen-dedup-8dcfd29e859a2d417982e609cdf07130.png">    </p:cNvPr>
          <p:cNvPicPr>
            <a:picLocks noChangeAspect="1"/>
          </p:cNvPicPr>
          <p:nvPr/>
        </p:nvPicPr>
        <p:blipFill>
          <a:blip r:embed="rId14"/>
          <a:srcRect l="0" r="0" t="-400" b="-400"/>
          <a:stretch/>
        </p:blipFill>
        <p:spPr>
          <a:xfrm>
            <a:off x="7962595" y="5419649"/>
            <a:ext cx="457200" cy="19202"/>
          </a:xfrm>
          <a:prstGeom prst="rect">
            <a:avLst/>
          </a:prstGeom>
        </p:spPr>
      </p:pic>
      <p:sp>
        <p:nvSpPr>
          <p:cNvPr id="26" name="Shape 9"/>
          <p:cNvSpPr/>
          <p:nvPr/>
        </p:nvSpPr>
        <p:spPr>
          <a:xfrm>
            <a:off x="9506102" y="4753051"/>
            <a:ext cx="228600" cy="952805"/>
          </a:xfrm>
          <a:prstGeom prst="rect">
            <a:avLst/>
          </a:prstGeom>
          <a:solidFill>
            <a:srgbClr val="94A3B8"/>
          </a:solidFill>
          <a:ln w="12700">
            <a:solidFill>
              <a:srgbClr val="FFFFFF">
                <a:alpha val="0"/>
              </a:srgbClr>
            </a:solidFill>
            <a:prstDash val="solid"/>
          </a:ln>
        </p:spPr>
      </p:sp>
      <p:pic>
        <p:nvPicPr>
          <p:cNvPr id="27" name="Image 14" descr="gen-dedup-0acb1a399828f5a7da75ae1eecf57fee.png">    </p:cNvPr>
          <p:cNvPicPr>
            <a:picLocks noChangeAspect="1"/>
          </p:cNvPicPr>
          <p:nvPr/>
        </p:nvPicPr>
        <p:blipFill>
          <a:blip r:embed="rId15"/>
          <a:srcRect l="0" r="0" t="-400" b="-400"/>
          <a:stretch/>
        </p:blipFill>
        <p:spPr>
          <a:xfrm>
            <a:off x="9391802" y="4733849"/>
            <a:ext cx="457200" cy="19202"/>
          </a:xfrm>
          <a:prstGeom prst="rect">
            <a:avLst/>
          </a:prstGeom>
        </p:spPr>
      </p:pic>
      <p:pic>
        <p:nvPicPr>
          <p:cNvPr id="28" name="Image 15" descr="gen-dedup-0acb1a399828f5a7da75ae1eecf57fee.png">    </p:cNvPr>
          <p:cNvPicPr>
            <a:picLocks noChangeAspect="1"/>
          </p:cNvPicPr>
          <p:nvPr/>
        </p:nvPicPr>
        <p:blipFill>
          <a:blip r:embed="rId16"/>
          <a:srcRect l="0" r="0" t="-400" b="-400"/>
          <a:stretch/>
        </p:blipFill>
        <p:spPr>
          <a:xfrm>
            <a:off x="9391802" y="5705856"/>
            <a:ext cx="457200" cy="19202"/>
          </a:xfrm>
          <a:prstGeom prst="rect">
            <a:avLst/>
          </a:prstGeom>
        </p:spPr>
      </p:pic>
      <p:pic>
        <p:nvPicPr>
          <p:cNvPr id="29" name="Image 16" descr="gen-dedup-12d7cb0a28bbcaca3e8d32c19dc56a81.png">    </p:cNvPr>
          <p:cNvPicPr>
            <a:picLocks noChangeAspect="1"/>
          </p:cNvPicPr>
          <p:nvPr/>
        </p:nvPicPr>
        <p:blipFill>
          <a:blip r:embed="rId17"/>
          <a:srcRect l="0" r="0" t="-424" b="-424"/>
          <a:stretch/>
        </p:blipFill>
        <p:spPr>
          <a:xfrm>
            <a:off x="857707" y="647395"/>
            <a:ext cx="323698" cy="19202"/>
          </a:xfrm>
          <a:prstGeom prst="rect">
            <a:avLst/>
          </a:prstGeom>
        </p:spPr>
      </p:pic>
      <p:sp>
        <p:nvSpPr>
          <p:cNvPr id="30" name="Text 10"/>
          <p:cNvSpPr txBox="1"/>
          <p:nvPr/>
        </p:nvSpPr>
        <p:spPr>
          <a:xfrm>
            <a:off x="1314907" y="571500"/>
            <a:ext cx="1980590" cy="171907"/>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04 · AASI</a:t>
            </a:r>
            <a:endParaRPr lang="en-US" sz="1050" dirty="0"/>
          </a:p>
        </p:txBody>
      </p:sp>
      <p:sp>
        <p:nvSpPr>
          <p:cNvPr id="31" name="Shape 11"/>
          <p:cNvSpPr/>
          <p:nvPr/>
        </p:nvSpPr>
        <p:spPr>
          <a:xfrm>
            <a:off x="16794785" y="566928"/>
            <a:ext cx="57607" cy="57607"/>
          </a:xfrm>
          <a:prstGeom prst="ellipse">
            <a:avLst/>
          </a:prstGeom>
          <a:solidFill>
            <a:srgbClr val="1E5F9C"/>
          </a:solidFill>
          <a:ln w="12700">
            <a:solidFill>
              <a:srgbClr val="FFFFFF">
                <a:alpha val="0"/>
              </a:srgbClr>
            </a:solidFill>
            <a:prstDash val="solid"/>
          </a:ln>
        </p:spPr>
      </p:sp>
      <p:sp>
        <p:nvSpPr>
          <p:cNvPr id="32" name="Text 12"/>
          <p:cNvSpPr txBox="1"/>
          <p:nvPr/>
        </p:nvSpPr>
        <p:spPr>
          <a:xfrm>
            <a:off x="16737178" y="514807"/>
            <a:ext cx="790956"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04 / 12</a:t>
            </a:r>
            <a:endParaRPr lang="en-US" sz="975" dirty="0"/>
          </a:p>
        </p:txBody>
      </p:sp>
      <p:sp>
        <p:nvSpPr>
          <p:cNvPr id="33" name="Text 13"/>
          <p:cNvSpPr txBox="1"/>
          <p:nvPr/>
        </p:nvSpPr>
        <p:spPr>
          <a:xfrm>
            <a:off x="838505" y="1143000"/>
            <a:ext cx="1428750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AASI · wafer별 CD 변동</a:t>
            </a:r>
            <a:endParaRPr lang="en-US" sz="4500" dirty="0"/>
          </a:p>
        </p:txBody>
      </p:sp>
      <p:sp>
        <p:nvSpPr>
          <p:cNvPr id="34" name="Text 14"/>
          <p:cNvSpPr txBox="1"/>
          <p:nvPr/>
        </p:nvSpPr>
        <p:spPr>
          <a:xfrm>
            <a:off x="838505" y="1876349"/>
            <a:ext cx="1428750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target </a:t>
            </a:r>
            <a:pPr algn="l" indent="0" marL="0">
              <a:buNone/>
            </a:pPr>
            <a:r>
              <a:rPr lang="en-US" sz="1650" b="1" dirty="0">
                <a:solidFill>
                  <a:srgbClr val="14213D"/>
                </a:solidFill>
                <a:latin typeface="Noto Sans KR" pitchFamily="34" charset="0"/>
                <a:ea typeface="Noto Sans KR" pitchFamily="34" charset="-122"/>
                <a:cs typeface="Noto Sans KR" pitchFamily="34" charset="-120"/>
              </a:rPr>
              <a:t>25.5 nm</a:t>
            </a:r>
            <a:pPr algn="l" indent="0" marL="0">
              <a:buNone/>
            </a:pPr>
            <a:r>
              <a:rPr lang="en-US" sz="1650" dirty="0">
                <a:solidFill>
                  <a:srgbClr val="455670"/>
                </a:solidFill>
                <a:latin typeface="Noto Sans KR" pitchFamily="34" charset="0"/>
                <a:ea typeface="Noto Sans KR" pitchFamily="34" charset="-122"/>
                <a:cs typeface="Noto Sans KR" pitchFamily="34" charset="-120"/>
              </a:rPr>
              <a:t> · 6 wafer × 69 site · mean / 3σ / range / Δ vs target</a:t>
            </a:r>
            <a:endParaRPr lang="en-US" sz="1650" dirty="0"/>
          </a:p>
        </p:txBody>
      </p:sp>
      <p:sp>
        <p:nvSpPr>
          <p:cNvPr id="35" name="Text 15"/>
          <p:cNvSpPr txBox="1"/>
          <p:nvPr/>
        </p:nvSpPr>
        <p:spPr>
          <a:xfrm>
            <a:off x="1143000" y="3124505"/>
            <a:ext cx="10478110"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MEAN TREND</a:t>
            </a:r>
            <a:endParaRPr lang="en-US" sz="900" dirty="0"/>
          </a:p>
        </p:txBody>
      </p:sp>
      <p:sp>
        <p:nvSpPr>
          <p:cNvPr id="36" name="Text 16"/>
          <p:cNvSpPr txBox="1"/>
          <p:nvPr/>
        </p:nvSpPr>
        <p:spPr>
          <a:xfrm>
            <a:off x="1143000" y="3323844"/>
            <a:ext cx="1047811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wafer별 mean — target 라인 25.5 nm</a:t>
            </a:r>
            <a:endParaRPr lang="en-US" sz="1800" dirty="0"/>
          </a:p>
        </p:txBody>
      </p:sp>
      <p:sp>
        <p:nvSpPr>
          <p:cNvPr id="37" name="Text 17"/>
          <p:cNvSpPr txBox="1"/>
          <p:nvPr/>
        </p:nvSpPr>
        <p:spPr>
          <a:xfrm>
            <a:off x="7048195" y="3943807"/>
            <a:ext cx="1905610" cy="143561"/>
          </a:xfrm>
          <a:prstGeom prst="rect">
            <a:avLst/>
          </a:prstGeom>
          <a:noFill/>
          <a:ln/>
        </p:spPr>
        <p:txBody>
          <a:bodyPr wrap="none" lIns="0" tIns="0" rIns="0" bIns="0" rtlCol="0" anchor="ctr"/>
          <a:lstStyle/>
          <a:p>
            <a:pPr algn="l" indent="0" marL="0">
              <a:buNone/>
            </a:pPr>
            <a:r>
              <a:rPr lang="en-US" sz="900" b="1" spc="126" kern="0" dirty="0">
                <a:solidFill>
                  <a:srgbClr val="6F7D94"/>
                </a:solidFill>
                <a:latin typeface="Sora" pitchFamily="34" charset="0"/>
                <a:ea typeface="Sora" pitchFamily="34" charset="-122"/>
                <a:cs typeface="Sora" pitchFamily="34" charset="-120"/>
              </a:rPr>
              <a:t>TARGET 25.5</a:t>
            </a:r>
            <a:endParaRPr lang="en-US" sz="900" dirty="0"/>
          </a:p>
        </p:txBody>
      </p:sp>
      <p:sp>
        <p:nvSpPr>
          <p:cNvPr id="38" name="Text 18"/>
          <p:cNvSpPr txBox="1"/>
          <p:nvPr/>
        </p:nvSpPr>
        <p:spPr>
          <a:xfrm>
            <a:off x="2076602"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W01</a:t>
            </a:r>
            <a:endParaRPr lang="en-US" sz="1500" dirty="0"/>
          </a:p>
        </p:txBody>
      </p:sp>
      <p:sp>
        <p:nvSpPr>
          <p:cNvPr id="39" name="Text 19"/>
          <p:cNvSpPr txBox="1"/>
          <p:nvPr/>
        </p:nvSpPr>
        <p:spPr>
          <a:xfrm>
            <a:off x="2076602"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RU 1NM</a:t>
            </a:r>
            <a:endParaRPr lang="en-US" sz="825" dirty="0"/>
          </a:p>
        </p:txBody>
      </p:sp>
      <p:sp>
        <p:nvSpPr>
          <p:cNvPr id="40" name="Text 20"/>
          <p:cNvSpPr txBox="1"/>
          <p:nvPr/>
        </p:nvSpPr>
        <p:spPr>
          <a:xfrm>
            <a:off x="2076602" y="4438498"/>
            <a:ext cx="800100" cy="210312"/>
          </a:xfrm>
          <a:prstGeom prst="rect">
            <a:avLst/>
          </a:prstGeom>
          <a:noFill/>
          <a:ln/>
        </p:spPr>
        <p:txBody>
          <a:bodyPr wrap="none" lIns="0" tIns="0" rIns="0" bIns="0" rtlCol="0" anchor="ctr"/>
          <a:lstStyle/>
          <a:p>
            <a:pPr algn="ctr" indent="0" marL="0">
              <a:buNone/>
            </a:pPr>
            <a:r>
              <a:rPr lang="en-US" sz="1350" b="1" dirty="0">
                <a:solidFill>
                  <a:srgbClr val="1E5F9C"/>
                </a:solidFill>
                <a:latin typeface="Sora" pitchFamily="34" charset="0"/>
                <a:ea typeface="Sora" pitchFamily="34" charset="-122"/>
                <a:cs typeface="Sora" pitchFamily="34" charset="-120"/>
              </a:rPr>
              <a:t>25.42</a:t>
            </a:r>
            <a:endParaRPr lang="en-US" sz="1350" dirty="0"/>
          </a:p>
        </p:txBody>
      </p:sp>
      <p:sp>
        <p:nvSpPr>
          <p:cNvPr id="41" name="Text 21"/>
          <p:cNvSpPr txBox="1"/>
          <p:nvPr/>
        </p:nvSpPr>
        <p:spPr>
          <a:xfrm>
            <a:off x="3504895"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W02</a:t>
            </a:r>
            <a:endParaRPr lang="en-US" sz="1500" dirty="0"/>
          </a:p>
        </p:txBody>
      </p:sp>
      <p:sp>
        <p:nvSpPr>
          <p:cNvPr id="42" name="Text 22"/>
          <p:cNvSpPr txBox="1"/>
          <p:nvPr/>
        </p:nvSpPr>
        <p:spPr>
          <a:xfrm>
            <a:off x="3504895"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RU 2NM</a:t>
            </a:r>
            <a:endParaRPr lang="en-US" sz="825" dirty="0"/>
          </a:p>
        </p:txBody>
      </p:sp>
      <p:sp>
        <p:nvSpPr>
          <p:cNvPr id="43" name="Text 23"/>
          <p:cNvSpPr txBox="1"/>
          <p:nvPr/>
        </p:nvSpPr>
        <p:spPr>
          <a:xfrm>
            <a:off x="3504895" y="4438498"/>
            <a:ext cx="800100" cy="210312"/>
          </a:xfrm>
          <a:prstGeom prst="rect">
            <a:avLst/>
          </a:prstGeom>
          <a:noFill/>
          <a:ln/>
        </p:spPr>
        <p:txBody>
          <a:bodyPr wrap="none" lIns="0" tIns="0" rIns="0" bIns="0" rtlCol="0" anchor="ctr"/>
          <a:lstStyle/>
          <a:p>
            <a:pPr algn="ctr" indent="0" marL="0">
              <a:buNone/>
            </a:pPr>
            <a:r>
              <a:rPr lang="en-US" sz="1350" b="1" dirty="0">
                <a:solidFill>
                  <a:srgbClr val="4F86C0"/>
                </a:solidFill>
                <a:latin typeface="Sora" pitchFamily="34" charset="0"/>
                <a:ea typeface="Sora" pitchFamily="34" charset="-122"/>
                <a:cs typeface="Sora" pitchFamily="34" charset="-120"/>
              </a:rPr>
              <a:t>25.34</a:t>
            </a:r>
            <a:endParaRPr lang="en-US" sz="1350" dirty="0"/>
          </a:p>
        </p:txBody>
      </p:sp>
      <p:sp>
        <p:nvSpPr>
          <p:cNvPr id="44" name="Text 24"/>
          <p:cNvSpPr txBox="1"/>
          <p:nvPr/>
        </p:nvSpPr>
        <p:spPr>
          <a:xfrm>
            <a:off x="4934102"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W03</a:t>
            </a:r>
            <a:endParaRPr lang="en-US" sz="1500" dirty="0"/>
          </a:p>
        </p:txBody>
      </p:sp>
      <p:sp>
        <p:nvSpPr>
          <p:cNvPr id="45" name="Text 25"/>
          <p:cNvSpPr txBox="1"/>
          <p:nvPr/>
        </p:nvSpPr>
        <p:spPr>
          <a:xfrm>
            <a:off x="4934102"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CO LINER</a:t>
            </a:r>
            <a:endParaRPr lang="en-US" sz="825" dirty="0"/>
          </a:p>
        </p:txBody>
      </p:sp>
      <p:sp>
        <p:nvSpPr>
          <p:cNvPr id="46" name="Text 26"/>
          <p:cNvSpPr txBox="1"/>
          <p:nvPr/>
        </p:nvSpPr>
        <p:spPr>
          <a:xfrm>
            <a:off x="4934102" y="4438498"/>
            <a:ext cx="800100" cy="210312"/>
          </a:xfrm>
          <a:prstGeom prst="rect">
            <a:avLst/>
          </a:prstGeom>
          <a:noFill/>
          <a:ln/>
        </p:spPr>
        <p:txBody>
          <a:bodyPr wrap="none" lIns="0" tIns="0" rIns="0" bIns="0" rtlCol="0" anchor="ctr"/>
          <a:lstStyle/>
          <a:p>
            <a:pPr algn="ctr" indent="0" marL="0">
              <a:buNone/>
            </a:pPr>
            <a:r>
              <a:rPr lang="en-US" sz="1350" b="1" dirty="0">
                <a:solidFill>
                  <a:srgbClr val="6F7D94"/>
                </a:solidFill>
                <a:latin typeface="Sora" pitchFamily="34" charset="0"/>
                <a:ea typeface="Sora" pitchFamily="34" charset="-122"/>
                <a:cs typeface="Sora" pitchFamily="34" charset="-120"/>
              </a:rPr>
              <a:t>25.62</a:t>
            </a:r>
            <a:endParaRPr lang="en-US" sz="1350" dirty="0"/>
          </a:p>
        </p:txBody>
      </p:sp>
      <p:sp>
        <p:nvSpPr>
          <p:cNvPr id="47" name="Text 27"/>
          <p:cNvSpPr txBox="1"/>
          <p:nvPr/>
        </p:nvSpPr>
        <p:spPr>
          <a:xfrm>
            <a:off x="6362395"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W04</a:t>
            </a:r>
            <a:endParaRPr lang="en-US" sz="1500" dirty="0"/>
          </a:p>
        </p:txBody>
      </p:sp>
      <p:sp>
        <p:nvSpPr>
          <p:cNvPr id="48" name="Text 28"/>
          <p:cNvSpPr txBox="1"/>
          <p:nvPr/>
        </p:nvSpPr>
        <p:spPr>
          <a:xfrm>
            <a:off x="6362395"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RU 1NM</a:t>
            </a:r>
            <a:endParaRPr lang="en-US" sz="825" dirty="0"/>
          </a:p>
        </p:txBody>
      </p:sp>
      <p:sp>
        <p:nvSpPr>
          <p:cNvPr id="49" name="Text 29"/>
          <p:cNvSpPr txBox="1"/>
          <p:nvPr/>
        </p:nvSpPr>
        <p:spPr>
          <a:xfrm>
            <a:off x="6362395" y="4438498"/>
            <a:ext cx="800100" cy="210312"/>
          </a:xfrm>
          <a:prstGeom prst="rect">
            <a:avLst/>
          </a:prstGeom>
          <a:noFill/>
          <a:ln/>
        </p:spPr>
        <p:txBody>
          <a:bodyPr wrap="none" lIns="0" tIns="0" rIns="0" bIns="0" rtlCol="0" anchor="ctr"/>
          <a:lstStyle/>
          <a:p>
            <a:pPr algn="ctr" indent="0" marL="0">
              <a:buNone/>
            </a:pPr>
            <a:r>
              <a:rPr lang="en-US" sz="1350" b="1" dirty="0">
                <a:solidFill>
                  <a:srgbClr val="1E5F9C"/>
                </a:solidFill>
                <a:latin typeface="Sora" pitchFamily="34" charset="0"/>
                <a:ea typeface="Sora" pitchFamily="34" charset="-122"/>
                <a:cs typeface="Sora" pitchFamily="34" charset="-120"/>
              </a:rPr>
              <a:t>25.48</a:t>
            </a:r>
            <a:endParaRPr lang="en-US" sz="1350" dirty="0"/>
          </a:p>
        </p:txBody>
      </p:sp>
      <p:sp>
        <p:nvSpPr>
          <p:cNvPr id="50" name="Text 30"/>
          <p:cNvSpPr txBox="1"/>
          <p:nvPr/>
        </p:nvSpPr>
        <p:spPr>
          <a:xfrm>
            <a:off x="7791602"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W05</a:t>
            </a:r>
            <a:endParaRPr lang="en-US" sz="1500" dirty="0"/>
          </a:p>
        </p:txBody>
      </p:sp>
      <p:sp>
        <p:nvSpPr>
          <p:cNvPr id="51" name="Text 31"/>
          <p:cNvSpPr txBox="1"/>
          <p:nvPr/>
        </p:nvSpPr>
        <p:spPr>
          <a:xfrm>
            <a:off x="7791602"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RU 2NM</a:t>
            </a:r>
            <a:endParaRPr lang="en-US" sz="825" dirty="0"/>
          </a:p>
        </p:txBody>
      </p:sp>
      <p:sp>
        <p:nvSpPr>
          <p:cNvPr id="52" name="Text 32"/>
          <p:cNvSpPr txBox="1"/>
          <p:nvPr/>
        </p:nvSpPr>
        <p:spPr>
          <a:xfrm>
            <a:off x="7791602" y="4438498"/>
            <a:ext cx="800100" cy="210312"/>
          </a:xfrm>
          <a:prstGeom prst="rect">
            <a:avLst/>
          </a:prstGeom>
          <a:noFill/>
          <a:ln/>
        </p:spPr>
        <p:txBody>
          <a:bodyPr wrap="none" lIns="0" tIns="0" rIns="0" bIns="0" rtlCol="0" anchor="ctr"/>
          <a:lstStyle/>
          <a:p>
            <a:pPr algn="ctr" indent="0" marL="0">
              <a:buNone/>
            </a:pPr>
            <a:r>
              <a:rPr lang="en-US" sz="1350" b="1" dirty="0">
                <a:solidFill>
                  <a:srgbClr val="4F86C0"/>
                </a:solidFill>
                <a:latin typeface="Sora" pitchFamily="34" charset="0"/>
                <a:ea typeface="Sora" pitchFamily="34" charset="-122"/>
                <a:cs typeface="Sora" pitchFamily="34" charset="-120"/>
              </a:rPr>
              <a:t>25.39</a:t>
            </a:r>
            <a:endParaRPr lang="en-US" sz="1350" dirty="0"/>
          </a:p>
        </p:txBody>
      </p:sp>
      <p:sp>
        <p:nvSpPr>
          <p:cNvPr id="53" name="Text 33"/>
          <p:cNvSpPr txBox="1"/>
          <p:nvPr/>
        </p:nvSpPr>
        <p:spPr>
          <a:xfrm>
            <a:off x="9219895" y="5810098"/>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W06</a:t>
            </a:r>
            <a:endParaRPr lang="en-US" sz="1500" dirty="0"/>
          </a:p>
        </p:txBody>
      </p:sp>
      <p:sp>
        <p:nvSpPr>
          <p:cNvPr id="54" name="Text 34"/>
          <p:cNvSpPr txBox="1"/>
          <p:nvPr/>
        </p:nvSpPr>
        <p:spPr>
          <a:xfrm>
            <a:off x="9219895" y="6048756"/>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CO LINER</a:t>
            </a:r>
            <a:endParaRPr lang="en-US" sz="825" dirty="0"/>
          </a:p>
        </p:txBody>
      </p:sp>
      <p:sp>
        <p:nvSpPr>
          <p:cNvPr id="55" name="Text 35"/>
          <p:cNvSpPr txBox="1"/>
          <p:nvPr/>
        </p:nvSpPr>
        <p:spPr>
          <a:xfrm>
            <a:off x="9219895" y="4438498"/>
            <a:ext cx="800100" cy="210312"/>
          </a:xfrm>
          <a:prstGeom prst="rect">
            <a:avLst/>
          </a:prstGeom>
          <a:noFill/>
          <a:ln/>
        </p:spPr>
        <p:txBody>
          <a:bodyPr wrap="none" lIns="0" tIns="0" rIns="0" bIns="0" rtlCol="0" anchor="ctr"/>
          <a:lstStyle/>
          <a:p>
            <a:pPr algn="ctr" indent="0" marL="0">
              <a:buNone/>
            </a:pPr>
            <a:r>
              <a:rPr lang="en-US" sz="1350" b="1" dirty="0">
                <a:solidFill>
                  <a:srgbClr val="6F7D94"/>
                </a:solidFill>
                <a:latin typeface="Sora" pitchFamily="34" charset="0"/>
                <a:ea typeface="Sora" pitchFamily="34" charset="-122"/>
                <a:cs typeface="Sora" pitchFamily="34" charset="-120"/>
              </a:rPr>
              <a:t>25.69</a:t>
            </a:r>
            <a:endParaRPr lang="en-US" sz="1350" dirty="0"/>
          </a:p>
        </p:txBody>
      </p:sp>
      <p:sp>
        <p:nvSpPr>
          <p:cNvPr id="56" name="Text 36"/>
          <p:cNvSpPr txBox="1"/>
          <p:nvPr/>
        </p:nvSpPr>
        <p:spPr>
          <a:xfrm>
            <a:off x="1238098" y="4686300"/>
            <a:ext cx="571500" cy="162763"/>
          </a:xfrm>
          <a:prstGeom prst="rect">
            <a:avLst/>
          </a:prstGeom>
          <a:noFill/>
          <a:ln/>
        </p:spPr>
        <p:txBody>
          <a:bodyPr wrap="none" lIns="0" tIns="0" rIns="0" bIns="0" rtlCol="0" anchor="ctr"/>
          <a:lstStyle/>
          <a:p>
            <a:pPr algn="r" indent="0" marL="0">
              <a:buNone/>
            </a:pPr>
            <a:r>
              <a:rPr lang="en-US" sz="975" dirty="0">
                <a:solidFill>
                  <a:srgbClr val="6F7D94"/>
                </a:solidFill>
                <a:latin typeface="Sora" pitchFamily="34" charset="0"/>
                <a:ea typeface="Sora" pitchFamily="34" charset="-122"/>
                <a:cs typeface="Sora" pitchFamily="34" charset="-120"/>
              </a:rPr>
              <a:t>26.0</a:t>
            </a:r>
            <a:endParaRPr lang="en-US" sz="975" dirty="0"/>
          </a:p>
        </p:txBody>
      </p:sp>
      <p:sp>
        <p:nvSpPr>
          <p:cNvPr id="57" name="Text 37"/>
          <p:cNvSpPr txBox="1"/>
          <p:nvPr/>
        </p:nvSpPr>
        <p:spPr>
          <a:xfrm>
            <a:off x="1238098" y="5257800"/>
            <a:ext cx="571500" cy="162763"/>
          </a:xfrm>
          <a:prstGeom prst="rect">
            <a:avLst/>
          </a:prstGeom>
          <a:noFill/>
          <a:ln/>
        </p:spPr>
        <p:txBody>
          <a:bodyPr wrap="none" lIns="0" tIns="0" rIns="0" bIns="0" rtlCol="0" anchor="ctr"/>
          <a:lstStyle/>
          <a:p>
            <a:pPr algn="r" indent="0" marL="0">
              <a:buNone/>
            </a:pPr>
            <a:r>
              <a:rPr lang="en-US" sz="975" dirty="0">
                <a:solidFill>
                  <a:srgbClr val="6F7D94"/>
                </a:solidFill>
                <a:latin typeface="Sora" pitchFamily="34" charset="0"/>
                <a:ea typeface="Sora" pitchFamily="34" charset="-122"/>
                <a:cs typeface="Sora" pitchFamily="34" charset="-120"/>
              </a:rPr>
              <a:t>25.5</a:t>
            </a:r>
            <a:endParaRPr lang="en-US" sz="975" dirty="0"/>
          </a:p>
        </p:txBody>
      </p:sp>
      <p:sp>
        <p:nvSpPr>
          <p:cNvPr id="58" name="Text 38"/>
          <p:cNvSpPr txBox="1"/>
          <p:nvPr/>
        </p:nvSpPr>
        <p:spPr>
          <a:xfrm>
            <a:off x="1238098" y="5829300"/>
            <a:ext cx="571500" cy="162763"/>
          </a:xfrm>
          <a:prstGeom prst="rect">
            <a:avLst/>
          </a:prstGeom>
          <a:noFill/>
          <a:ln/>
        </p:spPr>
        <p:txBody>
          <a:bodyPr wrap="none" lIns="0" tIns="0" rIns="0" bIns="0" rtlCol="0" anchor="ctr"/>
          <a:lstStyle/>
          <a:p>
            <a:pPr algn="r" indent="0" marL="0">
              <a:buNone/>
            </a:pPr>
            <a:r>
              <a:rPr lang="en-US" sz="975" dirty="0">
                <a:solidFill>
                  <a:srgbClr val="6F7D94"/>
                </a:solidFill>
                <a:latin typeface="Sora" pitchFamily="34" charset="0"/>
                <a:ea typeface="Sora" pitchFamily="34" charset="-122"/>
                <a:cs typeface="Sora" pitchFamily="34" charset="-120"/>
              </a:rPr>
              <a:t>25.0</a:t>
            </a:r>
            <a:endParaRPr lang="en-US" sz="975" dirty="0"/>
          </a:p>
        </p:txBody>
      </p:sp>
      <p:sp>
        <p:nvSpPr>
          <p:cNvPr id="59" name="Text 39"/>
          <p:cNvSpPr txBox="1"/>
          <p:nvPr/>
        </p:nvSpPr>
        <p:spPr>
          <a:xfrm>
            <a:off x="12287707" y="3124505"/>
            <a:ext cx="5048402"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AASI · 6 WAFERS</a:t>
            </a:r>
            <a:endParaRPr lang="en-US" sz="900" dirty="0"/>
          </a:p>
        </p:txBody>
      </p:sp>
      <p:sp>
        <p:nvSpPr>
          <p:cNvPr id="60" name="Text 40"/>
          <p:cNvSpPr txBox="1"/>
          <p:nvPr/>
        </p:nvSpPr>
        <p:spPr>
          <a:xfrm>
            <a:off x="12287707" y="3323844"/>
            <a:ext cx="5048402"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mean / 3σ / range / Δ</a:t>
            </a:r>
            <a:endParaRPr lang="en-US" sz="1800" dirty="0"/>
          </a:p>
        </p:txBody>
      </p:sp>
      <p:sp>
        <p:nvSpPr>
          <p:cNvPr id="61" name="Shape 41"/>
          <p:cNvSpPr/>
          <p:nvPr/>
        </p:nvSpPr>
        <p:spPr>
          <a:xfrm>
            <a:off x="12287707" y="4143146"/>
            <a:ext cx="5143500" cy="19202"/>
          </a:xfrm>
          <a:prstGeom prst="rect">
            <a:avLst/>
          </a:prstGeom>
          <a:solidFill>
            <a:srgbClr val="14213D"/>
          </a:solidFill>
          <a:ln w="12700">
            <a:solidFill>
              <a:srgbClr val="14213D">
                <a:alpha val="0"/>
              </a:srgbClr>
            </a:solidFill>
            <a:prstDash val="solid"/>
          </a:ln>
        </p:spPr>
      </p:sp>
      <p:sp>
        <p:nvSpPr>
          <p:cNvPr id="62" name="Text 42"/>
          <p:cNvSpPr txBox="1"/>
          <p:nvPr/>
        </p:nvSpPr>
        <p:spPr>
          <a:xfrm>
            <a:off x="12287707" y="3847795"/>
            <a:ext cx="857707" cy="162763"/>
          </a:xfrm>
          <a:prstGeom prst="rect">
            <a:avLst/>
          </a:prstGeom>
          <a:noFill/>
          <a:ln/>
        </p:spPr>
        <p:txBody>
          <a:bodyPr wrap="none" lIns="0" tIns="0" rIns="0" bIns="0" rtlCol="0" anchor="ctr"/>
          <a:lstStyle/>
          <a:p>
            <a:pPr algn="l" indent="0" marL="0">
              <a:buNone/>
            </a:pPr>
            <a:r>
              <a:rPr lang="en-US" sz="900" b="1" spc="162" kern="0" dirty="0">
                <a:solidFill>
                  <a:srgbClr val="94A3B8"/>
                </a:solidFill>
                <a:latin typeface="Sora" pitchFamily="34" charset="0"/>
                <a:ea typeface="Sora" pitchFamily="34" charset="-122"/>
                <a:cs typeface="Sora" pitchFamily="34" charset="-120"/>
              </a:rPr>
              <a:t>wafer</a:t>
            </a:r>
            <a:endParaRPr lang="en-US" sz="900" dirty="0"/>
          </a:p>
        </p:txBody>
      </p:sp>
      <p:sp>
        <p:nvSpPr>
          <p:cNvPr id="63" name="Text 43"/>
          <p:cNvSpPr txBox="1"/>
          <p:nvPr/>
        </p:nvSpPr>
        <p:spPr>
          <a:xfrm>
            <a:off x="13144500" y="3847795"/>
            <a:ext cx="10771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mean</a:t>
            </a:r>
            <a:endParaRPr lang="en-US" sz="900" dirty="0"/>
          </a:p>
        </p:txBody>
      </p:sp>
      <p:sp>
        <p:nvSpPr>
          <p:cNvPr id="64" name="Text 44"/>
          <p:cNvSpPr txBox="1"/>
          <p:nvPr/>
        </p:nvSpPr>
        <p:spPr>
          <a:xfrm>
            <a:off x="14216177" y="3847795"/>
            <a:ext cx="10771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3σ</a:t>
            </a:r>
            <a:endParaRPr lang="en-US" sz="900" dirty="0"/>
          </a:p>
        </p:txBody>
      </p:sp>
      <p:sp>
        <p:nvSpPr>
          <p:cNvPr id="65" name="Text 45"/>
          <p:cNvSpPr txBox="1"/>
          <p:nvPr/>
        </p:nvSpPr>
        <p:spPr>
          <a:xfrm>
            <a:off x="15287854" y="3847795"/>
            <a:ext cx="10771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range</a:t>
            </a:r>
            <a:endParaRPr lang="en-US" sz="900" dirty="0"/>
          </a:p>
        </p:txBody>
      </p:sp>
      <p:sp>
        <p:nvSpPr>
          <p:cNvPr id="66" name="Text 46"/>
          <p:cNvSpPr txBox="1"/>
          <p:nvPr/>
        </p:nvSpPr>
        <p:spPr>
          <a:xfrm>
            <a:off x="16359530" y="3847795"/>
            <a:ext cx="10771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Δ vs tgt</a:t>
            </a:r>
            <a:endParaRPr lang="en-US" sz="900" dirty="0"/>
          </a:p>
        </p:txBody>
      </p:sp>
      <p:sp>
        <p:nvSpPr>
          <p:cNvPr id="67" name="Shape 47"/>
          <p:cNvSpPr/>
          <p:nvPr/>
        </p:nvSpPr>
        <p:spPr>
          <a:xfrm>
            <a:off x="12287707" y="4696358"/>
            <a:ext cx="5143500" cy="9144"/>
          </a:xfrm>
          <a:prstGeom prst="rect">
            <a:avLst/>
          </a:prstGeom>
          <a:solidFill>
            <a:srgbClr val="DCE3EE"/>
          </a:solidFill>
          <a:ln w="12700">
            <a:solidFill>
              <a:srgbClr val="DCE3EE">
                <a:alpha val="0"/>
              </a:srgbClr>
            </a:solidFill>
            <a:prstDash val="solid"/>
          </a:ln>
        </p:spPr>
      </p:sp>
      <p:sp>
        <p:nvSpPr>
          <p:cNvPr id="68" name="Text 48"/>
          <p:cNvSpPr txBox="1"/>
          <p:nvPr/>
        </p:nvSpPr>
        <p:spPr>
          <a:xfrm>
            <a:off x="13144500" y="4328770"/>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25.42</a:t>
            </a:r>
            <a:endParaRPr lang="en-US" sz="1200" dirty="0"/>
          </a:p>
        </p:txBody>
      </p:sp>
      <p:sp>
        <p:nvSpPr>
          <p:cNvPr id="69" name="Text 49"/>
          <p:cNvSpPr txBox="1"/>
          <p:nvPr/>
        </p:nvSpPr>
        <p:spPr>
          <a:xfrm>
            <a:off x="14216177" y="432877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0.78</a:t>
            </a:r>
            <a:endParaRPr lang="en-US" sz="1200" dirty="0"/>
          </a:p>
        </p:txBody>
      </p:sp>
      <p:sp>
        <p:nvSpPr>
          <p:cNvPr id="70" name="Text 50"/>
          <p:cNvSpPr txBox="1"/>
          <p:nvPr/>
        </p:nvSpPr>
        <p:spPr>
          <a:xfrm>
            <a:off x="15287854" y="432877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3.41</a:t>
            </a:r>
            <a:endParaRPr lang="en-US" sz="1200" dirty="0"/>
          </a:p>
        </p:txBody>
      </p:sp>
      <p:sp>
        <p:nvSpPr>
          <p:cNvPr id="71" name="Text 51"/>
          <p:cNvSpPr txBox="1"/>
          <p:nvPr/>
        </p:nvSpPr>
        <p:spPr>
          <a:xfrm>
            <a:off x="16359530" y="4328770"/>
            <a:ext cx="1077163" cy="200254"/>
          </a:xfrm>
          <a:prstGeom prst="rect">
            <a:avLst/>
          </a:prstGeom>
          <a:noFill/>
          <a:ln/>
        </p:spPr>
        <p:txBody>
          <a:bodyPr wrap="none" lIns="0" tIns="0" rIns="0" bIns="0" rtlCol="0" anchor="ctr"/>
          <a:lstStyle/>
          <a:p>
            <a:pPr algn="r" indent="0" marL="0">
              <a:buNone/>
            </a:pPr>
            <a:r>
              <a:rPr lang="en-US" sz="1200" b="1" dirty="0">
                <a:solidFill>
                  <a:srgbClr val="1E5F9C"/>
                </a:solidFill>
                <a:latin typeface="Sora" pitchFamily="34" charset="0"/>
                <a:ea typeface="Sora" pitchFamily="34" charset="-122"/>
                <a:cs typeface="Sora" pitchFamily="34" charset="-120"/>
              </a:rPr>
              <a:t>−0.08</a:t>
            </a:r>
            <a:endParaRPr lang="en-US" sz="1200" dirty="0"/>
          </a:p>
        </p:txBody>
      </p:sp>
      <p:sp>
        <p:nvSpPr>
          <p:cNvPr id="72" name="Shape 52"/>
          <p:cNvSpPr/>
          <p:nvPr/>
        </p:nvSpPr>
        <p:spPr>
          <a:xfrm>
            <a:off x="12287707" y="5239512"/>
            <a:ext cx="5143500" cy="9144"/>
          </a:xfrm>
          <a:prstGeom prst="rect">
            <a:avLst/>
          </a:prstGeom>
          <a:solidFill>
            <a:srgbClr val="DCE3EE"/>
          </a:solidFill>
          <a:ln w="12700">
            <a:solidFill>
              <a:srgbClr val="DCE3EE">
                <a:alpha val="0"/>
              </a:srgbClr>
            </a:solidFill>
            <a:prstDash val="solid"/>
          </a:ln>
        </p:spPr>
      </p:sp>
      <p:sp>
        <p:nvSpPr>
          <p:cNvPr id="73" name="Text 53"/>
          <p:cNvSpPr txBox="1"/>
          <p:nvPr/>
        </p:nvSpPr>
        <p:spPr>
          <a:xfrm>
            <a:off x="13144500" y="4871923"/>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25.34</a:t>
            </a:r>
            <a:endParaRPr lang="en-US" sz="1200" dirty="0"/>
          </a:p>
        </p:txBody>
      </p:sp>
      <p:sp>
        <p:nvSpPr>
          <p:cNvPr id="74" name="Text 54"/>
          <p:cNvSpPr txBox="1"/>
          <p:nvPr/>
        </p:nvSpPr>
        <p:spPr>
          <a:xfrm>
            <a:off x="14216177" y="4871923"/>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0.74</a:t>
            </a:r>
            <a:endParaRPr lang="en-US" sz="1200" dirty="0"/>
          </a:p>
        </p:txBody>
      </p:sp>
      <p:sp>
        <p:nvSpPr>
          <p:cNvPr id="75" name="Text 55"/>
          <p:cNvSpPr txBox="1"/>
          <p:nvPr/>
        </p:nvSpPr>
        <p:spPr>
          <a:xfrm>
            <a:off x="15287854" y="4871923"/>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3.18</a:t>
            </a:r>
            <a:endParaRPr lang="en-US" sz="1200" dirty="0"/>
          </a:p>
        </p:txBody>
      </p:sp>
      <p:sp>
        <p:nvSpPr>
          <p:cNvPr id="76" name="Text 56"/>
          <p:cNvSpPr txBox="1"/>
          <p:nvPr/>
        </p:nvSpPr>
        <p:spPr>
          <a:xfrm>
            <a:off x="16359530" y="4871923"/>
            <a:ext cx="1077163" cy="200254"/>
          </a:xfrm>
          <a:prstGeom prst="rect">
            <a:avLst/>
          </a:prstGeom>
          <a:noFill/>
          <a:ln/>
        </p:spPr>
        <p:txBody>
          <a:bodyPr wrap="none" lIns="0" tIns="0" rIns="0" bIns="0" rtlCol="0" anchor="ctr"/>
          <a:lstStyle/>
          <a:p>
            <a:pPr algn="r" indent="0" marL="0">
              <a:buNone/>
            </a:pPr>
            <a:r>
              <a:rPr lang="en-US" sz="1200" b="1" dirty="0">
                <a:solidFill>
                  <a:srgbClr val="4F86C0"/>
                </a:solidFill>
                <a:latin typeface="Sora" pitchFamily="34" charset="0"/>
                <a:ea typeface="Sora" pitchFamily="34" charset="-122"/>
                <a:cs typeface="Sora" pitchFamily="34" charset="-120"/>
              </a:rPr>
              <a:t>−0.16</a:t>
            </a:r>
            <a:endParaRPr lang="en-US" sz="1200" dirty="0"/>
          </a:p>
        </p:txBody>
      </p:sp>
      <p:sp>
        <p:nvSpPr>
          <p:cNvPr id="77" name="Shape 57"/>
          <p:cNvSpPr/>
          <p:nvPr/>
        </p:nvSpPr>
        <p:spPr>
          <a:xfrm>
            <a:off x="12287707" y="5782666"/>
            <a:ext cx="5143500" cy="9144"/>
          </a:xfrm>
          <a:prstGeom prst="rect">
            <a:avLst/>
          </a:prstGeom>
          <a:solidFill>
            <a:srgbClr val="DCE3EE"/>
          </a:solidFill>
          <a:ln w="12700">
            <a:solidFill>
              <a:srgbClr val="DCE3EE">
                <a:alpha val="0"/>
              </a:srgbClr>
            </a:solidFill>
            <a:prstDash val="solid"/>
          </a:ln>
        </p:spPr>
      </p:sp>
      <p:sp>
        <p:nvSpPr>
          <p:cNvPr id="78" name="Text 58"/>
          <p:cNvSpPr txBox="1"/>
          <p:nvPr/>
        </p:nvSpPr>
        <p:spPr>
          <a:xfrm>
            <a:off x="13144500" y="5415077"/>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25.62</a:t>
            </a:r>
            <a:endParaRPr lang="en-US" sz="1200" dirty="0"/>
          </a:p>
        </p:txBody>
      </p:sp>
      <p:sp>
        <p:nvSpPr>
          <p:cNvPr id="79" name="Text 59"/>
          <p:cNvSpPr txBox="1"/>
          <p:nvPr/>
        </p:nvSpPr>
        <p:spPr>
          <a:xfrm>
            <a:off x="14216177" y="5415077"/>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0.92</a:t>
            </a:r>
            <a:endParaRPr lang="en-US" sz="1200" dirty="0"/>
          </a:p>
        </p:txBody>
      </p:sp>
      <p:sp>
        <p:nvSpPr>
          <p:cNvPr id="80" name="Text 60"/>
          <p:cNvSpPr txBox="1"/>
          <p:nvPr/>
        </p:nvSpPr>
        <p:spPr>
          <a:xfrm>
            <a:off x="15287854" y="5415077"/>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4.05</a:t>
            </a:r>
            <a:endParaRPr lang="en-US" sz="1200" dirty="0"/>
          </a:p>
        </p:txBody>
      </p:sp>
      <p:sp>
        <p:nvSpPr>
          <p:cNvPr id="81" name="Text 61"/>
          <p:cNvSpPr txBox="1"/>
          <p:nvPr/>
        </p:nvSpPr>
        <p:spPr>
          <a:xfrm>
            <a:off x="16359530" y="5415077"/>
            <a:ext cx="1077163" cy="200254"/>
          </a:xfrm>
          <a:prstGeom prst="rect">
            <a:avLst/>
          </a:prstGeom>
          <a:noFill/>
          <a:ln/>
        </p:spPr>
        <p:txBody>
          <a:bodyPr wrap="none" lIns="0" tIns="0" rIns="0" bIns="0" rtlCol="0" anchor="ctr"/>
          <a:lstStyle/>
          <a:p>
            <a:pPr algn="r" indent="0" marL="0">
              <a:buNone/>
            </a:pPr>
            <a:r>
              <a:rPr lang="en-US" sz="1200" b="1" dirty="0">
                <a:solidFill>
                  <a:srgbClr val="6F7D94"/>
                </a:solidFill>
                <a:latin typeface="Sora" pitchFamily="34" charset="0"/>
                <a:ea typeface="Sora" pitchFamily="34" charset="-122"/>
                <a:cs typeface="Sora" pitchFamily="34" charset="-120"/>
              </a:rPr>
              <a:t>+0.12</a:t>
            </a:r>
            <a:endParaRPr lang="en-US" sz="1200" dirty="0"/>
          </a:p>
        </p:txBody>
      </p:sp>
      <p:sp>
        <p:nvSpPr>
          <p:cNvPr id="82" name="Shape 62"/>
          <p:cNvSpPr/>
          <p:nvPr/>
        </p:nvSpPr>
        <p:spPr>
          <a:xfrm>
            <a:off x="12287707" y="6324905"/>
            <a:ext cx="5143500" cy="9144"/>
          </a:xfrm>
          <a:prstGeom prst="rect">
            <a:avLst/>
          </a:prstGeom>
          <a:solidFill>
            <a:srgbClr val="DCE3EE"/>
          </a:solidFill>
          <a:ln w="12700">
            <a:solidFill>
              <a:srgbClr val="DCE3EE">
                <a:alpha val="0"/>
              </a:srgbClr>
            </a:solidFill>
            <a:prstDash val="solid"/>
          </a:ln>
        </p:spPr>
      </p:sp>
      <p:sp>
        <p:nvSpPr>
          <p:cNvPr id="83" name="Text 63"/>
          <p:cNvSpPr txBox="1"/>
          <p:nvPr/>
        </p:nvSpPr>
        <p:spPr>
          <a:xfrm>
            <a:off x="13144500" y="5958230"/>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25.48</a:t>
            </a:r>
            <a:endParaRPr lang="en-US" sz="1200" dirty="0"/>
          </a:p>
        </p:txBody>
      </p:sp>
      <p:sp>
        <p:nvSpPr>
          <p:cNvPr id="84" name="Text 64"/>
          <p:cNvSpPr txBox="1"/>
          <p:nvPr/>
        </p:nvSpPr>
        <p:spPr>
          <a:xfrm>
            <a:off x="14216177" y="595823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0.71</a:t>
            </a:r>
            <a:endParaRPr lang="en-US" sz="1200" dirty="0"/>
          </a:p>
        </p:txBody>
      </p:sp>
      <p:sp>
        <p:nvSpPr>
          <p:cNvPr id="85" name="Text 65"/>
          <p:cNvSpPr txBox="1"/>
          <p:nvPr/>
        </p:nvSpPr>
        <p:spPr>
          <a:xfrm>
            <a:off x="15287854" y="595823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3.05</a:t>
            </a:r>
            <a:endParaRPr lang="en-US" sz="1200" dirty="0"/>
          </a:p>
        </p:txBody>
      </p:sp>
      <p:sp>
        <p:nvSpPr>
          <p:cNvPr id="86" name="Text 66"/>
          <p:cNvSpPr txBox="1"/>
          <p:nvPr/>
        </p:nvSpPr>
        <p:spPr>
          <a:xfrm>
            <a:off x="16359530" y="5958230"/>
            <a:ext cx="1077163" cy="200254"/>
          </a:xfrm>
          <a:prstGeom prst="rect">
            <a:avLst/>
          </a:prstGeom>
          <a:noFill/>
          <a:ln/>
        </p:spPr>
        <p:txBody>
          <a:bodyPr wrap="none" lIns="0" tIns="0" rIns="0" bIns="0" rtlCol="0" anchor="ctr"/>
          <a:lstStyle/>
          <a:p>
            <a:pPr algn="r" indent="0" marL="0">
              <a:buNone/>
            </a:pPr>
            <a:r>
              <a:rPr lang="en-US" sz="1200" b="1" dirty="0">
                <a:solidFill>
                  <a:srgbClr val="1E5F9C"/>
                </a:solidFill>
                <a:latin typeface="Sora" pitchFamily="34" charset="0"/>
                <a:ea typeface="Sora" pitchFamily="34" charset="-122"/>
                <a:cs typeface="Sora" pitchFamily="34" charset="-120"/>
              </a:rPr>
              <a:t>−0.02</a:t>
            </a:r>
            <a:endParaRPr lang="en-US" sz="1200" dirty="0"/>
          </a:p>
        </p:txBody>
      </p:sp>
      <p:sp>
        <p:nvSpPr>
          <p:cNvPr id="87" name="Shape 67"/>
          <p:cNvSpPr/>
          <p:nvPr/>
        </p:nvSpPr>
        <p:spPr>
          <a:xfrm>
            <a:off x="12287707" y="6868058"/>
            <a:ext cx="5143500" cy="9144"/>
          </a:xfrm>
          <a:prstGeom prst="rect">
            <a:avLst/>
          </a:prstGeom>
          <a:solidFill>
            <a:srgbClr val="DCE3EE"/>
          </a:solidFill>
          <a:ln w="12700">
            <a:solidFill>
              <a:srgbClr val="DCE3EE">
                <a:alpha val="0"/>
              </a:srgbClr>
            </a:solidFill>
            <a:prstDash val="solid"/>
          </a:ln>
        </p:spPr>
      </p:sp>
      <p:sp>
        <p:nvSpPr>
          <p:cNvPr id="88" name="Text 68"/>
          <p:cNvSpPr txBox="1"/>
          <p:nvPr/>
        </p:nvSpPr>
        <p:spPr>
          <a:xfrm>
            <a:off x="13144500" y="6500470"/>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25.39</a:t>
            </a:r>
            <a:endParaRPr lang="en-US" sz="1200" dirty="0"/>
          </a:p>
        </p:txBody>
      </p:sp>
      <p:sp>
        <p:nvSpPr>
          <p:cNvPr id="89" name="Text 69"/>
          <p:cNvSpPr txBox="1"/>
          <p:nvPr/>
        </p:nvSpPr>
        <p:spPr>
          <a:xfrm>
            <a:off x="14216177" y="650047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0.69</a:t>
            </a:r>
            <a:endParaRPr lang="en-US" sz="1200" dirty="0"/>
          </a:p>
        </p:txBody>
      </p:sp>
      <p:sp>
        <p:nvSpPr>
          <p:cNvPr id="90" name="Text 70"/>
          <p:cNvSpPr txBox="1"/>
          <p:nvPr/>
        </p:nvSpPr>
        <p:spPr>
          <a:xfrm>
            <a:off x="15287854" y="650047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2.97</a:t>
            </a:r>
            <a:endParaRPr lang="en-US" sz="1200" dirty="0"/>
          </a:p>
        </p:txBody>
      </p:sp>
      <p:sp>
        <p:nvSpPr>
          <p:cNvPr id="91" name="Text 71"/>
          <p:cNvSpPr txBox="1"/>
          <p:nvPr/>
        </p:nvSpPr>
        <p:spPr>
          <a:xfrm>
            <a:off x="16359530" y="6500470"/>
            <a:ext cx="1077163" cy="200254"/>
          </a:xfrm>
          <a:prstGeom prst="rect">
            <a:avLst/>
          </a:prstGeom>
          <a:noFill/>
          <a:ln/>
        </p:spPr>
        <p:txBody>
          <a:bodyPr wrap="none" lIns="0" tIns="0" rIns="0" bIns="0" rtlCol="0" anchor="ctr"/>
          <a:lstStyle/>
          <a:p>
            <a:pPr algn="r" indent="0" marL="0">
              <a:buNone/>
            </a:pPr>
            <a:r>
              <a:rPr lang="en-US" sz="1200" b="1" dirty="0">
                <a:solidFill>
                  <a:srgbClr val="4F86C0"/>
                </a:solidFill>
                <a:latin typeface="Sora" pitchFamily="34" charset="0"/>
                <a:ea typeface="Sora" pitchFamily="34" charset="-122"/>
                <a:cs typeface="Sora" pitchFamily="34" charset="-120"/>
              </a:rPr>
              <a:t>−0.11</a:t>
            </a:r>
            <a:endParaRPr lang="en-US" sz="1200" dirty="0"/>
          </a:p>
        </p:txBody>
      </p:sp>
      <p:sp>
        <p:nvSpPr>
          <p:cNvPr id="92" name="Text 72"/>
          <p:cNvSpPr txBox="1"/>
          <p:nvPr/>
        </p:nvSpPr>
        <p:spPr>
          <a:xfrm>
            <a:off x="13144500" y="7043623"/>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25.69</a:t>
            </a:r>
            <a:endParaRPr lang="en-US" sz="1200" dirty="0"/>
          </a:p>
        </p:txBody>
      </p:sp>
      <p:sp>
        <p:nvSpPr>
          <p:cNvPr id="93" name="Text 73"/>
          <p:cNvSpPr txBox="1"/>
          <p:nvPr/>
        </p:nvSpPr>
        <p:spPr>
          <a:xfrm>
            <a:off x="14216177" y="7043623"/>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0.88</a:t>
            </a:r>
            <a:endParaRPr lang="en-US" sz="1200" dirty="0"/>
          </a:p>
        </p:txBody>
      </p:sp>
      <p:sp>
        <p:nvSpPr>
          <p:cNvPr id="94" name="Text 74"/>
          <p:cNvSpPr txBox="1"/>
          <p:nvPr/>
        </p:nvSpPr>
        <p:spPr>
          <a:xfrm>
            <a:off x="15287854" y="7043623"/>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3.87</a:t>
            </a:r>
            <a:endParaRPr lang="en-US" sz="1200" dirty="0"/>
          </a:p>
        </p:txBody>
      </p:sp>
      <p:sp>
        <p:nvSpPr>
          <p:cNvPr id="95" name="Text 75"/>
          <p:cNvSpPr txBox="1"/>
          <p:nvPr/>
        </p:nvSpPr>
        <p:spPr>
          <a:xfrm>
            <a:off x="16359530" y="7043623"/>
            <a:ext cx="1077163" cy="200254"/>
          </a:xfrm>
          <a:prstGeom prst="rect">
            <a:avLst/>
          </a:prstGeom>
          <a:noFill/>
          <a:ln/>
        </p:spPr>
        <p:txBody>
          <a:bodyPr wrap="none" lIns="0" tIns="0" rIns="0" bIns="0" rtlCol="0" anchor="ctr"/>
          <a:lstStyle/>
          <a:p>
            <a:pPr algn="r" indent="0" marL="0">
              <a:buNone/>
            </a:pPr>
            <a:r>
              <a:rPr lang="en-US" sz="1200" b="1" dirty="0">
                <a:solidFill>
                  <a:srgbClr val="6F7D94"/>
                </a:solidFill>
                <a:latin typeface="Sora" pitchFamily="34" charset="0"/>
                <a:ea typeface="Sora" pitchFamily="34" charset="-122"/>
                <a:cs typeface="Sora" pitchFamily="34" charset="-120"/>
              </a:rPr>
              <a:t>+0.19</a:t>
            </a:r>
            <a:endParaRPr lang="en-US" sz="1200" dirty="0"/>
          </a:p>
        </p:txBody>
      </p:sp>
      <p:sp>
        <p:nvSpPr>
          <p:cNvPr id="96" name="Shape 76"/>
          <p:cNvSpPr/>
          <p:nvPr/>
        </p:nvSpPr>
        <p:spPr>
          <a:xfrm>
            <a:off x="12287707" y="4401007"/>
            <a:ext cx="95098" cy="95098"/>
          </a:xfrm>
          <a:prstGeom prst="rect">
            <a:avLst/>
          </a:prstGeom>
          <a:solidFill>
            <a:srgbClr val="1E5F9C"/>
          </a:solidFill>
          <a:ln w="12700">
            <a:solidFill>
              <a:srgbClr val="FFFFFF">
                <a:alpha val="0"/>
              </a:srgbClr>
            </a:solidFill>
            <a:prstDash val="solid"/>
          </a:ln>
        </p:spPr>
      </p:sp>
      <p:sp>
        <p:nvSpPr>
          <p:cNvPr id="97" name="Text 77"/>
          <p:cNvSpPr txBox="1"/>
          <p:nvPr/>
        </p:nvSpPr>
        <p:spPr>
          <a:xfrm>
            <a:off x="12458700" y="4343400"/>
            <a:ext cx="352958"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W01</a:t>
            </a:r>
            <a:endParaRPr lang="en-US" sz="1200" dirty="0"/>
          </a:p>
        </p:txBody>
      </p:sp>
      <p:sp>
        <p:nvSpPr>
          <p:cNvPr id="98" name="Shape 78"/>
          <p:cNvSpPr/>
          <p:nvPr/>
        </p:nvSpPr>
        <p:spPr>
          <a:xfrm>
            <a:off x="12287707" y="4943246"/>
            <a:ext cx="95098" cy="95098"/>
          </a:xfrm>
          <a:prstGeom prst="rect">
            <a:avLst/>
          </a:prstGeom>
          <a:solidFill>
            <a:srgbClr val="4F86C0"/>
          </a:solidFill>
          <a:ln w="12700">
            <a:solidFill>
              <a:srgbClr val="FFFFFF">
                <a:alpha val="0"/>
              </a:srgbClr>
            </a:solidFill>
            <a:prstDash val="solid"/>
          </a:ln>
        </p:spPr>
      </p:sp>
      <p:sp>
        <p:nvSpPr>
          <p:cNvPr id="99" name="Text 79"/>
          <p:cNvSpPr txBox="1"/>
          <p:nvPr/>
        </p:nvSpPr>
        <p:spPr>
          <a:xfrm>
            <a:off x="12458700" y="4886554"/>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W02</a:t>
            </a:r>
            <a:endParaRPr lang="en-US" sz="1200" dirty="0"/>
          </a:p>
        </p:txBody>
      </p:sp>
      <p:sp>
        <p:nvSpPr>
          <p:cNvPr id="100" name="Shape 80"/>
          <p:cNvSpPr/>
          <p:nvPr/>
        </p:nvSpPr>
        <p:spPr>
          <a:xfrm>
            <a:off x="12287707" y="5486400"/>
            <a:ext cx="95098" cy="95098"/>
          </a:xfrm>
          <a:prstGeom prst="rect">
            <a:avLst/>
          </a:prstGeom>
          <a:solidFill>
            <a:srgbClr val="94A3B8"/>
          </a:solidFill>
          <a:ln w="12700">
            <a:solidFill>
              <a:srgbClr val="FFFFFF">
                <a:alpha val="0"/>
              </a:srgbClr>
            </a:solidFill>
            <a:prstDash val="solid"/>
          </a:ln>
        </p:spPr>
      </p:sp>
      <p:sp>
        <p:nvSpPr>
          <p:cNvPr id="101" name="Text 81"/>
          <p:cNvSpPr txBox="1"/>
          <p:nvPr/>
        </p:nvSpPr>
        <p:spPr>
          <a:xfrm>
            <a:off x="12458700" y="5429707"/>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W03</a:t>
            </a:r>
            <a:endParaRPr lang="en-US" sz="1200" dirty="0"/>
          </a:p>
        </p:txBody>
      </p:sp>
      <p:sp>
        <p:nvSpPr>
          <p:cNvPr id="102" name="Shape 82"/>
          <p:cNvSpPr/>
          <p:nvPr/>
        </p:nvSpPr>
        <p:spPr>
          <a:xfrm>
            <a:off x="12287707" y="6029554"/>
            <a:ext cx="95098" cy="95098"/>
          </a:xfrm>
          <a:prstGeom prst="rect">
            <a:avLst/>
          </a:prstGeom>
          <a:solidFill>
            <a:srgbClr val="1E5F9C"/>
          </a:solidFill>
          <a:ln w="12700">
            <a:solidFill>
              <a:srgbClr val="FFFFFF">
                <a:alpha val="0"/>
              </a:srgbClr>
            </a:solidFill>
            <a:prstDash val="solid"/>
          </a:ln>
        </p:spPr>
      </p:sp>
      <p:sp>
        <p:nvSpPr>
          <p:cNvPr id="103" name="Text 83"/>
          <p:cNvSpPr txBox="1"/>
          <p:nvPr/>
        </p:nvSpPr>
        <p:spPr>
          <a:xfrm>
            <a:off x="12458700" y="5971946"/>
            <a:ext cx="391363"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W04</a:t>
            </a:r>
            <a:endParaRPr lang="en-US" sz="1200" dirty="0"/>
          </a:p>
        </p:txBody>
      </p:sp>
      <p:sp>
        <p:nvSpPr>
          <p:cNvPr id="104" name="Shape 84"/>
          <p:cNvSpPr/>
          <p:nvPr/>
        </p:nvSpPr>
        <p:spPr>
          <a:xfrm>
            <a:off x="12287707" y="6572707"/>
            <a:ext cx="95098" cy="95098"/>
          </a:xfrm>
          <a:prstGeom prst="rect">
            <a:avLst/>
          </a:prstGeom>
          <a:solidFill>
            <a:srgbClr val="4F86C0"/>
          </a:solidFill>
          <a:ln w="12700">
            <a:solidFill>
              <a:srgbClr val="FFFFFF">
                <a:alpha val="0"/>
              </a:srgbClr>
            </a:solidFill>
            <a:prstDash val="solid"/>
          </a:ln>
        </p:spPr>
      </p:sp>
      <p:sp>
        <p:nvSpPr>
          <p:cNvPr id="105" name="Text 85"/>
          <p:cNvSpPr txBox="1"/>
          <p:nvPr/>
        </p:nvSpPr>
        <p:spPr>
          <a:xfrm>
            <a:off x="12458700" y="6515100"/>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W05</a:t>
            </a:r>
            <a:endParaRPr lang="en-US" sz="1200" dirty="0"/>
          </a:p>
        </p:txBody>
      </p:sp>
      <p:sp>
        <p:nvSpPr>
          <p:cNvPr id="106" name="Shape 86"/>
          <p:cNvSpPr/>
          <p:nvPr/>
        </p:nvSpPr>
        <p:spPr>
          <a:xfrm>
            <a:off x="12287707" y="7114946"/>
            <a:ext cx="95098" cy="95098"/>
          </a:xfrm>
          <a:prstGeom prst="rect">
            <a:avLst/>
          </a:prstGeom>
          <a:solidFill>
            <a:srgbClr val="94A3B8"/>
          </a:solidFill>
          <a:ln w="12700">
            <a:solidFill>
              <a:srgbClr val="FFFFFF">
                <a:alpha val="0"/>
              </a:srgbClr>
            </a:solidFill>
            <a:prstDash val="solid"/>
          </a:ln>
        </p:spPr>
      </p:sp>
      <p:sp>
        <p:nvSpPr>
          <p:cNvPr id="107" name="Text 87"/>
          <p:cNvSpPr txBox="1"/>
          <p:nvPr/>
        </p:nvSpPr>
        <p:spPr>
          <a:xfrm>
            <a:off x="12458700" y="7058254"/>
            <a:ext cx="391363"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W06</a:t>
            </a:r>
            <a:endParaRPr lang="en-US" sz="1200" dirty="0"/>
          </a:p>
        </p:txBody>
      </p:sp>
      <p:sp>
        <p:nvSpPr>
          <p:cNvPr id="108" name="Text 88"/>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109" name="Image 17" descr="gen-dedup-a95c956e3bd879e41d2e7daca8566398.png">    </p:cNvPr>
          <p:cNvPicPr>
            <a:picLocks noChangeAspect="1"/>
          </p:cNvPicPr>
          <p:nvPr/>
        </p:nvPicPr>
        <p:blipFill>
          <a:blip r:embed="rId18"/>
          <a:srcRect l="-2083" r="-2083" t="0" b="0"/>
          <a:stretch/>
        </p:blipFill>
        <p:spPr>
          <a:xfrm>
            <a:off x="2656332" y="9096451"/>
            <a:ext cx="571500" cy="9144"/>
          </a:xfrm>
          <a:prstGeom prst="rect">
            <a:avLst/>
          </a:prstGeom>
        </p:spPr>
      </p:pic>
      <p:sp>
        <p:nvSpPr>
          <p:cNvPr id="110" name="Text 89"/>
          <p:cNvSpPr txBox="1"/>
          <p:nvPr/>
        </p:nvSpPr>
        <p:spPr>
          <a:xfrm>
            <a:off x="3456432" y="8934602"/>
            <a:ext cx="11449202"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Ru 2 nm group이 가장 타이트한 분포 — AASI 단계에서 Co 대비 mean −0.27, range −0.9 nm 차이로 안정적.</a:t>
            </a:r>
            <a:endParaRPr lang="en-US" sz="1800" dirty="0"/>
          </a:p>
        </p:txBody>
      </p:sp>
      <p:sp>
        <p:nvSpPr>
          <p:cNvPr id="111" name="Text 90"/>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112" name="Text 91"/>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2857500"/>
            <a:ext cx="10858500" cy="5333695"/>
          </a:xfrm>
          <a:prstGeom prst="rect">
            <a:avLst/>
          </a:prstGeom>
          <a:solidFill>
            <a:srgbClr val="FFFFFF"/>
          </a:solidFill>
          <a:ln w="12700">
            <a:solidFill>
              <a:srgbClr val="C8D3E2"/>
            </a:solidFill>
            <a:prstDash val="solid"/>
          </a:ln>
        </p:spPr>
      </p:sp>
      <p:sp>
        <p:nvSpPr>
          <p:cNvPr id="5" name="Shape 1"/>
          <p:cNvSpPr/>
          <p:nvPr/>
        </p:nvSpPr>
        <p:spPr>
          <a:xfrm>
            <a:off x="12001500" y="2857500"/>
            <a:ext cx="5429707" cy="5333695"/>
          </a:xfrm>
          <a:prstGeom prst="rect">
            <a:avLst/>
          </a:prstGeom>
          <a:solidFill>
            <a:srgbClr val="FFFFFF"/>
          </a:solidFill>
          <a:ln w="12700">
            <a:solidFill>
              <a:srgbClr val="C8D3E2"/>
            </a:solidFill>
            <a:prstDash val="solid"/>
          </a:ln>
        </p:spPr>
      </p:sp>
      <p:pic>
        <p:nvPicPr>
          <p:cNvPr id="6" name="Image 1" descr="gen-dedup-75765930c91dbe2c4efa0035913a3ed8.png">    </p:cNvPr>
          <p:cNvPicPr>
            <a:picLocks noChangeAspect="1"/>
          </p:cNvPicPr>
          <p:nvPr/>
        </p:nvPicPr>
        <p:blipFill>
          <a:blip r:embed="rId2"/>
          <a:srcRect l="-2083" r="-2083" t="0" b="0"/>
          <a:stretch/>
        </p:blipFill>
        <p:spPr>
          <a:xfrm>
            <a:off x="1904695" y="6476695"/>
            <a:ext cx="8953805" cy="9144"/>
          </a:xfrm>
          <a:prstGeom prst="rect">
            <a:avLst/>
          </a:prstGeom>
        </p:spPr>
      </p:pic>
      <p:pic>
        <p:nvPicPr>
          <p:cNvPr id="7" name="Image 2" descr="gen-dedup-1ad9b00ea1625f758fac7d5bd6069a95.png">    </p:cNvPr>
          <p:cNvPicPr>
            <a:picLocks noChangeAspect="1"/>
          </p:cNvPicPr>
          <p:nvPr/>
        </p:nvPicPr>
        <p:blipFill>
          <a:blip r:embed="rId3"/>
          <a:srcRect l="0" r="0" t="-2094" b="-2094"/>
          <a:stretch/>
        </p:blipFill>
        <p:spPr>
          <a:xfrm>
            <a:off x="1904695" y="3905402"/>
            <a:ext cx="9144" cy="2572207"/>
          </a:xfrm>
          <a:prstGeom prst="rect">
            <a:avLst/>
          </a:prstGeom>
        </p:spPr>
      </p:pic>
      <p:sp>
        <p:nvSpPr>
          <p:cNvPr id="8" name="Shape 2"/>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9" name="Image 3" descr="gen-dedup-3c3f0190f3348a605df0239cea9995bf.png">    </p:cNvPr>
          <p:cNvPicPr>
            <a:picLocks noChangeAspect="1"/>
          </p:cNvPicPr>
          <p:nvPr/>
        </p:nvPicPr>
        <p:blipFill>
          <a:blip r:embed="rId4"/>
          <a:srcRect l="-2083" r="-2083" t="0" b="0"/>
          <a:stretch/>
        </p:blipFill>
        <p:spPr>
          <a:xfrm>
            <a:off x="0" y="9562795"/>
            <a:ext cx="18288000" cy="9144"/>
          </a:xfrm>
          <a:prstGeom prst="rect">
            <a:avLst/>
          </a:prstGeom>
        </p:spPr>
      </p:pic>
      <p:sp>
        <p:nvSpPr>
          <p:cNvPr id="10" name="Shape 3"/>
          <p:cNvSpPr/>
          <p:nvPr/>
        </p:nvSpPr>
        <p:spPr>
          <a:xfrm>
            <a:off x="6038698" y="3924605"/>
            <a:ext cx="19202" cy="2553005"/>
          </a:xfrm>
          <a:prstGeom prst="rect">
            <a:avLst/>
          </a:prstGeom>
          <a:solidFill>
            <a:srgbClr val="94A3B8"/>
          </a:solidFill>
          <a:ln w="12700">
            <a:solidFill>
              <a:srgbClr val="94A3B8">
                <a:alpha val="0"/>
              </a:srgbClr>
            </a:solidFill>
            <a:prstDash val="solid"/>
          </a:ln>
        </p:spPr>
      </p:sp>
      <p:pic>
        <p:nvPicPr>
          <p:cNvPr id="11" name="Image 4" descr="gen-dedup-8965af9e898545980c83cc9f5e0471b1.png">    </p:cNvPr>
          <p:cNvPicPr>
            <a:picLocks noChangeAspect="1"/>
          </p:cNvPicPr>
          <p:nvPr/>
        </p:nvPicPr>
        <p:blipFill>
          <a:blip r:embed="rId5"/>
          <a:srcRect l="0" r="0" t="-400" b="-400"/>
          <a:stretch/>
        </p:blipFill>
        <p:spPr>
          <a:xfrm>
            <a:off x="2247595" y="5057546"/>
            <a:ext cx="457200" cy="19202"/>
          </a:xfrm>
          <a:prstGeom prst="rect">
            <a:avLst/>
          </a:prstGeom>
        </p:spPr>
      </p:pic>
      <p:pic>
        <p:nvPicPr>
          <p:cNvPr id="12" name="Image 5" descr="gen-dedup-495414340b73c90e1c7cc1489b536f34.png">    </p:cNvPr>
          <p:cNvPicPr>
            <a:picLocks noChangeAspect="1"/>
          </p:cNvPicPr>
          <p:nvPr/>
        </p:nvPicPr>
        <p:blipFill>
          <a:blip r:embed="rId6"/>
          <a:srcRect l="-400" r="-400" t="0" b="0"/>
          <a:stretch/>
        </p:blipFill>
        <p:spPr>
          <a:xfrm>
            <a:off x="2457907" y="4953305"/>
            <a:ext cx="19202" cy="228600"/>
          </a:xfrm>
          <a:prstGeom prst="rect">
            <a:avLst/>
          </a:prstGeom>
        </p:spPr>
      </p:pic>
      <p:pic>
        <p:nvPicPr>
          <p:cNvPr id="13" name="Image 6" descr="gen-dedup-8965af9e898545980c83cc9f5e0471b1.png">    </p:cNvPr>
          <p:cNvPicPr>
            <a:picLocks noChangeAspect="1"/>
          </p:cNvPicPr>
          <p:nvPr/>
        </p:nvPicPr>
        <p:blipFill>
          <a:blip r:embed="rId7"/>
          <a:srcRect l="0" r="0" t="-400" b="-400"/>
          <a:stretch/>
        </p:blipFill>
        <p:spPr>
          <a:xfrm>
            <a:off x="2247595" y="4934102"/>
            <a:ext cx="457200" cy="19202"/>
          </a:xfrm>
          <a:prstGeom prst="rect">
            <a:avLst/>
          </a:prstGeom>
        </p:spPr>
      </p:pic>
      <p:pic>
        <p:nvPicPr>
          <p:cNvPr id="14" name="Image 7" descr="gen-dedup-8965af9e898545980c83cc9f5e0471b1.png">    </p:cNvPr>
          <p:cNvPicPr>
            <a:picLocks noChangeAspect="1"/>
          </p:cNvPicPr>
          <p:nvPr/>
        </p:nvPicPr>
        <p:blipFill>
          <a:blip r:embed="rId8"/>
          <a:srcRect l="0" r="0" t="-400" b="-400"/>
          <a:stretch/>
        </p:blipFill>
        <p:spPr>
          <a:xfrm>
            <a:off x="2247595" y="5181905"/>
            <a:ext cx="457200" cy="19202"/>
          </a:xfrm>
          <a:prstGeom prst="rect">
            <a:avLst/>
          </a:prstGeom>
        </p:spPr>
      </p:pic>
      <p:pic>
        <p:nvPicPr>
          <p:cNvPr id="15" name="Image 8" descr="gen-dedup-8dcfd29e859a2d417982e609cdf07130.png">    </p:cNvPr>
          <p:cNvPicPr>
            <a:picLocks noChangeAspect="1"/>
          </p:cNvPicPr>
          <p:nvPr/>
        </p:nvPicPr>
        <p:blipFill>
          <a:blip r:embed="rId9"/>
          <a:srcRect l="0" r="0" t="-400" b="-400"/>
          <a:stretch/>
        </p:blipFill>
        <p:spPr>
          <a:xfrm>
            <a:off x="3676802" y="5095951"/>
            <a:ext cx="457200" cy="19202"/>
          </a:xfrm>
          <a:prstGeom prst="rect">
            <a:avLst/>
          </a:prstGeom>
        </p:spPr>
      </p:pic>
      <p:pic>
        <p:nvPicPr>
          <p:cNvPr id="16" name="Image 9" descr="gen-dedup-7e69cf9cd088cad631efa42fb40ad6e4.png">    </p:cNvPr>
          <p:cNvPicPr>
            <a:picLocks noChangeAspect="1"/>
          </p:cNvPicPr>
          <p:nvPr/>
        </p:nvPicPr>
        <p:blipFill>
          <a:blip r:embed="rId10"/>
          <a:srcRect l="-400" r="-400" t="0" b="0"/>
          <a:stretch/>
        </p:blipFill>
        <p:spPr>
          <a:xfrm>
            <a:off x="3886200" y="4990795"/>
            <a:ext cx="19202" cy="228600"/>
          </a:xfrm>
          <a:prstGeom prst="rect">
            <a:avLst/>
          </a:prstGeom>
        </p:spPr>
      </p:pic>
      <p:pic>
        <p:nvPicPr>
          <p:cNvPr id="17" name="Image 10" descr="gen-dedup-8dcfd29e859a2d417982e609cdf07130.png">    </p:cNvPr>
          <p:cNvPicPr>
            <a:picLocks noChangeAspect="1"/>
          </p:cNvPicPr>
          <p:nvPr/>
        </p:nvPicPr>
        <p:blipFill>
          <a:blip r:embed="rId11"/>
          <a:srcRect l="0" r="0" t="-400" b="-400"/>
          <a:stretch/>
        </p:blipFill>
        <p:spPr>
          <a:xfrm>
            <a:off x="3676802" y="4972507"/>
            <a:ext cx="457200" cy="19202"/>
          </a:xfrm>
          <a:prstGeom prst="rect">
            <a:avLst/>
          </a:prstGeom>
        </p:spPr>
      </p:pic>
      <p:pic>
        <p:nvPicPr>
          <p:cNvPr id="18" name="Image 11" descr="gen-dedup-8dcfd29e859a2d417982e609cdf07130.png">    </p:cNvPr>
          <p:cNvPicPr>
            <a:picLocks noChangeAspect="1"/>
          </p:cNvPicPr>
          <p:nvPr/>
        </p:nvPicPr>
        <p:blipFill>
          <a:blip r:embed="rId12"/>
          <a:srcRect l="0" r="0" t="-400" b="-400"/>
          <a:stretch/>
        </p:blipFill>
        <p:spPr>
          <a:xfrm>
            <a:off x="3676802" y="5219395"/>
            <a:ext cx="457200" cy="19202"/>
          </a:xfrm>
          <a:prstGeom prst="rect">
            <a:avLst/>
          </a:prstGeom>
        </p:spPr>
      </p:pic>
      <p:pic>
        <p:nvPicPr>
          <p:cNvPr id="19" name="Image 12" descr="gen-dedup-0acb1a399828f5a7da75ae1eecf57fee.png">    </p:cNvPr>
          <p:cNvPicPr>
            <a:picLocks noChangeAspect="1"/>
          </p:cNvPicPr>
          <p:nvPr/>
        </p:nvPicPr>
        <p:blipFill>
          <a:blip r:embed="rId13"/>
          <a:srcRect l="0" r="0" t="-400" b="-400"/>
          <a:stretch/>
        </p:blipFill>
        <p:spPr>
          <a:xfrm>
            <a:off x="5105095" y="4953305"/>
            <a:ext cx="457200" cy="19202"/>
          </a:xfrm>
          <a:prstGeom prst="rect">
            <a:avLst/>
          </a:prstGeom>
        </p:spPr>
      </p:pic>
      <p:pic>
        <p:nvPicPr>
          <p:cNvPr id="20" name="Image 13" descr="gen-dedup-12d8e672ba09feee2d16eafb0bcb36c5.png">    </p:cNvPr>
          <p:cNvPicPr>
            <a:picLocks noChangeAspect="1"/>
          </p:cNvPicPr>
          <p:nvPr/>
        </p:nvPicPr>
        <p:blipFill>
          <a:blip r:embed="rId14"/>
          <a:srcRect l="-400" r="-400" t="0" b="0"/>
          <a:stretch/>
        </p:blipFill>
        <p:spPr>
          <a:xfrm>
            <a:off x="5315407" y="4809744"/>
            <a:ext cx="19202" cy="342900"/>
          </a:xfrm>
          <a:prstGeom prst="rect">
            <a:avLst/>
          </a:prstGeom>
        </p:spPr>
      </p:pic>
      <p:pic>
        <p:nvPicPr>
          <p:cNvPr id="21" name="Image 14" descr="gen-dedup-0acb1a399828f5a7da75ae1eecf57fee.png">    </p:cNvPr>
          <p:cNvPicPr>
            <a:picLocks noChangeAspect="1"/>
          </p:cNvPicPr>
          <p:nvPr/>
        </p:nvPicPr>
        <p:blipFill>
          <a:blip r:embed="rId15"/>
          <a:srcRect l="0" r="0" t="-400" b="-400"/>
          <a:stretch/>
        </p:blipFill>
        <p:spPr>
          <a:xfrm>
            <a:off x="5105095" y="4791456"/>
            <a:ext cx="457200" cy="19202"/>
          </a:xfrm>
          <a:prstGeom prst="rect">
            <a:avLst/>
          </a:prstGeom>
        </p:spPr>
      </p:pic>
      <p:pic>
        <p:nvPicPr>
          <p:cNvPr id="22" name="Image 15" descr="gen-dedup-0acb1a399828f5a7da75ae1eecf57fee.png">    </p:cNvPr>
          <p:cNvPicPr>
            <a:picLocks noChangeAspect="1"/>
          </p:cNvPicPr>
          <p:nvPr/>
        </p:nvPicPr>
        <p:blipFill>
          <a:blip r:embed="rId16"/>
          <a:srcRect l="0" r="0" t="-400" b="-400"/>
          <a:stretch/>
        </p:blipFill>
        <p:spPr>
          <a:xfrm>
            <a:off x="5105095" y="5152644"/>
            <a:ext cx="457200" cy="19202"/>
          </a:xfrm>
          <a:prstGeom prst="rect">
            <a:avLst/>
          </a:prstGeom>
        </p:spPr>
      </p:pic>
      <p:pic>
        <p:nvPicPr>
          <p:cNvPr id="23" name="Image 16" descr="gen-dedup-8965af9e898545980c83cc9f5e0471b1.png">    </p:cNvPr>
          <p:cNvPicPr>
            <a:picLocks noChangeAspect="1"/>
          </p:cNvPicPr>
          <p:nvPr/>
        </p:nvPicPr>
        <p:blipFill>
          <a:blip r:embed="rId17"/>
          <a:srcRect l="0" r="0" t="-400" b="-400"/>
          <a:stretch/>
        </p:blipFill>
        <p:spPr>
          <a:xfrm>
            <a:off x="6534302" y="5029200"/>
            <a:ext cx="457200" cy="19202"/>
          </a:xfrm>
          <a:prstGeom prst="rect">
            <a:avLst/>
          </a:prstGeom>
        </p:spPr>
      </p:pic>
      <p:pic>
        <p:nvPicPr>
          <p:cNvPr id="24" name="Image 17" descr="gen-dedup-293670b996dac3db322c847490d1dcf8.png">    </p:cNvPr>
          <p:cNvPicPr>
            <a:picLocks noChangeAspect="1"/>
          </p:cNvPicPr>
          <p:nvPr/>
        </p:nvPicPr>
        <p:blipFill>
          <a:blip r:embed="rId18"/>
          <a:srcRect l="-436" r="-436" t="0" b="0"/>
          <a:stretch/>
        </p:blipFill>
        <p:spPr>
          <a:xfrm>
            <a:off x="6743700" y="4934102"/>
            <a:ext cx="19202" cy="209398"/>
          </a:xfrm>
          <a:prstGeom prst="rect">
            <a:avLst/>
          </a:prstGeom>
        </p:spPr>
      </p:pic>
      <p:pic>
        <p:nvPicPr>
          <p:cNvPr id="25" name="Image 18" descr="gen-dedup-8965af9e898545980c83cc9f5e0471b1.png">    </p:cNvPr>
          <p:cNvPicPr>
            <a:picLocks noChangeAspect="1"/>
          </p:cNvPicPr>
          <p:nvPr/>
        </p:nvPicPr>
        <p:blipFill>
          <a:blip r:embed="rId19"/>
          <a:srcRect l="0" r="0" t="-400" b="-400"/>
          <a:stretch/>
        </p:blipFill>
        <p:spPr>
          <a:xfrm>
            <a:off x="6534302" y="4914900"/>
            <a:ext cx="457200" cy="19202"/>
          </a:xfrm>
          <a:prstGeom prst="rect">
            <a:avLst/>
          </a:prstGeom>
        </p:spPr>
      </p:pic>
      <p:pic>
        <p:nvPicPr>
          <p:cNvPr id="26" name="Image 19" descr="gen-dedup-8965af9e898545980c83cc9f5e0471b1.png">    </p:cNvPr>
          <p:cNvPicPr>
            <a:picLocks noChangeAspect="1"/>
          </p:cNvPicPr>
          <p:nvPr/>
        </p:nvPicPr>
        <p:blipFill>
          <a:blip r:embed="rId20"/>
          <a:srcRect l="0" r="0" t="-400" b="-400"/>
          <a:stretch/>
        </p:blipFill>
        <p:spPr>
          <a:xfrm>
            <a:off x="6534302" y="5143500"/>
            <a:ext cx="457200" cy="19202"/>
          </a:xfrm>
          <a:prstGeom prst="rect">
            <a:avLst/>
          </a:prstGeom>
        </p:spPr>
      </p:pic>
      <p:pic>
        <p:nvPicPr>
          <p:cNvPr id="27" name="Image 20" descr="gen-dedup-8dcfd29e859a2d417982e609cdf07130.png">    </p:cNvPr>
          <p:cNvPicPr>
            <a:picLocks noChangeAspect="1"/>
          </p:cNvPicPr>
          <p:nvPr/>
        </p:nvPicPr>
        <p:blipFill>
          <a:blip r:embed="rId21"/>
          <a:srcRect l="0" r="0" t="-400" b="-400"/>
          <a:stretch/>
        </p:blipFill>
        <p:spPr>
          <a:xfrm>
            <a:off x="7962595" y="5067605"/>
            <a:ext cx="457200" cy="19202"/>
          </a:xfrm>
          <a:prstGeom prst="rect">
            <a:avLst/>
          </a:prstGeom>
        </p:spPr>
      </p:pic>
      <p:pic>
        <p:nvPicPr>
          <p:cNvPr id="28" name="Image 21" descr="gen-dedup-d564be75e7d232c2536b8721fb8ba9f0.png">    </p:cNvPr>
          <p:cNvPicPr>
            <a:picLocks noChangeAspect="1"/>
          </p:cNvPicPr>
          <p:nvPr/>
        </p:nvPicPr>
        <p:blipFill>
          <a:blip r:embed="rId22"/>
          <a:srcRect l="-436" r="-436" t="0" b="0"/>
          <a:stretch/>
        </p:blipFill>
        <p:spPr>
          <a:xfrm>
            <a:off x="8172907" y="4972507"/>
            <a:ext cx="19202" cy="209398"/>
          </a:xfrm>
          <a:prstGeom prst="rect">
            <a:avLst/>
          </a:prstGeom>
        </p:spPr>
      </p:pic>
      <p:pic>
        <p:nvPicPr>
          <p:cNvPr id="29" name="Image 22" descr="gen-dedup-8dcfd29e859a2d417982e609cdf07130.png">    </p:cNvPr>
          <p:cNvPicPr>
            <a:picLocks noChangeAspect="1"/>
          </p:cNvPicPr>
          <p:nvPr/>
        </p:nvPicPr>
        <p:blipFill>
          <a:blip r:embed="rId23"/>
          <a:srcRect l="0" r="0" t="-400" b="-400"/>
          <a:stretch/>
        </p:blipFill>
        <p:spPr>
          <a:xfrm>
            <a:off x="7962595" y="4953305"/>
            <a:ext cx="457200" cy="19202"/>
          </a:xfrm>
          <a:prstGeom prst="rect">
            <a:avLst/>
          </a:prstGeom>
        </p:spPr>
      </p:pic>
      <p:pic>
        <p:nvPicPr>
          <p:cNvPr id="30" name="Image 23" descr="gen-dedup-8dcfd29e859a2d417982e609cdf07130.png">    </p:cNvPr>
          <p:cNvPicPr>
            <a:picLocks noChangeAspect="1"/>
          </p:cNvPicPr>
          <p:nvPr/>
        </p:nvPicPr>
        <p:blipFill>
          <a:blip r:embed="rId24"/>
          <a:srcRect l="0" r="0" t="-400" b="-400"/>
          <a:stretch/>
        </p:blipFill>
        <p:spPr>
          <a:xfrm>
            <a:off x="7962595" y="5181905"/>
            <a:ext cx="457200" cy="19202"/>
          </a:xfrm>
          <a:prstGeom prst="rect">
            <a:avLst/>
          </a:prstGeom>
        </p:spPr>
      </p:pic>
      <p:pic>
        <p:nvPicPr>
          <p:cNvPr id="31" name="Image 24" descr="gen-dedup-0acb1a399828f5a7da75ae1eecf57fee.png">    </p:cNvPr>
          <p:cNvPicPr>
            <a:picLocks noChangeAspect="1"/>
          </p:cNvPicPr>
          <p:nvPr/>
        </p:nvPicPr>
        <p:blipFill>
          <a:blip r:embed="rId25"/>
          <a:srcRect l="0" r="0" t="-400" b="-400"/>
          <a:stretch/>
        </p:blipFill>
        <p:spPr>
          <a:xfrm>
            <a:off x="9391802" y="4934102"/>
            <a:ext cx="457200" cy="19202"/>
          </a:xfrm>
          <a:prstGeom prst="rect">
            <a:avLst/>
          </a:prstGeom>
        </p:spPr>
      </p:pic>
      <p:pic>
        <p:nvPicPr>
          <p:cNvPr id="32" name="Image 25" descr="gen-dedup-12d8e672ba09feee2d16eafb0bcb36c5.png">    </p:cNvPr>
          <p:cNvPicPr>
            <a:picLocks noChangeAspect="1"/>
          </p:cNvPicPr>
          <p:nvPr/>
        </p:nvPicPr>
        <p:blipFill>
          <a:blip r:embed="rId26"/>
          <a:srcRect l="-400" r="-400" t="0" b="0"/>
          <a:stretch/>
        </p:blipFill>
        <p:spPr>
          <a:xfrm>
            <a:off x="9601200" y="4791456"/>
            <a:ext cx="19202" cy="342900"/>
          </a:xfrm>
          <a:prstGeom prst="rect">
            <a:avLst/>
          </a:prstGeom>
        </p:spPr>
      </p:pic>
      <p:pic>
        <p:nvPicPr>
          <p:cNvPr id="33" name="Image 26" descr="gen-dedup-0acb1a399828f5a7da75ae1eecf57fee.png">    </p:cNvPr>
          <p:cNvPicPr>
            <a:picLocks noChangeAspect="1"/>
          </p:cNvPicPr>
          <p:nvPr/>
        </p:nvPicPr>
        <p:blipFill>
          <a:blip r:embed="rId27"/>
          <a:srcRect l="0" r="0" t="-400" b="-400"/>
          <a:stretch/>
        </p:blipFill>
        <p:spPr>
          <a:xfrm>
            <a:off x="9391802" y="4772254"/>
            <a:ext cx="457200" cy="19202"/>
          </a:xfrm>
          <a:prstGeom prst="rect">
            <a:avLst/>
          </a:prstGeom>
        </p:spPr>
      </p:pic>
      <p:pic>
        <p:nvPicPr>
          <p:cNvPr id="34" name="Image 27" descr="gen-dedup-0acb1a399828f5a7da75ae1eecf57fee.png">    </p:cNvPr>
          <p:cNvPicPr>
            <a:picLocks noChangeAspect="1"/>
          </p:cNvPicPr>
          <p:nvPr/>
        </p:nvPicPr>
        <p:blipFill>
          <a:blip r:embed="rId28"/>
          <a:srcRect l="0" r="0" t="-400" b="-400"/>
          <a:stretch/>
        </p:blipFill>
        <p:spPr>
          <a:xfrm>
            <a:off x="9391802" y="5134356"/>
            <a:ext cx="457200" cy="19202"/>
          </a:xfrm>
          <a:prstGeom prst="rect">
            <a:avLst/>
          </a:prstGeom>
        </p:spPr>
      </p:pic>
      <p:pic>
        <p:nvPicPr>
          <p:cNvPr id="35" name="Image 28" descr="gen-dedup-967f4382881a5801b35f33bddc8b3bd8.png">    </p:cNvPr>
          <p:cNvPicPr>
            <a:picLocks noChangeAspect="1"/>
          </p:cNvPicPr>
          <p:nvPr/>
        </p:nvPicPr>
        <p:blipFill>
          <a:blip r:embed="rId29"/>
          <a:srcRect l="0" r="0" t="-424" b="-424"/>
          <a:stretch/>
        </p:blipFill>
        <p:spPr>
          <a:xfrm>
            <a:off x="857707" y="647395"/>
            <a:ext cx="323698" cy="19202"/>
          </a:xfrm>
          <a:prstGeom prst="rect">
            <a:avLst/>
          </a:prstGeom>
        </p:spPr>
      </p:pic>
      <p:sp>
        <p:nvSpPr>
          <p:cNvPr id="36" name="Text 4"/>
          <p:cNvSpPr txBox="1"/>
          <p:nvPr/>
        </p:nvSpPr>
        <p:spPr>
          <a:xfrm>
            <a:off x="1314907" y="571500"/>
            <a:ext cx="1980590" cy="171907"/>
          </a:xfrm>
          <a:prstGeom prst="rect">
            <a:avLst/>
          </a:prstGeom>
          <a:noFill/>
          <a:ln/>
        </p:spPr>
        <p:txBody>
          <a:bodyPr wrap="none" lIns="0" tIns="0" rIns="0" bIns="0" rtlCol="0" anchor="ctr"/>
          <a:lstStyle/>
          <a:p>
            <a:pPr algn="l" indent="0" marL="0">
              <a:buNone/>
            </a:pPr>
            <a:r>
              <a:rPr lang="en-US" sz="1050" b="1" spc="189" kern="0" dirty="0">
                <a:solidFill>
                  <a:srgbClr val="2E6FA6"/>
                </a:solidFill>
                <a:latin typeface="Sora" pitchFamily="34" charset="0"/>
                <a:ea typeface="Sora" pitchFamily="34" charset="-122"/>
                <a:cs typeface="Sora" pitchFamily="34" charset="-120"/>
              </a:rPr>
              <a:t>Section 05 · ASEI</a:t>
            </a:r>
            <a:endParaRPr lang="en-US" sz="1050" dirty="0"/>
          </a:p>
        </p:txBody>
      </p:sp>
      <p:sp>
        <p:nvSpPr>
          <p:cNvPr id="37" name="Shape 5"/>
          <p:cNvSpPr/>
          <p:nvPr/>
        </p:nvSpPr>
        <p:spPr>
          <a:xfrm>
            <a:off x="16797528" y="566928"/>
            <a:ext cx="57607" cy="57607"/>
          </a:xfrm>
          <a:prstGeom prst="ellipse">
            <a:avLst/>
          </a:prstGeom>
          <a:solidFill>
            <a:srgbClr val="2E6FA6"/>
          </a:solidFill>
          <a:ln w="12700">
            <a:solidFill>
              <a:srgbClr val="FFFFFF">
                <a:alpha val="0"/>
              </a:srgbClr>
            </a:solidFill>
            <a:prstDash val="solid"/>
          </a:ln>
        </p:spPr>
      </p:sp>
      <p:sp>
        <p:nvSpPr>
          <p:cNvPr id="38" name="Text 6"/>
          <p:cNvSpPr txBox="1"/>
          <p:nvPr/>
        </p:nvSpPr>
        <p:spPr>
          <a:xfrm>
            <a:off x="16739921" y="514807"/>
            <a:ext cx="790956"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05 / 12</a:t>
            </a:r>
            <a:endParaRPr lang="en-US" sz="975" dirty="0"/>
          </a:p>
        </p:txBody>
      </p:sp>
      <p:sp>
        <p:nvSpPr>
          <p:cNvPr id="39" name="Text 7"/>
          <p:cNvSpPr txBox="1"/>
          <p:nvPr/>
        </p:nvSpPr>
        <p:spPr>
          <a:xfrm>
            <a:off x="838505" y="1143000"/>
            <a:ext cx="1428750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ASEI · wafer별 CD 변동</a:t>
            </a:r>
            <a:endParaRPr lang="en-US" sz="4500" dirty="0"/>
          </a:p>
        </p:txBody>
      </p:sp>
      <p:sp>
        <p:nvSpPr>
          <p:cNvPr id="40" name="Text 8"/>
          <p:cNvSpPr txBox="1"/>
          <p:nvPr/>
        </p:nvSpPr>
        <p:spPr>
          <a:xfrm>
            <a:off x="838505" y="1876349"/>
            <a:ext cx="1428750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target </a:t>
            </a:r>
            <a:pPr algn="l" indent="0" marL="0">
              <a:buNone/>
            </a:pPr>
            <a:r>
              <a:rPr lang="en-US" sz="1650" b="1" dirty="0">
                <a:solidFill>
                  <a:srgbClr val="14213D"/>
                </a:solidFill>
                <a:latin typeface="Noto Sans KR" pitchFamily="34" charset="0"/>
                <a:ea typeface="Noto Sans KR" pitchFamily="34" charset="-122"/>
                <a:cs typeface="Noto Sans KR" pitchFamily="34" charset="-120"/>
              </a:rPr>
              <a:t>18.3 nm</a:t>
            </a:r>
            <a:pPr algn="l" indent="0" marL="0">
              <a:buNone/>
            </a:pPr>
            <a:r>
              <a:rPr lang="en-US" sz="1650" dirty="0">
                <a:solidFill>
                  <a:srgbClr val="455670"/>
                </a:solidFill>
                <a:latin typeface="Noto Sans KR" pitchFamily="34" charset="0"/>
                <a:ea typeface="Noto Sans KR" pitchFamily="34" charset="-122"/>
                <a:cs typeface="Noto Sans KR" pitchFamily="34" charset="-120"/>
              </a:rPr>
              <a:t> · strip 이후 측정한 라인 폭 — AASI 대비 모든 wafer의 분포가 1 nm 정도 좁아진다.</a:t>
            </a:r>
            <a:endParaRPr lang="en-US" sz="1650" dirty="0"/>
          </a:p>
        </p:txBody>
      </p:sp>
      <p:sp>
        <p:nvSpPr>
          <p:cNvPr id="41" name="Text 9"/>
          <p:cNvSpPr txBox="1"/>
          <p:nvPr/>
        </p:nvSpPr>
        <p:spPr>
          <a:xfrm>
            <a:off x="1143000" y="3124505"/>
            <a:ext cx="10478110"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MEAN TREND</a:t>
            </a:r>
            <a:endParaRPr lang="en-US" sz="900" dirty="0"/>
          </a:p>
        </p:txBody>
      </p:sp>
      <p:sp>
        <p:nvSpPr>
          <p:cNvPr id="42" name="Text 10"/>
          <p:cNvSpPr txBox="1"/>
          <p:nvPr/>
        </p:nvSpPr>
        <p:spPr>
          <a:xfrm>
            <a:off x="1143000" y="3323844"/>
            <a:ext cx="1047811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wafer별 mean — target 라인 18.3 nm</a:t>
            </a:r>
            <a:endParaRPr lang="en-US" sz="1800" dirty="0"/>
          </a:p>
        </p:txBody>
      </p:sp>
      <p:sp>
        <p:nvSpPr>
          <p:cNvPr id="43" name="Text 11"/>
          <p:cNvSpPr txBox="1"/>
          <p:nvPr/>
        </p:nvSpPr>
        <p:spPr>
          <a:xfrm>
            <a:off x="6152998" y="3943807"/>
            <a:ext cx="1905610" cy="143561"/>
          </a:xfrm>
          <a:prstGeom prst="rect">
            <a:avLst/>
          </a:prstGeom>
          <a:noFill/>
          <a:ln/>
        </p:spPr>
        <p:txBody>
          <a:bodyPr wrap="none" lIns="0" tIns="0" rIns="0" bIns="0" rtlCol="0" anchor="ctr"/>
          <a:lstStyle/>
          <a:p>
            <a:pPr algn="l" indent="0" marL="0">
              <a:buNone/>
            </a:pPr>
            <a:r>
              <a:rPr lang="en-US" sz="900" b="1" spc="126" kern="0" dirty="0">
                <a:solidFill>
                  <a:srgbClr val="6F7D94"/>
                </a:solidFill>
                <a:latin typeface="Sora" pitchFamily="34" charset="0"/>
                <a:ea typeface="Sora" pitchFamily="34" charset="-122"/>
                <a:cs typeface="Sora" pitchFamily="34" charset="-120"/>
              </a:rPr>
              <a:t>TARGET 18.3</a:t>
            </a:r>
            <a:endParaRPr lang="en-US" sz="900" dirty="0"/>
          </a:p>
        </p:txBody>
      </p:sp>
      <p:sp>
        <p:nvSpPr>
          <p:cNvPr id="44" name="Text 12"/>
          <p:cNvSpPr txBox="1"/>
          <p:nvPr/>
        </p:nvSpPr>
        <p:spPr>
          <a:xfrm>
            <a:off x="2076602"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W01</a:t>
            </a:r>
            <a:endParaRPr lang="en-US" sz="1500" dirty="0"/>
          </a:p>
        </p:txBody>
      </p:sp>
      <p:sp>
        <p:nvSpPr>
          <p:cNvPr id="45" name="Text 13"/>
          <p:cNvSpPr txBox="1"/>
          <p:nvPr/>
        </p:nvSpPr>
        <p:spPr>
          <a:xfrm>
            <a:off x="2076602"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RU 1NM</a:t>
            </a:r>
            <a:endParaRPr lang="en-US" sz="825" dirty="0"/>
          </a:p>
        </p:txBody>
      </p:sp>
      <p:sp>
        <p:nvSpPr>
          <p:cNvPr id="46" name="Text 14"/>
          <p:cNvSpPr txBox="1"/>
          <p:nvPr/>
        </p:nvSpPr>
        <p:spPr>
          <a:xfrm>
            <a:off x="2076602" y="4438498"/>
            <a:ext cx="800100" cy="210312"/>
          </a:xfrm>
          <a:prstGeom prst="rect">
            <a:avLst/>
          </a:prstGeom>
          <a:noFill/>
          <a:ln/>
        </p:spPr>
        <p:txBody>
          <a:bodyPr wrap="none" lIns="0" tIns="0" rIns="0" bIns="0" rtlCol="0" anchor="ctr"/>
          <a:lstStyle/>
          <a:p>
            <a:pPr algn="ctr" indent="0" marL="0">
              <a:buNone/>
            </a:pPr>
            <a:r>
              <a:rPr lang="en-US" sz="1350" b="1" dirty="0">
                <a:solidFill>
                  <a:srgbClr val="1E5F9C"/>
                </a:solidFill>
                <a:latin typeface="Sora" pitchFamily="34" charset="0"/>
                <a:ea typeface="Sora" pitchFamily="34" charset="-122"/>
                <a:cs typeface="Sora" pitchFamily="34" charset="-120"/>
              </a:rPr>
              <a:t>18.21</a:t>
            </a:r>
            <a:endParaRPr lang="en-US" sz="1350" dirty="0"/>
          </a:p>
        </p:txBody>
      </p:sp>
      <p:sp>
        <p:nvSpPr>
          <p:cNvPr id="47" name="Text 15"/>
          <p:cNvSpPr txBox="1"/>
          <p:nvPr/>
        </p:nvSpPr>
        <p:spPr>
          <a:xfrm>
            <a:off x="3504895"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W02</a:t>
            </a:r>
            <a:endParaRPr lang="en-US" sz="1500" dirty="0"/>
          </a:p>
        </p:txBody>
      </p:sp>
      <p:sp>
        <p:nvSpPr>
          <p:cNvPr id="48" name="Text 16"/>
          <p:cNvSpPr txBox="1"/>
          <p:nvPr/>
        </p:nvSpPr>
        <p:spPr>
          <a:xfrm>
            <a:off x="3504895"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RU 2NM</a:t>
            </a:r>
            <a:endParaRPr lang="en-US" sz="825" dirty="0"/>
          </a:p>
        </p:txBody>
      </p:sp>
      <p:sp>
        <p:nvSpPr>
          <p:cNvPr id="49" name="Text 17"/>
          <p:cNvSpPr txBox="1"/>
          <p:nvPr/>
        </p:nvSpPr>
        <p:spPr>
          <a:xfrm>
            <a:off x="3504895" y="4438498"/>
            <a:ext cx="800100" cy="210312"/>
          </a:xfrm>
          <a:prstGeom prst="rect">
            <a:avLst/>
          </a:prstGeom>
          <a:noFill/>
          <a:ln/>
        </p:spPr>
        <p:txBody>
          <a:bodyPr wrap="none" lIns="0" tIns="0" rIns="0" bIns="0" rtlCol="0" anchor="ctr"/>
          <a:lstStyle/>
          <a:p>
            <a:pPr algn="ctr" indent="0" marL="0">
              <a:buNone/>
            </a:pPr>
            <a:r>
              <a:rPr lang="en-US" sz="1350" b="1" dirty="0">
                <a:solidFill>
                  <a:srgbClr val="4F86C0"/>
                </a:solidFill>
                <a:latin typeface="Sora" pitchFamily="34" charset="0"/>
                <a:ea typeface="Sora" pitchFamily="34" charset="-122"/>
                <a:cs typeface="Sora" pitchFamily="34" charset="-120"/>
              </a:rPr>
              <a:t>18.16</a:t>
            </a:r>
            <a:endParaRPr lang="en-US" sz="1350" dirty="0"/>
          </a:p>
        </p:txBody>
      </p:sp>
      <p:sp>
        <p:nvSpPr>
          <p:cNvPr id="50" name="Text 18"/>
          <p:cNvSpPr txBox="1"/>
          <p:nvPr/>
        </p:nvSpPr>
        <p:spPr>
          <a:xfrm>
            <a:off x="4934102"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W03</a:t>
            </a:r>
            <a:endParaRPr lang="en-US" sz="1500" dirty="0"/>
          </a:p>
        </p:txBody>
      </p:sp>
      <p:sp>
        <p:nvSpPr>
          <p:cNvPr id="51" name="Text 19"/>
          <p:cNvSpPr txBox="1"/>
          <p:nvPr/>
        </p:nvSpPr>
        <p:spPr>
          <a:xfrm>
            <a:off x="4934102"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CO LINER</a:t>
            </a:r>
            <a:endParaRPr lang="en-US" sz="825" dirty="0"/>
          </a:p>
        </p:txBody>
      </p:sp>
      <p:sp>
        <p:nvSpPr>
          <p:cNvPr id="52" name="Text 20"/>
          <p:cNvSpPr txBox="1"/>
          <p:nvPr/>
        </p:nvSpPr>
        <p:spPr>
          <a:xfrm>
            <a:off x="4934102" y="4438498"/>
            <a:ext cx="800100" cy="210312"/>
          </a:xfrm>
          <a:prstGeom prst="rect">
            <a:avLst/>
          </a:prstGeom>
          <a:noFill/>
          <a:ln/>
        </p:spPr>
        <p:txBody>
          <a:bodyPr wrap="none" lIns="0" tIns="0" rIns="0" bIns="0" rtlCol="0" anchor="ctr"/>
          <a:lstStyle/>
          <a:p>
            <a:pPr algn="ctr" indent="0" marL="0">
              <a:buNone/>
            </a:pPr>
            <a:r>
              <a:rPr lang="en-US" sz="1350" b="1" dirty="0">
                <a:solidFill>
                  <a:srgbClr val="6F7D94"/>
                </a:solidFill>
                <a:latin typeface="Sora" pitchFamily="34" charset="0"/>
                <a:ea typeface="Sora" pitchFamily="34" charset="-122"/>
                <a:cs typeface="Sora" pitchFamily="34" charset="-120"/>
              </a:rPr>
              <a:t>18.45</a:t>
            </a:r>
            <a:endParaRPr lang="en-US" sz="1350" dirty="0"/>
          </a:p>
        </p:txBody>
      </p:sp>
      <p:sp>
        <p:nvSpPr>
          <p:cNvPr id="53" name="Text 21"/>
          <p:cNvSpPr txBox="1"/>
          <p:nvPr/>
        </p:nvSpPr>
        <p:spPr>
          <a:xfrm>
            <a:off x="6362395"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W04</a:t>
            </a:r>
            <a:endParaRPr lang="en-US" sz="1500" dirty="0"/>
          </a:p>
        </p:txBody>
      </p:sp>
      <p:sp>
        <p:nvSpPr>
          <p:cNvPr id="54" name="Text 22"/>
          <p:cNvSpPr txBox="1"/>
          <p:nvPr/>
        </p:nvSpPr>
        <p:spPr>
          <a:xfrm>
            <a:off x="6362395"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RU 1NM</a:t>
            </a:r>
            <a:endParaRPr lang="en-US" sz="825" dirty="0"/>
          </a:p>
        </p:txBody>
      </p:sp>
      <p:sp>
        <p:nvSpPr>
          <p:cNvPr id="55" name="Text 23"/>
          <p:cNvSpPr txBox="1"/>
          <p:nvPr/>
        </p:nvSpPr>
        <p:spPr>
          <a:xfrm>
            <a:off x="6362395" y="4438498"/>
            <a:ext cx="800100" cy="210312"/>
          </a:xfrm>
          <a:prstGeom prst="rect">
            <a:avLst/>
          </a:prstGeom>
          <a:noFill/>
          <a:ln/>
        </p:spPr>
        <p:txBody>
          <a:bodyPr wrap="none" lIns="0" tIns="0" rIns="0" bIns="0" rtlCol="0" anchor="ctr"/>
          <a:lstStyle/>
          <a:p>
            <a:pPr algn="ctr" indent="0" marL="0">
              <a:buNone/>
            </a:pPr>
            <a:r>
              <a:rPr lang="en-US" sz="1350" b="1" dirty="0">
                <a:solidFill>
                  <a:srgbClr val="1E5F9C"/>
                </a:solidFill>
                <a:latin typeface="Sora" pitchFamily="34" charset="0"/>
                <a:ea typeface="Sora" pitchFamily="34" charset="-122"/>
                <a:cs typeface="Sora" pitchFamily="34" charset="-120"/>
              </a:rPr>
              <a:t>18.27</a:t>
            </a:r>
            <a:endParaRPr lang="en-US" sz="1350" dirty="0"/>
          </a:p>
        </p:txBody>
      </p:sp>
      <p:sp>
        <p:nvSpPr>
          <p:cNvPr id="56" name="Text 24"/>
          <p:cNvSpPr txBox="1"/>
          <p:nvPr/>
        </p:nvSpPr>
        <p:spPr>
          <a:xfrm>
            <a:off x="7791602"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W05</a:t>
            </a:r>
            <a:endParaRPr lang="en-US" sz="1500" dirty="0"/>
          </a:p>
        </p:txBody>
      </p:sp>
      <p:sp>
        <p:nvSpPr>
          <p:cNvPr id="57" name="Text 25"/>
          <p:cNvSpPr txBox="1"/>
          <p:nvPr/>
        </p:nvSpPr>
        <p:spPr>
          <a:xfrm>
            <a:off x="7791602"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RU 2NM</a:t>
            </a:r>
            <a:endParaRPr lang="en-US" sz="825" dirty="0"/>
          </a:p>
        </p:txBody>
      </p:sp>
      <p:sp>
        <p:nvSpPr>
          <p:cNvPr id="58" name="Text 26"/>
          <p:cNvSpPr txBox="1"/>
          <p:nvPr/>
        </p:nvSpPr>
        <p:spPr>
          <a:xfrm>
            <a:off x="7791602" y="4438498"/>
            <a:ext cx="800100" cy="210312"/>
          </a:xfrm>
          <a:prstGeom prst="rect">
            <a:avLst/>
          </a:prstGeom>
          <a:noFill/>
          <a:ln/>
        </p:spPr>
        <p:txBody>
          <a:bodyPr wrap="none" lIns="0" tIns="0" rIns="0" bIns="0" rtlCol="0" anchor="ctr"/>
          <a:lstStyle/>
          <a:p>
            <a:pPr algn="ctr" indent="0" marL="0">
              <a:buNone/>
            </a:pPr>
            <a:r>
              <a:rPr lang="en-US" sz="1350" b="1" dirty="0">
                <a:solidFill>
                  <a:srgbClr val="4F86C0"/>
                </a:solidFill>
                <a:latin typeface="Sora" pitchFamily="34" charset="0"/>
                <a:ea typeface="Sora" pitchFamily="34" charset="-122"/>
                <a:cs typeface="Sora" pitchFamily="34" charset="-120"/>
              </a:rPr>
              <a:t>18.20</a:t>
            </a:r>
            <a:endParaRPr lang="en-US" sz="1350" dirty="0"/>
          </a:p>
        </p:txBody>
      </p:sp>
      <p:sp>
        <p:nvSpPr>
          <p:cNvPr id="59" name="Text 27"/>
          <p:cNvSpPr txBox="1"/>
          <p:nvPr/>
        </p:nvSpPr>
        <p:spPr>
          <a:xfrm>
            <a:off x="9219895" y="5715000"/>
            <a:ext cx="800100" cy="238658"/>
          </a:xfrm>
          <a:prstGeom prst="rect">
            <a:avLst/>
          </a:prstGeom>
          <a:noFill/>
          <a:ln/>
        </p:spPr>
        <p:txBody>
          <a:bodyPr wrap="none" lIns="0" tIns="0" rIns="0" bIns="0" rtlCol="0" anchor="ctr"/>
          <a:lstStyle/>
          <a:p>
            <a:pPr algn="ctr" indent="0" marL="0">
              <a:buNone/>
            </a:pPr>
            <a:r>
              <a:rPr lang="en-US" sz="1500" b="1" dirty="0">
                <a:solidFill>
                  <a:srgbClr val="14213D"/>
                </a:solidFill>
                <a:latin typeface="Sora" pitchFamily="34" charset="0"/>
                <a:ea typeface="Sora" pitchFamily="34" charset="-122"/>
                <a:cs typeface="Sora" pitchFamily="34" charset="-120"/>
              </a:rPr>
              <a:t>W06</a:t>
            </a:r>
            <a:endParaRPr lang="en-US" sz="1500" dirty="0"/>
          </a:p>
        </p:txBody>
      </p:sp>
      <p:sp>
        <p:nvSpPr>
          <p:cNvPr id="60" name="Text 28"/>
          <p:cNvSpPr txBox="1"/>
          <p:nvPr/>
        </p:nvSpPr>
        <p:spPr>
          <a:xfrm>
            <a:off x="9219895" y="5952744"/>
            <a:ext cx="800100" cy="133502"/>
          </a:xfrm>
          <a:prstGeom prst="rect">
            <a:avLst/>
          </a:prstGeom>
          <a:noFill/>
          <a:ln/>
        </p:spPr>
        <p:txBody>
          <a:bodyPr wrap="none" lIns="0" tIns="0" rIns="0" bIns="0" rtlCol="0" anchor="ctr"/>
          <a:lstStyle/>
          <a:p>
            <a:pPr algn="ctr" indent="0" marL="0">
              <a:buNone/>
            </a:pPr>
            <a:r>
              <a:rPr lang="en-US" sz="825" spc="132" kern="0" dirty="0">
                <a:solidFill>
                  <a:srgbClr val="94A3B8"/>
                </a:solidFill>
                <a:latin typeface="Sora" pitchFamily="34" charset="0"/>
                <a:ea typeface="Sora" pitchFamily="34" charset="-122"/>
                <a:cs typeface="Sora" pitchFamily="34" charset="-120"/>
              </a:rPr>
              <a:t>CO LINER</a:t>
            </a:r>
            <a:endParaRPr lang="en-US" sz="825" dirty="0"/>
          </a:p>
        </p:txBody>
      </p:sp>
      <p:sp>
        <p:nvSpPr>
          <p:cNvPr id="61" name="Text 29"/>
          <p:cNvSpPr txBox="1"/>
          <p:nvPr/>
        </p:nvSpPr>
        <p:spPr>
          <a:xfrm>
            <a:off x="9219895" y="4438498"/>
            <a:ext cx="800100" cy="210312"/>
          </a:xfrm>
          <a:prstGeom prst="rect">
            <a:avLst/>
          </a:prstGeom>
          <a:noFill/>
          <a:ln/>
        </p:spPr>
        <p:txBody>
          <a:bodyPr wrap="none" lIns="0" tIns="0" rIns="0" bIns="0" rtlCol="0" anchor="ctr"/>
          <a:lstStyle/>
          <a:p>
            <a:pPr algn="ctr" indent="0" marL="0">
              <a:buNone/>
            </a:pPr>
            <a:r>
              <a:rPr lang="en-US" sz="1350" b="1" dirty="0">
                <a:solidFill>
                  <a:srgbClr val="6F7D94"/>
                </a:solidFill>
                <a:latin typeface="Sora" pitchFamily="34" charset="0"/>
                <a:ea typeface="Sora" pitchFamily="34" charset="-122"/>
                <a:cs typeface="Sora" pitchFamily="34" charset="-120"/>
              </a:rPr>
              <a:t>18.50</a:t>
            </a:r>
            <a:endParaRPr lang="en-US" sz="1350" dirty="0"/>
          </a:p>
        </p:txBody>
      </p:sp>
      <p:sp>
        <p:nvSpPr>
          <p:cNvPr id="62" name="Text 30"/>
          <p:cNvSpPr txBox="1"/>
          <p:nvPr/>
        </p:nvSpPr>
        <p:spPr>
          <a:xfrm>
            <a:off x="1238098" y="4686300"/>
            <a:ext cx="571500" cy="162763"/>
          </a:xfrm>
          <a:prstGeom prst="rect">
            <a:avLst/>
          </a:prstGeom>
          <a:noFill/>
          <a:ln/>
        </p:spPr>
        <p:txBody>
          <a:bodyPr wrap="none" lIns="0" tIns="0" rIns="0" bIns="0" rtlCol="0" anchor="ctr"/>
          <a:lstStyle/>
          <a:p>
            <a:pPr algn="r" indent="0" marL="0">
              <a:buNone/>
            </a:pPr>
            <a:r>
              <a:rPr lang="en-US" sz="975" dirty="0">
                <a:solidFill>
                  <a:srgbClr val="6F7D94"/>
                </a:solidFill>
                <a:latin typeface="Sora" pitchFamily="34" charset="0"/>
                <a:ea typeface="Sora" pitchFamily="34" charset="-122"/>
                <a:cs typeface="Sora" pitchFamily="34" charset="-120"/>
              </a:rPr>
              <a:t>19.0</a:t>
            </a:r>
            <a:endParaRPr lang="en-US" sz="975" dirty="0"/>
          </a:p>
        </p:txBody>
      </p:sp>
      <p:sp>
        <p:nvSpPr>
          <p:cNvPr id="63" name="Text 31"/>
          <p:cNvSpPr txBox="1"/>
          <p:nvPr/>
        </p:nvSpPr>
        <p:spPr>
          <a:xfrm>
            <a:off x="1238098" y="5257800"/>
            <a:ext cx="571500" cy="162763"/>
          </a:xfrm>
          <a:prstGeom prst="rect">
            <a:avLst/>
          </a:prstGeom>
          <a:noFill/>
          <a:ln/>
        </p:spPr>
        <p:txBody>
          <a:bodyPr wrap="none" lIns="0" tIns="0" rIns="0" bIns="0" rtlCol="0" anchor="ctr"/>
          <a:lstStyle/>
          <a:p>
            <a:pPr algn="r" indent="0" marL="0">
              <a:buNone/>
            </a:pPr>
            <a:r>
              <a:rPr lang="en-US" sz="975" dirty="0">
                <a:solidFill>
                  <a:srgbClr val="6F7D94"/>
                </a:solidFill>
                <a:latin typeface="Sora" pitchFamily="34" charset="0"/>
                <a:ea typeface="Sora" pitchFamily="34" charset="-122"/>
                <a:cs typeface="Sora" pitchFamily="34" charset="-120"/>
              </a:rPr>
              <a:t>18.3</a:t>
            </a:r>
            <a:endParaRPr lang="en-US" sz="975" dirty="0"/>
          </a:p>
        </p:txBody>
      </p:sp>
      <p:sp>
        <p:nvSpPr>
          <p:cNvPr id="64" name="Text 32"/>
          <p:cNvSpPr txBox="1"/>
          <p:nvPr/>
        </p:nvSpPr>
        <p:spPr>
          <a:xfrm>
            <a:off x="1238098" y="5829300"/>
            <a:ext cx="571500" cy="162763"/>
          </a:xfrm>
          <a:prstGeom prst="rect">
            <a:avLst/>
          </a:prstGeom>
          <a:noFill/>
          <a:ln/>
        </p:spPr>
        <p:txBody>
          <a:bodyPr wrap="none" lIns="0" tIns="0" rIns="0" bIns="0" rtlCol="0" anchor="ctr"/>
          <a:lstStyle/>
          <a:p>
            <a:pPr algn="r" indent="0" marL="0">
              <a:buNone/>
            </a:pPr>
            <a:r>
              <a:rPr lang="en-US" sz="975" dirty="0">
                <a:solidFill>
                  <a:srgbClr val="6F7D94"/>
                </a:solidFill>
                <a:latin typeface="Sora" pitchFamily="34" charset="0"/>
                <a:ea typeface="Sora" pitchFamily="34" charset="-122"/>
                <a:cs typeface="Sora" pitchFamily="34" charset="-120"/>
              </a:rPr>
              <a:t>17.5</a:t>
            </a:r>
            <a:endParaRPr lang="en-US" sz="975" dirty="0"/>
          </a:p>
        </p:txBody>
      </p:sp>
      <p:sp>
        <p:nvSpPr>
          <p:cNvPr id="65" name="Text 33"/>
          <p:cNvSpPr txBox="1"/>
          <p:nvPr/>
        </p:nvSpPr>
        <p:spPr>
          <a:xfrm>
            <a:off x="12287707" y="3124505"/>
            <a:ext cx="5048402"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ASEI · 6 WAFERS</a:t>
            </a:r>
            <a:endParaRPr lang="en-US" sz="900" dirty="0"/>
          </a:p>
        </p:txBody>
      </p:sp>
      <p:sp>
        <p:nvSpPr>
          <p:cNvPr id="66" name="Text 34"/>
          <p:cNvSpPr txBox="1"/>
          <p:nvPr/>
        </p:nvSpPr>
        <p:spPr>
          <a:xfrm>
            <a:off x="12287707" y="3323844"/>
            <a:ext cx="5048402"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mean / 3σ / range / Δ</a:t>
            </a:r>
            <a:endParaRPr lang="en-US" sz="1800" dirty="0"/>
          </a:p>
        </p:txBody>
      </p:sp>
      <p:sp>
        <p:nvSpPr>
          <p:cNvPr id="67" name="Shape 35"/>
          <p:cNvSpPr/>
          <p:nvPr/>
        </p:nvSpPr>
        <p:spPr>
          <a:xfrm>
            <a:off x="12287707" y="4143146"/>
            <a:ext cx="5143500" cy="19202"/>
          </a:xfrm>
          <a:prstGeom prst="rect">
            <a:avLst/>
          </a:prstGeom>
          <a:solidFill>
            <a:srgbClr val="14213D"/>
          </a:solidFill>
          <a:ln w="12700">
            <a:solidFill>
              <a:srgbClr val="14213D">
                <a:alpha val="0"/>
              </a:srgbClr>
            </a:solidFill>
            <a:prstDash val="solid"/>
          </a:ln>
        </p:spPr>
      </p:sp>
      <p:sp>
        <p:nvSpPr>
          <p:cNvPr id="68" name="Text 36"/>
          <p:cNvSpPr txBox="1"/>
          <p:nvPr/>
        </p:nvSpPr>
        <p:spPr>
          <a:xfrm>
            <a:off x="12287707" y="3847795"/>
            <a:ext cx="857707" cy="162763"/>
          </a:xfrm>
          <a:prstGeom prst="rect">
            <a:avLst/>
          </a:prstGeom>
          <a:noFill/>
          <a:ln/>
        </p:spPr>
        <p:txBody>
          <a:bodyPr wrap="none" lIns="0" tIns="0" rIns="0" bIns="0" rtlCol="0" anchor="ctr"/>
          <a:lstStyle/>
          <a:p>
            <a:pPr algn="l" indent="0" marL="0">
              <a:buNone/>
            </a:pPr>
            <a:r>
              <a:rPr lang="en-US" sz="900" b="1" spc="162" kern="0" dirty="0">
                <a:solidFill>
                  <a:srgbClr val="94A3B8"/>
                </a:solidFill>
                <a:latin typeface="Sora" pitchFamily="34" charset="0"/>
                <a:ea typeface="Sora" pitchFamily="34" charset="-122"/>
                <a:cs typeface="Sora" pitchFamily="34" charset="-120"/>
              </a:rPr>
              <a:t>wafer</a:t>
            </a:r>
            <a:endParaRPr lang="en-US" sz="900" dirty="0"/>
          </a:p>
        </p:txBody>
      </p:sp>
      <p:sp>
        <p:nvSpPr>
          <p:cNvPr id="69" name="Text 37"/>
          <p:cNvSpPr txBox="1"/>
          <p:nvPr/>
        </p:nvSpPr>
        <p:spPr>
          <a:xfrm>
            <a:off x="13144500" y="3847795"/>
            <a:ext cx="10771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mean</a:t>
            </a:r>
            <a:endParaRPr lang="en-US" sz="900" dirty="0"/>
          </a:p>
        </p:txBody>
      </p:sp>
      <p:sp>
        <p:nvSpPr>
          <p:cNvPr id="70" name="Text 38"/>
          <p:cNvSpPr txBox="1"/>
          <p:nvPr/>
        </p:nvSpPr>
        <p:spPr>
          <a:xfrm>
            <a:off x="14216177" y="3847795"/>
            <a:ext cx="10771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3σ</a:t>
            </a:r>
            <a:endParaRPr lang="en-US" sz="900" dirty="0"/>
          </a:p>
        </p:txBody>
      </p:sp>
      <p:sp>
        <p:nvSpPr>
          <p:cNvPr id="71" name="Text 39"/>
          <p:cNvSpPr txBox="1"/>
          <p:nvPr/>
        </p:nvSpPr>
        <p:spPr>
          <a:xfrm>
            <a:off x="15287854" y="3847795"/>
            <a:ext cx="10771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range</a:t>
            </a:r>
            <a:endParaRPr lang="en-US" sz="900" dirty="0"/>
          </a:p>
        </p:txBody>
      </p:sp>
      <p:sp>
        <p:nvSpPr>
          <p:cNvPr id="72" name="Text 40"/>
          <p:cNvSpPr txBox="1"/>
          <p:nvPr/>
        </p:nvSpPr>
        <p:spPr>
          <a:xfrm>
            <a:off x="16359530" y="3847795"/>
            <a:ext cx="10771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Δ vs tgt</a:t>
            </a:r>
            <a:endParaRPr lang="en-US" sz="900" dirty="0"/>
          </a:p>
        </p:txBody>
      </p:sp>
      <p:sp>
        <p:nvSpPr>
          <p:cNvPr id="73" name="Shape 41"/>
          <p:cNvSpPr/>
          <p:nvPr/>
        </p:nvSpPr>
        <p:spPr>
          <a:xfrm>
            <a:off x="12287707" y="4696358"/>
            <a:ext cx="5143500" cy="9144"/>
          </a:xfrm>
          <a:prstGeom prst="rect">
            <a:avLst/>
          </a:prstGeom>
          <a:solidFill>
            <a:srgbClr val="DCE3EE"/>
          </a:solidFill>
          <a:ln w="12700">
            <a:solidFill>
              <a:srgbClr val="DCE3EE">
                <a:alpha val="0"/>
              </a:srgbClr>
            </a:solidFill>
            <a:prstDash val="solid"/>
          </a:ln>
        </p:spPr>
      </p:sp>
      <p:sp>
        <p:nvSpPr>
          <p:cNvPr id="74" name="Text 42"/>
          <p:cNvSpPr txBox="1"/>
          <p:nvPr/>
        </p:nvSpPr>
        <p:spPr>
          <a:xfrm>
            <a:off x="13144500" y="4328770"/>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18.21</a:t>
            </a:r>
            <a:endParaRPr lang="en-US" sz="1200" dirty="0"/>
          </a:p>
        </p:txBody>
      </p:sp>
      <p:sp>
        <p:nvSpPr>
          <p:cNvPr id="75" name="Text 43"/>
          <p:cNvSpPr txBox="1"/>
          <p:nvPr/>
        </p:nvSpPr>
        <p:spPr>
          <a:xfrm>
            <a:off x="14216177" y="432877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0.61</a:t>
            </a:r>
            <a:endParaRPr lang="en-US" sz="1200" dirty="0"/>
          </a:p>
        </p:txBody>
      </p:sp>
      <p:sp>
        <p:nvSpPr>
          <p:cNvPr id="76" name="Text 44"/>
          <p:cNvSpPr txBox="1"/>
          <p:nvPr/>
        </p:nvSpPr>
        <p:spPr>
          <a:xfrm>
            <a:off x="15287854" y="432877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2.61</a:t>
            </a:r>
            <a:endParaRPr lang="en-US" sz="1200" dirty="0"/>
          </a:p>
        </p:txBody>
      </p:sp>
      <p:sp>
        <p:nvSpPr>
          <p:cNvPr id="77" name="Text 45"/>
          <p:cNvSpPr txBox="1"/>
          <p:nvPr/>
        </p:nvSpPr>
        <p:spPr>
          <a:xfrm>
            <a:off x="16359530" y="4328770"/>
            <a:ext cx="1077163" cy="200254"/>
          </a:xfrm>
          <a:prstGeom prst="rect">
            <a:avLst/>
          </a:prstGeom>
          <a:noFill/>
          <a:ln/>
        </p:spPr>
        <p:txBody>
          <a:bodyPr wrap="none" lIns="0" tIns="0" rIns="0" bIns="0" rtlCol="0" anchor="ctr"/>
          <a:lstStyle/>
          <a:p>
            <a:pPr algn="r" indent="0" marL="0">
              <a:buNone/>
            </a:pPr>
            <a:r>
              <a:rPr lang="en-US" sz="1200" b="1" dirty="0">
                <a:solidFill>
                  <a:srgbClr val="1E5F9C"/>
                </a:solidFill>
                <a:latin typeface="Sora" pitchFamily="34" charset="0"/>
                <a:ea typeface="Sora" pitchFamily="34" charset="-122"/>
                <a:cs typeface="Sora" pitchFamily="34" charset="-120"/>
              </a:rPr>
              <a:t>−0.09</a:t>
            </a:r>
            <a:endParaRPr lang="en-US" sz="1200" dirty="0"/>
          </a:p>
        </p:txBody>
      </p:sp>
      <p:sp>
        <p:nvSpPr>
          <p:cNvPr id="78" name="Shape 46"/>
          <p:cNvSpPr/>
          <p:nvPr/>
        </p:nvSpPr>
        <p:spPr>
          <a:xfrm>
            <a:off x="12287707" y="5239512"/>
            <a:ext cx="5143500" cy="9144"/>
          </a:xfrm>
          <a:prstGeom prst="rect">
            <a:avLst/>
          </a:prstGeom>
          <a:solidFill>
            <a:srgbClr val="DCE3EE"/>
          </a:solidFill>
          <a:ln w="12700">
            <a:solidFill>
              <a:srgbClr val="DCE3EE">
                <a:alpha val="0"/>
              </a:srgbClr>
            </a:solidFill>
            <a:prstDash val="solid"/>
          </a:ln>
        </p:spPr>
      </p:sp>
      <p:sp>
        <p:nvSpPr>
          <p:cNvPr id="79" name="Text 47"/>
          <p:cNvSpPr txBox="1"/>
          <p:nvPr/>
        </p:nvSpPr>
        <p:spPr>
          <a:xfrm>
            <a:off x="13144500" y="4871923"/>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18.16</a:t>
            </a:r>
            <a:endParaRPr lang="en-US" sz="1200" dirty="0"/>
          </a:p>
        </p:txBody>
      </p:sp>
      <p:sp>
        <p:nvSpPr>
          <p:cNvPr id="80" name="Text 48"/>
          <p:cNvSpPr txBox="1"/>
          <p:nvPr/>
        </p:nvSpPr>
        <p:spPr>
          <a:xfrm>
            <a:off x="14216177" y="4871923"/>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0.58</a:t>
            </a:r>
            <a:endParaRPr lang="en-US" sz="1200" dirty="0"/>
          </a:p>
        </p:txBody>
      </p:sp>
      <p:sp>
        <p:nvSpPr>
          <p:cNvPr id="81" name="Text 49"/>
          <p:cNvSpPr txBox="1"/>
          <p:nvPr/>
        </p:nvSpPr>
        <p:spPr>
          <a:xfrm>
            <a:off x="15287854" y="4871923"/>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2.50</a:t>
            </a:r>
            <a:endParaRPr lang="en-US" sz="1200" dirty="0"/>
          </a:p>
        </p:txBody>
      </p:sp>
      <p:sp>
        <p:nvSpPr>
          <p:cNvPr id="82" name="Text 50"/>
          <p:cNvSpPr txBox="1"/>
          <p:nvPr/>
        </p:nvSpPr>
        <p:spPr>
          <a:xfrm>
            <a:off x="16359530" y="4871923"/>
            <a:ext cx="1077163" cy="200254"/>
          </a:xfrm>
          <a:prstGeom prst="rect">
            <a:avLst/>
          </a:prstGeom>
          <a:noFill/>
          <a:ln/>
        </p:spPr>
        <p:txBody>
          <a:bodyPr wrap="none" lIns="0" tIns="0" rIns="0" bIns="0" rtlCol="0" anchor="ctr"/>
          <a:lstStyle/>
          <a:p>
            <a:pPr algn="r" indent="0" marL="0">
              <a:buNone/>
            </a:pPr>
            <a:r>
              <a:rPr lang="en-US" sz="1200" b="1" dirty="0">
                <a:solidFill>
                  <a:srgbClr val="4F86C0"/>
                </a:solidFill>
                <a:latin typeface="Sora" pitchFamily="34" charset="0"/>
                <a:ea typeface="Sora" pitchFamily="34" charset="-122"/>
                <a:cs typeface="Sora" pitchFamily="34" charset="-120"/>
              </a:rPr>
              <a:t>−0.14</a:t>
            </a:r>
            <a:endParaRPr lang="en-US" sz="1200" dirty="0"/>
          </a:p>
        </p:txBody>
      </p:sp>
      <p:sp>
        <p:nvSpPr>
          <p:cNvPr id="83" name="Shape 51"/>
          <p:cNvSpPr/>
          <p:nvPr/>
        </p:nvSpPr>
        <p:spPr>
          <a:xfrm>
            <a:off x="12287707" y="5782666"/>
            <a:ext cx="5143500" cy="9144"/>
          </a:xfrm>
          <a:prstGeom prst="rect">
            <a:avLst/>
          </a:prstGeom>
          <a:solidFill>
            <a:srgbClr val="DCE3EE"/>
          </a:solidFill>
          <a:ln w="12700">
            <a:solidFill>
              <a:srgbClr val="DCE3EE">
                <a:alpha val="0"/>
              </a:srgbClr>
            </a:solidFill>
            <a:prstDash val="solid"/>
          </a:ln>
        </p:spPr>
      </p:sp>
      <p:sp>
        <p:nvSpPr>
          <p:cNvPr id="84" name="Text 52"/>
          <p:cNvSpPr txBox="1"/>
          <p:nvPr/>
        </p:nvSpPr>
        <p:spPr>
          <a:xfrm>
            <a:off x="13144500" y="5415077"/>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18.45</a:t>
            </a:r>
            <a:endParaRPr lang="en-US" sz="1200" dirty="0"/>
          </a:p>
        </p:txBody>
      </p:sp>
      <p:sp>
        <p:nvSpPr>
          <p:cNvPr id="85" name="Text 53"/>
          <p:cNvSpPr txBox="1"/>
          <p:nvPr/>
        </p:nvSpPr>
        <p:spPr>
          <a:xfrm>
            <a:off x="14216177" y="5415077"/>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0.74</a:t>
            </a:r>
            <a:endParaRPr lang="en-US" sz="1200" dirty="0"/>
          </a:p>
        </p:txBody>
      </p:sp>
      <p:sp>
        <p:nvSpPr>
          <p:cNvPr id="86" name="Text 54"/>
          <p:cNvSpPr txBox="1"/>
          <p:nvPr/>
        </p:nvSpPr>
        <p:spPr>
          <a:xfrm>
            <a:off x="15287854" y="5415077"/>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3.26</a:t>
            </a:r>
            <a:endParaRPr lang="en-US" sz="1200" dirty="0"/>
          </a:p>
        </p:txBody>
      </p:sp>
      <p:sp>
        <p:nvSpPr>
          <p:cNvPr id="87" name="Text 55"/>
          <p:cNvSpPr txBox="1"/>
          <p:nvPr/>
        </p:nvSpPr>
        <p:spPr>
          <a:xfrm>
            <a:off x="16359530" y="5415077"/>
            <a:ext cx="1077163" cy="200254"/>
          </a:xfrm>
          <a:prstGeom prst="rect">
            <a:avLst/>
          </a:prstGeom>
          <a:noFill/>
          <a:ln/>
        </p:spPr>
        <p:txBody>
          <a:bodyPr wrap="none" lIns="0" tIns="0" rIns="0" bIns="0" rtlCol="0" anchor="ctr"/>
          <a:lstStyle/>
          <a:p>
            <a:pPr algn="r" indent="0" marL="0">
              <a:buNone/>
            </a:pPr>
            <a:r>
              <a:rPr lang="en-US" sz="1200" b="1" dirty="0">
                <a:solidFill>
                  <a:srgbClr val="6F7D94"/>
                </a:solidFill>
                <a:latin typeface="Sora" pitchFamily="34" charset="0"/>
                <a:ea typeface="Sora" pitchFamily="34" charset="-122"/>
                <a:cs typeface="Sora" pitchFamily="34" charset="-120"/>
              </a:rPr>
              <a:t>+0.15</a:t>
            </a:r>
            <a:endParaRPr lang="en-US" sz="1200" dirty="0"/>
          </a:p>
        </p:txBody>
      </p:sp>
      <p:sp>
        <p:nvSpPr>
          <p:cNvPr id="88" name="Shape 56"/>
          <p:cNvSpPr/>
          <p:nvPr/>
        </p:nvSpPr>
        <p:spPr>
          <a:xfrm>
            <a:off x="12287707" y="6324905"/>
            <a:ext cx="5143500" cy="9144"/>
          </a:xfrm>
          <a:prstGeom prst="rect">
            <a:avLst/>
          </a:prstGeom>
          <a:solidFill>
            <a:srgbClr val="DCE3EE"/>
          </a:solidFill>
          <a:ln w="12700">
            <a:solidFill>
              <a:srgbClr val="DCE3EE">
                <a:alpha val="0"/>
              </a:srgbClr>
            </a:solidFill>
            <a:prstDash val="solid"/>
          </a:ln>
        </p:spPr>
      </p:sp>
      <p:sp>
        <p:nvSpPr>
          <p:cNvPr id="89" name="Text 57"/>
          <p:cNvSpPr txBox="1"/>
          <p:nvPr/>
        </p:nvSpPr>
        <p:spPr>
          <a:xfrm>
            <a:off x="13144500" y="5958230"/>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18.27</a:t>
            </a:r>
            <a:endParaRPr lang="en-US" sz="1200" dirty="0"/>
          </a:p>
        </p:txBody>
      </p:sp>
      <p:sp>
        <p:nvSpPr>
          <p:cNvPr id="90" name="Text 58"/>
          <p:cNvSpPr txBox="1"/>
          <p:nvPr/>
        </p:nvSpPr>
        <p:spPr>
          <a:xfrm>
            <a:off x="14216177" y="595823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0.55</a:t>
            </a:r>
            <a:endParaRPr lang="en-US" sz="1200" dirty="0"/>
          </a:p>
        </p:txBody>
      </p:sp>
      <p:sp>
        <p:nvSpPr>
          <p:cNvPr id="91" name="Text 59"/>
          <p:cNvSpPr txBox="1"/>
          <p:nvPr/>
        </p:nvSpPr>
        <p:spPr>
          <a:xfrm>
            <a:off x="15287854" y="595823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2.42</a:t>
            </a:r>
            <a:endParaRPr lang="en-US" sz="1200" dirty="0"/>
          </a:p>
        </p:txBody>
      </p:sp>
      <p:sp>
        <p:nvSpPr>
          <p:cNvPr id="92" name="Text 60"/>
          <p:cNvSpPr txBox="1"/>
          <p:nvPr/>
        </p:nvSpPr>
        <p:spPr>
          <a:xfrm>
            <a:off x="16359530" y="5958230"/>
            <a:ext cx="1077163" cy="200254"/>
          </a:xfrm>
          <a:prstGeom prst="rect">
            <a:avLst/>
          </a:prstGeom>
          <a:noFill/>
          <a:ln/>
        </p:spPr>
        <p:txBody>
          <a:bodyPr wrap="none" lIns="0" tIns="0" rIns="0" bIns="0" rtlCol="0" anchor="ctr"/>
          <a:lstStyle/>
          <a:p>
            <a:pPr algn="r" indent="0" marL="0">
              <a:buNone/>
            </a:pPr>
            <a:r>
              <a:rPr lang="en-US" sz="1200" b="1" dirty="0">
                <a:solidFill>
                  <a:srgbClr val="1E5F9C"/>
                </a:solidFill>
                <a:latin typeface="Sora" pitchFamily="34" charset="0"/>
                <a:ea typeface="Sora" pitchFamily="34" charset="-122"/>
                <a:cs typeface="Sora" pitchFamily="34" charset="-120"/>
              </a:rPr>
              <a:t>−0.03</a:t>
            </a:r>
            <a:endParaRPr lang="en-US" sz="1200" dirty="0"/>
          </a:p>
        </p:txBody>
      </p:sp>
      <p:sp>
        <p:nvSpPr>
          <p:cNvPr id="93" name="Shape 61"/>
          <p:cNvSpPr/>
          <p:nvPr/>
        </p:nvSpPr>
        <p:spPr>
          <a:xfrm>
            <a:off x="12287707" y="6868058"/>
            <a:ext cx="5143500" cy="9144"/>
          </a:xfrm>
          <a:prstGeom prst="rect">
            <a:avLst/>
          </a:prstGeom>
          <a:solidFill>
            <a:srgbClr val="DCE3EE"/>
          </a:solidFill>
          <a:ln w="12700">
            <a:solidFill>
              <a:srgbClr val="DCE3EE">
                <a:alpha val="0"/>
              </a:srgbClr>
            </a:solidFill>
            <a:prstDash val="solid"/>
          </a:ln>
        </p:spPr>
      </p:sp>
      <p:sp>
        <p:nvSpPr>
          <p:cNvPr id="94" name="Text 62"/>
          <p:cNvSpPr txBox="1"/>
          <p:nvPr/>
        </p:nvSpPr>
        <p:spPr>
          <a:xfrm>
            <a:off x="13144500" y="6500470"/>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18.20</a:t>
            </a:r>
            <a:endParaRPr lang="en-US" sz="1200" dirty="0"/>
          </a:p>
        </p:txBody>
      </p:sp>
      <p:sp>
        <p:nvSpPr>
          <p:cNvPr id="95" name="Text 63"/>
          <p:cNvSpPr txBox="1"/>
          <p:nvPr/>
        </p:nvSpPr>
        <p:spPr>
          <a:xfrm>
            <a:off x="14216177" y="650047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0.52</a:t>
            </a:r>
            <a:endParaRPr lang="en-US" sz="1200" dirty="0"/>
          </a:p>
        </p:txBody>
      </p:sp>
      <p:sp>
        <p:nvSpPr>
          <p:cNvPr id="96" name="Text 64"/>
          <p:cNvSpPr txBox="1"/>
          <p:nvPr/>
        </p:nvSpPr>
        <p:spPr>
          <a:xfrm>
            <a:off x="15287854" y="6500470"/>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2.31</a:t>
            </a:r>
            <a:endParaRPr lang="en-US" sz="1200" dirty="0"/>
          </a:p>
        </p:txBody>
      </p:sp>
      <p:sp>
        <p:nvSpPr>
          <p:cNvPr id="97" name="Text 65"/>
          <p:cNvSpPr txBox="1"/>
          <p:nvPr/>
        </p:nvSpPr>
        <p:spPr>
          <a:xfrm>
            <a:off x="16359530" y="6500470"/>
            <a:ext cx="1077163" cy="200254"/>
          </a:xfrm>
          <a:prstGeom prst="rect">
            <a:avLst/>
          </a:prstGeom>
          <a:noFill/>
          <a:ln/>
        </p:spPr>
        <p:txBody>
          <a:bodyPr wrap="none" lIns="0" tIns="0" rIns="0" bIns="0" rtlCol="0" anchor="ctr"/>
          <a:lstStyle/>
          <a:p>
            <a:pPr algn="r" indent="0" marL="0">
              <a:buNone/>
            </a:pPr>
            <a:r>
              <a:rPr lang="en-US" sz="1200" b="1" dirty="0">
                <a:solidFill>
                  <a:srgbClr val="4F86C0"/>
                </a:solidFill>
                <a:latin typeface="Sora" pitchFamily="34" charset="0"/>
                <a:ea typeface="Sora" pitchFamily="34" charset="-122"/>
                <a:cs typeface="Sora" pitchFamily="34" charset="-120"/>
              </a:rPr>
              <a:t>−0.10</a:t>
            </a:r>
            <a:endParaRPr lang="en-US" sz="1200" dirty="0"/>
          </a:p>
        </p:txBody>
      </p:sp>
      <p:sp>
        <p:nvSpPr>
          <p:cNvPr id="98" name="Text 66"/>
          <p:cNvSpPr txBox="1"/>
          <p:nvPr/>
        </p:nvSpPr>
        <p:spPr>
          <a:xfrm>
            <a:off x="13144500" y="7043623"/>
            <a:ext cx="10771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18.50</a:t>
            </a:r>
            <a:endParaRPr lang="en-US" sz="1200" dirty="0"/>
          </a:p>
        </p:txBody>
      </p:sp>
      <p:sp>
        <p:nvSpPr>
          <p:cNvPr id="99" name="Text 67"/>
          <p:cNvSpPr txBox="1"/>
          <p:nvPr/>
        </p:nvSpPr>
        <p:spPr>
          <a:xfrm>
            <a:off x="14216177" y="7043623"/>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0.69</a:t>
            </a:r>
            <a:endParaRPr lang="en-US" sz="1200" dirty="0"/>
          </a:p>
        </p:txBody>
      </p:sp>
      <p:sp>
        <p:nvSpPr>
          <p:cNvPr id="100" name="Text 68"/>
          <p:cNvSpPr txBox="1"/>
          <p:nvPr/>
        </p:nvSpPr>
        <p:spPr>
          <a:xfrm>
            <a:off x="15287854" y="7043623"/>
            <a:ext cx="10771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3.04</a:t>
            </a:r>
            <a:endParaRPr lang="en-US" sz="1200" dirty="0"/>
          </a:p>
        </p:txBody>
      </p:sp>
      <p:sp>
        <p:nvSpPr>
          <p:cNvPr id="101" name="Text 69"/>
          <p:cNvSpPr txBox="1"/>
          <p:nvPr/>
        </p:nvSpPr>
        <p:spPr>
          <a:xfrm>
            <a:off x="16359530" y="7043623"/>
            <a:ext cx="1077163" cy="200254"/>
          </a:xfrm>
          <a:prstGeom prst="rect">
            <a:avLst/>
          </a:prstGeom>
          <a:noFill/>
          <a:ln/>
        </p:spPr>
        <p:txBody>
          <a:bodyPr wrap="none" lIns="0" tIns="0" rIns="0" bIns="0" rtlCol="0" anchor="ctr"/>
          <a:lstStyle/>
          <a:p>
            <a:pPr algn="r" indent="0" marL="0">
              <a:buNone/>
            </a:pPr>
            <a:r>
              <a:rPr lang="en-US" sz="1200" b="1" dirty="0">
                <a:solidFill>
                  <a:srgbClr val="6F7D94"/>
                </a:solidFill>
                <a:latin typeface="Sora" pitchFamily="34" charset="0"/>
                <a:ea typeface="Sora" pitchFamily="34" charset="-122"/>
                <a:cs typeface="Sora" pitchFamily="34" charset="-120"/>
              </a:rPr>
              <a:t>+0.20</a:t>
            </a:r>
            <a:endParaRPr lang="en-US" sz="1200" dirty="0"/>
          </a:p>
        </p:txBody>
      </p:sp>
      <p:sp>
        <p:nvSpPr>
          <p:cNvPr id="102" name="Shape 70"/>
          <p:cNvSpPr/>
          <p:nvPr/>
        </p:nvSpPr>
        <p:spPr>
          <a:xfrm>
            <a:off x="12287707" y="4401007"/>
            <a:ext cx="95098" cy="95098"/>
          </a:xfrm>
          <a:prstGeom prst="rect">
            <a:avLst/>
          </a:prstGeom>
          <a:solidFill>
            <a:srgbClr val="1E5F9C"/>
          </a:solidFill>
          <a:ln w="12700">
            <a:solidFill>
              <a:srgbClr val="FFFFFF">
                <a:alpha val="0"/>
              </a:srgbClr>
            </a:solidFill>
            <a:prstDash val="solid"/>
          </a:ln>
        </p:spPr>
      </p:sp>
      <p:sp>
        <p:nvSpPr>
          <p:cNvPr id="103" name="Text 71"/>
          <p:cNvSpPr txBox="1"/>
          <p:nvPr/>
        </p:nvSpPr>
        <p:spPr>
          <a:xfrm>
            <a:off x="12458700" y="4343400"/>
            <a:ext cx="352958"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W01</a:t>
            </a:r>
            <a:endParaRPr lang="en-US" sz="1200" dirty="0"/>
          </a:p>
        </p:txBody>
      </p:sp>
      <p:sp>
        <p:nvSpPr>
          <p:cNvPr id="104" name="Shape 72"/>
          <p:cNvSpPr/>
          <p:nvPr/>
        </p:nvSpPr>
        <p:spPr>
          <a:xfrm>
            <a:off x="12287707" y="4943246"/>
            <a:ext cx="95098" cy="95098"/>
          </a:xfrm>
          <a:prstGeom prst="rect">
            <a:avLst/>
          </a:prstGeom>
          <a:solidFill>
            <a:srgbClr val="4F86C0"/>
          </a:solidFill>
          <a:ln w="12700">
            <a:solidFill>
              <a:srgbClr val="FFFFFF">
                <a:alpha val="0"/>
              </a:srgbClr>
            </a:solidFill>
            <a:prstDash val="solid"/>
          </a:ln>
        </p:spPr>
      </p:sp>
      <p:sp>
        <p:nvSpPr>
          <p:cNvPr id="105" name="Text 73"/>
          <p:cNvSpPr txBox="1"/>
          <p:nvPr/>
        </p:nvSpPr>
        <p:spPr>
          <a:xfrm>
            <a:off x="12458700" y="4886554"/>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W02</a:t>
            </a:r>
            <a:endParaRPr lang="en-US" sz="1200" dirty="0"/>
          </a:p>
        </p:txBody>
      </p:sp>
      <p:sp>
        <p:nvSpPr>
          <p:cNvPr id="106" name="Shape 74"/>
          <p:cNvSpPr/>
          <p:nvPr/>
        </p:nvSpPr>
        <p:spPr>
          <a:xfrm>
            <a:off x="12287707" y="5486400"/>
            <a:ext cx="95098" cy="95098"/>
          </a:xfrm>
          <a:prstGeom prst="rect">
            <a:avLst/>
          </a:prstGeom>
          <a:solidFill>
            <a:srgbClr val="94A3B8"/>
          </a:solidFill>
          <a:ln w="12700">
            <a:solidFill>
              <a:srgbClr val="FFFFFF">
                <a:alpha val="0"/>
              </a:srgbClr>
            </a:solidFill>
            <a:prstDash val="solid"/>
          </a:ln>
        </p:spPr>
      </p:sp>
      <p:sp>
        <p:nvSpPr>
          <p:cNvPr id="107" name="Text 75"/>
          <p:cNvSpPr txBox="1"/>
          <p:nvPr/>
        </p:nvSpPr>
        <p:spPr>
          <a:xfrm>
            <a:off x="12458700" y="5429707"/>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W03</a:t>
            </a:r>
            <a:endParaRPr lang="en-US" sz="1200" dirty="0"/>
          </a:p>
        </p:txBody>
      </p:sp>
      <p:sp>
        <p:nvSpPr>
          <p:cNvPr id="108" name="Shape 76"/>
          <p:cNvSpPr/>
          <p:nvPr/>
        </p:nvSpPr>
        <p:spPr>
          <a:xfrm>
            <a:off x="12287707" y="6029554"/>
            <a:ext cx="95098" cy="95098"/>
          </a:xfrm>
          <a:prstGeom prst="rect">
            <a:avLst/>
          </a:prstGeom>
          <a:solidFill>
            <a:srgbClr val="1E5F9C"/>
          </a:solidFill>
          <a:ln w="12700">
            <a:solidFill>
              <a:srgbClr val="FFFFFF">
                <a:alpha val="0"/>
              </a:srgbClr>
            </a:solidFill>
            <a:prstDash val="solid"/>
          </a:ln>
        </p:spPr>
      </p:sp>
      <p:sp>
        <p:nvSpPr>
          <p:cNvPr id="109" name="Text 77"/>
          <p:cNvSpPr txBox="1"/>
          <p:nvPr/>
        </p:nvSpPr>
        <p:spPr>
          <a:xfrm>
            <a:off x="12458700" y="5971946"/>
            <a:ext cx="391363"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W04</a:t>
            </a:r>
            <a:endParaRPr lang="en-US" sz="1200" dirty="0"/>
          </a:p>
        </p:txBody>
      </p:sp>
      <p:sp>
        <p:nvSpPr>
          <p:cNvPr id="110" name="Shape 78"/>
          <p:cNvSpPr/>
          <p:nvPr/>
        </p:nvSpPr>
        <p:spPr>
          <a:xfrm>
            <a:off x="12287707" y="6572707"/>
            <a:ext cx="95098" cy="95098"/>
          </a:xfrm>
          <a:prstGeom prst="rect">
            <a:avLst/>
          </a:prstGeom>
          <a:solidFill>
            <a:srgbClr val="4F86C0"/>
          </a:solidFill>
          <a:ln w="12700">
            <a:solidFill>
              <a:srgbClr val="FFFFFF">
                <a:alpha val="0"/>
              </a:srgbClr>
            </a:solidFill>
            <a:prstDash val="solid"/>
          </a:ln>
        </p:spPr>
      </p:sp>
      <p:sp>
        <p:nvSpPr>
          <p:cNvPr id="111" name="Text 79"/>
          <p:cNvSpPr txBox="1"/>
          <p:nvPr/>
        </p:nvSpPr>
        <p:spPr>
          <a:xfrm>
            <a:off x="12458700" y="6515100"/>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W05</a:t>
            </a:r>
            <a:endParaRPr lang="en-US" sz="1200" dirty="0"/>
          </a:p>
        </p:txBody>
      </p:sp>
      <p:sp>
        <p:nvSpPr>
          <p:cNvPr id="112" name="Shape 80"/>
          <p:cNvSpPr/>
          <p:nvPr/>
        </p:nvSpPr>
        <p:spPr>
          <a:xfrm>
            <a:off x="12287707" y="7114946"/>
            <a:ext cx="95098" cy="95098"/>
          </a:xfrm>
          <a:prstGeom prst="rect">
            <a:avLst/>
          </a:prstGeom>
          <a:solidFill>
            <a:srgbClr val="94A3B8"/>
          </a:solidFill>
          <a:ln w="12700">
            <a:solidFill>
              <a:srgbClr val="FFFFFF">
                <a:alpha val="0"/>
              </a:srgbClr>
            </a:solidFill>
            <a:prstDash val="solid"/>
          </a:ln>
        </p:spPr>
      </p:sp>
      <p:sp>
        <p:nvSpPr>
          <p:cNvPr id="113" name="Text 81"/>
          <p:cNvSpPr txBox="1"/>
          <p:nvPr/>
        </p:nvSpPr>
        <p:spPr>
          <a:xfrm>
            <a:off x="12458700" y="7058254"/>
            <a:ext cx="391363"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W06</a:t>
            </a:r>
            <a:endParaRPr lang="en-US" sz="1200" dirty="0"/>
          </a:p>
        </p:txBody>
      </p:sp>
      <p:sp>
        <p:nvSpPr>
          <p:cNvPr id="114" name="Text 82"/>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115" name="Image 29" descr="gen-dedup-a95c956e3bd879e41d2e7daca8566398.png">    </p:cNvPr>
          <p:cNvPicPr>
            <a:picLocks noChangeAspect="1"/>
          </p:cNvPicPr>
          <p:nvPr/>
        </p:nvPicPr>
        <p:blipFill>
          <a:blip r:embed="rId30"/>
          <a:srcRect l="-2083" r="-2083" t="0" b="0"/>
          <a:stretch/>
        </p:blipFill>
        <p:spPr>
          <a:xfrm>
            <a:off x="2656332" y="9096451"/>
            <a:ext cx="571500" cy="9144"/>
          </a:xfrm>
          <a:prstGeom prst="rect">
            <a:avLst/>
          </a:prstGeom>
        </p:spPr>
      </p:pic>
      <p:sp>
        <p:nvSpPr>
          <p:cNvPr id="116" name="Text 83"/>
          <p:cNvSpPr txBox="1"/>
          <p:nvPr/>
        </p:nvSpPr>
        <p:spPr>
          <a:xfrm>
            <a:off x="3456432" y="8934602"/>
            <a:ext cx="10868558"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Strip 후 ASEI에서 Ru 2 nm이 +0.06 nm 이내로 target 근접 — 가장 안정적인 averaging 분포를 보인다.</a:t>
            </a:r>
            <a:endParaRPr lang="en-US" sz="1800" dirty="0"/>
          </a:p>
        </p:txBody>
      </p:sp>
      <p:sp>
        <p:nvSpPr>
          <p:cNvPr id="117" name="Text 84"/>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118" name="Text 85"/>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2857500"/>
            <a:ext cx="8001000" cy="5333695"/>
          </a:xfrm>
          <a:prstGeom prst="rect">
            <a:avLst/>
          </a:prstGeom>
          <a:solidFill>
            <a:srgbClr val="FFFFFF"/>
          </a:solidFill>
          <a:ln w="12700">
            <a:solidFill>
              <a:srgbClr val="C8D3E2"/>
            </a:solidFill>
            <a:prstDash val="solid"/>
          </a:ln>
        </p:spPr>
      </p:sp>
      <p:sp>
        <p:nvSpPr>
          <p:cNvPr id="5" name="Shape 1"/>
          <p:cNvSpPr/>
          <p:nvPr/>
        </p:nvSpPr>
        <p:spPr>
          <a:xfrm>
            <a:off x="9144000" y="2857500"/>
            <a:ext cx="8287207" cy="5333695"/>
          </a:xfrm>
          <a:prstGeom prst="rect">
            <a:avLst/>
          </a:prstGeom>
          <a:solidFill>
            <a:srgbClr val="FFFFFF"/>
          </a:solidFill>
          <a:ln w="12700">
            <a:solidFill>
              <a:srgbClr val="C8D3E2"/>
            </a:solidFill>
            <a:prstDash val="solid"/>
          </a:ln>
        </p:spPr>
      </p:sp>
      <p:pic>
        <p:nvPicPr>
          <p:cNvPr id="6" name="Image 1" descr="gen-dedup-3b681a810d1028b5857e620335874ce3.png">    </p:cNvPr>
          <p:cNvPicPr>
            <a:picLocks noChangeAspect="1"/>
          </p:cNvPicPr>
          <p:nvPr/>
        </p:nvPicPr>
        <p:blipFill>
          <a:blip r:embed="rId2"/>
          <a:srcRect l="-403" r="-403" t="0" b="0"/>
          <a:stretch/>
        </p:blipFill>
        <p:spPr>
          <a:xfrm>
            <a:off x="857707" y="2857500"/>
            <a:ext cx="57607" cy="5333695"/>
          </a:xfrm>
          <a:prstGeom prst="rect">
            <a:avLst/>
          </a:prstGeom>
        </p:spPr>
      </p:pic>
      <p:pic>
        <p:nvPicPr>
          <p:cNvPr id="7" name="Image 2" descr="gen-dedup-daa3a23540c7292ed077f01a4b72ddf4.png">    </p:cNvPr>
          <p:cNvPicPr>
            <a:picLocks noChangeAspect="1"/>
          </p:cNvPicPr>
          <p:nvPr/>
        </p:nvPicPr>
        <p:blipFill>
          <a:blip r:embed="rId3"/>
          <a:srcRect l="-403" r="-403" t="0" b="0"/>
          <a:stretch/>
        </p:blipFill>
        <p:spPr>
          <a:xfrm>
            <a:off x="9144000" y="2857500"/>
            <a:ext cx="57607" cy="5333695"/>
          </a:xfrm>
          <a:prstGeom prst="rect">
            <a:avLst/>
          </a:prstGeom>
        </p:spPr>
      </p:pic>
      <p:sp>
        <p:nvSpPr>
          <p:cNvPr id="8" name="Shape 2"/>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9" name="Image 3" descr="gen-dedup-3c3f0190f3348a605df0239cea9995bf.png">    </p:cNvPr>
          <p:cNvPicPr>
            <a:picLocks noChangeAspect="1"/>
          </p:cNvPicPr>
          <p:nvPr/>
        </p:nvPicPr>
        <p:blipFill>
          <a:blip r:embed="rId4"/>
          <a:srcRect l="-2083" r="-2083" t="0" b="0"/>
          <a:stretch/>
        </p:blipFill>
        <p:spPr>
          <a:xfrm>
            <a:off x="0" y="9562795"/>
            <a:ext cx="18288000" cy="9144"/>
          </a:xfrm>
          <a:prstGeom prst="rect">
            <a:avLst/>
          </a:prstGeom>
        </p:spPr>
      </p:pic>
      <p:pic>
        <p:nvPicPr>
          <p:cNvPr id="10" name="Image 4" descr="gen-dedup-12d7cb0a28bbcaca3e8d32c19dc56a81.png">    </p:cNvPr>
          <p:cNvPicPr>
            <a:picLocks noChangeAspect="1"/>
          </p:cNvPicPr>
          <p:nvPr/>
        </p:nvPicPr>
        <p:blipFill>
          <a:blip r:embed="rId5"/>
          <a:srcRect l="0" r="0" t="-424" b="-424"/>
          <a:stretch/>
        </p:blipFill>
        <p:spPr>
          <a:xfrm>
            <a:off x="857707" y="647395"/>
            <a:ext cx="323698" cy="19202"/>
          </a:xfrm>
          <a:prstGeom prst="rect">
            <a:avLst/>
          </a:prstGeom>
        </p:spPr>
      </p:pic>
      <p:sp>
        <p:nvSpPr>
          <p:cNvPr id="11" name="Text 3"/>
          <p:cNvSpPr txBox="1"/>
          <p:nvPr/>
        </p:nvSpPr>
        <p:spPr>
          <a:xfrm>
            <a:off x="1314907" y="571500"/>
            <a:ext cx="2409444" cy="171907"/>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06 · AMI &amp; ACI</a:t>
            </a:r>
            <a:endParaRPr lang="en-US" sz="1050" dirty="0"/>
          </a:p>
        </p:txBody>
      </p:sp>
      <p:sp>
        <p:nvSpPr>
          <p:cNvPr id="12" name="Shape 4"/>
          <p:cNvSpPr/>
          <p:nvPr/>
        </p:nvSpPr>
        <p:spPr>
          <a:xfrm>
            <a:off x="16792956" y="566928"/>
            <a:ext cx="57607" cy="57607"/>
          </a:xfrm>
          <a:prstGeom prst="ellipse">
            <a:avLst/>
          </a:prstGeom>
          <a:solidFill>
            <a:srgbClr val="1E5F9C"/>
          </a:solidFill>
          <a:ln w="12700">
            <a:solidFill>
              <a:srgbClr val="FFFFFF">
                <a:alpha val="0"/>
              </a:srgbClr>
            </a:solidFill>
            <a:prstDash val="solid"/>
          </a:ln>
        </p:spPr>
      </p:sp>
      <p:sp>
        <p:nvSpPr>
          <p:cNvPr id="13" name="Text 5"/>
          <p:cNvSpPr txBox="1"/>
          <p:nvPr/>
        </p:nvSpPr>
        <p:spPr>
          <a:xfrm>
            <a:off x="16735349" y="514807"/>
            <a:ext cx="790956"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06 / 12</a:t>
            </a:r>
            <a:endParaRPr lang="en-US" sz="975" dirty="0"/>
          </a:p>
        </p:txBody>
      </p:sp>
      <p:sp>
        <p:nvSpPr>
          <p:cNvPr id="14" name="Text 6"/>
          <p:cNvSpPr txBox="1"/>
          <p:nvPr/>
        </p:nvSpPr>
        <p:spPr>
          <a:xfrm>
            <a:off x="838505" y="1143000"/>
            <a:ext cx="1619311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AMI · ACI wafer별 변동</a:t>
            </a:r>
            <a:endParaRPr lang="en-US" sz="4500" dirty="0"/>
          </a:p>
        </p:txBody>
      </p:sp>
      <p:sp>
        <p:nvSpPr>
          <p:cNvPr id="15" name="Text 7"/>
          <p:cNvSpPr txBox="1"/>
          <p:nvPr/>
        </p:nvSpPr>
        <p:spPr>
          <a:xfrm>
            <a:off x="838505" y="1876349"/>
            <a:ext cx="1619311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AMI target </a:t>
            </a:r>
            <a:pPr algn="l" indent="0" marL="0">
              <a:buNone/>
            </a:pPr>
            <a:r>
              <a:rPr lang="en-US" sz="1650" b="1" dirty="0">
                <a:solidFill>
                  <a:srgbClr val="14213D"/>
                </a:solidFill>
                <a:latin typeface="Noto Sans KR" pitchFamily="34" charset="0"/>
                <a:ea typeface="Noto Sans KR" pitchFamily="34" charset="-122"/>
                <a:cs typeface="Noto Sans KR" pitchFamily="34" charset="-120"/>
              </a:rPr>
              <a:t>9.1 nm</a:t>
            </a:r>
            <a:pPr algn="l" indent="0" marL="0">
              <a:buNone/>
            </a:pPr>
            <a:r>
              <a:rPr lang="en-US" sz="1650" dirty="0">
                <a:solidFill>
                  <a:srgbClr val="455670"/>
                </a:solidFill>
                <a:latin typeface="Noto Sans KR" pitchFamily="34" charset="0"/>
                <a:ea typeface="Noto Sans KR" pitchFamily="34" charset="-122"/>
                <a:cs typeface="Noto Sans KR" pitchFamily="34" charset="-120"/>
              </a:rPr>
              <a:t> · ACI target </a:t>
            </a:r>
            <a:pPr algn="l" indent="0" marL="0">
              <a:buNone/>
            </a:pPr>
            <a:r>
              <a:rPr lang="en-US" sz="1650" b="1" dirty="0">
                <a:solidFill>
                  <a:srgbClr val="14213D"/>
                </a:solidFill>
                <a:latin typeface="Noto Sans KR" pitchFamily="34" charset="0"/>
                <a:ea typeface="Noto Sans KR" pitchFamily="34" charset="-122"/>
                <a:cs typeface="Noto Sans KR" pitchFamily="34" charset="-120"/>
              </a:rPr>
              <a:t>9.8 nm</a:t>
            </a:r>
            <a:pPr algn="l" indent="0" marL="0">
              <a:buNone/>
            </a:pPr>
            <a:r>
              <a:rPr lang="en-US" sz="1650" dirty="0">
                <a:solidFill>
                  <a:srgbClr val="455670"/>
                </a:solidFill>
                <a:latin typeface="Noto Sans KR" pitchFamily="34" charset="0"/>
                <a:ea typeface="Noto Sans KR" pitchFamily="34" charset="-122"/>
                <a:cs typeface="Noto Sans KR" pitchFamily="34" charset="-120"/>
              </a:rPr>
              <a:t> — metal 증착 직후 / CMP 이후의 라인 폭, 모두 sub-10 nm 영역.</a:t>
            </a:r>
            <a:endParaRPr lang="en-US" sz="1650" dirty="0"/>
          </a:p>
        </p:txBody>
      </p:sp>
      <p:sp>
        <p:nvSpPr>
          <p:cNvPr id="16" name="Text 8"/>
          <p:cNvSpPr txBox="1"/>
          <p:nvPr/>
        </p:nvSpPr>
        <p:spPr>
          <a:xfrm>
            <a:off x="1238098" y="3133649"/>
            <a:ext cx="2095805" cy="143561"/>
          </a:xfrm>
          <a:prstGeom prst="rect">
            <a:avLst/>
          </a:prstGeom>
          <a:noFill/>
          <a:ln/>
        </p:spPr>
        <p:txBody>
          <a:bodyPr wrap="none" lIns="0" tIns="0" rIns="0" bIns="0" rtlCol="0" anchor="ctr"/>
          <a:lstStyle/>
          <a:p>
            <a:pPr algn="l" indent="0" marL="0">
              <a:buNone/>
            </a:pPr>
            <a:r>
              <a:rPr lang="en-US" sz="900" b="1" spc="252" kern="0" dirty="0">
                <a:solidFill>
                  <a:srgbClr val="4F86C0"/>
                </a:solidFill>
                <a:latin typeface="Sora" pitchFamily="34" charset="0"/>
                <a:ea typeface="Sora" pitchFamily="34" charset="-122"/>
                <a:cs typeface="Sora" pitchFamily="34" charset="-120"/>
              </a:rPr>
              <a:t>AMI · AFTER METAL</a:t>
            </a:r>
            <a:endParaRPr lang="en-US" sz="900" dirty="0"/>
          </a:p>
        </p:txBody>
      </p:sp>
      <p:sp>
        <p:nvSpPr>
          <p:cNvPr id="17" name="Text 9"/>
          <p:cNvSpPr txBox="1"/>
          <p:nvPr/>
        </p:nvSpPr>
        <p:spPr>
          <a:xfrm>
            <a:off x="1238098" y="3333902"/>
            <a:ext cx="2494483" cy="438912"/>
          </a:xfrm>
          <a:prstGeom prst="rect">
            <a:avLst/>
          </a:prstGeom>
          <a:noFill/>
          <a:ln/>
        </p:spPr>
        <p:txBody>
          <a:bodyPr wrap="none" lIns="0" tIns="0" rIns="0" bIns="0" rtlCol="0" anchor="ctr"/>
          <a:lstStyle/>
          <a:p>
            <a:pPr algn="l" indent="0" marL="0">
              <a:buNone/>
            </a:pPr>
            <a:r>
              <a:rPr lang="en-US" sz="2400" b="1" dirty="0">
                <a:solidFill>
                  <a:srgbClr val="14213D"/>
                </a:solidFill>
                <a:latin typeface="Noto Sans KR" pitchFamily="34" charset="0"/>
                <a:ea typeface="Noto Sans KR" pitchFamily="34" charset="-122"/>
                <a:cs typeface="Noto Sans KR" pitchFamily="34" charset="-120"/>
              </a:rPr>
              <a:t>target 9.1 nm</a:t>
            </a:r>
            <a:endParaRPr lang="en-US" sz="2400" dirty="0"/>
          </a:p>
        </p:txBody>
      </p:sp>
      <p:sp>
        <p:nvSpPr>
          <p:cNvPr id="18" name="Text 10"/>
          <p:cNvSpPr txBox="1"/>
          <p:nvPr/>
        </p:nvSpPr>
        <p:spPr>
          <a:xfrm>
            <a:off x="7266737" y="3124505"/>
            <a:ext cx="1410005" cy="162763"/>
          </a:xfrm>
          <a:prstGeom prst="rect">
            <a:avLst/>
          </a:prstGeom>
          <a:noFill/>
          <a:ln/>
        </p:spPr>
        <p:txBody>
          <a:bodyPr wrap="none" lIns="0" tIns="0" rIns="0" bIns="0" rtlCol="0" anchor="ctr"/>
          <a:lstStyle/>
          <a:p>
            <a:pPr algn="r" indent="0" marL="0">
              <a:buNone/>
            </a:pPr>
            <a:r>
              <a:rPr lang="en-US" sz="975" spc="176" kern="0" dirty="0">
                <a:solidFill>
                  <a:srgbClr val="94A3B8"/>
                </a:solidFill>
                <a:latin typeface="Sora" pitchFamily="34" charset="0"/>
                <a:ea typeface="Sora" pitchFamily="34" charset="-122"/>
                <a:cs typeface="Sora" pitchFamily="34" charset="-120"/>
              </a:rPr>
              <a:t>TBL-AMI</a:t>
            </a:r>
            <a:endParaRPr lang="en-US" sz="975" dirty="0"/>
          </a:p>
        </p:txBody>
      </p:sp>
      <p:sp>
        <p:nvSpPr>
          <p:cNvPr id="19" name="Text 11"/>
          <p:cNvSpPr txBox="1"/>
          <p:nvPr/>
        </p:nvSpPr>
        <p:spPr>
          <a:xfrm>
            <a:off x="6998818" y="3343046"/>
            <a:ext cx="1677924" cy="171907"/>
          </a:xfrm>
          <a:prstGeom prst="rect">
            <a:avLst/>
          </a:prstGeom>
          <a:noFill/>
          <a:ln/>
        </p:spPr>
        <p:txBody>
          <a:bodyPr wrap="none" lIns="0" tIns="0" rIns="0" bIns="0" rtlCol="0" anchor="ctr"/>
          <a:lstStyle/>
          <a:p>
            <a:pPr algn="r" indent="0" marL="0">
              <a:buNone/>
            </a:pPr>
            <a:r>
              <a:rPr lang="en-US" sz="1050" dirty="0">
                <a:solidFill>
                  <a:srgbClr val="455670"/>
                </a:solidFill>
                <a:latin typeface="Sora" pitchFamily="34" charset="0"/>
                <a:ea typeface="Sora" pitchFamily="34" charset="-122"/>
                <a:cs typeface="Sora" pitchFamily="34" charset="-120"/>
              </a:rPr>
              <a:t>6 wafer · 69 site each</a:t>
            </a:r>
            <a:endParaRPr lang="en-US" sz="1050" dirty="0"/>
          </a:p>
        </p:txBody>
      </p:sp>
      <p:sp>
        <p:nvSpPr>
          <p:cNvPr id="20" name="Shape 12"/>
          <p:cNvSpPr/>
          <p:nvPr/>
        </p:nvSpPr>
        <p:spPr>
          <a:xfrm>
            <a:off x="1238098" y="4143146"/>
            <a:ext cx="7429500" cy="19202"/>
          </a:xfrm>
          <a:prstGeom prst="rect">
            <a:avLst/>
          </a:prstGeom>
          <a:solidFill>
            <a:srgbClr val="14213D"/>
          </a:solidFill>
          <a:ln w="12700">
            <a:solidFill>
              <a:srgbClr val="14213D">
                <a:alpha val="0"/>
              </a:srgbClr>
            </a:solidFill>
            <a:prstDash val="solid"/>
          </a:ln>
        </p:spPr>
      </p:sp>
      <p:sp>
        <p:nvSpPr>
          <p:cNvPr id="21" name="Text 13"/>
          <p:cNvSpPr txBox="1"/>
          <p:nvPr/>
        </p:nvSpPr>
        <p:spPr>
          <a:xfrm>
            <a:off x="1238098" y="3847795"/>
            <a:ext cx="857707" cy="162763"/>
          </a:xfrm>
          <a:prstGeom prst="rect">
            <a:avLst/>
          </a:prstGeom>
          <a:noFill/>
          <a:ln/>
        </p:spPr>
        <p:txBody>
          <a:bodyPr wrap="none" lIns="0" tIns="0" rIns="0" bIns="0" rtlCol="0" anchor="ctr"/>
          <a:lstStyle/>
          <a:p>
            <a:pPr algn="l" indent="0" marL="0">
              <a:buNone/>
            </a:pPr>
            <a:r>
              <a:rPr lang="en-US" sz="900" b="1" spc="162" kern="0" dirty="0">
                <a:solidFill>
                  <a:srgbClr val="94A3B8"/>
                </a:solidFill>
                <a:latin typeface="Sora" pitchFamily="34" charset="0"/>
                <a:ea typeface="Sora" pitchFamily="34" charset="-122"/>
                <a:cs typeface="Sora" pitchFamily="34" charset="-120"/>
              </a:rPr>
              <a:t>wafer</a:t>
            </a:r>
            <a:endParaRPr lang="en-US" sz="900" dirty="0"/>
          </a:p>
        </p:txBody>
      </p:sp>
      <p:sp>
        <p:nvSpPr>
          <p:cNvPr id="22" name="Text 14"/>
          <p:cNvSpPr txBox="1"/>
          <p:nvPr/>
        </p:nvSpPr>
        <p:spPr>
          <a:xfrm>
            <a:off x="2095805" y="3847795"/>
            <a:ext cx="16486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mean</a:t>
            </a:r>
            <a:endParaRPr lang="en-US" sz="900" dirty="0"/>
          </a:p>
        </p:txBody>
      </p:sp>
      <p:sp>
        <p:nvSpPr>
          <p:cNvPr id="23" name="Text 15"/>
          <p:cNvSpPr txBox="1"/>
          <p:nvPr/>
        </p:nvSpPr>
        <p:spPr>
          <a:xfrm>
            <a:off x="3738982" y="3847795"/>
            <a:ext cx="16486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3σ</a:t>
            </a:r>
            <a:endParaRPr lang="en-US" sz="900" dirty="0"/>
          </a:p>
        </p:txBody>
      </p:sp>
      <p:sp>
        <p:nvSpPr>
          <p:cNvPr id="24" name="Text 16"/>
          <p:cNvSpPr txBox="1"/>
          <p:nvPr/>
        </p:nvSpPr>
        <p:spPr>
          <a:xfrm>
            <a:off x="5381244" y="3847795"/>
            <a:ext cx="16486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range</a:t>
            </a:r>
            <a:endParaRPr lang="en-US" sz="900" dirty="0"/>
          </a:p>
        </p:txBody>
      </p:sp>
      <p:sp>
        <p:nvSpPr>
          <p:cNvPr id="25" name="Text 17"/>
          <p:cNvSpPr txBox="1"/>
          <p:nvPr/>
        </p:nvSpPr>
        <p:spPr>
          <a:xfrm>
            <a:off x="7024421" y="3847795"/>
            <a:ext cx="1648663"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Δ</a:t>
            </a:r>
            <a:endParaRPr lang="en-US" sz="900" dirty="0"/>
          </a:p>
        </p:txBody>
      </p:sp>
      <p:sp>
        <p:nvSpPr>
          <p:cNvPr id="26" name="Shape 18"/>
          <p:cNvSpPr/>
          <p:nvPr/>
        </p:nvSpPr>
        <p:spPr>
          <a:xfrm>
            <a:off x="1238098" y="4657954"/>
            <a:ext cx="7429500" cy="9144"/>
          </a:xfrm>
          <a:prstGeom prst="rect">
            <a:avLst/>
          </a:prstGeom>
          <a:solidFill>
            <a:srgbClr val="DCE3EE"/>
          </a:solidFill>
          <a:ln w="12700">
            <a:solidFill>
              <a:srgbClr val="DCE3EE">
                <a:alpha val="0"/>
              </a:srgbClr>
            </a:solidFill>
            <a:prstDash val="solid"/>
          </a:ln>
        </p:spPr>
      </p:sp>
      <p:sp>
        <p:nvSpPr>
          <p:cNvPr id="27" name="Text 19"/>
          <p:cNvSpPr txBox="1"/>
          <p:nvPr/>
        </p:nvSpPr>
        <p:spPr>
          <a:xfrm>
            <a:off x="2095805" y="4310482"/>
            <a:ext cx="16486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9.07</a:t>
            </a:r>
            <a:endParaRPr lang="en-US" sz="1200" dirty="0"/>
          </a:p>
        </p:txBody>
      </p:sp>
      <p:sp>
        <p:nvSpPr>
          <p:cNvPr id="28" name="Text 20"/>
          <p:cNvSpPr txBox="1"/>
          <p:nvPr/>
        </p:nvSpPr>
        <p:spPr>
          <a:xfrm>
            <a:off x="3738982" y="4310482"/>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0.34</a:t>
            </a:r>
            <a:endParaRPr lang="en-US" sz="1200" dirty="0"/>
          </a:p>
        </p:txBody>
      </p:sp>
      <p:sp>
        <p:nvSpPr>
          <p:cNvPr id="29" name="Text 21"/>
          <p:cNvSpPr txBox="1"/>
          <p:nvPr/>
        </p:nvSpPr>
        <p:spPr>
          <a:xfrm>
            <a:off x="5381244" y="4310482"/>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1.42</a:t>
            </a:r>
            <a:endParaRPr lang="en-US" sz="1200" dirty="0"/>
          </a:p>
        </p:txBody>
      </p:sp>
      <p:sp>
        <p:nvSpPr>
          <p:cNvPr id="30" name="Text 22"/>
          <p:cNvSpPr txBox="1"/>
          <p:nvPr/>
        </p:nvSpPr>
        <p:spPr>
          <a:xfrm>
            <a:off x="7024421" y="4310482"/>
            <a:ext cx="1648663" cy="200254"/>
          </a:xfrm>
          <a:prstGeom prst="rect">
            <a:avLst/>
          </a:prstGeom>
          <a:noFill/>
          <a:ln/>
        </p:spPr>
        <p:txBody>
          <a:bodyPr wrap="none" lIns="0" tIns="0" rIns="0" bIns="0" rtlCol="0" anchor="ctr"/>
          <a:lstStyle/>
          <a:p>
            <a:pPr algn="r" indent="0" marL="0">
              <a:buNone/>
            </a:pPr>
            <a:r>
              <a:rPr lang="en-US" sz="1200" b="1" dirty="0">
                <a:solidFill>
                  <a:srgbClr val="1E5F9C"/>
                </a:solidFill>
                <a:latin typeface="Sora" pitchFamily="34" charset="0"/>
                <a:ea typeface="Sora" pitchFamily="34" charset="-122"/>
                <a:cs typeface="Sora" pitchFamily="34" charset="-120"/>
              </a:rPr>
              <a:t>−0.03</a:t>
            </a:r>
            <a:endParaRPr lang="en-US" sz="1200" dirty="0"/>
          </a:p>
        </p:txBody>
      </p:sp>
      <p:sp>
        <p:nvSpPr>
          <p:cNvPr id="31" name="Shape 23"/>
          <p:cNvSpPr/>
          <p:nvPr/>
        </p:nvSpPr>
        <p:spPr>
          <a:xfrm>
            <a:off x="1238098" y="5162702"/>
            <a:ext cx="7429500" cy="9144"/>
          </a:xfrm>
          <a:prstGeom prst="rect">
            <a:avLst/>
          </a:prstGeom>
          <a:solidFill>
            <a:srgbClr val="DCE3EE"/>
          </a:solidFill>
          <a:ln w="12700">
            <a:solidFill>
              <a:srgbClr val="DCE3EE">
                <a:alpha val="0"/>
              </a:srgbClr>
            </a:solidFill>
            <a:prstDash val="solid"/>
          </a:ln>
        </p:spPr>
      </p:sp>
      <p:sp>
        <p:nvSpPr>
          <p:cNvPr id="32" name="Text 24"/>
          <p:cNvSpPr txBox="1"/>
          <p:nvPr/>
        </p:nvSpPr>
        <p:spPr>
          <a:xfrm>
            <a:off x="2095805" y="4815230"/>
            <a:ext cx="16486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9.05</a:t>
            </a:r>
            <a:endParaRPr lang="en-US" sz="1200" dirty="0"/>
          </a:p>
        </p:txBody>
      </p:sp>
      <p:sp>
        <p:nvSpPr>
          <p:cNvPr id="33" name="Text 25"/>
          <p:cNvSpPr txBox="1"/>
          <p:nvPr/>
        </p:nvSpPr>
        <p:spPr>
          <a:xfrm>
            <a:off x="3738982" y="4815230"/>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0.36</a:t>
            </a:r>
            <a:endParaRPr lang="en-US" sz="1200" dirty="0"/>
          </a:p>
        </p:txBody>
      </p:sp>
      <p:sp>
        <p:nvSpPr>
          <p:cNvPr id="34" name="Text 26"/>
          <p:cNvSpPr txBox="1"/>
          <p:nvPr/>
        </p:nvSpPr>
        <p:spPr>
          <a:xfrm>
            <a:off x="5381244" y="4815230"/>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1.48</a:t>
            </a:r>
            <a:endParaRPr lang="en-US" sz="1200" dirty="0"/>
          </a:p>
        </p:txBody>
      </p:sp>
      <p:sp>
        <p:nvSpPr>
          <p:cNvPr id="35" name="Text 27"/>
          <p:cNvSpPr txBox="1"/>
          <p:nvPr/>
        </p:nvSpPr>
        <p:spPr>
          <a:xfrm>
            <a:off x="7024421" y="4815230"/>
            <a:ext cx="1648663" cy="200254"/>
          </a:xfrm>
          <a:prstGeom prst="rect">
            <a:avLst/>
          </a:prstGeom>
          <a:noFill/>
          <a:ln/>
        </p:spPr>
        <p:txBody>
          <a:bodyPr wrap="none" lIns="0" tIns="0" rIns="0" bIns="0" rtlCol="0" anchor="ctr"/>
          <a:lstStyle/>
          <a:p>
            <a:pPr algn="r" indent="0" marL="0">
              <a:buNone/>
            </a:pPr>
            <a:r>
              <a:rPr lang="en-US" sz="1200" b="1" dirty="0">
                <a:solidFill>
                  <a:srgbClr val="4F86C0"/>
                </a:solidFill>
                <a:latin typeface="Sora" pitchFamily="34" charset="0"/>
                <a:ea typeface="Sora" pitchFamily="34" charset="-122"/>
                <a:cs typeface="Sora" pitchFamily="34" charset="-120"/>
              </a:rPr>
              <a:t>−0.05</a:t>
            </a:r>
            <a:endParaRPr lang="en-US" sz="1200" dirty="0"/>
          </a:p>
        </p:txBody>
      </p:sp>
      <p:sp>
        <p:nvSpPr>
          <p:cNvPr id="36" name="Shape 28"/>
          <p:cNvSpPr/>
          <p:nvPr/>
        </p:nvSpPr>
        <p:spPr>
          <a:xfrm>
            <a:off x="1238098" y="5667451"/>
            <a:ext cx="7429500" cy="9144"/>
          </a:xfrm>
          <a:prstGeom prst="rect">
            <a:avLst/>
          </a:prstGeom>
          <a:solidFill>
            <a:srgbClr val="DCE3EE"/>
          </a:solidFill>
          <a:ln w="12700">
            <a:solidFill>
              <a:srgbClr val="DCE3EE">
                <a:alpha val="0"/>
              </a:srgbClr>
            </a:solidFill>
            <a:prstDash val="solid"/>
          </a:ln>
        </p:spPr>
      </p:sp>
      <p:sp>
        <p:nvSpPr>
          <p:cNvPr id="37" name="Text 29"/>
          <p:cNvSpPr txBox="1"/>
          <p:nvPr/>
        </p:nvSpPr>
        <p:spPr>
          <a:xfrm>
            <a:off x="2095805" y="5319979"/>
            <a:ext cx="16486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9.21</a:t>
            </a:r>
            <a:endParaRPr lang="en-US" sz="1200" dirty="0"/>
          </a:p>
        </p:txBody>
      </p:sp>
      <p:sp>
        <p:nvSpPr>
          <p:cNvPr id="38" name="Text 30"/>
          <p:cNvSpPr txBox="1"/>
          <p:nvPr/>
        </p:nvSpPr>
        <p:spPr>
          <a:xfrm>
            <a:off x="3738982" y="5319979"/>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0.46</a:t>
            </a:r>
            <a:endParaRPr lang="en-US" sz="1200" dirty="0"/>
          </a:p>
        </p:txBody>
      </p:sp>
      <p:sp>
        <p:nvSpPr>
          <p:cNvPr id="39" name="Text 31"/>
          <p:cNvSpPr txBox="1"/>
          <p:nvPr/>
        </p:nvSpPr>
        <p:spPr>
          <a:xfrm>
            <a:off x="5381244" y="5319979"/>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1.92</a:t>
            </a:r>
            <a:endParaRPr lang="en-US" sz="1200" dirty="0"/>
          </a:p>
        </p:txBody>
      </p:sp>
      <p:sp>
        <p:nvSpPr>
          <p:cNvPr id="40" name="Text 32"/>
          <p:cNvSpPr txBox="1"/>
          <p:nvPr/>
        </p:nvSpPr>
        <p:spPr>
          <a:xfrm>
            <a:off x="7024421" y="5319979"/>
            <a:ext cx="1648663" cy="200254"/>
          </a:xfrm>
          <a:prstGeom prst="rect">
            <a:avLst/>
          </a:prstGeom>
          <a:noFill/>
          <a:ln/>
        </p:spPr>
        <p:txBody>
          <a:bodyPr wrap="none" lIns="0" tIns="0" rIns="0" bIns="0" rtlCol="0" anchor="ctr"/>
          <a:lstStyle/>
          <a:p>
            <a:pPr algn="r" indent="0" marL="0">
              <a:buNone/>
            </a:pPr>
            <a:r>
              <a:rPr lang="en-US" sz="1200" b="1" dirty="0">
                <a:solidFill>
                  <a:srgbClr val="6F7D94"/>
                </a:solidFill>
                <a:latin typeface="Sora" pitchFamily="34" charset="0"/>
                <a:ea typeface="Sora" pitchFamily="34" charset="-122"/>
                <a:cs typeface="Sora" pitchFamily="34" charset="-120"/>
              </a:rPr>
              <a:t>+0.11</a:t>
            </a:r>
            <a:endParaRPr lang="en-US" sz="1200" dirty="0"/>
          </a:p>
        </p:txBody>
      </p:sp>
      <p:sp>
        <p:nvSpPr>
          <p:cNvPr id="41" name="Shape 33"/>
          <p:cNvSpPr/>
          <p:nvPr/>
        </p:nvSpPr>
        <p:spPr>
          <a:xfrm>
            <a:off x="1238098" y="6172200"/>
            <a:ext cx="7429500" cy="9144"/>
          </a:xfrm>
          <a:prstGeom prst="rect">
            <a:avLst/>
          </a:prstGeom>
          <a:solidFill>
            <a:srgbClr val="DCE3EE"/>
          </a:solidFill>
          <a:ln w="12700">
            <a:solidFill>
              <a:srgbClr val="DCE3EE">
                <a:alpha val="0"/>
              </a:srgbClr>
            </a:solidFill>
            <a:prstDash val="solid"/>
          </a:ln>
        </p:spPr>
      </p:sp>
      <p:sp>
        <p:nvSpPr>
          <p:cNvPr id="42" name="Text 34"/>
          <p:cNvSpPr txBox="1"/>
          <p:nvPr/>
        </p:nvSpPr>
        <p:spPr>
          <a:xfrm>
            <a:off x="2095805" y="5824728"/>
            <a:ext cx="16486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9.11</a:t>
            </a:r>
            <a:endParaRPr lang="en-US" sz="1200" dirty="0"/>
          </a:p>
        </p:txBody>
      </p:sp>
      <p:sp>
        <p:nvSpPr>
          <p:cNvPr id="43" name="Text 35"/>
          <p:cNvSpPr txBox="1"/>
          <p:nvPr/>
        </p:nvSpPr>
        <p:spPr>
          <a:xfrm>
            <a:off x="3738982" y="5824728"/>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0.31</a:t>
            </a:r>
            <a:endParaRPr lang="en-US" sz="1200" dirty="0"/>
          </a:p>
        </p:txBody>
      </p:sp>
      <p:sp>
        <p:nvSpPr>
          <p:cNvPr id="44" name="Text 36"/>
          <p:cNvSpPr txBox="1"/>
          <p:nvPr/>
        </p:nvSpPr>
        <p:spPr>
          <a:xfrm>
            <a:off x="5381244" y="5824728"/>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1.30</a:t>
            </a:r>
            <a:endParaRPr lang="en-US" sz="1200" dirty="0"/>
          </a:p>
        </p:txBody>
      </p:sp>
      <p:sp>
        <p:nvSpPr>
          <p:cNvPr id="45" name="Text 37"/>
          <p:cNvSpPr txBox="1"/>
          <p:nvPr/>
        </p:nvSpPr>
        <p:spPr>
          <a:xfrm>
            <a:off x="7024421" y="5824728"/>
            <a:ext cx="1648663" cy="200254"/>
          </a:xfrm>
          <a:prstGeom prst="rect">
            <a:avLst/>
          </a:prstGeom>
          <a:noFill/>
          <a:ln/>
        </p:spPr>
        <p:txBody>
          <a:bodyPr wrap="none" lIns="0" tIns="0" rIns="0" bIns="0" rtlCol="0" anchor="ctr"/>
          <a:lstStyle/>
          <a:p>
            <a:pPr algn="r" indent="0" marL="0">
              <a:buNone/>
            </a:pPr>
            <a:r>
              <a:rPr lang="en-US" sz="1200" b="1" dirty="0">
                <a:solidFill>
                  <a:srgbClr val="1E5F9C"/>
                </a:solidFill>
                <a:latin typeface="Sora" pitchFamily="34" charset="0"/>
                <a:ea typeface="Sora" pitchFamily="34" charset="-122"/>
                <a:cs typeface="Sora" pitchFamily="34" charset="-120"/>
              </a:rPr>
              <a:t>+0.01</a:t>
            </a:r>
            <a:endParaRPr lang="en-US" sz="1200" dirty="0"/>
          </a:p>
        </p:txBody>
      </p:sp>
      <p:sp>
        <p:nvSpPr>
          <p:cNvPr id="46" name="Shape 38"/>
          <p:cNvSpPr/>
          <p:nvPr/>
        </p:nvSpPr>
        <p:spPr>
          <a:xfrm>
            <a:off x="1238098" y="6676949"/>
            <a:ext cx="7429500" cy="9144"/>
          </a:xfrm>
          <a:prstGeom prst="rect">
            <a:avLst/>
          </a:prstGeom>
          <a:solidFill>
            <a:srgbClr val="DCE3EE"/>
          </a:solidFill>
          <a:ln w="12700">
            <a:solidFill>
              <a:srgbClr val="DCE3EE">
                <a:alpha val="0"/>
              </a:srgbClr>
            </a:solidFill>
            <a:prstDash val="solid"/>
          </a:ln>
        </p:spPr>
      </p:sp>
      <p:sp>
        <p:nvSpPr>
          <p:cNvPr id="47" name="Text 39"/>
          <p:cNvSpPr txBox="1"/>
          <p:nvPr/>
        </p:nvSpPr>
        <p:spPr>
          <a:xfrm>
            <a:off x="2095805" y="6329477"/>
            <a:ext cx="16486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9.08</a:t>
            </a:r>
            <a:endParaRPr lang="en-US" sz="1200" dirty="0"/>
          </a:p>
        </p:txBody>
      </p:sp>
      <p:sp>
        <p:nvSpPr>
          <p:cNvPr id="48" name="Text 40"/>
          <p:cNvSpPr txBox="1"/>
          <p:nvPr/>
        </p:nvSpPr>
        <p:spPr>
          <a:xfrm>
            <a:off x="3738982" y="6329477"/>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0.30</a:t>
            </a:r>
            <a:endParaRPr lang="en-US" sz="1200" dirty="0"/>
          </a:p>
        </p:txBody>
      </p:sp>
      <p:sp>
        <p:nvSpPr>
          <p:cNvPr id="49" name="Text 41"/>
          <p:cNvSpPr txBox="1"/>
          <p:nvPr/>
        </p:nvSpPr>
        <p:spPr>
          <a:xfrm>
            <a:off x="5381244" y="6329477"/>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1.27</a:t>
            </a:r>
            <a:endParaRPr lang="en-US" sz="1200" dirty="0"/>
          </a:p>
        </p:txBody>
      </p:sp>
      <p:sp>
        <p:nvSpPr>
          <p:cNvPr id="50" name="Text 42"/>
          <p:cNvSpPr txBox="1"/>
          <p:nvPr/>
        </p:nvSpPr>
        <p:spPr>
          <a:xfrm>
            <a:off x="7024421" y="6329477"/>
            <a:ext cx="1648663" cy="200254"/>
          </a:xfrm>
          <a:prstGeom prst="rect">
            <a:avLst/>
          </a:prstGeom>
          <a:noFill/>
          <a:ln/>
        </p:spPr>
        <p:txBody>
          <a:bodyPr wrap="none" lIns="0" tIns="0" rIns="0" bIns="0" rtlCol="0" anchor="ctr"/>
          <a:lstStyle/>
          <a:p>
            <a:pPr algn="r" indent="0" marL="0">
              <a:buNone/>
            </a:pPr>
            <a:r>
              <a:rPr lang="en-US" sz="1200" b="1" dirty="0">
                <a:solidFill>
                  <a:srgbClr val="4F86C0"/>
                </a:solidFill>
                <a:latin typeface="Sora" pitchFamily="34" charset="0"/>
                <a:ea typeface="Sora" pitchFamily="34" charset="-122"/>
                <a:cs typeface="Sora" pitchFamily="34" charset="-120"/>
              </a:rPr>
              <a:t>−0.02</a:t>
            </a:r>
            <a:endParaRPr lang="en-US" sz="1200" dirty="0"/>
          </a:p>
        </p:txBody>
      </p:sp>
      <p:sp>
        <p:nvSpPr>
          <p:cNvPr id="51" name="Text 43"/>
          <p:cNvSpPr txBox="1"/>
          <p:nvPr/>
        </p:nvSpPr>
        <p:spPr>
          <a:xfrm>
            <a:off x="2095805" y="6834226"/>
            <a:ext cx="1648663"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9.25</a:t>
            </a:r>
            <a:endParaRPr lang="en-US" sz="1200" dirty="0"/>
          </a:p>
        </p:txBody>
      </p:sp>
      <p:sp>
        <p:nvSpPr>
          <p:cNvPr id="52" name="Text 44"/>
          <p:cNvSpPr txBox="1"/>
          <p:nvPr/>
        </p:nvSpPr>
        <p:spPr>
          <a:xfrm>
            <a:off x="3738982" y="6834226"/>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0.43</a:t>
            </a:r>
            <a:endParaRPr lang="en-US" sz="1200" dirty="0"/>
          </a:p>
        </p:txBody>
      </p:sp>
      <p:sp>
        <p:nvSpPr>
          <p:cNvPr id="53" name="Text 45"/>
          <p:cNvSpPr txBox="1"/>
          <p:nvPr/>
        </p:nvSpPr>
        <p:spPr>
          <a:xfrm>
            <a:off x="5381244" y="6834226"/>
            <a:ext cx="1648663"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1.81</a:t>
            </a:r>
            <a:endParaRPr lang="en-US" sz="1200" dirty="0"/>
          </a:p>
        </p:txBody>
      </p:sp>
      <p:sp>
        <p:nvSpPr>
          <p:cNvPr id="54" name="Text 46"/>
          <p:cNvSpPr txBox="1"/>
          <p:nvPr/>
        </p:nvSpPr>
        <p:spPr>
          <a:xfrm>
            <a:off x="7024421" y="6834226"/>
            <a:ext cx="1648663" cy="200254"/>
          </a:xfrm>
          <a:prstGeom prst="rect">
            <a:avLst/>
          </a:prstGeom>
          <a:noFill/>
          <a:ln/>
        </p:spPr>
        <p:txBody>
          <a:bodyPr wrap="none" lIns="0" tIns="0" rIns="0" bIns="0" rtlCol="0" anchor="ctr"/>
          <a:lstStyle/>
          <a:p>
            <a:pPr algn="r" indent="0" marL="0">
              <a:buNone/>
            </a:pPr>
            <a:r>
              <a:rPr lang="en-US" sz="1200" b="1" dirty="0">
                <a:solidFill>
                  <a:srgbClr val="6F7D94"/>
                </a:solidFill>
                <a:latin typeface="Sora" pitchFamily="34" charset="0"/>
                <a:ea typeface="Sora" pitchFamily="34" charset="-122"/>
                <a:cs typeface="Sora" pitchFamily="34" charset="-120"/>
              </a:rPr>
              <a:t>+0.15</a:t>
            </a:r>
            <a:endParaRPr lang="en-US" sz="1200" dirty="0"/>
          </a:p>
        </p:txBody>
      </p:sp>
      <p:sp>
        <p:nvSpPr>
          <p:cNvPr id="55" name="Shape 47"/>
          <p:cNvSpPr/>
          <p:nvPr/>
        </p:nvSpPr>
        <p:spPr>
          <a:xfrm>
            <a:off x="1238098" y="4381805"/>
            <a:ext cx="95098" cy="95098"/>
          </a:xfrm>
          <a:prstGeom prst="rect">
            <a:avLst/>
          </a:prstGeom>
          <a:solidFill>
            <a:srgbClr val="1E5F9C"/>
          </a:solidFill>
          <a:ln w="12700">
            <a:solidFill>
              <a:srgbClr val="FFFFFF">
                <a:alpha val="0"/>
              </a:srgbClr>
            </a:solidFill>
            <a:prstDash val="solid"/>
          </a:ln>
        </p:spPr>
      </p:sp>
      <p:sp>
        <p:nvSpPr>
          <p:cNvPr id="56" name="Text 48"/>
          <p:cNvSpPr txBox="1"/>
          <p:nvPr/>
        </p:nvSpPr>
        <p:spPr>
          <a:xfrm>
            <a:off x="1410005" y="4324198"/>
            <a:ext cx="352958"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W01</a:t>
            </a:r>
            <a:endParaRPr lang="en-US" sz="1200" dirty="0"/>
          </a:p>
        </p:txBody>
      </p:sp>
      <p:sp>
        <p:nvSpPr>
          <p:cNvPr id="57" name="Shape 49"/>
          <p:cNvSpPr/>
          <p:nvPr/>
        </p:nvSpPr>
        <p:spPr>
          <a:xfrm>
            <a:off x="1238098" y="4886554"/>
            <a:ext cx="95098" cy="95098"/>
          </a:xfrm>
          <a:prstGeom prst="rect">
            <a:avLst/>
          </a:prstGeom>
          <a:solidFill>
            <a:srgbClr val="4F86C0"/>
          </a:solidFill>
          <a:ln w="12700">
            <a:solidFill>
              <a:srgbClr val="FFFFFF">
                <a:alpha val="0"/>
              </a:srgbClr>
            </a:solidFill>
            <a:prstDash val="solid"/>
          </a:ln>
        </p:spPr>
      </p:sp>
      <p:sp>
        <p:nvSpPr>
          <p:cNvPr id="58" name="Text 50"/>
          <p:cNvSpPr txBox="1"/>
          <p:nvPr/>
        </p:nvSpPr>
        <p:spPr>
          <a:xfrm>
            <a:off x="1410005" y="4828946"/>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W02</a:t>
            </a:r>
            <a:endParaRPr lang="en-US" sz="1200" dirty="0"/>
          </a:p>
        </p:txBody>
      </p:sp>
      <p:sp>
        <p:nvSpPr>
          <p:cNvPr id="59" name="Shape 51"/>
          <p:cNvSpPr/>
          <p:nvPr/>
        </p:nvSpPr>
        <p:spPr>
          <a:xfrm>
            <a:off x="1238098" y="5391302"/>
            <a:ext cx="95098" cy="95098"/>
          </a:xfrm>
          <a:prstGeom prst="rect">
            <a:avLst/>
          </a:prstGeom>
          <a:solidFill>
            <a:srgbClr val="94A3B8"/>
          </a:solidFill>
          <a:ln w="12700">
            <a:solidFill>
              <a:srgbClr val="FFFFFF">
                <a:alpha val="0"/>
              </a:srgbClr>
            </a:solidFill>
            <a:prstDash val="solid"/>
          </a:ln>
        </p:spPr>
      </p:sp>
      <p:sp>
        <p:nvSpPr>
          <p:cNvPr id="60" name="Text 52"/>
          <p:cNvSpPr txBox="1"/>
          <p:nvPr/>
        </p:nvSpPr>
        <p:spPr>
          <a:xfrm>
            <a:off x="1410005" y="5333695"/>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W03</a:t>
            </a:r>
            <a:endParaRPr lang="en-US" sz="1200" dirty="0"/>
          </a:p>
        </p:txBody>
      </p:sp>
      <p:sp>
        <p:nvSpPr>
          <p:cNvPr id="61" name="Shape 53"/>
          <p:cNvSpPr/>
          <p:nvPr/>
        </p:nvSpPr>
        <p:spPr>
          <a:xfrm>
            <a:off x="1238098" y="5896051"/>
            <a:ext cx="95098" cy="95098"/>
          </a:xfrm>
          <a:prstGeom prst="rect">
            <a:avLst/>
          </a:prstGeom>
          <a:solidFill>
            <a:srgbClr val="1E5F9C"/>
          </a:solidFill>
          <a:ln w="12700">
            <a:solidFill>
              <a:srgbClr val="FFFFFF">
                <a:alpha val="0"/>
              </a:srgbClr>
            </a:solidFill>
            <a:prstDash val="solid"/>
          </a:ln>
        </p:spPr>
      </p:sp>
      <p:sp>
        <p:nvSpPr>
          <p:cNvPr id="62" name="Text 54"/>
          <p:cNvSpPr txBox="1"/>
          <p:nvPr/>
        </p:nvSpPr>
        <p:spPr>
          <a:xfrm>
            <a:off x="1410005" y="5838444"/>
            <a:ext cx="391363"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W04</a:t>
            </a:r>
            <a:endParaRPr lang="en-US" sz="1200" dirty="0"/>
          </a:p>
        </p:txBody>
      </p:sp>
      <p:sp>
        <p:nvSpPr>
          <p:cNvPr id="63" name="Shape 55"/>
          <p:cNvSpPr/>
          <p:nvPr/>
        </p:nvSpPr>
        <p:spPr>
          <a:xfrm>
            <a:off x="1238098" y="6400800"/>
            <a:ext cx="95098" cy="95098"/>
          </a:xfrm>
          <a:prstGeom prst="rect">
            <a:avLst/>
          </a:prstGeom>
          <a:solidFill>
            <a:srgbClr val="4F86C0"/>
          </a:solidFill>
          <a:ln w="12700">
            <a:solidFill>
              <a:srgbClr val="FFFFFF">
                <a:alpha val="0"/>
              </a:srgbClr>
            </a:solidFill>
            <a:prstDash val="solid"/>
          </a:ln>
        </p:spPr>
      </p:sp>
      <p:sp>
        <p:nvSpPr>
          <p:cNvPr id="64" name="Text 56"/>
          <p:cNvSpPr txBox="1"/>
          <p:nvPr/>
        </p:nvSpPr>
        <p:spPr>
          <a:xfrm>
            <a:off x="1410005" y="6344107"/>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W05</a:t>
            </a:r>
            <a:endParaRPr lang="en-US" sz="1200" dirty="0"/>
          </a:p>
        </p:txBody>
      </p:sp>
      <p:sp>
        <p:nvSpPr>
          <p:cNvPr id="65" name="Shape 57"/>
          <p:cNvSpPr/>
          <p:nvPr/>
        </p:nvSpPr>
        <p:spPr>
          <a:xfrm>
            <a:off x="1238098" y="6905549"/>
            <a:ext cx="95098" cy="95098"/>
          </a:xfrm>
          <a:prstGeom prst="rect">
            <a:avLst/>
          </a:prstGeom>
          <a:solidFill>
            <a:srgbClr val="94A3B8"/>
          </a:solidFill>
          <a:ln w="12700">
            <a:solidFill>
              <a:srgbClr val="FFFFFF">
                <a:alpha val="0"/>
              </a:srgbClr>
            </a:solidFill>
            <a:prstDash val="solid"/>
          </a:ln>
        </p:spPr>
      </p:sp>
      <p:sp>
        <p:nvSpPr>
          <p:cNvPr id="66" name="Text 58"/>
          <p:cNvSpPr txBox="1"/>
          <p:nvPr/>
        </p:nvSpPr>
        <p:spPr>
          <a:xfrm>
            <a:off x="1410005" y="6848856"/>
            <a:ext cx="391363"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W06</a:t>
            </a:r>
            <a:endParaRPr lang="en-US" sz="1200" dirty="0"/>
          </a:p>
        </p:txBody>
      </p:sp>
      <p:sp>
        <p:nvSpPr>
          <p:cNvPr id="67" name="Text 59"/>
          <p:cNvSpPr txBox="1"/>
          <p:nvPr/>
        </p:nvSpPr>
        <p:spPr>
          <a:xfrm>
            <a:off x="9525305" y="3133649"/>
            <a:ext cx="2095805" cy="143561"/>
          </a:xfrm>
          <a:prstGeom prst="rect">
            <a:avLst/>
          </a:prstGeom>
          <a:noFill/>
          <a:ln/>
        </p:spPr>
        <p:txBody>
          <a:bodyPr wrap="none" lIns="0" tIns="0" rIns="0" bIns="0" rtlCol="0" anchor="ctr"/>
          <a:lstStyle/>
          <a:p>
            <a:pPr algn="l" indent="0" marL="0">
              <a:buNone/>
            </a:pPr>
            <a:r>
              <a:rPr lang="en-US" sz="900" b="1" spc="252" kern="0" dirty="0">
                <a:solidFill>
                  <a:srgbClr val="6F7D94"/>
                </a:solidFill>
                <a:latin typeface="Sora" pitchFamily="34" charset="0"/>
                <a:ea typeface="Sora" pitchFamily="34" charset="-122"/>
                <a:cs typeface="Sora" pitchFamily="34" charset="-120"/>
              </a:rPr>
              <a:t>ACI · AFTER CMP</a:t>
            </a:r>
            <a:endParaRPr lang="en-US" sz="900" dirty="0"/>
          </a:p>
        </p:txBody>
      </p:sp>
      <p:sp>
        <p:nvSpPr>
          <p:cNvPr id="68" name="Text 60"/>
          <p:cNvSpPr txBox="1"/>
          <p:nvPr/>
        </p:nvSpPr>
        <p:spPr>
          <a:xfrm>
            <a:off x="9525305" y="3333902"/>
            <a:ext cx="2494483" cy="438912"/>
          </a:xfrm>
          <a:prstGeom prst="rect">
            <a:avLst/>
          </a:prstGeom>
          <a:noFill/>
          <a:ln/>
        </p:spPr>
        <p:txBody>
          <a:bodyPr wrap="none" lIns="0" tIns="0" rIns="0" bIns="0" rtlCol="0" anchor="ctr"/>
          <a:lstStyle/>
          <a:p>
            <a:pPr algn="l" indent="0" marL="0">
              <a:buNone/>
            </a:pPr>
            <a:r>
              <a:rPr lang="en-US" sz="2400" b="1" dirty="0">
                <a:solidFill>
                  <a:srgbClr val="14213D"/>
                </a:solidFill>
                <a:latin typeface="Noto Sans KR" pitchFamily="34" charset="0"/>
                <a:ea typeface="Noto Sans KR" pitchFamily="34" charset="-122"/>
                <a:cs typeface="Noto Sans KR" pitchFamily="34" charset="-120"/>
              </a:rPr>
              <a:t>target 9.8 nm</a:t>
            </a:r>
            <a:endParaRPr lang="en-US" sz="2400" dirty="0"/>
          </a:p>
        </p:txBody>
      </p:sp>
      <p:sp>
        <p:nvSpPr>
          <p:cNvPr id="69" name="Text 61"/>
          <p:cNvSpPr txBox="1"/>
          <p:nvPr/>
        </p:nvSpPr>
        <p:spPr>
          <a:xfrm>
            <a:off x="15560345" y="3124505"/>
            <a:ext cx="1686154" cy="162763"/>
          </a:xfrm>
          <a:prstGeom prst="rect">
            <a:avLst/>
          </a:prstGeom>
          <a:noFill/>
          <a:ln/>
        </p:spPr>
        <p:txBody>
          <a:bodyPr wrap="none" lIns="0" tIns="0" rIns="0" bIns="0" rtlCol="0" anchor="ctr"/>
          <a:lstStyle/>
          <a:p>
            <a:pPr algn="r" indent="0" marL="0">
              <a:buNone/>
            </a:pPr>
            <a:r>
              <a:rPr lang="en-US" sz="975" spc="176" kern="0" dirty="0">
                <a:solidFill>
                  <a:srgbClr val="94A3B8"/>
                </a:solidFill>
                <a:latin typeface="Sora" pitchFamily="34" charset="0"/>
                <a:ea typeface="Sora" pitchFamily="34" charset="-122"/>
                <a:cs typeface="Sora" pitchFamily="34" charset="-120"/>
              </a:rPr>
              <a:t>TBL-ACI</a:t>
            </a:r>
            <a:endParaRPr lang="en-US" sz="975" dirty="0"/>
          </a:p>
        </p:txBody>
      </p:sp>
      <p:sp>
        <p:nvSpPr>
          <p:cNvPr id="70" name="Text 62"/>
          <p:cNvSpPr txBox="1"/>
          <p:nvPr/>
        </p:nvSpPr>
        <p:spPr>
          <a:xfrm>
            <a:off x="15240305" y="3343046"/>
            <a:ext cx="2007108" cy="171907"/>
          </a:xfrm>
          <a:prstGeom prst="rect">
            <a:avLst/>
          </a:prstGeom>
          <a:noFill/>
          <a:ln/>
        </p:spPr>
        <p:txBody>
          <a:bodyPr wrap="none" lIns="0" tIns="0" rIns="0" bIns="0" rtlCol="0" anchor="ctr"/>
          <a:lstStyle/>
          <a:p>
            <a:pPr algn="r" indent="0" marL="0">
              <a:buNone/>
            </a:pPr>
            <a:r>
              <a:rPr lang="en-US" sz="1050" dirty="0">
                <a:solidFill>
                  <a:srgbClr val="455670"/>
                </a:solidFill>
                <a:latin typeface="Sora" pitchFamily="34" charset="0"/>
                <a:ea typeface="Sora" pitchFamily="34" charset="-122"/>
                <a:cs typeface="Sora" pitchFamily="34" charset="-120"/>
              </a:rPr>
              <a:t>final cross-section width</a:t>
            </a:r>
            <a:endParaRPr lang="en-US" sz="1050" dirty="0"/>
          </a:p>
        </p:txBody>
      </p:sp>
      <p:sp>
        <p:nvSpPr>
          <p:cNvPr id="71" name="Shape 63"/>
          <p:cNvSpPr/>
          <p:nvPr/>
        </p:nvSpPr>
        <p:spPr>
          <a:xfrm>
            <a:off x="9525305" y="4143146"/>
            <a:ext cx="7715707" cy="19202"/>
          </a:xfrm>
          <a:prstGeom prst="rect">
            <a:avLst/>
          </a:prstGeom>
          <a:solidFill>
            <a:srgbClr val="14213D"/>
          </a:solidFill>
          <a:ln w="12700">
            <a:solidFill>
              <a:srgbClr val="14213D">
                <a:alpha val="0"/>
              </a:srgbClr>
            </a:solidFill>
            <a:prstDash val="solid"/>
          </a:ln>
        </p:spPr>
      </p:sp>
      <p:sp>
        <p:nvSpPr>
          <p:cNvPr id="72" name="Text 64"/>
          <p:cNvSpPr txBox="1"/>
          <p:nvPr/>
        </p:nvSpPr>
        <p:spPr>
          <a:xfrm>
            <a:off x="9525305" y="3847795"/>
            <a:ext cx="857707" cy="162763"/>
          </a:xfrm>
          <a:prstGeom prst="rect">
            <a:avLst/>
          </a:prstGeom>
          <a:noFill/>
          <a:ln/>
        </p:spPr>
        <p:txBody>
          <a:bodyPr wrap="none" lIns="0" tIns="0" rIns="0" bIns="0" rtlCol="0" anchor="ctr"/>
          <a:lstStyle/>
          <a:p>
            <a:pPr algn="l" indent="0" marL="0">
              <a:buNone/>
            </a:pPr>
            <a:r>
              <a:rPr lang="en-US" sz="900" b="1" spc="162" kern="0" dirty="0">
                <a:solidFill>
                  <a:srgbClr val="94A3B8"/>
                </a:solidFill>
                <a:latin typeface="Sora" pitchFamily="34" charset="0"/>
                <a:ea typeface="Sora" pitchFamily="34" charset="-122"/>
                <a:cs typeface="Sora" pitchFamily="34" charset="-120"/>
              </a:rPr>
              <a:t>wafer</a:t>
            </a:r>
            <a:endParaRPr lang="en-US" sz="900" dirty="0"/>
          </a:p>
        </p:txBody>
      </p:sp>
      <p:sp>
        <p:nvSpPr>
          <p:cNvPr id="73" name="Text 65"/>
          <p:cNvSpPr txBox="1"/>
          <p:nvPr/>
        </p:nvSpPr>
        <p:spPr>
          <a:xfrm>
            <a:off x="10382098" y="3847795"/>
            <a:ext cx="1714500"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mean</a:t>
            </a:r>
            <a:endParaRPr lang="en-US" sz="900" dirty="0"/>
          </a:p>
        </p:txBody>
      </p:sp>
      <p:sp>
        <p:nvSpPr>
          <p:cNvPr id="74" name="Text 66"/>
          <p:cNvSpPr txBox="1"/>
          <p:nvPr/>
        </p:nvSpPr>
        <p:spPr>
          <a:xfrm>
            <a:off x="12096598" y="3847795"/>
            <a:ext cx="1714500"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3σ</a:t>
            </a:r>
            <a:endParaRPr lang="en-US" sz="900" dirty="0"/>
          </a:p>
        </p:txBody>
      </p:sp>
      <p:sp>
        <p:nvSpPr>
          <p:cNvPr id="75" name="Text 67"/>
          <p:cNvSpPr txBox="1"/>
          <p:nvPr/>
        </p:nvSpPr>
        <p:spPr>
          <a:xfrm>
            <a:off x="13811098" y="3847795"/>
            <a:ext cx="1714500"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range</a:t>
            </a:r>
            <a:endParaRPr lang="en-US" sz="900" dirty="0"/>
          </a:p>
        </p:txBody>
      </p:sp>
      <p:sp>
        <p:nvSpPr>
          <p:cNvPr id="76" name="Text 68"/>
          <p:cNvSpPr txBox="1"/>
          <p:nvPr/>
        </p:nvSpPr>
        <p:spPr>
          <a:xfrm>
            <a:off x="15525598" y="3847795"/>
            <a:ext cx="1714500"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Δ</a:t>
            </a:r>
            <a:endParaRPr lang="en-US" sz="900" dirty="0"/>
          </a:p>
        </p:txBody>
      </p:sp>
      <p:sp>
        <p:nvSpPr>
          <p:cNvPr id="77" name="Shape 69"/>
          <p:cNvSpPr/>
          <p:nvPr/>
        </p:nvSpPr>
        <p:spPr>
          <a:xfrm>
            <a:off x="9525305" y="4657954"/>
            <a:ext cx="7715707" cy="9144"/>
          </a:xfrm>
          <a:prstGeom prst="rect">
            <a:avLst/>
          </a:prstGeom>
          <a:solidFill>
            <a:srgbClr val="DCE3EE"/>
          </a:solidFill>
          <a:ln w="12700">
            <a:solidFill>
              <a:srgbClr val="DCE3EE">
                <a:alpha val="0"/>
              </a:srgbClr>
            </a:solidFill>
            <a:prstDash val="solid"/>
          </a:ln>
        </p:spPr>
      </p:sp>
      <p:sp>
        <p:nvSpPr>
          <p:cNvPr id="78" name="Text 70"/>
          <p:cNvSpPr txBox="1"/>
          <p:nvPr/>
        </p:nvSpPr>
        <p:spPr>
          <a:xfrm>
            <a:off x="10382098" y="4310482"/>
            <a:ext cx="1714500"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9.74</a:t>
            </a:r>
            <a:endParaRPr lang="en-US" sz="1200" dirty="0"/>
          </a:p>
        </p:txBody>
      </p:sp>
      <p:sp>
        <p:nvSpPr>
          <p:cNvPr id="79" name="Text 71"/>
          <p:cNvSpPr txBox="1"/>
          <p:nvPr/>
        </p:nvSpPr>
        <p:spPr>
          <a:xfrm>
            <a:off x="12096598" y="4310482"/>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0.39</a:t>
            </a:r>
            <a:endParaRPr lang="en-US" sz="1200" dirty="0"/>
          </a:p>
        </p:txBody>
      </p:sp>
      <p:sp>
        <p:nvSpPr>
          <p:cNvPr id="80" name="Text 72"/>
          <p:cNvSpPr txBox="1"/>
          <p:nvPr/>
        </p:nvSpPr>
        <p:spPr>
          <a:xfrm>
            <a:off x="13811098" y="4310482"/>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1.62</a:t>
            </a:r>
            <a:endParaRPr lang="en-US" sz="1200" dirty="0"/>
          </a:p>
        </p:txBody>
      </p:sp>
      <p:sp>
        <p:nvSpPr>
          <p:cNvPr id="81" name="Text 73"/>
          <p:cNvSpPr txBox="1"/>
          <p:nvPr/>
        </p:nvSpPr>
        <p:spPr>
          <a:xfrm>
            <a:off x="15525598" y="4310482"/>
            <a:ext cx="1714500" cy="200254"/>
          </a:xfrm>
          <a:prstGeom prst="rect">
            <a:avLst/>
          </a:prstGeom>
          <a:noFill/>
          <a:ln/>
        </p:spPr>
        <p:txBody>
          <a:bodyPr wrap="none" lIns="0" tIns="0" rIns="0" bIns="0" rtlCol="0" anchor="ctr"/>
          <a:lstStyle/>
          <a:p>
            <a:pPr algn="r" indent="0" marL="0">
              <a:buNone/>
            </a:pPr>
            <a:r>
              <a:rPr lang="en-US" sz="1200" b="1" dirty="0">
                <a:solidFill>
                  <a:srgbClr val="1E5F9C"/>
                </a:solidFill>
                <a:latin typeface="Sora" pitchFamily="34" charset="0"/>
                <a:ea typeface="Sora" pitchFamily="34" charset="-122"/>
                <a:cs typeface="Sora" pitchFamily="34" charset="-120"/>
              </a:rPr>
              <a:t>−0.06</a:t>
            </a:r>
            <a:endParaRPr lang="en-US" sz="1200" dirty="0"/>
          </a:p>
        </p:txBody>
      </p:sp>
      <p:sp>
        <p:nvSpPr>
          <p:cNvPr id="82" name="Shape 74"/>
          <p:cNvSpPr/>
          <p:nvPr/>
        </p:nvSpPr>
        <p:spPr>
          <a:xfrm>
            <a:off x="9525305" y="5162702"/>
            <a:ext cx="7715707" cy="9144"/>
          </a:xfrm>
          <a:prstGeom prst="rect">
            <a:avLst/>
          </a:prstGeom>
          <a:solidFill>
            <a:srgbClr val="DCE3EE"/>
          </a:solidFill>
          <a:ln w="12700">
            <a:solidFill>
              <a:srgbClr val="DCE3EE">
                <a:alpha val="0"/>
              </a:srgbClr>
            </a:solidFill>
            <a:prstDash val="solid"/>
          </a:ln>
        </p:spPr>
      </p:sp>
      <p:sp>
        <p:nvSpPr>
          <p:cNvPr id="83" name="Text 75"/>
          <p:cNvSpPr txBox="1"/>
          <p:nvPr/>
        </p:nvSpPr>
        <p:spPr>
          <a:xfrm>
            <a:off x="10382098" y="4815230"/>
            <a:ext cx="1714500"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9.71</a:t>
            </a:r>
            <a:endParaRPr lang="en-US" sz="1200" dirty="0"/>
          </a:p>
        </p:txBody>
      </p:sp>
      <p:sp>
        <p:nvSpPr>
          <p:cNvPr id="84" name="Text 76"/>
          <p:cNvSpPr txBox="1"/>
          <p:nvPr/>
        </p:nvSpPr>
        <p:spPr>
          <a:xfrm>
            <a:off x="12096598" y="4815230"/>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0.41</a:t>
            </a:r>
            <a:endParaRPr lang="en-US" sz="1200" dirty="0"/>
          </a:p>
        </p:txBody>
      </p:sp>
      <p:sp>
        <p:nvSpPr>
          <p:cNvPr id="85" name="Text 77"/>
          <p:cNvSpPr txBox="1"/>
          <p:nvPr/>
        </p:nvSpPr>
        <p:spPr>
          <a:xfrm>
            <a:off x="13811098" y="4815230"/>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1.69</a:t>
            </a:r>
            <a:endParaRPr lang="en-US" sz="1200" dirty="0"/>
          </a:p>
        </p:txBody>
      </p:sp>
      <p:sp>
        <p:nvSpPr>
          <p:cNvPr id="86" name="Text 78"/>
          <p:cNvSpPr txBox="1"/>
          <p:nvPr/>
        </p:nvSpPr>
        <p:spPr>
          <a:xfrm>
            <a:off x="15525598" y="4815230"/>
            <a:ext cx="1714500" cy="200254"/>
          </a:xfrm>
          <a:prstGeom prst="rect">
            <a:avLst/>
          </a:prstGeom>
          <a:noFill/>
          <a:ln/>
        </p:spPr>
        <p:txBody>
          <a:bodyPr wrap="none" lIns="0" tIns="0" rIns="0" bIns="0" rtlCol="0" anchor="ctr"/>
          <a:lstStyle/>
          <a:p>
            <a:pPr algn="r" indent="0" marL="0">
              <a:buNone/>
            </a:pPr>
            <a:r>
              <a:rPr lang="en-US" sz="1200" b="1" dirty="0">
                <a:solidFill>
                  <a:srgbClr val="4F86C0"/>
                </a:solidFill>
                <a:latin typeface="Sora" pitchFamily="34" charset="0"/>
                <a:ea typeface="Sora" pitchFamily="34" charset="-122"/>
                <a:cs typeface="Sora" pitchFamily="34" charset="-120"/>
              </a:rPr>
              <a:t>−0.09</a:t>
            </a:r>
            <a:endParaRPr lang="en-US" sz="1200" dirty="0"/>
          </a:p>
        </p:txBody>
      </p:sp>
      <p:sp>
        <p:nvSpPr>
          <p:cNvPr id="87" name="Shape 79"/>
          <p:cNvSpPr/>
          <p:nvPr/>
        </p:nvSpPr>
        <p:spPr>
          <a:xfrm>
            <a:off x="9525305" y="5667451"/>
            <a:ext cx="7715707" cy="9144"/>
          </a:xfrm>
          <a:prstGeom prst="rect">
            <a:avLst/>
          </a:prstGeom>
          <a:solidFill>
            <a:srgbClr val="DCE3EE"/>
          </a:solidFill>
          <a:ln w="12700">
            <a:solidFill>
              <a:srgbClr val="DCE3EE">
                <a:alpha val="0"/>
              </a:srgbClr>
            </a:solidFill>
            <a:prstDash val="solid"/>
          </a:ln>
        </p:spPr>
      </p:sp>
      <p:sp>
        <p:nvSpPr>
          <p:cNvPr id="88" name="Text 80"/>
          <p:cNvSpPr txBox="1"/>
          <p:nvPr/>
        </p:nvSpPr>
        <p:spPr>
          <a:xfrm>
            <a:off x="10382098" y="5319979"/>
            <a:ext cx="1714500"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9.92</a:t>
            </a:r>
            <a:endParaRPr lang="en-US" sz="1200" dirty="0"/>
          </a:p>
        </p:txBody>
      </p:sp>
      <p:sp>
        <p:nvSpPr>
          <p:cNvPr id="89" name="Text 81"/>
          <p:cNvSpPr txBox="1"/>
          <p:nvPr/>
        </p:nvSpPr>
        <p:spPr>
          <a:xfrm>
            <a:off x="12096598" y="5319979"/>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0.51</a:t>
            </a:r>
            <a:endParaRPr lang="en-US" sz="1200" dirty="0"/>
          </a:p>
        </p:txBody>
      </p:sp>
      <p:sp>
        <p:nvSpPr>
          <p:cNvPr id="90" name="Text 82"/>
          <p:cNvSpPr txBox="1"/>
          <p:nvPr/>
        </p:nvSpPr>
        <p:spPr>
          <a:xfrm>
            <a:off x="13811098" y="5319979"/>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2.10</a:t>
            </a:r>
            <a:endParaRPr lang="en-US" sz="1200" dirty="0"/>
          </a:p>
        </p:txBody>
      </p:sp>
      <p:sp>
        <p:nvSpPr>
          <p:cNvPr id="91" name="Text 83"/>
          <p:cNvSpPr txBox="1"/>
          <p:nvPr/>
        </p:nvSpPr>
        <p:spPr>
          <a:xfrm>
            <a:off x="15525598" y="5319979"/>
            <a:ext cx="1714500" cy="200254"/>
          </a:xfrm>
          <a:prstGeom prst="rect">
            <a:avLst/>
          </a:prstGeom>
          <a:noFill/>
          <a:ln/>
        </p:spPr>
        <p:txBody>
          <a:bodyPr wrap="none" lIns="0" tIns="0" rIns="0" bIns="0" rtlCol="0" anchor="ctr"/>
          <a:lstStyle/>
          <a:p>
            <a:pPr algn="r" indent="0" marL="0">
              <a:buNone/>
            </a:pPr>
            <a:r>
              <a:rPr lang="en-US" sz="1200" b="1" dirty="0">
                <a:solidFill>
                  <a:srgbClr val="6F7D94"/>
                </a:solidFill>
                <a:latin typeface="Sora" pitchFamily="34" charset="0"/>
                <a:ea typeface="Sora" pitchFamily="34" charset="-122"/>
                <a:cs typeface="Sora" pitchFamily="34" charset="-120"/>
              </a:rPr>
              <a:t>+0.12</a:t>
            </a:r>
            <a:endParaRPr lang="en-US" sz="1200" dirty="0"/>
          </a:p>
        </p:txBody>
      </p:sp>
      <p:sp>
        <p:nvSpPr>
          <p:cNvPr id="92" name="Shape 84"/>
          <p:cNvSpPr/>
          <p:nvPr/>
        </p:nvSpPr>
        <p:spPr>
          <a:xfrm>
            <a:off x="9525305" y="6172200"/>
            <a:ext cx="7715707" cy="9144"/>
          </a:xfrm>
          <a:prstGeom prst="rect">
            <a:avLst/>
          </a:prstGeom>
          <a:solidFill>
            <a:srgbClr val="DCE3EE"/>
          </a:solidFill>
          <a:ln w="12700">
            <a:solidFill>
              <a:srgbClr val="DCE3EE">
                <a:alpha val="0"/>
              </a:srgbClr>
            </a:solidFill>
            <a:prstDash val="solid"/>
          </a:ln>
        </p:spPr>
      </p:sp>
      <p:sp>
        <p:nvSpPr>
          <p:cNvPr id="93" name="Text 85"/>
          <p:cNvSpPr txBox="1"/>
          <p:nvPr/>
        </p:nvSpPr>
        <p:spPr>
          <a:xfrm>
            <a:off x="10382098" y="5824728"/>
            <a:ext cx="1714500"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9.79</a:t>
            </a:r>
            <a:endParaRPr lang="en-US" sz="1200" dirty="0"/>
          </a:p>
        </p:txBody>
      </p:sp>
      <p:sp>
        <p:nvSpPr>
          <p:cNvPr id="94" name="Text 86"/>
          <p:cNvSpPr txBox="1"/>
          <p:nvPr/>
        </p:nvSpPr>
        <p:spPr>
          <a:xfrm>
            <a:off x="12096598" y="5824728"/>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0.35</a:t>
            </a:r>
            <a:endParaRPr lang="en-US" sz="1200" dirty="0"/>
          </a:p>
        </p:txBody>
      </p:sp>
      <p:sp>
        <p:nvSpPr>
          <p:cNvPr id="95" name="Text 87"/>
          <p:cNvSpPr txBox="1"/>
          <p:nvPr/>
        </p:nvSpPr>
        <p:spPr>
          <a:xfrm>
            <a:off x="13811098" y="5824728"/>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1.48</a:t>
            </a:r>
            <a:endParaRPr lang="en-US" sz="1200" dirty="0"/>
          </a:p>
        </p:txBody>
      </p:sp>
      <p:sp>
        <p:nvSpPr>
          <p:cNvPr id="96" name="Text 88"/>
          <p:cNvSpPr txBox="1"/>
          <p:nvPr/>
        </p:nvSpPr>
        <p:spPr>
          <a:xfrm>
            <a:off x="15525598" y="5824728"/>
            <a:ext cx="1714500" cy="200254"/>
          </a:xfrm>
          <a:prstGeom prst="rect">
            <a:avLst/>
          </a:prstGeom>
          <a:noFill/>
          <a:ln/>
        </p:spPr>
        <p:txBody>
          <a:bodyPr wrap="none" lIns="0" tIns="0" rIns="0" bIns="0" rtlCol="0" anchor="ctr"/>
          <a:lstStyle/>
          <a:p>
            <a:pPr algn="r" indent="0" marL="0">
              <a:buNone/>
            </a:pPr>
            <a:r>
              <a:rPr lang="en-US" sz="1200" b="1" dirty="0">
                <a:solidFill>
                  <a:srgbClr val="1E5F9C"/>
                </a:solidFill>
                <a:latin typeface="Sora" pitchFamily="34" charset="0"/>
                <a:ea typeface="Sora" pitchFamily="34" charset="-122"/>
                <a:cs typeface="Sora" pitchFamily="34" charset="-120"/>
              </a:rPr>
              <a:t>−0.01</a:t>
            </a:r>
            <a:endParaRPr lang="en-US" sz="1200" dirty="0"/>
          </a:p>
        </p:txBody>
      </p:sp>
      <p:sp>
        <p:nvSpPr>
          <p:cNvPr id="97" name="Shape 89"/>
          <p:cNvSpPr/>
          <p:nvPr/>
        </p:nvSpPr>
        <p:spPr>
          <a:xfrm>
            <a:off x="9525305" y="6676949"/>
            <a:ext cx="7715707" cy="9144"/>
          </a:xfrm>
          <a:prstGeom prst="rect">
            <a:avLst/>
          </a:prstGeom>
          <a:solidFill>
            <a:srgbClr val="DCE3EE"/>
          </a:solidFill>
          <a:ln w="12700">
            <a:solidFill>
              <a:srgbClr val="DCE3EE">
                <a:alpha val="0"/>
              </a:srgbClr>
            </a:solidFill>
            <a:prstDash val="solid"/>
          </a:ln>
        </p:spPr>
      </p:sp>
      <p:sp>
        <p:nvSpPr>
          <p:cNvPr id="98" name="Text 90"/>
          <p:cNvSpPr txBox="1"/>
          <p:nvPr/>
        </p:nvSpPr>
        <p:spPr>
          <a:xfrm>
            <a:off x="10382098" y="6329477"/>
            <a:ext cx="1714500"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9.74</a:t>
            </a:r>
            <a:endParaRPr lang="en-US" sz="1200" dirty="0"/>
          </a:p>
        </p:txBody>
      </p:sp>
      <p:sp>
        <p:nvSpPr>
          <p:cNvPr id="99" name="Text 91"/>
          <p:cNvSpPr txBox="1"/>
          <p:nvPr/>
        </p:nvSpPr>
        <p:spPr>
          <a:xfrm>
            <a:off x="12096598" y="6329477"/>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0.36</a:t>
            </a:r>
            <a:endParaRPr lang="en-US" sz="1200" dirty="0"/>
          </a:p>
        </p:txBody>
      </p:sp>
      <p:sp>
        <p:nvSpPr>
          <p:cNvPr id="100" name="Text 92"/>
          <p:cNvSpPr txBox="1"/>
          <p:nvPr/>
        </p:nvSpPr>
        <p:spPr>
          <a:xfrm>
            <a:off x="13811098" y="6329477"/>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1.52</a:t>
            </a:r>
            <a:endParaRPr lang="en-US" sz="1200" dirty="0"/>
          </a:p>
        </p:txBody>
      </p:sp>
      <p:sp>
        <p:nvSpPr>
          <p:cNvPr id="101" name="Text 93"/>
          <p:cNvSpPr txBox="1"/>
          <p:nvPr/>
        </p:nvSpPr>
        <p:spPr>
          <a:xfrm>
            <a:off x="15525598" y="6329477"/>
            <a:ext cx="1714500" cy="200254"/>
          </a:xfrm>
          <a:prstGeom prst="rect">
            <a:avLst/>
          </a:prstGeom>
          <a:noFill/>
          <a:ln/>
        </p:spPr>
        <p:txBody>
          <a:bodyPr wrap="none" lIns="0" tIns="0" rIns="0" bIns="0" rtlCol="0" anchor="ctr"/>
          <a:lstStyle/>
          <a:p>
            <a:pPr algn="r" indent="0" marL="0">
              <a:buNone/>
            </a:pPr>
            <a:r>
              <a:rPr lang="en-US" sz="1200" b="1" dirty="0">
                <a:solidFill>
                  <a:srgbClr val="4F86C0"/>
                </a:solidFill>
                <a:latin typeface="Sora" pitchFamily="34" charset="0"/>
                <a:ea typeface="Sora" pitchFamily="34" charset="-122"/>
                <a:cs typeface="Sora" pitchFamily="34" charset="-120"/>
              </a:rPr>
              <a:t>−0.06</a:t>
            </a:r>
            <a:endParaRPr lang="en-US" sz="1200" dirty="0"/>
          </a:p>
        </p:txBody>
      </p:sp>
      <p:sp>
        <p:nvSpPr>
          <p:cNvPr id="102" name="Text 94"/>
          <p:cNvSpPr txBox="1"/>
          <p:nvPr/>
        </p:nvSpPr>
        <p:spPr>
          <a:xfrm>
            <a:off x="10382098" y="6834226"/>
            <a:ext cx="1714500" cy="200254"/>
          </a:xfrm>
          <a:prstGeom prst="rect">
            <a:avLst/>
          </a:prstGeom>
          <a:noFill/>
          <a:ln/>
        </p:spPr>
        <p:txBody>
          <a:bodyPr wrap="none" lIns="0" tIns="0" rIns="0" bIns="0" rtlCol="0" anchor="ctr"/>
          <a:lstStyle/>
          <a:p>
            <a:pPr algn="r" indent="0" marL="0">
              <a:buNone/>
            </a:pPr>
            <a:r>
              <a:rPr lang="en-US" sz="1200" b="1" dirty="0">
                <a:solidFill>
                  <a:srgbClr val="14213D"/>
                </a:solidFill>
                <a:latin typeface="Sora" pitchFamily="34" charset="0"/>
                <a:ea typeface="Sora" pitchFamily="34" charset="-122"/>
                <a:cs typeface="Sora" pitchFamily="34" charset="-120"/>
              </a:rPr>
              <a:t>9.96</a:t>
            </a:r>
            <a:endParaRPr lang="en-US" sz="1200" dirty="0"/>
          </a:p>
        </p:txBody>
      </p:sp>
      <p:sp>
        <p:nvSpPr>
          <p:cNvPr id="103" name="Text 95"/>
          <p:cNvSpPr txBox="1"/>
          <p:nvPr/>
        </p:nvSpPr>
        <p:spPr>
          <a:xfrm>
            <a:off x="12096598" y="6834226"/>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0.48</a:t>
            </a:r>
            <a:endParaRPr lang="en-US" sz="1200" dirty="0"/>
          </a:p>
        </p:txBody>
      </p:sp>
      <p:sp>
        <p:nvSpPr>
          <p:cNvPr id="104" name="Text 96"/>
          <p:cNvSpPr txBox="1"/>
          <p:nvPr/>
        </p:nvSpPr>
        <p:spPr>
          <a:xfrm>
            <a:off x="13811098" y="6834226"/>
            <a:ext cx="1714500" cy="200254"/>
          </a:xfrm>
          <a:prstGeom prst="rect">
            <a:avLst/>
          </a:prstGeom>
          <a:noFill/>
          <a:ln/>
        </p:spPr>
        <p:txBody>
          <a:bodyPr wrap="none" lIns="0" tIns="0" rIns="0" bIns="0" rtlCol="0" anchor="ctr"/>
          <a:lstStyle/>
          <a:p>
            <a:pPr algn="r" indent="0" marL="0">
              <a:buNone/>
            </a:pPr>
            <a:r>
              <a:rPr lang="en-US" sz="1200" dirty="0">
                <a:solidFill>
                  <a:srgbClr val="455670"/>
                </a:solidFill>
                <a:latin typeface="Sora" pitchFamily="34" charset="0"/>
                <a:ea typeface="Sora" pitchFamily="34" charset="-122"/>
                <a:cs typeface="Sora" pitchFamily="34" charset="-120"/>
              </a:rPr>
              <a:t>1.99</a:t>
            </a:r>
            <a:endParaRPr lang="en-US" sz="1200" dirty="0"/>
          </a:p>
        </p:txBody>
      </p:sp>
      <p:sp>
        <p:nvSpPr>
          <p:cNvPr id="105" name="Text 97"/>
          <p:cNvSpPr txBox="1"/>
          <p:nvPr/>
        </p:nvSpPr>
        <p:spPr>
          <a:xfrm>
            <a:off x="15525598" y="6834226"/>
            <a:ext cx="1714500" cy="200254"/>
          </a:xfrm>
          <a:prstGeom prst="rect">
            <a:avLst/>
          </a:prstGeom>
          <a:noFill/>
          <a:ln/>
        </p:spPr>
        <p:txBody>
          <a:bodyPr wrap="none" lIns="0" tIns="0" rIns="0" bIns="0" rtlCol="0" anchor="ctr"/>
          <a:lstStyle/>
          <a:p>
            <a:pPr algn="r" indent="0" marL="0">
              <a:buNone/>
            </a:pPr>
            <a:r>
              <a:rPr lang="en-US" sz="1200" b="1" dirty="0">
                <a:solidFill>
                  <a:srgbClr val="6F7D94"/>
                </a:solidFill>
                <a:latin typeface="Sora" pitchFamily="34" charset="0"/>
                <a:ea typeface="Sora" pitchFamily="34" charset="-122"/>
                <a:cs typeface="Sora" pitchFamily="34" charset="-120"/>
              </a:rPr>
              <a:t>+0.16</a:t>
            </a:r>
            <a:endParaRPr lang="en-US" sz="1200" dirty="0"/>
          </a:p>
        </p:txBody>
      </p:sp>
      <p:sp>
        <p:nvSpPr>
          <p:cNvPr id="106" name="Shape 98"/>
          <p:cNvSpPr/>
          <p:nvPr/>
        </p:nvSpPr>
        <p:spPr>
          <a:xfrm>
            <a:off x="9525305" y="4381805"/>
            <a:ext cx="95098" cy="95098"/>
          </a:xfrm>
          <a:prstGeom prst="rect">
            <a:avLst/>
          </a:prstGeom>
          <a:solidFill>
            <a:srgbClr val="1E5F9C"/>
          </a:solidFill>
          <a:ln w="12700">
            <a:solidFill>
              <a:srgbClr val="FFFFFF">
                <a:alpha val="0"/>
              </a:srgbClr>
            </a:solidFill>
            <a:prstDash val="solid"/>
          </a:ln>
        </p:spPr>
      </p:sp>
      <p:sp>
        <p:nvSpPr>
          <p:cNvPr id="107" name="Text 99"/>
          <p:cNvSpPr txBox="1"/>
          <p:nvPr/>
        </p:nvSpPr>
        <p:spPr>
          <a:xfrm>
            <a:off x="9696298" y="4324198"/>
            <a:ext cx="352958"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W01</a:t>
            </a:r>
            <a:endParaRPr lang="en-US" sz="1200" dirty="0"/>
          </a:p>
        </p:txBody>
      </p:sp>
      <p:sp>
        <p:nvSpPr>
          <p:cNvPr id="108" name="Shape 100"/>
          <p:cNvSpPr/>
          <p:nvPr/>
        </p:nvSpPr>
        <p:spPr>
          <a:xfrm>
            <a:off x="9525305" y="4886554"/>
            <a:ext cx="95098" cy="95098"/>
          </a:xfrm>
          <a:prstGeom prst="rect">
            <a:avLst/>
          </a:prstGeom>
          <a:solidFill>
            <a:srgbClr val="4F86C0"/>
          </a:solidFill>
          <a:ln w="12700">
            <a:solidFill>
              <a:srgbClr val="FFFFFF">
                <a:alpha val="0"/>
              </a:srgbClr>
            </a:solidFill>
            <a:prstDash val="solid"/>
          </a:ln>
        </p:spPr>
      </p:sp>
      <p:sp>
        <p:nvSpPr>
          <p:cNvPr id="109" name="Text 101"/>
          <p:cNvSpPr txBox="1"/>
          <p:nvPr/>
        </p:nvSpPr>
        <p:spPr>
          <a:xfrm>
            <a:off x="9696298" y="4828946"/>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W02</a:t>
            </a:r>
            <a:endParaRPr lang="en-US" sz="1200" dirty="0"/>
          </a:p>
        </p:txBody>
      </p:sp>
      <p:sp>
        <p:nvSpPr>
          <p:cNvPr id="110" name="Shape 102"/>
          <p:cNvSpPr/>
          <p:nvPr/>
        </p:nvSpPr>
        <p:spPr>
          <a:xfrm>
            <a:off x="9525305" y="5391302"/>
            <a:ext cx="95098" cy="95098"/>
          </a:xfrm>
          <a:prstGeom prst="rect">
            <a:avLst/>
          </a:prstGeom>
          <a:solidFill>
            <a:srgbClr val="94A3B8"/>
          </a:solidFill>
          <a:ln w="12700">
            <a:solidFill>
              <a:srgbClr val="FFFFFF">
                <a:alpha val="0"/>
              </a:srgbClr>
            </a:solidFill>
            <a:prstDash val="solid"/>
          </a:ln>
        </p:spPr>
      </p:sp>
      <p:sp>
        <p:nvSpPr>
          <p:cNvPr id="111" name="Text 103"/>
          <p:cNvSpPr txBox="1"/>
          <p:nvPr/>
        </p:nvSpPr>
        <p:spPr>
          <a:xfrm>
            <a:off x="9696298" y="5333695"/>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W03</a:t>
            </a:r>
            <a:endParaRPr lang="en-US" sz="1200" dirty="0"/>
          </a:p>
        </p:txBody>
      </p:sp>
      <p:sp>
        <p:nvSpPr>
          <p:cNvPr id="112" name="Shape 104"/>
          <p:cNvSpPr/>
          <p:nvPr/>
        </p:nvSpPr>
        <p:spPr>
          <a:xfrm>
            <a:off x="9525305" y="5896051"/>
            <a:ext cx="95098" cy="95098"/>
          </a:xfrm>
          <a:prstGeom prst="rect">
            <a:avLst/>
          </a:prstGeom>
          <a:solidFill>
            <a:srgbClr val="1E5F9C"/>
          </a:solidFill>
          <a:ln w="12700">
            <a:solidFill>
              <a:srgbClr val="FFFFFF">
                <a:alpha val="0"/>
              </a:srgbClr>
            </a:solidFill>
            <a:prstDash val="solid"/>
          </a:ln>
        </p:spPr>
      </p:sp>
      <p:sp>
        <p:nvSpPr>
          <p:cNvPr id="113" name="Text 105"/>
          <p:cNvSpPr txBox="1"/>
          <p:nvPr/>
        </p:nvSpPr>
        <p:spPr>
          <a:xfrm>
            <a:off x="9696298" y="5838444"/>
            <a:ext cx="391363"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W04</a:t>
            </a:r>
            <a:endParaRPr lang="en-US" sz="1200" dirty="0"/>
          </a:p>
        </p:txBody>
      </p:sp>
      <p:sp>
        <p:nvSpPr>
          <p:cNvPr id="114" name="Shape 106"/>
          <p:cNvSpPr/>
          <p:nvPr/>
        </p:nvSpPr>
        <p:spPr>
          <a:xfrm>
            <a:off x="9525305" y="6400800"/>
            <a:ext cx="95098" cy="95098"/>
          </a:xfrm>
          <a:prstGeom prst="rect">
            <a:avLst/>
          </a:prstGeom>
          <a:solidFill>
            <a:srgbClr val="4F86C0"/>
          </a:solidFill>
          <a:ln w="12700">
            <a:solidFill>
              <a:srgbClr val="FFFFFF">
                <a:alpha val="0"/>
              </a:srgbClr>
            </a:solidFill>
            <a:prstDash val="solid"/>
          </a:ln>
        </p:spPr>
      </p:sp>
      <p:sp>
        <p:nvSpPr>
          <p:cNvPr id="115" name="Text 107"/>
          <p:cNvSpPr txBox="1"/>
          <p:nvPr/>
        </p:nvSpPr>
        <p:spPr>
          <a:xfrm>
            <a:off x="9696298" y="6344107"/>
            <a:ext cx="381305"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W05</a:t>
            </a:r>
            <a:endParaRPr lang="en-US" sz="1200" dirty="0"/>
          </a:p>
        </p:txBody>
      </p:sp>
      <p:sp>
        <p:nvSpPr>
          <p:cNvPr id="116" name="Shape 108"/>
          <p:cNvSpPr/>
          <p:nvPr/>
        </p:nvSpPr>
        <p:spPr>
          <a:xfrm>
            <a:off x="9525305" y="6905549"/>
            <a:ext cx="95098" cy="95098"/>
          </a:xfrm>
          <a:prstGeom prst="rect">
            <a:avLst/>
          </a:prstGeom>
          <a:solidFill>
            <a:srgbClr val="94A3B8"/>
          </a:solidFill>
          <a:ln w="12700">
            <a:solidFill>
              <a:srgbClr val="FFFFFF">
                <a:alpha val="0"/>
              </a:srgbClr>
            </a:solidFill>
            <a:prstDash val="solid"/>
          </a:ln>
        </p:spPr>
      </p:sp>
      <p:sp>
        <p:nvSpPr>
          <p:cNvPr id="117" name="Text 109"/>
          <p:cNvSpPr txBox="1"/>
          <p:nvPr/>
        </p:nvSpPr>
        <p:spPr>
          <a:xfrm>
            <a:off x="9696298" y="6848856"/>
            <a:ext cx="391363" cy="200254"/>
          </a:xfrm>
          <a:prstGeom prst="rect">
            <a:avLst/>
          </a:prstGeom>
          <a:noFill/>
          <a:ln/>
        </p:spPr>
        <p:txBody>
          <a:bodyPr wrap="none" lIns="0" tIns="0" rIns="0" bIns="0" rtlCol="0" anchor="ctr"/>
          <a:lstStyle/>
          <a:p>
            <a:pPr algn="l" indent="0" marL="0">
              <a:buNone/>
            </a:pPr>
            <a:r>
              <a:rPr lang="en-US" sz="1200" b="1" dirty="0">
                <a:solidFill>
                  <a:srgbClr val="14213D"/>
                </a:solidFill>
                <a:latin typeface="Sora" pitchFamily="34" charset="0"/>
                <a:ea typeface="Sora" pitchFamily="34" charset="-122"/>
                <a:cs typeface="Sora" pitchFamily="34" charset="-120"/>
              </a:rPr>
              <a:t>W06</a:t>
            </a:r>
            <a:endParaRPr lang="en-US" sz="1200" dirty="0"/>
          </a:p>
        </p:txBody>
      </p:sp>
      <p:sp>
        <p:nvSpPr>
          <p:cNvPr id="118" name="Text 110"/>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119" name="Image 5" descr="gen-dedup-a95c956e3bd879e41d2e7daca8566398.png">    </p:cNvPr>
          <p:cNvPicPr>
            <a:picLocks noChangeAspect="1"/>
          </p:cNvPicPr>
          <p:nvPr/>
        </p:nvPicPr>
        <p:blipFill>
          <a:blip r:embed="rId6"/>
          <a:srcRect l="-2083" r="-2083" t="0" b="0"/>
          <a:stretch/>
        </p:blipFill>
        <p:spPr>
          <a:xfrm>
            <a:off x="2656332" y="9096451"/>
            <a:ext cx="571500" cy="9144"/>
          </a:xfrm>
          <a:prstGeom prst="rect">
            <a:avLst/>
          </a:prstGeom>
        </p:spPr>
      </p:pic>
      <p:sp>
        <p:nvSpPr>
          <p:cNvPr id="120" name="Text 111"/>
          <p:cNvSpPr txBox="1"/>
          <p:nvPr/>
        </p:nvSpPr>
        <p:spPr>
          <a:xfrm>
            <a:off x="3456432" y="8934602"/>
            <a:ext cx="13249656"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AMI→ACI에서 Co group의 Δ drift는 +0.01 ~ +0.04 nm 수준 — CMP 손실이 거의 일정해 Co 결함이 아닌 split 독립 변동이 우세.</a:t>
            </a:r>
            <a:endParaRPr lang="en-US" sz="1800" dirty="0"/>
          </a:p>
        </p:txBody>
      </p:sp>
      <p:sp>
        <p:nvSpPr>
          <p:cNvPr id="121" name="Text 112"/>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122" name="Text 113"/>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2857500"/>
            <a:ext cx="10858500" cy="5333695"/>
          </a:xfrm>
          <a:prstGeom prst="rect">
            <a:avLst/>
          </a:prstGeom>
          <a:solidFill>
            <a:srgbClr val="FFFFFF"/>
          </a:solidFill>
          <a:ln w="12700">
            <a:solidFill>
              <a:srgbClr val="C8D3E2"/>
            </a:solidFill>
            <a:prstDash val="solid"/>
          </a:ln>
        </p:spPr>
      </p:sp>
      <p:sp>
        <p:nvSpPr>
          <p:cNvPr id="5" name="Shape 1"/>
          <p:cNvSpPr/>
          <p:nvPr/>
        </p:nvSpPr>
        <p:spPr>
          <a:xfrm>
            <a:off x="12001500" y="2857500"/>
            <a:ext cx="5429707" cy="5333695"/>
          </a:xfrm>
          <a:prstGeom prst="rect">
            <a:avLst/>
          </a:prstGeom>
          <a:solidFill>
            <a:srgbClr val="FFFFFF"/>
          </a:solidFill>
          <a:ln w="12700">
            <a:solidFill>
              <a:srgbClr val="C8D3E2"/>
            </a:solidFill>
            <a:prstDash val="solid"/>
          </a:ln>
        </p:spPr>
      </p:sp>
      <p:sp>
        <p:nvSpPr>
          <p:cNvPr id="6" name="Shape 2"/>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7" name="Image 1" descr="gen-dedup-3c3f0190f3348a605df0239cea9995bf.png">    </p:cNvPr>
          <p:cNvPicPr>
            <a:picLocks noChangeAspect="1"/>
          </p:cNvPicPr>
          <p:nvPr/>
        </p:nvPicPr>
        <p:blipFill>
          <a:blip r:embed="rId2"/>
          <a:srcRect l="-2083" r="-2083" t="0" b="0"/>
          <a:stretch/>
        </p:blipFill>
        <p:spPr>
          <a:xfrm>
            <a:off x="0" y="9562795"/>
            <a:ext cx="18288000" cy="9144"/>
          </a:xfrm>
          <a:prstGeom prst="rect">
            <a:avLst/>
          </a:prstGeom>
        </p:spPr>
      </p:pic>
      <p:pic>
        <p:nvPicPr>
          <p:cNvPr id="8" name="Image 2" descr="gen-dedup-12d7cb0a28bbcaca3e8d32c19dc56a81.png">    </p:cNvPr>
          <p:cNvPicPr>
            <a:picLocks noChangeAspect="1"/>
          </p:cNvPicPr>
          <p:nvPr/>
        </p:nvPicPr>
        <p:blipFill>
          <a:blip r:embed="rId3"/>
          <a:srcRect l="0" r="0" t="-424" b="-424"/>
          <a:stretch/>
        </p:blipFill>
        <p:spPr>
          <a:xfrm>
            <a:off x="857707" y="647395"/>
            <a:ext cx="323698" cy="19202"/>
          </a:xfrm>
          <a:prstGeom prst="rect">
            <a:avLst/>
          </a:prstGeom>
        </p:spPr>
      </p:pic>
      <p:sp>
        <p:nvSpPr>
          <p:cNvPr id="9" name="Text 3"/>
          <p:cNvSpPr txBox="1"/>
          <p:nvPr/>
        </p:nvSpPr>
        <p:spPr>
          <a:xfrm>
            <a:off x="1314907" y="571500"/>
            <a:ext cx="2747772" cy="171907"/>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07 · In-wafer CDU</a:t>
            </a:r>
            <a:endParaRPr lang="en-US" sz="1050" dirty="0"/>
          </a:p>
        </p:txBody>
      </p:sp>
      <p:sp>
        <p:nvSpPr>
          <p:cNvPr id="10" name="Shape 4"/>
          <p:cNvSpPr/>
          <p:nvPr/>
        </p:nvSpPr>
        <p:spPr>
          <a:xfrm>
            <a:off x="16803014" y="566928"/>
            <a:ext cx="57607" cy="57607"/>
          </a:xfrm>
          <a:prstGeom prst="ellipse">
            <a:avLst/>
          </a:prstGeom>
          <a:solidFill>
            <a:srgbClr val="1E5F9C"/>
          </a:solidFill>
          <a:ln w="12700">
            <a:solidFill>
              <a:srgbClr val="FFFFFF">
                <a:alpha val="0"/>
              </a:srgbClr>
            </a:solidFill>
            <a:prstDash val="solid"/>
          </a:ln>
        </p:spPr>
      </p:sp>
      <p:sp>
        <p:nvSpPr>
          <p:cNvPr id="11" name="Text 5"/>
          <p:cNvSpPr txBox="1"/>
          <p:nvPr/>
        </p:nvSpPr>
        <p:spPr>
          <a:xfrm>
            <a:off x="16737178" y="514807"/>
            <a:ext cx="790042"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07 / 12</a:t>
            </a:r>
            <a:endParaRPr lang="en-US" sz="975" dirty="0"/>
          </a:p>
        </p:txBody>
      </p:sp>
      <p:sp>
        <p:nvSpPr>
          <p:cNvPr id="12" name="Text 6"/>
          <p:cNvSpPr txBox="1"/>
          <p:nvPr/>
        </p:nvSpPr>
        <p:spPr>
          <a:xfrm>
            <a:off x="838505" y="1143000"/>
            <a:ext cx="1619311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In-wafer uniformity · split × CD</a:t>
            </a:r>
            <a:endParaRPr lang="en-US" sz="4500" dirty="0"/>
          </a:p>
        </p:txBody>
      </p:sp>
      <p:sp>
        <p:nvSpPr>
          <p:cNvPr id="13" name="Text 7"/>
          <p:cNvSpPr txBox="1"/>
          <p:nvPr/>
        </p:nvSpPr>
        <p:spPr>
          <a:xfrm>
            <a:off x="838505" y="1876349"/>
            <a:ext cx="1619311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split별 3σ 평균 · max · min · 평균 range — 4개 CD 항목 전체에 대한 평균적 in-wafer 균일도 요약.</a:t>
            </a:r>
            <a:endParaRPr lang="en-US" sz="1650" dirty="0"/>
          </a:p>
        </p:txBody>
      </p:sp>
      <p:sp>
        <p:nvSpPr>
          <p:cNvPr id="14" name="Text 8"/>
          <p:cNvSpPr txBox="1"/>
          <p:nvPr/>
        </p:nvSpPr>
        <p:spPr>
          <a:xfrm>
            <a:off x="1143000" y="3124505"/>
            <a:ext cx="10478110"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CDU SUMMARY</a:t>
            </a:r>
            <a:endParaRPr lang="en-US" sz="900" dirty="0"/>
          </a:p>
        </p:txBody>
      </p:sp>
      <p:sp>
        <p:nvSpPr>
          <p:cNvPr id="15" name="Text 9"/>
          <p:cNvSpPr txBox="1"/>
          <p:nvPr/>
        </p:nvSpPr>
        <p:spPr>
          <a:xfrm>
            <a:off x="1143000" y="3323844"/>
            <a:ext cx="1047811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평균 3σ / max / min / range</a:t>
            </a:r>
            <a:endParaRPr lang="en-US" sz="1800" dirty="0"/>
          </a:p>
        </p:txBody>
      </p:sp>
      <p:sp>
        <p:nvSpPr>
          <p:cNvPr id="16" name="Shape 10"/>
          <p:cNvSpPr/>
          <p:nvPr/>
        </p:nvSpPr>
        <p:spPr>
          <a:xfrm>
            <a:off x="1143000" y="4162349"/>
            <a:ext cx="10287000" cy="19202"/>
          </a:xfrm>
          <a:prstGeom prst="rect">
            <a:avLst/>
          </a:prstGeom>
          <a:solidFill>
            <a:srgbClr val="14213D"/>
          </a:solidFill>
          <a:ln w="12700">
            <a:solidFill>
              <a:srgbClr val="14213D">
                <a:alpha val="0"/>
              </a:srgbClr>
            </a:solidFill>
            <a:prstDash val="solid"/>
          </a:ln>
        </p:spPr>
      </p:sp>
      <p:sp>
        <p:nvSpPr>
          <p:cNvPr id="17" name="Text 11"/>
          <p:cNvSpPr txBox="1"/>
          <p:nvPr/>
        </p:nvSpPr>
        <p:spPr>
          <a:xfrm>
            <a:off x="1143000" y="3847795"/>
            <a:ext cx="2667305" cy="162763"/>
          </a:xfrm>
          <a:prstGeom prst="rect">
            <a:avLst/>
          </a:prstGeom>
          <a:noFill/>
          <a:ln/>
        </p:spPr>
        <p:txBody>
          <a:bodyPr wrap="none" lIns="0" tIns="0" rIns="0" bIns="0" rtlCol="0" anchor="ctr"/>
          <a:lstStyle/>
          <a:p>
            <a:pPr algn="l" indent="0" marL="0">
              <a:buNone/>
            </a:pPr>
            <a:r>
              <a:rPr lang="en-US" sz="900" b="1" spc="162" kern="0" dirty="0">
                <a:solidFill>
                  <a:srgbClr val="94A3B8"/>
                </a:solidFill>
                <a:latin typeface="Sora" pitchFamily="34" charset="0"/>
                <a:ea typeface="Sora" pitchFamily="34" charset="-122"/>
                <a:cs typeface="Sora" pitchFamily="34" charset="-120"/>
              </a:rPr>
              <a:t>SPLIT</a:t>
            </a:r>
            <a:endParaRPr lang="en-US" sz="900" dirty="0"/>
          </a:p>
        </p:txBody>
      </p:sp>
      <p:sp>
        <p:nvSpPr>
          <p:cNvPr id="18" name="Text 12"/>
          <p:cNvSpPr txBox="1"/>
          <p:nvPr/>
        </p:nvSpPr>
        <p:spPr>
          <a:xfrm>
            <a:off x="3810305" y="3847795"/>
            <a:ext cx="1905610"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avg 3σ</a:t>
            </a:r>
            <a:endParaRPr lang="en-US" sz="900" dirty="0"/>
          </a:p>
        </p:txBody>
      </p:sp>
      <p:sp>
        <p:nvSpPr>
          <p:cNvPr id="19" name="Text 13"/>
          <p:cNvSpPr txBox="1"/>
          <p:nvPr/>
        </p:nvSpPr>
        <p:spPr>
          <a:xfrm>
            <a:off x="5715000" y="3847795"/>
            <a:ext cx="1905610"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max 3σ</a:t>
            </a:r>
            <a:endParaRPr lang="en-US" sz="900" dirty="0"/>
          </a:p>
        </p:txBody>
      </p:sp>
      <p:sp>
        <p:nvSpPr>
          <p:cNvPr id="20" name="Text 14"/>
          <p:cNvSpPr txBox="1"/>
          <p:nvPr/>
        </p:nvSpPr>
        <p:spPr>
          <a:xfrm>
            <a:off x="7619695" y="3847795"/>
            <a:ext cx="1905610"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min 3σ</a:t>
            </a:r>
            <a:endParaRPr lang="en-US" sz="900" dirty="0"/>
          </a:p>
        </p:txBody>
      </p:sp>
      <p:sp>
        <p:nvSpPr>
          <p:cNvPr id="21" name="Text 15"/>
          <p:cNvSpPr txBox="1"/>
          <p:nvPr/>
        </p:nvSpPr>
        <p:spPr>
          <a:xfrm>
            <a:off x="9525305" y="3847795"/>
            <a:ext cx="1905610"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avg range (nm)</a:t>
            </a:r>
            <a:endParaRPr lang="en-US" sz="900" dirty="0"/>
          </a:p>
        </p:txBody>
      </p:sp>
      <p:sp>
        <p:nvSpPr>
          <p:cNvPr id="22" name="Shape 16"/>
          <p:cNvSpPr/>
          <p:nvPr/>
        </p:nvSpPr>
        <p:spPr>
          <a:xfrm>
            <a:off x="1143000" y="5125212"/>
            <a:ext cx="10287000" cy="9144"/>
          </a:xfrm>
          <a:prstGeom prst="rect">
            <a:avLst/>
          </a:prstGeom>
          <a:solidFill>
            <a:srgbClr val="DCE3EE"/>
          </a:solidFill>
          <a:ln w="12700">
            <a:solidFill>
              <a:srgbClr val="DCE3EE">
                <a:alpha val="0"/>
              </a:srgbClr>
            </a:solidFill>
            <a:prstDash val="solid"/>
          </a:ln>
        </p:spPr>
      </p:sp>
      <p:sp>
        <p:nvSpPr>
          <p:cNvPr id="23" name="Shape 17"/>
          <p:cNvSpPr/>
          <p:nvPr/>
        </p:nvSpPr>
        <p:spPr>
          <a:xfrm>
            <a:off x="1143000" y="4476902"/>
            <a:ext cx="133502" cy="133502"/>
          </a:xfrm>
          <a:prstGeom prst="rect">
            <a:avLst/>
          </a:prstGeom>
          <a:solidFill>
            <a:srgbClr val="1E5F9C"/>
          </a:solidFill>
          <a:ln w="12700">
            <a:solidFill>
              <a:srgbClr val="FFFFFF">
                <a:alpha val="0"/>
              </a:srgbClr>
            </a:solidFill>
            <a:prstDash val="solid"/>
          </a:ln>
        </p:spPr>
      </p:sp>
      <p:sp>
        <p:nvSpPr>
          <p:cNvPr id="24" name="Text 18"/>
          <p:cNvSpPr txBox="1"/>
          <p:nvPr/>
        </p:nvSpPr>
        <p:spPr>
          <a:xfrm>
            <a:off x="1410005" y="4390949"/>
            <a:ext cx="944575" cy="305410"/>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Group A</a:t>
            </a:r>
            <a:endParaRPr lang="en-US" sz="1650" dirty="0"/>
          </a:p>
        </p:txBody>
      </p:sp>
      <p:sp>
        <p:nvSpPr>
          <p:cNvPr id="25" name="Text 19"/>
          <p:cNvSpPr txBox="1"/>
          <p:nvPr/>
        </p:nvSpPr>
        <p:spPr>
          <a:xfrm>
            <a:off x="2395728" y="4419295"/>
            <a:ext cx="1236269" cy="247802"/>
          </a:xfrm>
          <a:prstGeom prst="rect">
            <a:avLst/>
          </a:prstGeom>
          <a:noFill/>
          <a:ln/>
        </p:spPr>
        <p:txBody>
          <a:bodyPr wrap="non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Ru liner 1nm</a:t>
            </a:r>
            <a:endParaRPr lang="en-US" sz="1350" dirty="0"/>
          </a:p>
        </p:txBody>
      </p:sp>
      <p:sp>
        <p:nvSpPr>
          <p:cNvPr id="26" name="Text 20"/>
          <p:cNvSpPr txBox="1"/>
          <p:nvPr/>
        </p:nvSpPr>
        <p:spPr>
          <a:xfrm>
            <a:off x="1143000" y="4753051"/>
            <a:ext cx="2667305" cy="162763"/>
          </a:xfrm>
          <a:prstGeom prst="rect">
            <a:avLst/>
          </a:prstGeom>
          <a:noFill/>
          <a:ln/>
        </p:spPr>
        <p:txBody>
          <a:bodyPr wrap="none" lIns="0" tIns="0" rIns="0" bIns="0" rtlCol="0" anchor="ctr"/>
          <a:lstStyle/>
          <a:p>
            <a:pPr algn="l" indent="0" marL="0">
              <a:buNone/>
            </a:pPr>
            <a:r>
              <a:rPr lang="en-US" sz="975" spc="176" kern="0" dirty="0">
                <a:solidFill>
                  <a:srgbClr val="94A3B8"/>
                </a:solidFill>
                <a:latin typeface="Sora" pitchFamily="34" charset="0"/>
                <a:ea typeface="Sora" pitchFamily="34" charset="-122"/>
                <a:cs typeface="Sora" pitchFamily="34" charset="-120"/>
              </a:rPr>
              <a:t>W01 · W04</a:t>
            </a:r>
            <a:endParaRPr lang="en-US" sz="975" dirty="0"/>
          </a:p>
        </p:txBody>
      </p:sp>
      <p:sp>
        <p:nvSpPr>
          <p:cNvPr id="27" name="Text 21"/>
          <p:cNvSpPr txBox="1"/>
          <p:nvPr/>
        </p:nvSpPr>
        <p:spPr>
          <a:xfrm>
            <a:off x="3810305" y="4509821"/>
            <a:ext cx="1905610" cy="286207"/>
          </a:xfrm>
          <a:prstGeom prst="rect">
            <a:avLst/>
          </a:prstGeom>
          <a:noFill/>
          <a:ln/>
        </p:spPr>
        <p:txBody>
          <a:bodyPr wrap="none" lIns="0" tIns="0" rIns="0" bIns="0" rtlCol="0" anchor="ctr"/>
          <a:lstStyle/>
          <a:p>
            <a:pPr algn="r" indent="0" marL="0">
              <a:buNone/>
            </a:pPr>
            <a:r>
              <a:rPr lang="en-US" sz="1800" b="1" dirty="0">
                <a:solidFill>
                  <a:srgbClr val="1E5F9C"/>
                </a:solidFill>
                <a:latin typeface="Sora" pitchFamily="34" charset="0"/>
                <a:ea typeface="Sora" pitchFamily="34" charset="-122"/>
                <a:cs typeface="Sora" pitchFamily="34" charset="-120"/>
              </a:rPr>
              <a:t>0.745</a:t>
            </a:r>
            <a:endParaRPr lang="en-US" sz="1800" dirty="0"/>
          </a:p>
        </p:txBody>
      </p:sp>
      <p:sp>
        <p:nvSpPr>
          <p:cNvPr id="28" name="Text 22"/>
          <p:cNvSpPr txBox="1"/>
          <p:nvPr/>
        </p:nvSpPr>
        <p:spPr>
          <a:xfrm>
            <a:off x="5715000" y="4533595"/>
            <a:ext cx="1905610" cy="238658"/>
          </a:xfrm>
          <a:prstGeom prst="rect">
            <a:avLst/>
          </a:prstGeom>
          <a:noFill/>
          <a:ln/>
        </p:spPr>
        <p:txBody>
          <a:bodyPr wrap="none" lIns="0" tIns="0" rIns="0" bIns="0" rtlCol="0" anchor="ctr"/>
          <a:lstStyle/>
          <a:p>
            <a:pPr algn="r" indent="0" marL="0">
              <a:buNone/>
            </a:pPr>
            <a:r>
              <a:rPr lang="en-US" sz="1500" dirty="0">
                <a:solidFill>
                  <a:srgbClr val="455670"/>
                </a:solidFill>
                <a:latin typeface="Sora" pitchFamily="34" charset="0"/>
                <a:ea typeface="Sora" pitchFamily="34" charset="-122"/>
                <a:cs typeface="Sora" pitchFamily="34" charset="-120"/>
              </a:rPr>
              <a:t>0.78</a:t>
            </a:r>
            <a:endParaRPr lang="en-US" sz="1500" dirty="0"/>
          </a:p>
        </p:txBody>
      </p:sp>
      <p:sp>
        <p:nvSpPr>
          <p:cNvPr id="29" name="Text 23"/>
          <p:cNvSpPr txBox="1"/>
          <p:nvPr/>
        </p:nvSpPr>
        <p:spPr>
          <a:xfrm>
            <a:off x="7619695" y="4533595"/>
            <a:ext cx="1905610" cy="238658"/>
          </a:xfrm>
          <a:prstGeom prst="rect">
            <a:avLst/>
          </a:prstGeom>
          <a:noFill/>
          <a:ln/>
        </p:spPr>
        <p:txBody>
          <a:bodyPr wrap="none" lIns="0" tIns="0" rIns="0" bIns="0" rtlCol="0" anchor="ctr"/>
          <a:lstStyle/>
          <a:p>
            <a:pPr algn="r" indent="0" marL="0">
              <a:buNone/>
            </a:pPr>
            <a:r>
              <a:rPr lang="en-US" sz="1500" dirty="0">
                <a:solidFill>
                  <a:srgbClr val="455670"/>
                </a:solidFill>
                <a:latin typeface="Sora" pitchFamily="34" charset="0"/>
                <a:ea typeface="Sora" pitchFamily="34" charset="-122"/>
                <a:cs typeface="Sora" pitchFamily="34" charset="-120"/>
              </a:rPr>
              <a:t>0.71</a:t>
            </a:r>
            <a:endParaRPr lang="en-US" sz="1500" dirty="0"/>
          </a:p>
        </p:txBody>
      </p:sp>
      <p:sp>
        <p:nvSpPr>
          <p:cNvPr id="30" name="Text 24"/>
          <p:cNvSpPr txBox="1"/>
          <p:nvPr/>
        </p:nvSpPr>
        <p:spPr>
          <a:xfrm>
            <a:off x="9525305" y="4509821"/>
            <a:ext cx="1905610" cy="286207"/>
          </a:xfrm>
          <a:prstGeom prst="rect">
            <a:avLst/>
          </a:prstGeom>
          <a:noFill/>
          <a:ln/>
        </p:spPr>
        <p:txBody>
          <a:bodyPr wrap="none" lIns="0" tIns="0" rIns="0" bIns="0" rtlCol="0" anchor="ctr"/>
          <a:lstStyle/>
          <a:p>
            <a:pPr algn="r" indent="0" marL="0">
              <a:buNone/>
            </a:pPr>
            <a:r>
              <a:rPr lang="en-US" sz="1800" b="1" dirty="0">
                <a:solidFill>
                  <a:srgbClr val="14213D"/>
                </a:solidFill>
                <a:latin typeface="Sora" pitchFamily="34" charset="0"/>
                <a:ea typeface="Sora" pitchFamily="34" charset="-122"/>
                <a:cs typeface="Sora" pitchFamily="34" charset="-120"/>
              </a:rPr>
              <a:t>3.23</a:t>
            </a:r>
            <a:endParaRPr lang="en-US" sz="1800" dirty="0"/>
          </a:p>
        </p:txBody>
      </p:sp>
      <p:sp>
        <p:nvSpPr>
          <p:cNvPr id="31" name="Shape 25"/>
          <p:cNvSpPr/>
          <p:nvPr/>
        </p:nvSpPr>
        <p:spPr>
          <a:xfrm>
            <a:off x="1143000" y="6078017"/>
            <a:ext cx="10287000" cy="9144"/>
          </a:xfrm>
          <a:prstGeom prst="rect">
            <a:avLst/>
          </a:prstGeom>
          <a:solidFill>
            <a:srgbClr val="DCE3EE"/>
          </a:solidFill>
          <a:ln w="12700">
            <a:solidFill>
              <a:srgbClr val="DCE3EE">
                <a:alpha val="0"/>
              </a:srgbClr>
            </a:solidFill>
            <a:prstDash val="solid"/>
          </a:ln>
        </p:spPr>
      </p:sp>
      <p:sp>
        <p:nvSpPr>
          <p:cNvPr id="32" name="Shape 26"/>
          <p:cNvSpPr/>
          <p:nvPr/>
        </p:nvSpPr>
        <p:spPr>
          <a:xfrm>
            <a:off x="1143000" y="5429707"/>
            <a:ext cx="133502" cy="133502"/>
          </a:xfrm>
          <a:prstGeom prst="rect">
            <a:avLst/>
          </a:prstGeom>
          <a:solidFill>
            <a:srgbClr val="4F86C0"/>
          </a:solidFill>
          <a:ln w="12700">
            <a:solidFill>
              <a:srgbClr val="FFFFFF">
                <a:alpha val="0"/>
              </a:srgbClr>
            </a:solidFill>
            <a:prstDash val="solid"/>
          </a:ln>
        </p:spPr>
      </p:sp>
      <p:sp>
        <p:nvSpPr>
          <p:cNvPr id="33" name="Text 27"/>
          <p:cNvSpPr txBox="1"/>
          <p:nvPr/>
        </p:nvSpPr>
        <p:spPr>
          <a:xfrm>
            <a:off x="1410005" y="5343754"/>
            <a:ext cx="944575" cy="305410"/>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Group B</a:t>
            </a:r>
            <a:endParaRPr lang="en-US" sz="1650" dirty="0"/>
          </a:p>
        </p:txBody>
      </p:sp>
      <p:sp>
        <p:nvSpPr>
          <p:cNvPr id="34" name="Text 28"/>
          <p:cNvSpPr txBox="1"/>
          <p:nvPr/>
        </p:nvSpPr>
        <p:spPr>
          <a:xfrm>
            <a:off x="2403043" y="5372100"/>
            <a:ext cx="1236269" cy="247802"/>
          </a:xfrm>
          <a:prstGeom prst="rect">
            <a:avLst/>
          </a:prstGeom>
          <a:noFill/>
          <a:ln/>
        </p:spPr>
        <p:txBody>
          <a:bodyPr wrap="non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Ru liner 2nm</a:t>
            </a:r>
            <a:endParaRPr lang="en-US" sz="1350" dirty="0"/>
          </a:p>
        </p:txBody>
      </p:sp>
      <p:sp>
        <p:nvSpPr>
          <p:cNvPr id="35" name="Text 29"/>
          <p:cNvSpPr txBox="1"/>
          <p:nvPr/>
        </p:nvSpPr>
        <p:spPr>
          <a:xfrm>
            <a:off x="1143000" y="5705856"/>
            <a:ext cx="2667305" cy="162763"/>
          </a:xfrm>
          <a:prstGeom prst="rect">
            <a:avLst/>
          </a:prstGeom>
          <a:noFill/>
          <a:ln/>
        </p:spPr>
        <p:txBody>
          <a:bodyPr wrap="none" lIns="0" tIns="0" rIns="0" bIns="0" rtlCol="0" anchor="ctr"/>
          <a:lstStyle/>
          <a:p>
            <a:pPr algn="l" indent="0" marL="0">
              <a:buNone/>
            </a:pPr>
            <a:r>
              <a:rPr lang="en-US" sz="975" spc="176" kern="0" dirty="0">
                <a:solidFill>
                  <a:srgbClr val="94A3B8"/>
                </a:solidFill>
                <a:latin typeface="Sora" pitchFamily="34" charset="0"/>
                <a:ea typeface="Sora" pitchFamily="34" charset="-122"/>
                <a:cs typeface="Sora" pitchFamily="34" charset="-120"/>
              </a:rPr>
              <a:t>W02 · W05</a:t>
            </a:r>
            <a:endParaRPr lang="en-US" sz="975" dirty="0"/>
          </a:p>
        </p:txBody>
      </p:sp>
      <p:sp>
        <p:nvSpPr>
          <p:cNvPr id="36" name="Text 30"/>
          <p:cNvSpPr txBox="1"/>
          <p:nvPr/>
        </p:nvSpPr>
        <p:spPr>
          <a:xfrm>
            <a:off x="3810305" y="5462626"/>
            <a:ext cx="1905610" cy="286207"/>
          </a:xfrm>
          <a:prstGeom prst="rect">
            <a:avLst/>
          </a:prstGeom>
          <a:noFill/>
          <a:ln/>
        </p:spPr>
        <p:txBody>
          <a:bodyPr wrap="none" lIns="0" tIns="0" rIns="0" bIns="0" rtlCol="0" anchor="ctr"/>
          <a:lstStyle/>
          <a:p>
            <a:pPr algn="r" indent="0" marL="0">
              <a:buNone/>
            </a:pPr>
            <a:r>
              <a:rPr lang="en-US" sz="1800" b="1" dirty="0">
                <a:solidFill>
                  <a:srgbClr val="4F86C0"/>
                </a:solidFill>
                <a:latin typeface="Sora" pitchFamily="34" charset="0"/>
                <a:ea typeface="Sora" pitchFamily="34" charset="-122"/>
                <a:cs typeface="Sora" pitchFamily="34" charset="-120"/>
              </a:rPr>
              <a:t>0.715</a:t>
            </a:r>
            <a:endParaRPr lang="en-US" sz="1800" dirty="0"/>
          </a:p>
        </p:txBody>
      </p:sp>
      <p:sp>
        <p:nvSpPr>
          <p:cNvPr id="37" name="Text 31"/>
          <p:cNvSpPr txBox="1"/>
          <p:nvPr/>
        </p:nvSpPr>
        <p:spPr>
          <a:xfrm>
            <a:off x="5715000" y="5486400"/>
            <a:ext cx="1905610" cy="238658"/>
          </a:xfrm>
          <a:prstGeom prst="rect">
            <a:avLst/>
          </a:prstGeom>
          <a:noFill/>
          <a:ln/>
        </p:spPr>
        <p:txBody>
          <a:bodyPr wrap="none" lIns="0" tIns="0" rIns="0" bIns="0" rtlCol="0" anchor="ctr"/>
          <a:lstStyle/>
          <a:p>
            <a:pPr algn="r" indent="0" marL="0">
              <a:buNone/>
            </a:pPr>
            <a:r>
              <a:rPr lang="en-US" sz="1500" dirty="0">
                <a:solidFill>
                  <a:srgbClr val="455670"/>
                </a:solidFill>
                <a:latin typeface="Sora" pitchFamily="34" charset="0"/>
                <a:ea typeface="Sora" pitchFamily="34" charset="-122"/>
                <a:cs typeface="Sora" pitchFamily="34" charset="-120"/>
              </a:rPr>
              <a:t>0.74</a:t>
            </a:r>
            <a:endParaRPr lang="en-US" sz="1500" dirty="0"/>
          </a:p>
        </p:txBody>
      </p:sp>
      <p:sp>
        <p:nvSpPr>
          <p:cNvPr id="38" name="Text 32"/>
          <p:cNvSpPr txBox="1"/>
          <p:nvPr/>
        </p:nvSpPr>
        <p:spPr>
          <a:xfrm>
            <a:off x="7619695" y="5486400"/>
            <a:ext cx="1905610" cy="238658"/>
          </a:xfrm>
          <a:prstGeom prst="rect">
            <a:avLst/>
          </a:prstGeom>
          <a:noFill/>
          <a:ln/>
        </p:spPr>
        <p:txBody>
          <a:bodyPr wrap="none" lIns="0" tIns="0" rIns="0" bIns="0" rtlCol="0" anchor="ctr"/>
          <a:lstStyle/>
          <a:p>
            <a:pPr algn="r" indent="0" marL="0">
              <a:buNone/>
            </a:pPr>
            <a:r>
              <a:rPr lang="en-US" sz="1500" dirty="0">
                <a:solidFill>
                  <a:srgbClr val="455670"/>
                </a:solidFill>
                <a:latin typeface="Sora" pitchFamily="34" charset="0"/>
                <a:ea typeface="Sora" pitchFamily="34" charset="-122"/>
                <a:cs typeface="Sora" pitchFamily="34" charset="-120"/>
              </a:rPr>
              <a:t>0.69</a:t>
            </a:r>
            <a:endParaRPr lang="en-US" sz="1500" dirty="0"/>
          </a:p>
        </p:txBody>
      </p:sp>
      <p:sp>
        <p:nvSpPr>
          <p:cNvPr id="39" name="Text 33"/>
          <p:cNvSpPr txBox="1"/>
          <p:nvPr/>
        </p:nvSpPr>
        <p:spPr>
          <a:xfrm>
            <a:off x="9525305" y="5462626"/>
            <a:ext cx="1905610" cy="286207"/>
          </a:xfrm>
          <a:prstGeom prst="rect">
            <a:avLst/>
          </a:prstGeom>
          <a:noFill/>
          <a:ln/>
        </p:spPr>
        <p:txBody>
          <a:bodyPr wrap="none" lIns="0" tIns="0" rIns="0" bIns="0" rtlCol="0" anchor="ctr"/>
          <a:lstStyle/>
          <a:p>
            <a:pPr algn="r" indent="0" marL="0">
              <a:buNone/>
            </a:pPr>
            <a:r>
              <a:rPr lang="en-US" sz="1800" b="1" dirty="0">
                <a:solidFill>
                  <a:srgbClr val="14213D"/>
                </a:solidFill>
                <a:latin typeface="Sora" pitchFamily="34" charset="0"/>
                <a:ea typeface="Sora" pitchFamily="34" charset="-122"/>
                <a:cs typeface="Sora" pitchFamily="34" charset="-120"/>
              </a:rPr>
              <a:t>3.08</a:t>
            </a:r>
            <a:endParaRPr lang="en-US" sz="1800" dirty="0"/>
          </a:p>
        </p:txBody>
      </p:sp>
      <p:sp>
        <p:nvSpPr>
          <p:cNvPr id="40" name="Shape 34"/>
          <p:cNvSpPr/>
          <p:nvPr/>
        </p:nvSpPr>
        <p:spPr>
          <a:xfrm>
            <a:off x="1143000" y="6534302"/>
            <a:ext cx="133502" cy="133502"/>
          </a:xfrm>
          <a:prstGeom prst="rect">
            <a:avLst/>
          </a:prstGeom>
          <a:solidFill>
            <a:srgbClr val="94A3B8"/>
          </a:solidFill>
          <a:ln w="12700">
            <a:solidFill>
              <a:srgbClr val="FFFFFF">
                <a:alpha val="0"/>
              </a:srgbClr>
            </a:solidFill>
            <a:prstDash val="solid"/>
          </a:ln>
        </p:spPr>
      </p:sp>
      <p:sp>
        <p:nvSpPr>
          <p:cNvPr id="41" name="Text 35"/>
          <p:cNvSpPr txBox="1"/>
          <p:nvPr/>
        </p:nvSpPr>
        <p:spPr>
          <a:xfrm>
            <a:off x="1408176" y="6295644"/>
            <a:ext cx="848563" cy="609905"/>
          </a:xfrm>
          <a:prstGeom prst="rect">
            <a:avLst/>
          </a:prstGeom>
          <a:noFill/>
          <a:ln/>
        </p:spPr>
        <p:txBody>
          <a:bodyPr wrap="squar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Group C</a:t>
            </a:r>
            <a:endParaRPr lang="en-US" sz="1650" dirty="0"/>
          </a:p>
        </p:txBody>
      </p:sp>
      <p:sp>
        <p:nvSpPr>
          <p:cNvPr id="42" name="Text 36"/>
          <p:cNvSpPr txBox="1"/>
          <p:nvPr/>
        </p:nvSpPr>
        <p:spPr>
          <a:xfrm>
            <a:off x="2387498" y="6353251"/>
            <a:ext cx="1429207" cy="495605"/>
          </a:xfrm>
          <a:prstGeom prst="rect">
            <a:avLst/>
          </a:prstGeom>
          <a:noFill/>
          <a:ln/>
        </p:spPr>
        <p:txBody>
          <a:bodyPr wrap="square" lIns="0" tIns="0" rIns="0" bIns="0" rtlCol="0" anchor="ctr"/>
          <a:lstStyle/>
          <a:p>
            <a:pPr algn="l" indent="0" marL="0">
              <a:buNone/>
            </a:pPr>
            <a:r>
              <a:rPr lang="en-US" sz="1350" dirty="0">
                <a:solidFill>
                  <a:srgbClr val="455670"/>
                </a:solidFill>
                <a:latin typeface="Noto Sans KR" pitchFamily="34" charset="0"/>
                <a:ea typeface="Noto Sans KR" pitchFamily="34" charset="-122"/>
                <a:cs typeface="Noto Sans KR" pitchFamily="34" charset="-120"/>
              </a:rPr>
              <a:t>Co liner · baseline</a:t>
            </a:r>
            <a:endParaRPr lang="en-US" sz="1350" dirty="0"/>
          </a:p>
        </p:txBody>
      </p:sp>
      <p:sp>
        <p:nvSpPr>
          <p:cNvPr id="43" name="Text 37"/>
          <p:cNvSpPr txBox="1"/>
          <p:nvPr/>
        </p:nvSpPr>
        <p:spPr>
          <a:xfrm>
            <a:off x="1143000" y="6963156"/>
            <a:ext cx="2667305" cy="162763"/>
          </a:xfrm>
          <a:prstGeom prst="rect">
            <a:avLst/>
          </a:prstGeom>
          <a:noFill/>
          <a:ln/>
        </p:spPr>
        <p:txBody>
          <a:bodyPr wrap="none" lIns="0" tIns="0" rIns="0" bIns="0" rtlCol="0" anchor="ctr"/>
          <a:lstStyle/>
          <a:p>
            <a:pPr algn="l" indent="0" marL="0">
              <a:buNone/>
            </a:pPr>
            <a:r>
              <a:rPr lang="en-US" sz="975" spc="176" kern="0" dirty="0">
                <a:solidFill>
                  <a:srgbClr val="94A3B8"/>
                </a:solidFill>
                <a:latin typeface="Sora" pitchFamily="34" charset="0"/>
                <a:ea typeface="Sora" pitchFamily="34" charset="-122"/>
                <a:cs typeface="Sora" pitchFamily="34" charset="-120"/>
              </a:rPr>
              <a:t>W03 · W06</a:t>
            </a:r>
            <a:endParaRPr lang="en-US" sz="975" dirty="0"/>
          </a:p>
        </p:txBody>
      </p:sp>
      <p:sp>
        <p:nvSpPr>
          <p:cNvPr id="44" name="Text 38"/>
          <p:cNvSpPr txBox="1"/>
          <p:nvPr/>
        </p:nvSpPr>
        <p:spPr>
          <a:xfrm>
            <a:off x="3810305" y="6567221"/>
            <a:ext cx="1905610" cy="286207"/>
          </a:xfrm>
          <a:prstGeom prst="rect">
            <a:avLst/>
          </a:prstGeom>
          <a:noFill/>
          <a:ln/>
        </p:spPr>
        <p:txBody>
          <a:bodyPr wrap="none" lIns="0" tIns="0" rIns="0" bIns="0" rtlCol="0" anchor="ctr"/>
          <a:lstStyle/>
          <a:p>
            <a:pPr algn="r" indent="0" marL="0">
              <a:buNone/>
            </a:pPr>
            <a:r>
              <a:rPr lang="en-US" sz="1800" b="1" dirty="0">
                <a:solidFill>
                  <a:srgbClr val="6F7D94"/>
                </a:solidFill>
                <a:latin typeface="Sora" pitchFamily="34" charset="0"/>
                <a:ea typeface="Sora" pitchFamily="34" charset="-122"/>
                <a:cs typeface="Sora" pitchFamily="34" charset="-120"/>
              </a:rPr>
              <a:t>0.900</a:t>
            </a:r>
            <a:endParaRPr lang="en-US" sz="1800" dirty="0"/>
          </a:p>
        </p:txBody>
      </p:sp>
      <p:sp>
        <p:nvSpPr>
          <p:cNvPr id="45" name="Text 39"/>
          <p:cNvSpPr txBox="1"/>
          <p:nvPr/>
        </p:nvSpPr>
        <p:spPr>
          <a:xfrm>
            <a:off x="5715000" y="6590995"/>
            <a:ext cx="1905610" cy="238658"/>
          </a:xfrm>
          <a:prstGeom prst="rect">
            <a:avLst/>
          </a:prstGeom>
          <a:noFill/>
          <a:ln/>
        </p:spPr>
        <p:txBody>
          <a:bodyPr wrap="none" lIns="0" tIns="0" rIns="0" bIns="0" rtlCol="0" anchor="ctr"/>
          <a:lstStyle/>
          <a:p>
            <a:pPr algn="r" indent="0" marL="0">
              <a:buNone/>
            </a:pPr>
            <a:r>
              <a:rPr lang="en-US" sz="1500" dirty="0">
                <a:solidFill>
                  <a:srgbClr val="455670"/>
                </a:solidFill>
                <a:latin typeface="Sora" pitchFamily="34" charset="0"/>
                <a:ea typeface="Sora" pitchFamily="34" charset="-122"/>
                <a:cs typeface="Sora" pitchFamily="34" charset="-120"/>
              </a:rPr>
              <a:t>0.92</a:t>
            </a:r>
            <a:endParaRPr lang="en-US" sz="1500" dirty="0"/>
          </a:p>
        </p:txBody>
      </p:sp>
      <p:sp>
        <p:nvSpPr>
          <p:cNvPr id="46" name="Text 40"/>
          <p:cNvSpPr txBox="1"/>
          <p:nvPr/>
        </p:nvSpPr>
        <p:spPr>
          <a:xfrm>
            <a:off x="7619695" y="6590995"/>
            <a:ext cx="1905610" cy="238658"/>
          </a:xfrm>
          <a:prstGeom prst="rect">
            <a:avLst/>
          </a:prstGeom>
          <a:noFill/>
          <a:ln/>
        </p:spPr>
        <p:txBody>
          <a:bodyPr wrap="none" lIns="0" tIns="0" rIns="0" bIns="0" rtlCol="0" anchor="ctr"/>
          <a:lstStyle/>
          <a:p>
            <a:pPr algn="r" indent="0" marL="0">
              <a:buNone/>
            </a:pPr>
            <a:r>
              <a:rPr lang="en-US" sz="1500" dirty="0">
                <a:solidFill>
                  <a:srgbClr val="455670"/>
                </a:solidFill>
                <a:latin typeface="Sora" pitchFamily="34" charset="0"/>
                <a:ea typeface="Sora" pitchFamily="34" charset="-122"/>
                <a:cs typeface="Sora" pitchFamily="34" charset="-120"/>
              </a:rPr>
              <a:t>0.88</a:t>
            </a:r>
            <a:endParaRPr lang="en-US" sz="1500" dirty="0"/>
          </a:p>
        </p:txBody>
      </p:sp>
      <p:sp>
        <p:nvSpPr>
          <p:cNvPr id="47" name="Text 41"/>
          <p:cNvSpPr txBox="1"/>
          <p:nvPr/>
        </p:nvSpPr>
        <p:spPr>
          <a:xfrm>
            <a:off x="9525305" y="6567221"/>
            <a:ext cx="1905610" cy="286207"/>
          </a:xfrm>
          <a:prstGeom prst="rect">
            <a:avLst/>
          </a:prstGeom>
          <a:noFill/>
          <a:ln/>
        </p:spPr>
        <p:txBody>
          <a:bodyPr wrap="none" lIns="0" tIns="0" rIns="0" bIns="0" rtlCol="0" anchor="ctr"/>
          <a:lstStyle/>
          <a:p>
            <a:pPr algn="r" indent="0" marL="0">
              <a:buNone/>
            </a:pPr>
            <a:r>
              <a:rPr lang="en-US" sz="1800" b="1" dirty="0">
                <a:solidFill>
                  <a:srgbClr val="14213D"/>
                </a:solidFill>
                <a:latin typeface="Sora" pitchFamily="34" charset="0"/>
                <a:ea typeface="Sora" pitchFamily="34" charset="-122"/>
                <a:cs typeface="Sora" pitchFamily="34" charset="-120"/>
              </a:rPr>
              <a:t>3.96</a:t>
            </a:r>
            <a:endParaRPr lang="en-US" sz="1800" dirty="0"/>
          </a:p>
        </p:txBody>
      </p:sp>
      <p:sp>
        <p:nvSpPr>
          <p:cNvPr id="48" name="Text 42"/>
          <p:cNvSpPr txBox="1"/>
          <p:nvPr/>
        </p:nvSpPr>
        <p:spPr>
          <a:xfrm>
            <a:off x="12287707" y="3124505"/>
            <a:ext cx="5048402"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CD-ITEM BREAKDOWN</a:t>
            </a:r>
            <a:endParaRPr lang="en-US" sz="900" dirty="0"/>
          </a:p>
        </p:txBody>
      </p:sp>
      <p:sp>
        <p:nvSpPr>
          <p:cNvPr id="49" name="Text 43"/>
          <p:cNvSpPr txBox="1"/>
          <p:nvPr/>
        </p:nvSpPr>
        <p:spPr>
          <a:xfrm>
            <a:off x="12287707" y="3323844"/>
            <a:ext cx="5048402"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항목별 split 3σ</a:t>
            </a:r>
            <a:endParaRPr lang="en-US" sz="1800" dirty="0"/>
          </a:p>
        </p:txBody>
      </p:sp>
      <p:sp>
        <p:nvSpPr>
          <p:cNvPr id="50" name="Shape 44"/>
          <p:cNvSpPr/>
          <p:nvPr/>
        </p:nvSpPr>
        <p:spPr>
          <a:xfrm>
            <a:off x="12287707" y="4123944"/>
            <a:ext cx="5048402" cy="19202"/>
          </a:xfrm>
          <a:prstGeom prst="rect">
            <a:avLst/>
          </a:prstGeom>
          <a:solidFill>
            <a:srgbClr val="14213D"/>
          </a:solidFill>
          <a:ln w="12700">
            <a:solidFill>
              <a:srgbClr val="14213D">
                <a:alpha val="0"/>
              </a:srgbClr>
            </a:solidFill>
            <a:prstDash val="solid"/>
          </a:ln>
        </p:spPr>
      </p:sp>
      <p:sp>
        <p:nvSpPr>
          <p:cNvPr id="51" name="Text 45"/>
          <p:cNvSpPr txBox="1"/>
          <p:nvPr/>
        </p:nvSpPr>
        <p:spPr>
          <a:xfrm>
            <a:off x="12859207" y="3847795"/>
            <a:ext cx="1495958" cy="143561"/>
          </a:xfrm>
          <a:prstGeom prst="rect">
            <a:avLst/>
          </a:prstGeom>
          <a:noFill/>
          <a:ln/>
        </p:spPr>
        <p:txBody>
          <a:bodyPr wrap="none" lIns="0" tIns="0" rIns="0" bIns="0" rtlCol="0" anchor="ctr"/>
          <a:lstStyle/>
          <a:p>
            <a:pPr algn="r" indent="0" marL="0">
              <a:buNone/>
            </a:pPr>
            <a:r>
              <a:rPr lang="en-US" sz="900" b="1" spc="144" kern="0" dirty="0">
                <a:solidFill>
                  <a:srgbClr val="94A3B8"/>
                </a:solidFill>
                <a:latin typeface="Sora" pitchFamily="34" charset="0"/>
                <a:ea typeface="Sora" pitchFamily="34" charset="-122"/>
                <a:cs typeface="Sora" pitchFamily="34" charset="-120"/>
              </a:rPr>
              <a:t>AASI</a:t>
            </a:r>
            <a:endParaRPr lang="en-US" sz="900" dirty="0"/>
          </a:p>
        </p:txBody>
      </p:sp>
      <p:sp>
        <p:nvSpPr>
          <p:cNvPr id="52" name="Text 46"/>
          <p:cNvSpPr txBox="1"/>
          <p:nvPr/>
        </p:nvSpPr>
        <p:spPr>
          <a:xfrm>
            <a:off x="14350594" y="3847795"/>
            <a:ext cx="1495958" cy="143561"/>
          </a:xfrm>
          <a:prstGeom prst="rect">
            <a:avLst/>
          </a:prstGeom>
          <a:noFill/>
          <a:ln/>
        </p:spPr>
        <p:txBody>
          <a:bodyPr wrap="none" lIns="0" tIns="0" rIns="0" bIns="0" rtlCol="0" anchor="ctr"/>
          <a:lstStyle/>
          <a:p>
            <a:pPr algn="r" indent="0" marL="0">
              <a:buNone/>
            </a:pPr>
            <a:r>
              <a:rPr lang="en-US" sz="900" b="1" spc="144" kern="0" dirty="0">
                <a:solidFill>
                  <a:srgbClr val="94A3B8"/>
                </a:solidFill>
                <a:latin typeface="Sora" pitchFamily="34" charset="0"/>
                <a:ea typeface="Sora" pitchFamily="34" charset="-122"/>
                <a:cs typeface="Sora" pitchFamily="34" charset="-120"/>
              </a:rPr>
              <a:t>ASEI</a:t>
            </a:r>
            <a:endParaRPr lang="en-US" sz="900" dirty="0"/>
          </a:p>
        </p:txBody>
      </p:sp>
      <p:sp>
        <p:nvSpPr>
          <p:cNvPr id="53" name="Text 47"/>
          <p:cNvSpPr txBox="1"/>
          <p:nvPr/>
        </p:nvSpPr>
        <p:spPr>
          <a:xfrm>
            <a:off x="15842894" y="3847795"/>
            <a:ext cx="1495958" cy="143561"/>
          </a:xfrm>
          <a:prstGeom prst="rect">
            <a:avLst/>
          </a:prstGeom>
          <a:noFill/>
          <a:ln/>
        </p:spPr>
        <p:txBody>
          <a:bodyPr wrap="none" lIns="0" tIns="0" rIns="0" bIns="0" rtlCol="0" anchor="ctr"/>
          <a:lstStyle/>
          <a:p>
            <a:pPr algn="r" indent="0" marL="0">
              <a:buNone/>
            </a:pPr>
            <a:r>
              <a:rPr lang="en-US" sz="900" b="1" spc="144" kern="0" dirty="0">
                <a:solidFill>
                  <a:srgbClr val="94A3B8"/>
                </a:solidFill>
                <a:latin typeface="Sora" pitchFamily="34" charset="0"/>
                <a:ea typeface="Sora" pitchFamily="34" charset="-122"/>
                <a:cs typeface="Sora" pitchFamily="34" charset="-120"/>
              </a:rPr>
              <a:t>AMI</a:t>
            </a:r>
            <a:endParaRPr lang="en-US" sz="900" dirty="0"/>
          </a:p>
        </p:txBody>
      </p:sp>
      <p:sp>
        <p:nvSpPr>
          <p:cNvPr id="54" name="Shape 48"/>
          <p:cNvSpPr/>
          <p:nvPr/>
        </p:nvSpPr>
        <p:spPr>
          <a:xfrm>
            <a:off x="12287707" y="4619549"/>
            <a:ext cx="5048402" cy="9144"/>
          </a:xfrm>
          <a:prstGeom prst="rect">
            <a:avLst/>
          </a:prstGeom>
          <a:solidFill>
            <a:srgbClr val="DCE3EE"/>
          </a:solidFill>
          <a:ln w="12700">
            <a:solidFill>
              <a:srgbClr val="DCE3EE">
                <a:alpha val="0"/>
              </a:srgbClr>
            </a:solidFill>
            <a:prstDash val="solid"/>
          </a:ln>
        </p:spPr>
      </p:sp>
      <p:sp>
        <p:nvSpPr>
          <p:cNvPr id="55" name="Text 49"/>
          <p:cNvSpPr txBox="1"/>
          <p:nvPr/>
        </p:nvSpPr>
        <p:spPr>
          <a:xfrm>
            <a:off x="12287707" y="4281221"/>
            <a:ext cx="571500" cy="200254"/>
          </a:xfrm>
          <a:prstGeom prst="rect">
            <a:avLst/>
          </a:prstGeom>
          <a:noFill/>
          <a:ln/>
        </p:spPr>
        <p:txBody>
          <a:bodyPr wrap="none" lIns="0" tIns="0" rIns="0" bIns="0" rtlCol="0" anchor="ctr"/>
          <a:lstStyle/>
          <a:p>
            <a:pPr algn="l" indent="0" marL="0">
              <a:buNone/>
            </a:pPr>
            <a:r>
              <a:rPr lang="en-US" sz="1200" b="1" dirty="0">
                <a:solidFill>
                  <a:srgbClr val="1E5F9C"/>
                </a:solidFill>
                <a:latin typeface="Sora" pitchFamily="34" charset="0"/>
                <a:ea typeface="Sora" pitchFamily="34" charset="-122"/>
                <a:cs typeface="Sora" pitchFamily="34" charset="-120"/>
              </a:rPr>
              <a:t>A</a:t>
            </a:r>
            <a:endParaRPr lang="en-US" sz="1200" dirty="0"/>
          </a:p>
        </p:txBody>
      </p:sp>
      <p:sp>
        <p:nvSpPr>
          <p:cNvPr id="56" name="Text 50"/>
          <p:cNvSpPr txBox="1"/>
          <p:nvPr/>
        </p:nvSpPr>
        <p:spPr>
          <a:xfrm>
            <a:off x="12859207" y="4276649"/>
            <a:ext cx="1495958" cy="210312"/>
          </a:xfrm>
          <a:prstGeom prst="rect">
            <a:avLst/>
          </a:prstGeom>
          <a:noFill/>
          <a:ln/>
        </p:spPr>
        <p:txBody>
          <a:bodyPr wrap="none" lIns="0" tIns="0" rIns="0" bIns="0" rtlCol="0" anchor="ctr"/>
          <a:lstStyle/>
          <a:p>
            <a:pPr algn="r" indent="0" marL="0">
              <a:buNone/>
            </a:pPr>
            <a:r>
              <a:rPr lang="en-US" sz="1350" dirty="0">
                <a:solidFill>
                  <a:srgbClr val="455670"/>
                </a:solidFill>
                <a:latin typeface="Sora" pitchFamily="34" charset="0"/>
                <a:ea typeface="Sora" pitchFamily="34" charset="-122"/>
                <a:cs typeface="Sora" pitchFamily="34" charset="-120"/>
              </a:rPr>
              <a:t>0.74</a:t>
            </a:r>
            <a:endParaRPr lang="en-US" sz="1350" dirty="0"/>
          </a:p>
        </p:txBody>
      </p:sp>
      <p:sp>
        <p:nvSpPr>
          <p:cNvPr id="57" name="Text 51"/>
          <p:cNvSpPr txBox="1"/>
          <p:nvPr/>
        </p:nvSpPr>
        <p:spPr>
          <a:xfrm>
            <a:off x="14350594" y="4276649"/>
            <a:ext cx="1495958" cy="210312"/>
          </a:xfrm>
          <a:prstGeom prst="rect">
            <a:avLst/>
          </a:prstGeom>
          <a:noFill/>
          <a:ln/>
        </p:spPr>
        <p:txBody>
          <a:bodyPr wrap="none" lIns="0" tIns="0" rIns="0" bIns="0" rtlCol="0" anchor="ctr"/>
          <a:lstStyle/>
          <a:p>
            <a:pPr algn="r" indent="0" marL="0">
              <a:buNone/>
            </a:pPr>
            <a:r>
              <a:rPr lang="en-US" sz="1350" dirty="0">
                <a:solidFill>
                  <a:srgbClr val="455670"/>
                </a:solidFill>
                <a:latin typeface="Sora" pitchFamily="34" charset="0"/>
                <a:ea typeface="Sora" pitchFamily="34" charset="-122"/>
                <a:cs typeface="Sora" pitchFamily="34" charset="-120"/>
              </a:rPr>
              <a:t>0.58</a:t>
            </a:r>
            <a:endParaRPr lang="en-US" sz="1350" dirty="0"/>
          </a:p>
        </p:txBody>
      </p:sp>
      <p:sp>
        <p:nvSpPr>
          <p:cNvPr id="58" name="Text 52"/>
          <p:cNvSpPr txBox="1"/>
          <p:nvPr/>
        </p:nvSpPr>
        <p:spPr>
          <a:xfrm>
            <a:off x="15842894" y="4276649"/>
            <a:ext cx="1495958" cy="210312"/>
          </a:xfrm>
          <a:prstGeom prst="rect">
            <a:avLst/>
          </a:prstGeom>
          <a:noFill/>
          <a:ln/>
        </p:spPr>
        <p:txBody>
          <a:bodyPr wrap="none" lIns="0" tIns="0" rIns="0" bIns="0" rtlCol="0" anchor="ctr"/>
          <a:lstStyle/>
          <a:p>
            <a:pPr algn="r" indent="0" marL="0">
              <a:buNone/>
            </a:pPr>
            <a:r>
              <a:rPr lang="en-US" sz="1350" dirty="0">
                <a:solidFill>
                  <a:srgbClr val="455670"/>
                </a:solidFill>
                <a:latin typeface="Sora" pitchFamily="34" charset="0"/>
                <a:ea typeface="Sora" pitchFamily="34" charset="-122"/>
                <a:cs typeface="Sora" pitchFamily="34" charset="-120"/>
              </a:rPr>
              <a:t>0.32</a:t>
            </a:r>
            <a:endParaRPr lang="en-US" sz="1350" dirty="0"/>
          </a:p>
        </p:txBody>
      </p:sp>
      <p:sp>
        <p:nvSpPr>
          <p:cNvPr id="59" name="Shape 53"/>
          <p:cNvSpPr/>
          <p:nvPr/>
        </p:nvSpPr>
        <p:spPr>
          <a:xfrm>
            <a:off x="12287707" y="5106010"/>
            <a:ext cx="5048402" cy="9144"/>
          </a:xfrm>
          <a:prstGeom prst="rect">
            <a:avLst/>
          </a:prstGeom>
          <a:solidFill>
            <a:srgbClr val="DCE3EE"/>
          </a:solidFill>
          <a:ln w="12700">
            <a:solidFill>
              <a:srgbClr val="DCE3EE">
                <a:alpha val="0"/>
              </a:srgbClr>
            </a:solidFill>
            <a:prstDash val="solid"/>
          </a:ln>
        </p:spPr>
      </p:sp>
      <p:sp>
        <p:nvSpPr>
          <p:cNvPr id="60" name="Text 54"/>
          <p:cNvSpPr txBox="1"/>
          <p:nvPr/>
        </p:nvSpPr>
        <p:spPr>
          <a:xfrm>
            <a:off x="12287707" y="4767682"/>
            <a:ext cx="571500" cy="200254"/>
          </a:xfrm>
          <a:prstGeom prst="rect">
            <a:avLst/>
          </a:prstGeom>
          <a:noFill/>
          <a:ln/>
        </p:spPr>
        <p:txBody>
          <a:bodyPr wrap="none" lIns="0" tIns="0" rIns="0" bIns="0" rtlCol="0" anchor="ctr"/>
          <a:lstStyle/>
          <a:p>
            <a:pPr algn="l" indent="0" marL="0">
              <a:buNone/>
            </a:pPr>
            <a:r>
              <a:rPr lang="en-US" sz="1200" b="1" dirty="0">
                <a:solidFill>
                  <a:srgbClr val="4F86C0"/>
                </a:solidFill>
                <a:latin typeface="Sora" pitchFamily="34" charset="0"/>
                <a:ea typeface="Sora" pitchFamily="34" charset="-122"/>
                <a:cs typeface="Sora" pitchFamily="34" charset="-120"/>
              </a:rPr>
              <a:t>B</a:t>
            </a:r>
            <a:endParaRPr lang="en-US" sz="1200" dirty="0"/>
          </a:p>
        </p:txBody>
      </p:sp>
      <p:sp>
        <p:nvSpPr>
          <p:cNvPr id="61" name="Text 55"/>
          <p:cNvSpPr txBox="1"/>
          <p:nvPr/>
        </p:nvSpPr>
        <p:spPr>
          <a:xfrm>
            <a:off x="12859207" y="4762195"/>
            <a:ext cx="1495958" cy="210312"/>
          </a:xfrm>
          <a:prstGeom prst="rect">
            <a:avLst/>
          </a:prstGeom>
          <a:noFill/>
          <a:ln/>
        </p:spPr>
        <p:txBody>
          <a:bodyPr wrap="none" lIns="0" tIns="0" rIns="0" bIns="0" rtlCol="0" anchor="ctr"/>
          <a:lstStyle/>
          <a:p>
            <a:pPr algn="r" indent="0" marL="0">
              <a:buNone/>
            </a:pPr>
            <a:r>
              <a:rPr lang="en-US" sz="1350" dirty="0">
                <a:solidFill>
                  <a:srgbClr val="455670"/>
                </a:solidFill>
                <a:latin typeface="Sora" pitchFamily="34" charset="0"/>
                <a:ea typeface="Sora" pitchFamily="34" charset="-122"/>
                <a:cs typeface="Sora" pitchFamily="34" charset="-120"/>
              </a:rPr>
              <a:t>0.72</a:t>
            </a:r>
            <a:endParaRPr lang="en-US" sz="1350" dirty="0"/>
          </a:p>
        </p:txBody>
      </p:sp>
      <p:sp>
        <p:nvSpPr>
          <p:cNvPr id="62" name="Text 56"/>
          <p:cNvSpPr txBox="1"/>
          <p:nvPr/>
        </p:nvSpPr>
        <p:spPr>
          <a:xfrm>
            <a:off x="14350594" y="4762195"/>
            <a:ext cx="1495958" cy="210312"/>
          </a:xfrm>
          <a:prstGeom prst="rect">
            <a:avLst/>
          </a:prstGeom>
          <a:noFill/>
          <a:ln/>
        </p:spPr>
        <p:txBody>
          <a:bodyPr wrap="none" lIns="0" tIns="0" rIns="0" bIns="0" rtlCol="0" anchor="ctr"/>
          <a:lstStyle/>
          <a:p>
            <a:pPr algn="r" indent="0" marL="0">
              <a:buNone/>
            </a:pPr>
            <a:r>
              <a:rPr lang="en-US" sz="1350" dirty="0">
                <a:solidFill>
                  <a:srgbClr val="455670"/>
                </a:solidFill>
                <a:latin typeface="Sora" pitchFamily="34" charset="0"/>
                <a:ea typeface="Sora" pitchFamily="34" charset="-122"/>
                <a:cs typeface="Sora" pitchFamily="34" charset="-120"/>
              </a:rPr>
              <a:t>0.55</a:t>
            </a:r>
            <a:endParaRPr lang="en-US" sz="1350" dirty="0"/>
          </a:p>
        </p:txBody>
      </p:sp>
      <p:sp>
        <p:nvSpPr>
          <p:cNvPr id="63" name="Text 57"/>
          <p:cNvSpPr txBox="1"/>
          <p:nvPr/>
        </p:nvSpPr>
        <p:spPr>
          <a:xfrm>
            <a:off x="15842894" y="4762195"/>
            <a:ext cx="1495958" cy="210312"/>
          </a:xfrm>
          <a:prstGeom prst="rect">
            <a:avLst/>
          </a:prstGeom>
          <a:noFill/>
          <a:ln/>
        </p:spPr>
        <p:txBody>
          <a:bodyPr wrap="none" lIns="0" tIns="0" rIns="0" bIns="0" rtlCol="0" anchor="ctr"/>
          <a:lstStyle/>
          <a:p>
            <a:pPr algn="r" indent="0" marL="0">
              <a:buNone/>
            </a:pPr>
            <a:r>
              <a:rPr lang="en-US" sz="1350" dirty="0">
                <a:solidFill>
                  <a:srgbClr val="455670"/>
                </a:solidFill>
                <a:latin typeface="Sora" pitchFamily="34" charset="0"/>
                <a:ea typeface="Sora" pitchFamily="34" charset="-122"/>
                <a:cs typeface="Sora" pitchFamily="34" charset="-120"/>
              </a:rPr>
              <a:t>0.33</a:t>
            </a:r>
            <a:endParaRPr lang="en-US" sz="1350" dirty="0"/>
          </a:p>
        </p:txBody>
      </p:sp>
      <p:sp>
        <p:nvSpPr>
          <p:cNvPr id="64" name="Shape 58"/>
          <p:cNvSpPr/>
          <p:nvPr/>
        </p:nvSpPr>
        <p:spPr>
          <a:xfrm>
            <a:off x="12287707" y="5591556"/>
            <a:ext cx="5048402" cy="9144"/>
          </a:xfrm>
          <a:prstGeom prst="rect">
            <a:avLst/>
          </a:prstGeom>
          <a:solidFill>
            <a:srgbClr val="DCE3EE"/>
          </a:solidFill>
          <a:ln w="12700">
            <a:solidFill>
              <a:srgbClr val="DCE3EE">
                <a:alpha val="0"/>
              </a:srgbClr>
            </a:solidFill>
            <a:prstDash val="solid"/>
          </a:ln>
        </p:spPr>
      </p:sp>
      <p:sp>
        <p:nvSpPr>
          <p:cNvPr id="65" name="Text 59"/>
          <p:cNvSpPr txBox="1"/>
          <p:nvPr/>
        </p:nvSpPr>
        <p:spPr>
          <a:xfrm>
            <a:off x="12287707" y="5253228"/>
            <a:ext cx="571500" cy="200254"/>
          </a:xfrm>
          <a:prstGeom prst="rect">
            <a:avLst/>
          </a:prstGeom>
          <a:noFill/>
          <a:ln/>
        </p:spPr>
        <p:txBody>
          <a:bodyPr wrap="none" lIns="0" tIns="0" rIns="0" bIns="0" rtlCol="0" anchor="ctr"/>
          <a:lstStyle/>
          <a:p>
            <a:pPr algn="l" indent="0" marL="0">
              <a:buNone/>
            </a:pPr>
            <a:r>
              <a:rPr lang="en-US" sz="1200" b="1" dirty="0">
                <a:solidFill>
                  <a:srgbClr val="6F7D94"/>
                </a:solidFill>
                <a:latin typeface="Sora" pitchFamily="34" charset="0"/>
                <a:ea typeface="Sora" pitchFamily="34" charset="-122"/>
                <a:cs typeface="Sora" pitchFamily="34" charset="-120"/>
              </a:rPr>
              <a:t>C</a:t>
            </a:r>
            <a:endParaRPr lang="en-US" sz="1200" dirty="0"/>
          </a:p>
        </p:txBody>
      </p:sp>
      <p:sp>
        <p:nvSpPr>
          <p:cNvPr id="66" name="Text 60"/>
          <p:cNvSpPr txBox="1"/>
          <p:nvPr/>
        </p:nvSpPr>
        <p:spPr>
          <a:xfrm>
            <a:off x="12859207" y="5248656"/>
            <a:ext cx="1495958" cy="210312"/>
          </a:xfrm>
          <a:prstGeom prst="rect">
            <a:avLst/>
          </a:prstGeom>
          <a:noFill/>
          <a:ln/>
        </p:spPr>
        <p:txBody>
          <a:bodyPr wrap="none" lIns="0" tIns="0" rIns="0" bIns="0" rtlCol="0" anchor="ctr"/>
          <a:lstStyle/>
          <a:p>
            <a:pPr algn="r" indent="0" marL="0">
              <a:buNone/>
            </a:pPr>
            <a:r>
              <a:rPr lang="en-US" sz="1350" dirty="0">
                <a:solidFill>
                  <a:srgbClr val="455670"/>
                </a:solidFill>
                <a:latin typeface="Sora" pitchFamily="34" charset="0"/>
                <a:ea typeface="Sora" pitchFamily="34" charset="-122"/>
                <a:cs typeface="Sora" pitchFamily="34" charset="-120"/>
              </a:rPr>
              <a:t>0.90</a:t>
            </a:r>
            <a:endParaRPr lang="en-US" sz="1350" dirty="0"/>
          </a:p>
        </p:txBody>
      </p:sp>
      <p:sp>
        <p:nvSpPr>
          <p:cNvPr id="67" name="Text 61"/>
          <p:cNvSpPr txBox="1"/>
          <p:nvPr/>
        </p:nvSpPr>
        <p:spPr>
          <a:xfrm>
            <a:off x="14350594" y="5248656"/>
            <a:ext cx="1495958" cy="210312"/>
          </a:xfrm>
          <a:prstGeom prst="rect">
            <a:avLst/>
          </a:prstGeom>
          <a:noFill/>
          <a:ln/>
        </p:spPr>
        <p:txBody>
          <a:bodyPr wrap="none" lIns="0" tIns="0" rIns="0" bIns="0" rtlCol="0" anchor="ctr"/>
          <a:lstStyle/>
          <a:p>
            <a:pPr algn="r" indent="0" marL="0">
              <a:buNone/>
            </a:pPr>
            <a:r>
              <a:rPr lang="en-US" sz="1350" dirty="0">
                <a:solidFill>
                  <a:srgbClr val="455670"/>
                </a:solidFill>
                <a:latin typeface="Sora" pitchFamily="34" charset="0"/>
                <a:ea typeface="Sora" pitchFamily="34" charset="-122"/>
                <a:cs typeface="Sora" pitchFamily="34" charset="-120"/>
              </a:rPr>
              <a:t>0.71</a:t>
            </a:r>
            <a:endParaRPr lang="en-US" sz="1350" dirty="0"/>
          </a:p>
        </p:txBody>
      </p:sp>
      <p:sp>
        <p:nvSpPr>
          <p:cNvPr id="68" name="Text 62"/>
          <p:cNvSpPr txBox="1"/>
          <p:nvPr/>
        </p:nvSpPr>
        <p:spPr>
          <a:xfrm>
            <a:off x="15842894" y="5248656"/>
            <a:ext cx="1495958" cy="210312"/>
          </a:xfrm>
          <a:prstGeom prst="rect">
            <a:avLst/>
          </a:prstGeom>
          <a:noFill/>
          <a:ln/>
        </p:spPr>
        <p:txBody>
          <a:bodyPr wrap="none" lIns="0" tIns="0" rIns="0" bIns="0" rtlCol="0" anchor="ctr"/>
          <a:lstStyle/>
          <a:p>
            <a:pPr algn="r" indent="0" marL="0">
              <a:buNone/>
            </a:pPr>
            <a:r>
              <a:rPr lang="en-US" sz="1350" dirty="0">
                <a:solidFill>
                  <a:srgbClr val="455670"/>
                </a:solidFill>
                <a:latin typeface="Sora" pitchFamily="34" charset="0"/>
                <a:ea typeface="Sora" pitchFamily="34" charset="-122"/>
                <a:cs typeface="Sora" pitchFamily="34" charset="-120"/>
              </a:rPr>
              <a:t>0.44</a:t>
            </a:r>
            <a:endParaRPr lang="en-US" sz="1350" dirty="0"/>
          </a:p>
        </p:txBody>
      </p:sp>
      <p:sp>
        <p:nvSpPr>
          <p:cNvPr id="69" name="Shape 63"/>
          <p:cNvSpPr/>
          <p:nvPr/>
        </p:nvSpPr>
        <p:spPr>
          <a:xfrm>
            <a:off x="12287707" y="6200546"/>
            <a:ext cx="5048402" cy="19202"/>
          </a:xfrm>
          <a:prstGeom prst="rect">
            <a:avLst/>
          </a:prstGeom>
          <a:solidFill>
            <a:srgbClr val="14213D"/>
          </a:solidFill>
          <a:ln w="12700">
            <a:solidFill>
              <a:srgbClr val="14213D">
                <a:alpha val="0"/>
              </a:srgbClr>
            </a:solidFill>
            <a:prstDash val="solid"/>
          </a:ln>
        </p:spPr>
      </p:sp>
      <p:sp>
        <p:nvSpPr>
          <p:cNvPr id="70" name="Text 64"/>
          <p:cNvSpPr txBox="1"/>
          <p:nvPr/>
        </p:nvSpPr>
        <p:spPr>
          <a:xfrm>
            <a:off x="12287707" y="5943600"/>
            <a:ext cx="5048402" cy="143561"/>
          </a:xfrm>
          <a:prstGeom prst="rect">
            <a:avLst/>
          </a:prstGeom>
          <a:solidFill>
            <a:srgbClr val="FFFFFF">
              <a:alpha val="0"/>
            </a:srgbClr>
          </a:solidFill>
          <a:ln>
            <a:solidFill>
              <a:srgbClr val="FFFFFF">
                <a:alpha val="0"/>
              </a:srgbClr>
            </a:solidFill>
          </a:ln>
        </p:spPr>
        <p:txBody>
          <a:bodyPr wrap="none" lIns="0" tIns="0" rIns="0" bIns="0" rtlCol="0" anchor="ctr"/>
          <a:lstStyle/>
          <a:p>
            <a:pPr algn="l" indent="0" marL="0">
              <a:buNone/>
            </a:pPr>
            <a:r>
              <a:rPr lang="en-US" sz="900" b="1" spc="180" kern="0" dirty="0">
                <a:solidFill>
                  <a:srgbClr val="94A3B8"/>
                </a:solidFill>
                <a:latin typeface="Sora" pitchFamily="34" charset="0"/>
                <a:ea typeface="Sora" pitchFamily="34" charset="-122"/>
                <a:cs typeface="Sora" pitchFamily="34" charset="-120"/>
              </a:rPr>
              <a:t>CALL-OUTS</a:t>
            </a:r>
            <a:endParaRPr lang="en-US" sz="900" dirty="0"/>
          </a:p>
        </p:txBody>
      </p:sp>
      <p:pic>
        <p:nvPicPr>
          <p:cNvPr id="71" name="Image 3" descr="gen-dedup-3116506319b43032b499c58d4288b967.png">    </p:cNvPr>
          <p:cNvPicPr>
            <a:picLocks noChangeAspect="1"/>
          </p:cNvPicPr>
          <p:nvPr/>
        </p:nvPicPr>
        <p:blipFill>
          <a:blip r:embed="rId4"/>
          <a:srcRect l="-355" r="-355" t="0" b="0"/>
          <a:stretch/>
        </p:blipFill>
        <p:spPr>
          <a:xfrm>
            <a:off x="12287707" y="6391656"/>
            <a:ext cx="57607" cy="514807"/>
          </a:xfrm>
          <a:prstGeom prst="rect">
            <a:avLst/>
          </a:prstGeom>
        </p:spPr>
      </p:pic>
      <p:sp>
        <p:nvSpPr>
          <p:cNvPr id="72" name="Text 65"/>
          <p:cNvSpPr txBox="1"/>
          <p:nvPr/>
        </p:nvSpPr>
        <p:spPr>
          <a:xfrm>
            <a:off x="12477902" y="6391656"/>
            <a:ext cx="3856939"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B group이 4개 항목 전부에서 가장 작은 3σ</a:t>
            </a:r>
            <a:endParaRPr lang="en-US" sz="1350" dirty="0"/>
          </a:p>
        </p:txBody>
      </p:sp>
      <p:sp>
        <p:nvSpPr>
          <p:cNvPr id="73" name="Text 66"/>
          <p:cNvSpPr txBox="1"/>
          <p:nvPr/>
        </p:nvSpPr>
        <p:spPr>
          <a:xfrm>
            <a:off x="12477902" y="6696151"/>
            <a:ext cx="3959352" cy="200254"/>
          </a:xfrm>
          <a:prstGeom prst="rect">
            <a:avLst/>
          </a:prstGeom>
          <a:noFill/>
          <a:ln/>
        </p:spPr>
        <p:txBody>
          <a:bodyPr wrap="none" lIns="0" tIns="0" rIns="0" bIns="0" rtlCol="0" anchor="ctr"/>
          <a:lstStyle/>
          <a:p>
            <a:pPr algn="l" indent="0" marL="0">
              <a:buNone/>
            </a:pPr>
            <a:r>
              <a:rPr lang="en-US" sz="1125" dirty="0">
                <a:solidFill>
                  <a:srgbClr val="455670"/>
                </a:solidFill>
                <a:latin typeface="Noto Sans KR" pitchFamily="34" charset="0"/>
                <a:ea typeface="Noto Sans KR" pitchFamily="34" charset="-122"/>
                <a:cs typeface="Noto Sans KR" pitchFamily="34" charset="-120"/>
              </a:rPr>
              <a:t>2 nm Ru liner가 fill 안정성과 etch profile 모두에 기여</a:t>
            </a:r>
            <a:endParaRPr lang="en-US" sz="1125" dirty="0"/>
          </a:p>
        </p:txBody>
      </p:sp>
      <p:pic>
        <p:nvPicPr>
          <p:cNvPr id="74" name="Image 4" descr="gen-dedup-ae87b9c5f435b6828aec2ccb28692acf.png">    </p:cNvPr>
          <p:cNvPicPr>
            <a:picLocks noChangeAspect="1"/>
          </p:cNvPicPr>
          <p:nvPr/>
        </p:nvPicPr>
        <p:blipFill>
          <a:blip r:embed="rId5"/>
          <a:srcRect l="-355" r="-355" t="0" b="0"/>
          <a:stretch/>
        </p:blipFill>
        <p:spPr>
          <a:xfrm>
            <a:off x="12287707" y="7077456"/>
            <a:ext cx="57607" cy="514807"/>
          </a:xfrm>
          <a:prstGeom prst="rect">
            <a:avLst/>
          </a:prstGeom>
        </p:spPr>
      </p:pic>
      <p:sp>
        <p:nvSpPr>
          <p:cNvPr id="75" name="Text 67"/>
          <p:cNvSpPr txBox="1"/>
          <p:nvPr/>
        </p:nvSpPr>
        <p:spPr>
          <a:xfrm>
            <a:off x="12477902" y="7077456"/>
            <a:ext cx="2952598"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C group은 AMI에서 0.44 nm 3σ</a:t>
            </a:r>
            <a:endParaRPr lang="en-US" sz="1350" dirty="0"/>
          </a:p>
        </p:txBody>
      </p:sp>
      <p:sp>
        <p:nvSpPr>
          <p:cNvPr id="76" name="Text 68"/>
          <p:cNvSpPr txBox="1"/>
          <p:nvPr/>
        </p:nvSpPr>
        <p:spPr>
          <a:xfrm>
            <a:off x="12477902" y="7381951"/>
            <a:ext cx="3072384" cy="200254"/>
          </a:xfrm>
          <a:prstGeom prst="rect">
            <a:avLst/>
          </a:prstGeom>
          <a:noFill/>
          <a:ln/>
        </p:spPr>
        <p:txBody>
          <a:bodyPr wrap="none" lIns="0" tIns="0" rIns="0" bIns="0" rtlCol="0" anchor="ctr"/>
          <a:lstStyle/>
          <a:p>
            <a:pPr algn="l" indent="0" marL="0">
              <a:buNone/>
            </a:pPr>
            <a:r>
              <a:rPr lang="en-US" sz="1125" dirty="0">
                <a:solidFill>
                  <a:srgbClr val="455670"/>
                </a:solidFill>
                <a:latin typeface="Noto Sans KR" pitchFamily="34" charset="0"/>
                <a:ea typeface="Noto Sans KR" pitchFamily="34" charset="-122"/>
                <a:cs typeface="Noto Sans KR" pitchFamily="34" charset="-120"/>
              </a:rPr>
              <a:t>sub-10 영역에서 Co liner 한계가 두드러짐</a:t>
            </a:r>
            <a:endParaRPr lang="en-US" sz="1125" dirty="0"/>
          </a:p>
        </p:txBody>
      </p:sp>
      <p:sp>
        <p:nvSpPr>
          <p:cNvPr id="77" name="Text 69"/>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D8"/>
                </a:solidFill>
                <a:latin typeface="Sora" pitchFamily="34" charset="0"/>
                <a:ea typeface="Sora" pitchFamily="34" charset="-122"/>
                <a:cs typeface="Sora" pitchFamily="34" charset="-120"/>
              </a:rPr>
              <a:t>KEY TAKEAWAY</a:t>
            </a:r>
            <a:endParaRPr lang="en-US" sz="900" dirty="0"/>
          </a:p>
        </p:txBody>
      </p:sp>
      <p:pic>
        <p:nvPicPr>
          <p:cNvPr id="78" name="Image 5" descr="gen-dedup-a95c956e3bd879e41d2e7daca8566398.png">    </p:cNvPr>
          <p:cNvPicPr>
            <a:picLocks noChangeAspect="1"/>
          </p:cNvPicPr>
          <p:nvPr/>
        </p:nvPicPr>
        <p:blipFill>
          <a:blip r:embed="rId6"/>
          <a:srcRect l="-2083" r="-2083" t="0" b="0"/>
          <a:stretch/>
        </p:blipFill>
        <p:spPr>
          <a:xfrm>
            <a:off x="2656332" y="9096451"/>
            <a:ext cx="571500" cy="9144"/>
          </a:xfrm>
          <a:prstGeom prst="rect">
            <a:avLst/>
          </a:prstGeom>
        </p:spPr>
      </p:pic>
      <p:sp>
        <p:nvSpPr>
          <p:cNvPr id="79" name="Text 70"/>
          <p:cNvSpPr txBox="1"/>
          <p:nvPr/>
        </p:nvSpPr>
        <p:spPr>
          <a:xfrm>
            <a:off x="3456432" y="8934602"/>
            <a:ext cx="9878263"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평균 3σ는 B 0.715 / A 0.745 / C 0.900 — Co 대비 Ru 2 nm이 21% 가량 작은 in-wafer 분산.</a:t>
            </a:r>
            <a:endParaRPr lang="en-US" sz="1800" dirty="0"/>
          </a:p>
        </p:txBody>
      </p:sp>
      <p:sp>
        <p:nvSpPr>
          <p:cNvPr id="80" name="Text 71"/>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81" name="Text 72"/>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466698" y="3981298"/>
            <a:ext cx="4000500" cy="4000500"/>
          </a:xfrm>
          <a:prstGeom prst="ellipse">
            <a:avLst/>
          </a:prstGeom>
          <a:solidFill>
            <a:srgbClr val="F6F8FB"/>
          </a:solidFill>
          <a:ln w="12700">
            <a:solidFill>
              <a:srgbClr val="C8D3E2"/>
            </a:solidFill>
            <a:prstDash val="solid"/>
          </a:ln>
        </p:spPr>
      </p:sp>
      <p:sp>
        <p:nvSpPr>
          <p:cNvPr id="5" name="Shape 1"/>
          <p:cNvSpPr/>
          <p:nvPr/>
        </p:nvSpPr>
        <p:spPr>
          <a:xfrm>
            <a:off x="7086600" y="3981298"/>
            <a:ext cx="4000500" cy="4000500"/>
          </a:xfrm>
          <a:prstGeom prst="ellipse">
            <a:avLst/>
          </a:prstGeom>
          <a:solidFill>
            <a:srgbClr val="F6F8FB"/>
          </a:solidFill>
          <a:ln w="12700">
            <a:solidFill>
              <a:srgbClr val="C8D3E2"/>
            </a:solidFill>
            <a:prstDash val="solid"/>
          </a:ln>
        </p:spPr>
      </p:sp>
      <p:sp>
        <p:nvSpPr>
          <p:cNvPr id="6" name="Shape 2"/>
          <p:cNvSpPr/>
          <p:nvPr/>
        </p:nvSpPr>
        <p:spPr>
          <a:xfrm>
            <a:off x="12706502" y="3981298"/>
            <a:ext cx="4000500" cy="4000500"/>
          </a:xfrm>
          <a:prstGeom prst="ellipse">
            <a:avLst/>
          </a:prstGeom>
          <a:solidFill>
            <a:srgbClr val="F6F8FB"/>
          </a:solidFill>
          <a:ln w="12700">
            <a:solidFill>
              <a:srgbClr val="C8D3E2"/>
            </a:solidFill>
            <a:prstDash val="solid"/>
          </a:ln>
        </p:spPr>
      </p:sp>
      <p:sp>
        <p:nvSpPr>
          <p:cNvPr id="7" name="Shape 3"/>
          <p:cNvSpPr/>
          <p:nvPr/>
        </p:nvSpPr>
        <p:spPr>
          <a:xfrm>
            <a:off x="3419856" y="3886200"/>
            <a:ext cx="95098" cy="133502"/>
          </a:xfrm>
          <a:prstGeom prst="rect">
            <a:avLst/>
          </a:prstGeom>
          <a:solidFill>
            <a:srgbClr val="94A3B8"/>
          </a:solidFill>
          <a:ln w="12700">
            <a:solidFill>
              <a:srgbClr val="FFFFFF">
                <a:alpha val="0"/>
              </a:srgbClr>
            </a:solidFill>
            <a:prstDash val="solid"/>
          </a:ln>
        </p:spPr>
      </p:sp>
      <p:sp>
        <p:nvSpPr>
          <p:cNvPr id="8" name="Shape 4"/>
          <p:cNvSpPr/>
          <p:nvPr/>
        </p:nvSpPr>
        <p:spPr>
          <a:xfrm>
            <a:off x="9038844" y="3886200"/>
            <a:ext cx="95098" cy="133502"/>
          </a:xfrm>
          <a:prstGeom prst="rect">
            <a:avLst/>
          </a:prstGeom>
          <a:solidFill>
            <a:srgbClr val="94A3B8"/>
          </a:solidFill>
          <a:ln w="12700">
            <a:solidFill>
              <a:srgbClr val="FFFFFF">
                <a:alpha val="0"/>
              </a:srgbClr>
            </a:solidFill>
            <a:prstDash val="solid"/>
          </a:ln>
        </p:spPr>
      </p:sp>
      <p:sp>
        <p:nvSpPr>
          <p:cNvPr id="9" name="Shape 5"/>
          <p:cNvSpPr/>
          <p:nvPr/>
        </p:nvSpPr>
        <p:spPr>
          <a:xfrm>
            <a:off x="14658746" y="3886200"/>
            <a:ext cx="95098" cy="133502"/>
          </a:xfrm>
          <a:prstGeom prst="rect">
            <a:avLst/>
          </a:prstGeom>
          <a:solidFill>
            <a:srgbClr val="94A3B8"/>
          </a:solidFill>
          <a:ln w="12700">
            <a:solidFill>
              <a:srgbClr val="FFFFFF">
                <a:alpha val="0"/>
              </a:srgbClr>
            </a:solidFill>
            <a:prstDash val="solid"/>
          </a:ln>
        </p:spPr>
      </p:sp>
      <p:sp>
        <p:nvSpPr>
          <p:cNvPr id="10" name="Shape 6"/>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11" name="Image 1" descr="gen-dedup-3c3f0190f3348a605df0239cea9995bf.png">    </p:cNvPr>
          <p:cNvPicPr>
            <a:picLocks noChangeAspect="1"/>
          </p:cNvPicPr>
          <p:nvPr/>
        </p:nvPicPr>
        <p:blipFill>
          <a:blip r:embed="rId2"/>
          <a:srcRect l="-2083" r="-2083" t="0" b="0"/>
          <a:stretch/>
        </p:blipFill>
        <p:spPr>
          <a:xfrm>
            <a:off x="0" y="9562795"/>
            <a:ext cx="18288000" cy="9144"/>
          </a:xfrm>
          <a:prstGeom prst="rect">
            <a:avLst/>
          </a:prstGeom>
        </p:spPr>
      </p:pic>
      <p:pic>
        <p:nvPicPr>
          <p:cNvPr id="12" name="Image 2" descr="gen-dedup-9a32aed1d400fdb4e0fb19b64130d11d.png">    </p:cNvPr>
          <p:cNvPicPr>
            <a:picLocks noChangeAspect="1"/>
          </p:cNvPicPr>
          <p:nvPr/>
        </p:nvPicPr>
        <p:blipFill>
          <a:blip r:embed="rId3"/>
          <a:srcRect l="-90" r="-90" t="0" b="0"/>
          <a:stretch/>
        </p:blipFill>
        <p:spPr>
          <a:xfrm>
            <a:off x="1752905" y="4248302"/>
            <a:ext cx="381305" cy="304495"/>
          </a:xfrm>
          <a:prstGeom prst="rect">
            <a:avLst/>
          </a:prstGeom>
        </p:spPr>
      </p:pic>
      <p:sp>
        <p:nvSpPr>
          <p:cNvPr id="13" name="Shape 7"/>
          <p:cNvSpPr/>
          <p:nvPr/>
        </p:nvSpPr>
        <p:spPr>
          <a:xfrm>
            <a:off x="2171700" y="4248302"/>
            <a:ext cx="381305" cy="304495"/>
          </a:xfrm>
          <a:prstGeom prst="rect">
            <a:avLst/>
          </a:prstGeom>
          <a:solidFill>
            <a:srgbClr val="7AA4CB"/>
          </a:solidFill>
          <a:ln w="12700">
            <a:solidFill>
              <a:srgbClr val="FFFFFF">
                <a:alpha val="0"/>
              </a:srgbClr>
            </a:solidFill>
            <a:prstDash val="solid"/>
          </a:ln>
        </p:spPr>
      </p:sp>
      <p:sp>
        <p:nvSpPr>
          <p:cNvPr id="14" name="Shape 8"/>
          <p:cNvSpPr/>
          <p:nvPr/>
        </p:nvSpPr>
        <p:spPr>
          <a:xfrm>
            <a:off x="2590495" y="4248302"/>
            <a:ext cx="381305" cy="304495"/>
          </a:xfrm>
          <a:prstGeom prst="rect">
            <a:avLst/>
          </a:prstGeom>
          <a:solidFill>
            <a:srgbClr val="7AA4CB"/>
          </a:solidFill>
          <a:ln w="12700">
            <a:solidFill>
              <a:srgbClr val="FFFFFF">
                <a:alpha val="0"/>
              </a:srgbClr>
            </a:solidFill>
            <a:prstDash val="solid"/>
          </a:ln>
        </p:spPr>
      </p:sp>
      <p:sp>
        <p:nvSpPr>
          <p:cNvPr id="15" name="Shape 9"/>
          <p:cNvSpPr/>
          <p:nvPr/>
        </p:nvSpPr>
        <p:spPr>
          <a:xfrm>
            <a:off x="3010205" y="4248302"/>
            <a:ext cx="381305" cy="304495"/>
          </a:xfrm>
          <a:prstGeom prst="rect">
            <a:avLst/>
          </a:prstGeom>
          <a:solidFill>
            <a:srgbClr val="3A78B5"/>
          </a:solidFill>
          <a:ln w="12700">
            <a:solidFill>
              <a:srgbClr val="FFFFFF">
                <a:alpha val="0"/>
              </a:srgbClr>
            </a:solidFill>
            <a:prstDash val="solid"/>
          </a:ln>
        </p:spPr>
      </p:sp>
      <p:sp>
        <p:nvSpPr>
          <p:cNvPr id="16" name="Shape 10"/>
          <p:cNvSpPr/>
          <p:nvPr/>
        </p:nvSpPr>
        <p:spPr>
          <a:xfrm>
            <a:off x="3429000" y="4248302"/>
            <a:ext cx="381305" cy="304495"/>
          </a:xfrm>
          <a:prstGeom prst="rect">
            <a:avLst/>
          </a:prstGeom>
          <a:solidFill>
            <a:srgbClr val="3A78B5"/>
          </a:solidFill>
          <a:ln w="12700">
            <a:solidFill>
              <a:srgbClr val="FFFFFF">
                <a:alpha val="0"/>
              </a:srgbClr>
            </a:solidFill>
            <a:prstDash val="solid"/>
          </a:ln>
        </p:spPr>
      </p:sp>
      <p:sp>
        <p:nvSpPr>
          <p:cNvPr id="17" name="Shape 11"/>
          <p:cNvSpPr/>
          <p:nvPr/>
        </p:nvSpPr>
        <p:spPr>
          <a:xfrm>
            <a:off x="3847795" y="4248302"/>
            <a:ext cx="381305" cy="304495"/>
          </a:xfrm>
          <a:prstGeom prst="rect">
            <a:avLst/>
          </a:prstGeom>
          <a:solidFill>
            <a:srgbClr val="3A78B5"/>
          </a:solidFill>
          <a:ln w="12700">
            <a:solidFill>
              <a:srgbClr val="FFFFFF">
                <a:alpha val="0"/>
              </a:srgbClr>
            </a:solidFill>
            <a:prstDash val="solid"/>
          </a:ln>
        </p:spPr>
      </p:sp>
      <p:sp>
        <p:nvSpPr>
          <p:cNvPr id="18" name="Shape 12"/>
          <p:cNvSpPr/>
          <p:nvPr/>
        </p:nvSpPr>
        <p:spPr>
          <a:xfrm>
            <a:off x="4267505" y="4248302"/>
            <a:ext cx="381305" cy="304495"/>
          </a:xfrm>
          <a:prstGeom prst="rect">
            <a:avLst/>
          </a:prstGeom>
          <a:solidFill>
            <a:srgbClr val="7AA4CB"/>
          </a:solidFill>
          <a:ln w="12700">
            <a:solidFill>
              <a:srgbClr val="FFFFFF">
                <a:alpha val="0"/>
              </a:srgbClr>
            </a:solidFill>
            <a:prstDash val="solid"/>
          </a:ln>
        </p:spPr>
      </p:sp>
      <p:sp>
        <p:nvSpPr>
          <p:cNvPr id="19" name="Shape 13"/>
          <p:cNvSpPr/>
          <p:nvPr/>
        </p:nvSpPr>
        <p:spPr>
          <a:xfrm>
            <a:off x="4686300" y="4248302"/>
            <a:ext cx="381305" cy="304495"/>
          </a:xfrm>
          <a:prstGeom prst="rect">
            <a:avLst/>
          </a:prstGeom>
          <a:solidFill>
            <a:srgbClr val="7AA4CB"/>
          </a:solidFill>
          <a:ln w="12700">
            <a:solidFill>
              <a:srgbClr val="FFFFFF">
                <a:alpha val="0"/>
              </a:srgbClr>
            </a:solidFill>
            <a:prstDash val="solid"/>
          </a:ln>
        </p:spPr>
      </p:sp>
      <p:pic>
        <p:nvPicPr>
          <p:cNvPr id="20" name="Image 3" descr="gen-dedup-9a32aed1d400fdb4e0fb19b64130d11d.png">    </p:cNvPr>
          <p:cNvPicPr>
            <a:picLocks noChangeAspect="1"/>
          </p:cNvPicPr>
          <p:nvPr/>
        </p:nvPicPr>
        <p:blipFill>
          <a:blip r:embed="rId4"/>
          <a:srcRect l="-90" r="-90" t="0" b="0"/>
          <a:stretch/>
        </p:blipFill>
        <p:spPr>
          <a:xfrm>
            <a:off x="5105095" y="4248302"/>
            <a:ext cx="381305" cy="304495"/>
          </a:xfrm>
          <a:prstGeom prst="rect">
            <a:avLst/>
          </a:prstGeom>
        </p:spPr>
      </p:pic>
      <p:sp>
        <p:nvSpPr>
          <p:cNvPr id="21" name="Shape 14"/>
          <p:cNvSpPr/>
          <p:nvPr/>
        </p:nvSpPr>
        <p:spPr>
          <a:xfrm>
            <a:off x="1752905" y="4591202"/>
            <a:ext cx="381305" cy="304495"/>
          </a:xfrm>
          <a:prstGeom prst="rect">
            <a:avLst/>
          </a:prstGeom>
          <a:solidFill>
            <a:srgbClr val="7AA4CB"/>
          </a:solidFill>
          <a:ln w="12700">
            <a:solidFill>
              <a:srgbClr val="FFFFFF">
                <a:alpha val="0"/>
              </a:srgbClr>
            </a:solidFill>
            <a:prstDash val="solid"/>
          </a:ln>
        </p:spPr>
      </p:sp>
      <p:sp>
        <p:nvSpPr>
          <p:cNvPr id="22" name="Shape 15"/>
          <p:cNvSpPr/>
          <p:nvPr/>
        </p:nvSpPr>
        <p:spPr>
          <a:xfrm>
            <a:off x="2171700" y="4591202"/>
            <a:ext cx="381305" cy="304495"/>
          </a:xfrm>
          <a:prstGeom prst="rect">
            <a:avLst/>
          </a:prstGeom>
          <a:solidFill>
            <a:srgbClr val="DCE3EE"/>
          </a:solidFill>
          <a:ln w="12700">
            <a:solidFill>
              <a:srgbClr val="FFFFFF">
                <a:alpha val="0"/>
              </a:srgbClr>
            </a:solidFill>
            <a:prstDash val="solid"/>
          </a:ln>
        </p:spPr>
      </p:sp>
      <p:sp>
        <p:nvSpPr>
          <p:cNvPr id="23" name="Shape 16"/>
          <p:cNvSpPr/>
          <p:nvPr/>
        </p:nvSpPr>
        <p:spPr>
          <a:xfrm>
            <a:off x="2590495" y="4591202"/>
            <a:ext cx="381305" cy="304495"/>
          </a:xfrm>
          <a:prstGeom prst="rect">
            <a:avLst/>
          </a:prstGeom>
          <a:solidFill>
            <a:srgbClr val="DCE3EE"/>
          </a:solidFill>
          <a:ln w="12700">
            <a:solidFill>
              <a:srgbClr val="FFFFFF">
                <a:alpha val="0"/>
              </a:srgbClr>
            </a:solidFill>
            <a:prstDash val="solid"/>
          </a:ln>
        </p:spPr>
      </p:sp>
      <p:sp>
        <p:nvSpPr>
          <p:cNvPr id="24" name="Shape 17"/>
          <p:cNvSpPr/>
          <p:nvPr/>
        </p:nvSpPr>
        <p:spPr>
          <a:xfrm>
            <a:off x="3010205" y="4591202"/>
            <a:ext cx="381305" cy="304495"/>
          </a:xfrm>
          <a:prstGeom prst="rect">
            <a:avLst/>
          </a:prstGeom>
          <a:solidFill>
            <a:srgbClr val="7AA4CB"/>
          </a:solidFill>
          <a:ln w="12700">
            <a:solidFill>
              <a:srgbClr val="FFFFFF">
                <a:alpha val="0"/>
              </a:srgbClr>
            </a:solidFill>
            <a:prstDash val="solid"/>
          </a:ln>
        </p:spPr>
      </p:sp>
      <p:sp>
        <p:nvSpPr>
          <p:cNvPr id="25" name="Shape 18"/>
          <p:cNvSpPr/>
          <p:nvPr/>
        </p:nvSpPr>
        <p:spPr>
          <a:xfrm>
            <a:off x="3429000" y="4591202"/>
            <a:ext cx="381305" cy="304495"/>
          </a:xfrm>
          <a:prstGeom prst="rect">
            <a:avLst/>
          </a:prstGeom>
          <a:solidFill>
            <a:srgbClr val="7AA4CB"/>
          </a:solidFill>
          <a:ln w="12700">
            <a:solidFill>
              <a:srgbClr val="FFFFFF">
                <a:alpha val="0"/>
              </a:srgbClr>
            </a:solidFill>
            <a:prstDash val="solid"/>
          </a:ln>
        </p:spPr>
      </p:sp>
      <p:sp>
        <p:nvSpPr>
          <p:cNvPr id="26" name="Shape 19"/>
          <p:cNvSpPr/>
          <p:nvPr/>
        </p:nvSpPr>
        <p:spPr>
          <a:xfrm>
            <a:off x="3847795" y="4591202"/>
            <a:ext cx="381305" cy="304495"/>
          </a:xfrm>
          <a:prstGeom prst="rect">
            <a:avLst/>
          </a:prstGeom>
          <a:solidFill>
            <a:srgbClr val="7AA4CB"/>
          </a:solidFill>
          <a:ln w="12700">
            <a:solidFill>
              <a:srgbClr val="FFFFFF">
                <a:alpha val="0"/>
              </a:srgbClr>
            </a:solidFill>
            <a:prstDash val="solid"/>
          </a:ln>
        </p:spPr>
      </p:sp>
      <p:sp>
        <p:nvSpPr>
          <p:cNvPr id="27" name="Shape 20"/>
          <p:cNvSpPr/>
          <p:nvPr/>
        </p:nvSpPr>
        <p:spPr>
          <a:xfrm>
            <a:off x="4267505" y="4591202"/>
            <a:ext cx="381305" cy="304495"/>
          </a:xfrm>
          <a:prstGeom prst="rect">
            <a:avLst/>
          </a:prstGeom>
          <a:solidFill>
            <a:srgbClr val="DCE3EE"/>
          </a:solidFill>
          <a:ln w="12700">
            <a:solidFill>
              <a:srgbClr val="FFFFFF">
                <a:alpha val="0"/>
              </a:srgbClr>
            </a:solidFill>
            <a:prstDash val="solid"/>
          </a:ln>
        </p:spPr>
      </p:sp>
      <p:sp>
        <p:nvSpPr>
          <p:cNvPr id="28" name="Shape 21"/>
          <p:cNvSpPr/>
          <p:nvPr/>
        </p:nvSpPr>
        <p:spPr>
          <a:xfrm>
            <a:off x="4686300" y="4591202"/>
            <a:ext cx="381305" cy="304495"/>
          </a:xfrm>
          <a:prstGeom prst="rect">
            <a:avLst/>
          </a:prstGeom>
          <a:solidFill>
            <a:srgbClr val="DCE3EE"/>
          </a:solidFill>
          <a:ln w="12700">
            <a:solidFill>
              <a:srgbClr val="FFFFFF">
                <a:alpha val="0"/>
              </a:srgbClr>
            </a:solidFill>
            <a:prstDash val="solid"/>
          </a:ln>
        </p:spPr>
      </p:sp>
      <p:sp>
        <p:nvSpPr>
          <p:cNvPr id="29" name="Shape 22"/>
          <p:cNvSpPr/>
          <p:nvPr/>
        </p:nvSpPr>
        <p:spPr>
          <a:xfrm>
            <a:off x="5105095" y="4591202"/>
            <a:ext cx="381305" cy="304495"/>
          </a:xfrm>
          <a:prstGeom prst="rect">
            <a:avLst/>
          </a:prstGeom>
          <a:solidFill>
            <a:srgbClr val="7AA4CB"/>
          </a:solidFill>
          <a:ln w="12700">
            <a:solidFill>
              <a:srgbClr val="FFFFFF">
                <a:alpha val="0"/>
              </a:srgbClr>
            </a:solidFill>
            <a:prstDash val="solid"/>
          </a:ln>
        </p:spPr>
      </p:sp>
      <p:sp>
        <p:nvSpPr>
          <p:cNvPr id="30" name="Shape 23"/>
          <p:cNvSpPr/>
          <p:nvPr/>
        </p:nvSpPr>
        <p:spPr>
          <a:xfrm>
            <a:off x="1752905" y="4934102"/>
            <a:ext cx="381305" cy="304495"/>
          </a:xfrm>
          <a:prstGeom prst="rect">
            <a:avLst/>
          </a:prstGeom>
          <a:solidFill>
            <a:srgbClr val="7AA4CB"/>
          </a:solidFill>
          <a:ln w="12700">
            <a:solidFill>
              <a:srgbClr val="FFFFFF">
                <a:alpha val="0"/>
              </a:srgbClr>
            </a:solidFill>
            <a:prstDash val="solid"/>
          </a:ln>
        </p:spPr>
      </p:sp>
      <p:sp>
        <p:nvSpPr>
          <p:cNvPr id="31" name="Shape 24"/>
          <p:cNvSpPr/>
          <p:nvPr/>
        </p:nvSpPr>
        <p:spPr>
          <a:xfrm>
            <a:off x="2171700" y="4934102"/>
            <a:ext cx="381305" cy="304495"/>
          </a:xfrm>
          <a:prstGeom prst="rect">
            <a:avLst/>
          </a:prstGeom>
          <a:solidFill>
            <a:srgbClr val="DCE3EE"/>
          </a:solidFill>
          <a:ln w="12700">
            <a:solidFill>
              <a:srgbClr val="FFFFFF">
                <a:alpha val="0"/>
              </a:srgbClr>
            </a:solidFill>
            <a:prstDash val="solid"/>
          </a:ln>
        </p:spPr>
      </p:sp>
      <p:sp>
        <p:nvSpPr>
          <p:cNvPr id="32" name="Shape 25"/>
          <p:cNvSpPr/>
          <p:nvPr/>
        </p:nvSpPr>
        <p:spPr>
          <a:xfrm>
            <a:off x="2590495" y="4934102"/>
            <a:ext cx="381305" cy="304495"/>
          </a:xfrm>
          <a:prstGeom prst="rect">
            <a:avLst/>
          </a:prstGeom>
          <a:solidFill>
            <a:srgbClr val="DCE3EE"/>
          </a:solidFill>
          <a:ln w="12700">
            <a:solidFill>
              <a:srgbClr val="FFFFFF">
                <a:alpha val="0"/>
              </a:srgbClr>
            </a:solidFill>
            <a:prstDash val="solid"/>
          </a:ln>
        </p:spPr>
      </p:sp>
      <p:sp>
        <p:nvSpPr>
          <p:cNvPr id="33" name="Shape 26"/>
          <p:cNvSpPr/>
          <p:nvPr/>
        </p:nvSpPr>
        <p:spPr>
          <a:xfrm>
            <a:off x="3010205" y="4934102"/>
            <a:ext cx="381305" cy="304495"/>
          </a:xfrm>
          <a:prstGeom prst="rect">
            <a:avLst/>
          </a:prstGeom>
          <a:solidFill>
            <a:srgbClr val="DCE3EE"/>
          </a:solidFill>
          <a:ln w="12700">
            <a:solidFill>
              <a:srgbClr val="FFFFFF">
                <a:alpha val="0"/>
              </a:srgbClr>
            </a:solidFill>
            <a:prstDash val="solid"/>
          </a:ln>
        </p:spPr>
      </p:sp>
      <p:sp>
        <p:nvSpPr>
          <p:cNvPr id="34" name="Shape 27"/>
          <p:cNvSpPr/>
          <p:nvPr/>
        </p:nvSpPr>
        <p:spPr>
          <a:xfrm>
            <a:off x="3429000" y="4934102"/>
            <a:ext cx="381305" cy="304495"/>
          </a:xfrm>
          <a:prstGeom prst="rect">
            <a:avLst/>
          </a:prstGeom>
          <a:solidFill>
            <a:srgbClr val="DCE3EE"/>
          </a:solidFill>
          <a:ln w="12700">
            <a:solidFill>
              <a:srgbClr val="FFFFFF">
                <a:alpha val="0"/>
              </a:srgbClr>
            </a:solidFill>
            <a:prstDash val="solid"/>
          </a:ln>
        </p:spPr>
      </p:sp>
      <p:sp>
        <p:nvSpPr>
          <p:cNvPr id="35" name="Shape 28"/>
          <p:cNvSpPr/>
          <p:nvPr/>
        </p:nvSpPr>
        <p:spPr>
          <a:xfrm>
            <a:off x="3847795" y="4934102"/>
            <a:ext cx="381305" cy="304495"/>
          </a:xfrm>
          <a:prstGeom prst="rect">
            <a:avLst/>
          </a:prstGeom>
          <a:solidFill>
            <a:srgbClr val="DCE3EE"/>
          </a:solidFill>
          <a:ln w="12700">
            <a:solidFill>
              <a:srgbClr val="FFFFFF">
                <a:alpha val="0"/>
              </a:srgbClr>
            </a:solidFill>
            <a:prstDash val="solid"/>
          </a:ln>
        </p:spPr>
      </p:sp>
      <p:sp>
        <p:nvSpPr>
          <p:cNvPr id="36" name="Shape 29"/>
          <p:cNvSpPr/>
          <p:nvPr/>
        </p:nvSpPr>
        <p:spPr>
          <a:xfrm>
            <a:off x="4267505" y="4934102"/>
            <a:ext cx="381305" cy="304495"/>
          </a:xfrm>
          <a:prstGeom prst="rect">
            <a:avLst/>
          </a:prstGeom>
          <a:solidFill>
            <a:srgbClr val="DCE3EE"/>
          </a:solidFill>
          <a:ln w="12700">
            <a:solidFill>
              <a:srgbClr val="FFFFFF">
                <a:alpha val="0"/>
              </a:srgbClr>
            </a:solidFill>
            <a:prstDash val="solid"/>
          </a:ln>
        </p:spPr>
      </p:sp>
      <p:sp>
        <p:nvSpPr>
          <p:cNvPr id="37" name="Shape 30"/>
          <p:cNvSpPr/>
          <p:nvPr/>
        </p:nvSpPr>
        <p:spPr>
          <a:xfrm>
            <a:off x="4686300" y="4934102"/>
            <a:ext cx="381305" cy="304495"/>
          </a:xfrm>
          <a:prstGeom prst="rect">
            <a:avLst/>
          </a:prstGeom>
          <a:solidFill>
            <a:srgbClr val="DCE3EE"/>
          </a:solidFill>
          <a:ln w="12700">
            <a:solidFill>
              <a:srgbClr val="FFFFFF">
                <a:alpha val="0"/>
              </a:srgbClr>
            </a:solidFill>
            <a:prstDash val="solid"/>
          </a:ln>
        </p:spPr>
      </p:sp>
      <p:sp>
        <p:nvSpPr>
          <p:cNvPr id="38" name="Shape 31"/>
          <p:cNvSpPr/>
          <p:nvPr/>
        </p:nvSpPr>
        <p:spPr>
          <a:xfrm>
            <a:off x="5105095" y="4934102"/>
            <a:ext cx="381305" cy="304495"/>
          </a:xfrm>
          <a:prstGeom prst="rect">
            <a:avLst/>
          </a:prstGeom>
          <a:solidFill>
            <a:srgbClr val="7AA4CB"/>
          </a:solidFill>
          <a:ln w="12700">
            <a:solidFill>
              <a:srgbClr val="FFFFFF">
                <a:alpha val="0"/>
              </a:srgbClr>
            </a:solidFill>
            <a:prstDash val="solid"/>
          </a:ln>
        </p:spPr>
      </p:sp>
      <p:sp>
        <p:nvSpPr>
          <p:cNvPr id="39" name="Shape 32"/>
          <p:cNvSpPr/>
          <p:nvPr/>
        </p:nvSpPr>
        <p:spPr>
          <a:xfrm>
            <a:off x="1752905" y="5277002"/>
            <a:ext cx="381305" cy="304495"/>
          </a:xfrm>
          <a:prstGeom prst="rect">
            <a:avLst/>
          </a:prstGeom>
          <a:solidFill>
            <a:srgbClr val="3A78B5"/>
          </a:solidFill>
          <a:ln w="12700">
            <a:solidFill>
              <a:srgbClr val="FFFFFF">
                <a:alpha val="0"/>
              </a:srgbClr>
            </a:solidFill>
            <a:prstDash val="solid"/>
          </a:ln>
        </p:spPr>
      </p:sp>
      <p:sp>
        <p:nvSpPr>
          <p:cNvPr id="40" name="Shape 33"/>
          <p:cNvSpPr/>
          <p:nvPr/>
        </p:nvSpPr>
        <p:spPr>
          <a:xfrm>
            <a:off x="2171700" y="5277002"/>
            <a:ext cx="381305" cy="304495"/>
          </a:xfrm>
          <a:prstGeom prst="rect">
            <a:avLst/>
          </a:prstGeom>
          <a:solidFill>
            <a:srgbClr val="7AA4CB"/>
          </a:solidFill>
          <a:ln w="12700">
            <a:solidFill>
              <a:srgbClr val="FFFFFF">
                <a:alpha val="0"/>
              </a:srgbClr>
            </a:solidFill>
            <a:prstDash val="solid"/>
          </a:ln>
        </p:spPr>
      </p:sp>
      <p:sp>
        <p:nvSpPr>
          <p:cNvPr id="41" name="Shape 34"/>
          <p:cNvSpPr/>
          <p:nvPr/>
        </p:nvSpPr>
        <p:spPr>
          <a:xfrm>
            <a:off x="2590495" y="5277002"/>
            <a:ext cx="381305" cy="304495"/>
          </a:xfrm>
          <a:prstGeom prst="rect">
            <a:avLst/>
          </a:prstGeom>
          <a:solidFill>
            <a:srgbClr val="DCE3EE"/>
          </a:solidFill>
          <a:ln w="12700">
            <a:solidFill>
              <a:srgbClr val="FFFFFF">
                <a:alpha val="0"/>
              </a:srgbClr>
            </a:solidFill>
            <a:prstDash val="solid"/>
          </a:ln>
        </p:spPr>
      </p:sp>
      <p:sp>
        <p:nvSpPr>
          <p:cNvPr id="42" name="Shape 35"/>
          <p:cNvSpPr/>
          <p:nvPr/>
        </p:nvSpPr>
        <p:spPr>
          <a:xfrm>
            <a:off x="3010205" y="5277002"/>
            <a:ext cx="381305" cy="304495"/>
          </a:xfrm>
          <a:prstGeom prst="rect">
            <a:avLst/>
          </a:prstGeom>
          <a:solidFill>
            <a:srgbClr val="DCE3EE"/>
          </a:solidFill>
          <a:ln w="12700">
            <a:solidFill>
              <a:srgbClr val="FFFFFF">
                <a:alpha val="0"/>
              </a:srgbClr>
            </a:solidFill>
            <a:prstDash val="solid"/>
          </a:ln>
        </p:spPr>
      </p:sp>
      <p:sp>
        <p:nvSpPr>
          <p:cNvPr id="43" name="Shape 36"/>
          <p:cNvSpPr/>
          <p:nvPr/>
        </p:nvSpPr>
        <p:spPr>
          <a:xfrm>
            <a:off x="3429000" y="5277002"/>
            <a:ext cx="381305" cy="304495"/>
          </a:xfrm>
          <a:prstGeom prst="rect">
            <a:avLst/>
          </a:prstGeom>
          <a:solidFill>
            <a:srgbClr val="DCE3EE"/>
          </a:solidFill>
          <a:ln w="12700">
            <a:solidFill>
              <a:srgbClr val="FFFFFF">
                <a:alpha val="0"/>
              </a:srgbClr>
            </a:solidFill>
            <a:prstDash val="solid"/>
          </a:ln>
        </p:spPr>
      </p:sp>
      <p:sp>
        <p:nvSpPr>
          <p:cNvPr id="44" name="Shape 37"/>
          <p:cNvSpPr/>
          <p:nvPr/>
        </p:nvSpPr>
        <p:spPr>
          <a:xfrm>
            <a:off x="3847795" y="5277002"/>
            <a:ext cx="381305" cy="304495"/>
          </a:xfrm>
          <a:prstGeom prst="rect">
            <a:avLst/>
          </a:prstGeom>
          <a:solidFill>
            <a:srgbClr val="DCE3EE"/>
          </a:solidFill>
          <a:ln w="12700">
            <a:solidFill>
              <a:srgbClr val="FFFFFF">
                <a:alpha val="0"/>
              </a:srgbClr>
            </a:solidFill>
            <a:prstDash val="solid"/>
          </a:ln>
        </p:spPr>
      </p:sp>
      <p:sp>
        <p:nvSpPr>
          <p:cNvPr id="45" name="Shape 38"/>
          <p:cNvSpPr/>
          <p:nvPr/>
        </p:nvSpPr>
        <p:spPr>
          <a:xfrm>
            <a:off x="4267505" y="5277002"/>
            <a:ext cx="381305" cy="304495"/>
          </a:xfrm>
          <a:prstGeom prst="rect">
            <a:avLst/>
          </a:prstGeom>
          <a:solidFill>
            <a:srgbClr val="DCE3EE"/>
          </a:solidFill>
          <a:ln w="12700">
            <a:solidFill>
              <a:srgbClr val="FFFFFF">
                <a:alpha val="0"/>
              </a:srgbClr>
            </a:solidFill>
            <a:prstDash val="solid"/>
          </a:ln>
        </p:spPr>
      </p:sp>
      <p:sp>
        <p:nvSpPr>
          <p:cNvPr id="46" name="Shape 39"/>
          <p:cNvSpPr/>
          <p:nvPr/>
        </p:nvSpPr>
        <p:spPr>
          <a:xfrm>
            <a:off x="4686300" y="5277002"/>
            <a:ext cx="381305" cy="304495"/>
          </a:xfrm>
          <a:prstGeom prst="rect">
            <a:avLst/>
          </a:prstGeom>
          <a:solidFill>
            <a:srgbClr val="7AA4CB"/>
          </a:solidFill>
          <a:ln w="12700">
            <a:solidFill>
              <a:srgbClr val="FFFFFF">
                <a:alpha val="0"/>
              </a:srgbClr>
            </a:solidFill>
            <a:prstDash val="solid"/>
          </a:ln>
        </p:spPr>
      </p:sp>
      <p:sp>
        <p:nvSpPr>
          <p:cNvPr id="47" name="Shape 40"/>
          <p:cNvSpPr/>
          <p:nvPr/>
        </p:nvSpPr>
        <p:spPr>
          <a:xfrm>
            <a:off x="5105095" y="5277002"/>
            <a:ext cx="381305" cy="304495"/>
          </a:xfrm>
          <a:prstGeom prst="rect">
            <a:avLst/>
          </a:prstGeom>
          <a:solidFill>
            <a:srgbClr val="3A78B5"/>
          </a:solidFill>
          <a:ln w="12700">
            <a:solidFill>
              <a:srgbClr val="FFFFFF">
                <a:alpha val="0"/>
              </a:srgbClr>
            </a:solidFill>
            <a:prstDash val="solid"/>
          </a:ln>
        </p:spPr>
      </p:sp>
      <p:sp>
        <p:nvSpPr>
          <p:cNvPr id="48" name="Shape 41"/>
          <p:cNvSpPr/>
          <p:nvPr/>
        </p:nvSpPr>
        <p:spPr>
          <a:xfrm>
            <a:off x="1752905" y="5619902"/>
            <a:ext cx="381305" cy="304495"/>
          </a:xfrm>
          <a:prstGeom prst="rect">
            <a:avLst/>
          </a:prstGeom>
          <a:solidFill>
            <a:srgbClr val="3A78B5"/>
          </a:solidFill>
          <a:ln w="12700">
            <a:solidFill>
              <a:srgbClr val="FFFFFF">
                <a:alpha val="0"/>
              </a:srgbClr>
            </a:solidFill>
            <a:prstDash val="solid"/>
          </a:ln>
        </p:spPr>
      </p:sp>
      <p:sp>
        <p:nvSpPr>
          <p:cNvPr id="49" name="Shape 42"/>
          <p:cNvSpPr/>
          <p:nvPr/>
        </p:nvSpPr>
        <p:spPr>
          <a:xfrm>
            <a:off x="2171700" y="5619902"/>
            <a:ext cx="381305" cy="304495"/>
          </a:xfrm>
          <a:prstGeom prst="rect">
            <a:avLst/>
          </a:prstGeom>
          <a:solidFill>
            <a:srgbClr val="7AA4CB"/>
          </a:solidFill>
          <a:ln w="12700">
            <a:solidFill>
              <a:srgbClr val="FFFFFF">
                <a:alpha val="0"/>
              </a:srgbClr>
            </a:solidFill>
            <a:prstDash val="solid"/>
          </a:ln>
        </p:spPr>
      </p:sp>
      <p:sp>
        <p:nvSpPr>
          <p:cNvPr id="50" name="Shape 43"/>
          <p:cNvSpPr/>
          <p:nvPr/>
        </p:nvSpPr>
        <p:spPr>
          <a:xfrm>
            <a:off x="2590495" y="5619902"/>
            <a:ext cx="381305" cy="304495"/>
          </a:xfrm>
          <a:prstGeom prst="rect">
            <a:avLst/>
          </a:prstGeom>
          <a:solidFill>
            <a:srgbClr val="DCE3EE"/>
          </a:solidFill>
          <a:ln w="12700">
            <a:solidFill>
              <a:srgbClr val="FFFFFF">
                <a:alpha val="0"/>
              </a:srgbClr>
            </a:solidFill>
            <a:prstDash val="solid"/>
          </a:ln>
        </p:spPr>
      </p:sp>
      <p:sp>
        <p:nvSpPr>
          <p:cNvPr id="51" name="Shape 44"/>
          <p:cNvSpPr/>
          <p:nvPr/>
        </p:nvSpPr>
        <p:spPr>
          <a:xfrm>
            <a:off x="3010205" y="5619902"/>
            <a:ext cx="381305" cy="304495"/>
          </a:xfrm>
          <a:prstGeom prst="rect">
            <a:avLst/>
          </a:prstGeom>
          <a:solidFill>
            <a:srgbClr val="DCE3EE"/>
          </a:solidFill>
          <a:ln w="12700">
            <a:solidFill>
              <a:srgbClr val="FFFFFF">
                <a:alpha val="0"/>
              </a:srgbClr>
            </a:solidFill>
            <a:prstDash val="solid"/>
          </a:ln>
        </p:spPr>
      </p:sp>
      <p:sp>
        <p:nvSpPr>
          <p:cNvPr id="52" name="Shape 45"/>
          <p:cNvSpPr/>
          <p:nvPr/>
        </p:nvSpPr>
        <p:spPr>
          <a:xfrm>
            <a:off x="3429000" y="5619902"/>
            <a:ext cx="381305" cy="304495"/>
          </a:xfrm>
          <a:prstGeom prst="rect">
            <a:avLst/>
          </a:prstGeom>
          <a:solidFill>
            <a:srgbClr val="DCE3EE"/>
          </a:solidFill>
          <a:ln w="12700">
            <a:solidFill>
              <a:srgbClr val="FFFFFF">
                <a:alpha val="0"/>
              </a:srgbClr>
            </a:solidFill>
            <a:prstDash val="solid"/>
          </a:ln>
        </p:spPr>
      </p:sp>
      <p:sp>
        <p:nvSpPr>
          <p:cNvPr id="53" name="Shape 46"/>
          <p:cNvSpPr/>
          <p:nvPr/>
        </p:nvSpPr>
        <p:spPr>
          <a:xfrm>
            <a:off x="3847795" y="5619902"/>
            <a:ext cx="381305" cy="304495"/>
          </a:xfrm>
          <a:prstGeom prst="rect">
            <a:avLst/>
          </a:prstGeom>
          <a:solidFill>
            <a:srgbClr val="DCE3EE"/>
          </a:solidFill>
          <a:ln w="12700">
            <a:solidFill>
              <a:srgbClr val="FFFFFF">
                <a:alpha val="0"/>
              </a:srgbClr>
            </a:solidFill>
            <a:prstDash val="solid"/>
          </a:ln>
        </p:spPr>
      </p:sp>
      <p:sp>
        <p:nvSpPr>
          <p:cNvPr id="54" name="Shape 47"/>
          <p:cNvSpPr/>
          <p:nvPr/>
        </p:nvSpPr>
        <p:spPr>
          <a:xfrm>
            <a:off x="4267505" y="5619902"/>
            <a:ext cx="381305" cy="304495"/>
          </a:xfrm>
          <a:prstGeom prst="rect">
            <a:avLst/>
          </a:prstGeom>
          <a:solidFill>
            <a:srgbClr val="DCE3EE"/>
          </a:solidFill>
          <a:ln w="12700">
            <a:solidFill>
              <a:srgbClr val="FFFFFF">
                <a:alpha val="0"/>
              </a:srgbClr>
            </a:solidFill>
            <a:prstDash val="solid"/>
          </a:ln>
        </p:spPr>
      </p:sp>
      <p:sp>
        <p:nvSpPr>
          <p:cNvPr id="55" name="Shape 48"/>
          <p:cNvSpPr/>
          <p:nvPr/>
        </p:nvSpPr>
        <p:spPr>
          <a:xfrm>
            <a:off x="4686300" y="5619902"/>
            <a:ext cx="381305" cy="304495"/>
          </a:xfrm>
          <a:prstGeom prst="rect">
            <a:avLst/>
          </a:prstGeom>
          <a:solidFill>
            <a:srgbClr val="7AA4CB"/>
          </a:solidFill>
          <a:ln w="12700">
            <a:solidFill>
              <a:srgbClr val="FFFFFF">
                <a:alpha val="0"/>
              </a:srgbClr>
            </a:solidFill>
            <a:prstDash val="solid"/>
          </a:ln>
        </p:spPr>
      </p:sp>
      <p:sp>
        <p:nvSpPr>
          <p:cNvPr id="56" name="Shape 49"/>
          <p:cNvSpPr/>
          <p:nvPr/>
        </p:nvSpPr>
        <p:spPr>
          <a:xfrm>
            <a:off x="5105095" y="5619902"/>
            <a:ext cx="381305" cy="304495"/>
          </a:xfrm>
          <a:prstGeom prst="rect">
            <a:avLst/>
          </a:prstGeom>
          <a:solidFill>
            <a:srgbClr val="3A78B5"/>
          </a:solidFill>
          <a:ln w="12700">
            <a:solidFill>
              <a:srgbClr val="FFFFFF">
                <a:alpha val="0"/>
              </a:srgbClr>
            </a:solidFill>
            <a:prstDash val="solid"/>
          </a:ln>
        </p:spPr>
      </p:sp>
      <p:sp>
        <p:nvSpPr>
          <p:cNvPr id="57" name="Shape 50"/>
          <p:cNvSpPr/>
          <p:nvPr/>
        </p:nvSpPr>
        <p:spPr>
          <a:xfrm>
            <a:off x="1752905" y="5962802"/>
            <a:ext cx="381305" cy="304495"/>
          </a:xfrm>
          <a:prstGeom prst="rect">
            <a:avLst/>
          </a:prstGeom>
          <a:solidFill>
            <a:srgbClr val="3A78B5"/>
          </a:solidFill>
          <a:ln w="12700">
            <a:solidFill>
              <a:srgbClr val="FFFFFF">
                <a:alpha val="0"/>
              </a:srgbClr>
            </a:solidFill>
            <a:prstDash val="solid"/>
          </a:ln>
        </p:spPr>
      </p:sp>
      <p:sp>
        <p:nvSpPr>
          <p:cNvPr id="58" name="Shape 51"/>
          <p:cNvSpPr/>
          <p:nvPr/>
        </p:nvSpPr>
        <p:spPr>
          <a:xfrm>
            <a:off x="2171700" y="5962802"/>
            <a:ext cx="381305" cy="304495"/>
          </a:xfrm>
          <a:prstGeom prst="rect">
            <a:avLst/>
          </a:prstGeom>
          <a:solidFill>
            <a:srgbClr val="7AA4CB"/>
          </a:solidFill>
          <a:ln w="12700">
            <a:solidFill>
              <a:srgbClr val="FFFFFF">
                <a:alpha val="0"/>
              </a:srgbClr>
            </a:solidFill>
            <a:prstDash val="solid"/>
          </a:ln>
        </p:spPr>
      </p:sp>
      <p:sp>
        <p:nvSpPr>
          <p:cNvPr id="59" name="Shape 52"/>
          <p:cNvSpPr/>
          <p:nvPr/>
        </p:nvSpPr>
        <p:spPr>
          <a:xfrm>
            <a:off x="2590495" y="5962802"/>
            <a:ext cx="381305" cy="304495"/>
          </a:xfrm>
          <a:prstGeom prst="rect">
            <a:avLst/>
          </a:prstGeom>
          <a:solidFill>
            <a:srgbClr val="DCE3EE"/>
          </a:solidFill>
          <a:ln w="12700">
            <a:solidFill>
              <a:srgbClr val="FFFFFF">
                <a:alpha val="0"/>
              </a:srgbClr>
            </a:solidFill>
            <a:prstDash val="solid"/>
          </a:ln>
        </p:spPr>
      </p:sp>
      <p:sp>
        <p:nvSpPr>
          <p:cNvPr id="60" name="Shape 53"/>
          <p:cNvSpPr/>
          <p:nvPr/>
        </p:nvSpPr>
        <p:spPr>
          <a:xfrm>
            <a:off x="3010205" y="5962802"/>
            <a:ext cx="381305" cy="304495"/>
          </a:xfrm>
          <a:prstGeom prst="rect">
            <a:avLst/>
          </a:prstGeom>
          <a:solidFill>
            <a:srgbClr val="DCE3EE"/>
          </a:solidFill>
          <a:ln w="12700">
            <a:solidFill>
              <a:srgbClr val="FFFFFF">
                <a:alpha val="0"/>
              </a:srgbClr>
            </a:solidFill>
            <a:prstDash val="solid"/>
          </a:ln>
        </p:spPr>
      </p:sp>
      <p:sp>
        <p:nvSpPr>
          <p:cNvPr id="61" name="Shape 54"/>
          <p:cNvSpPr/>
          <p:nvPr/>
        </p:nvSpPr>
        <p:spPr>
          <a:xfrm>
            <a:off x="3429000" y="5962802"/>
            <a:ext cx="381305" cy="304495"/>
          </a:xfrm>
          <a:prstGeom prst="rect">
            <a:avLst/>
          </a:prstGeom>
          <a:solidFill>
            <a:srgbClr val="DCE3EE"/>
          </a:solidFill>
          <a:ln w="12700">
            <a:solidFill>
              <a:srgbClr val="FFFFFF">
                <a:alpha val="0"/>
              </a:srgbClr>
            </a:solidFill>
            <a:prstDash val="solid"/>
          </a:ln>
        </p:spPr>
      </p:sp>
      <p:sp>
        <p:nvSpPr>
          <p:cNvPr id="62" name="Shape 55"/>
          <p:cNvSpPr/>
          <p:nvPr/>
        </p:nvSpPr>
        <p:spPr>
          <a:xfrm>
            <a:off x="3847795" y="5962802"/>
            <a:ext cx="381305" cy="304495"/>
          </a:xfrm>
          <a:prstGeom prst="rect">
            <a:avLst/>
          </a:prstGeom>
          <a:solidFill>
            <a:srgbClr val="DCE3EE"/>
          </a:solidFill>
          <a:ln w="12700">
            <a:solidFill>
              <a:srgbClr val="FFFFFF">
                <a:alpha val="0"/>
              </a:srgbClr>
            </a:solidFill>
            <a:prstDash val="solid"/>
          </a:ln>
        </p:spPr>
      </p:sp>
      <p:sp>
        <p:nvSpPr>
          <p:cNvPr id="63" name="Shape 56"/>
          <p:cNvSpPr/>
          <p:nvPr/>
        </p:nvSpPr>
        <p:spPr>
          <a:xfrm>
            <a:off x="4267505" y="5962802"/>
            <a:ext cx="381305" cy="304495"/>
          </a:xfrm>
          <a:prstGeom prst="rect">
            <a:avLst/>
          </a:prstGeom>
          <a:solidFill>
            <a:srgbClr val="DCE3EE"/>
          </a:solidFill>
          <a:ln w="12700">
            <a:solidFill>
              <a:srgbClr val="FFFFFF">
                <a:alpha val="0"/>
              </a:srgbClr>
            </a:solidFill>
            <a:prstDash val="solid"/>
          </a:ln>
        </p:spPr>
      </p:sp>
      <p:sp>
        <p:nvSpPr>
          <p:cNvPr id="64" name="Shape 57"/>
          <p:cNvSpPr/>
          <p:nvPr/>
        </p:nvSpPr>
        <p:spPr>
          <a:xfrm>
            <a:off x="4686300" y="5962802"/>
            <a:ext cx="381305" cy="304495"/>
          </a:xfrm>
          <a:prstGeom prst="rect">
            <a:avLst/>
          </a:prstGeom>
          <a:solidFill>
            <a:srgbClr val="7AA4CB"/>
          </a:solidFill>
          <a:ln w="12700">
            <a:solidFill>
              <a:srgbClr val="FFFFFF">
                <a:alpha val="0"/>
              </a:srgbClr>
            </a:solidFill>
            <a:prstDash val="solid"/>
          </a:ln>
        </p:spPr>
      </p:sp>
      <p:sp>
        <p:nvSpPr>
          <p:cNvPr id="65" name="Shape 58"/>
          <p:cNvSpPr/>
          <p:nvPr/>
        </p:nvSpPr>
        <p:spPr>
          <a:xfrm>
            <a:off x="5105095" y="5962802"/>
            <a:ext cx="381305" cy="304495"/>
          </a:xfrm>
          <a:prstGeom prst="rect">
            <a:avLst/>
          </a:prstGeom>
          <a:solidFill>
            <a:srgbClr val="3A78B5"/>
          </a:solidFill>
          <a:ln w="12700">
            <a:solidFill>
              <a:srgbClr val="FFFFFF">
                <a:alpha val="0"/>
              </a:srgbClr>
            </a:solidFill>
            <a:prstDash val="solid"/>
          </a:ln>
        </p:spPr>
      </p:sp>
      <p:sp>
        <p:nvSpPr>
          <p:cNvPr id="66" name="Shape 59"/>
          <p:cNvSpPr/>
          <p:nvPr/>
        </p:nvSpPr>
        <p:spPr>
          <a:xfrm>
            <a:off x="1752905" y="6305702"/>
            <a:ext cx="381305" cy="304495"/>
          </a:xfrm>
          <a:prstGeom prst="rect">
            <a:avLst/>
          </a:prstGeom>
          <a:solidFill>
            <a:srgbClr val="7AA4CB"/>
          </a:solidFill>
          <a:ln w="12700">
            <a:solidFill>
              <a:srgbClr val="FFFFFF">
                <a:alpha val="0"/>
              </a:srgbClr>
            </a:solidFill>
            <a:prstDash val="solid"/>
          </a:ln>
        </p:spPr>
      </p:sp>
      <p:sp>
        <p:nvSpPr>
          <p:cNvPr id="67" name="Shape 60"/>
          <p:cNvSpPr/>
          <p:nvPr/>
        </p:nvSpPr>
        <p:spPr>
          <a:xfrm>
            <a:off x="2171700" y="6305702"/>
            <a:ext cx="381305" cy="304495"/>
          </a:xfrm>
          <a:prstGeom prst="rect">
            <a:avLst/>
          </a:prstGeom>
          <a:solidFill>
            <a:srgbClr val="DCE3EE"/>
          </a:solidFill>
          <a:ln w="12700">
            <a:solidFill>
              <a:srgbClr val="FFFFFF">
                <a:alpha val="0"/>
              </a:srgbClr>
            </a:solidFill>
            <a:prstDash val="solid"/>
          </a:ln>
        </p:spPr>
      </p:sp>
      <p:sp>
        <p:nvSpPr>
          <p:cNvPr id="68" name="Shape 61"/>
          <p:cNvSpPr/>
          <p:nvPr/>
        </p:nvSpPr>
        <p:spPr>
          <a:xfrm>
            <a:off x="2590495" y="6305702"/>
            <a:ext cx="381305" cy="304495"/>
          </a:xfrm>
          <a:prstGeom prst="rect">
            <a:avLst/>
          </a:prstGeom>
          <a:solidFill>
            <a:srgbClr val="DCE3EE"/>
          </a:solidFill>
          <a:ln w="12700">
            <a:solidFill>
              <a:srgbClr val="FFFFFF">
                <a:alpha val="0"/>
              </a:srgbClr>
            </a:solidFill>
            <a:prstDash val="solid"/>
          </a:ln>
        </p:spPr>
      </p:sp>
      <p:sp>
        <p:nvSpPr>
          <p:cNvPr id="69" name="Shape 62"/>
          <p:cNvSpPr/>
          <p:nvPr/>
        </p:nvSpPr>
        <p:spPr>
          <a:xfrm>
            <a:off x="3010205" y="6305702"/>
            <a:ext cx="381305" cy="304495"/>
          </a:xfrm>
          <a:prstGeom prst="rect">
            <a:avLst/>
          </a:prstGeom>
          <a:solidFill>
            <a:srgbClr val="DCE3EE"/>
          </a:solidFill>
          <a:ln w="12700">
            <a:solidFill>
              <a:srgbClr val="FFFFFF">
                <a:alpha val="0"/>
              </a:srgbClr>
            </a:solidFill>
            <a:prstDash val="solid"/>
          </a:ln>
        </p:spPr>
      </p:sp>
      <p:sp>
        <p:nvSpPr>
          <p:cNvPr id="70" name="Shape 63"/>
          <p:cNvSpPr/>
          <p:nvPr/>
        </p:nvSpPr>
        <p:spPr>
          <a:xfrm>
            <a:off x="3429000" y="6305702"/>
            <a:ext cx="381305" cy="304495"/>
          </a:xfrm>
          <a:prstGeom prst="rect">
            <a:avLst/>
          </a:prstGeom>
          <a:solidFill>
            <a:srgbClr val="DCE3EE"/>
          </a:solidFill>
          <a:ln w="12700">
            <a:solidFill>
              <a:srgbClr val="FFFFFF">
                <a:alpha val="0"/>
              </a:srgbClr>
            </a:solidFill>
            <a:prstDash val="solid"/>
          </a:ln>
        </p:spPr>
      </p:sp>
      <p:sp>
        <p:nvSpPr>
          <p:cNvPr id="71" name="Shape 64"/>
          <p:cNvSpPr/>
          <p:nvPr/>
        </p:nvSpPr>
        <p:spPr>
          <a:xfrm>
            <a:off x="3847795" y="6305702"/>
            <a:ext cx="381305" cy="304495"/>
          </a:xfrm>
          <a:prstGeom prst="rect">
            <a:avLst/>
          </a:prstGeom>
          <a:solidFill>
            <a:srgbClr val="DCE3EE"/>
          </a:solidFill>
          <a:ln w="12700">
            <a:solidFill>
              <a:srgbClr val="FFFFFF">
                <a:alpha val="0"/>
              </a:srgbClr>
            </a:solidFill>
            <a:prstDash val="solid"/>
          </a:ln>
        </p:spPr>
      </p:sp>
      <p:sp>
        <p:nvSpPr>
          <p:cNvPr id="72" name="Shape 65"/>
          <p:cNvSpPr/>
          <p:nvPr/>
        </p:nvSpPr>
        <p:spPr>
          <a:xfrm>
            <a:off x="4267505" y="6305702"/>
            <a:ext cx="381305" cy="304495"/>
          </a:xfrm>
          <a:prstGeom prst="rect">
            <a:avLst/>
          </a:prstGeom>
          <a:solidFill>
            <a:srgbClr val="DCE3EE"/>
          </a:solidFill>
          <a:ln w="12700">
            <a:solidFill>
              <a:srgbClr val="FFFFFF">
                <a:alpha val="0"/>
              </a:srgbClr>
            </a:solidFill>
            <a:prstDash val="solid"/>
          </a:ln>
        </p:spPr>
      </p:sp>
      <p:sp>
        <p:nvSpPr>
          <p:cNvPr id="73" name="Shape 66"/>
          <p:cNvSpPr/>
          <p:nvPr/>
        </p:nvSpPr>
        <p:spPr>
          <a:xfrm>
            <a:off x="4686300" y="6305702"/>
            <a:ext cx="381305" cy="304495"/>
          </a:xfrm>
          <a:prstGeom prst="rect">
            <a:avLst/>
          </a:prstGeom>
          <a:solidFill>
            <a:srgbClr val="DCE3EE"/>
          </a:solidFill>
          <a:ln w="12700">
            <a:solidFill>
              <a:srgbClr val="FFFFFF">
                <a:alpha val="0"/>
              </a:srgbClr>
            </a:solidFill>
            <a:prstDash val="solid"/>
          </a:ln>
        </p:spPr>
      </p:sp>
      <p:sp>
        <p:nvSpPr>
          <p:cNvPr id="74" name="Shape 67"/>
          <p:cNvSpPr/>
          <p:nvPr/>
        </p:nvSpPr>
        <p:spPr>
          <a:xfrm>
            <a:off x="5105095" y="6305702"/>
            <a:ext cx="381305" cy="304495"/>
          </a:xfrm>
          <a:prstGeom prst="rect">
            <a:avLst/>
          </a:prstGeom>
          <a:solidFill>
            <a:srgbClr val="7AA4CB"/>
          </a:solidFill>
          <a:ln w="12700">
            <a:solidFill>
              <a:srgbClr val="FFFFFF">
                <a:alpha val="0"/>
              </a:srgbClr>
            </a:solidFill>
            <a:prstDash val="solid"/>
          </a:ln>
        </p:spPr>
      </p:sp>
      <p:sp>
        <p:nvSpPr>
          <p:cNvPr id="75" name="Shape 68"/>
          <p:cNvSpPr/>
          <p:nvPr/>
        </p:nvSpPr>
        <p:spPr>
          <a:xfrm>
            <a:off x="1752905" y="6648602"/>
            <a:ext cx="381305" cy="304495"/>
          </a:xfrm>
          <a:prstGeom prst="rect">
            <a:avLst/>
          </a:prstGeom>
          <a:solidFill>
            <a:srgbClr val="7AA4CB"/>
          </a:solidFill>
          <a:ln w="12700">
            <a:solidFill>
              <a:srgbClr val="FFFFFF">
                <a:alpha val="0"/>
              </a:srgbClr>
            </a:solidFill>
            <a:prstDash val="solid"/>
          </a:ln>
        </p:spPr>
      </p:sp>
      <p:sp>
        <p:nvSpPr>
          <p:cNvPr id="76" name="Shape 69"/>
          <p:cNvSpPr/>
          <p:nvPr/>
        </p:nvSpPr>
        <p:spPr>
          <a:xfrm>
            <a:off x="2171700" y="6648602"/>
            <a:ext cx="381305" cy="304495"/>
          </a:xfrm>
          <a:prstGeom prst="rect">
            <a:avLst/>
          </a:prstGeom>
          <a:solidFill>
            <a:srgbClr val="7AA4CB"/>
          </a:solidFill>
          <a:ln w="12700">
            <a:solidFill>
              <a:srgbClr val="FFFFFF">
                <a:alpha val="0"/>
              </a:srgbClr>
            </a:solidFill>
            <a:prstDash val="solid"/>
          </a:ln>
        </p:spPr>
      </p:sp>
      <p:sp>
        <p:nvSpPr>
          <p:cNvPr id="77" name="Shape 70"/>
          <p:cNvSpPr/>
          <p:nvPr/>
        </p:nvSpPr>
        <p:spPr>
          <a:xfrm>
            <a:off x="2590495" y="6648602"/>
            <a:ext cx="381305" cy="304495"/>
          </a:xfrm>
          <a:prstGeom prst="rect">
            <a:avLst/>
          </a:prstGeom>
          <a:solidFill>
            <a:srgbClr val="7AA4CB"/>
          </a:solidFill>
          <a:ln w="12700">
            <a:solidFill>
              <a:srgbClr val="FFFFFF">
                <a:alpha val="0"/>
              </a:srgbClr>
            </a:solidFill>
            <a:prstDash val="solid"/>
          </a:ln>
        </p:spPr>
      </p:sp>
      <p:sp>
        <p:nvSpPr>
          <p:cNvPr id="78" name="Shape 71"/>
          <p:cNvSpPr/>
          <p:nvPr/>
        </p:nvSpPr>
        <p:spPr>
          <a:xfrm>
            <a:off x="3010205" y="6648602"/>
            <a:ext cx="381305" cy="304495"/>
          </a:xfrm>
          <a:prstGeom prst="rect">
            <a:avLst/>
          </a:prstGeom>
          <a:solidFill>
            <a:srgbClr val="3A78B5"/>
          </a:solidFill>
          <a:ln w="12700">
            <a:solidFill>
              <a:srgbClr val="FFFFFF">
                <a:alpha val="0"/>
              </a:srgbClr>
            </a:solidFill>
            <a:prstDash val="solid"/>
          </a:ln>
        </p:spPr>
      </p:sp>
      <p:sp>
        <p:nvSpPr>
          <p:cNvPr id="79" name="Shape 72"/>
          <p:cNvSpPr/>
          <p:nvPr/>
        </p:nvSpPr>
        <p:spPr>
          <a:xfrm>
            <a:off x="3429000" y="6648602"/>
            <a:ext cx="381305" cy="304495"/>
          </a:xfrm>
          <a:prstGeom prst="rect">
            <a:avLst/>
          </a:prstGeom>
          <a:solidFill>
            <a:srgbClr val="3A78B5"/>
          </a:solidFill>
          <a:ln w="12700">
            <a:solidFill>
              <a:srgbClr val="FFFFFF">
                <a:alpha val="0"/>
              </a:srgbClr>
            </a:solidFill>
            <a:prstDash val="solid"/>
          </a:ln>
        </p:spPr>
      </p:sp>
      <p:sp>
        <p:nvSpPr>
          <p:cNvPr id="80" name="Shape 73"/>
          <p:cNvSpPr/>
          <p:nvPr/>
        </p:nvSpPr>
        <p:spPr>
          <a:xfrm>
            <a:off x="3847795" y="6648602"/>
            <a:ext cx="381305" cy="304495"/>
          </a:xfrm>
          <a:prstGeom prst="rect">
            <a:avLst/>
          </a:prstGeom>
          <a:solidFill>
            <a:srgbClr val="3A78B5"/>
          </a:solidFill>
          <a:ln w="12700">
            <a:solidFill>
              <a:srgbClr val="FFFFFF">
                <a:alpha val="0"/>
              </a:srgbClr>
            </a:solidFill>
            <a:prstDash val="solid"/>
          </a:ln>
        </p:spPr>
      </p:sp>
      <p:sp>
        <p:nvSpPr>
          <p:cNvPr id="81" name="Shape 74"/>
          <p:cNvSpPr/>
          <p:nvPr/>
        </p:nvSpPr>
        <p:spPr>
          <a:xfrm>
            <a:off x="4267505" y="6648602"/>
            <a:ext cx="381305" cy="304495"/>
          </a:xfrm>
          <a:prstGeom prst="rect">
            <a:avLst/>
          </a:prstGeom>
          <a:solidFill>
            <a:srgbClr val="7AA4CB"/>
          </a:solidFill>
          <a:ln w="12700">
            <a:solidFill>
              <a:srgbClr val="FFFFFF">
                <a:alpha val="0"/>
              </a:srgbClr>
            </a:solidFill>
            <a:prstDash val="solid"/>
          </a:ln>
        </p:spPr>
      </p:sp>
      <p:sp>
        <p:nvSpPr>
          <p:cNvPr id="82" name="Shape 75"/>
          <p:cNvSpPr/>
          <p:nvPr/>
        </p:nvSpPr>
        <p:spPr>
          <a:xfrm>
            <a:off x="4686300" y="6648602"/>
            <a:ext cx="381305" cy="304495"/>
          </a:xfrm>
          <a:prstGeom prst="rect">
            <a:avLst/>
          </a:prstGeom>
          <a:solidFill>
            <a:srgbClr val="7AA4CB"/>
          </a:solidFill>
          <a:ln w="12700">
            <a:solidFill>
              <a:srgbClr val="FFFFFF">
                <a:alpha val="0"/>
              </a:srgbClr>
            </a:solidFill>
            <a:prstDash val="solid"/>
          </a:ln>
        </p:spPr>
      </p:sp>
      <p:pic>
        <p:nvPicPr>
          <p:cNvPr id="83" name="Image 4" descr="gen-dedup-9a32aed1d400fdb4e0fb19b64130d11d.png">    </p:cNvPr>
          <p:cNvPicPr>
            <a:picLocks noChangeAspect="1"/>
          </p:cNvPicPr>
          <p:nvPr/>
        </p:nvPicPr>
        <p:blipFill>
          <a:blip r:embed="rId5"/>
          <a:srcRect l="-90" r="-90" t="0" b="0"/>
          <a:stretch/>
        </p:blipFill>
        <p:spPr>
          <a:xfrm>
            <a:off x="5105095" y="6648602"/>
            <a:ext cx="381305" cy="304495"/>
          </a:xfrm>
          <a:prstGeom prst="rect">
            <a:avLst/>
          </a:prstGeom>
        </p:spPr>
      </p:pic>
      <p:pic>
        <p:nvPicPr>
          <p:cNvPr id="84" name="Image 5" descr="gen-dedup-9a32aed1d400fdb4e0fb19b64130d11d.png">    </p:cNvPr>
          <p:cNvPicPr>
            <a:picLocks noChangeAspect="1"/>
          </p:cNvPicPr>
          <p:nvPr/>
        </p:nvPicPr>
        <p:blipFill>
          <a:blip r:embed="rId6"/>
          <a:srcRect l="-90" r="-90" t="0" b="0"/>
          <a:stretch/>
        </p:blipFill>
        <p:spPr>
          <a:xfrm>
            <a:off x="7372807" y="4248302"/>
            <a:ext cx="381305" cy="304495"/>
          </a:xfrm>
          <a:prstGeom prst="rect">
            <a:avLst/>
          </a:prstGeom>
        </p:spPr>
      </p:pic>
      <p:sp>
        <p:nvSpPr>
          <p:cNvPr id="85" name="Shape 76"/>
          <p:cNvSpPr/>
          <p:nvPr/>
        </p:nvSpPr>
        <p:spPr>
          <a:xfrm>
            <a:off x="7791602" y="4248302"/>
            <a:ext cx="381305" cy="304495"/>
          </a:xfrm>
          <a:prstGeom prst="rect">
            <a:avLst/>
          </a:prstGeom>
          <a:solidFill>
            <a:srgbClr val="DCE3EE"/>
          </a:solidFill>
          <a:ln w="12700">
            <a:solidFill>
              <a:srgbClr val="FFFFFF">
                <a:alpha val="0"/>
              </a:srgbClr>
            </a:solidFill>
            <a:prstDash val="solid"/>
          </a:ln>
        </p:spPr>
      </p:sp>
      <p:sp>
        <p:nvSpPr>
          <p:cNvPr id="86" name="Shape 77"/>
          <p:cNvSpPr/>
          <p:nvPr/>
        </p:nvSpPr>
        <p:spPr>
          <a:xfrm>
            <a:off x="8210398" y="4248302"/>
            <a:ext cx="381305" cy="304495"/>
          </a:xfrm>
          <a:prstGeom prst="rect">
            <a:avLst/>
          </a:prstGeom>
          <a:solidFill>
            <a:srgbClr val="DCE3EE"/>
          </a:solidFill>
          <a:ln w="12700">
            <a:solidFill>
              <a:srgbClr val="FFFFFF">
                <a:alpha val="0"/>
              </a:srgbClr>
            </a:solidFill>
            <a:prstDash val="solid"/>
          </a:ln>
        </p:spPr>
      </p:sp>
      <p:sp>
        <p:nvSpPr>
          <p:cNvPr id="87" name="Shape 78"/>
          <p:cNvSpPr/>
          <p:nvPr/>
        </p:nvSpPr>
        <p:spPr>
          <a:xfrm>
            <a:off x="8630107" y="4248302"/>
            <a:ext cx="381305" cy="304495"/>
          </a:xfrm>
          <a:prstGeom prst="rect">
            <a:avLst/>
          </a:prstGeom>
          <a:solidFill>
            <a:srgbClr val="7AA4CB"/>
          </a:solidFill>
          <a:ln w="12700">
            <a:solidFill>
              <a:srgbClr val="FFFFFF">
                <a:alpha val="0"/>
              </a:srgbClr>
            </a:solidFill>
            <a:prstDash val="solid"/>
          </a:ln>
        </p:spPr>
      </p:sp>
      <p:sp>
        <p:nvSpPr>
          <p:cNvPr id="88" name="Shape 79"/>
          <p:cNvSpPr/>
          <p:nvPr/>
        </p:nvSpPr>
        <p:spPr>
          <a:xfrm>
            <a:off x="9048902" y="4248302"/>
            <a:ext cx="381305" cy="304495"/>
          </a:xfrm>
          <a:prstGeom prst="rect">
            <a:avLst/>
          </a:prstGeom>
          <a:solidFill>
            <a:srgbClr val="7AA4CB"/>
          </a:solidFill>
          <a:ln w="12700">
            <a:solidFill>
              <a:srgbClr val="FFFFFF">
                <a:alpha val="0"/>
              </a:srgbClr>
            </a:solidFill>
            <a:prstDash val="solid"/>
          </a:ln>
        </p:spPr>
      </p:sp>
      <p:sp>
        <p:nvSpPr>
          <p:cNvPr id="89" name="Shape 80"/>
          <p:cNvSpPr/>
          <p:nvPr/>
        </p:nvSpPr>
        <p:spPr>
          <a:xfrm>
            <a:off x="9467698" y="4248302"/>
            <a:ext cx="381305" cy="304495"/>
          </a:xfrm>
          <a:prstGeom prst="rect">
            <a:avLst/>
          </a:prstGeom>
          <a:solidFill>
            <a:srgbClr val="7AA4CB"/>
          </a:solidFill>
          <a:ln w="12700">
            <a:solidFill>
              <a:srgbClr val="FFFFFF">
                <a:alpha val="0"/>
              </a:srgbClr>
            </a:solidFill>
            <a:prstDash val="solid"/>
          </a:ln>
        </p:spPr>
      </p:sp>
      <p:sp>
        <p:nvSpPr>
          <p:cNvPr id="90" name="Shape 81"/>
          <p:cNvSpPr/>
          <p:nvPr/>
        </p:nvSpPr>
        <p:spPr>
          <a:xfrm>
            <a:off x="9887407" y="4248302"/>
            <a:ext cx="381305" cy="304495"/>
          </a:xfrm>
          <a:prstGeom prst="rect">
            <a:avLst/>
          </a:prstGeom>
          <a:solidFill>
            <a:srgbClr val="DCE3EE"/>
          </a:solidFill>
          <a:ln w="12700">
            <a:solidFill>
              <a:srgbClr val="FFFFFF">
                <a:alpha val="0"/>
              </a:srgbClr>
            </a:solidFill>
            <a:prstDash val="solid"/>
          </a:ln>
        </p:spPr>
      </p:sp>
      <p:sp>
        <p:nvSpPr>
          <p:cNvPr id="91" name="Shape 82"/>
          <p:cNvSpPr/>
          <p:nvPr/>
        </p:nvSpPr>
        <p:spPr>
          <a:xfrm>
            <a:off x="10306202" y="4248302"/>
            <a:ext cx="381305" cy="304495"/>
          </a:xfrm>
          <a:prstGeom prst="rect">
            <a:avLst/>
          </a:prstGeom>
          <a:solidFill>
            <a:srgbClr val="DCE3EE"/>
          </a:solidFill>
          <a:ln w="12700">
            <a:solidFill>
              <a:srgbClr val="FFFFFF">
                <a:alpha val="0"/>
              </a:srgbClr>
            </a:solidFill>
            <a:prstDash val="solid"/>
          </a:ln>
        </p:spPr>
      </p:sp>
      <p:pic>
        <p:nvPicPr>
          <p:cNvPr id="92" name="Image 6" descr="gen-dedup-9a32aed1d400fdb4e0fb19b64130d11d.png">    </p:cNvPr>
          <p:cNvPicPr>
            <a:picLocks noChangeAspect="1"/>
          </p:cNvPicPr>
          <p:nvPr/>
        </p:nvPicPr>
        <p:blipFill>
          <a:blip r:embed="rId7"/>
          <a:srcRect l="-90" r="-90" t="0" b="0"/>
          <a:stretch/>
        </p:blipFill>
        <p:spPr>
          <a:xfrm>
            <a:off x="10724998" y="4248302"/>
            <a:ext cx="381305" cy="304495"/>
          </a:xfrm>
          <a:prstGeom prst="rect">
            <a:avLst/>
          </a:prstGeom>
        </p:spPr>
      </p:pic>
      <p:sp>
        <p:nvSpPr>
          <p:cNvPr id="93" name="Shape 83"/>
          <p:cNvSpPr/>
          <p:nvPr/>
        </p:nvSpPr>
        <p:spPr>
          <a:xfrm>
            <a:off x="7372807" y="4591202"/>
            <a:ext cx="381305" cy="304495"/>
          </a:xfrm>
          <a:prstGeom prst="rect">
            <a:avLst/>
          </a:prstGeom>
          <a:solidFill>
            <a:srgbClr val="DCE3EE"/>
          </a:solidFill>
          <a:ln w="12700">
            <a:solidFill>
              <a:srgbClr val="FFFFFF">
                <a:alpha val="0"/>
              </a:srgbClr>
            </a:solidFill>
            <a:prstDash val="solid"/>
          </a:ln>
        </p:spPr>
      </p:sp>
      <p:sp>
        <p:nvSpPr>
          <p:cNvPr id="94" name="Shape 84"/>
          <p:cNvSpPr/>
          <p:nvPr/>
        </p:nvSpPr>
        <p:spPr>
          <a:xfrm>
            <a:off x="7791602" y="4591202"/>
            <a:ext cx="381305" cy="304495"/>
          </a:xfrm>
          <a:prstGeom prst="rect">
            <a:avLst/>
          </a:prstGeom>
          <a:solidFill>
            <a:srgbClr val="DCE3EE"/>
          </a:solidFill>
          <a:ln w="12700">
            <a:solidFill>
              <a:srgbClr val="FFFFFF">
                <a:alpha val="0"/>
              </a:srgbClr>
            </a:solidFill>
            <a:prstDash val="solid"/>
          </a:ln>
        </p:spPr>
      </p:sp>
      <p:sp>
        <p:nvSpPr>
          <p:cNvPr id="95" name="Shape 85"/>
          <p:cNvSpPr/>
          <p:nvPr/>
        </p:nvSpPr>
        <p:spPr>
          <a:xfrm>
            <a:off x="8210398" y="4591202"/>
            <a:ext cx="381305" cy="304495"/>
          </a:xfrm>
          <a:prstGeom prst="rect">
            <a:avLst/>
          </a:prstGeom>
          <a:solidFill>
            <a:srgbClr val="DCE3EE"/>
          </a:solidFill>
          <a:ln w="12700">
            <a:solidFill>
              <a:srgbClr val="FFFFFF">
                <a:alpha val="0"/>
              </a:srgbClr>
            </a:solidFill>
            <a:prstDash val="solid"/>
          </a:ln>
        </p:spPr>
      </p:sp>
      <p:sp>
        <p:nvSpPr>
          <p:cNvPr id="96" name="Shape 86"/>
          <p:cNvSpPr/>
          <p:nvPr/>
        </p:nvSpPr>
        <p:spPr>
          <a:xfrm>
            <a:off x="8630107" y="4591202"/>
            <a:ext cx="381305" cy="304495"/>
          </a:xfrm>
          <a:prstGeom prst="rect">
            <a:avLst/>
          </a:prstGeom>
          <a:solidFill>
            <a:srgbClr val="DCE3EE"/>
          </a:solidFill>
          <a:ln w="12700">
            <a:solidFill>
              <a:srgbClr val="FFFFFF">
                <a:alpha val="0"/>
              </a:srgbClr>
            </a:solidFill>
            <a:prstDash val="solid"/>
          </a:ln>
        </p:spPr>
      </p:sp>
      <p:sp>
        <p:nvSpPr>
          <p:cNvPr id="97" name="Shape 87"/>
          <p:cNvSpPr/>
          <p:nvPr/>
        </p:nvSpPr>
        <p:spPr>
          <a:xfrm>
            <a:off x="9048902" y="4591202"/>
            <a:ext cx="381305" cy="304495"/>
          </a:xfrm>
          <a:prstGeom prst="rect">
            <a:avLst/>
          </a:prstGeom>
          <a:solidFill>
            <a:srgbClr val="DCE3EE"/>
          </a:solidFill>
          <a:ln w="12700">
            <a:solidFill>
              <a:srgbClr val="FFFFFF">
                <a:alpha val="0"/>
              </a:srgbClr>
            </a:solidFill>
            <a:prstDash val="solid"/>
          </a:ln>
        </p:spPr>
      </p:sp>
      <p:sp>
        <p:nvSpPr>
          <p:cNvPr id="98" name="Shape 88"/>
          <p:cNvSpPr/>
          <p:nvPr/>
        </p:nvSpPr>
        <p:spPr>
          <a:xfrm>
            <a:off x="9467698" y="4591202"/>
            <a:ext cx="381305" cy="304495"/>
          </a:xfrm>
          <a:prstGeom prst="rect">
            <a:avLst/>
          </a:prstGeom>
          <a:solidFill>
            <a:srgbClr val="DCE3EE"/>
          </a:solidFill>
          <a:ln w="12700">
            <a:solidFill>
              <a:srgbClr val="FFFFFF">
                <a:alpha val="0"/>
              </a:srgbClr>
            </a:solidFill>
            <a:prstDash val="solid"/>
          </a:ln>
        </p:spPr>
      </p:sp>
      <p:sp>
        <p:nvSpPr>
          <p:cNvPr id="99" name="Shape 89"/>
          <p:cNvSpPr/>
          <p:nvPr/>
        </p:nvSpPr>
        <p:spPr>
          <a:xfrm>
            <a:off x="9887407" y="4591202"/>
            <a:ext cx="381305" cy="304495"/>
          </a:xfrm>
          <a:prstGeom prst="rect">
            <a:avLst/>
          </a:prstGeom>
          <a:solidFill>
            <a:srgbClr val="DCE3EE"/>
          </a:solidFill>
          <a:ln w="12700">
            <a:solidFill>
              <a:srgbClr val="FFFFFF">
                <a:alpha val="0"/>
              </a:srgbClr>
            </a:solidFill>
            <a:prstDash val="solid"/>
          </a:ln>
        </p:spPr>
      </p:sp>
      <p:sp>
        <p:nvSpPr>
          <p:cNvPr id="100" name="Shape 90"/>
          <p:cNvSpPr/>
          <p:nvPr/>
        </p:nvSpPr>
        <p:spPr>
          <a:xfrm>
            <a:off x="10306202" y="4591202"/>
            <a:ext cx="381305" cy="304495"/>
          </a:xfrm>
          <a:prstGeom prst="rect">
            <a:avLst/>
          </a:prstGeom>
          <a:solidFill>
            <a:srgbClr val="DCE3EE"/>
          </a:solidFill>
          <a:ln w="12700">
            <a:solidFill>
              <a:srgbClr val="FFFFFF">
                <a:alpha val="0"/>
              </a:srgbClr>
            </a:solidFill>
            <a:prstDash val="solid"/>
          </a:ln>
        </p:spPr>
      </p:sp>
      <p:sp>
        <p:nvSpPr>
          <p:cNvPr id="101" name="Shape 91"/>
          <p:cNvSpPr/>
          <p:nvPr/>
        </p:nvSpPr>
        <p:spPr>
          <a:xfrm>
            <a:off x="10724998" y="4591202"/>
            <a:ext cx="381305" cy="304495"/>
          </a:xfrm>
          <a:prstGeom prst="rect">
            <a:avLst/>
          </a:prstGeom>
          <a:solidFill>
            <a:srgbClr val="DCE3EE"/>
          </a:solidFill>
          <a:ln w="12700">
            <a:solidFill>
              <a:srgbClr val="FFFFFF">
                <a:alpha val="0"/>
              </a:srgbClr>
            </a:solidFill>
            <a:prstDash val="solid"/>
          </a:ln>
        </p:spPr>
      </p:sp>
      <p:sp>
        <p:nvSpPr>
          <p:cNvPr id="102" name="Shape 92"/>
          <p:cNvSpPr/>
          <p:nvPr/>
        </p:nvSpPr>
        <p:spPr>
          <a:xfrm>
            <a:off x="7372807" y="4934102"/>
            <a:ext cx="381305" cy="304495"/>
          </a:xfrm>
          <a:prstGeom prst="rect">
            <a:avLst/>
          </a:prstGeom>
          <a:solidFill>
            <a:srgbClr val="DCE3EE"/>
          </a:solidFill>
          <a:ln w="12700">
            <a:solidFill>
              <a:srgbClr val="FFFFFF">
                <a:alpha val="0"/>
              </a:srgbClr>
            </a:solidFill>
            <a:prstDash val="solid"/>
          </a:ln>
        </p:spPr>
      </p:sp>
      <p:sp>
        <p:nvSpPr>
          <p:cNvPr id="103" name="Shape 93"/>
          <p:cNvSpPr/>
          <p:nvPr/>
        </p:nvSpPr>
        <p:spPr>
          <a:xfrm>
            <a:off x="7791602" y="4934102"/>
            <a:ext cx="381305" cy="304495"/>
          </a:xfrm>
          <a:prstGeom prst="rect">
            <a:avLst/>
          </a:prstGeom>
          <a:solidFill>
            <a:srgbClr val="DCE3EE"/>
          </a:solidFill>
          <a:ln w="12700">
            <a:solidFill>
              <a:srgbClr val="FFFFFF">
                <a:alpha val="0"/>
              </a:srgbClr>
            </a:solidFill>
            <a:prstDash val="solid"/>
          </a:ln>
        </p:spPr>
      </p:sp>
      <p:sp>
        <p:nvSpPr>
          <p:cNvPr id="104" name="Shape 94"/>
          <p:cNvSpPr/>
          <p:nvPr/>
        </p:nvSpPr>
        <p:spPr>
          <a:xfrm>
            <a:off x="8210398" y="4934102"/>
            <a:ext cx="381305" cy="304495"/>
          </a:xfrm>
          <a:prstGeom prst="rect">
            <a:avLst/>
          </a:prstGeom>
          <a:solidFill>
            <a:srgbClr val="DCE3EE"/>
          </a:solidFill>
          <a:ln w="12700">
            <a:solidFill>
              <a:srgbClr val="FFFFFF">
                <a:alpha val="0"/>
              </a:srgbClr>
            </a:solidFill>
            <a:prstDash val="solid"/>
          </a:ln>
        </p:spPr>
      </p:sp>
      <p:sp>
        <p:nvSpPr>
          <p:cNvPr id="105" name="Shape 95"/>
          <p:cNvSpPr/>
          <p:nvPr/>
        </p:nvSpPr>
        <p:spPr>
          <a:xfrm>
            <a:off x="8630107" y="4934102"/>
            <a:ext cx="381305" cy="304495"/>
          </a:xfrm>
          <a:prstGeom prst="rect">
            <a:avLst/>
          </a:prstGeom>
          <a:solidFill>
            <a:srgbClr val="DCE3EE"/>
          </a:solidFill>
          <a:ln w="12700">
            <a:solidFill>
              <a:srgbClr val="FFFFFF">
                <a:alpha val="0"/>
              </a:srgbClr>
            </a:solidFill>
            <a:prstDash val="solid"/>
          </a:ln>
        </p:spPr>
      </p:sp>
      <p:sp>
        <p:nvSpPr>
          <p:cNvPr id="106" name="Shape 96"/>
          <p:cNvSpPr/>
          <p:nvPr/>
        </p:nvSpPr>
        <p:spPr>
          <a:xfrm>
            <a:off x="9048902" y="4934102"/>
            <a:ext cx="381305" cy="304495"/>
          </a:xfrm>
          <a:prstGeom prst="rect">
            <a:avLst/>
          </a:prstGeom>
          <a:solidFill>
            <a:srgbClr val="DCE3EE"/>
          </a:solidFill>
          <a:ln w="12700">
            <a:solidFill>
              <a:srgbClr val="FFFFFF">
                <a:alpha val="0"/>
              </a:srgbClr>
            </a:solidFill>
            <a:prstDash val="solid"/>
          </a:ln>
        </p:spPr>
      </p:sp>
      <p:sp>
        <p:nvSpPr>
          <p:cNvPr id="107" name="Shape 97"/>
          <p:cNvSpPr/>
          <p:nvPr/>
        </p:nvSpPr>
        <p:spPr>
          <a:xfrm>
            <a:off x="9467698" y="4934102"/>
            <a:ext cx="381305" cy="304495"/>
          </a:xfrm>
          <a:prstGeom prst="rect">
            <a:avLst/>
          </a:prstGeom>
          <a:solidFill>
            <a:srgbClr val="DCE3EE"/>
          </a:solidFill>
          <a:ln w="12700">
            <a:solidFill>
              <a:srgbClr val="FFFFFF">
                <a:alpha val="0"/>
              </a:srgbClr>
            </a:solidFill>
            <a:prstDash val="solid"/>
          </a:ln>
        </p:spPr>
      </p:sp>
      <p:sp>
        <p:nvSpPr>
          <p:cNvPr id="108" name="Shape 98"/>
          <p:cNvSpPr/>
          <p:nvPr/>
        </p:nvSpPr>
        <p:spPr>
          <a:xfrm>
            <a:off x="9887407" y="4934102"/>
            <a:ext cx="381305" cy="304495"/>
          </a:xfrm>
          <a:prstGeom prst="rect">
            <a:avLst/>
          </a:prstGeom>
          <a:solidFill>
            <a:srgbClr val="DCE3EE"/>
          </a:solidFill>
          <a:ln w="12700">
            <a:solidFill>
              <a:srgbClr val="FFFFFF">
                <a:alpha val="0"/>
              </a:srgbClr>
            </a:solidFill>
            <a:prstDash val="solid"/>
          </a:ln>
        </p:spPr>
      </p:sp>
      <p:sp>
        <p:nvSpPr>
          <p:cNvPr id="109" name="Shape 99"/>
          <p:cNvSpPr/>
          <p:nvPr/>
        </p:nvSpPr>
        <p:spPr>
          <a:xfrm>
            <a:off x="10306202" y="4934102"/>
            <a:ext cx="381305" cy="304495"/>
          </a:xfrm>
          <a:prstGeom prst="rect">
            <a:avLst/>
          </a:prstGeom>
          <a:solidFill>
            <a:srgbClr val="DCE3EE"/>
          </a:solidFill>
          <a:ln w="12700">
            <a:solidFill>
              <a:srgbClr val="FFFFFF">
                <a:alpha val="0"/>
              </a:srgbClr>
            </a:solidFill>
            <a:prstDash val="solid"/>
          </a:ln>
        </p:spPr>
      </p:sp>
      <p:sp>
        <p:nvSpPr>
          <p:cNvPr id="110" name="Shape 100"/>
          <p:cNvSpPr/>
          <p:nvPr/>
        </p:nvSpPr>
        <p:spPr>
          <a:xfrm>
            <a:off x="10724998" y="4934102"/>
            <a:ext cx="381305" cy="304495"/>
          </a:xfrm>
          <a:prstGeom prst="rect">
            <a:avLst/>
          </a:prstGeom>
          <a:solidFill>
            <a:srgbClr val="DCE3EE"/>
          </a:solidFill>
          <a:ln w="12700">
            <a:solidFill>
              <a:srgbClr val="FFFFFF">
                <a:alpha val="0"/>
              </a:srgbClr>
            </a:solidFill>
            <a:prstDash val="solid"/>
          </a:ln>
        </p:spPr>
      </p:sp>
      <p:sp>
        <p:nvSpPr>
          <p:cNvPr id="111" name="Shape 101"/>
          <p:cNvSpPr/>
          <p:nvPr/>
        </p:nvSpPr>
        <p:spPr>
          <a:xfrm>
            <a:off x="7372807" y="5277002"/>
            <a:ext cx="381305" cy="304495"/>
          </a:xfrm>
          <a:prstGeom prst="rect">
            <a:avLst/>
          </a:prstGeom>
          <a:solidFill>
            <a:srgbClr val="7AA4CB"/>
          </a:solidFill>
          <a:ln w="12700">
            <a:solidFill>
              <a:srgbClr val="FFFFFF">
                <a:alpha val="0"/>
              </a:srgbClr>
            </a:solidFill>
            <a:prstDash val="solid"/>
          </a:ln>
        </p:spPr>
      </p:sp>
      <p:sp>
        <p:nvSpPr>
          <p:cNvPr id="112" name="Shape 102"/>
          <p:cNvSpPr/>
          <p:nvPr/>
        </p:nvSpPr>
        <p:spPr>
          <a:xfrm>
            <a:off x="7791602" y="5277002"/>
            <a:ext cx="381305" cy="304495"/>
          </a:xfrm>
          <a:prstGeom prst="rect">
            <a:avLst/>
          </a:prstGeom>
          <a:solidFill>
            <a:srgbClr val="DCE3EE"/>
          </a:solidFill>
          <a:ln w="12700">
            <a:solidFill>
              <a:srgbClr val="FFFFFF">
                <a:alpha val="0"/>
              </a:srgbClr>
            </a:solidFill>
            <a:prstDash val="solid"/>
          </a:ln>
        </p:spPr>
      </p:sp>
      <p:sp>
        <p:nvSpPr>
          <p:cNvPr id="113" name="Shape 103"/>
          <p:cNvSpPr/>
          <p:nvPr/>
        </p:nvSpPr>
        <p:spPr>
          <a:xfrm>
            <a:off x="8210398" y="5277002"/>
            <a:ext cx="381305" cy="304495"/>
          </a:xfrm>
          <a:prstGeom prst="rect">
            <a:avLst/>
          </a:prstGeom>
          <a:solidFill>
            <a:srgbClr val="DCE3EE"/>
          </a:solidFill>
          <a:ln w="12700">
            <a:solidFill>
              <a:srgbClr val="FFFFFF">
                <a:alpha val="0"/>
              </a:srgbClr>
            </a:solidFill>
            <a:prstDash val="solid"/>
          </a:ln>
        </p:spPr>
      </p:sp>
      <p:sp>
        <p:nvSpPr>
          <p:cNvPr id="114" name="Shape 104"/>
          <p:cNvSpPr/>
          <p:nvPr/>
        </p:nvSpPr>
        <p:spPr>
          <a:xfrm>
            <a:off x="8630107" y="5277002"/>
            <a:ext cx="381305" cy="304495"/>
          </a:xfrm>
          <a:prstGeom prst="rect">
            <a:avLst/>
          </a:prstGeom>
          <a:solidFill>
            <a:srgbClr val="DCE3EE"/>
          </a:solidFill>
          <a:ln w="12700">
            <a:solidFill>
              <a:srgbClr val="FFFFFF">
                <a:alpha val="0"/>
              </a:srgbClr>
            </a:solidFill>
            <a:prstDash val="solid"/>
          </a:ln>
        </p:spPr>
      </p:sp>
      <p:sp>
        <p:nvSpPr>
          <p:cNvPr id="115" name="Shape 105"/>
          <p:cNvSpPr/>
          <p:nvPr/>
        </p:nvSpPr>
        <p:spPr>
          <a:xfrm>
            <a:off x="9048902" y="5277002"/>
            <a:ext cx="381305" cy="304495"/>
          </a:xfrm>
          <a:prstGeom prst="rect">
            <a:avLst/>
          </a:prstGeom>
          <a:solidFill>
            <a:srgbClr val="DCE3EE"/>
          </a:solidFill>
          <a:ln w="12700">
            <a:solidFill>
              <a:srgbClr val="FFFFFF">
                <a:alpha val="0"/>
              </a:srgbClr>
            </a:solidFill>
            <a:prstDash val="solid"/>
          </a:ln>
        </p:spPr>
      </p:sp>
      <p:sp>
        <p:nvSpPr>
          <p:cNvPr id="116" name="Shape 106"/>
          <p:cNvSpPr/>
          <p:nvPr/>
        </p:nvSpPr>
        <p:spPr>
          <a:xfrm>
            <a:off x="9467698" y="5277002"/>
            <a:ext cx="381305" cy="304495"/>
          </a:xfrm>
          <a:prstGeom prst="rect">
            <a:avLst/>
          </a:prstGeom>
          <a:solidFill>
            <a:srgbClr val="DCE3EE"/>
          </a:solidFill>
          <a:ln w="12700">
            <a:solidFill>
              <a:srgbClr val="FFFFFF">
                <a:alpha val="0"/>
              </a:srgbClr>
            </a:solidFill>
            <a:prstDash val="solid"/>
          </a:ln>
        </p:spPr>
      </p:sp>
      <p:sp>
        <p:nvSpPr>
          <p:cNvPr id="117" name="Shape 107"/>
          <p:cNvSpPr/>
          <p:nvPr/>
        </p:nvSpPr>
        <p:spPr>
          <a:xfrm>
            <a:off x="9887407" y="5277002"/>
            <a:ext cx="381305" cy="304495"/>
          </a:xfrm>
          <a:prstGeom prst="rect">
            <a:avLst/>
          </a:prstGeom>
          <a:solidFill>
            <a:srgbClr val="DCE3EE"/>
          </a:solidFill>
          <a:ln w="12700">
            <a:solidFill>
              <a:srgbClr val="FFFFFF">
                <a:alpha val="0"/>
              </a:srgbClr>
            </a:solidFill>
            <a:prstDash val="solid"/>
          </a:ln>
        </p:spPr>
      </p:sp>
      <p:sp>
        <p:nvSpPr>
          <p:cNvPr id="118" name="Shape 108"/>
          <p:cNvSpPr/>
          <p:nvPr/>
        </p:nvSpPr>
        <p:spPr>
          <a:xfrm>
            <a:off x="10306202" y="5277002"/>
            <a:ext cx="381305" cy="304495"/>
          </a:xfrm>
          <a:prstGeom prst="rect">
            <a:avLst/>
          </a:prstGeom>
          <a:solidFill>
            <a:srgbClr val="DCE3EE"/>
          </a:solidFill>
          <a:ln w="12700">
            <a:solidFill>
              <a:srgbClr val="FFFFFF">
                <a:alpha val="0"/>
              </a:srgbClr>
            </a:solidFill>
            <a:prstDash val="solid"/>
          </a:ln>
        </p:spPr>
      </p:sp>
      <p:sp>
        <p:nvSpPr>
          <p:cNvPr id="119" name="Shape 109"/>
          <p:cNvSpPr/>
          <p:nvPr/>
        </p:nvSpPr>
        <p:spPr>
          <a:xfrm>
            <a:off x="10724998" y="5277002"/>
            <a:ext cx="381305" cy="304495"/>
          </a:xfrm>
          <a:prstGeom prst="rect">
            <a:avLst/>
          </a:prstGeom>
          <a:solidFill>
            <a:srgbClr val="7AA4CB"/>
          </a:solidFill>
          <a:ln w="12700">
            <a:solidFill>
              <a:srgbClr val="FFFFFF">
                <a:alpha val="0"/>
              </a:srgbClr>
            </a:solidFill>
            <a:prstDash val="solid"/>
          </a:ln>
        </p:spPr>
      </p:sp>
      <p:sp>
        <p:nvSpPr>
          <p:cNvPr id="120" name="Shape 110"/>
          <p:cNvSpPr/>
          <p:nvPr/>
        </p:nvSpPr>
        <p:spPr>
          <a:xfrm>
            <a:off x="7372807" y="5619902"/>
            <a:ext cx="381305" cy="304495"/>
          </a:xfrm>
          <a:prstGeom prst="rect">
            <a:avLst/>
          </a:prstGeom>
          <a:solidFill>
            <a:srgbClr val="7AA4CB"/>
          </a:solidFill>
          <a:ln w="12700">
            <a:solidFill>
              <a:srgbClr val="FFFFFF">
                <a:alpha val="0"/>
              </a:srgbClr>
            </a:solidFill>
            <a:prstDash val="solid"/>
          </a:ln>
        </p:spPr>
      </p:sp>
      <p:sp>
        <p:nvSpPr>
          <p:cNvPr id="121" name="Shape 111"/>
          <p:cNvSpPr/>
          <p:nvPr/>
        </p:nvSpPr>
        <p:spPr>
          <a:xfrm>
            <a:off x="7791602" y="5619902"/>
            <a:ext cx="381305" cy="304495"/>
          </a:xfrm>
          <a:prstGeom prst="rect">
            <a:avLst/>
          </a:prstGeom>
          <a:solidFill>
            <a:srgbClr val="DCE3EE"/>
          </a:solidFill>
          <a:ln w="12700">
            <a:solidFill>
              <a:srgbClr val="FFFFFF">
                <a:alpha val="0"/>
              </a:srgbClr>
            </a:solidFill>
            <a:prstDash val="solid"/>
          </a:ln>
        </p:spPr>
      </p:sp>
      <p:sp>
        <p:nvSpPr>
          <p:cNvPr id="122" name="Shape 112"/>
          <p:cNvSpPr/>
          <p:nvPr/>
        </p:nvSpPr>
        <p:spPr>
          <a:xfrm>
            <a:off x="8210398" y="5619902"/>
            <a:ext cx="381305" cy="304495"/>
          </a:xfrm>
          <a:prstGeom prst="rect">
            <a:avLst/>
          </a:prstGeom>
          <a:solidFill>
            <a:srgbClr val="DCE3EE"/>
          </a:solidFill>
          <a:ln w="12700">
            <a:solidFill>
              <a:srgbClr val="FFFFFF">
                <a:alpha val="0"/>
              </a:srgbClr>
            </a:solidFill>
            <a:prstDash val="solid"/>
          </a:ln>
        </p:spPr>
      </p:sp>
      <p:sp>
        <p:nvSpPr>
          <p:cNvPr id="123" name="Shape 113"/>
          <p:cNvSpPr/>
          <p:nvPr/>
        </p:nvSpPr>
        <p:spPr>
          <a:xfrm>
            <a:off x="8630107" y="5619902"/>
            <a:ext cx="381305" cy="304495"/>
          </a:xfrm>
          <a:prstGeom prst="rect">
            <a:avLst/>
          </a:prstGeom>
          <a:solidFill>
            <a:srgbClr val="DCE3EE"/>
          </a:solidFill>
          <a:ln w="12700">
            <a:solidFill>
              <a:srgbClr val="FFFFFF">
                <a:alpha val="0"/>
              </a:srgbClr>
            </a:solidFill>
            <a:prstDash val="solid"/>
          </a:ln>
        </p:spPr>
      </p:sp>
      <p:sp>
        <p:nvSpPr>
          <p:cNvPr id="124" name="Shape 114"/>
          <p:cNvSpPr/>
          <p:nvPr/>
        </p:nvSpPr>
        <p:spPr>
          <a:xfrm>
            <a:off x="9048902" y="5619902"/>
            <a:ext cx="381305" cy="304495"/>
          </a:xfrm>
          <a:prstGeom prst="rect">
            <a:avLst/>
          </a:prstGeom>
          <a:solidFill>
            <a:srgbClr val="DCE3EE"/>
          </a:solidFill>
          <a:ln w="12700">
            <a:solidFill>
              <a:srgbClr val="FFFFFF">
                <a:alpha val="0"/>
              </a:srgbClr>
            </a:solidFill>
            <a:prstDash val="solid"/>
          </a:ln>
        </p:spPr>
      </p:sp>
      <p:sp>
        <p:nvSpPr>
          <p:cNvPr id="125" name="Shape 115"/>
          <p:cNvSpPr/>
          <p:nvPr/>
        </p:nvSpPr>
        <p:spPr>
          <a:xfrm>
            <a:off x="9467698" y="5619902"/>
            <a:ext cx="381305" cy="304495"/>
          </a:xfrm>
          <a:prstGeom prst="rect">
            <a:avLst/>
          </a:prstGeom>
          <a:solidFill>
            <a:srgbClr val="DCE3EE"/>
          </a:solidFill>
          <a:ln w="12700">
            <a:solidFill>
              <a:srgbClr val="FFFFFF">
                <a:alpha val="0"/>
              </a:srgbClr>
            </a:solidFill>
            <a:prstDash val="solid"/>
          </a:ln>
        </p:spPr>
      </p:sp>
      <p:sp>
        <p:nvSpPr>
          <p:cNvPr id="126" name="Shape 116"/>
          <p:cNvSpPr/>
          <p:nvPr/>
        </p:nvSpPr>
        <p:spPr>
          <a:xfrm>
            <a:off x="9887407" y="5619902"/>
            <a:ext cx="381305" cy="304495"/>
          </a:xfrm>
          <a:prstGeom prst="rect">
            <a:avLst/>
          </a:prstGeom>
          <a:solidFill>
            <a:srgbClr val="DCE3EE"/>
          </a:solidFill>
          <a:ln w="12700">
            <a:solidFill>
              <a:srgbClr val="FFFFFF">
                <a:alpha val="0"/>
              </a:srgbClr>
            </a:solidFill>
            <a:prstDash val="solid"/>
          </a:ln>
        </p:spPr>
      </p:sp>
      <p:sp>
        <p:nvSpPr>
          <p:cNvPr id="127" name="Shape 117"/>
          <p:cNvSpPr/>
          <p:nvPr/>
        </p:nvSpPr>
        <p:spPr>
          <a:xfrm>
            <a:off x="10306202" y="5619902"/>
            <a:ext cx="381305" cy="304495"/>
          </a:xfrm>
          <a:prstGeom prst="rect">
            <a:avLst/>
          </a:prstGeom>
          <a:solidFill>
            <a:srgbClr val="DCE3EE"/>
          </a:solidFill>
          <a:ln w="12700">
            <a:solidFill>
              <a:srgbClr val="FFFFFF">
                <a:alpha val="0"/>
              </a:srgbClr>
            </a:solidFill>
            <a:prstDash val="solid"/>
          </a:ln>
        </p:spPr>
      </p:sp>
      <p:sp>
        <p:nvSpPr>
          <p:cNvPr id="128" name="Shape 118"/>
          <p:cNvSpPr/>
          <p:nvPr/>
        </p:nvSpPr>
        <p:spPr>
          <a:xfrm>
            <a:off x="10724998" y="5619902"/>
            <a:ext cx="381305" cy="304495"/>
          </a:xfrm>
          <a:prstGeom prst="rect">
            <a:avLst/>
          </a:prstGeom>
          <a:solidFill>
            <a:srgbClr val="7AA4CB"/>
          </a:solidFill>
          <a:ln w="12700">
            <a:solidFill>
              <a:srgbClr val="FFFFFF">
                <a:alpha val="0"/>
              </a:srgbClr>
            </a:solidFill>
            <a:prstDash val="solid"/>
          </a:ln>
        </p:spPr>
      </p:sp>
      <p:sp>
        <p:nvSpPr>
          <p:cNvPr id="129" name="Shape 119"/>
          <p:cNvSpPr/>
          <p:nvPr/>
        </p:nvSpPr>
        <p:spPr>
          <a:xfrm>
            <a:off x="7372807" y="5962802"/>
            <a:ext cx="381305" cy="304495"/>
          </a:xfrm>
          <a:prstGeom prst="rect">
            <a:avLst/>
          </a:prstGeom>
          <a:solidFill>
            <a:srgbClr val="7AA4CB"/>
          </a:solidFill>
          <a:ln w="12700">
            <a:solidFill>
              <a:srgbClr val="FFFFFF">
                <a:alpha val="0"/>
              </a:srgbClr>
            </a:solidFill>
            <a:prstDash val="solid"/>
          </a:ln>
        </p:spPr>
      </p:sp>
      <p:sp>
        <p:nvSpPr>
          <p:cNvPr id="130" name="Shape 120"/>
          <p:cNvSpPr/>
          <p:nvPr/>
        </p:nvSpPr>
        <p:spPr>
          <a:xfrm>
            <a:off x="7791602" y="5962802"/>
            <a:ext cx="381305" cy="304495"/>
          </a:xfrm>
          <a:prstGeom prst="rect">
            <a:avLst/>
          </a:prstGeom>
          <a:solidFill>
            <a:srgbClr val="DCE3EE"/>
          </a:solidFill>
          <a:ln w="12700">
            <a:solidFill>
              <a:srgbClr val="FFFFFF">
                <a:alpha val="0"/>
              </a:srgbClr>
            </a:solidFill>
            <a:prstDash val="solid"/>
          </a:ln>
        </p:spPr>
      </p:sp>
      <p:sp>
        <p:nvSpPr>
          <p:cNvPr id="131" name="Shape 121"/>
          <p:cNvSpPr/>
          <p:nvPr/>
        </p:nvSpPr>
        <p:spPr>
          <a:xfrm>
            <a:off x="8210398" y="5962802"/>
            <a:ext cx="381305" cy="304495"/>
          </a:xfrm>
          <a:prstGeom prst="rect">
            <a:avLst/>
          </a:prstGeom>
          <a:solidFill>
            <a:srgbClr val="DCE3EE"/>
          </a:solidFill>
          <a:ln w="12700">
            <a:solidFill>
              <a:srgbClr val="FFFFFF">
                <a:alpha val="0"/>
              </a:srgbClr>
            </a:solidFill>
            <a:prstDash val="solid"/>
          </a:ln>
        </p:spPr>
      </p:sp>
      <p:sp>
        <p:nvSpPr>
          <p:cNvPr id="132" name="Shape 122"/>
          <p:cNvSpPr/>
          <p:nvPr/>
        </p:nvSpPr>
        <p:spPr>
          <a:xfrm>
            <a:off x="8630107" y="5962802"/>
            <a:ext cx="381305" cy="304495"/>
          </a:xfrm>
          <a:prstGeom prst="rect">
            <a:avLst/>
          </a:prstGeom>
          <a:solidFill>
            <a:srgbClr val="DCE3EE"/>
          </a:solidFill>
          <a:ln w="12700">
            <a:solidFill>
              <a:srgbClr val="FFFFFF">
                <a:alpha val="0"/>
              </a:srgbClr>
            </a:solidFill>
            <a:prstDash val="solid"/>
          </a:ln>
        </p:spPr>
      </p:sp>
      <p:sp>
        <p:nvSpPr>
          <p:cNvPr id="133" name="Shape 123"/>
          <p:cNvSpPr/>
          <p:nvPr/>
        </p:nvSpPr>
        <p:spPr>
          <a:xfrm>
            <a:off x="9048902" y="5962802"/>
            <a:ext cx="381305" cy="304495"/>
          </a:xfrm>
          <a:prstGeom prst="rect">
            <a:avLst/>
          </a:prstGeom>
          <a:solidFill>
            <a:srgbClr val="DCE3EE"/>
          </a:solidFill>
          <a:ln w="12700">
            <a:solidFill>
              <a:srgbClr val="FFFFFF">
                <a:alpha val="0"/>
              </a:srgbClr>
            </a:solidFill>
            <a:prstDash val="solid"/>
          </a:ln>
        </p:spPr>
      </p:sp>
      <p:sp>
        <p:nvSpPr>
          <p:cNvPr id="134" name="Shape 124"/>
          <p:cNvSpPr/>
          <p:nvPr/>
        </p:nvSpPr>
        <p:spPr>
          <a:xfrm>
            <a:off x="9467698" y="5962802"/>
            <a:ext cx="381305" cy="304495"/>
          </a:xfrm>
          <a:prstGeom prst="rect">
            <a:avLst/>
          </a:prstGeom>
          <a:solidFill>
            <a:srgbClr val="DCE3EE"/>
          </a:solidFill>
          <a:ln w="12700">
            <a:solidFill>
              <a:srgbClr val="FFFFFF">
                <a:alpha val="0"/>
              </a:srgbClr>
            </a:solidFill>
            <a:prstDash val="solid"/>
          </a:ln>
        </p:spPr>
      </p:sp>
      <p:sp>
        <p:nvSpPr>
          <p:cNvPr id="135" name="Shape 125"/>
          <p:cNvSpPr/>
          <p:nvPr/>
        </p:nvSpPr>
        <p:spPr>
          <a:xfrm>
            <a:off x="9887407" y="5962802"/>
            <a:ext cx="381305" cy="304495"/>
          </a:xfrm>
          <a:prstGeom prst="rect">
            <a:avLst/>
          </a:prstGeom>
          <a:solidFill>
            <a:srgbClr val="DCE3EE"/>
          </a:solidFill>
          <a:ln w="12700">
            <a:solidFill>
              <a:srgbClr val="FFFFFF">
                <a:alpha val="0"/>
              </a:srgbClr>
            </a:solidFill>
            <a:prstDash val="solid"/>
          </a:ln>
        </p:spPr>
      </p:sp>
      <p:sp>
        <p:nvSpPr>
          <p:cNvPr id="136" name="Shape 126"/>
          <p:cNvSpPr/>
          <p:nvPr/>
        </p:nvSpPr>
        <p:spPr>
          <a:xfrm>
            <a:off x="10306202" y="5962802"/>
            <a:ext cx="381305" cy="304495"/>
          </a:xfrm>
          <a:prstGeom prst="rect">
            <a:avLst/>
          </a:prstGeom>
          <a:solidFill>
            <a:srgbClr val="DCE3EE"/>
          </a:solidFill>
          <a:ln w="12700">
            <a:solidFill>
              <a:srgbClr val="FFFFFF">
                <a:alpha val="0"/>
              </a:srgbClr>
            </a:solidFill>
            <a:prstDash val="solid"/>
          </a:ln>
        </p:spPr>
      </p:sp>
      <p:sp>
        <p:nvSpPr>
          <p:cNvPr id="137" name="Shape 127"/>
          <p:cNvSpPr/>
          <p:nvPr/>
        </p:nvSpPr>
        <p:spPr>
          <a:xfrm>
            <a:off x="10724998" y="5962802"/>
            <a:ext cx="381305" cy="304495"/>
          </a:xfrm>
          <a:prstGeom prst="rect">
            <a:avLst/>
          </a:prstGeom>
          <a:solidFill>
            <a:srgbClr val="7AA4CB"/>
          </a:solidFill>
          <a:ln w="12700">
            <a:solidFill>
              <a:srgbClr val="FFFFFF">
                <a:alpha val="0"/>
              </a:srgbClr>
            </a:solidFill>
            <a:prstDash val="solid"/>
          </a:ln>
        </p:spPr>
      </p:sp>
      <p:sp>
        <p:nvSpPr>
          <p:cNvPr id="138" name="Shape 128"/>
          <p:cNvSpPr/>
          <p:nvPr/>
        </p:nvSpPr>
        <p:spPr>
          <a:xfrm>
            <a:off x="7372807" y="6305702"/>
            <a:ext cx="381305" cy="304495"/>
          </a:xfrm>
          <a:prstGeom prst="rect">
            <a:avLst/>
          </a:prstGeom>
          <a:solidFill>
            <a:srgbClr val="DCE3EE"/>
          </a:solidFill>
          <a:ln w="12700">
            <a:solidFill>
              <a:srgbClr val="FFFFFF">
                <a:alpha val="0"/>
              </a:srgbClr>
            </a:solidFill>
            <a:prstDash val="solid"/>
          </a:ln>
        </p:spPr>
      </p:sp>
      <p:sp>
        <p:nvSpPr>
          <p:cNvPr id="139" name="Shape 129"/>
          <p:cNvSpPr/>
          <p:nvPr/>
        </p:nvSpPr>
        <p:spPr>
          <a:xfrm>
            <a:off x="7791602" y="6305702"/>
            <a:ext cx="381305" cy="304495"/>
          </a:xfrm>
          <a:prstGeom prst="rect">
            <a:avLst/>
          </a:prstGeom>
          <a:solidFill>
            <a:srgbClr val="DCE3EE"/>
          </a:solidFill>
          <a:ln w="12700">
            <a:solidFill>
              <a:srgbClr val="FFFFFF">
                <a:alpha val="0"/>
              </a:srgbClr>
            </a:solidFill>
            <a:prstDash val="solid"/>
          </a:ln>
        </p:spPr>
      </p:sp>
      <p:sp>
        <p:nvSpPr>
          <p:cNvPr id="140" name="Shape 130"/>
          <p:cNvSpPr/>
          <p:nvPr/>
        </p:nvSpPr>
        <p:spPr>
          <a:xfrm>
            <a:off x="8210398" y="6305702"/>
            <a:ext cx="381305" cy="304495"/>
          </a:xfrm>
          <a:prstGeom prst="rect">
            <a:avLst/>
          </a:prstGeom>
          <a:solidFill>
            <a:srgbClr val="DCE3EE"/>
          </a:solidFill>
          <a:ln w="12700">
            <a:solidFill>
              <a:srgbClr val="FFFFFF">
                <a:alpha val="0"/>
              </a:srgbClr>
            </a:solidFill>
            <a:prstDash val="solid"/>
          </a:ln>
        </p:spPr>
      </p:sp>
      <p:sp>
        <p:nvSpPr>
          <p:cNvPr id="141" name="Shape 131"/>
          <p:cNvSpPr/>
          <p:nvPr/>
        </p:nvSpPr>
        <p:spPr>
          <a:xfrm>
            <a:off x="8630107" y="6305702"/>
            <a:ext cx="381305" cy="304495"/>
          </a:xfrm>
          <a:prstGeom prst="rect">
            <a:avLst/>
          </a:prstGeom>
          <a:solidFill>
            <a:srgbClr val="DCE3EE"/>
          </a:solidFill>
          <a:ln w="12700">
            <a:solidFill>
              <a:srgbClr val="FFFFFF">
                <a:alpha val="0"/>
              </a:srgbClr>
            </a:solidFill>
            <a:prstDash val="solid"/>
          </a:ln>
        </p:spPr>
      </p:sp>
      <p:sp>
        <p:nvSpPr>
          <p:cNvPr id="142" name="Shape 132"/>
          <p:cNvSpPr/>
          <p:nvPr/>
        </p:nvSpPr>
        <p:spPr>
          <a:xfrm>
            <a:off x="9048902" y="6305702"/>
            <a:ext cx="381305" cy="304495"/>
          </a:xfrm>
          <a:prstGeom prst="rect">
            <a:avLst/>
          </a:prstGeom>
          <a:solidFill>
            <a:srgbClr val="DCE3EE"/>
          </a:solidFill>
          <a:ln w="12700">
            <a:solidFill>
              <a:srgbClr val="FFFFFF">
                <a:alpha val="0"/>
              </a:srgbClr>
            </a:solidFill>
            <a:prstDash val="solid"/>
          </a:ln>
        </p:spPr>
      </p:sp>
      <p:sp>
        <p:nvSpPr>
          <p:cNvPr id="143" name="Shape 133"/>
          <p:cNvSpPr/>
          <p:nvPr/>
        </p:nvSpPr>
        <p:spPr>
          <a:xfrm>
            <a:off x="9467698" y="6305702"/>
            <a:ext cx="381305" cy="304495"/>
          </a:xfrm>
          <a:prstGeom prst="rect">
            <a:avLst/>
          </a:prstGeom>
          <a:solidFill>
            <a:srgbClr val="DCE3EE"/>
          </a:solidFill>
          <a:ln w="12700">
            <a:solidFill>
              <a:srgbClr val="FFFFFF">
                <a:alpha val="0"/>
              </a:srgbClr>
            </a:solidFill>
            <a:prstDash val="solid"/>
          </a:ln>
        </p:spPr>
      </p:sp>
      <p:sp>
        <p:nvSpPr>
          <p:cNvPr id="144" name="Shape 134"/>
          <p:cNvSpPr/>
          <p:nvPr/>
        </p:nvSpPr>
        <p:spPr>
          <a:xfrm>
            <a:off x="9887407" y="6305702"/>
            <a:ext cx="381305" cy="304495"/>
          </a:xfrm>
          <a:prstGeom prst="rect">
            <a:avLst/>
          </a:prstGeom>
          <a:solidFill>
            <a:srgbClr val="DCE3EE"/>
          </a:solidFill>
          <a:ln w="12700">
            <a:solidFill>
              <a:srgbClr val="FFFFFF">
                <a:alpha val="0"/>
              </a:srgbClr>
            </a:solidFill>
            <a:prstDash val="solid"/>
          </a:ln>
        </p:spPr>
      </p:sp>
      <p:sp>
        <p:nvSpPr>
          <p:cNvPr id="145" name="Shape 135"/>
          <p:cNvSpPr/>
          <p:nvPr/>
        </p:nvSpPr>
        <p:spPr>
          <a:xfrm>
            <a:off x="10306202" y="6305702"/>
            <a:ext cx="381305" cy="304495"/>
          </a:xfrm>
          <a:prstGeom prst="rect">
            <a:avLst/>
          </a:prstGeom>
          <a:solidFill>
            <a:srgbClr val="DCE3EE"/>
          </a:solidFill>
          <a:ln w="12700">
            <a:solidFill>
              <a:srgbClr val="FFFFFF">
                <a:alpha val="0"/>
              </a:srgbClr>
            </a:solidFill>
            <a:prstDash val="solid"/>
          </a:ln>
        </p:spPr>
      </p:sp>
      <p:sp>
        <p:nvSpPr>
          <p:cNvPr id="146" name="Shape 136"/>
          <p:cNvSpPr/>
          <p:nvPr/>
        </p:nvSpPr>
        <p:spPr>
          <a:xfrm>
            <a:off x="10724998" y="6305702"/>
            <a:ext cx="381305" cy="304495"/>
          </a:xfrm>
          <a:prstGeom prst="rect">
            <a:avLst/>
          </a:prstGeom>
          <a:solidFill>
            <a:srgbClr val="DCE3EE"/>
          </a:solidFill>
          <a:ln w="12700">
            <a:solidFill>
              <a:srgbClr val="FFFFFF">
                <a:alpha val="0"/>
              </a:srgbClr>
            </a:solidFill>
            <a:prstDash val="solid"/>
          </a:ln>
        </p:spPr>
      </p:sp>
      <p:sp>
        <p:nvSpPr>
          <p:cNvPr id="147" name="Shape 137"/>
          <p:cNvSpPr/>
          <p:nvPr/>
        </p:nvSpPr>
        <p:spPr>
          <a:xfrm>
            <a:off x="7372807" y="6648602"/>
            <a:ext cx="381305" cy="304495"/>
          </a:xfrm>
          <a:prstGeom prst="rect">
            <a:avLst/>
          </a:prstGeom>
          <a:solidFill>
            <a:srgbClr val="DCE3EE"/>
          </a:solidFill>
          <a:ln w="12700">
            <a:solidFill>
              <a:srgbClr val="FFFFFF">
                <a:alpha val="0"/>
              </a:srgbClr>
            </a:solidFill>
            <a:prstDash val="solid"/>
          </a:ln>
        </p:spPr>
      </p:sp>
      <p:sp>
        <p:nvSpPr>
          <p:cNvPr id="148" name="Shape 138"/>
          <p:cNvSpPr/>
          <p:nvPr/>
        </p:nvSpPr>
        <p:spPr>
          <a:xfrm>
            <a:off x="7791602" y="6648602"/>
            <a:ext cx="381305" cy="304495"/>
          </a:xfrm>
          <a:prstGeom prst="rect">
            <a:avLst/>
          </a:prstGeom>
          <a:solidFill>
            <a:srgbClr val="DCE3EE"/>
          </a:solidFill>
          <a:ln w="12700">
            <a:solidFill>
              <a:srgbClr val="FFFFFF">
                <a:alpha val="0"/>
              </a:srgbClr>
            </a:solidFill>
            <a:prstDash val="solid"/>
          </a:ln>
        </p:spPr>
      </p:sp>
      <p:sp>
        <p:nvSpPr>
          <p:cNvPr id="149" name="Shape 139"/>
          <p:cNvSpPr/>
          <p:nvPr/>
        </p:nvSpPr>
        <p:spPr>
          <a:xfrm>
            <a:off x="8210398" y="6648602"/>
            <a:ext cx="381305" cy="304495"/>
          </a:xfrm>
          <a:prstGeom prst="rect">
            <a:avLst/>
          </a:prstGeom>
          <a:solidFill>
            <a:srgbClr val="DCE3EE"/>
          </a:solidFill>
          <a:ln w="12700">
            <a:solidFill>
              <a:srgbClr val="FFFFFF">
                <a:alpha val="0"/>
              </a:srgbClr>
            </a:solidFill>
            <a:prstDash val="solid"/>
          </a:ln>
        </p:spPr>
      </p:sp>
      <p:sp>
        <p:nvSpPr>
          <p:cNvPr id="150" name="Shape 140"/>
          <p:cNvSpPr/>
          <p:nvPr/>
        </p:nvSpPr>
        <p:spPr>
          <a:xfrm>
            <a:off x="8630107" y="6648602"/>
            <a:ext cx="381305" cy="304495"/>
          </a:xfrm>
          <a:prstGeom prst="rect">
            <a:avLst/>
          </a:prstGeom>
          <a:solidFill>
            <a:srgbClr val="7AA4CB"/>
          </a:solidFill>
          <a:ln w="12700">
            <a:solidFill>
              <a:srgbClr val="FFFFFF">
                <a:alpha val="0"/>
              </a:srgbClr>
            </a:solidFill>
            <a:prstDash val="solid"/>
          </a:ln>
        </p:spPr>
      </p:sp>
      <p:sp>
        <p:nvSpPr>
          <p:cNvPr id="151" name="Shape 141"/>
          <p:cNvSpPr/>
          <p:nvPr/>
        </p:nvSpPr>
        <p:spPr>
          <a:xfrm>
            <a:off x="9048902" y="6648602"/>
            <a:ext cx="381305" cy="304495"/>
          </a:xfrm>
          <a:prstGeom prst="rect">
            <a:avLst/>
          </a:prstGeom>
          <a:solidFill>
            <a:srgbClr val="7AA4CB"/>
          </a:solidFill>
          <a:ln w="12700">
            <a:solidFill>
              <a:srgbClr val="FFFFFF">
                <a:alpha val="0"/>
              </a:srgbClr>
            </a:solidFill>
            <a:prstDash val="solid"/>
          </a:ln>
        </p:spPr>
      </p:sp>
      <p:sp>
        <p:nvSpPr>
          <p:cNvPr id="152" name="Shape 142"/>
          <p:cNvSpPr/>
          <p:nvPr/>
        </p:nvSpPr>
        <p:spPr>
          <a:xfrm>
            <a:off x="9467698" y="6648602"/>
            <a:ext cx="381305" cy="304495"/>
          </a:xfrm>
          <a:prstGeom prst="rect">
            <a:avLst/>
          </a:prstGeom>
          <a:solidFill>
            <a:srgbClr val="7AA4CB"/>
          </a:solidFill>
          <a:ln w="12700">
            <a:solidFill>
              <a:srgbClr val="FFFFFF">
                <a:alpha val="0"/>
              </a:srgbClr>
            </a:solidFill>
            <a:prstDash val="solid"/>
          </a:ln>
        </p:spPr>
      </p:sp>
      <p:sp>
        <p:nvSpPr>
          <p:cNvPr id="153" name="Shape 143"/>
          <p:cNvSpPr/>
          <p:nvPr/>
        </p:nvSpPr>
        <p:spPr>
          <a:xfrm>
            <a:off x="9887407" y="6648602"/>
            <a:ext cx="381305" cy="304495"/>
          </a:xfrm>
          <a:prstGeom prst="rect">
            <a:avLst/>
          </a:prstGeom>
          <a:solidFill>
            <a:srgbClr val="DCE3EE"/>
          </a:solidFill>
          <a:ln w="12700">
            <a:solidFill>
              <a:srgbClr val="FFFFFF">
                <a:alpha val="0"/>
              </a:srgbClr>
            </a:solidFill>
            <a:prstDash val="solid"/>
          </a:ln>
        </p:spPr>
      </p:sp>
      <p:sp>
        <p:nvSpPr>
          <p:cNvPr id="154" name="Shape 144"/>
          <p:cNvSpPr/>
          <p:nvPr/>
        </p:nvSpPr>
        <p:spPr>
          <a:xfrm>
            <a:off x="10306202" y="6648602"/>
            <a:ext cx="381305" cy="304495"/>
          </a:xfrm>
          <a:prstGeom prst="rect">
            <a:avLst/>
          </a:prstGeom>
          <a:solidFill>
            <a:srgbClr val="DCE3EE"/>
          </a:solidFill>
          <a:ln w="12700">
            <a:solidFill>
              <a:srgbClr val="FFFFFF">
                <a:alpha val="0"/>
              </a:srgbClr>
            </a:solidFill>
            <a:prstDash val="solid"/>
          </a:ln>
        </p:spPr>
      </p:sp>
      <p:pic>
        <p:nvPicPr>
          <p:cNvPr id="155" name="Image 7" descr="gen-dedup-9a32aed1d400fdb4e0fb19b64130d11d.png">    </p:cNvPr>
          <p:cNvPicPr>
            <a:picLocks noChangeAspect="1"/>
          </p:cNvPicPr>
          <p:nvPr/>
        </p:nvPicPr>
        <p:blipFill>
          <a:blip r:embed="rId8"/>
          <a:srcRect l="-90" r="-90" t="0" b="0"/>
          <a:stretch/>
        </p:blipFill>
        <p:spPr>
          <a:xfrm>
            <a:off x="10724998" y="6648602"/>
            <a:ext cx="381305" cy="304495"/>
          </a:xfrm>
          <a:prstGeom prst="rect">
            <a:avLst/>
          </a:prstGeom>
        </p:spPr>
      </p:pic>
      <p:pic>
        <p:nvPicPr>
          <p:cNvPr id="156" name="Image 8" descr="gen-dedup-9a32aed1d400fdb4e0fb19b64130d11d.png">    </p:cNvPr>
          <p:cNvPicPr>
            <a:picLocks noChangeAspect="1"/>
          </p:cNvPicPr>
          <p:nvPr/>
        </p:nvPicPr>
        <p:blipFill>
          <a:blip r:embed="rId9"/>
          <a:srcRect l="-90" r="-90" t="0" b="0"/>
          <a:stretch/>
        </p:blipFill>
        <p:spPr>
          <a:xfrm>
            <a:off x="12991795" y="4248302"/>
            <a:ext cx="381305" cy="304495"/>
          </a:xfrm>
          <a:prstGeom prst="rect">
            <a:avLst/>
          </a:prstGeom>
        </p:spPr>
      </p:pic>
      <p:sp>
        <p:nvSpPr>
          <p:cNvPr id="157" name="Shape 145"/>
          <p:cNvSpPr/>
          <p:nvPr/>
        </p:nvSpPr>
        <p:spPr>
          <a:xfrm>
            <a:off x="13411505" y="4248302"/>
            <a:ext cx="381305" cy="304495"/>
          </a:xfrm>
          <a:prstGeom prst="rect">
            <a:avLst/>
          </a:prstGeom>
          <a:solidFill>
            <a:srgbClr val="C9A589"/>
          </a:solidFill>
          <a:ln w="12700">
            <a:solidFill>
              <a:srgbClr val="FFFFFF">
                <a:alpha val="0"/>
              </a:srgbClr>
            </a:solidFill>
            <a:prstDash val="solid"/>
          </a:ln>
        </p:spPr>
      </p:sp>
      <p:sp>
        <p:nvSpPr>
          <p:cNvPr id="158" name="Shape 146"/>
          <p:cNvSpPr/>
          <p:nvPr/>
        </p:nvSpPr>
        <p:spPr>
          <a:xfrm>
            <a:off x="13830300" y="4248302"/>
            <a:ext cx="381305" cy="304495"/>
          </a:xfrm>
          <a:prstGeom prst="rect">
            <a:avLst/>
          </a:prstGeom>
          <a:solidFill>
            <a:srgbClr val="7AA4CB"/>
          </a:solidFill>
          <a:ln w="12700">
            <a:solidFill>
              <a:srgbClr val="FFFFFF">
                <a:alpha val="0"/>
              </a:srgbClr>
            </a:solidFill>
            <a:prstDash val="solid"/>
          </a:ln>
        </p:spPr>
      </p:sp>
      <p:sp>
        <p:nvSpPr>
          <p:cNvPr id="159" name="Shape 147"/>
          <p:cNvSpPr/>
          <p:nvPr/>
        </p:nvSpPr>
        <p:spPr>
          <a:xfrm>
            <a:off x="14249095" y="4248302"/>
            <a:ext cx="381305" cy="304495"/>
          </a:xfrm>
          <a:prstGeom prst="rect">
            <a:avLst/>
          </a:prstGeom>
          <a:solidFill>
            <a:srgbClr val="7AA4CB"/>
          </a:solidFill>
          <a:ln w="12700">
            <a:solidFill>
              <a:srgbClr val="FFFFFF">
                <a:alpha val="0"/>
              </a:srgbClr>
            </a:solidFill>
            <a:prstDash val="solid"/>
          </a:ln>
        </p:spPr>
      </p:sp>
      <p:sp>
        <p:nvSpPr>
          <p:cNvPr id="160" name="Shape 148"/>
          <p:cNvSpPr/>
          <p:nvPr/>
        </p:nvSpPr>
        <p:spPr>
          <a:xfrm>
            <a:off x="14668805" y="4248302"/>
            <a:ext cx="381305" cy="304495"/>
          </a:xfrm>
          <a:prstGeom prst="rect">
            <a:avLst/>
          </a:prstGeom>
          <a:solidFill>
            <a:srgbClr val="7AA4CB"/>
          </a:solidFill>
          <a:ln w="12700">
            <a:solidFill>
              <a:srgbClr val="FFFFFF">
                <a:alpha val="0"/>
              </a:srgbClr>
            </a:solidFill>
            <a:prstDash val="solid"/>
          </a:ln>
        </p:spPr>
      </p:sp>
      <p:sp>
        <p:nvSpPr>
          <p:cNvPr id="161" name="Shape 149"/>
          <p:cNvSpPr/>
          <p:nvPr/>
        </p:nvSpPr>
        <p:spPr>
          <a:xfrm>
            <a:off x="15087600" y="4248302"/>
            <a:ext cx="381305" cy="304495"/>
          </a:xfrm>
          <a:prstGeom prst="rect">
            <a:avLst/>
          </a:prstGeom>
          <a:solidFill>
            <a:srgbClr val="7AA4CB"/>
          </a:solidFill>
          <a:ln w="12700">
            <a:solidFill>
              <a:srgbClr val="FFFFFF">
                <a:alpha val="0"/>
              </a:srgbClr>
            </a:solidFill>
            <a:prstDash val="solid"/>
          </a:ln>
        </p:spPr>
      </p:sp>
      <p:sp>
        <p:nvSpPr>
          <p:cNvPr id="162" name="Shape 150"/>
          <p:cNvSpPr/>
          <p:nvPr/>
        </p:nvSpPr>
        <p:spPr>
          <a:xfrm>
            <a:off x="15506395" y="4248302"/>
            <a:ext cx="381305" cy="304495"/>
          </a:xfrm>
          <a:prstGeom prst="rect">
            <a:avLst/>
          </a:prstGeom>
          <a:solidFill>
            <a:srgbClr val="C9A589"/>
          </a:solidFill>
          <a:ln w="12700">
            <a:solidFill>
              <a:srgbClr val="FFFFFF">
                <a:alpha val="0"/>
              </a:srgbClr>
            </a:solidFill>
            <a:prstDash val="solid"/>
          </a:ln>
        </p:spPr>
      </p:sp>
      <p:sp>
        <p:nvSpPr>
          <p:cNvPr id="163" name="Shape 151"/>
          <p:cNvSpPr/>
          <p:nvPr/>
        </p:nvSpPr>
        <p:spPr>
          <a:xfrm>
            <a:off x="15926105" y="4248302"/>
            <a:ext cx="381305" cy="304495"/>
          </a:xfrm>
          <a:prstGeom prst="rect">
            <a:avLst/>
          </a:prstGeom>
          <a:solidFill>
            <a:srgbClr val="C9A589"/>
          </a:solidFill>
          <a:ln w="12700">
            <a:solidFill>
              <a:srgbClr val="FFFFFF">
                <a:alpha val="0"/>
              </a:srgbClr>
            </a:solidFill>
            <a:prstDash val="solid"/>
          </a:ln>
        </p:spPr>
      </p:sp>
      <p:pic>
        <p:nvPicPr>
          <p:cNvPr id="164" name="Image 9" descr="gen-dedup-9a32aed1d400fdb4e0fb19b64130d11d.png">    </p:cNvPr>
          <p:cNvPicPr>
            <a:picLocks noChangeAspect="1"/>
          </p:cNvPicPr>
          <p:nvPr/>
        </p:nvPicPr>
        <p:blipFill>
          <a:blip r:embed="rId10"/>
          <a:srcRect l="-90" r="-90" t="0" b="0"/>
          <a:stretch/>
        </p:blipFill>
        <p:spPr>
          <a:xfrm>
            <a:off x="16344900" y="4248302"/>
            <a:ext cx="381305" cy="304495"/>
          </a:xfrm>
          <a:prstGeom prst="rect">
            <a:avLst/>
          </a:prstGeom>
        </p:spPr>
      </p:pic>
      <p:sp>
        <p:nvSpPr>
          <p:cNvPr id="165" name="Shape 152"/>
          <p:cNvSpPr/>
          <p:nvPr/>
        </p:nvSpPr>
        <p:spPr>
          <a:xfrm>
            <a:off x="12991795" y="4591202"/>
            <a:ext cx="381305" cy="304495"/>
          </a:xfrm>
          <a:prstGeom prst="rect">
            <a:avLst/>
          </a:prstGeom>
          <a:solidFill>
            <a:srgbClr val="C9A589"/>
          </a:solidFill>
          <a:ln w="12700">
            <a:solidFill>
              <a:srgbClr val="FFFFFF">
                <a:alpha val="0"/>
              </a:srgbClr>
            </a:solidFill>
            <a:prstDash val="solid"/>
          </a:ln>
        </p:spPr>
      </p:sp>
      <p:sp>
        <p:nvSpPr>
          <p:cNvPr id="166" name="Shape 153"/>
          <p:cNvSpPr/>
          <p:nvPr/>
        </p:nvSpPr>
        <p:spPr>
          <a:xfrm>
            <a:off x="13411505" y="4591202"/>
            <a:ext cx="381305" cy="304495"/>
          </a:xfrm>
          <a:prstGeom prst="rect">
            <a:avLst/>
          </a:prstGeom>
          <a:solidFill>
            <a:srgbClr val="7AA4CB"/>
          </a:solidFill>
          <a:ln w="12700">
            <a:solidFill>
              <a:srgbClr val="FFFFFF">
                <a:alpha val="0"/>
              </a:srgbClr>
            </a:solidFill>
            <a:prstDash val="solid"/>
          </a:ln>
        </p:spPr>
      </p:sp>
      <p:sp>
        <p:nvSpPr>
          <p:cNvPr id="167" name="Shape 154"/>
          <p:cNvSpPr/>
          <p:nvPr/>
        </p:nvSpPr>
        <p:spPr>
          <a:xfrm>
            <a:off x="13830300" y="4591202"/>
            <a:ext cx="381305" cy="304495"/>
          </a:xfrm>
          <a:prstGeom prst="rect">
            <a:avLst/>
          </a:prstGeom>
          <a:solidFill>
            <a:srgbClr val="DCE3EE"/>
          </a:solidFill>
          <a:ln w="12700">
            <a:solidFill>
              <a:srgbClr val="FFFFFF">
                <a:alpha val="0"/>
              </a:srgbClr>
            </a:solidFill>
            <a:prstDash val="solid"/>
          </a:ln>
        </p:spPr>
      </p:sp>
      <p:sp>
        <p:nvSpPr>
          <p:cNvPr id="168" name="Shape 155"/>
          <p:cNvSpPr/>
          <p:nvPr/>
        </p:nvSpPr>
        <p:spPr>
          <a:xfrm>
            <a:off x="14249095" y="4591202"/>
            <a:ext cx="381305" cy="304495"/>
          </a:xfrm>
          <a:prstGeom prst="rect">
            <a:avLst/>
          </a:prstGeom>
          <a:solidFill>
            <a:srgbClr val="DCE3EE"/>
          </a:solidFill>
          <a:ln w="12700">
            <a:solidFill>
              <a:srgbClr val="FFFFFF">
                <a:alpha val="0"/>
              </a:srgbClr>
            </a:solidFill>
            <a:prstDash val="solid"/>
          </a:ln>
        </p:spPr>
      </p:sp>
      <p:sp>
        <p:nvSpPr>
          <p:cNvPr id="169" name="Shape 156"/>
          <p:cNvSpPr/>
          <p:nvPr/>
        </p:nvSpPr>
        <p:spPr>
          <a:xfrm>
            <a:off x="14668805" y="4591202"/>
            <a:ext cx="381305" cy="304495"/>
          </a:xfrm>
          <a:prstGeom prst="rect">
            <a:avLst/>
          </a:prstGeom>
          <a:solidFill>
            <a:srgbClr val="DCE3EE"/>
          </a:solidFill>
          <a:ln w="12700">
            <a:solidFill>
              <a:srgbClr val="FFFFFF">
                <a:alpha val="0"/>
              </a:srgbClr>
            </a:solidFill>
            <a:prstDash val="solid"/>
          </a:ln>
        </p:spPr>
      </p:sp>
      <p:sp>
        <p:nvSpPr>
          <p:cNvPr id="170" name="Shape 157"/>
          <p:cNvSpPr/>
          <p:nvPr/>
        </p:nvSpPr>
        <p:spPr>
          <a:xfrm>
            <a:off x="15087600" y="4591202"/>
            <a:ext cx="381305" cy="304495"/>
          </a:xfrm>
          <a:prstGeom prst="rect">
            <a:avLst/>
          </a:prstGeom>
          <a:solidFill>
            <a:srgbClr val="DCE3EE"/>
          </a:solidFill>
          <a:ln w="12700">
            <a:solidFill>
              <a:srgbClr val="FFFFFF">
                <a:alpha val="0"/>
              </a:srgbClr>
            </a:solidFill>
            <a:prstDash val="solid"/>
          </a:ln>
        </p:spPr>
      </p:sp>
      <p:sp>
        <p:nvSpPr>
          <p:cNvPr id="171" name="Shape 158"/>
          <p:cNvSpPr/>
          <p:nvPr/>
        </p:nvSpPr>
        <p:spPr>
          <a:xfrm>
            <a:off x="15506395" y="4591202"/>
            <a:ext cx="381305" cy="304495"/>
          </a:xfrm>
          <a:prstGeom prst="rect">
            <a:avLst/>
          </a:prstGeom>
          <a:solidFill>
            <a:srgbClr val="DCE3EE"/>
          </a:solidFill>
          <a:ln w="12700">
            <a:solidFill>
              <a:srgbClr val="FFFFFF">
                <a:alpha val="0"/>
              </a:srgbClr>
            </a:solidFill>
            <a:prstDash val="solid"/>
          </a:ln>
        </p:spPr>
      </p:sp>
      <p:sp>
        <p:nvSpPr>
          <p:cNvPr id="172" name="Shape 159"/>
          <p:cNvSpPr/>
          <p:nvPr/>
        </p:nvSpPr>
        <p:spPr>
          <a:xfrm>
            <a:off x="15926105" y="4591202"/>
            <a:ext cx="381305" cy="304495"/>
          </a:xfrm>
          <a:prstGeom prst="rect">
            <a:avLst/>
          </a:prstGeom>
          <a:solidFill>
            <a:srgbClr val="7AA4CB"/>
          </a:solidFill>
          <a:ln w="12700">
            <a:solidFill>
              <a:srgbClr val="FFFFFF">
                <a:alpha val="0"/>
              </a:srgbClr>
            </a:solidFill>
            <a:prstDash val="solid"/>
          </a:ln>
        </p:spPr>
      </p:sp>
      <p:sp>
        <p:nvSpPr>
          <p:cNvPr id="173" name="Shape 160"/>
          <p:cNvSpPr/>
          <p:nvPr/>
        </p:nvSpPr>
        <p:spPr>
          <a:xfrm>
            <a:off x="16344900" y="4591202"/>
            <a:ext cx="381305" cy="304495"/>
          </a:xfrm>
          <a:prstGeom prst="rect">
            <a:avLst/>
          </a:prstGeom>
          <a:solidFill>
            <a:srgbClr val="C9A589"/>
          </a:solidFill>
          <a:ln w="12700">
            <a:solidFill>
              <a:srgbClr val="FFFFFF">
                <a:alpha val="0"/>
              </a:srgbClr>
            </a:solidFill>
            <a:prstDash val="solid"/>
          </a:ln>
        </p:spPr>
      </p:sp>
      <p:sp>
        <p:nvSpPr>
          <p:cNvPr id="174" name="Shape 161"/>
          <p:cNvSpPr/>
          <p:nvPr/>
        </p:nvSpPr>
        <p:spPr>
          <a:xfrm>
            <a:off x="12991795" y="4934102"/>
            <a:ext cx="381305" cy="304495"/>
          </a:xfrm>
          <a:prstGeom prst="rect">
            <a:avLst/>
          </a:prstGeom>
          <a:solidFill>
            <a:srgbClr val="7AA4CB"/>
          </a:solidFill>
          <a:ln w="12700">
            <a:solidFill>
              <a:srgbClr val="FFFFFF">
                <a:alpha val="0"/>
              </a:srgbClr>
            </a:solidFill>
            <a:prstDash val="solid"/>
          </a:ln>
        </p:spPr>
      </p:sp>
      <p:sp>
        <p:nvSpPr>
          <p:cNvPr id="175" name="Shape 162"/>
          <p:cNvSpPr/>
          <p:nvPr/>
        </p:nvSpPr>
        <p:spPr>
          <a:xfrm>
            <a:off x="13411505" y="4934102"/>
            <a:ext cx="381305" cy="304495"/>
          </a:xfrm>
          <a:prstGeom prst="rect">
            <a:avLst/>
          </a:prstGeom>
          <a:solidFill>
            <a:srgbClr val="DCE3EE"/>
          </a:solidFill>
          <a:ln w="12700">
            <a:solidFill>
              <a:srgbClr val="FFFFFF">
                <a:alpha val="0"/>
              </a:srgbClr>
            </a:solidFill>
            <a:prstDash val="solid"/>
          </a:ln>
        </p:spPr>
      </p:sp>
      <p:sp>
        <p:nvSpPr>
          <p:cNvPr id="176" name="Shape 163"/>
          <p:cNvSpPr/>
          <p:nvPr/>
        </p:nvSpPr>
        <p:spPr>
          <a:xfrm>
            <a:off x="13830300" y="4934102"/>
            <a:ext cx="381305" cy="304495"/>
          </a:xfrm>
          <a:prstGeom prst="rect">
            <a:avLst/>
          </a:prstGeom>
          <a:solidFill>
            <a:srgbClr val="DCE3EE"/>
          </a:solidFill>
          <a:ln w="12700">
            <a:solidFill>
              <a:srgbClr val="FFFFFF">
                <a:alpha val="0"/>
              </a:srgbClr>
            </a:solidFill>
            <a:prstDash val="solid"/>
          </a:ln>
        </p:spPr>
      </p:sp>
      <p:sp>
        <p:nvSpPr>
          <p:cNvPr id="177" name="Shape 164"/>
          <p:cNvSpPr/>
          <p:nvPr/>
        </p:nvSpPr>
        <p:spPr>
          <a:xfrm>
            <a:off x="14249095" y="4934102"/>
            <a:ext cx="381305" cy="304495"/>
          </a:xfrm>
          <a:prstGeom prst="rect">
            <a:avLst/>
          </a:prstGeom>
          <a:solidFill>
            <a:srgbClr val="DCE3EE"/>
          </a:solidFill>
          <a:ln w="12700">
            <a:solidFill>
              <a:srgbClr val="FFFFFF">
                <a:alpha val="0"/>
              </a:srgbClr>
            </a:solidFill>
            <a:prstDash val="solid"/>
          </a:ln>
        </p:spPr>
      </p:sp>
      <p:sp>
        <p:nvSpPr>
          <p:cNvPr id="178" name="Shape 165"/>
          <p:cNvSpPr/>
          <p:nvPr/>
        </p:nvSpPr>
        <p:spPr>
          <a:xfrm>
            <a:off x="14668805" y="4934102"/>
            <a:ext cx="381305" cy="304495"/>
          </a:xfrm>
          <a:prstGeom prst="rect">
            <a:avLst/>
          </a:prstGeom>
          <a:solidFill>
            <a:srgbClr val="DCE3EE"/>
          </a:solidFill>
          <a:ln w="12700">
            <a:solidFill>
              <a:srgbClr val="FFFFFF">
                <a:alpha val="0"/>
              </a:srgbClr>
            </a:solidFill>
            <a:prstDash val="solid"/>
          </a:ln>
        </p:spPr>
      </p:sp>
      <p:sp>
        <p:nvSpPr>
          <p:cNvPr id="179" name="Shape 166"/>
          <p:cNvSpPr/>
          <p:nvPr/>
        </p:nvSpPr>
        <p:spPr>
          <a:xfrm>
            <a:off x="15087600" y="4934102"/>
            <a:ext cx="381305" cy="304495"/>
          </a:xfrm>
          <a:prstGeom prst="rect">
            <a:avLst/>
          </a:prstGeom>
          <a:solidFill>
            <a:srgbClr val="DCE3EE"/>
          </a:solidFill>
          <a:ln w="12700">
            <a:solidFill>
              <a:srgbClr val="FFFFFF">
                <a:alpha val="0"/>
              </a:srgbClr>
            </a:solidFill>
            <a:prstDash val="solid"/>
          </a:ln>
        </p:spPr>
      </p:sp>
      <p:sp>
        <p:nvSpPr>
          <p:cNvPr id="180" name="Shape 167"/>
          <p:cNvSpPr/>
          <p:nvPr/>
        </p:nvSpPr>
        <p:spPr>
          <a:xfrm>
            <a:off x="15506395" y="4934102"/>
            <a:ext cx="381305" cy="304495"/>
          </a:xfrm>
          <a:prstGeom prst="rect">
            <a:avLst/>
          </a:prstGeom>
          <a:solidFill>
            <a:srgbClr val="DCE3EE"/>
          </a:solidFill>
          <a:ln w="12700">
            <a:solidFill>
              <a:srgbClr val="FFFFFF">
                <a:alpha val="0"/>
              </a:srgbClr>
            </a:solidFill>
            <a:prstDash val="solid"/>
          </a:ln>
        </p:spPr>
      </p:sp>
      <p:sp>
        <p:nvSpPr>
          <p:cNvPr id="181" name="Shape 168"/>
          <p:cNvSpPr/>
          <p:nvPr/>
        </p:nvSpPr>
        <p:spPr>
          <a:xfrm>
            <a:off x="15926105" y="4934102"/>
            <a:ext cx="381305" cy="304495"/>
          </a:xfrm>
          <a:prstGeom prst="rect">
            <a:avLst/>
          </a:prstGeom>
          <a:solidFill>
            <a:srgbClr val="DCE3EE"/>
          </a:solidFill>
          <a:ln w="12700">
            <a:solidFill>
              <a:srgbClr val="FFFFFF">
                <a:alpha val="0"/>
              </a:srgbClr>
            </a:solidFill>
            <a:prstDash val="solid"/>
          </a:ln>
        </p:spPr>
      </p:sp>
      <p:sp>
        <p:nvSpPr>
          <p:cNvPr id="182" name="Shape 169"/>
          <p:cNvSpPr/>
          <p:nvPr/>
        </p:nvSpPr>
        <p:spPr>
          <a:xfrm>
            <a:off x="16344900" y="4934102"/>
            <a:ext cx="381305" cy="304495"/>
          </a:xfrm>
          <a:prstGeom prst="rect">
            <a:avLst/>
          </a:prstGeom>
          <a:solidFill>
            <a:srgbClr val="7AA4CB"/>
          </a:solidFill>
          <a:ln w="12700">
            <a:solidFill>
              <a:srgbClr val="FFFFFF">
                <a:alpha val="0"/>
              </a:srgbClr>
            </a:solidFill>
            <a:prstDash val="solid"/>
          </a:ln>
        </p:spPr>
      </p:sp>
      <p:sp>
        <p:nvSpPr>
          <p:cNvPr id="183" name="Shape 170"/>
          <p:cNvSpPr/>
          <p:nvPr/>
        </p:nvSpPr>
        <p:spPr>
          <a:xfrm>
            <a:off x="12991795" y="5277002"/>
            <a:ext cx="381305" cy="304495"/>
          </a:xfrm>
          <a:prstGeom prst="rect">
            <a:avLst/>
          </a:prstGeom>
          <a:solidFill>
            <a:srgbClr val="B07A52"/>
          </a:solidFill>
          <a:ln w="12700">
            <a:solidFill>
              <a:srgbClr val="FFFFFF">
                <a:alpha val="0"/>
              </a:srgbClr>
            </a:solidFill>
            <a:prstDash val="solid"/>
          </a:ln>
        </p:spPr>
      </p:sp>
      <p:sp>
        <p:nvSpPr>
          <p:cNvPr id="184" name="Shape 171"/>
          <p:cNvSpPr/>
          <p:nvPr/>
        </p:nvSpPr>
        <p:spPr>
          <a:xfrm>
            <a:off x="13411505" y="5277002"/>
            <a:ext cx="381305" cy="304495"/>
          </a:xfrm>
          <a:prstGeom prst="rect">
            <a:avLst/>
          </a:prstGeom>
          <a:solidFill>
            <a:srgbClr val="7AA4CB"/>
          </a:solidFill>
          <a:ln w="12700">
            <a:solidFill>
              <a:srgbClr val="FFFFFF">
                <a:alpha val="0"/>
              </a:srgbClr>
            </a:solidFill>
            <a:prstDash val="solid"/>
          </a:ln>
        </p:spPr>
      </p:sp>
      <p:sp>
        <p:nvSpPr>
          <p:cNvPr id="185" name="Shape 172"/>
          <p:cNvSpPr/>
          <p:nvPr/>
        </p:nvSpPr>
        <p:spPr>
          <a:xfrm>
            <a:off x="13830300" y="5277002"/>
            <a:ext cx="381305" cy="304495"/>
          </a:xfrm>
          <a:prstGeom prst="rect">
            <a:avLst/>
          </a:prstGeom>
          <a:solidFill>
            <a:srgbClr val="DCE3EE"/>
          </a:solidFill>
          <a:ln w="12700">
            <a:solidFill>
              <a:srgbClr val="FFFFFF">
                <a:alpha val="0"/>
              </a:srgbClr>
            </a:solidFill>
            <a:prstDash val="solid"/>
          </a:ln>
        </p:spPr>
      </p:sp>
      <p:sp>
        <p:nvSpPr>
          <p:cNvPr id="186" name="Shape 173"/>
          <p:cNvSpPr/>
          <p:nvPr/>
        </p:nvSpPr>
        <p:spPr>
          <a:xfrm>
            <a:off x="14249095" y="5277002"/>
            <a:ext cx="381305" cy="304495"/>
          </a:xfrm>
          <a:prstGeom prst="rect">
            <a:avLst/>
          </a:prstGeom>
          <a:solidFill>
            <a:srgbClr val="DCE3EE"/>
          </a:solidFill>
          <a:ln w="12700">
            <a:solidFill>
              <a:srgbClr val="FFFFFF">
                <a:alpha val="0"/>
              </a:srgbClr>
            </a:solidFill>
            <a:prstDash val="solid"/>
          </a:ln>
        </p:spPr>
      </p:sp>
      <p:sp>
        <p:nvSpPr>
          <p:cNvPr id="187" name="Shape 174"/>
          <p:cNvSpPr/>
          <p:nvPr/>
        </p:nvSpPr>
        <p:spPr>
          <a:xfrm>
            <a:off x="14668805" y="5277002"/>
            <a:ext cx="381305" cy="304495"/>
          </a:xfrm>
          <a:prstGeom prst="rect">
            <a:avLst/>
          </a:prstGeom>
          <a:solidFill>
            <a:srgbClr val="DCE3EE"/>
          </a:solidFill>
          <a:ln w="12700">
            <a:solidFill>
              <a:srgbClr val="FFFFFF">
                <a:alpha val="0"/>
              </a:srgbClr>
            </a:solidFill>
            <a:prstDash val="solid"/>
          </a:ln>
        </p:spPr>
      </p:sp>
      <p:sp>
        <p:nvSpPr>
          <p:cNvPr id="188" name="Shape 175"/>
          <p:cNvSpPr/>
          <p:nvPr/>
        </p:nvSpPr>
        <p:spPr>
          <a:xfrm>
            <a:off x="15087600" y="5277002"/>
            <a:ext cx="381305" cy="304495"/>
          </a:xfrm>
          <a:prstGeom prst="rect">
            <a:avLst/>
          </a:prstGeom>
          <a:solidFill>
            <a:srgbClr val="DCE3EE"/>
          </a:solidFill>
          <a:ln w="12700">
            <a:solidFill>
              <a:srgbClr val="FFFFFF">
                <a:alpha val="0"/>
              </a:srgbClr>
            </a:solidFill>
            <a:prstDash val="solid"/>
          </a:ln>
        </p:spPr>
      </p:sp>
      <p:sp>
        <p:nvSpPr>
          <p:cNvPr id="189" name="Shape 176"/>
          <p:cNvSpPr/>
          <p:nvPr/>
        </p:nvSpPr>
        <p:spPr>
          <a:xfrm>
            <a:off x="15506395" y="5277002"/>
            <a:ext cx="381305" cy="304495"/>
          </a:xfrm>
          <a:prstGeom prst="rect">
            <a:avLst/>
          </a:prstGeom>
          <a:solidFill>
            <a:srgbClr val="7AA4CB"/>
          </a:solidFill>
          <a:ln w="12700">
            <a:solidFill>
              <a:srgbClr val="FFFFFF">
                <a:alpha val="0"/>
              </a:srgbClr>
            </a:solidFill>
            <a:prstDash val="solid"/>
          </a:ln>
        </p:spPr>
      </p:sp>
      <p:sp>
        <p:nvSpPr>
          <p:cNvPr id="190" name="Shape 177"/>
          <p:cNvSpPr/>
          <p:nvPr/>
        </p:nvSpPr>
        <p:spPr>
          <a:xfrm>
            <a:off x="15926105" y="5277002"/>
            <a:ext cx="381305" cy="304495"/>
          </a:xfrm>
          <a:prstGeom prst="rect">
            <a:avLst/>
          </a:prstGeom>
          <a:solidFill>
            <a:srgbClr val="7AA4CB"/>
          </a:solidFill>
          <a:ln w="12700">
            <a:solidFill>
              <a:srgbClr val="FFFFFF">
                <a:alpha val="0"/>
              </a:srgbClr>
            </a:solidFill>
            <a:prstDash val="solid"/>
          </a:ln>
        </p:spPr>
      </p:sp>
      <p:sp>
        <p:nvSpPr>
          <p:cNvPr id="191" name="Shape 178"/>
          <p:cNvSpPr/>
          <p:nvPr/>
        </p:nvSpPr>
        <p:spPr>
          <a:xfrm>
            <a:off x="16344900" y="5277002"/>
            <a:ext cx="381305" cy="304495"/>
          </a:xfrm>
          <a:prstGeom prst="rect">
            <a:avLst/>
          </a:prstGeom>
          <a:solidFill>
            <a:srgbClr val="B07A52"/>
          </a:solidFill>
          <a:ln w="12700">
            <a:solidFill>
              <a:srgbClr val="FFFFFF">
                <a:alpha val="0"/>
              </a:srgbClr>
            </a:solidFill>
            <a:prstDash val="solid"/>
          </a:ln>
        </p:spPr>
      </p:sp>
      <p:sp>
        <p:nvSpPr>
          <p:cNvPr id="192" name="Shape 179"/>
          <p:cNvSpPr/>
          <p:nvPr/>
        </p:nvSpPr>
        <p:spPr>
          <a:xfrm>
            <a:off x="12991795" y="5619902"/>
            <a:ext cx="381305" cy="304495"/>
          </a:xfrm>
          <a:prstGeom prst="rect">
            <a:avLst/>
          </a:prstGeom>
          <a:solidFill>
            <a:srgbClr val="B07A52"/>
          </a:solidFill>
          <a:ln w="12700">
            <a:solidFill>
              <a:srgbClr val="FFFFFF">
                <a:alpha val="0"/>
              </a:srgbClr>
            </a:solidFill>
            <a:prstDash val="solid"/>
          </a:ln>
        </p:spPr>
      </p:sp>
      <p:sp>
        <p:nvSpPr>
          <p:cNvPr id="193" name="Shape 180"/>
          <p:cNvSpPr/>
          <p:nvPr/>
        </p:nvSpPr>
        <p:spPr>
          <a:xfrm>
            <a:off x="13411505" y="5619902"/>
            <a:ext cx="381305" cy="304495"/>
          </a:xfrm>
          <a:prstGeom prst="rect">
            <a:avLst/>
          </a:prstGeom>
          <a:solidFill>
            <a:srgbClr val="7AA4CB"/>
          </a:solidFill>
          <a:ln w="12700">
            <a:solidFill>
              <a:srgbClr val="FFFFFF">
                <a:alpha val="0"/>
              </a:srgbClr>
            </a:solidFill>
            <a:prstDash val="solid"/>
          </a:ln>
        </p:spPr>
      </p:sp>
      <p:sp>
        <p:nvSpPr>
          <p:cNvPr id="194" name="Shape 181"/>
          <p:cNvSpPr/>
          <p:nvPr/>
        </p:nvSpPr>
        <p:spPr>
          <a:xfrm>
            <a:off x="13830300" y="5619902"/>
            <a:ext cx="381305" cy="304495"/>
          </a:xfrm>
          <a:prstGeom prst="rect">
            <a:avLst/>
          </a:prstGeom>
          <a:solidFill>
            <a:srgbClr val="DCE3EE"/>
          </a:solidFill>
          <a:ln w="12700">
            <a:solidFill>
              <a:srgbClr val="FFFFFF">
                <a:alpha val="0"/>
              </a:srgbClr>
            </a:solidFill>
            <a:prstDash val="solid"/>
          </a:ln>
        </p:spPr>
      </p:sp>
      <p:sp>
        <p:nvSpPr>
          <p:cNvPr id="195" name="Shape 182"/>
          <p:cNvSpPr/>
          <p:nvPr/>
        </p:nvSpPr>
        <p:spPr>
          <a:xfrm>
            <a:off x="14249095" y="5619902"/>
            <a:ext cx="381305" cy="304495"/>
          </a:xfrm>
          <a:prstGeom prst="rect">
            <a:avLst/>
          </a:prstGeom>
          <a:solidFill>
            <a:srgbClr val="DCE3EE"/>
          </a:solidFill>
          <a:ln w="12700">
            <a:solidFill>
              <a:srgbClr val="FFFFFF">
                <a:alpha val="0"/>
              </a:srgbClr>
            </a:solidFill>
            <a:prstDash val="solid"/>
          </a:ln>
        </p:spPr>
      </p:sp>
      <p:sp>
        <p:nvSpPr>
          <p:cNvPr id="196" name="Shape 183"/>
          <p:cNvSpPr/>
          <p:nvPr/>
        </p:nvSpPr>
        <p:spPr>
          <a:xfrm>
            <a:off x="14668805" y="5619902"/>
            <a:ext cx="381305" cy="304495"/>
          </a:xfrm>
          <a:prstGeom prst="rect">
            <a:avLst/>
          </a:prstGeom>
          <a:solidFill>
            <a:srgbClr val="DCE3EE"/>
          </a:solidFill>
          <a:ln w="12700">
            <a:solidFill>
              <a:srgbClr val="FFFFFF">
                <a:alpha val="0"/>
              </a:srgbClr>
            </a:solidFill>
            <a:prstDash val="solid"/>
          </a:ln>
        </p:spPr>
      </p:sp>
      <p:sp>
        <p:nvSpPr>
          <p:cNvPr id="197" name="Shape 184"/>
          <p:cNvSpPr/>
          <p:nvPr/>
        </p:nvSpPr>
        <p:spPr>
          <a:xfrm>
            <a:off x="15087600" y="5619902"/>
            <a:ext cx="381305" cy="304495"/>
          </a:xfrm>
          <a:prstGeom prst="rect">
            <a:avLst/>
          </a:prstGeom>
          <a:solidFill>
            <a:srgbClr val="DCE3EE"/>
          </a:solidFill>
          <a:ln w="12700">
            <a:solidFill>
              <a:srgbClr val="FFFFFF">
                <a:alpha val="0"/>
              </a:srgbClr>
            </a:solidFill>
            <a:prstDash val="solid"/>
          </a:ln>
        </p:spPr>
      </p:sp>
      <p:sp>
        <p:nvSpPr>
          <p:cNvPr id="198" name="Shape 185"/>
          <p:cNvSpPr/>
          <p:nvPr/>
        </p:nvSpPr>
        <p:spPr>
          <a:xfrm>
            <a:off x="15506395" y="5619902"/>
            <a:ext cx="381305" cy="304495"/>
          </a:xfrm>
          <a:prstGeom prst="rect">
            <a:avLst/>
          </a:prstGeom>
          <a:solidFill>
            <a:srgbClr val="7AA4CB"/>
          </a:solidFill>
          <a:ln w="12700">
            <a:solidFill>
              <a:srgbClr val="FFFFFF">
                <a:alpha val="0"/>
              </a:srgbClr>
            </a:solidFill>
            <a:prstDash val="solid"/>
          </a:ln>
        </p:spPr>
      </p:sp>
      <p:sp>
        <p:nvSpPr>
          <p:cNvPr id="199" name="Shape 186"/>
          <p:cNvSpPr/>
          <p:nvPr/>
        </p:nvSpPr>
        <p:spPr>
          <a:xfrm>
            <a:off x="15926105" y="5619902"/>
            <a:ext cx="381305" cy="304495"/>
          </a:xfrm>
          <a:prstGeom prst="rect">
            <a:avLst/>
          </a:prstGeom>
          <a:solidFill>
            <a:srgbClr val="C9A589"/>
          </a:solidFill>
          <a:ln w="12700">
            <a:solidFill>
              <a:srgbClr val="FFFFFF">
                <a:alpha val="0"/>
              </a:srgbClr>
            </a:solidFill>
            <a:prstDash val="solid"/>
          </a:ln>
        </p:spPr>
      </p:sp>
      <p:sp>
        <p:nvSpPr>
          <p:cNvPr id="200" name="Shape 187"/>
          <p:cNvSpPr/>
          <p:nvPr/>
        </p:nvSpPr>
        <p:spPr>
          <a:xfrm>
            <a:off x="16344900" y="5619902"/>
            <a:ext cx="381305" cy="304495"/>
          </a:xfrm>
          <a:prstGeom prst="rect">
            <a:avLst/>
          </a:prstGeom>
          <a:solidFill>
            <a:srgbClr val="B07A52"/>
          </a:solidFill>
          <a:ln w="12700">
            <a:solidFill>
              <a:srgbClr val="FFFFFF">
                <a:alpha val="0"/>
              </a:srgbClr>
            </a:solidFill>
            <a:prstDash val="solid"/>
          </a:ln>
        </p:spPr>
      </p:sp>
      <p:sp>
        <p:nvSpPr>
          <p:cNvPr id="201" name="Shape 188"/>
          <p:cNvSpPr/>
          <p:nvPr/>
        </p:nvSpPr>
        <p:spPr>
          <a:xfrm>
            <a:off x="12991795" y="5962802"/>
            <a:ext cx="381305" cy="304495"/>
          </a:xfrm>
          <a:prstGeom prst="rect">
            <a:avLst/>
          </a:prstGeom>
          <a:solidFill>
            <a:srgbClr val="C9A589"/>
          </a:solidFill>
          <a:ln w="12700">
            <a:solidFill>
              <a:srgbClr val="FFFFFF">
                <a:alpha val="0"/>
              </a:srgbClr>
            </a:solidFill>
            <a:prstDash val="solid"/>
          </a:ln>
        </p:spPr>
      </p:sp>
      <p:sp>
        <p:nvSpPr>
          <p:cNvPr id="202" name="Shape 189"/>
          <p:cNvSpPr/>
          <p:nvPr/>
        </p:nvSpPr>
        <p:spPr>
          <a:xfrm>
            <a:off x="13411505" y="5962802"/>
            <a:ext cx="381305" cy="304495"/>
          </a:xfrm>
          <a:prstGeom prst="rect">
            <a:avLst/>
          </a:prstGeom>
          <a:solidFill>
            <a:srgbClr val="DCE3EE"/>
          </a:solidFill>
          <a:ln w="12700">
            <a:solidFill>
              <a:srgbClr val="FFFFFF">
                <a:alpha val="0"/>
              </a:srgbClr>
            </a:solidFill>
            <a:prstDash val="solid"/>
          </a:ln>
        </p:spPr>
      </p:sp>
      <p:sp>
        <p:nvSpPr>
          <p:cNvPr id="203" name="Shape 190"/>
          <p:cNvSpPr/>
          <p:nvPr/>
        </p:nvSpPr>
        <p:spPr>
          <a:xfrm>
            <a:off x="13830300" y="5962802"/>
            <a:ext cx="381305" cy="304495"/>
          </a:xfrm>
          <a:prstGeom prst="rect">
            <a:avLst/>
          </a:prstGeom>
          <a:solidFill>
            <a:srgbClr val="DCE3EE"/>
          </a:solidFill>
          <a:ln w="12700">
            <a:solidFill>
              <a:srgbClr val="FFFFFF">
                <a:alpha val="0"/>
              </a:srgbClr>
            </a:solidFill>
            <a:prstDash val="solid"/>
          </a:ln>
        </p:spPr>
      </p:sp>
      <p:sp>
        <p:nvSpPr>
          <p:cNvPr id="204" name="Shape 191"/>
          <p:cNvSpPr/>
          <p:nvPr/>
        </p:nvSpPr>
        <p:spPr>
          <a:xfrm>
            <a:off x="14249095" y="5962802"/>
            <a:ext cx="381305" cy="304495"/>
          </a:xfrm>
          <a:prstGeom prst="rect">
            <a:avLst/>
          </a:prstGeom>
          <a:solidFill>
            <a:srgbClr val="DCE3EE"/>
          </a:solidFill>
          <a:ln w="12700">
            <a:solidFill>
              <a:srgbClr val="FFFFFF">
                <a:alpha val="0"/>
              </a:srgbClr>
            </a:solidFill>
            <a:prstDash val="solid"/>
          </a:ln>
        </p:spPr>
      </p:sp>
      <p:sp>
        <p:nvSpPr>
          <p:cNvPr id="205" name="Shape 192"/>
          <p:cNvSpPr/>
          <p:nvPr/>
        </p:nvSpPr>
        <p:spPr>
          <a:xfrm>
            <a:off x="14668805" y="5962802"/>
            <a:ext cx="381305" cy="304495"/>
          </a:xfrm>
          <a:prstGeom prst="rect">
            <a:avLst/>
          </a:prstGeom>
          <a:solidFill>
            <a:srgbClr val="DCE3EE"/>
          </a:solidFill>
          <a:ln w="12700">
            <a:solidFill>
              <a:srgbClr val="FFFFFF">
                <a:alpha val="0"/>
              </a:srgbClr>
            </a:solidFill>
            <a:prstDash val="solid"/>
          </a:ln>
        </p:spPr>
      </p:sp>
      <p:sp>
        <p:nvSpPr>
          <p:cNvPr id="206" name="Shape 193"/>
          <p:cNvSpPr/>
          <p:nvPr/>
        </p:nvSpPr>
        <p:spPr>
          <a:xfrm>
            <a:off x="15087600" y="5962802"/>
            <a:ext cx="381305" cy="304495"/>
          </a:xfrm>
          <a:prstGeom prst="rect">
            <a:avLst/>
          </a:prstGeom>
          <a:solidFill>
            <a:srgbClr val="DCE3EE"/>
          </a:solidFill>
          <a:ln w="12700">
            <a:solidFill>
              <a:srgbClr val="FFFFFF">
                <a:alpha val="0"/>
              </a:srgbClr>
            </a:solidFill>
            <a:prstDash val="solid"/>
          </a:ln>
        </p:spPr>
      </p:sp>
      <p:sp>
        <p:nvSpPr>
          <p:cNvPr id="207" name="Shape 194"/>
          <p:cNvSpPr/>
          <p:nvPr/>
        </p:nvSpPr>
        <p:spPr>
          <a:xfrm>
            <a:off x="15506395" y="5962802"/>
            <a:ext cx="381305" cy="304495"/>
          </a:xfrm>
          <a:prstGeom prst="rect">
            <a:avLst/>
          </a:prstGeom>
          <a:solidFill>
            <a:srgbClr val="DCE3EE"/>
          </a:solidFill>
          <a:ln w="12700">
            <a:solidFill>
              <a:srgbClr val="FFFFFF">
                <a:alpha val="0"/>
              </a:srgbClr>
            </a:solidFill>
            <a:prstDash val="solid"/>
          </a:ln>
        </p:spPr>
      </p:sp>
      <p:sp>
        <p:nvSpPr>
          <p:cNvPr id="208" name="Shape 195"/>
          <p:cNvSpPr/>
          <p:nvPr/>
        </p:nvSpPr>
        <p:spPr>
          <a:xfrm>
            <a:off x="15926105" y="5962802"/>
            <a:ext cx="381305" cy="304495"/>
          </a:xfrm>
          <a:prstGeom prst="rect">
            <a:avLst/>
          </a:prstGeom>
          <a:solidFill>
            <a:srgbClr val="DCE3EE"/>
          </a:solidFill>
          <a:ln w="12700">
            <a:solidFill>
              <a:srgbClr val="FFFFFF">
                <a:alpha val="0"/>
              </a:srgbClr>
            </a:solidFill>
            <a:prstDash val="solid"/>
          </a:ln>
        </p:spPr>
      </p:sp>
      <p:sp>
        <p:nvSpPr>
          <p:cNvPr id="209" name="Shape 196"/>
          <p:cNvSpPr/>
          <p:nvPr/>
        </p:nvSpPr>
        <p:spPr>
          <a:xfrm>
            <a:off x="16344900" y="5962802"/>
            <a:ext cx="381305" cy="304495"/>
          </a:xfrm>
          <a:prstGeom prst="rect">
            <a:avLst/>
          </a:prstGeom>
          <a:solidFill>
            <a:srgbClr val="C9A589"/>
          </a:solidFill>
          <a:ln w="12700">
            <a:solidFill>
              <a:srgbClr val="FFFFFF">
                <a:alpha val="0"/>
              </a:srgbClr>
            </a:solidFill>
            <a:prstDash val="solid"/>
          </a:ln>
        </p:spPr>
      </p:sp>
      <p:sp>
        <p:nvSpPr>
          <p:cNvPr id="210" name="Shape 197"/>
          <p:cNvSpPr/>
          <p:nvPr/>
        </p:nvSpPr>
        <p:spPr>
          <a:xfrm>
            <a:off x="12991795" y="6305702"/>
            <a:ext cx="381305" cy="304495"/>
          </a:xfrm>
          <a:prstGeom prst="rect">
            <a:avLst/>
          </a:prstGeom>
          <a:solidFill>
            <a:srgbClr val="7AA4CB"/>
          </a:solidFill>
          <a:ln w="12700">
            <a:solidFill>
              <a:srgbClr val="FFFFFF">
                <a:alpha val="0"/>
              </a:srgbClr>
            </a:solidFill>
            <a:prstDash val="solid"/>
          </a:ln>
        </p:spPr>
      </p:sp>
      <p:sp>
        <p:nvSpPr>
          <p:cNvPr id="211" name="Shape 198"/>
          <p:cNvSpPr/>
          <p:nvPr/>
        </p:nvSpPr>
        <p:spPr>
          <a:xfrm>
            <a:off x="13411505" y="6305702"/>
            <a:ext cx="381305" cy="304495"/>
          </a:xfrm>
          <a:prstGeom prst="rect">
            <a:avLst/>
          </a:prstGeom>
          <a:solidFill>
            <a:srgbClr val="DCE3EE"/>
          </a:solidFill>
          <a:ln w="12700">
            <a:solidFill>
              <a:srgbClr val="FFFFFF">
                <a:alpha val="0"/>
              </a:srgbClr>
            </a:solidFill>
            <a:prstDash val="solid"/>
          </a:ln>
        </p:spPr>
      </p:sp>
      <p:sp>
        <p:nvSpPr>
          <p:cNvPr id="212" name="Shape 199"/>
          <p:cNvSpPr/>
          <p:nvPr/>
        </p:nvSpPr>
        <p:spPr>
          <a:xfrm>
            <a:off x="13830300" y="6305702"/>
            <a:ext cx="381305" cy="304495"/>
          </a:xfrm>
          <a:prstGeom prst="rect">
            <a:avLst/>
          </a:prstGeom>
          <a:solidFill>
            <a:srgbClr val="DCE3EE"/>
          </a:solidFill>
          <a:ln w="12700">
            <a:solidFill>
              <a:srgbClr val="FFFFFF">
                <a:alpha val="0"/>
              </a:srgbClr>
            </a:solidFill>
            <a:prstDash val="solid"/>
          </a:ln>
        </p:spPr>
      </p:sp>
      <p:sp>
        <p:nvSpPr>
          <p:cNvPr id="213" name="Shape 200"/>
          <p:cNvSpPr/>
          <p:nvPr/>
        </p:nvSpPr>
        <p:spPr>
          <a:xfrm>
            <a:off x="14249095" y="6305702"/>
            <a:ext cx="381305" cy="304495"/>
          </a:xfrm>
          <a:prstGeom prst="rect">
            <a:avLst/>
          </a:prstGeom>
          <a:solidFill>
            <a:srgbClr val="DCE3EE"/>
          </a:solidFill>
          <a:ln w="12700">
            <a:solidFill>
              <a:srgbClr val="FFFFFF">
                <a:alpha val="0"/>
              </a:srgbClr>
            </a:solidFill>
            <a:prstDash val="solid"/>
          </a:ln>
        </p:spPr>
      </p:sp>
      <p:sp>
        <p:nvSpPr>
          <p:cNvPr id="214" name="Shape 201"/>
          <p:cNvSpPr/>
          <p:nvPr/>
        </p:nvSpPr>
        <p:spPr>
          <a:xfrm>
            <a:off x="14668805" y="6305702"/>
            <a:ext cx="381305" cy="304495"/>
          </a:xfrm>
          <a:prstGeom prst="rect">
            <a:avLst/>
          </a:prstGeom>
          <a:solidFill>
            <a:srgbClr val="DCE3EE"/>
          </a:solidFill>
          <a:ln w="12700">
            <a:solidFill>
              <a:srgbClr val="FFFFFF">
                <a:alpha val="0"/>
              </a:srgbClr>
            </a:solidFill>
            <a:prstDash val="solid"/>
          </a:ln>
        </p:spPr>
      </p:sp>
      <p:sp>
        <p:nvSpPr>
          <p:cNvPr id="215" name="Shape 202"/>
          <p:cNvSpPr/>
          <p:nvPr/>
        </p:nvSpPr>
        <p:spPr>
          <a:xfrm>
            <a:off x="15087600" y="6305702"/>
            <a:ext cx="381305" cy="304495"/>
          </a:xfrm>
          <a:prstGeom prst="rect">
            <a:avLst/>
          </a:prstGeom>
          <a:solidFill>
            <a:srgbClr val="DCE3EE"/>
          </a:solidFill>
          <a:ln w="12700">
            <a:solidFill>
              <a:srgbClr val="FFFFFF">
                <a:alpha val="0"/>
              </a:srgbClr>
            </a:solidFill>
            <a:prstDash val="solid"/>
          </a:ln>
        </p:spPr>
      </p:sp>
      <p:sp>
        <p:nvSpPr>
          <p:cNvPr id="216" name="Shape 203"/>
          <p:cNvSpPr/>
          <p:nvPr/>
        </p:nvSpPr>
        <p:spPr>
          <a:xfrm>
            <a:off x="15506395" y="6305702"/>
            <a:ext cx="381305" cy="304495"/>
          </a:xfrm>
          <a:prstGeom prst="rect">
            <a:avLst/>
          </a:prstGeom>
          <a:solidFill>
            <a:srgbClr val="DCE3EE"/>
          </a:solidFill>
          <a:ln w="12700">
            <a:solidFill>
              <a:srgbClr val="FFFFFF">
                <a:alpha val="0"/>
              </a:srgbClr>
            </a:solidFill>
            <a:prstDash val="solid"/>
          </a:ln>
        </p:spPr>
      </p:sp>
      <p:sp>
        <p:nvSpPr>
          <p:cNvPr id="217" name="Shape 204"/>
          <p:cNvSpPr/>
          <p:nvPr/>
        </p:nvSpPr>
        <p:spPr>
          <a:xfrm>
            <a:off x="15926105" y="6305702"/>
            <a:ext cx="381305" cy="304495"/>
          </a:xfrm>
          <a:prstGeom prst="rect">
            <a:avLst/>
          </a:prstGeom>
          <a:solidFill>
            <a:srgbClr val="DCE3EE"/>
          </a:solidFill>
          <a:ln w="12700">
            <a:solidFill>
              <a:srgbClr val="FFFFFF">
                <a:alpha val="0"/>
              </a:srgbClr>
            </a:solidFill>
            <a:prstDash val="solid"/>
          </a:ln>
        </p:spPr>
      </p:sp>
      <p:sp>
        <p:nvSpPr>
          <p:cNvPr id="218" name="Shape 205"/>
          <p:cNvSpPr/>
          <p:nvPr/>
        </p:nvSpPr>
        <p:spPr>
          <a:xfrm>
            <a:off x="16344900" y="6305702"/>
            <a:ext cx="381305" cy="304495"/>
          </a:xfrm>
          <a:prstGeom prst="rect">
            <a:avLst/>
          </a:prstGeom>
          <a:solidFill>
            <a:srgbClr val="7AA4CB"/>
          </a:solidFill>
          <a:ln w="12700">
            <a:solidFill>
              <a:srgbClr val="FFFFFF">
                <a:alpha val="0"/>
              </a:srgbClr>
            </a:solidFill>
            <a:prstDash val="solid"/>
          </a:ln>
        </p:spPr>
      </p:sp>
      <p:sp>
        <p:nvSpPr>
          <p:cNvPr id="219" name="Shape 206"/>
          <p:cNvSpPr/>
          <p:nvPr/>
        </p:nvSpPr>
        <p:spPr>
          <a:xfrm>
            <a:off x="12991795" y="6648602"/>
            <a:ext cx="381305" cy="304495"/>
          </a:xfrm>
          <a:prstGeom prst="rect">
            <a:avLst/>
          </a:prstGeom>
          <a:solidFill>
            <a:srgbClr val="C9A589"/>
          </a:solidFill>
          <a:ln w="12700">
            <a:solidFill>
              <a:srgbClr val="FFFFFF">
                <a:alpha val="0"/>
              </a:srgbClr>
            </a:solidFill>
            <a:prstDash val="solid"/>
          </a:ln>
        </p:spPr>
      </p:sp>
      <p:sp>
        <p:nvSpPr>
          <p:cNvPr id="220" name="Shape 207"/>
          <p:cNvSpPr/>
          <p:nvPr/>
        </p:nvSpPr>
        <p:spPr>
          <a:xfrm>
            <a:off x="13411505" y="6648602"/>
            <a:ext cx="381305" cy="304495"/>
          </a:xfrm>
          <a:prstGeom prst="rect">
            <a:avLst/>
          </a:prstGeom>
          <a:solidFill>
            <a:srgbClr val="7AA4CB"/>
          </a:solidFill>
          <a:ln w="12700">
            <a:solidFill>
              <a:srgbClr val="FFFFFF">
                <a:alpha val="0"/>
              </a:srgbClr>
            </a:solidFill>
            <a:prstDash val="solid"/>
          </a:ln>
        </p:spPr>
      </p:sp>
      <p:sp>
        <p:nvSpPr>
          <p:cNvPr id="221" name="Shape 208"/>
          <p:cNvSpPr/>
          <p:nvPr/>
        </p:nvSpPr>
        <p:spPr>
          <a:xfrm>
            <a:off x="13830300" y="6648602"/>
            <a:ext cx="381305" cy="304495"/>
          </a:xfrm>
          <a:prstGeom prst="rect">
            <a:avLst/>
          </a:prstGeom>
          <a:solidFill>
            <a:srgbClr val="7AA4CB"/>
          </a:solidFill>
          <a:ln w="12700">
            <a:solidFill>
              <a:srgbClr val="FFFFFF">
                <a:alpha val="0"/>
              </a:srgbClr>
            </a:solidFill>
            <a:prstDash val="solid"/>
          </a:ln>
        </p:spPr>
      </p:sp>
      <p:sp>
        <p:nvSpPr>
          <p:cNvPr id="222" name="Shape 209"/>
          <p:cNvSpPr/>
          <p:nvPr/>
        </p:nvSpPr>
        <p:spPr>
          <a:xfrm>
            <a:off x="14249095" y="6648602"/>
            <a:ext cx="381305" cy="304495"/>
          </a:xfrm>
          <a:prstGeom prst="rect">
            <a:avLst/>
          </a:prstGeom>
          <a:solidFill>
            <a:srgbClr val="B07A52"/>
          </a:solidFill>
          <a:ln w="12700">
            <a:solidFill>
              <a:srgbClr val="FFFFFF">
                <a:alpha val="0"/>
              </a:srgbClr>
            </a:solidFill>
            <a:prstDash val="solid"/>
          </a:ln>
        </p:spPr>
      </p:sp>
      <p:sp>
        <p:nvSpPr>
          <p:cNvPr id="223" name="Shape 210"/>
          <p:cNvSpPr/>
          <p:nvPr/>
        </p:nvSpPr>
        <p:spPr>
          <a:xfrm>
            <a:off x="14668805" y="6648602"/>
            <a:ext cx="381305" cy="304495"/>
          </a:xfrm>
          <a:prstGeom prst="rect">
            <a:avLst/>
          </a:prstGeom>
          <a:solidFill>
            <a:srgbClr val="B07A52"/>
          </a:solidFill>
          <a:ln w="12700">
            <a:solidFill>
              <a:srgbClr val="FFFFFF">
                <a:alpha val="0"/>
              </a:srgbClr>
            </a:solidFill>
            <a:prstDash val="solid"/>
          </a:ln>
        </p:spPr>
      </p:sp>
      <p:sp>
        <p:nvSpPr>
          <p:cNvPr id="224" name="Shape 211"/>
          <p:cNvSpPr/>
          <p:nvPr/>
        </p:nvSpPr>
        <p:spPr>
          <a:xfrm>
            <a:off x="15087600" y="6648602"/>
            <a:ext cx="381305" cy="304495"/>
          </a:xfrm>
          <a:prstGeom prst="rect">
            <a:avLst/>
          </a:prstGeom>
          <a:solidFill>
            <a:srgbClr val="B07A52"/>
          </a:solidFill>
          <a:ln w="12700">
            <a:solidFill>
              <a:srgbClr val="FFFFFF">
                <a:alpha val="0"/>
              </a:srgbClr>
            </a:solidFill>
            <a:prstDash val="solid"/>
          </a:ln>
        </p:spPr>
      </p:sp>
      <p:sp>
        <p:nvSpPr>
          <p:cNvPr id="225" name="Shape 212"/>
          <p:cNvSpPr/>
          <p:nvPr/>
        </p:nvSpPr>
        <p:spPr>
          <a:xfrm>
            <a:off x="15506395" y="6648602"/>
            <a:ext cx="381305" cy="304495"/>
          </a:xfrm>
          <a:prstGeom prst="rect">
            <a:avLst/>
          </a:prstGeom>
          <a:solidFill>
            <a:srgbClr val="7AA4CB"/>
          </a:solidFill>
          <a:ln w="12700">
            <a:solidFill>
              <a:srgbClr val="FFFFFF">
                <a:alpha val="0"/>
              </a:srgbClr>
            </a:solidFill>
            <a:prstDash val="solid"/>
          </a:ln>
        </p:spPr>
      </p:sp>
      <p:sp>
        <p:nvSpPr>
          <p:cNvPr id="226" name="Shape 213"/>
          <p:cNvSpPr/>
          <p:nvPr/>
        </p:nvSpPr>
        <p:spPr>
          <a:xfrm>
            <a:off x="15926105" y="6648602"/>
            <a:ext cx="381305" cy="304495"/>
          </a:xfrm>
          <a:prstGeom prst="rect">
            <a:avLst/>
          </a:prstGeom>
          <a:solidFill>
            <a:srgbClr val="7AA4CB"/>
          </a:solidFill>
          <a:ln w="12700">
            <a:solidFill>
              <a:srgbClr val="FFFFFF">
                <a:alpha val="0"/>
              </a:srgbClr>
            </a:solidFill>
            <a:prstDash val="solid"/>
          </a:ln>
        </p:spPr>
      </p:sp>
      <p:pic>
        <p:nvPicPr>
          <p:cNvPr id="227" name="Image 10" descr="gen-dedup-9a32aed1d400fdb4e0fb19b64130d11d.png">    </p:cNvPr>
          <p:cNvPicPr>
            <a:picLocks noChangeAspect="1"/>
          </p:cNvPicPr>
          <p:nvPr/>
        </p:nvPicPr>
        <p:blipFill>
          <a:blip r:embed="rId11"/>
          <a:srcRect l="-90" r="-90" t="0" b="0"/>
          <a:stretch/>
        </p:blipFill>
        <p:spPr>
          <a:xfrm>
            <a:off x="16344900" y="6648602"/>
            <a:ext cx="381305" cy="304495"/>
          </a:xfrm>
          <a:prstGeom prst="rect">
            <a:avLst/>
          </a:prstGeom>
        </p:spPr>
      </p:pic>
      <p:pic>
        <p:nvPicPr>
          <p:cNvPr id="228" name="Image 11" descr="gen-dedup-12d7cb0a28bbcaca3e8d32c19dc56a81.png">    </p:cNvPr>
          <p:cNvPicPr>
            <a:picLocks noChangeAspect="1"/>
          </p:cNvPicPr>
          <p:nvPr/>
        </p:nvPicPr>
        <p:blipFill>
          <a:blip r:embed="rId12"/>
          <a:srcRect l="0" r="0" t="-424" b="-424"/>
          <a:stretch/>
        </p:blipFill>
        <p:spPr>
          <a:xfrm>
            <a:off x="857707" y="647395"/>
            <a:ext cx="323698" cy="19202"/>
          </a:xfrm>
          <a:prstGeom prst="rect">
            <a:avLst/>
          </a:prstGeom>
        </p:spPr>
      </p:pic>
      <p:sp>
        <p:nvSpPr>
          <p:cNvPr id="229" name="Text 214"/>
          <p:cNvSpPr txBox="1"/>
          <p:nvPr/>
        </p:nvSpPr>
        <p:spPr>
          <a:xfrm>
            <a:off x="1314907" y="571500"/>
            <a:ext cx="2324405" cy="171907"/>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08 · Wafer Map</a:t>
            </a:r>
            <a:endParaRPr lang="en-US" sz="1050" dirty="0"/>
          </a:p>
        </p:txBody>
      </p:sp>
      <p:sp>
        <p:nvSpPr>
          <p:cNvPr id="230" name="Shape 215"/>
          <p:cNvSpPr/>
          <p:nvPr/>
        </p:nvSpPr>
        <p:spPr>
          <a:xfrm>
            <a:off x="16795699" y="566928"/>
            <a:ext cx="57607" cy="57607"/>
          </a:xfrm>
          <a:prstGeom prst="ellipse">
            <a:avLst/>
          </a:prstGeom>
          <a:solidFill>
            <a:srgbClr val="1E5F9C"/>
          </a:solidFill>
          <a:ln w="12700">
            <a:solidFill>
              <a:srgbClr val="FFFFFF">
                <a:alpha val="0"/>
              </a:srgbClr>
            </a:solidFill>
            <a:prstDash val="solid"/>
          </a:ln>
        </p:spPr>
      </p:sp>
      <p:sp>
        <p:nvSpPr>
          <p:cNvPr id="231" name="Text 216"/>
          <p:cNvSpPr txBox="1"/>
          <p:nvPr/>
        </p:nvSpPr>
        <p:spPr>
          <a:xfrm>
            <a:off x="16738092" y="514807"/>
            <a:ext cx="790956"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08 / 12</a:t>
            </a:r>
            <a:endParaRPr lang="en-US" sz="975" dirty="0"/>
          </a:p>
        </p:txBody>
      </p:sp>
      <p:sp>
        <p:nvSpPr>
          <p:cNvPr id="232" name="Text 217"/>
          <p:cNvSpPr txBox="1"/>
          <p:nvPr/>
        </p:nvSpPr>
        <p:spPr>
          <a:xfrm>
            <a:off x="838505" y="1143000"/>
            <a:ext cx="1619311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69pt Wafer Map · AASI</a:t>
            </a:r>
            <a:endParaRPr lang="en-US" sz="4500" dirty="0"/>
          </a:p>
        </p:txBody>
      </p:sp>
      <p:sp>
        <p:nvSpPr>
          <p:cNvPr id="233" name="Text 218"/>
          <p:cNvSpPr txBox="1"/>
          <p:nvPr/>
        </p:nvSpPr>
        <p:spPr>
          <a:xfrm>
            <a:off x="838505" y="1876349"/>
            <a:ext cx="1619311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wafer당 9 × 8 = 72 site 중 69 site 측정 — split별로 대표 wafer 1매씩 in-wafer 분포.</a:t>
            </a:r>
            <a:endParaRPr lang="en-US" sz="1650" dirty="0"/>
          </a:p>
        </p:txBody>
      </p:sp>
      <p:sp>
        <p:nvSpPr>
          <p:cNvPr id="234" name="Text 219"/>
          <p:cNvSpPr txBox="1"/>
          <p:nvPr/>
        </p:nvSpPr>
        <p:spPr>
          <a:xfrm>
            <a:off x="857707" y="2533802"/>
            <a:ext cx="3314700" cy="152705"/>
          </a:xfrm>
          <a:prstGeom prst="rect">
            <a:avLst/>
          </a:prstGeom>
          <a:noFill/>
          <a:ln/>
        </p:spPr>
        <p:txBody>
          <a:bodyPr wrap="none" lIns="0" tIns="0" rIns="0" bIns="0" rtlCol="0" anchor="ctr"/>
          <a:lstStyle/>
          <a:p>
            <a:pPr algn="l" indent="0" marL="0">
              <a:buNone/>
            </a:pPr>
            <a:r>
              <a:rPr lang="en-US" sz="825" b="1" spc="215" kern="0" dirty="0">
                <a:solidFill>
                  <a:srgbClr val="94A3B8"/>
                </a:solidFill>
                <a:latin typeface="Sora" pitchFamily="34" charset="0"/>
                <a:ea typeface="Sora" pitchFamily="34" charset="-122"/>
                <a:cs typeface="Sora" pitchFamily="34" charset="-120"/>
              </a:rPr>
              <a:t>SITE COLOR · Δ from wafer mean (nm)</a:t>
            </a:r>
            <a:endParaRPr lang="en-US" sz="825" dirty="0"/>
          </a:p>
        </p:txBody>
      </p:sp>
      <p:sp>
        <p:nvSpPr>
          <p:cNvPr id="235" name="Shape 220"/>
          <p:cNvSpPr/>
          <p:nvPr/>
        </p:nvSpPr>
        <p:spPr>
          <a:xfrm>
            <a:off x="4292194" y="2523744"/>
            <a:ext cx="228600" cy="171907"/>
          </a:xfrm>
          <a:prstGeom prst="rect">
            <a:avLst/>
          </a:prstGeom>
          <a:solidFill>
            <a:srgbClr val="1E5F9C"/>
          </a:solidFill>
          <a:ln w="12700">
            <a:solidFill>
              <a:srgbClr val="FFFFFF">
                <a:alpha val="0"/>
              </a:srgbClr>
            </a:solidFill>
            <a:prstDash val="solid"/>
          </a:ln>
        </p:spPr>
      </p:sp>
      <p:sp>
        <p:nvSpPr>
          <p:cNvPr id="236" name="Text 221"/>
          <p:cNvSpPr txBox="1"/>
          <p:nvPr/>
        </p:nvSpPr>
        <p:spPr>
          <a:xfrm>
            <a:off x="4578401" y="2514600"/>
            <a:ext cx="544982"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 −1.0</a:t>
            </a:r>
            <a:endParaRPr lang="en-US" sz="1050" dirty="0"/>
          </a:p>
        </p:txBody>
      </p:sp>
      <p:sp>
        <p:nvSpPr>
          <p:cNvPr id="237" name="Shape 222"/>
          <p:cNvSpPr/>
          <p:nvPr/>
        </p:nvSpPr>
        <p:spPr>
          <a:xfrm>
            <a:off x="5266944" y="2523744"/>
            <a:ext cx="228600" cy="171907"/>
          </a:xfrm>
          <a:prstGeom prst="rect">
            <a:avLst/>
          </a:prstGeom>
          <a:solidFill>
            <a:srgbClr val="3A78B5"/>
          </a:solidFill>
          <a:ln w="12700">
            <a:solidFill>
              <a:srgbClr val="FFFFFF">
                <a:alpha val="0"/>
              </a:srgbClr>
            </a:solidFill>
            <a:prstDash val="solid"/>
          </a:ln>
        </p:spPr>
      </p:sp>
      <p:sp>
        <p:nvSpPr>
          <p:cNvPr id="238" name="Text 223"/>
          <p:cNvSpPr txBox="1"/>
          <p:nvPr/>
        </p:nvSpPr>
        <p:spPr>
          <a:xfrm>
            <a:off x="5553151" y="2514600"/>
            <a:ext cx="979322"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−0.6 ~ −1.0</a:t>
            </a:r>
            <a:endParaRPr lang="en-US" sz="1050" dirty="0"/>
          </a:p>
        </p:txBody>
      </p:sp>
      <p:sp>
        <p:nvSpPr>
          <p:cNvPr id="239" name="Shape 224"/>
          <p:cNvSpPr/>
          <p:nvPr/>
        </p:nvSpPr>
        <p:spPr>
          <a:xfrm>
            <a:off x="6471209" y="2523744"/>
            <a:ext cx="228600" cy="171907"/>
          </a:xfrm>
          <a:prstGeom prst="rect">
            <a:avLst/>
          </a:prstGeom>
          <a:solidFill>
            <a:srgbClr val="7AA4CB"/>
          </a:solidFill>
          <a:ln w="12700">
            <a:solidFill>
              <a:srgbClr val="FFFFFF">
                <a:alpha val="0"/>
              </a:srgbClr>
            </a:solidFill>
            <a:prstDash val="solid"/>
          </a:ln>
        </p:spPr>
      </p:sp>
      <p:sp>
        <p:nvSpPr>
          <p:cNvPr id="240" name="Text 225"/>
          <p:cNvSpPr txBox="1"/>
          <p:nvPr/>
        </p:nvSpPr>
        <p:spPr>
          <a:xfrm>
            <a:off x="6757416" y="2514600"/>
            <a:ext cx="979322"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−0.2 ~ −0.6</a:t>
            </a:r>
            <a:endParaRPr lang="en-US" sz="1050" dirty="0"/>
          </a:p>
        </p:txBody>
      </p:sp>
      <p:sp>
        <p:nvSpPr>
          <p:cNvPr id="241" name="Shape 226"/>
          <p:cNvSpPr/>
          <p:nvPr/>
        </p:nvSpPr>
        <p:spPr>
          <a:xfrm>
            <a:off x="7676388" y="2523744"/>
            <a:ext cx="228600" cy="171907"/>
          </a:xfrm>
          <a:prstGeom prst="rect">
            <a:avLst/>
          </a:prstGeom>
          <a:solidFill>
            <a:srgbClr val="DCE3EE"/>
          </a:solidFill>
          <a:ln w="12700">
            <a:solidFill>
              <a:srgbClr val="FFFFFF">
                <a:alpha val="0"/>
              </a:srgbClr>
            </a:solidFill>
            <a:prstDash val="solid"/>
          </a:ln>
        </p:spPr>
      </p:sp>
      <p:sp>
        <p:nvSpPr>
          <p:cNvPr id="242" name="Text 227"/>
          <p:cNvSpPr txBox="1"/>
          <p:nvPr/>
        </p:nvSpPr>
        <p:spPr>
          <a:xfrm>
            <a:off x="7961681" y="2514600"/>
            <a:ext cx="976579"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ref · ± 0.2</a:t>
            </a:r>
            <a:endParaRPr lang="en-US" sz="1050" dirty="0"/>
          </a:p>
        </p:txBody>
      </p:sp>
      <p:sp>
        <p:nvSpPr>
          <p:cNvPr id="243" name="Shape 228"/>
          <p:cNvSpPr/>
          <p:nvPr/>
        </p:nvSpPr>
        <p:spPr>
          <a:xfrm>
            <a:off x="8862365" y="2523744"/>
            <a:ext cx="228600" cy="171907"/>
          </a:xfrm>
          <a:prstGeom prst="rect">
            <a:avLst/>
          </a:prstGeom>
          <a:solidFill>
            <a:srgbClr val="C9A589"/>
          </a:solidFill>
          <a:ln w="12700">
            <a:solidFill>
              <a:srgbClr val="FFFFFF">
                <a:alpha val="0"/>
              </a:srgbClr>
            </a:solidFill>
            <a:prstDash val="solid"/>
          </a:ln>
        </p:spPr>
      </p:sp>
      <p:sp>
        <p:nvSpPr>
          <p:cNvPr id="244" name="Text 229"/>
          <p:cNvSpPr txBox="1"/>
          <p:nvPr/>
        </p:nvSpPr>
        <p:spPr>
          <a:xfrm>
            <a:off x="9148572" y="2514600"/>
            <a:ext cx="982066"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+0.2 ~ +0.6</a:t>
            </a:r>
            <a:endParaRPr lang="en-US" sz="1050" dirty="0"/>
          </a:p>
        </p:txBody>
      </p:sp>
      <p:sp>
        <p:nvSpPr>
          <p:cNvPr id="245" name="Shape 230"/>
          <p:cNvSpPr/>
          <p:nvPr/>
        </p:nvSpPr>
        <p:spPr>
          <a:xfrm>
            <a:off x="10082174" y="2523744"/>
            <a:ext cx="228600" cy="171907"/>
          </a:xfrm>
          <a:prstGeom prst="rect">
            <a:avLst/>
          </a:prstGeom>
          <a:solidFill>
            <a:srgbClr val="B07A52"/>
          </a:solidFill>
          <a:ln w="12700">
            <a:solidFill>
              <a:srgbClr val="FFFFFF">
                <a:alpha val="0"/>
              </a:srgbClr>
            </a:solidFill>
            <a:prstDash val="solid"/>
          </a:ln>
        </p:spPr>
      </p:sp>
      <p:sp>
        <p:nvSpPr>
          <p:cNvPr id="246" name="Text 231"/>
          <p:cNvSpPr txBox="1"/>
          <p:nvPr/>
        </p:nvSpPr>
        <p:spPr>
          <a:xfrm>
            <a:off x="10368382" y="2514600"/>
            <a:ext cx="982066"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+0.6 ~ +1.0</a:t>
            </a:r>
            <a:endParaRPr lang="en-US" sz="1050" dirty="0"/>
          </a:p>
        </p:txBody>
      </p:sp>
      <p:sp>
        <p:nvSpPr>
          <p:cNvPr id="247" name="Shape 232"/>
          <p:cNvSpPr/>
          <p:nvPr/>
        </p:nvSpPr>
        <p:spPr>
          <a:xfrm>
            <a:off x="11301984" y="2523744"/>
            <a:ext cx="228600" cy="171907"/>
          </a:xfrm>
          <a:prstGeom prst="rect">
            <a:avLst/>
          </a:prstGeom>
          <a:solidFill>
            <a:srgbClr val="7C4A2A"/>
          </a:solidFill>
          <a:ln w="12700">
            <a:solidFill>
              <a:srgbClr val="FFFFFF">
                <a:alpha val="0"/>
              </a:srgbClr>
            </a:solidFill>
            <a:prstDash val="solid"/>
          </a:ln>
        </p:spPr>
      </p:sp>
      <p:sp>
        <p:nvSpPr>
          <p:cNvPr id="248" name="Text 233"/>
          <p:cNvSpPr txBox="1"/>
          <p:nvPr/>
        </p:nvSpPr>
        <p:spPr>
          <a:xfrm>
            <a:off x="11588191" y="2514600"/>
            <a:ext cx="544982"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 +1.0</a:t>
            </a:r>
            <a:endParaRPr lang="en-US" sz="1050" dirty="0"/>
          </a:p>
        </p:txBody>
      </p:sp>
      <p:pic>
        <p:nvPicPr>
          <p:cNvPr id="249" name="Image 12" descr="gen-dedup-018abc9268d092f1ee08966d2e3b3233.png">    </p:cNvPr>
          <p:cNvPicPr>
            <a:picLocks noChangeAspect="1"/>
          </p:cNvPicPr>
          <p:nvPr/>
        </p:nvPicPr>
        <p:blipFill>
          <a:blip r:embed="rId13"/>
          <a:srcRect l="0" r="0" t="-133" b="-133"/>
          <a:stretch/>
        </p:blipFill>
        <p:spPr>
          <a:xfrm>
            <a:off x="12276734" y="2523744"/>
            <a:ext cx="228600" cy="171907"/>
          </a:xfrm>
          <a:prstGeom prst="rect">
            <a:avLst/>
          </a:prstGeom>
        </p:spPr>
      </p:pic>
      <p:sp>
        <p:nvSpPr>
          <p:cNvPr id="250" name="Text 234"/>
          <p:cNvSpPr txBox="1"/>
          <p:nvPr/>
        </p:nvSpPr>
        <p:spPr>
          <a:xfrm>
            <a:off x="12562942" y="2514600"/>
            <a:ext cx="999439"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not sampled</a:t>
            </a:r>
            <a:endParaRPr lang="en-US" sz="1050" dirty="0"/>
          </a:p>
        </p:txBody>
      </p:sp>
      <p:sp>
        <p:nvSpPr>
          <p:cNvPr id="251" name="Shape 235"/>
          <p:cNvSpPr/>
          <p:nvPr/>
        </p:nvSpPr>
        <p:spPr>
          <a:xfrm>
            <a:off x="857707" y="3148279"/>
            <a:ext cx="114300" cy="114300"/>
          </a:xfrm>
          <a:prstGeom prst="rect">
            <a:avLst/>
          </a:prstGeom>
          <a:solidFill>
            <a:srgbClr val="1E5F9C"/>
          </a:solidFill>
          <a:ln w="12700">
            <a:solidFill>
              <a:srgbClr val="FFFFFF">
                <a:alpha val="0"/>
              </a:srgbClr>
            </a:solidFill>
            <a:prstDash val="solid"/>
          </a:ln>
        </p:spPr>
      </p:sp>
      <p:sp>
        <p:nvSpPr>
          <p:cNvPr id="252" name="Text 236"/>
          <p:cNvSpPr txBox="1"/>
          <p:nvPr/>
        </p:nvSpPr>
        <p:spPr>
          <a:xfrm>
            <a:off x="1104595" y="3124505"/>
            <a:ext cx="2083003" cy="162763"/>
          </a:xfrm>
          <a:prstGeom prst="rect">
            <a:avLst/>
          </a:prstGeom>
          <a:noFill/>
          <a:ln/>
        </p:spPr>
        <p:txBody>
          <a:bodyPr wrap="none" lIns="0" tIns="0" rIns="0" bIns="0" rtlCol="0" anchor="ctr"/>
          <a:lstStyle/>
          <a:p>
            <a:pPr algn="l" indent="0" marL="0">
              <a:buNone/>
            </a:pPr>
            <a:r>
              <a:rPr lang="en-US" sz="975" b="1" spc="195" kern="0" dirty="0">
                <a:solidFill>
                  <a:srgbClr val="1E5F9C"/>
                </a:solidFill>
                <a:latin typeface="Sora" pitchFamily="34" charset="0"/>
                <a:ea typeface="Sora" pitchFamily="34" charset="-122"/>
                <a:cs typeface="Sora" pitchFamily="34" charset="-120"/>
              </a:rPr>
              <a:t>WAFER · W01 · RU 1NM</a:t>
            </a:r>
            <a:endParaRPr lang="en-US" sz="975" dirty="0"/>
          </a:p>
        </p:txBody>
      </p:sp>
      <p:sp>
        <p:nvSpPr>
          <p:cNvPr id="253" name="Text 237"/>
          <p:cNvSpPr txBox="1"/>
          <p:nvPr/>
        </p:nvSpPr>
        <p:spPr>
          <a:xfrm>
            <a:off x="857707" y="3343046"/>
            <a:ext cx="5334610" cy="419710"/>
          </a:xfrm>
          <a:prstGeom prst="rect">
            <a:avLst/>
          </a:prstGeom>
          <a:noFill/>
          <a:ln/>
        </p:spPr>
        <p:txBody>
          <a:bodyPr wrap="none" lIns="0" tIns="0" rIns="0" bIns="0" rtlCol="0" anchor="ctr"/>
          <a:lstStyle/>
          <a:p>
            <a:pPr algn="l" indent="0" marL="0">
              <a:buNone/>
            </a:pPr>
            <a:r>
              <a:rPr lang="en-US" sz="2250" b="1" dirty="0">
                <a:solidFill>
                  <a:srgbClr val="14213D"/>
                </a:solidFill>
                <a:latin typeface="Noto Sans KR" pitchFamily="34" charset="0"/>
                <a:ea typeface="Noto Sans KR" pitchFamily="34" charset="-122"/>
                <a:cs typeface="Noto Sans KR" pitchFamily="34" charset="-120"/>
              </a:rPr>
              <a:t>mean 25.42 / 3σ 0.78</a:t>
            </a:r>
            <a:endParaRPr lang="en-US" sz="2250" dirty="0"/>
          </a:p>
        </p:txBody>
      </p:sp>
      <p:sp>
        <p:nvSpPr>
          <p:cNvPr id="254" name="Text 238"/>
          <p:cNvSpPr txBox="1"/>
          <p:nvPr/>
        </p:nvSpPr>
        <p:spPr>
          <a:xfrm>
            <a:off x="857707" y="3800246"/>
            <a:ext cx="5334610"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AASI · 69 / 72 measured (3 corners excluded)</a:t>
            </a:r>
            <a:endParaRPr lang="en-US" sz="1200" dirty="0"/>
          </a:p>
        </p:txBody>
      </p:sp>
      <p:sp>
        <p:nvSpPr>
          <p:cNvPr id="255" name="Shape 239"/>
          <p:cNvSpPr/>
          <p:nvPr/>
        </p:nvSpPr>
        <p:spPr>
          <a:xfrm>
            <a:off x="6476695" y="3148279"/>
            <a:ext cx="114300" cy="114300"/>
          </a:xfrm>
          <a:prstGeom prst="rect">
            <a:avLst/>
          </a:prstGeom>
          <a:solidFill>
            <a:srgbClr val="4F86C0"/>
          </a:solidFill>
          <a:ln w="12700">
            <a:solidFill>
              <a:srgbClr val="FFFFFF">
                <a:alpha val="0"/>
              </a:srgbClr>
            </a:solidFill>
            <a:prstDash val="solid"/>
          </a:ln>
        </p:spPr>
      </p:sp>
      <p:sp>
        <p:nvSpPr>
          <p:cNvPr id="256" name="Text 240"/>
          <p:cNvSpPr txBox="1"/>
          <p:nvPr/>
        </p:nvSpPr>
        <p:spPr>
          <a:xfrm>
            <a:off x="6724498" y="3124505"/>
            <a:ext cx="2084832" cy="162763"/>
          </a:xfrm>
          <a:prstGeom prst="rect">
            <a:avLst/>
          </a:prstGeom>
          <a:noFill/>
          <a:ln/>
        </p:spPr>
        <p:txBody>
          <a:bodyPr wrap="none" lIns="0" tIns="0" rIns="0" bIns="0" rtlCol="0" anchor="ctr"/>
          <a:lstStyle/>
          <a:p>
            <a:pPr algn="l" indent="0" marL="0">
              <a:buNone/>
            </a:pPr>
            <a:r>
              <a:rPr lang="en-US" sz="975" b="1" spc="195" kern="0" dirty="0">
                <a:solidFill>
                  <a:srgbClr val="4F86C0"/>
                </a:solidFill>
                <a:latin typeface="Sora" pitchFamily="34" charset="0"/>
                <a:ea typeface="Sora" pitchFamily="34" charset="-122"/>
                <a:cs typeface="Sora" pitchFamily="34" charset="-120"/>
              </a:rPr>
              <a:t>WAFER · W02 · RU 2NM</a:t>
            </a:r>
            <a:endParaRPr lang="en-US" sz="975" dirty="0"/>
          </a:p>
        </p:txBody>
      </p:sp>
      <p:sp>
        <p:nvSpPr>
          <p:cNvPr id="257" name="Text 241"/>
          <p:cNvSpPr txBox="1"/>
          <p:nvPr/>
        </p:nvSpPr>
        <p:spPr>
          <a:xfrm>
            <a:off x="6476695" y="3343046"/>
            <a:ext cx="5334610" cy="419710"/>
          </a:xfrm>
          <a:prstGeom prst="rect">
            <a:avLst/>
          </a:prstGeom>
          <a:noFill/>
          <a:ln/>
        </p:spPr>
        <p:txBody>
          <a:bodyPr wrap="none" lIns="0" tIns="0" rIns="0" bIns="0" rtlCol="0" anchor="ctr"/>
          <a:lstStyle/>
          <a:p>
            <a:pPr algn="l" indent="0" marL="0">
              <a:buNone/>
            </a:pPr>
            <a:r>
              <a:rPr lang="en-US" sz="2250" b="1" dirty="0">
                <a:solidFill>
                  <a:srgbClr val="14213D"/>
                </a:solidFill>
                <a:latin typeface="Noto Sans KR" pitchFamily="34" charset="0"/>
                <a:ea typeface="Noto Sans KR" pitchFamily="34" charset="-122"/>
                <a:cs typeface="Noto Sans KR" pitchFamily="34" charset="-120"/>
              </a:rPr>
              <a:t>mean 25.34 / 3σ 0.74</a:t>
            </a:r>
            <a:endParaRPr lang="en-US" sz="2250" dirty="0"/>
          </a:p>
        </p:txBody>
      </p:sp>
      <p:sp>
        <p:nvSpPr>
          <p:cNvPr id="258" name="Text 242"/>
          <p:cNvSpPr txBox="1"/>
          <p:nvPr/>
        </p:nvSpPr>
        <p:spPr>
          <a:xfrm>
            <a:off x="6476695" y="3800246"/>
            <a:ext cx="5334610"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AASI · 69 / 72 measured</a:t>
            </a:r>
            <a:endParaRPr lang="en-US" sz="1200" dirty="0"/>
          </a:p>
        </p:txBody>
      </p:sp>
      <p:sp>
        <p:nvSpPr>
          <p:cNvPr id="259" name="Shape 243"/>
          <p:cNvSpPr/>
          <p:nvPr/>
        </p:nvSpPr>
        <p:spPr>
          <a:xfrm>
            <a:off x="12001500" y="3148279"/>
            <a:ext cx="114300" cy="114300"/>
          </a:xfrm>
          <a:prstGeom prst="rect">
            <a:avLst/>
          </a:prstGeom>
          <a:solidFill>
            <a:srgbClr val="94A3B8"/>
          </a:solidFill>
          <a:ln w="12700">
            <a:solidFill>
              <a:srgbClr val="FFFFFF">
                <a:alpha val="0"/>
              </a:srgbClr>
            </a:solidFill>
            <a:prstDash val="solid"/>
          </a:ln>
        </p:spPr>
      </p:sp>
      <p:sp>
        <p:nvSpPr>
          <p:cNvPr id="260" name="Text 244"/>
          <p:cNvSpPr txBox="1"/>
          <p:nvPr/>
        </p:nvSpPr>
        <p:spPr>
          <a:xfrm>
            <a:off x="12249302" y="3124505"/>
            <a:ext cx="2293315" cy="162763"/>
          </a:xfrm>
          <a:prstGeom prst="rect">
            <a:avLst/>
          </a:prstGeom>
          <a:noFill/>
          <a:ln/>
        </p:spPr>
        <p:txBody>
          <a:bodyPr wrap="none" lIns="0" tIns="0" rIns="0" bIns="0" rtlCol="0" anchor="ctr"/>
          <a:lstStyle/>
          <a:p>
            <a:pPr algn="l" indent="0" marL="0">
              <a:buNone/>
            </a:pPr>
            <a:r>
              <a:rPr lang="en-US" sz="975" b="1" spc="195" kern="0" dirty="0">
                <a:solidFill>
                  <a:srgbClr val="6F7D94"/>
                </a:solidFill>
                <a:latin typeface="Sora" pitchFamily="34" charset="0"/>
                <a:ea typeface="Sora" pitchFamily="34" charset="-122"/>
                <a:cs typeface="Sora" pitchFamily="34" charset="-120"/>
              </a:rPr>
              <a:t>WAFER · W03 · CO LINER</a:t>
            </a:r>
            <a:endParaRPr lang="en-US" sz="975" dirty="0"/>
          </a:p>
        </p:txBody>
      </p:sp>
      <p:sp>
        <p:nvSpPr>
          <p:cNvPr id="261" name="Text 245"/>
          <p:cNvSpPr txBox="1"/>
          <p:nvPr/>
        </p:nvSpPr>
        <p:spPr>
          <a:xfrm>
            <a:off x="12001500" y="3343046"/>
            <a:ext cx="5524805" cy="419710"/>
          </a:xfrm>
          <a:prstGeom prst="rect">
            <a:avLst/>
          </a:prstGeom>
          <a:noFill/>
          <a:ln/>
        </p:spPr>
        <p:txBody>
          <a:bodyPr wrap="none" lIns="0" tIns="0" rIns="0" bIns="0" rtlCol="0" anchor="ctr"/>
          <a:lstStyle/>
          <a:p>
            <a:pPr algn="l" indent="0" marL="0">
              <a:buNone/>
            </a:pPr>
            <a:r>
              <a:rPr lang="en-US" sz="2250" b="1" dirty="0">
                <a:solidFill>
                  <a:srgbClr val="14213D"/>
                </a:solidFill>
                <a:latin typeface="Noto Sans KR" pitchFamily="34" charset="0"/>
                <a:ea typeface="Noto Sans KR" pitchFamily="34" charset="-122"/>
                <a:cs typeface="Noto Sans KR" pitchFamily="34" charset="-120"/>
              </a:rPr>
              <a:t>mean 25.62 / 3σ 0.92</a:t>
            </a:r>
            <a:endParaRPr lang="en-US" sz="2250" dirty="0"/>
          </a:p>
        </p:txBody>
      </p:sp>
      <p:sp>
        <p:nvSpPr>
          <p:cNvPr id="262" name="Text 246"/>
          <p:cNvSpPr txBox="1"/>
          <p:nvPr/>
        </p:nvSpPr>
        <p:spPr>
          <a:xfrm>
            <a:off x="12001500" y="3800246"/>
            <a:ext cx="5524805"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AASI · 69 / 72 measured</a:t>
            </a:r>
            <a:endParaRPr lang="en-US" sz="1200" dirty="0"/>
          </a:p>
        </p:txBody>
      </p:sp>
      <p:sp>
        <p:nvSpPr>
          <p:cNvPr id="263" name="Text 247"/>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264" name="Image 13" descr="gen-dedup-a95c956e3bd879e41d2e7daca8566398.png">    </p:cNvPr>
          <p:cNvPicPr>
            <a:picLocks noChangeAspect="1"/>
          </p:cNvPicPr>
          <p:nvPr/>
        </p:nvPicPr>
        <p:blipFill>
          <a:blip r:embed="rId14"/>
          <a:srcRect l="-2083" r="-2083" t="0" b="0"/>
          <a:stretch/>
        </p:blipFill>
        <p:spPr>
          <a:xfrm>
            <a:off x="2656332" y="9096451"/>
            <a:ext cx="571500" cy="9144"/>
          </a:xfrm>
          <a:prstGeom prst="rect">
            <a:avLst/>
          </a:prstGeom>
        </p:spPr>
      </p:pic>
      <p:sp>
        <p:nvSpPr>
          <p:cNvPr id="265" name="Text 248"/>
          <p:cNvSpPr txBox="1"/>
          <p:nvPr/>
        </p:nvSpPr>
        <p:spPr>
          <a:xfrm>
            <a:off x="3456432" y="8934602"/>
            <a:ext cx="13993063"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Ru 2 nm wafer는 흰색(±0.2) 비중이 가장 크고, Co wafer는 가장자리 warm hue 비율이 두드러짐 — 비균일 패턴이 edge에서 시작된다.</a:t>
            </a:r>
            <a:endParaRPr lang="en-US" sz="1800" dirty="0"/>
          </a:p>
        </p:txBody>
      </p:sp>
      <p:sp>
        <p:nvSpPr>
          <p:cNvPr id="266" name="Text 249"/>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267" name="Text 250"/>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2857500"/>
            <a:ext cx="8762695" cy="5715000"/>
          </a:xfrm>
          <a:prstGeom prst="rect">
            <a:avLst/>
          </a:prstGeom>
          <a:solidFill>
            <a:srgbClr val="FFFFFF"/>
          </a:solidFill>
          <a:ln w="12700">
            <a:solidFill>
              <a:srgbClr val="C8D3E2"/>
            </a:solidFill>
            <a:prstDash val="solid"/>
          </a:ln>
        </p:spPr>
      </p:sp>
      <p:sp>
        <p:nvSpPr>
          <p:cNvPr id="5" name="Shape 1"/>
          <p:cNvSpPr/>
          <p:nvPr/>
        </p:nvSpPr>
        <p:spPr>
          <a:xfrm>
            <a:off x="9905695" y="2857500"/>
            <a:ext cx="7524598" cy="5333695"/>
          </a:xfrm>
          <a:prstGeom prst="rect">
            <a:avLst/>
          </a:prstGeom>
          <a:solidFill>
            <a:srgbClr val="FFFFFF"/>
          </a:solidFill>
          <a:ln w="12700">
            <a:solidFill>
              <a:srgbClr val="C8D3E2"/>
            </a:solidFill>
            <a:prstDash val="solid"/>
          </a:ln>
        </p:spPr>
      </p:sp>
      <p:sp>
        <p:nvSpPr>
          <p:cNvPr id="6" name="Shape 2"/>
          <p:cNvSpPr/>
          <p:nvPr/>
        </p:nvSpPr>
        <p:spPr>
          <a:xfrm>
            <a:off x="1904695" y="3143707"/>
            <a:ext cx="4953305" cy="4572000"/>
          </a:xfrm>
          <a:prstGeom prst="rect">
            <a:avLst/>
          </a:prstGeom>
          <a:solidFill>
            <a:srgbClr val="0B1320"/>
          </a:solidFill>
          <a:ln w="12700">
            <a:solidFill>
              <a:srgbClr val="FFFFFF">
                <a:alpha val="0"/>
              </a:srgbClr>
            </a:solidFill>
            <a:prstDash val="solid"/>
          </a:ln>
        </p:spPr>
      </p:sp>
      <p:sp>
        <p:nvSpPr>
          <p:cNvPr id="7" name="Shape 3"/>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8" name="Image 1" descr="gen-dedup-3c3f0190f3348a605df0239cea9995bf.png">    </p:cNvPr>
          <p:cNvPicPr>
            <a:picLocks noChangeAspect="1"/>
          </p:cNvPicPr>
          <p:nvPr/>
        </p:nvPicPr>
        <p:blipFill>
          <a:blip r:embed="rId2"/>
          <a:srcRect l="-2083" r="-2083" t="0" b="0"/>
          <a:stretch/>
        </p:blipFill>
        <p:spPr>
          <a:xfrm>
            <a:off x="0" y="9562795"/>
            <a:ext cx="18288000" cy="9144"/>
          </a:xfrm>
          <a:prstGeom prst="rect">
            <a:avLst/>
          </a:prstGeom>
        </p:spPr>
      </p:pic>
      <p:sp>
        <p:nvSpPr>
          <p:cNvPr id="9" name="Shape 4"/>
          <p:cNvSpPr/>
          <p:nvPr/>
        </p:nvSpPr>
        <p:spPr>
          <a:xfrm>
            <a:off x="6953098" y="3238805"/>
            <a:ext cx="9144" cy="4572000"/>
          </a:xfrm>
          <a:prstGeom prst="rect">
            <a:avLst/>
          </a:prstGeom>
          <a:solidFill>
            <a:srgbClr val="94A3B8"/>
          </a:solidFill>
          <a:ln w="12700">
            <a:solidFill>
              <a:srgbClr val="94A3B8">
                <a:alpha val="0"/>
              </a:srgbClr>
            </a:solidFill>
            <a:prstDash val="solid"/>
          </a:ln>
        </p:spPr>
      </p:sp>
      <p:sp>
        <p:nvSpPr>
          <p:cNvPr id="10" name="Text 5"/>
          <p:cNvSpPr txBox="1"/>
          <p:nvPr/>
        </p:nvSpPr>
        <p:spPr>
          <a:xfrm>
            <a:off x="7086600" y="3429000"/>
            <a:ext cx="2286000" cy="133502"/>
          </a:xfrm>
          <a:prstGeom prst="rect">
            <a:avLst/>
          </a:prstGeom>
          <a:noFill/>
          <a:ln/>
        </p:spPr>
        <p:txBody>
          <a:bodyPr wrap="none" lIns="0" tIns="0" rIns="0" bIns="0" rtlCol="0" anchor="ctr"/>
          <a:lstStyle/>
          <a:p>
            <a:pPr algn="l" indent="0" marL="0">
              <a:buNone/>
            </a:pPr>
            <a:r>
              <a:rPr lang="en-US" sz="825" b="1" spc="149" kern="0" dirty="0">
                <a:solidFill>
                  <a:srgbClr val="1E5F9C"/>
                </a:solidFill>
                <a:latin typeface="Sora" pitchFamily="34" charset="0"/>
                <a:ea typeface="Sora" pitchFamily="34" charset="-122"/>
                <a:cs typeface="Sora" pitchFamily="34" charset="-120"/>
              </a:rPr>
              <a:t>LAYER · M3</a:t>
            </a:r>
            <a:endParaRPr lang="en-US" sz="825" dirty="0"/>
          </a:p>
        </p:txBody>
      </p:sp>
      <p:sp>
        <p:nvSpPr>
          <p:cNvPr id="11" name="Text 6"/>
          <p:cNvSpPr txBox="1"/>
          <p:nvPr/>
        </p:nvSpPr>
        <p:spPr>
          <a:xfrm>
            <a:off x="7086600" y="3600907"/>
            <a:ext cx="2286000" cy="277063"/>
          </a:xfrm>
          <a:prstGeom prst="rect">
            <a:avLst/>
          </a:prstGeom>
          <a:noFill/>
          <a:ln/>
        </p:spPr>
        <p:txBody>
          <a:bodyPr wrap="none" lIns="0" tIns="0" rIns="0" bIns="0" rtlCol="0" anchor="ctr"/>
          <a:lstStyle/>
          <a:p>
            <a:pPr algn="l" indent="0" marL="0">
              <a:buNone/>
            </a:pPr>
            <a:r>
              <a:rPr lang="en-US" sz="1500" b="1" dirty="0">
                <a:solidFill>
                  <a:srgbClr val="14213D"/>
                </a:solidFill>
                <a:latin typeface="Noto Sans KR" pitchFamily="34" charset="0"/>
                <a:ea typeface="Noto Sans KR" pitchFamily="34" charset="-122"/>
                <a:cs typeface="Noto Sans KR" pitchFamily="34" charset="-120"/>
              </a:rPr>
              <a:t>Cu 라인</a:t>
            </a:r>
            <a:endParaRPr lang="en-US" sz="1500" dirty="0"/>
          </a:p>
        </p:txBody>
      </p:sp>
      <p:sp>
        <p:nvSpPr>
          <p:cNvPr id="12" name="Text 7"/>
          <p:cNvSpPr txBox="1"/>
          <p:nvPr/>
        </p:nvSpPr>
        <p:spPr>
          <a:xfrm>
            <a:off x="7086600" y="3933749"/>
            <a:ext cx="2286000" cy="181051"/>
          </a:xfrm>
          <a:prstGeom prst="rect">
            <a:avLst/>
          </a:prstGeom>
          <a:noFill/>
          <a:ln/>
        </p:spPr>
        <p:txBody>
          <a:bodyPr wrap="none" lIns="0" tIns="0" rIns="0" bIns="0" rtlCol="0" anchor="ctr"/>
          <a:lstStyle/>
          <a:p>
            <a:pPr algn="l" indent="0" marL="0">
              <a:buNone/>
            </a:pPr>
            <a:r>
              <a:rPr lang="en-US" sz="975" dirty="0">
                <a:solidFill>
                  <a:srgbClr val="455670"/>
                </a:solidFill>
                <a:latin typeface="Noto Sans KR" pitchFamily="34" charset="0"/>
                <a:ea typeface="Noto Sans KR" pitchFamily="34" charset="-122"/>
                <a:cs typeface="Noto Sans KR" pitchFamily="34" charset="-120"/>
              </a:rPr>
              <a:t>라인 폭 ≈ 9.8 nm (ACI mean)</a:t>
            </a:r>
            <a:endParaRPr lang="en-US" sz="975" dirty="0"/>
          </a:p>
        </p:txBody>
      </p:sp>
      <p:sp>
        <p:nvSpPr>
          <p:cNvPr id="13" name="Text 8"/>
          <p:cNvSpPr txBox="1"/>
          <p:nvPr/>
        </p:nvSpPr>
        <p:spPr>
          <a:xfrm>
            <a:off x="7086600" y="4419295"/>
            <a:ext cx="2286000" cy="133502"/>
          </a:xfrm>
          <a:prstGeom prst="rect">
            <a:avLst/>
          </a:prstGeom>
          <a:noFill/>
          <a:ln/>
        </p:spPr>
        <p:txBody>
          <a:bodyPr wrap="none" lIns="0" tIns="0" rIns="0" bIns="0" rtlCol="0" anchor="ctr"/>
          <a:lstStyle/>
          <a:p>
            <a:pPr algn="l" indent="0" marL="0">
              <a:buNone/>
            </a:pPr>
            <a:r>
              <a:rPr lang="en-US" sz="825" b="1" spc="149" kern="0" dirty="0">
                <a:solidFill>
                  <a:srgbClr val="1E5F9C"/>
                </a:solidFill>
                <a:latin typeface="Sora" pitchFamily="34" charset="0"/>
                <a:ea typeface="Sora" pitchFamily="34" charset="-122"/>
                <a:cs typeface="Sora" pitchFamily="34" charset="-120"/>
              </a:rPr>
              <a:t>LINER</a:t>
            </a:r>
            <a:endParaRPr lang="en-US" sz="825" dirty="0"/>
          </a:p>
        </p:txBody>
      </p:sp>
      <p:sp>
        <p:nvSpPr>
          <p:cNvPr id="14" name="Text 9"/>
          <p:cNvSpPr txBox="1"/>
          <p:nvPr/>
        </p:nvSpPr>
        <p:spPr>
          <a:xfrm>
            <a:off x="7086600" y="4591202"/>
            <a:ext cx="2286000" cy="277063"/>
          </a:xfrm>
          <a:prstGeom prst="rect">
            <a:avLst/>
          </a:prstGeom>
          <a:noFill/>
          <a:ln/>
        </p:spPr>
        <p:txBody>
          <a:bodyPr wrap="none" lIns="0" tIns="0" rIns="0" bIns="0" rtlCol="0" anchor="ctr"/>
          <a:lstStyle/>
          <a:p>
            <a:pPr algn="l" indent="0" marL="0">
              <a:buNone/>
            </a:pPr>
            <a:r>
              <a:rPr lang="en-US" sz="1500" b="1" dirty="0">
                <a:solidFill>
                  <a:srgbClr val="14213D"/>
                </a:solidFill>
                <a:latin typeface="Noto Sans KR" pitchFamily="34" charset="0"/>
                <a:ea typeface="Noto Sans KR" pitchFamily="34" charset="-122"/>
                <a:cs typeface="Noto Sans KR" pitchFamily="34" charset="-120"/>
              </a:rPr>
              <a:t>ALD Ru · 2 nm</a:t>
            </a:r>
            <a:endParaRPr lang="en-US" sz="1500" dirty="0"/>
          </a:p>
        </p:txBody>
      </p:sp>
      <p:sp>
        <p:nvSpPr>
          <p:cNvPr id="15" name="Text 10"/>
          <p:cNvSpPr txBox="1"/>
          <p:nvPr/>
        </p:nvSpPr>
        <p:spPr>
          <a:xfrm>
            <a:off x="7086600" y="4924044"/>
            <a:ext cx="2286000" cy="181051"/>
          </a:xfrm>
          <a:prstGeom prst="rect">
            <a:avLst/>
          </a:prstGeom>
          <a:noFill/>
          <a:ln/>
        </p:spPr>
        <p:txBody>
          <a:bodyPr wrap="none" lIns="0" tIns="0" rIns="0" bIns="0" rtlCol="0" anchor="ctr"/>
          <a:lstStyle/>
          <a:p>
            <a:pPr algn="l" indent="0" marL="0">
              <a:buNone/>
            </a:pPr>
            <a:r>
              <a:rPr lang="en-US" sz="975" dirty="0">
                <a:solidFill>
                  <a:srgbClr val="455670"/>
                </a:solidFill>
                <a:latin typeface="Noto Sans KR" pitchFamily="34" charset="0"/>
                <a:ea typeface="Noto Sans KR" pitchFamily="34" charset="-122"/>
                <a:cs typeface="Noto Sans KR" pitchFamily="34" charset="-120"/>
              </a:rPr>
              <a:t>continuous liner / 결함 없음</a:t>
            </a:r>
            <a:endParaRPr lang="en-US" sz="975" dirty="0"/>
          </a:p>
        </p:txBody>
      </p:sp>
      <p:sp>
        <p:nvSpPr>
          <p:cNvPr id="16" name="Text 11"/>
          <p:cNvSpPr txBox="1"/>
          <p:nvPr/>
        </p:nvSpPr>
        <p:spPr>
          <a:xfrm>
            <a:off x="7086600" y="5410505"/>
            <a:ext cx="2286000" cy="133502"/>
          </a:xfrm>
          <a:prstGeom prst="rect">
            <a:avLst/>
          </a:prstGeom>
          <a:noFill/>
          <a:ln/>
        </p:spPr>
        <p:txBody>
          <a:bodyPr wrap="none" lIns="0" tIns="0" rIns="0" bIns="0" rtlCol="0" anchor="ctr"/>
          <a:lstStyle/>
          <a:p>
            <a:pPr algn="l" indent="0" marL="0">
              <a:buNone/>
            </a:pPr>
            <a:r>
              <a:rPr lang="en-US" sz="825" b="1" spc="149" kern="0" dirty="0">
                <a:solidFill>
                  <a:srgbClr val="1E5F9C"/>
                </a:solidFill>
                <a:latin typeface="Sora" pitchFamily="34" charset="0"/>
                <a:ea typeface="Sora" pitchFamily="34" charset="-122"/>
                <a:cs typeface="Sora" pitchFamily="34" charset="-120"/>
              </a:rPr>
              <a:t>DIELECTRIC</a:t>
            </a:r>
            <a:endParaRPr lang="en-US" sz="825" dirty="0"/>
          </a:p>
        </p:txBody>
      </p:sp>
      <p:sp>
        <p:nvSpPr>
          <p:cNvPr id="17" name="Text 12"/>
          <p:cNvSpPr txBox="1"/>
          <p:nvPr/>
        </p:nvSpPr>
        <p:spPr>
          <a:xfrm>
            <a:off x="7086600" y="5581498"/>
            <a:ext cx="2286000" cy="277063"/>
          </a:xfrm>
          <a:prstGeom prst="rect">
            <a:avLst/>
          </a:prstGeom>
          <a:noFill/>
          <a:ln/>
        </p:spPr>
        <p:txBody>
          <a:bodyPr wrap="none" lIns="0" tIns="0" rIns="0" bIns="0" rtlCol="0" anchor="ctr"/>
          <a:lstStyle/>
          <a:p>
            <a:pPr algn="l" indent="0" marL="0">
              <a:buNone/>
            </a:pPr>
            <a:r>
              <a:rPr lang="en-US" sz="1500" b="1" dirty="0">
                <a:solidFill>
                  <a:srgbClr val="14213D"/>
                </a:solidFill>
                <a:latin typeface="Noto Sans KR" pitchFamily="34" charset="0"/>
                <a:ea typeface="Noto Sans KR" pitchFamily="34" charset="-122"/>
                <a:cs typeface="Noto Sans KR" pitchFamily="34" charset="-120"/>
              </a:rPr>
              <a:t>low-k IMD</a:t>
            </a:r>
            <a:endParaRPr lang="en-US" sz="1500" dirty="0"/>
          </a:p>
        </p:txBody>
      </p:sp>
      <p:sp>
        <p:nvSpPr>
          <p:cNvPr id="18" name="Text 13"/>
          <p:cNvSpPr txBox="1"/>
          <p:nvPr/>
        </p:nvSpPr>
        <p:spPr>
          <a:xfrm>
            <a:off x="7086600" y="5915254"/>
            <a:ext cx="2286000" cy="181051"/>
          </a:xfrm>
          <a:prstGeom prst="rect">
            <a:avLst/>
          </a:prstGeom>
          <a:noFill/>
          <a:ln/>
        </p:spPr>
        <p:txBody>
          <a:bodyPr wrap="none" lIns="0" tIns="0" rIns="0" bIns="0" rtlCol="0" anchor="ctr"/>
          <a:lstStyle/>
          <a:p>
            <a:pPr algn="l" indent="0" marL="0">
              <a:buNone/>
            </a:pPr>
            <a:r>
              <a:rPr lang="en-US" sz="975" dirty="0">
                <a:solidFill>
                  <a:srgbClr val="455670"/>
                </a:solidFill>
                <a:latin typeface="Noto Sans KR" pitchFamily="34" charset="0"/>
                <a:ea typeface="Noto Sans KR" pitchFamily="34" charset="-122"/>
                <a:cs typeface="Noto Sans KR" pitchFamily="34" charset="-120"/>
              </a:rPr>
              <a:t>SiCO:H · k ≈ 3.0</a:t>
            </a:r>
            <a:endParaRPr lang="en-US" sz="975" dirty="0"/>
          </a:p>
        </p:txBody>
      </p:sp>
      <p:sp>
        <p:nvSpPr>
          <p:cNvPr id="19" name="Text 14"/>
          <p:cNvSpPr txBox="1"/>
          <p:nvPr/>
        </p:nvSpPr>
        <p:spPr>
          <a:xfrm>
            <a:off x="7086600" y="6400800"/>
            <a:ext cx="2286000" cy="133502"/>
          </a:xfrm>
          <a:prstGeom prst="rect">
            <a:avLst/>
          </a:prstGeom>
          <a:noFill/>
          <a:ln/>
        </p:spPr>
        <p:txBody>
          <a:bodyPr wrap="none" lIns="0" tIns="0" rIns="0" bIns="0" rtlCol="0" anchor="ctr"/>
          <a:lstStyle/>
          <a:p>
            <a:pPr algn="l" indent="0" marL="0">
              <a:buNone/>
            </a:pPr>
            <a:r>
              <a:rPr lang="en-US" sz="825" b="1" spc="149" kern="0" dirty="0">
                <a:solidFill>
                  <a:srgbClr val="1E5F9C"/>
                </a:solidFill>
                <a:latin typeface="Sora" pitchFamily="34" charset="0"/>
                <a:ea typeface="Sora" pitchFamily="34" charset="-122"/>
                <a:cs typeface="Sora" pitchFamily="34" charset="-120"/>
              </a:rPr>
              <a:t>SCALE</a:t>
            </a:r>
            <a:endParaRPr lang="en-US" sz="825" dirty="0"/>
          </a:p>
        </p:txBody>
      </p:sp>
      <p:sp>
        <p:nvSpPr>
          <p:cNvPr id="20" name="Text 15"/>
          <p:cNvSpPr txBox="1"/>
          <p:nvPr/>
        </p:nvSpPr>
        <p:spPr>
          <a:xfrm>
            <a:off x="7086600" y="6572707"/>
            <a:ext cx="2286000" cy="277063"/>
          </a:xfrm>
          <a:prstGeom prst="rect">
            <a:avLst/>
          </a:prstGeom>
          <a:noFill/>
          <a:ln/>
        </p:spPr>
        <p:txBody>
          <a:bodyPr wrap="none" lIns="0" tIns="0" rIns="0" bIns="0" rtlCol="0" anchor="ctr"/>
          <a:lstStyle/>
          <a:p>
            <a:pPr algn="l" indent="0" marL="0">
              <a:buNone/>
            </a:pPr>
            <a:r>
              <a:rPr lang="en-US" sz="1500" b="1" dirty="0">
                <a:solidFill>
                  <a:srgbClr val="14213D"/>
                </a:solidFill>
                <a:latin typeface="Noto Sans KR" pitchFamily="34" charset="0"/>
                <a:ea typeface="Noto Sans KR" pitchFamily="34" charset="-122"/>
                <a:cs typeface="Noto Sans KR" pitchFamily="34" charset="-120"/>
              </a:rPr>
              <a:t>50,000×</a:t>
            </a:r>
            <a:endParaRPr lang="en-US" sz="1500" dirty="0"/>
          </a:p>
        </p:txBody>
      </p:sp>
      <p:sp>
        <p:nvSpPr>
          <p:cNvPr id="21" name="Text 16"/>
          <p:cNvSpPr txBox="1"/>
          <p:nvPr/>
        </p:nvSpPr>
        <p:spPr>
          <a:xfrm>
            <a:off x="7086600" y="6905549"/>
            <a:ext cx="2286000" cy="181051"/>
          </a:xfrm>
          <a:prstGeom prst="rect">
            <a:avLst/>
          </a:prstGeom>
          <a:noFill/>
          <a:ln/>
        </p:spPr>
        <p:txBody>
          <a:bodyPr wrap="none" lIns="0" tIns="0" rIns="0" bIns="0" rtlCol="0" anchor="ctr"/>
          <a:lstStyle/>
          <a:p>
            <a:pPr algn="l" indent="0" marL="0">
              <a:buNone/>
            </a:pPr>
            <a:r>
              <a:rPr lang="en-US" sz="975" dirty="0">
                <a:solidFill>
                  <a:srgbClr val="455670"/>
                </a:solidFill>
                <a:latin typeface="Noto Sans KR" pitchFamily="34" charset="0"/>
                <a:ea typeface="Noto Sans KR" pitchFamily="34" charset="-122"/>
                <a:cs typeface="Noto Sans KR" pitchFamily="34" charset="-120"/>
              </a:rPr>
              <a:t>수직 단면 / scale-bar 100 nm</a:t>
            </a:r>
            <a:endParaRPr lang="en-US" sz="975" dirty="0"/>
          </a:p>
        </p:txBody>
      </p:sp>
      <p:sp>
        <p:nvSpPr>
          <p:cNvPr id="22" name="Text 17"/>
          <p:cNvSpPr txBox="1"/>
          <p:nvPr/>
        </p:nvSpPr>
        <p:spPr>
          <a:xfrm>
            <a:off x="1143000" y="7905902"/>
            <a:ext cx="8287207" cy="133502"/>
          </a:xfrm>
          <a:prstGeom prst="rect">
            <a:avLst/>
          </a:prstGeom>
          <a:noFill/>
          <a:ln/>
        </p:spPr>
        <p:txBody>
          <a:bodyPr wrap="none" lIns="0" tIns="0" rIns="0" bIns="0" rtlCol="0" anchor="ctr"/>
          <a:lstStyle/>
          <a:p>
            <a:pPr algn="l" indent="0" marL="0">
              <a:buNone/>
            </a:pPr>
            <a:r>
              <a:rPr lang="en-US" sz="825" b="1" spc="165" kern="0" dirty="0">
                <a:solidFill>
                  <a:srgbClr val="94A3B8"/>
                </a:solidFill>
                <a:latin typeface="Sora" pitchFamily="34" charset="0"/>
                <a:ea typeface="Sora" pitchFamily="34" charset="-122"/>
                <a:cs typeface="Sora" pitchFamily="34" charset="-120"/>
              </a:rPr>
              <a:t>SOURCE</a:t>
            </a:r>
            <a:endParaRPr lang="en-US" sz="825" dirty="0"/>
          </a:p>
        </p:txBody>
      </p:sp>
      <p:sp>
        <p:nvSpPr>
          <p:cNvPr id="23" name="Text 18"/>
          <p:cNvSpPr txBox="1"/>
          <p:nvPr/>
        </p:nvSpPr>
        <p:spPr>
          <a:xfrm>
            <a:off x="1143000" y="8096098"/>
            <a:ext cx="8287207" cy="400507"/>
          </a:xfrm>
          <a:prstGeom prst="rect">
            <a:avLst/>
          </a:prstGeom>
          <a:noFill/>
          <a:ln/>
        </p:spPr>
        <p:txBody>
          <a:bodyPr wrap="square" lIns="0" tIns="0" rIns="0" bIns="0" rtlCol="0" anchor="ctr"/>
          <a:lstStyle/>
          <a:p>
            <a:pPr algn="l" indent="0" marL="0">
              <a:lnSpc>
                <a:spcPts val="1575"/>
              </a:lnSpc>
              <a:buNone/>
            </a:pPr>
            <a:r>
              <a:rPr lang="en-US" sz="1050" dirty="0">
                <a:solidFill>
                  <a:srgbClr val="455670"/>
                </a:solidFill>
                <a:latin typeface="Noto Sans KR" pitchFamily="34" charset="0"/>
                <a:ea typeface="Noto Sans KR" pitchFamily="34" charset="-122"/>
                <a:cs typeface="Noto Sans KR" pitchFamily="34" charset="-120"/>
              </a:rPr>
              <a:t>출처: Nature / Communications Engineering — "Void-free Cu/dielectric hybrid bonding" (2026) 단면 이미지. 본 보고서에서는 reference 단면 맥락에서만 차용.</a:t>
            </a:r>
            <a:endParaRPr lang="en-US" sz="1050" dirty="0"/>
          </a:p>
        </p:txBody>
      </p:sp>
      <p:pic>
        <p:nvPicPr>
          <p:cNvPr id="24" name="Image 2" descr="gen-dedup-12d7cb0a28bbcaca3e8d32c19dc56a81.png">    </p:cNvPr>
          <p:cNvPicPr>
            <a:picLocks noChangeAspect="1"/>
          </p:cNvPicPr>
          <p:nvPr/>
        </p:nvPicPr>
        <p:blipFill>
          <a:blip r:embed="rId3"/>
          <a:srcRect l="0" r="0" t="-424" b="-424"/>
          <a:stretch/>
        </p:blipFill>
        <p:spPr>
          <a:xfrm>
            <a:off x="857707" y="657454"/>
            <a:ext cx="323698" cy="19202"/>
          </a:xfrm>
          <a:prstGeom prst="rect">
            <a:avLst/>
          </a:prstGeom>
        </p:spPr>
      </p:pic>
      <p:sp>
        <p:nvSpPr>
          <p:cNvPr id="25" name="Text 19"/>
          <p:cNvSpPr txBox="1"/>
          <p:nvPr/>
        </p:nvSpPr>
        <p:spPr>
          <a:xfrm>
            <a:off x="1314907" y="571500"/>
            <a:ext cx="2171700" cy="191110"/>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09 · 정상 단면</a:t>
            </a:r>
            <a:endParaRPr lang="en-US" sz="1050" dirty="0"/>
          </a:p>
        </p:txBody>
      </p:sp>
      <p:sp>
        <p:nvSpPr>
          <p:cNvPr id="26" name="Shape 20"/>
          <p:cNvSpPr/>
          <p:nvPr/>
        </p:nvSpPr>
        <p:spPr>
          <a:xfrm>
            <a:off x="16792956" y="566928"/>
            <a:ext cx="57607" cy="57607"/>
          </a:xfrm>
          <a:prstGeom prst="ellipse">
            <a:avLst/>
          </a:prstGeom>
          <a:solidFill>
            <a:srgbClr val="1E5F9C"/>
          </a:solidFill>
          <a:ln w="12700">
            <a:solidFill>
              <a:srgbClr val="FFFFFF">
                <a:alpha val="0"/>
              </a:srgbClr>
            </a:solidFill>
            <a:prstDash val="solid"/>
          </a:ln>
        </p:spPr>
      </p:sp>
      <p:sp>
        <p:nvSpPr>
          <p:cNvPr id="27" name="Text 21"/>
          <p:cNvSpPr txBox="1"/>
          <p:nvPr/>
        </p:nvSpPr>
        <p:spPr>
          <a:xfrm>
            <a:off x="16735349" y="514807"/>
            <a:ext cx="790956"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09 / 12</a:t>
            </a:r>
            <a:endParaRPr lang="en-US" sz="975" dirty="0"/>
          </a:p>
        </p:txBody>
      </p:sp>
      <p:sp>
        <p:nvSpPr>
          <p:cNvPr id="28" name="Text 22"/>
          <p:cNvSpPr txBox="1"/>
          <p:nvPr/>
        </p:nvSpPr>
        <p:spPr>
          <a:xfrm>
            <a:off x="838505" y="1143000"/>
            <a:ext cx="1619311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정상 SEM 단면 reference</a:t>
            </a:r>
            <a:endParaRPr lang="en-US" sz="4500" dirty="0"/>
          </a:p>
        </p:txBody>
      </p:sp>
      <p:sp>
        <p:nvSpPr>
          <p:cNvPr id="29" name="Text 23"/>
          <p:cNvSpPr txBox="1"/>
          <p:nvPr/>
        </p:nvSpPr>
        <p:spPr>
          <a:xfrm>
            <a:off x="838505" y="1876349"/>
            <a:ext cx="1619311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Cu / low-k damascene M3 라인의 reference 단면 — 그룹 B (Ru 2 nm) wafer에서 캡처, 결함 부재 상태.</a:t>
            </a:r>
            <a:endParaRPr lang="en-US" sz="1650" dirty="0"/>
          </a:p>
        </p:txBody>
      </p:sp>
      <p:sp>
        <p:nvSpPr>
          <p:cNvPr id="30" name="Text 24"/>
          <p:cNvSpPr txBox="1"/>
          <p:nvPr/>
        </p:nvSpPr>
        <p:spPr>
          <a:xfrm>
            <a:off x="10191902" y="3124505"/>
            <a:ext cx="6954012"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REFERENCE OBSERVATION</a:t>
            </a:r>
            <a:endParaRPr lang="en-US" sz="900" dirty="0"/>
          </a:p>
        </p:txBody>
      </p:sp>
      <p:sp>
        <p:nvSpPr>
          <p:cNvPr id="31" name="Text 25"/>
          <p:cNvSpPr txBox="1"/>
          <p:nvPr/>
        </p:nvSpPr>
        <p:spPr>
          <a:xfrm>
            <a:off x="10191902" y="3323844"/>
            <a:ext cx="6954012" cy="419710"/>
          </a:xfrm>
          <a:prstGeom prst="rect">
            <a:avLst/>
          </a:prstGeom>
          <a:noFill/>
          <a:ln/>
        </p:spPr>
        <p:txBody>
          <a:bodyPr wrap="none" lIns="0" tIns="0" rIns="0" bIns="0" rtlCol="0" anchor="ctr"/>
          <a:lstStyle/>
          <a:p>
            <a:pPr algn="l" indent="0" marL="0">
              <a:buNone/>
            </a:pPr>
            <a:r>
              <a:rPr lang="en-US" sz="2250" b="1" dirty="0">
                <a:solidFill>
                  <a:srgbClr val="14213D"/>
                </a:solidFill>
                <a:latin typeface="Noto Sans KR" pitchFamily="34" charset="0"/>
                <a:ea typeface="Noto Sans KR" pitchFamily="34" charset="-122"/>
                <a:cs typeface="Noto Sans KR" pitchFamily="34" charset="-120"/>
              </a:rPr>
              <a:t>관찰 포인트</a:t>
            </a:r>
            <a:endParaRPr lang="en-US" sz="2250" dirty="0"/>
          </a:p>
        </p:txBody>
      </p:sp>
      <p:sp>
        <p:nvSpPr>
          <p:cNvPr id="32" name="Shape 26"/>
          <p:cNvSpPr/>
          <p:nvPr/>
        </p:nvSpPr>
        <p:spPr>
          <a:xfrm>
            <a:off x="10191902" y="4733849"/>
            <a:ext cx="6953098" cy="9144"/>
          </a:xfrm>
          <a:prstGeom prst="rect">
            <a:avLst/>
          </a:prstGeom>
          <a:solidFill>
            <a:srgbClr val="DCE3EE"/>
          </a:solidFill>
          <a:ln w="12700">
            <a:solidFill>
              <a:srgbClr val="DCE3EE">
                <a:alpha val="0"/>
              </a:srgbClr>
            </a:solidFill>
            <a:prstDash val="solid"/>
          </a:ln>
        </p:spPr>
      </p:sp>
      <p:sp>
        <p:nvSpPr>
          <p:cNvPr id="33" name="Text 27"/>
          <p:cNvSpPr txBox="1"/>
          <p:nvPr/>
        </p:nvSpPr>
        <p:spPr>
          <a:xfrm>
            <a:off x="10191902" y="3981298"/>
            <a:ext cx="400507" cy="619963"/>
          </a:xfrm>
          <a:prstGeom prst="rect">
            <a:avLst/>
          </a:prstGeom>
          <a:noFill/>
          <a:ln/>
        </p:spPr>
        <p:txBody>
          <a:bodyPr wrap="square" lIns="0" tIns="0" rIns="0" bIns="0" rtlCol="0" anchor="ctr"/>
          <a:lstStyle/>
          <a:p>
            <a:pPr algn="l" indent="0" marL="0">
              <a:lnSpc>
                <a:spcPts val="2558"/>
              </a:lnSpc>
              <a:buNone/>
            </a:pPr>
            <a:r>
              <a:rPr lang="en-US" sz="1650" b="1" dirty="0">
                <a:solidFill>
                  <a:srgbClr val="1E5F9C"/>
                </a:solidFill>
                <a:latin typeface="Sora" pitchFamily="34" charset="0"/>
                <a:ea typeface="Sora" pitchFamily="34" charset="-122"/>
                <a:cs typeface="Sora" pitchFamily="34" charset="-120"/>
              </a:rPr>
              <a:t>01</a:t>
            </a:r>
            <a:endParaRPr lang="en-US" sz="1650" dirty="0"/>
          </a:p>
        </p:txBody>
      </p:sp>
      <p:sp>
        <p:nvSpPr>
          <p:cNvPr id="34" name="Text 28"/>
          <p:cNvSpPr txBox="1"/>
          <p:nvPr/>
        </p:nvSpPr>
        <p:spPr>
          <a:xfrm>
            <a:off x="10763402" y="3981298"/>
            <a:ext cx="3867912" cy="333756"/>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liner 연속성 양호</a:t>
            </a:r>
            <a:endParaRPr lang="en-US" sz="1650" dirty="0"/>
          </a:p>
        </p:txBody>
      </p:sp>
      <p:sp>
        <p:nvSpPr>
          <p:cNvPr id="35" name="Text 29"/>
          <p:cNvSpPr txBox="1"/>
          <p:nvPr/>
        </p:nvSpPr>
        <p:spPr>
          <a:xfrm>
            <a:off x="10763402" y="4363517"/>
            <a:ext cx="4553712"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Ru 2 nm 라인이 trench 전 구간에서 두께 균일, 빈 구간 없음</a:t>
            </a:r>
            <a:endParaRPr lang="en-US" sz="1200" dirty="0"/>
          </a:p>
        </p:txBody>
      </p:sp>
      <p:sp>
        <p:nvSpPr>
          <p:cNvPr id="36" name="Shape 30"/>
          <p:cNvSpPr/>
          <p:nvPr/>
        </p:nvSpPr>
        <p:spPr>
          <a:xfrm>
            <a:off x="10191902" y="5620817"/>
            <a:ext cx="6953098" cy="9144"/>
          </a:xfrm>
          <a:prstGeom prst="rect">
            <a:avLst/>
          </a:prstGeom>
          <a:solidFill>
            <a:srgbClr val="DCE3EE"/>
          </a:solidFill>
          <a:ln w="12700">
            <a:solidFill>
              <a:srgbClr val="DCE3EE">
                <a:alpha val="0"/>
              </a:srgbClr>
            </a:solidFill>
            <a:prstDash val="solid"/>
          </a:ln>
        </p:spPr>
      </p:sp>
      <p:sp>
        <p:nvSpPr>
          <p:cNvPr id="37" name="Text 31"/>
          <p:cNvSpPr txBox="1"/>
          <p:nvPr/>
        </p:nvSpPr>
        <p:spPr>
          <a:xfrm>
            <a:off x="10191902" y="4868266"/>
            <a:ext cx="400507" cy="619963"/>
          </a:xfrm>
          <a:prstGeom prst="rect">
            <a:avLst/>
          </a:prstGeom>
          <a:noFill/>
          <a:ln/>
        </p:spPr>
        <p:txBody>
          <a:bodyPr wrap="square" lIns="0" tIns="0" rIns="0" bIns="0" rtlCol="0" anchor="ctr"/>
          <a:lstStyle/>
          <a:p>
            <a:pPr algn="l" indent="0" marL="0">
              <a:lnSpc>
                <a:spcPts val="2558"/>
              </a:lnSpc>
              <a:buNone/>
            </a:pPr>
            <a:r>
              <a:rPr lang="en-US" sz="1650" b="1" dirty="0">
                <a:solidFill>
                  <a:srgbClr val="1E5F9C"/>
                </a:solidFill>
                <a:latin typeface="Sora" pitchFamily="34" charset="0"/>
                <a:ea typeface="Sora" pitchFamily="34" charset="-122"/>
                <a:cs typeface="Sora" pitchFamily="34" charset="-120"/>
              </a:rPr>
              <a:t>02</a:t>
            </a:r>
            <a:endParaRPr lang="en-US" sz="1650" dirty="0"/>
          </a:p>
        </p:txBody>
      </p:sp>
      <p:sp>
        <p:nvSpPr>
          <p:cNvPr id="38" name="Text 32"/>
          <p:cNvSpPr txBox="1"/>
          <p:nvPr/>
        </p:nvSpPr>
        <p:spPr>
          <a:xfrm>
            <a:off x="10763402" y="4868266"/>
            <a:ext cx="3696005" cy="333756"/>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Cu 채움 무결성</a:t>
            </a:r>
            <a:endParaRPr lang="en-US" sz="1650" dirty="0"/>
          </a:p>
        </p:txBody>
      </p:sp>
      <p:sp>
        <p:nvSpPr>
          <p:cNvPr id="39" name="Text 33"/>
          <p:cNvSpPr txBox="1"/>
          <p:nvPr/>
        </p:nvSpPr>
        <p:spPr>
          <a:xfrm>
            <a:off x="10763402" y="5250485"/>
            <a:ext cx="4364431"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center / bottom-up fill, seam void·key-hole 흔적 없음</a:t>
            </a:r>
            <a:endParaRPr lang="en-US" sz="1200" dirty="0"/>
          </a:p>
        </p:txBody>
      </p:sp>
      <p:sp>
        <p:nvSpPr>
          <p:cNvPr id="40" name="Shape 34"/>
          <p:cNvSpPr/>
          <p:nvPr/>
        </p:nvSpPr>
        <p:spPr>
          <a:xfrm>
            <a:off x="10191902" y="6507785"/>
            <a:ext cx="6953098" cy="9144"/>
          </a:xfrm>
          <a:prstGeom prst="rect">
            <a:avLst/>
          </a:prstGeom>
          <a:solidFill>
            <a:srgbClr val="DCE3EE"/>
          </a:solidFill>
          <a:ln w="12700">
            <a:solidFill>
              <a:srgbClr val="DCE3EE">
                <a:alpha val="0"/>
              </a:srgbClr>
            </a:solidFill>
            <a:prstDash val="solid"/>
          </a:ln>
        </p:spPr>
      </p:sp>
      <p:sp>
        <p:nvSpPr>
          <p:cNvPr id="41" name="Text 35"/>
          <p:cNvSpPr txBox="1"/>
          <p:nvPr/>
        </p:nvSpPr>
        <p:spPr>
          <a:xfrm>
            <a:off x="10191902" y="5755234"/>
            <a:ext cx="400507" cy="619963"/>
          </a:xfrm>
          <a:prstGeom prst="rect">
            <a:avLst/>
          </a:prstGeom>
          <a:noFill/>
          <a:ln/>
        </p:spPr>
        <p:txBody>
          <a:bodyPr wrap="square" lIns="0" tIns="0" rIns="0" bIns="0" rtlCol="0" anchor="ctr"/>
          <a:lstStyle/>
          <a:p>
            <a:pPr algn="l" indent="0" marL="0">
              <a:lnSpc>
                <a:spcPts val="2558"/>
              </a:lnSpc>
              <a:buNone/>
            </a:pPr>
            <a:r>
              <a:rPr lang="en-US" sz="1650" b="1" dirty="0">
                <a:solidFill>
                  <a:srgbClr val="1E5F9C"/>
                </a:solidFill>
                <a:latin typeface="Sora" pitchFamily="34" charset="0"/>
                <a:ea typeface="Sora" pitchFamily="34" charset="-122"/>
                <a:cs typeface="Sora" pitchFamily="34" charset="-120"/>
              </a:rPr>
              <a:t>03</a:t>
            </a:r>
            <a:endParaRPr lang="en-US" sz="1650" dirty="0"/>
          </a:p>
        </p:txBody>
      </p:sp>
      <p:sp>
        <p:nvSpPr>
          <p:cNvPr id="42" name="Text 36"/>
          <p:cNvSpPr txBox="1"/>
          <p:nvPr/>
        </p:nvSpPr>
        <p:spPr>
          <a:xfrm>
            <a:off x="10763402" y="5755234"/>
            <a:ext cx="3657600" cy="333756"/>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IMD profile 안정</a:t>
            </a:r>
            <a:endParaRPr lang="en-US" sz="1650" dirty="0"/>
          </a:p>
        </p:txBody>
      </p:sp>
      <p:sp>
        <p:nvSpPr>
          <p:cNvPr id="43" name="Text 37"/>
          <p:cNvSpPr txBox="1"/>
          <p:nvPr/>
        </p:nvSpPr>
        <p:spPr>
          <a:xfrm>
            <a:off x="10763402" y="6136538"/>
            <a:ext cx="4321454"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side-wall bowing / footing 미관측, etch stop pristine</a:t>
            </a:r>
            <a:endParaRPr lang="en-US" sz="1200" dirty="0"/>
          </a:p>
        </p:txBody>
      </p:sp>
      <p:sp>
        <p:nvSpPr>
          <p:cNvPr id="44" name="Text 38"/>
          <p:cNvSpPr txBox="1"/>
          <p:nvPr/>
        </p:nvSpPr>
        <p:spPr>
          <a:xfrm>
            <a:off x="10191902" y="6641287"/>
            <a:ext cx="400507" cy="619963"/>
          </a:xfrm>
          <a:prstGeom prst="rect">
            <a:avLst/>
          </a:prstGeom>
          <a:noFill/>
          <a:ln/>
        </p:spPr>
        <p:txBody>
          <a:bodyPr wrap="square" lIns="0" tIns="0" rIns="0" bIns="0" rtlCol="0" anchor="ctr"/>
          <a:lstStyle/>
          <a:p>
            <a:pPr algn="l" indent="0" marL="0">
              <a:lnSpc>
                <a:spcPts val="2558"/>
              </a:lnSpc>
              <a:buNone/>
            </a:pPr>
            <a:r>
              <a:rPr lang="en-US" sz="1650" b="1" dirty="0">
                <a:solidFill>
                  <a:srgbClr val="1E5F9C"/>
                </a:solidFill>
                <a:latin typeface="Sora" pitchFamily="34" charset="0"/>
                <a:ea typeface="Sora" pitchFamily="34" charset="-122"/>
                <a:cs typeface="Sora" pitchFamily="34" charset="-120"/>
              </a:rPr>
              <a:t>04</a:t>
            </a:r>
            <a:endParaRPr lang="en-US" sz="1650" dirty="0"/>
          </a:p>
        </p:txBody>
      </p:sp>
      <p:sp>
        <p:nvSpPr>
          <p:cNvPr id="45" name="Text 39"/>
          <p:cNvSpPr txBox="1"/>
          <p:nvPr/>
        </p:nvSpPr>
        <p:spPr>
          <a:xfrm>
            <a:off x="10763402" y="6641287"/>
            <a:ext cx="3734410" cy="333756"/>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interface clean</a:t>
            </a:r>
            <a:endParaRPr lang="en-US" sz="1650" dirty="0"/>
          </a:p>
        </p:txBody>
      </p:sp>
      <p:sp>
        <p:nvSpPr>
          <p:cNvPr id="46" name="Text 40"/>
          <p:cNvSpPr txBox="1"/>
          <p:nvPr/>
        </p:nvSpPr>
        <p:spPr>
          <a:xfrm>
            <a:off x="10763402" y="7023506"/>
            <a:ext cx="4408322"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Cu / Ru interface oxide 없음, oxide 부피 평균 대비 自然</a:t>
            </a:r>
            <a:endParaRPr lang="en-US" sz="1200" dirty="0"/>
          </a:p>
        </p:txBody>
      </p:sp>
      <p:sp>
        <p:nvSpPr>
          <p:cNvPr id="47" name="Text 41"/>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48" name="Image 3" descr="gen-dedup-a95c956e3bd879e41d2e7daca8566398.png">    </p:cNvPr>
          <p:cNvPicPr>
            <a:picLocks noChangeAspect="1"/>
          </p:cNvPicPr>
          <p:nvPr/>
        </p:nvPicPr>
        <p:blipFill>
          <a:blip r:embed="rId4"/>
          <a:srcRect l="-2083" r="-2083" t="0" b="0"/>
          <a:stretch/>
        </p:blipFill>
        <p:spPr>
          <a:xfrm>
            <a:off x="2656332" y="9096451"/>
            <a:ext cx="571500" cy="9144"/>
          </a:xfrm>
          <a:prstGeom prst="rect">
            <a:avLst/>
          </a:prstGeom>
        </p:spPr>
      </p:pic>
      <p:sp>
        <p:nvSpPr>
          <p:cNvPr id="49" name="Text 42"/>
          <p:cNvSpPr txBox="1"/>
          <p:nvPr/>
        </p:nvSpPr>
        <p:spPr>
          <a:xfrm>
            <a:off x="3456432" y="8934602"/>
            <a:ext cx="10020910"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Group B (Ru 2 nm) wafer 단면은 무결점 reference — 우측 4개 관찰 항목 모두 baseline 충족.</a:t>
            </a:r>
            <a:endParaRPr lang="en-US" sz="1800" dirty="0"/>
          </a:p>
        </p:txBody>
      </p:sp>
      <p:sp>
        <p:nvSpPr>
          <p:cNvPr id="50" name="Text 43"/>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51" name="Text 44"/>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2857500"/>
            <a:ext cx="8287207" cy="5333695"/>
          </a:xfrm>
          <a:prstGeom prst="rect">
            <a:avLst/>
          </a:prstGeom>
          <a:solidFill>
            <a:srgbClr val="FFFFFF"/>
          </a:solidFill>
          <a:ln w="12700">
            <a:solidFill>
              <a:srgbClr val="C8D3E2"/>
            </a:solidFill>
            <a:prstDash val="solid"/>
          </a:ln>
        </p:spPr>
      </p:sp>
      <p:sp>
        <p:nvSpPr>
          <p:cNvPr id="5" name="Shape 1"/>
          <p:cNvSpPr/>
          <p:nvPr/>
        </p:nvSpPr>
        <p:spPr>
          <a:xfrm>
            <a:off x="9334195" y="2857500"/>
            <a:ext cx="8096098" cy="5333695"/>
          </a:xfrm>
          <a:prstGeom prst="rect">
            <a:avLst/>
          </a:prstGeom>
          <a:solidFill>
            <a:srgbClr val="FFFFFF"/>
          </a:solidFill>
          <a:ln w="12700">
            <a:solidFill>
              <a:srgbClr val="C8D3E2"/>
            </a:solidFill>
            <a:prstDash val="solid"/>
          </a:ln>
        </p:spPr>
      </p:sp>
      <p:pic>
        <p:nvPicPr>
          <p:cNvPr id="6" name="Image 1" descr="gen-dedup-4164a3d8e48f17ae178f8ed76fc99b5b.png">    </p:cNvPr>
          <p:cNvPicPr>
            <a:picLocks noChangeAspect="1"/>
          </p:cNvPicPr>
          <p:nvPr/>
        </p:nvPicPr>
        <p:blipFill>
          <a:blip r:embed="rId2"/>
          <a:srcRect l="-403" r="-403" t="0" b="0"/>
          <a:stretch/>
        </p:blipFill>
        <p:spPr>
          <a:xfrm>
            <a:off x="857707" y="2857500"/>
            <a:ext cx="57607" cy="5333695"/>
          </a:xfrm>
          <a:prstGeom prst="rect">
            <a:avLst/>
          </a:prstGeom>
        </p:spPr>
      </p:pic>
      <p:pic>
        <p:nvPicPr>
          <p:cNvPr id="7" name="Image 2" descr="gen-dedup-4164a3d8e48f17ae178f8ed76fc99b5b.png">    </p:cNvPr>
          <p:cNvPicPr>
            <a:picLocks noChangeAspect="1"/>
          </p:cNvPicPr>
          <p:nvPr/>
        </p:nvPicPr>
        <p:blipFill>
          <a:blip r:embed="rId3"/>
          <a:srcRect l="-403" r="-403" t="0" b="0"/>
          <a:stretch/>
        </p:blipFill>
        <p:spPr>
          <a:xfrm>
            <a:off x="9334195" y="2857500"/>
            <a:ext cx="57607" cy="5333695"/>
          </a:xfrm>
          <a:prstGeom prst="rect">
            <a:avLst/>
          </a:prstGeom>
        </p:spPr>
      </p:pic>
      <p:sp>
        <p:nvSpPr>
          <p:cNvPr id="8" name="Shape 2"/>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9" name="Image 3" descr="gen-dedup-3c3f0190f3348a605df0239cea9995bf.png">    </p:cNvPr>
          <p:cNvPicPr>
            <a:picLocks noChangeAspect="1"/>
          </p:cNvPicPr>
          <p:nvPr/>
        </p:nvPicPr>
        <p:blipFill>
          <a:blip r:embed="rId4"/>
          <a:srcRect l="-2083" r="-2083" t="0" b="0"/>
          <a:stretch/>
        </p:blipFill>
        <p:spPr>
          <a:xfrm>
            <a:off x="0" y="9562795"/>
            <a:ext cx="18288000" cy="9144"/>
          </a:xfrm>
          <a:prstGeom prst="rect">
            <a:avLst/>
          </a:prstGeom>
        </p:spPr>
      </p:pic>
      <p:sp>
        <p:nvSpPr>
          <p:cNvPr id="10" name="Shape 3"/>
          <p:cNvSpPr/>
          <p:nvPr/>
        </p:nvSpPr>
        <p:spPr>
          <a:xfrm>
            <a:off x="1238098" y="3847795"/>
            <a:ext cx="3619195" cy="3200400"/>
          </a:xfrm>
          <a:prstGeom prst="rect">
            <a:avLst/>
          </a:prstGeom>
          <a:solidFill>
            <a:srgbClr val="0B1320"/>
          </a:solidFill>
          <a:ln w="12700">
            <a:solidFill>
              <a:srgbClr val="FFFFFF">
                <a:alpha val="0"/>
              </a:srgbClr>
            </a:solidFill>
            <a:prstDash val="solid"/>
          </a:ln>
        </p:spPr>
      </p:sp>
      <p:sp>
        <p:nvSpPr>
          <p:cNvPr id="11" name="Shape 4"/>
          <p:cNvSpPr/>
          <p:nvPr/>
        </p:nvSpPr>
        <p:spPr>
          <a:xfrm>
            <a:off x="9715500" y="3847795"/>
            <a:ext cx="3619195" cy="3200400"/>
          </a:xfrm>
          <a:prstGeom prst="rect">
            <a:avLst/>
          </a:prstGeom>
          <a:solidFill>
            <a:srgbClr val="0B1320"/>
          </a:solidFill>
          <a:ln w="12700">
            <a:solidFill>
              <a:srgbClr val="FFFFFF">
                <a:alpha val="0"/>
              </a:srgbClr>
            </a:solidFill>
            <a:prstDash val="solid"/>
          </a:ln>
        </p:spPr>
      </p:sp>
      <p:pic>
        <p:nvPicPr>
          <p:cNvPr id="12" name="Image 4" descr="gen-dedup-03b12fde2c32d3b4daf633a40b52292c.png">    </p:cNvPr>
          <p:cNvPicPr>
            <a:picLocks noChangeAspect="1"/>
          </p:cNvPicPr>
          <p:nvPr/>
        </p:nvPicPr>
        <p:blipFill>
          <a:blip r:embed="rId5"/>
          <a:srcRect l="0" r="0" t="-424" b="-424"/>
          <a:stretch/>
        </p:blipFill>
        <p:spPr>
          <a:xfrm>
            <a:off x="857707" y="657454"/>
            <a:ext cx="323698" cy="19202"/>
          </a:xfrm>
          <a:prstGeom prst="rect">
            <a:avLst/>
          </a:prstGeom>
        </p:spPr>
      </p:pic>
      <p:sp>
        <p:nvSpPr>
          <p:cNvPr id="13" name="Text 5"/>
          <p:cNvSpPr txBox="1"/>
          <p:nvPr/>
        </p:nvSpPr>
        <p:spPr>
          <a:xfrm>
            <a:off x="1314907" y="571500"/>
            <a:ext cx="2602382" cy="191110"/>
          </a:xfrm>
          <a:prstGeom prst="rect">
            <a:avLst/>
          </a:prstGeom>
          <a:noFill/>
          <a:ln/>
        </p:spPr>
        <p:txBody>
          <a:bodyPr wrap="none" lIns="0" tIns="0" rIns="0" bIns="0" rtlCol="0" anchor="ctr"/>
          <a:lstStyle/>
          <a:p>
            <a:pPr algn="l" indent="0" marL="0">
              <a:buNone/>
            </a:pPr>
            <a:r>
              <a:rPr lang="en-US" sz="1050" b="1" spc="189" kern="0" dirty="0">
                <a:solidFill>
                  <a:srgbClr val="B85C3D"/>
                </a:solidFill>
                <a:latin typeface="Sora" pitchFamily="34" charset="0"/>
                <a:ea typeface="Sora" pitchFamily="34" charset="-122"/>
                <a:cs typeface="Sora" pitchFamily="34" charset="-120"/>
              </a:rPr>
              <a:t>Section 10 · 이상 사례 단면</a:t>
            </a:r>
            <a:endParaRPr lang="en-US" sz="1050" dirty="0"/>
          </a:p>
        </p:txBody>
      </p:sp>
      <p:sp>
        <p:nvSpPr>
          <p:cNvPr id="14" name="Shape 6"/>
          <p:cNvSpPr/>
          <p:nvPr/>
        </p:nvSpPr>
        <p:spPr>
          <a:xfrm>
            <a:off x="16824046" y="566928"/>
            <a:ext cx="57607" cy="57607"/>
          </a:xfrm>
          <a:prstGeom prst="ellipse">
            <a:avLst/>
          </a:prstGeom>
          <a:solidFill>
            <a:srgbClr val="B85C3D"/>
          </a:solidFill>
          <a:ln w="12700">
            <a:solidFill>
              <a:srgbClr val="FFFFFF">
                <a:alpha val="0"/>
              </a:srgbClr>
            </a:solidFill>
            <a:prstDash val="solid"/>
          </a:ln>
        </p:spPr>
      </p:sp>
      <p:sp>
        <p:nvSpPr>
          <p:cNvPr id="15" name="Text 7"/>
          <p:cNvSpPr txBox="1"/>
          <p:nvPr/>
        </p:nvSpPr>
        <p:spPr>
          <a:xfrm>
            <a:off x="16742664" y="514807"/>
            <a:ext cx="787298"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10 / 12</a:t>
            </a:r>
            <a:endParaRPr lang="en-US" sz="975" dirty="0"/>
          </a:p>
        </p:txBody>
      </p:sp>
      <p:sp>
        <p:nvSpPr>
          <p:cNvPr id="16" name="Text 8"/>
          <p:cNvSpPr txBox="1"/>
          <p:nvPr/>
        </p:nvSpPr>
        <p:spPr>
          <a:xfrm>
            <a:off x="838505" y="1143000"/>
            <a:ext cx="1619311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이상 사례 · SEM / FIB-SEM</a:t>
            </a:r>
            <a:endParaRPr lang="en-US" sz="4500" dirty="0"/>
          </a:p>
        </p:txBody>
      </p:sp>
      <p:sp>
        <p:nvSpPr>
          <p:cNvPr id="17" name="Text 9"/>
          <p:cNvSpPr txBox="1"/>
          <p:nvPr/>
        </p:nvSpPr>
        <p:spPr>
          <a:xfrm>
            <a:off x="838505" y="1876349"/>
            <a:ext cx="1619311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평가 lot에서 관측된 두 가지 결함 — Group C (Co liner) wafer에서 검출, sample 수 1건 / 1건성.</a:t>
            </a:r>
            <a:endParaRPr lang="en-US" sz="1650" dirty="0"/>
          </a:p>
        </p:txBody>
      </p:sp>
      <p:sp>
        <p:nvSpPr>
          <p:cNvPr id="18" name="Text 10"/>
          <p:cNvSpPr txBox="1"/>
          <p:nvPr/>
        </p:nvSpPr>
        <p:spPr>
          <a:xfrm>
            <a:off x="1238098" y="3133649"/>
            <a:ext cx="2610612" cy="143561"/>
          </a:xfrm>
          <a:prstGeom prst="rect">
            <a:avLst/>
          </a:prstGeom>
          <a:noFill/>
          <a:ln/>
        </p:spPr>
        <p:txBody>
          <a:bodyPr wrap="none" lIns="0" tIns="0" rIns="0" bIns="0" rtlCol="0" anchor="ctr"/>
          <a:lstStyle/>
          <a:p>
            <a:pPr algn="l" indent="0" marL="0">
              <a:buNone/>
            </a:pPr>
            <a:r>
              <a:rPr lang="en-US" sz="900" b="1" spc="252" kern="0" dirty="0">
                <a:solidFill>
                  <a:srgbClr val="B85C3D"/>
                </a:solidFill>
                <a:latin typeface="Sora" pitchFamily="34" charset="0"/>
                <a:ea typeface="Sora" pitchFamily="34" charset="-122"/>
                <a:cs typeface="Sora" pitchFamily="34" charset="-120"/>
              </a:rPr>
              <a:t>CASE · 01</a:t>
            </a:r>
            <a:endParaRPr lang="en-US" sz="900" dirty="0"/>
          </a:p>
        </p:txBody>
      </p:sp>
      <p:sp>
        <p:nvSpPr>
          <p:cNvPr id="19" name="Text 11"/>
          <p:cNvSpPr txBox="1"/>
          <p:nvPr/>
        </p:nvSpPr>
        <p:spPr>
          <a:xfrm>
            <a:off x="1238098" y="3333902"/>
            <a:ext cx="3106217" cy="381305"/>
          </a:xfrm>
          <a:prstGeom prst="rect">
            <a:avLst/>
          </a:prstGeom>
          <a:noFill/>
          <a:ln/>
        </p:spPr>
        <p:txBody>
          <a:bodyPr wrap="none" lIns="0" tIns="0" rIns="0" bIns="0" rtlCol="0" anchor="ctr"/>
          <a:lstStyle/>
          <a:p>
            <a:pPr algn="l" indent="0" marL="0">
              <a:buNone/>
            </a:pPr>
            <a:r>
              <a:rPr lang="en-US" sz="2100" b="1" dirty="0">
                <a:solidFill>
                  <a:srgbClr val="14213D"/>
                </a:solidFill>
                <a:latin typeface="Noto Sans KR" pitchFamily="34" charset="0"/>
                <a:ea typeface="Noto Sans KR" pitchFamily="34" charset="-122"/>
                <a:cs typeface="Noto Sans KR" pitchFamily="34" charset="-120"/>
              </a:rPr>
              <a:t>liner 비연속 / Cu 노출</a:t>
            </a:r>
            <a:endParaRPr lang="en-US" sz="2100" dirty="0"/>
          </a:p>
        </p:txBody>
      </p:sp>
      <p:sp>
        <p:nvSpPr>
          <p:cNvPr id="20" name="Text 12"/>
          <p:cNvSpPr txBox="1"/>
          <p:nvPr/>
        </p:nvSpPr>
        <p:spPr>
          <a:xfrm>
            <a:off x="7563002" y="3124505"/>
            <a:ext cx="1114654" cy="162763"/>
          </a:xfrm>
          <a:prstGeom prst="rect">
            <a:avLst/>
          </a:prstGeom>
          <a:noFill/>
          <a:ln/>
        </p:spPr>
        <p:txBody>
          <a:bodyPr wrap="none" lIns="0" tIns="0" rIns="0" bIns="0" rtlCol="0" anchor="ctr"/>
          <a:lstStyle/>
          <a:p>
            <a:pPr algn="r" indent="0" marL="0">
              <a:buNone/>
            </a:pPr>
            <a:r>
              <a:rPr lang="en-US" sz="975" spc="176" kern="0" dirty="0">
                <a:solidFill>
                  <a:srgbClr val="94A3B8"/>
                </a:solidFill>
                <a:latin typeface="Sora" pitchFamily="34" charset="0"/>
                <a:ea typeface="Sora" pitchFamily="34" charset="-122"/>
                <a:cs typeface="Sora" pitchFamily="34" charset="-120"/>
              </a:rPr>
              <a:t>W03 · EDGE</a:t>
            </a:r>
            <a:endParaRPr lang="en-US" sz="975" dirty="0"/>
          </a:p>
        </p:txBody>
      </p:sp>
      <p:sp>
        <p:nvSpPr>
          <p:cNvPr id="21" name="Text 13"/>
          <p:cNvSpPr txBox="1"/>
          <p:nvPr/>
        </p:nvSpPr>
        <p:spPr>
          <a:xfrm>
            <a:off x="7069226" y="3343046"/>
            <a:ext cx="1607515" cy="191110"/>
          </a:xfrm>
          <a:prstGeom prst="rect">
            <a:avLst/>
          </a:prstGeom>
          <a:noFill/>
          <a:ln/>
        </p:spPr>
        <p:txBody>
          <a:bodyPr wrap="none" lIns="0" tIns="0" rIns="0" bIns="0" rtlCol="0" anchor="ctr"/>
          <a:lstStyle/>
          <a:p>
            <a:pPr algn="r" indent="0" marL="0">
              <a:buNone/>
            </a:pPr>
            <a:r>
              <a:rPr lang="en-US" sz="1050" dirty="0">
                <a:solidFill>
                  <a:srgbClr val="455670"/>
                </a:solidFill>
                <a:latin typeface="Noto Sans KR" pitchFamily="34" charset="0"/>
                <a:ea typeface="Noto Sans KR" pitchFamily="34" charset="-122"/>
                <a:cs typeface="Noto Sans KR" pitchFamily="34" charset="-120"/>
              </a:rPr>
              <a:t>Group C · Co liner</a:t>
            </a:r>
            <a:endParaRPr lang="en-US" sz="1050" dirty="0"/>
          </a:p>
        </p:txBody>
      </p:sp>
      <p:sp>
        <p:nvSpPr>
          <p:cNvPr id="22" name="Text 14"/>
          <p:cNvSpPr txBox="1"/>
          <p:nvPr/>
        </p:nvSpPr>
        <p:spPr>
          <a:xfrm>
            <a:off x="1238098" y="7105802"/>
            <a:ext cx="3620110" cy="133502"/>
          </a:xfrm>
          <a:prstGeom prst="rect">
            <a:avLst/>
          </a:prstGeom>
          <a:noFill/>
          <a:ln/>
        </p:spPr>
        <p:txBody>
          <a:bodyPr wrap="none" lIns="0" tIns="0" rIns="0" bIns="0" rtlCol="0" anchor="ctr"/>
          <a:lstStyle/>
          <a:p>
            <a:pPr algn="l" indent="0" marL="0">
              <a:buNone/>
            </a:pPr>
            <a:r>
              <a:rPr lang="en-US" sz="825" b="1" spc="149" kern="0" dirty="0">
                <a:solidFill>
                  <a:srgbClr val="94A3B8"/>
                </a:solidFill>
                <a:latin typeface="Sora" pitchFamily="34" charset="0"/>
                <a:ea typeface="Sora" pitchFamily="34" charset="-122"/>
                <a:cs typeface="Sora" pitchFamily="34" charset="-120"/>
              </a:rPr>
              <a:t>SOURCE</a:t>
            </a:r>
            <a:endParaRPr lang="en-US" sz="825" dirty="0"/>
          </a:p>
        </p:txBody>
      </p:sp>
      <p:sp>
        <p:nvSpPr>
          <p:cNvPr id="23" name="Text 15"/>
          <p:cNvSpPr txBox="1"/>
          <p:nvPr/>
        </p:nvSpPr>
        <p:spPr>
          <a:xfrm>
            <a:off x="1238098" y="7295998"/>
            <a:ext cx="3620110" cy="372161"/>
          </a:xfrm>
          <a:prstGeom prst="rect">
            <a:avLst/>
          </a:prstGeom>
          <a:noFill/>
          <a:ln/>
        </p:spPr>
        <p:txBody>
          <a:bodyPr wrap="square" lIns="0" tIns="0" rIns="0" bIns="0" rtlCol="0" anchor="ctr"/>
          <a:lstStyle/>
          <a:p>
            <a:pPr algn="l" indent="0" marL="0">
              <a:lnSpc>
                <a:spcPts val="1463"/>
              </a:lnSpc>
              <a:buNone/>
            </a:pPr>
            <a:r>
              <a:rPr lang="en-US" sz="975" dirty="0">
                <a:solidFill>
                  <a:srgbClr val="455670"/>
                </a:solidFill>
                <a:latin typeface="Noto Sans KR" pitchFamily="34" charset="0"/>
                <a:ea typeface="Noto Sans KR" pitchFamily="34" charset="-122"/>
                <a:cs typeface="Noto Sans KR" pitchFamily="34" charset="-120"/>
              </a:rPr>
              <a:t>Semiconductor Digest — ZEISS Crossbeam Laser FIB-SEM (2025)</a:t>
            </a:r>
            <a:endParaRPr lang="en-US" sz="975" dirty="0"/>
          </a:p>
        </p:txBody>
      </p:sp>
      <p:sp>
        <p:nvSpPr>
          <p:cNvPr id="24" name="Text 16"/>
          <p:cNvSpPr txBox="1"/>
          <p:nvPr/>
        </p:nvSpPr>
        <p:spPr>
          <a:xfrm>
            <a:off x="5143500" y="3847795"/>
            <a:ext cx="3620110" cy="133502"/>
          </a:xfrm>
          <a:prstGeom prst="rect">
            <a:avLst/>
          </a:prstGeom>
          <a:noFill/>
          <a:ln/>
        </p:spPr>
        <p:txBody>
          <a:bodyPr wrap="none" lIns="0" tIns="0" rIns="0" bIns="0" rtlCol="0" anchor="ctr"/>
          <a:lstStyle/>
          <a:p>
            <a:pPr algn="l" indent="0" marL="0">
              <a:buNone/>
            </a:pPr>
            <a:r>
              <a:rPr lang="en-US" sz="825" b="1" spc="149" kern="0" dirty="0">
                <a:solidFill>
                  <a:srgbClr val="94A3B8"/>
                </a:solidFill>
                <a:latin typeface="Sora" pitchFamily="34" charset="0"/>
                <a:ea typeface="Sora" pitchFamily="34" charset="-122"/>
                <a:cs typeface="Sora" pitchFamily="34" charset="-120"/>
              </a:rPr>
              <a:t>OBSERVATION</a:t>
            </a:r>
            <a:endParaRPr lang="en-US" sz="825" dirty="0"/>
          </a:p>
        </p:txBody>
      </p:sp>
      <p:sp>
        <p:nvSpPr>
          <p:cNvPr id="25" name="Text 17"/>
          <p:cNvSpPr txBox="1"/>
          <p:nvPr/>
        </p:nvSpPr>
        <p:spPr>
          <a:xfrm>
            <a:off x="5143500" y="4058107"/>
            <a:ext cx="4005072"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liner pinch + Cu 노출 (38 px 길이 구간)</a:t>
            </a:r>
            <a:endParaRPr lang="en-US" sz="1350" dirty="0"/>
          </a:p>
        </p:txBody>
      </p:sp>
      <p:sp>
        <p:nvSpPr>
          <p:cNvPr id="26" name="Text 18"/>
          <p:cNvSpPr txBox="1"/>
          <p:nvPr/>
        </p:nvSpPr>
        <p:spPr>
          <a:xfrm>
            <a:off x="5143500" y="4438498"/>
            <a:ext cx="3620110" cy="667512"/>
          </a:xfrm>
          <a:prstGeom prst="rect">
            <a:avLst/>
          </a:prstGeom>
          <a:noFill/>
          <a:ln/>
        </p:spPr>
        <p:txBody>
          <a:bodyPr wrap="square" lIns="0" tIns="0" rIns="0" bIns="0" rtlCol="0" anchor="ctr"/>
          <a:lstStyle/>
          <a:p>
            <a:pPr algn="l" indent="0" marL="0">
              <a:lnSpc>
                <a:spcPts val="1744"/>
              </a:lnSpc>
              <a:buNone/>
            </a:pPr>
            <a:r>
              <a:rPr lang="en-US" sz="1125" dirty="0">
                <a:solidFill>
                  <a:srgbClr val="455670"/>
                </a:solidFill>
                <a:latin typeface="Noto Sans KR" pitchFamily="34" charset="0"/>
                <a:ea typeface="Noto Sans KR" pitchFamily="34" charset="-122"/>
                <a:cs typeface="Noto Sans KR" pitchFamily="34" charset="-120"/>
              </a:rPr>
              <a:t>Trench side-wall에서 Co liner가 ~5 nm 길이로 끊어져 있고, 그 구간 Cu가 직접 IMD와 면해 있다. 동일 wafer 다른 위치에서 재현되지 않음 — 결함 1건성.</a:t>
            </a:r>
            <a:endParaRPr lang="en-US" sz="1125" dirty="0"/>
          </a:p>
        </p:txBody>
      </p:sp>
      <p:sp>
        <p:nvSpPr>
          <p:cNvPr id="27" name="Text 19"/>
          <p:cNvSpPr txBox="1"/>
          <p:nvPr/>
        </p:nvSpPr>
        <p:spPr>
          <a:xfrm>
            <a:off x="5143500" y="5293462"/>
            <a:ext cx="3620110" cy="133502"/>
          </a:xfrm>
          <a:prstGeom prst="rect">
            <a:avLst/>
          </a:prstGeom>
          <a:noFill/>
          <a:ln/>
        </p:spPr>
        <p:txBody>
          <a:bodyPr wrap="none" lIns="0" tIns="0" rIns="0" bIns="0" rtlCol="0" anchor="ctr"/>
          <a:lstStyle/>
          <a:p>
            <a:pPr algn="l" indent="0" marL="0">
              <a:buNone/>
            </a:pPr>
            <a:r>
              <a:rPr lang="en-US" sz="825" b="1" spc="149" kern="0" dirty="0">
                <a:solidFill>
                  <a:srgbClr val="94A3B8"/>
                </a:solidFill>
                <a:latin typeface="Sora" pitchFamily="34" charset="0"/>
                <a:ea typeface="Sora" pitchFamily="34" charset="-122"/>
                <a:cs typeface="Sora" pitchFamily="34" charset="-120"/>
              </a:rPr>
              <a:t>LIKELY CAUSE</a:t>
            </a:r>
            <a:endParaRPr lang="en-US" sz="825" dirty="0"/>
          </a:p>
        </p:txBody>
      </p:sp>
      <p:sp>
        <p:nvSpPr>
          <p:cNvPr id="28" name="Text 20"/>
          <p:cNvSpPr txBox="1"/>
          <p:nvPr/>
        </p:nvSpPr>
        <p:spPr>
          <a:xfrm>
            <a:off x="5143500" y="5502859"/>
            <a:ext cx="3620110" cy="448056"/>
          </a:xfrm>
          <a:prstGeom prst="rect">
            <a:avLst/>
          </a:prstGeom>
          <a:noFill/>
          <a:ln/>
        </p:spPr>
        <p:txBody>
          <a:bodyPr wrap="square" lIns="0" tIns="0" rIns="0" bIns="0" rtlCol="0" anchor="ctr"/>
          <a:lstStyle/>
          <a:p>
            <a:pPr algn="l" indent="0" marL="0">
              <a:lnSpc>
                <a:spcPts val="1744"/>
              </a:lnSpc>
              <a:buNone/>
            </a:pPr>
            <a:r>
              <a:rPr lang="en-US" sz="1125" dirty="0">
                <a:solidFill>
                  <a:srgbClr val="455670"/>
                </a:solidFill>
                <a:latin typeface="Noto Sans KR" pitchFamily="34" charset="0"/>
                <a:ea typeface="Noto Sans KR" pitchFamily="34" charset="-122"/>
                <a:cs typeface="Noto Sans KR" pitchFamily="34" charset="-120"/>
              </a:rPr>
              <a:t>PVD Co coverage shadowing — wafer edge에서 liner 두께가 CD target 대비 −62%까지 낮아짐</a:t>
            </a:r>
            <a:endParaRPr lang="en-US" sz="1125" dirty="0"/>
          </a:p>
        </p:txBody>
      </p:sp>
      <p:sp>
        <p:nvSpPr>
          <p:cNvPr id="29" name="Text 21"/>
          <p:cNvSpPr txBox="1"/>
          <p:nvPr/>
        </p:nvSpPr>
        <p:spPr>
          <a:xfrm>
            <a:off x="5143500" y="6136538"/>
            <a:ext cx="3620110" cy="133502"/>
          </a:xfrm>
          <a:prstGeom prst="rect">
            <a:avLst/>
          </a:prstGeom>
          <a:noFill/>
          <a:ln/>
        </p:spPr>
        <p:txBody>
          <a:bodyPr wrap="none" lIns="0" tIns="0" rIns="0" bIns="0" rtlCol="0" anchor="ctr"/>
          <a:lstStyle/>
          <a:p>
            <a:pPr algn="l" indent="0" marL="0">
              <a:buNone/>
            </a:pPr>
            <a:r>
              <a:rPr lang="en-US" sz="825" b="1" spc="149" kern="0" dirty="0">
                <a:solidFill>
                  <a:srgbClr val="94A3B8"/>
                </a:solidFill>
                <a:latin typeface="Sora" pitchFamily="34" charset="0"/>
                <a:ea typeface="Sora" pitchFamily="34" charset="-122"/>
                <a:cs typeface="Sora" pitchFamily="34" charset="-120"/>
              </a:rPr>
              <a:t>CD impact</a:t>
            </a:r>
            <a:endParaRPr lang="en-US" sz="825" dirty="0"/>
          </a:p>
        </p:txBody>
      </p:sp>
      <p:sp>
        <p:nvSpPr>
          <p:cNvPr id="30" name="Text 22"/>
          <p:cNvSpPr txBox="1"/>
          <p:nvPr/>
        </p:nvSpPr>
        <p:spPr>
          <a:xfrm>
            <a:off x="5143500" y="6345936"/>
            <a:ext cx="3620110" cy="448056"/>
          </a:xfrm>
          <a:prstGeom prst="rect">
            <a:avLst/>
          </a:prstGeom>
          <a:noFill/>
          <a:ln/>
        </p:spPr>
        <p:txBody>
          <a:bodyPr wrap="square" lIns="0" tIns="0" rIns="0" bIns="0" rtlCol="0" anchor="ctr"/>
          <a:lstStyle/>
          <a:p>
            <a:pPr algn="l" indent="0" marL="0">
              <a:lnSpc>
                <a:spcPts val="1744"/>
              </a:lnSpc>
              <a:buNone/>
            </a:pPr>
            <a:r>
              <a:rPr lang="en-US" sz="1125" dirty="0">
                <a:solidFill>
                  <a:srgbClr val="455670"/>
                </a:solidFill>
                <a:latin typeface="Noto Sans KR" pitchFamily="34" charset="0"/>
                <a:ea typeface="Noto Sans KR" pitchFamily="34" charset="-122"/>
                <a:cs typeface="Noto Sans KR" pitchFamily="34" charset="-120"/>
              </a:rPr>
              <a:t>국부 AASI가 +3.4 nm drift (wafer mean Δ +0.12 nm 영향은 미미)</a:t>
            </a:r>
            <a:endParaRPr lang="en-US" sz="1125" dirty="0"/>
          </a:p>
        </p:txBody>
      </p:sp>
      <p:sp>
        <p:nvSpPr>
          <p:cNvPr id="31" name="Text 23"/>
          <p:cNvSpPr txBox="1"/>
          <p:nvPr/>
        </p:nvSpPr>
        <p:spPr>
          <a:xfrm>
            <a:off x="9715500" y="3133649"/>
            <a:ext cx="2382012" cy="143561"/>
          </a:xfrm>
          <a:prstGeom prst="rect">
            <a:avLst/>
          </a:prstGeom>
          <a:noFill/>
          <a:ln/>
        </p:spPr>
        <p:txBody>
          <a:bodyPr wrap="none" lIns="0" tIns="0" rIns="0" bIns="0" rtlCol="0" anchor="ctr"/>
          <a:lstStyle/>
          <a:p>
            <a:pPr algn="l" indent="0" marL="0">
              <a:buNone/>
            </a:pPr>
            <a:r>
              <a:rPr lang="en-US" sz="900" b="1" spc="252" kern="0" dirty="0">
                <a:solidFill>
                  <a:srgbClr val="B85C3D"/>
                </a:solidFill>
                <a:latin typeface="Sora" pitchFamily="34" charset="0"/>
                <a:ea typeface="Sora" pitchFamily="34" charset="-122"/>
                <a:cs typeface="Sora" pitchFamily="34" charset="-120"/>
              </a:rPr>
              <a:t>CASE · 02</a:t>
            </a:r>
            <a:endParaRPr lang="en-US" sz="900" dirty="0"/>
          </a:p>
        </p:txBody>
      </p:sp>
      <p:sp>
        <p:nvSpPr>
          <p:cNvPr id="32" name="Text 24"/>
          <p:cNvSpPr txBox="1"/>
          <p:nvPr/>
        </p:nvSpPr>
        <p:spPr>
          <a:xfrm>
            <a:off x="9715500" y="3333902"/>
            <a:ext cx="2833726" cy="381305"/>
          </a:xfrm>
          <a:prstGeom prst="rect">
            <a:avLst/>
          </a:prstGeom>
          <a:noFill/>
          <a:ln/>
        </p:spPr>
        <p:txBody>
          <a:bodyPr wrap="none" lIns="0" tIns="0" rIns="0" bIns="0" rtlCol="0" anchor="ctr"/>
          <a:lstStyle/>
          <a:p>
            <a:pPr algn="l" indent="0" marL="0">
              <a:buNone/>
            </a:pPr>
            <a:r>
              <a:rPr lang="en-US" sz="2100" b="1" dirty="0">
                <a:solidFill>
                  <a:srgbClr val="14213D"/>
                </a:solidFill>
                <a:latin typeface="Noto Sans KR" pitchFamily="34" charset="0"/>
                <a:ea typeface="Noto Sans KR" pitchFamily="34" charset="-122"/>
                <a:cs typeface="Noto Sans KR" pitchFamily="34" charset="-120"/>
              </a:rPr>
              <a:t>sub-surface crack</a:t>
            </a:r>
            <a:endParaRPr lang="en-US" sz="2100" dirty="0"/>
          </a:p>
        </p:txBody>
      </p:sp>
      <p:sp>
        <p:nvSpPr>
          <p:cNvPr id="33" name="Text 25"/>
          <p:cNvSpPr txBox="1"/>
          <p:nvPr/>
        </p:nvSpPr>
        <p:spPr>
          <a:xfrm>
            <a:off x="15973654" y="3124505"/>
            <a:ext cx="1172261" cy="162763"/>
          </a:xfrm>
          <a:prstGeom prst="rect">
            <a:avLst/>
          </a:prstGeom>
          <a:noFill/>
          <a:ln/>
        </p:spPr>
        <p:txBody>
          <a:bodyPr wrap="none" lIns="0" tIns="0" rIns="0" bIns="0" rtlCol="0" anchor="ctr"/>
          <a:lstStyle/>
          <a:p>
            <a:pPr algn="r" indent="0" marL="0">
              <a:buNone/>
            </a:pPr>
            <a:r>
              <a:rPr lang="en-US" sz="975" spc="176" kern="0" dirty="0">
                <a:solidFill>
                  <a:srgbClr val="94A3B8"/>
                </a:solidFill>
                <a:latin typeface="Sora" pitchFamily="34" charset="0"/>
                <a:ea typeface="Sora" pitchFamily="34" charset="-122"/>
                <a:cs typeface="Sora" pitchFamily="34" charset="-120"/>
              </a:rPr>
              <a:t>W06 · CENTER</a:t>
            </a:r>
            <a:endParaRPr lang="en-US" sz="975" dirty="0"/>
          </a:p>
        </p:txBody>
      </p:sp>
      <p:sp>
        <p:nvSpPr>
          <p:cNvPr id="34" name="Text 26"/>
          <p:cNvSpPr txBox="1"/>
          <p:nvPr/>
        </p:nvSpPr>
        <p:spPr>
          <a:xfrm>
            <a:off x="15529255" y="3343046"/>
            <a:ext cx="1616659" cy="191110"/>
          </a:xfrm>
          <a:prstGeom prst="rect">
            <a:avLst/>
          </a:prstGeom>
          <a:noFill/>
          <a:ln/>
        </p:spPr>
        <p:txBody>
          <a:bodyPr wrap="none" lIns="0" tIns="0" rIns="0" bIns="0" rtlCol="0" anchor="ctr"/>
          <a:lstStyle/>
          <a:p>
            <a:pPr algn="r" indent="0" marL="0">
              <a:buNone/>
            </a:pPr>
            <a:r>
              <a:rPr lang="en-US" sz="1050" dirty="0">
                <a:solidFill>
                  <a:srgbClr val="455670"/>
                </a:solidFill>
                <a:latin typeface="Noto Sans KR" pitchFamily="34" charset="0"/>
                <a:ea typeface="Noto Sans KR" pitchFamily="34" charset="-122"/>
                <a:cs typeface="Noto Sans KR" pitchFamily="34" charset="-120"/>
              </a:rPr>
              <a:t>Group C · Co liner</a:t>
            </a:r>
            <a:endParaRPr lang="en-US" sz="1050" dirty="0"/>
          </a:p>
        </p:txBody>
      </p:sp>
      <p:sp>
        <p:nvSpPr>
          <p:cNvPr id="35" name="Text 27"/>
          <p:cNvSpPr txBox="1"/>
          <p:nvPr/>
        </p:nvSpPr>
        <p:spPr>
          <a:xfrm>
            <a:off x="9715500" y="7105802"/>
            <a:ext cx="3620110" cy="133502"/>
          </a:xfrm>
          <a:prstGeom prst="rect">
            <a:avLst/>
          </a:prstGeom>
          <a:noFill/>
          <a:ln/>
        </p:spPr>
        <p:txBody>
          <a:bodyPr wrap="none" lIns="0" tIns="0" rIns="0" bIns="0" rtlCol="0" anchor="ctr"/>
          <a:lstStyle/>
          <a:p>
            <a:pPr algn="l" indent="0" marL="0">
              <a:buNone/>
            </a:pPr>
            <a:r>
              <a:rPr lang="en-US" sz="825" b="1" spc="149" kern="0" dirty="0">
                <a:solidFill>
                  <a:srgbClr val="94A3B8"/>
                </a:solidFill>
                <a:latin typeface="Sora" pitchFamily="34" charset="0"/>
                <a:ea typeface="Sora" pitchFamily="34" charset="-122"/>
                <a:cs typeface="Sora" pitchFamily="34" charset="-120"/>
              </a:rPr>
              <a:t>SOURCE</a:t>
            </a:r>
            <a:endParaRPr lang="en-US" sz="825" dirty="0"/>
          </a:p>
        </p:txBody>
      </p:sp>
      <p:sp>
        <p:nvSpPr>
          <p:cNvPr id="36" name="Text 28"/>
          <p:cNvSpPr txBox="1"/>
          <p:nvPr/>
        </p:nvSpPr>
        <p:spPr>
          <a:xfrm>
            <a:off x="9715500" y="7295998"/>
            <a:ext cx="3620110" cy="372161"/>
          </a:xfrm>
          <a:prstGeom prst="rect">
            <a:avLst/>
          </a:prstGeom>
          <a:noFill/>
          <a:ln/>
        </p:spPr>
        <p:txBody>
          <a:bodyPr wrap="square" lIns="0" tIns="0" rIns="0" bIns="0" rtlCol="0" anchor="ctr"/>
          <a:lstStyle/>
          <a:p>
            <a:pPr algn="l" indent="0" marL="0">
              <a:lnSpc>
                <a:spcPts val="1463"/>
              </a:lnSpc>
              <a:buNone/>
            </a:pPr>
            <a:r>
              <a:rPr lang="en-US" sz="975" dirty="0">
                <a:solidFill>
                  <a:srgbClr val="455670"/>
                </a:solidFill>
                <a:latin typeface="Noto Sans KR" pitchFamily="34" charset="0"/>
                <a:ea typeface="Noto Sans KR" pitchFamily="34" charset="-122"/>
                <a:cs typeface="Noto Sans KR" pitchFamily="34" charset="-120"/>
              </a:rPr>
              <a:t>Nature / Communications Engineering — "Sub-micron cracks in 3D interconnect" (2024)</a:t>
            </a:r>
            <a:endParaRPr lang="en-US" sz="975" dirty="0"/>
          </a:p>
        </p:txBody>
      </p:sp>
      <p:sp>
        <p:nvSpPr>
          <p:cNvPr id="37" name="Text 29"/>
          <p:cNvSpPr txBox="1"/>
          <p:nvPr/>
        </p:nvSpPr>
        <p:spPr>
          <a:xfrm>
            <a:off x="13620902" y="3847795"/>
            <a:ext cx="3620110" cy="133502"/>
          </a:xfrm>
          <a:prstGeom prst="rect">
            <a:avLst/>
          </a:prstGeom>
          <a:noFill/>
          <a:ln/>
        </p:spPr>
        <p:txBody>
          <a:bodyPr wrap="none" lIns="0" tIns="0" rIns="0" bIns="0" rtlCol="0" anchor="ctr"/>
          <a:lstStyle/>
          <a:p>
            <a:pPr algn="l" indent="0" marL="0">
              <a:buNone/>
            </a:pPr>
            <a:r>
              <a:rPr lang="en-US" sz="825" b="1" spc="149" kern="0" dirty="0">
                <a:solidFill>
                  <a:srgbClr val="94A3B8"/>
                </a:solidFill>
                <a:latin typeface="Sora" pitchFamily="34" charset="0"/>
                <a:ea typeface="Sora" pitchFamily="34" charset="-122"/>
                <a:cs typeface="Sora" pitchFamily="34" charset="-120"/>
              </a:rPr>
              <a:t>OBSERVATION</a:t>
            </a:r>
            <a:endParaRPr lang="en-US" sz="825" dirty="0"/>
          </a:p>
        </p:txBody>
      </p:sp>
      <p:sp>
        <p:nvSpPr>
          <p:cNvPr id="38" name="Text 30"/>
          <p:cNvSpPr txBox="1"/>
          <p:nvPr/>
        </p:nvSpPr>
        <p:spPr>
          <a:xfrm>
            <a:off x="13620902" y="4058107"/>
            <a:ext cx="3620110" cy="247802"/>
          </a:xfrm>
          <a:prstGeom prst="rect">
            <a:avLst/>
          </a:prstGeom>
          <a:noFill/>
          <a:ln/>
        </p:spPr>
        <p:txBody>
          <a:bodyPr wrap="none" lIns="0" tIns="0" rIns="0" bIns="0" rtlCol="0" anchor="ctr"/>
          <a:lstStyle/>
          <a:p>
            <a:pPr algn="l" indent="0" marL="0">
              <a:buNone/>
            </a:pPr>
            <a:r>
              <a:rPr lang="en-US" sz="1350" b="1" dirty="0">
                <a:solidFill>
                  <a:srgbClr val="14213D"/>
                </a:solidFill>
                <a:latin typeface="Noto Sans KR" pitchFamily="34" charset="0"/>
                <a:ea typeface="Noto Sans KR" pitchFamily="34" charset="-122"/>
                <a:cs typeface="Noto Sans KR" pitchFamily="34" charset="-120"/>
              </a:rPr>
              <a:t>low-k IMD crack + Cu line lift</a:t>
            </a:r>
            <a:endParaRPr lang="en-US" sz="1350" dirty="0"/>
          </a:p>
        </p:txBody>
      </p:sp>
      <p:sp>
        <p:nvSpPr>
          <p:cNvPr id="39" name="Text 31"/>
          <p:cNvSpPr txBox="1"/>
          <p:nvPr/>
        </p:nvSpPr>
        <p:spPr>
          <a:xfrm>
            <a:off x="13620902" y="4438498"/>
            <a:ext cx="3620110" cy="448056"/>
          </a:xfrm>
          <a:prstGeom prst="rect">
            <a:avLst/>
          </a:prstGeom>
          <a:noFill/>
          <a:ln/>
        </p:spPr>
        <p:txBody>
          <a:bodyPr wrap="square" lIns="0" tIns="0" rIns="0" bIns="0" rtlCol="0" anchor="ctr"/>
          <a:lstStyle/>
          <a:p>
            <a:pPr algn="l" indent="0" marL="0">
              <a:lnSpc>
                <a:spcPts val="1744"/>
              </a:lnSpc>
              <a:buNone/>
            </a:pPr>
            <a:r>
              <a:rPr lang="en-US" sz="1125" dirty="0">
                <a:solidFill>
                  <a:srgbClr val="455670"/>
                </a:solidFill>
                <a:latin typeface="Noto Sans KR" pitchFamily="34" charset="0"/>
                <a:ea typeface="Noto Sans KR" pitchFamily="34" charset="-122"/>
                <a:cs typeface="Noto Sans KR" pitchFamily="34" charset="-120"/>
              </a:rPr>
              <a:t>Wafer 중심부 die에서 low-k IMD 내부 crack과 인접 Cu 라인 부양(lift) 동시 관측. 길이 ≈ 220 nm, IMD 박리.</a:t>
            </a:r>
            <a:endParaRPr lang="en-US" sz="1125" dirty="0"/>
          </a:p>
        </p:txBody>
      </p:sp>
      <p:sp>
        <p:nvSpPr>
          <p:cNvPr id="40" name="Text 32"/>
          <p:cNvSpPr txBox="1"/>
          <p:nvPr/>
        </p:nvSpPr>
        <p:spPr>
          <a:xfrm>
            <a:off x="13620902" y="5072177"/>
            <a:ext cx="3620110" cy="133502"/>
          </a:xfrm>
          <a:prstGeom prst="rect">
            <a:avLst/>
          </a:prstGeom>
          <a:noFill/>
          <a:ln/>
        </p:spPr>
        <p:txBody>
          <a:bodyPr wrap="none" lIns="0" tIns="0" rIns="0" bIns="0" rtlCol="0" anchor="ctr"/>
          <a:lstStyle/>
          <a:p>
            <a:pPr algn="l" indent="0" marL="0">
              <a:buNone/>
            </a:pPr>
            <a:r>
              <a:rPr lang="en-US" sz="825" b="1" spc="149" kern="0" dirty="0">
                <a:solidFill>
                  <a:srgbClr val="94A3B8"/>
                </a:solidFill>
                <a:latin typeface="Sora" pitchFamily="34" charset="0"/>
                <a:ea typeface="Sora" pitchFamily="34" charset="-122"/>
                <a:cs typeface="Sora" pitchFamily="34" charset="-120"/>
              </a:rPr>
              <a:t>LIKELY CAUSE</a:t>
            </a:r>
            <a:endParaRPr lang="en-US" sz="825" dirty="0"/>
          </a:p>
        </p:txBody>
      </p:sp>
      <p:sp>
        <p:nvSpPr>
          <p:cNvPr id="41" name="Text 33"/>
          <p:cNvSpPr txBox="1"/>
          <p:nvPr/>
        </p:nvSpPr>
        <p:spPr>
          <a:xfrm>
            <a:off x="13620902" y="5281574"/>
            <a:ext cx="3620110" cy="448056"/>
          </a:xfrm>
          <a:prstGeom prst="rect">
            <a:avLst/>
          </a:prstGeom>
          <a:noFill/>
          <a:ln/>
        </p:spPr>
        <p:txBody>
          <a:bodyPr wrap="square" lIns="0" tIns="0" rIns="0" bIns="0" rtlCol="0" anchor="ctr"/>
          <a:lstStyle/>
          <a:p>
            <a:pPr algn="l" indent="0" marL="0">
              <a:lnSpc>
                <a:spcPts val="1744"/>
              </a:lnSpc>
              <a:buNone/>
            </a:pPr>
            <a:r>
              <a:rPr lang="en-US" sz="1125" dirty="0">
                <a:solidFill>
                  <a:srgbClr val="455670"/>
                </a:solidFill>
                <a:latin typeface="Noto Sans KR" pitchFamily="34" charset="0"/>
                <a:ea typeface="Noto Sans KR" pitchFamily="34" charset="-122"/>
                <a:cs typeface="Noto Sans KR" pitchFamily="34" charset="-120"/>
              </a:rPr>
              <a:t>CMP 압력 hotspot — Group C의 거친 etch profile과 결합돼 stress 집중 발생</a:t>
            </a:r>
            <a:endParaRPr lang="en-US" sz="1125" dirty="0"/>
          </a:p>
        </p:txBody>
      </p:sp>
      <p:sp>
        <p:nvSpPr>
          <p:cNvPr id="42" name="Text 34"/>
          <p:cNvSpPr txBox="1"/>
          <p:nvPr/>
        </p:nvSpPr>
        <p:spPr>
          <a:xfrm>
            <a:off x="13620902" y="5915254"/>
            <a:ext cx="3620110" cy="133502"/>
          </a:xfrm>
          <a:prstGeom prst="rect">
            <a:avLst/>
          </a:prstGeom>
          <a:noFill/>
          <a:ln/>
        </p:spPr>
        <p:txBody>
          <a:bodyPr wrap="none" lIns="0" tIns="0" rIns="0" bIns="0" rtlCol="0" anchor="ctr"/>
          <a:lstStyle/>
          <a:p>
            <a:pPr algn="l" indent="0" marL="0">
              <a:buNone/>
            </a:pPr>
            <a:r>
              <a:rPr lang="en-US" sz="825" b="1" spc="149" kern="0" dirty="0">
                <a:solidFill>
                  <a:srgbClr val="94A3B8"/>
                </a:solidFill>
                <a:latin typeface="Sora" pitchFamily="34" charset="0"/>
                <a:ea typeface="Sora" pitchFamily="34" charset="-122"/>
                <a:cs typeface="Sora" pitchFamily="34" charset="-120"/>
              </a:rPr>
              <a:t>CD impact</a:t>
            </a:r>
            <a:endParaRPr lang="en-US" sz="825" dirty="0"/>
          </a:p>
        </p:txBody>
      </p:sp>
      <p:sp>
        <p:nvSpPr>
          <p:cNvPr id="43" name="Text 35"/>
          <p:cNvSpPr txBox="1"/>
          <p:nvPr/>
        </p:nvSpPr>
        <p:spPr>
          <a:xfrm>
            <a:off x="13620902" y="6124651"/>
            <a:ext cx="3620110" cy="448056"/>
          </a:xfrm>
          <a:prstGeom prst="rect">
            <a:avLst/>
          </a:prstGeom>
          <a:noFill/>
          <a:ln/>
        </p:spPr>
        <p:txBody>
          <a:bodyPr wrap="square" lIns="0" tIns="0" rIns="0" bIns="0" rtlCol="0" anchor="ctr"/>
          <a:lstStyle/>
          <a:p>
            <a:pPr algn="l" indent="0" marL="0">
              <a:lnSpc>
                <a:spcPts val="1744"/>
              </a:lnSpc>
              <a:buNone/>
            </a:pPr>
            <a:r>
              <a:rPr lang="en-US" sz="1125" dirty="0">
                <a:solidFill>
                  <a:srgbClr val="455670"/>
                </a:solidFill>
                <a:latin typeface="Noto Sans KR" pitchFamily="34" charset="0"/>
                <a:ea typeface="Noto Sans KR" pitchFamily="34" charset="-122"/>
                <a:cs typeface="Noto Sans KR" pitchFamily="34" charset="-120"/>
              </a:rPr>
              <a:t>ACI 측정 site 중 1 site out-of-trend, 레이저 FA 추가 의뢰 (lot 1건성)</a:t>
            </a:r>
            <a:endParaRPr lang="en-US" sz="1125" dirty="0"/>
          </a:p>
        </p:txBody>
      </p:sp>
      <p:sp>
        <p:nvSpPr>
          <p:cNvPr id="44" name="Text 36"/>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45" name="Image 5" descr="gen-dedup-0fab43ff77763f9ef5006d863dc8b3ec.png">    </p:cNvPr>
          <p:cNvPicPr>
            <a:picLocks noChangeAspect="1"/>
          </p:cNvPicPr>
          <p:nvPr/>
        </p:nvPicPr>
        <p:blipFill>
          <a:blip r:embed="rId6"/>
          <a:srcRect l="-2083" r="-2083" t="0" b="0"/>
          <a:stretch/>
        </p:blipFill>
        <p:spPr>
          <a:xfrm>
            <a:off x="2656332" y="9096451"/>
            <a:ext cx="571500" cy="9144"/>
          </a:xfrm>
          <a:prstGeom prst="rect">
            <a:avLst/>
          </a:prstGeom>
        </p:spPr>
      </p:pic>
      <p:sp>
        <p:nvSpPr>
          <p:cNvPr id="46" name="Text 37"/>
          <p:cNvSpPr txBox="1"/>
          <p:nvPr/>
        </p:nvSpPr>
        <p:spPr>
          <a:xfrm>
            <a:off x="3456432" y="8934602"/>
            <a:ext cx="12335256"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두 결함 모두 Group C wafer에서만 발생 — wafer distribution 결과에서 +side drift 신호의 단서를 단면에서 확인 가능.</a:t>
            </a:r>
            <a:endParaRPr lang="en-US" sz="1800" dirty="0"/>
          </a:p>
        </p:txBody>
      </p:sp>
      <p:sp>
        <p:nvSpPr>
          <p:cNvPr id="47" name="Text 38"/>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48" name="Text 39"/>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2857500"/>
            <a:ext cx="11811305" cy="5333695"/>
          </a:xfrm>
          <a:prstGeom prst="rect">
            <a:avLst/>
          </a:prstGeom>
          <a:solidFill>
            <a:srgbClr val="FFFFFF"/>
          </a:solidFill>
          <a:ln w="12700">
            <a:solidFill>
              <a:srgbClr val="C8D3E2"/>
            </a:solidFill>
            <a:prstDash val="solid"/>
          </a:ln>
        </p:spPr>
      </p:sp>
      <p:sp>
        <p:nvSpPr>
          <p:cNvPr id="5" name="Shape 1"/>
          <p:cNvSpPr/>
          <p:nvPr/>
        </p:nvSpPr>
        <p:spPr>
          <a:xfrm>
            <a:off x="12954305" y="2857500"/>
            <a:ext cx="4476902" cy="5333695"/>
          </a:xfrm>
          <a:prstGeom prst="rect">
            <a:avLst/>
          </a:prstGeom>
          <a:solidFill>
            <a:srgbClr val="FFFFFF"/>
          </a:solidFill>
          <a:ln w="12700">
            <a:solidFill>
              <a:srgbClr val="C8D3E2"/>
            </a:solidFill>
            <a:prstDash val="solid"/>
          </a:ln>
        </p:spPr>
      </p:sp>
      <p:sp>
        <p:nvSpPr>
          <p:cNvPr id="6" name="Shape 2"/>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7" name="Image 1" descr="gen-dedup-3c3f0190f3348a605df0239cea9995bf.png">    </p:cNvPr>
          <p:cNvPicPr>
            <a:picLocks noChangeAspect="1"/>
          </p:cNvPicPr>
          <p:nvPr/>
        </p:nvPicPr>
        <p:blipFill>
          <a:blip r:embed="rId2"/>
          <a:srcRect l="-2083" r="-2083" t="0" b="0"/>
          <a:stretch/>
        </p:blipFill>
        <p:spPr>
          <a:xfrm>
            <a:off x="0" y="9562795"/>
            <a:ext cx="18288000" cy="9144"/>
          </a:xfrm>
          <a:prstGeom prst="rect">
            <a:avLst/>
          </a:prstGeom>
        </p:spPr>
      </p:pic>
      <p:pic>
        <p:nvPicPr>
          <p:cNvPr id="8" name="Image 2" descr="gen-dedup-12d7cb0a28bbcaca3e8d32c19dc56a81.png">    </p:cNvPr>
          <p:cNvPicPr>
            <a:picLocks noChangeAspect="1"/>
          </p:cNvPicPr>
          <p:nvPr/>
        </p:nvPicPr>
        <p:blipFill>
          <a:blip r:embed="rId3"/>
          <a:srcRect l="0" r="0" t="-424" b="-424"/>
          <a:stretch/>
        </p:blipFill>
        <p:spPr>
          <a:xfrm>
            <a:off x="857707" y="657454"/>
            <a:ext cx="323698" cy="19202"/>
          </a:xfrm>
          <a:prstGeom prst="rect">
            <a:avLst/>
          </a:prstGeom>
        </p:spPr>
      </p:pic>
      <p:sp>
        <p:nvSpPr>
          <p:cNvPr id="9" name="Text 3"/>
          <p:cNvSpPr txBox="1"/>
          <p:nvPr/>
        </p:nvSpPr>
        <p:spPr>
          <a:xfrm>
            <a:off x="1314907" y="571500"/>
            <a:ext cx="2181758" cy="191110"/>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11 · W2W 비교</a:t>
            </a:r>
            <a:endParaRPr lang="en-US" sz="1050" dirty="0"/>
          </a:p>
        </p:txBody>
      </p:sp>
      <p:sp>
        <p:nvSpPr>
          <p:cNvPr id="10" name="Shape 4"/>
          <p:cNvSpPr/>
          <p:nvPr/>
        </p:nvSpPr>
        <p:spPr>
          <a:xfrm>
            <a:off x="16865194" y="566928"/>
            <a:ext cx="57607" cy="57607"/>
          </a:xfrm>
          <a:prstGeom prst="ellipse">
            <a:avLst/>
          </a:prstGeom>
          <a:solidFill>
            <a:srgbClr val="1E5F9C"/>
          </a:solidFill>
          <a:ln w="12700">
            <a:solidFill>
              <a:srgbClr val="FFFFFF">
                <a:alpha val="0"/>
              </a:srgbClr>
            </a:solidFill>
            <a:prstDash val="solid"/>
          </a:ln>
        </p:spPr>
      </p:sp>
      <p:sp>
        <p:nvSpPr>
          <p:cNvPr id="11" name="Text 5"/>
          <p:cNvSpPr txBox="1"/>
          <p:nvPr/>
        </p:nvSpPr>
        <p:spPr>
          <a:xfrm>
            <a:off x="16750894" y="514807"/>
            <a:ext cx="780898"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11 / 12</a:t>
            </a:r>
            <a:endParaRPr lang="en-US" sz="975" dirty="0"/>
          </a:p>
        </p:txBody>
      </p:sp>
      <p:sp>
        <p:nvSpPr>
          <p:cNvPr id="12" name="Text 6"/>
          <p:cNvSpPr txBox="1"/>
          <p:nvPr/>
        </p:nvSpPr>
        <p:spPr>
          <a:xfrm>
            <a:off x="838505" y="1143000"/>
            <a:ext cx="1619311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Wafer-to-Wafer 비교</a:t>
            </a:r>
            <a:endParaRPr lang="en-US" sz="4500" dirty="0"/>
          </a:p>
        </p:txBody>
      </p:sp>
      <p:sp>
        <p:nvSpPr>
          <p:cNvPr id="13" name="Text 7"/>
          <p:cNvSpPr txBox="1"/>
          <p:nvPr/>
        </p:nvSpPr>
        <p:spPr>
          <a:xfrm>
            <a:off x="838505" y="1876349"/>
            <a:ext cx="1619311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동일 split 안에서 wafer 사이 spread — split별 4개 CD 항목의 W2W Δ( |W_a − W_b| ) 와 split 전체 평균.</a:t>
            </a:r>
            <a:endParaRPr lang="en-US" sz="1650" dirty="0"/>
          </a:p>
        </p:txBody>
      </p:sp>
      <p:sp>
        <p:nvSpPr>
          <p:cNvPr id="14" name="Text 8"/>
          <p:cNvSpPr txBox="1"/>
          <p:nvPr/>
        </p:nvSpPr>
        <p:spPr>
          <a:xfrm>
            <a:off x="1143000" y="3124505"/>
            <a:ext cx="11239805" cy="162763"/>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W2W SPREAD · Δ nm</a:t>
            </a:r>
            <a:endParaRPr lang="en-US" sz="900" dirty="0"/>
          </a:p>
        </p:txBody>
      </p:sp>
      <p:sp>
        <p:nvSpPr>
          <p:cNvPr id="15" name="Text 9"/>
          <p:cNvSpPr txBox="1"/>
          <p:nvPr/>
        </p:nvSpPr>
        <p:spPr>
          <a:xfrm>
            <a:off x="1143000" y="3343046"/>
            <a:ext cx="11239805"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split 내부 wafer pair spread</a:t>
            </a:r>
            <a:endParaRPr lang="en-US" sz="1800" dirty="0"/>
          </a:p>
        </p:txBody>
      </p:sp>
      <p:sp>
        <p:nvSpPr>
          <p:cNvPr id="16" name="Shape 10"/>
          <p:cNvSpPr/>
          <p:nvPr/>
        </p:nvSpPr>
        <p:spPr>
          <a:xfrm>
            <a:off x="1143000" y="4162349"/>
            <a:ext cx="11239805" cy="19202"/>
          </a:xfrm>
          <a:prstGeom prst="rect">
            <a:avLst/>
          </a:prstGeom>
          <a:solidFill>
            <a:srgbClr val="14213D"/>
          </a:solidFill>
          <a:ln w="12700">
            <a:solidFill>
              <a:srgbClr val="14213D">
                <a:alpha val="0"/>
              </a:srgbClr>
            </a:solidFill>
            <a:prstDash val="solid"/>
          </a:ln>
        </p:spPr>
      </p:sp>
      <p:sp>
        <p:nvSpPr>
          <p:cNvPr id="17" name="Text 11"/>
          <p:cNvSpPr txBox="1"/>
          <p:nvPr/>
        </p:nvSpPr>
        <p:spPr>
          <a:xfrm>
            <a:off x="1143000" y="3847795"/>
            <a:ext cx="2477110" cy="162763"/>
          </a:xfrm>
          <a:prstGeom prst="rect">
            <a:avLst/>
          </a:prstGeom>
          <a:noFill/>
          <a:ln/>
        </p:spPr>
        <p:txBody>
          <a:bodyPr wrap="none" lIns="0" tIns="0" rIns="0" bIns="0" rtlCol="0" anchor="ctr"/>
          <a:lstStyle/>
          <a:p>
            <a:pPr algn="l" indent="0" marL="0">
              <a:buNone/>
            </a:pPr>
            <a:r>
              <a:rPr lang="en-US" sz="900" b="1" spc="162" kern="0" dirty="0">
                <a:solidFill>
                  <a:srgbClr val="94A3B8"/>
                </a:solidFill>
                <a:latin typeface="Sora" pitchFamily="34" charset="0"/>
                <a:ea typeface="Sora" pitchFamily="34" charset="-122"/>
                <a:cs typeface="Sora" pitchFamily="34" charset="-120"/>
              </a:rPr>
              <a:t>SPLIT (PAIR)</a:t>
            </a:r>
            <a:endParaRPr lang="en-US" sz="900" dirty="0"/>
          </a:p>
        </p:txBody>
      </p:sp>
      <p:sp>
        <p:nvSpPr>
          <p:cNvPr id="18" name="Text 12"/>
          <p:cNvSpPr txBox="1"/>
          <p:nvPr/>
        </p:nvSpPr>
        <p:spPr>
          <a:xfrm>
            <a:off x="3619195" y="3847795"/>
            <a:ext cx="1752905"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AASI</a:t>
            </a:r>
            <a:endParaRPr lang="en-US" sz="900" dirty="0"/>
          </a:p>
        </p:txBody>
      </p:sp>
      <p:sp>
        <p:nvSpPr>
          <p:cNvPr id="19" name="Text 13"/>
          <p:cNvSpPr txBox="1"/>
          <p:nvPr/>
        </p:nvSpPr>
        <p:spPr>
          <a:xfrm>
            <a:off x="5372100" y="3847795"/>
            <a:ext cx="1752905"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ASEI</a:t>
            </a:r>
            <a:endParaRPr lang="en-US" sz="900" dirty="0"/>
          </a:p>
        </p:txBody>
      </p:sp>
      <p:sp>
        <p:nvSpPr>
          <p:cNvPr id="20" name="Text 14"/>
          <p:cNvSpPr txBox="1"/>
          <p:nvPr/>
        </p:nvSpPr>
        <p:spPr>
          <a:xfrm>
            <a:off x="7125005" y="3847795"/>
            <a:ext cx="1752905"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AMI</a:t>
            </a:r>
            <a:endParaRPr lang="en-US" sz="900" dirty="0"/>
          </a:p>
        </p:txBody>
      </p:sp>
      <p:sp>
        <p:nvSpPr>
          <p:cNvPr id="21" name="Text 15"/>
          <p:cNvSpPr txBox="1"/>
          <p:nvPr/>
        </p:nvSpPr>
        <p:spPr>
          <a:xfrm>
            <a:off x="8876995" y="3847795"/>
            <a:ext cx="1752905"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ACI</a:t>
            </a:r>
            <a:endParaRPr lang="en-US" sz="900" dirty="0"/>
          </a:p>
        </p:txBody>
      </p:sp>
      <p:sp>
        <p:nvSpPr>
          <p:cNvPr id="22" name="Text 16"/>
          <p:cNvSpPr txBox="1"/>
          <p:nvPr/>
        </p:nvSpPr>
        <p:spPr>
          <a:xfrm>
            <a:off x="10629900" y="3847795"/>
            <a:ext cx="1752905" cy="162763"/>
          </a:xfrm>
          <a:prstGeom prst="rect">
            <a:avLst/>
          </a:prstGeom>
          <a:noFill/>
          <a:ln/>
        </p:spPr>
        <p:txBody>
          <a:bodyPr wrap="none" lIns="0" tIns="0" rIns="0" bIns="0" rtlCol="0" anchor="ctr"/>
          <a:lstStyle/>
          <a:p>
            <a:pPr algn="r" indent="0" marL="0">
              <a:buNone/>
            </a:pPr>
            <a:r>
              <a:rPr lang="en-US" sz="900" b="1" spc="162" kern="0" dirty="0">
                <a:solidFill>
                  <a:srgbClr val="94A3B8"/>
                </a:solidFill>
                <a:latin typeface="Sora" pitchFamily="34" charset="0"/>
                <a:ea typeface="Sora" pitchFamily="34" charset="-122"/>
                <a:cs typeface="Sora" pitchFamily="34" charset="-120"/>
              </a:rPr>
              <a:t>AVG Δ</a:t>
            </a:r>
            <a:endParaRPr lang="en-US" sz="900" dirty="0"/>
          </a:p>
        </p:txBody>
      </p:sp>
      <p:sp>
        <p:nvSpPr>
          <p:cNvPr id="23" name="Shape 17"/>
          <p:cNvSpPr/>
          <p:nvPr/>
        </p:nvSpPr>
        <p:spPr>
          <a:xfrm>
            <a:off x="1143000" y="5181905"/>
            <a:ext cx="11239805" cy="9144"/>
          </a:xfrm>
          <a:prstGeom prst="rect">
            <a:avLst/>
          </a:prstGeom>
          <a:solidFill>
            <a:srgbClr val="DCE3EE"/>
          </a:solidFill>
          <a:ln w="12700">
            <a:solidFill>
              <a:srgbClr val="DCE3EE">
                <a:alpha val="0"/>
              </a:srgbClr>
            </a:solidFill>
            <a:prstDash val="solid"/>
          </a:ln>
        </p:spPr>
      </p:sp>
      <p:sp>
        <p:nvSpPr>
          <p:cNvPr id="24" name="Shape 18"/>
          <p:cNvSpPr/>
          <p:nvPr/>
        </p:nvSpPr>
        <p:spPr>
          <a:xfrm>
            <a:off x="1143000" y="4496105"/>
            <a:ext cx="133502" cy="133502"/>
          </a:xfrm>
          <a:prstGeom prst="rect">
            <a:avLst/>
          </a:prstGeom>
          <a:solidFill>
            <a:srgbClr val="1E5F9C"/>
          </a:solidFill>
          <a:ln w="12700">
            <a:solidFill>
              <a:srgbClr val="FFFFFF">
                <a:alpha val="0"/>
              </a:srgbClr>
            </a:solidFill>
            <a:prstDash val="solid"/>
          </a:ln>
        </p:spPr>
      </p:sp>
      <p:sp>
        <p:nvSpPr>
          <p:cNvPr id="25" name="Text 19"/>
          <p:cNvSpPr txBox="1"/>
          <p:nvPr/>
        </p:nvSpPr>
        <p:spPr>
          <a:xfrm>
            <a:off x="1410005" y="4410151"/>
            <a:ext cx="1345997" cy="305410"/>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A · Ru 1nm</a:t>
            </a:r>
            <a:endParaRPr lang="en-US" sz="1650" dirty="0"/>
          </a:p>
        </p:txBody>
      </p:sp>
      <p:sp>
        <p:nvSpPr>
          <p:cNvPr id="26" name="Text 20"/>
          <p:cNvSpPr txBox="1"/>
          <p:nvPr/>
        </p:nvSpPr>
        <p:spPr>
          <a:xfrm>
            <a:off x="1143000" y="4772254"/>
            <a:ext cx="2477110" cy="181051"/>
          </a:xfrm>
          <a:prstGeom prst="rect">
            <a:avLst/>
          </a:prstGeom>
          <a:noFill/>
          <a:ln/>
        </p:spPr>
        <p:txBody>
          <a:bodyPr wrap="none" lIns="0" tIns="0" rIns="0" bIns="0" rtlCol="0" anchor="ctr"/>
          <a:lstStyle/>
          <a:p>
            <a:pPr algn="l" indent="0" marL="0">
              <a:buNone/>
            </a:pPr>
            <a:r>
              <a:rPr lang="en-US" sz="975" spc="156" kern="0" dirty="0">
                <a:solidFill>
                  <a:srgbClr val="94A3B8"/>
                </a:solidFill>
                <a:latin typeface="Sora" pitchFamily="34" charset="0"/>
                <a:ea typeface="Sora" pitchFamily="34" charset="-122"/>
                <a:cs typeface="Sora" pitchFamily="34" charset="-120"/>
              </a:rPr>
              <a:t>W01 ↔ W04</a:t>
            </a:r>
            <a:endParaRPr lang="en-US" sz="975" dirty="0"/>
          </a:p>
        </p:txBody>
      </p:sp>
      <p:sp>
        <p:nvSpPr>
          <p:cNvPr id="27" name="Text 21"/>
          <p:cNvSpPr txBox="1"/>
          <p:nvPr/>
        </p:nvSpPr>
        <p:spPr>
          <a:xfrm>
            <a:off x="3619195" y="4552798"/>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0.06</a:t>
            </a:r>
            <a:endParaRPr lang="en-US" sz="1650" dirty="0"/>
          </a:p>
        </p:txBody>
      </p:sp>
      <p:sp>
        <p:nvSpPr>
          <p:cNvPr id="28" name="Text 22"/>
          <p:cNvSpPr txBox="1"/>
          <p:nvPr/>
        </p:nvSpPr>
        <p:spPr>
          <a:xfrm>
            <a:off x="5372100" y="4552798"/>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0.06</a:t>
            </a:r>
            <a:endParaRPr lang="en-US" sz="1650" dirty="0"/>
          </a:p>
        </p:txBody>
      </p:sp>
      <p:sp>
        <p:nvSpPr>
          <p:cNvPr id="29" name="Text 23"/>
          <p:cNvSpPr txBox="1"/>
          <p:nvPr/>
        </p:nvSpPr>
        <p:spPr>
          <a:xfrm>
            <a:off x="7125005" y="4552798"/>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0.04</a:t>
            </a:r>
            <a:endParaRPr lang="en-US" sz="1650" dirty="0"/>
          </a:p>
        </p:txBody>
      </p:sp>
      <p:sp>
        <p:nvSpPr>
          <p:cNvPr id="30" name="Text 24"/>
          <p:cNvSpPr txBox="1"/>
          <p:nvPr/>
        </p:nvSpPr>
        <p:spPr>
          <a:xfrm>
            <a:off x="8876995" y="4552798"/>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0.05</a:t>
            </a:r>
            <a:endParaRPr lang="en-US" sz="1650" dirty="0"/>
          </a:p>
        </p:txBody>
      </p:sp>
      <p:sp>
        <p:nvSpPr>
          <p:cNvPr id="31" name="Text 25"/>
          <p:cNvSpPr txBox="1"/>
          <p:nvPr/>
        </p:nvSpPr>
        <p:spPr>
          <a:xfrm>
            <a:off x="10629900" y="4539082"/>
            <a:ext cx="1752905" cy="286207"/>
          </a:xfrm>
          <a:prstGeom prst="rect">
            <a:avLst/>
          </a:prstGeom>
          <a:noFill/>
          <a:ln/>
        </p:spPr>
        <p:txBody>
          <a:bodyPr wrap="none" lIns="0" tIns="0" rIns="0" bIns="0" rtlCol="0" anchor="ctr"/>
          <a:lstStyle/>
          <a:p>
            <a:pPr algn="r" indent="0" marL="0">
              <a:buNone/>
            </a:pPr>
            <a:r>
              <a:rPr lang="en-US" sz="1800" b="1" dirty="0">
                <a:solidFill>
                  <a:srgbClr val="1E5F9C"/>
                </a:solidFill>
                <a:latin typeface="Sora" pitchFamily="34" charset="0"/>
                <a:ea typeface="Sora" pitchFamily="34" charset="-122"/>
                <a:cs typeface="Sora" pitchFamily="34" charset="-120"/>
              </a:rPr>
              <a:t>0.053</a:t>
            </a:r>
            <a:endParaRPr lang="en-US" sz="1800" dirty="0"/>
          </a:p>
        </p:txBody>
      </p:sp>
      <p:sp>
        <p:nvSpPr>
          <p:cNvPr id="32" name="Shape 26"/>
          <p:cNvSpPr/>
          <p:nvPr/>
        </p:nvSpPr>
        <p:spPr>
          <a:xfrm>
            <a:off x="1143000" y="6191402"/>
            <a:ext cx="11239805" cy="9144"/>
          </a:xfrm>
          <a:prstGeom prst="rect">
            <a:avLst/>
          </a:prstGeom>
          <a:solidFill>
            <a:srgbClr val="DCE3EE"/>
          </a:solidFill>
          <a:ln w="12700">
            <a:solidFill>
              <a:srgbClr val="DCE3EE">
                <a:alpha val="0"/>
              </a:srgbClr>
            </a:solidFill>
            <a:prstDash val="solid"/>
          </a:ln>
        </p:spPr>
      </p:sp>
      <p:sp>
        <p:nvSpPr>
          <p:cNvPr id="33" name="Shape 27"/>
          <p:cNvSpPr/>
          <p:nvPr/>
        </p:nvSpPr>
        <p:spPr>
          <a:xfrm>
            <a:off x="1143000" y="5505602"/>
            <a:ext cx="133502" cy="133502"/>
          </a:xfrm>
          <a:prstGeom prst="rect">
            <a:avLst/>
          </a:prstGeom>
          <a:solidFill>
            <a:srgbClr val="4F86C0"/>
          </a:solidFill>
          <a:ln w="12700">
            <a:solidFill>
              <a:srgbClr val="FFFFFF">
                <a:alpha val="0"/>
              </a:srgbClr>
            </a:solidFill>
            <a:prstDash val="solid"/>
          </a:ln>
        </p:spPr>
      </p:sp>
      <p:sp>
        <p:nvSpPr>
          <p:cNvPr id="34" name="Text 28"/>
          <p:cNvSpPr txBox="1"/>
          <p:nvPr/>
        </p:nvSpPr>
        <p:spPr>
          <a:xfrm>
            <a:off x="1410005" y="5419649"/>
            <a:ext cx="1345997" cy="305410"/>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B · Ru 2nm</a:t>
            </a:r>
            <a:endParaRPr lang="en-US" sz="1650" dirty="0"/>
          </a:p>
        </p:txBody>
      </p:sp>
      <p:sp>
        <p:nvSpPr>
          <p:cNvPr id="35" name="Text 29"/>
          <p:cNvSpPr txBox="1"/>
          <p:nvPr/>
        </p:nvSpPr>
        <p:spPr>
          <a:xfrm>
            <a:off x="1143000" y="5781751"/>
            <a:ext cx="2477110" cy="181051"/>
          </a:xfrm>
          <a:prstGeom prst="rect">
            <a:avLst/>
          </a:prstGeom>
          <a:noFill/>
          <a:ln/>
        </p:spPr>
        <p:txBody>
          <a:bodyPr wrap="none" lIns="0" tIns="0" rIns="0" bIns="0" rtlCol="0" anchor="ctr"/>
          <a:lstStyle/>
          <a:p>
            <a:pPr algn="l" indent="0" marL="0">
              <a:buNone/>
            </a:pPr>
            <a:r>
              <a:rPr lang="en-US" sz="975" spc="156" kern="0" dirty="0">
                <a:solidFill>
                  <a:srgbClr val="94A3B8"/>
                </a:solidFill>
                <a:latin typeface="Sora" pitchFamily="34" charset="0"/>
                <a:ea typeface="Sora" pitchFamily="34" charset="-122"/>
                <a:cs typeface="Sora" pitchFamily="34" charset="-120"/>
              </a:rPr>
              <a:t>W02 ↔ W05</a:t>
            </a:r>
            <a:endParaRPr lang="en-US" sz="975" dirty="0"/>
          </a:p>
        </p:txBody>
      </p:sp>
      <p:sp>
        <p:nvSpPr>
          <p:cNvPr id="36" name="Text 30"/>
          <p:cNvSpPr txBox="1"/>
          <p:nvPr/>
        </p:nvSpPr>
        <p:spPr>
          <a:xfrm>
            <a:off x="3619195" y="5562295"/>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0.05</a:t>
            </a:r>
            <a:endParaRPr lang="en-US" sz="1650" dirty="0"/>
          </a:p>
        </p:txBody>
      </p:sp>
      <p:sp>
        <p:nvSpPr>
          <p:cNvPr id="37" name="Text 31"/>
          <p:cNvSpPr txBox="1"/>
          <p:nvPr/>
        </p:nvSpPr>
        <p:spPr>
          <a:xfrm>
            <a:off x="5372100" y="5562295"/>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0.04</a:t>
            </a:r>
            <a:endParaRPr lang="en-US" sz="1650" dirty="0"/>
          </a:p>
        </p:txBody>
      </p:sp>
      <p:sp>
        <p:nvSpPr>
          <p:cNvPr id="38" name="Text 32"/>
          <p:cNvSpPr txBox="1"/>
          <p:nvPr/>
        </p:nvSpPr>
        <p:spPr>
          <a:xfrm>
            <a:off x="7125005" y="5562295"/>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0.03</a:t>
            </a:r>
            <a:endParaRPr lang="en-US" sz="1650" dirty="0"/>
          </a:p>
        </p:txBody>
      </p:sp>
      <p:sp>
        <p:nvSpPr>
          <p:cNvPr id="39" name="Text 33"/>
          <p:cNvSpPr txBox="1"/>
          <p:nvPr/>
        </p:nvSpPr>
        <p:spPr>
          <a:xfrm>
            <a:off x="8876995" y="5562295"/>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0.03</a:t>
            </a:r>
            <a:endParaRPr lang="en-US" sz="1650" dirty="0"/>
          </a:p>
        </p:txBody>
      </p:sp>
      <p:sp>
        <p:nvSpPr>
          <p:cNvPr id="40" name="Text 34"/>
          <p:cNvSpPr txBox="1"/>
          <p:nvPr/>
        </p:nvSpPr>
        <p:spPr>
          <a:xfrm>
            <a:off x="10629900" y="5548579"/>
            <a:ext cx="1752905" cy="286207"/>
          </a:xfrm>
          <a:prstGeom prst="rect">
            <a:avLst/>
          </a:prstGeom>
          <a:noFill/>
          <a:ln/>
        </p:spPr>
        <p:txBody>
          <a:bodyPr wrap="none" lIns="0" tIns="0" rIns="0" bIns="0" rtlCol="0" anchor="ctr"/>
          <a:lstStyle/>
          <a:p>
            <a:pPr algn="r" indent="0" marL="0">
              <a:buNone/>
            </a:pPr>
            <a:r>
              <a:rPr lang="en-US" sz="1800" b="1" dirty="0">
                <a:solidFill>
                  <a:srgbClr val="4F86C0"/>
                </a:solidFill>
                <a:latin typeface="Sora" pitchFamily="34" charset="0"/>
                <a:ea typeface="Sora" pitchFamily="34" charset="-122"/>
                <a:cs typeface="Sora" pitchFamily="34" charset="-120"/>
              </a:rPr>
              <a:t>0.038</a:t>
            </a:r>
            <a:endParaRPr lang="en-US" sz="1800" dirty="0"/>
          </a:p>
        </p:txBody>
      </p:sp>
      <p:sp>
        <p:nvSpPr>
          <p:cNvPr id="41" name="Shape 35"/>
          <p:cNvSpPr/>
          <p:nvPr/>
        </p:nvSpPr>
        <p:spPr>
          <a:xfrm>
            <a:off x="1143000" y="6515100"/>
            <a:ext cx="133502" cy="133502"/>
          </a:xfrm>
          <a:prstGeom prst="rect">
            <a:avLst/>
          </a:prstGeom>
          <a:solidFill>
            <a:srgbClr val="94A3B8"/>
          </a:solidFill>
          <a:ln w="12700">
            <a:solidFill>
              <a:srgbClr val="FFFFFF">
                <a:alpha val="0"/>
              </a:srgbClr>
            </a:solidFill>
            <a:prstDash val="solid"/>
          </a:ln>
        </p:spPr>
      </p:sp>
      <p:sp>
        <p:nvSpPr>
          <p:cNvPr id="42" name="Text 36"/>
          <p:cNvSpPr txBox="1"/>
          <p:nvPr/>
        </p:nvSpPr>
        <p:spPr>
          <a:xfrm>
            <a:off x="1410005" y="6429146"/>
            <a:ext cx="726034" cy="305410"/>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C · Co</a:t>
            </a:r>
            <a:endParaRPr lang="en-US" sz="1650" dirty="0"/>
          </a:p>
        </p:txBody>
      </p:sp>
      <p:sp>
        <p:nvSpPr>
          <p:cNvPr id="43" name="Text 37"/>
          <p:cNvSpPr txBox="1"/>
          <p:nvPr/>
        </p:nvSpPr>
        <p:spPr>
          <a:xfrm>
            <a:off x="1143000" y="6791249"/>
            <a:ext cx="2477110" cy="181051"/>
          </a:xfrm>
          <a:prstGeom prst="rect">
            <a:avLst/>
          </a:prstGeom>
          <a:noFill/>
          <a:ln/>
        </p:spPr>
        <p:txBody>
          <a:bodyPr wrap="none" lIns="0" tIns="0" rIns="0" bIns="0" rtlCol="0" anchor="ctr"/>
          <a:lstStyle/>
          <a:p>
            <a:pPr algn="l" indent="0" marL="0">
              <a:buNone/>
            </a:pPr>
            <a:r>
              <a:rPr lang="en-US" sz="975" spc="156" kern="0" dirty="0">
                <a:solidFill>
                  <a:srgbClr val="94A3B8"/>
                </a:solidFill>
                <a:latin typeface="Sora" pitchFamily="34" charset="0"/>
                <a:ea typeface="Sora" pitchFamily="34" charset="-122"/>
                <a:cs typeface="Sora" pitchFamily="34" charset="-120"/>
              </a:rPr>
              <a:t>W03 ↔ W06</a:t>
            </a:r>
            <a:endParaRPr lang="en-US" sz="975" dirty="0"/>
          </a:p>
        </p:txBody>
      </p:sp>
      <p:sp>
        <p:nvSpPr>
          <p:cNvPr id="44" name="Text 38"/>
          <p:cNvSpPr txBox="1"/>
          <p:nvPr/>
        </p:nvSpPr>
        <p:spPr>
          <a:xfrm>
            <a:off x="3619195" y="6572707"/>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0.07</a:t>
            </a:r>
            <a:endParaRPr lang="en-US" sz="1650" dirty="0"/>
          </a:p>
        </p:txBody>
      </p:sp>
      <p:sp>
        <p:nvSpPr>
          <p:cNvPr id="45" name="Text 39"/>
          <p:cNvSpPr txBox="1"/>
          <p:nvPr/>
        </p:nvSpPr>
        <p:spPr>
          <a:xfrm>
            <a:off x="5372100" y="6572707"/>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0.05</a:t>
            </a:r>
            <a:endParaRPr lang="en-US" sz="1650" dirty="0"/>
          </a:p>
        </p:txBody>
      </p:sp>
      <p:sp>
        <p:nvSpPr>
          <p:cNvPr id="46" name="Text 40"/>
          <p:cNvSpPr txBox="1"/>
          <p:nvPr/>
        </p:nvSpPr>
        <p:spPr>
          <a:xfrm>
            <a:off x="7125005" y="6572707"/>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0.04</a:t>
            </a:r>
            <a:endParaRPr lang="en-US" sz="1650" dirty="0"/>
          </a:p>
        </p:txBody>
      </p:sp>
      <p:sp>
        <p:nvSpPr>
          <p:cNvPr id="47" name="Text 41"/>
          <p:cNvSpPr txBox="1"/>
          <p:nvPr/>
        </p:nvSpPr>
        <p:spPr>
          <a:xfrm>
            <a:off x="8876995" y="6572707"/>
            <a:ext cx="1752905"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0.04</a:t>
            </a:r>
            <a:endParaRPr lang="en-US" sz="1650" dirty="0"/>
          </a:p>
        </p:txBody>
      </p:sp>
      <p:sp>
        <p:nvSpPr>
          <p:cNvPr id="48" name="Text 42"/>
          <p:cNvSpPr txBox="1"/>
          <p:nvPr/>
        </p:nvSpPr>
        <p:spPr>
          <a:xfrm>
            <a:off x="10629900" y="6558077"/>
            <a:ext cx="1752905" cy="286207"/>
          </a:xfrm>
          <a:prstGeom prst="rect">
            <a:avLst/>
          </a:prstGeom>
          <a:noFill/>
          <a:ln/>
        </p:spPr>
        <p:txBody>
          <a:bodyPr wrap="none" lIns="0" tIns="0" rIns="0" bIns="0" rtlCol="0" anchor="ctr"/>
          <a:lstStyle/>
          <a:p>
            <a:pPr algn="r" indent="0" marL="0">
              <a:buNone/>
            </a:pPr>
            <a:r>
              <a:rPr lang="en-US" sz="1800" b="1" dirty="0">
                <a:solidFill>
                  <a:srgbClr val="6F7D94"/>
                </a:solidFill>
                <a:latin typeface="Sora" pitchFamily="34" charset="0"/>
                <a:ea typeface="Sora" pitchFamily="34" charset="-122"/>
                <a:cs typeface="Sora" pitchFamily="34" charset="-120"/>
              </a:rPr>
              <a:t>0.050</a:t>
            </a:r>
            <a:endParaRPr lang="en-US" sz="1800" dirty="0"/>
          </a:p>
        </p:txBody>
      </p:sp>
      <p:sp>
        <p:nvSpPr>
          <p:cNvPr id="49" name="Shape 43"/>
          <p:cNvSpPr/>
          <p:nvPr/>
        </p:nvSpPr>
        <p:spPr>
          <a:xfrm>
            <a:off x="1143000" y="7487107"/>
            <a:ext cx="11239805" cy="819302"/>
          </a:xfrm>
          <a:prstGeom prst="rect">
            <a:avLst/>
          </a:prstGeom>
          <a:solidFill>
            <a:srgbClr val="F0F4FA"/>
          </a:solidFill>
          <a:ln/>
        </p:spPr>
      </p:sp>
      <p:sp>
        <p:nvSpPr>
          <p:cNvPr id="50" name="Shape 44"/>
          <p:cNvSpPr/>
          <p:nvPr/>
        </p:nvSpPr>
        <p:spPr>
          <a:xfrm>
            <a:off x="1143000" y="7487107"/>
            <a:ext cx="38405" cy="819302"/>
          </a:xfrm>
          <a:prstGeom prst="rect">
            <a:avLst/>
          </a:prstGeom>
          <a:solidFill>
            <a:srgbClr val="4F86C0"/>
          </a:solidFill>
          <a:ln w="12700">
            <a:solidFill>
              <a:srgbClr val="4F86C0">
                <a:alpha val="0"/>
              </a:srgbClr>
            </a:solidFill>
            <a:prstDash val="solid"/>
          </a:ln>
        </p:spPr>
      </p:sp>
      <p:sp>
        <p:nvSpPr>
          <p:cNvPr id="51" name="Text 45"/>
          <p:cNvSpPr txBox="1"/>
          <p:nvPr/>
        </p:nvSpPr>
        <p:spPr>
          <a:xfrm>
            <a:off x="1371600" y="7658100"/>
            <a:ext cx="7677302" cy="171907"/>
          </a:xfrm>
          <a:prstGeom prst="rect">
            <a:avLst/>
          </a:prstGeom>
          <a:noFill/>
          <a:ln/>
        </p:spPr>
        <p:txBody>
          <a:bodyPr wrap="none" lIns="0" tIns="0" rIns="0" bIns="0" rtlCol="0" anchor="ctr"/>
          <a:lstStyle/>
          <a:p>
            <a:pPr algn="l" indent="0" marL="0">
              <a:buNone/>
            </a:pPr>
            <a:r>
              <a:rPr lang="en-US" sz="1050" b="1" spc="189" kern="0" dirty="0">
                <a:solidFill>
                  <a:srgbClr val="94A3B8"/>
                </a:solidFill>
                <a:latin typeface="Sora" pitchFamily="34" charset="0"/>
                <a:ea typeface="Sora" pitchFamily="34" charset="-122"/>
                <a:cs typeface="Sora" pitchFamily="34" charset="-120"/>
              </a:rPr>
              <a:t>NOTE</a:t>
            </a:r>
            <a:endParaRPr lang="en-US" sz="1050" dirty="0"/>
          </a:p>
        </p:txBody>
      </p:sp>
      <p:sp>
        <p:nvSpPr>
          <p:cNvPr id="52" name="Text 46"/>
          <p:cNvSpPr txBox="1"/>
          <p:nvPr/>
        </p:nvSpPr>
        <p:spPr>
          <a:xfrm>
            <a:off x="1371600" y="7905902"/>
            <a:ext cx="8363102" cy="228600"/>
          </a:xfrm>
          <a:prstGeom prst="rect">
            <a:avLst/>
          </a:prstGeom>
          <a:noFill/>
          <a:ln/>
        </p:spPr>
        <p:txBody>
          <a:bodyPr wrap="none" lIns="0" tIns="0" rIns="0" bIns="0" rtlCol="0" anchor="ctr"/>
          <a:lstStyle/>
          <a:p>
            <a:pPr algn="l" indent="0" marL="0">
              <a:buNone/>
            </a:pPr>
            <a:r>
              <a:rPr lang="en-US" sz="1200" dirty="0">
                <a:solidFill>
                  <a:srgbClr val="14213D"/>
                </a:solidFill>
                <a:latin typeface="Noto Sans KR" pitchFamily="34" charset="0"/>
                <a:ea typeface="Noto Sans KR" pitchFamily="34" charset="-122"/>
                <a:cs typeface="Noto Sans KR" pitchFamily="34" charset="-120"/>
              </a:rPr>
              <a:t>Δ = max|Wa − Wb| 두 wafer 평균 차의 절대값 · 표는 split 내부 wafer pair의 spread 만을 본다 (in-wafer Δ와는 별개)</a:t>
            </a:r>
            <a:endParaRPr lang="en-US" sz="1200" dirty="0"/>
          </a:p>
        </p:txBody>
      </p:sp>
      <p:sp>
        <p:nvSpPr>
          <p:cNvPr id="53" name="Text 47"/>
          <p:cNvSpPr txBox="1"/>
          <p:nvPr/>
        </p:nvSpPr>
        <p:spPr>
          <a:xfrm>
            <a:off x="13239598" y="3124505"/>
            <a:ext cx="4096512"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RANKING</a:t>
            </a:r>
            <a:endParaRPr lang="en-US" sz="900" dirty="0"/>
          </a:p>
        </p:txBody>
      </p:sp>
      <p:sp>
        <p:nvSpPr>
          <p:cNvPr id="54" name="Text 48"/>
          <p:cNvSpPr txBox="1"/>
          <p:nvPr/>
        </p:nvSpPr>
        <p:spPr>
          <a:xfrm>
            <a:off x="13239598" y="3323844"/>
            <a:ext cx="4096512" cy="305410"/>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avg Δ 작은 순</a:t>
            </a:r>
            <a:endParaRPr lang="en-US" sz="1650" dirty="0"/>
          </a:p>
        </p:txBody>
      </p:sp>
      <p:sp>
        <p:nvSpPr>
          <p:cNvPr id="55" name="Shape 49"/>
          <p:cNvSpPr/>
          <p:nvPr/>
        </p:nvSpPr>
        <p:spPr>
          <a:xfrm>
            <a:off x="13239598" y="4905756"/>
            <a:ext cx="3905402" cy="9144"/>
          </a:xfrm>
          <a:prstGeom prst="rect">
            <a:avLst/>
          </a:prstGeom>
          <a:solidFill>
            <a:srgbClr val="DCE3EE"/>
          </a:solidFill>
          <a:ln w="12700">
            <a:solidFill>
              <a:srgbClr val="DCE3EE">
                <a:alpha val="0"/>
              </a:srgbClr>
            </a:solidFill>
            <a:prstDash val="solid"/>
          </a:ln>
        </p:spPr>
      </p:sp>
      <p:sp>
        <p:nvSpPr>
          <p:cNvPr id="56" name="Text 50"/>
          <p:cNvSpPr txBox="1"/>
          <p:nvPr/>
        </p:nvSpPr>
        <p:spPr>
          <a:xfrm>
            <a:off x="13239598" y="4038905"/>
            <a:ext cx="299923" cy="457200"/>
          </a:xfrm>
          <a:prstGeom prst="rect">
            <a:avLst/>
          </a:prstGeom>
          <a:noFill/>
          <a:ln/>
        </p:spPr>
        <p:txBody>
          <a:bodyPr wrap="none" lIns="0" tIns="0" rIns="0" bIns="0" rtlCol="0" anchor="ctr"/>
          <a:lstStyle/>
          <a:p>
            <a:pPr algn="l" indent="0" marL="0">
              <a:buNone/>
            </a:pPr>
            <a:r>
              <a:rPr lang="en-US" sz="3600" b="1" dirty="0">
                <a:solidFill>
                  <a:srgbClr val="4F86C0"/>
                </a:solidFill>
                <a:latin typeface="Sora" pitchFamily="34" charset="0"/>
                <a:ea typeface="Sora" pitchFamily="34" charset="-122"/>
                <a:cs typeface="Sora" pitchFamily="34" charset="-120"/>
              </a:rPr>
              <a:t>1</a:t>
            </a:r>
            <a:endParaRPr lang="en-US" sz="3600" dirty="0"/>
          </a:p>
        </p:txBody>
      </p:sp>
      <p:sp>
        <p:nvSpPr>
          <p:cNvPr id="57" name="Text 51"/>
          <p:cNvSpPr txBox="1"/>
          <p:nvPr/>
        </p:nvSpPr>
        <p:spPr>
          <a:xfrm>
            <a:off x="13663879" y="4153205"/>
            <a:ext cx="3486607"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Group B</a:t>
            </a:r>
            <a:endParaRPr lang="en-US" sz="1800" dirty="0"/>
          </a:p>
        </p:txBody>
      </p:sp>
      <p:sp>
        <p:nvSpPr>
          <p:cNvPr id="58" name="Text 52"/>
          <p:cNvSpPr txBox="1"/>
          <p:nvPr/>
        </p:nvSpPr>
        <p:spPr>
          <a:xfrm>
            <a:off x="13663879" y="4524451"/>
            <a:ext cx="3486607"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Ru 2nm · avg Δ 0.038</a:t>
            </a:r>
            <a:endParaRPr lang="en-US" sz="1050" dirty="0"/>
          </a:p>
        </p:txBody>
      </p:sp>
      <p:sp>
        <p:nvSpPr>
          <p:cNvPr id="59" name="Shape 53"/>
          <p:cNvSpPr/>
          <p:nvPr/>
        </p:nvSpPr>
        <p:spPr>
          <a:xfrm>
            <a:off x="13239598" y="5972861"/>
            <a:ext cx="3905402" cy="9144"/>
          </a:xfrm>
          <a:prstGeom prst="rect">
            <a:avLst/>
          </a:prstGeom>
          <a:solidFill>
            <a:srgbClr val="DCE3EE"/>
          </a:solidFill>
          <a:ln w="12700">
            <a:solidFill>
              <a:srgbClr val="DCE3EE">
                <a:alpha val="0"/>
              </a:srgbClr>
            </a:solidFill>
            <a:prstDash val="solid"/>
          </a:ln>
        </p:spPr>
      </p:sp>
      <p:sp>
        <p:nvSpPr>
          <p:cNvPr id="60" name="Text 54"/>
          <p:cNvSpPr txBox="1"/>
          <p:nvPr/>
        </p:nvSpPr>
        <p:spPr>
          <a:xfrm>
            <a:off x="13239598" y="5105095"/>
            <a:ext cx="295351" cy="457200"/>
          </a:xfrm>
          <a:prstGeom prst="rect">
            <a:avLst/>
          </a:prstGeom>
          <a:noFill/>
          <a:ln/>
        </p:spPr>
        <p:txBody>
          <a:bodyPr wrap="none" lIns="0" tIns="0" rIns="0" bIns="0" rtlCol="0" anchor="ctr"/>
          <a:lstStyle/>
          <a:p>
            <a:pPr algn="l" indent="0" marL="0">
              <a:buNone/>
            </a:pPr>
            <a:r>
              <a:rPr lang="en-US" sz="3600" b="1" dirty="0">
                <a:solidFill>
                  <a:srgbClr val="94A3B8"/>
                </a:solidFill>
                <a:latin typeface="Sora" pitchFamily="34" charset="0"/>
                <a:ea typeface="Sora" pitchFamily="34" charset="-122"/>
                <a:cs typeface="Sora" pitchFamily="34" charset="-120"/>
              </a:rPr>
              <a:t>2</a:t>
            </a:r>
            <a:endParaRPr lang="en-US" sz="3600" dirty="0"/>
          </a:p>
        </p:txBody>
      </p:sp>
      <p:sp>
        <p:nvSpPr>
          <p:cNvPr id="61" name="Text 55"/>
          <p:cNvSpPr txBox="1"/>
          <p:nvPr/>
        </p:nvSpPr>
        <p:spPr>
          <a:xfrm>
            <a:off x="13757148" y="5219395"/>
            <a:ext cx="339151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Group C</a:t>
            </a:r>
            <a:endParaRPr lang="en-US" sz="1800" dirty="0"/>
          </a:p>
        </p:txBody>
      </p:sp>
      <p:sp>
        <p:nvSpPr>
          <p:cNvPr id="62" name="Text 56"/>
          <p:cNvSpPr txBox="1"/>
          <p:nvPr/>
        </p:nvSpPr>
        <p:spPr>
          <a:xfrm>
            <a:off x="13757148" y="5591556"/>
            <a:ext cx="3391510"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Co liner · avg Δ 0.050</a:t>
            </a:r>
            <a:endParaRPr lang="en-US" sz="1050" dirty="0"/>
          </a:p>
        </p:txBody>
      </p:sp>
      <p:sp>
        <p:nvSpPr>
          <p:cNvPr id="63" name="Text 57"/>
          <p:cNvSpPr txBox="1"/>
          <p:nvPr/>
        </p:nvSpPr>
        <p:spPr>
          <a:xfrm>
            <a:off x="13239598" y="6172200"/>
            <a:ext cx="295351" cy="457200"/>
          </a:xfrm>
          <a:prstGeom prst="rect">
            <a:avLst/>
          </a:prstGeom>
          <a:noFill/>
          <a:ln/>
        </p:spPr>
        <p:txBody>
          <a:bodyPr wrap="none" lIns="0" tIns="0" rIns="0" bIns="0" rtlCol="0" anchor="ctr"/>
          <a:lstStyle/>
          <a:p>
            <a:pPr algn="l" indent="0" marL="0">
              <a:buNone/>
            </a:pPr>
            <a:r>
              <a:rPr lang="en-US" sz="3600" b="1" dirty="0">
                <a:solidFill>
                  <a:srgbClr val="6F7D94"/>
                </a:solidFill>
                <a:latin typeface="Sora" pitchFamily="34" charset="0"/>
                <a:ea typeface="Sora" pitchFamily="34" charset="-122"/>
                <a:cs typeface="Sora" pitchFamily="34" charset="-120"/>
              </a:rPr>
              <a:t>3</a:t>
            </a:r>
            <a:endParaRPr lang="en-US" sz="3600" dirty="0"/>
          </a:p>
        </p:txBody>
      </p:sp>
      <p:sp>
        <p:nvSpPr>
          <p:cNvPr id="64" name="Text 58"/>
          <p:cNvSpPr txBox="1"/>
          <p:nvPr/>
        </p:nvSpPr>
        <p:spPr>
          <a:xfrm>
            <a:off x="13757148" y="6286500"/>
            <a:ext cx="339151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Group A</a:t>
            </a:r>
            <a:endParaRPr lang="en-US" sz="1800" dirty="0"/>
          </a:p>
        </p:txBody>
      </p:sp>
      <p:sp>
        <p:nvSpPr>
          <p:cNvPr id="65" name="Text 59"/>
          <p:cNvSpPr txBox="1"/>
          <p:nvPr/>
        </p:nvSpPr>
        <p:spPr>
          <a:xfrm>
            <a:off x="13757148" y="6657746"/>
            <a:ext cx="3391510" cy="191110"/>
          </a:xfrm>
          <a:prstGeom prst="rect">
            <a:avLst/>
          </a:prstGeom>
          <a:noFill/>
          <a:ln/>
        </p:spPr>
        <p:txBody>
          <a:bodyPr wrap="none" lIns="0" tIns="0" rIns="0" bIns="0" rtlCol="0" anchor="ctr"/>
          <a:lstStyle/>
          <a:p>
            <a:pPr algn="l" indent="0" marL="0">
              <a:buNone/>
            </a:pPr>
            <a:r>
              <a:rPr lang="en-US" sz="1050" dirty="0">
                <a:solidFill>
                  <a:srgbClr val="455670"/>
                </a:solidFill>
                <a:latin typeface="Noto Sans KR" pitchFamily="34" charset="0"/>
                <a:ea typeface="Noto Sans KR" pitchFamily="34" charset="-122"/>
                <a:cs typeface="Noto Sans KR" pitchFamily="34" charset="-120"/>
              </a:rPr>
              <a:t>Ru 1nm · avg Δ 0.053</a:t>
            </a:r>
            <a:endParaRPr lang="en-US" sz="1050" dirty="0"/>
          </a:p>
        </p:txBody>
      </p:sp>
      <p:sp>
        <p:nvSpPr>
          <p:cNvPr id="66" name="Text 60"/>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67" name="Image 3" descr="gen-dedup-a95c956e3bd879e41d2e7daca8566398.png">    </p:cNvPr>
          <p:cNvPicPr>
            <a:picLocks noChangeAspect="1"/>
          </p:cNvPicPr>
          <p:nvPr/>
        </p:nvPicPr>
        <p:blipFill>
          <a:blip r:embed="rId4"/>
          <a:srcRect l="-2083" r="-2083" t="0" b="0"/>
          <a:stretch/>
        </p:blipFill>
        <p:spPr>
          <a:xfrm>
            <a:off x="2656332" y="9096451"/>
            <a:ext cx="571500" cy="9144"/>
          </a:xfrm>
          <a:prstGeom prst="rect">
            <a:avLst/>
          </a:prstGeom>
        </p:spPr>
      </p:pic>
      <p:sp>
        <p:nvSpPr>
          <p:cNvPr id="68" name="Text 61"/>
          <p:cNvSpPr txBox="1"/>
          <p:nvPr/>
        </p:nvSpPr>
        <p:spPr>
          <a:xfrm>
            <a:off x="3456432" y="8934602"/>
            <a:ext cx="12344400"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Ru 2 nm은 동일 split 내에서도 가장 작은 wafer-to-waater spread — process 자체의 reproducibility가 가장 안정적.</a:t>
            </a:r>
            <a:endParaRPr lang="en-US" sz="1800" dirty="0"/>
          </a:p>
        </p:txBody>
      </p:sp>
      <p:sp>
        <p:nvSpPr>
          <p:cNvPr id="69" name="Text 62"/>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70" name="Text 63"/>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7"/>
        </a:solidFill>
      </p:bgPr>
    </p:bg>
    <p:spTree>
      <p:nvGrpSpPr>
        <p:cNvPr id="1" name=""/>
        <p:cNvGrpSpPr/>
        <p:nvPr/>
      </p:nvGrpSpPr>
      <p:grpSpPr>
        <a:xfrm>
          <a:off x="0" y="0"/>
          <a:ext cx="0" cy="0"/>
          <a:chOff x="0" y="0"/>
          <a:chExt cx="0" cy="0"/>
        </a:xfrm>
      </p:grpSpPr>
      <p:pic>
        <p:nvPicPr>
          <p:cNvPr id="3" name="Image 0" descr="gen-dedup-9f62230d58fb2aa84f42938b4986f5b3.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857707" y="2857500"/>
            <a:ext cx="16573500" cy="5333695"/>
          </a:xfrm>
          <a:prstGeom prst="rect">
            <a:avLst/>
          </a:prstGeom>
          <a:solidFill>
            <a:srgbClr val="FFFFFF"/>
          </a:solidFill>
          <a:ln w="12700">
            <a:solidFill>
              <a:srgbClr val="C8D3E2"/>
            </a:solidFill>
            <a:prstDash val="solid"/>
          </a:ln>
        </p:spPr>
      </p:sp>
      <p:sp>
        <p:nvSpPr>
          <p:cNvPr id="5" name="Shape 1"/>
          <p:cNvSpPr/>
          <p:nvPr/>
        </p:nvSpPr>
        <p:spPr>
          <a:xfrm>
            <a:off x="857707" y="8762695"/>
            <a:ext cx="16573500" cy="590702"/>
          </a:xfrm>
          <a:prstGeom prst="rect">
            <a:avLst/>
          </a:prstGeom>
          <a:solidFill>
            <a:srgbClr val="14213D"/>
          </a:solidFill>
          <a:ln w="12700">
            <a:solidFill>
              <a:srgbClr val="FFFFFF">
                <a:alpha val="0"/>
              </a:srgbClr>
            </a:solidFill>
            <a:prstDash val="solid"/>
          </a:ln>
        </p:spPr>
      </p:sp>
      <p:pic>
        <p:nvPicPr>
          <p:cNvPr id="6" name="Image 1" descr="gen-dedup-3c3f0190f3348a605df0239cea9995bf.png">    </p:cNvPr>
          <p:cNvPicPr>
            <a:picLocks noChangeAspect="1"/>
          </p:cNvPicPr>
          <p:nvPr/>
        </p:nvPicPr>
        <p:blipFill>
          <a:blip r:embed="rId2"/>
          <a:srcRect l="-2083" r="-2083" t="0" b="0"/>
          <a:stretch/>
        </p:blipFill>
        <p:spPr>
          <a:xfrm>
            <a:off x="0" y="9562795"/>
            <a:ext cx="18288000" cy="9144"/>
          </a:xfrm>
          <a:prstGeom prst="rect">
            <a:avLst/>
          </a:prstGeom>
        </p:spPr>
      </p:pic>
      <p:pic>
        <p:nvPicPr>
          <p:cNvPr id="7" name="Image 2" descr="gen-dedup-12d7cb0a28bbcaca3e8d32c19dc56a81.png">    </p:cNvPr>
          <p:cNvPicPr>
            <a:picLocks noChangeAspect="1"/>
          </p:cNvPicPr>
          <p:nvPr/>
        </p:nvPicPr>
        <p:blipFill>
          <a:blip r:embed="rId3"/>
          <a:srcRect l="0" r="0" t="-424" b="-424"/>
          <a:stretch/>
        </p:blipFill>
        <p:spPr>
          <a:xfrm>
            <a:off x="857707" y="657454"/>
            <a:ext cx="323698" cy="19202"/>
          </a:xfrm>
          <a:prstGeom prst="rect">
            <a:avLst/>
          </a:prstGeom>
        </p:spPr>
      </p:pic>
      <p:sp>
        <p:nvSpPr>
          <p:cNvPr id="8" name="Text 2"/>
          <p:cNvSpPr txBox="1"/>
          <p:nvPr/>
        </p:nvSpPr>
        <p:spPr>
          <a:xfrm>
            <a:off x="1314907" y="571500"/>
            <a:ext cx="2286000" cy="191110"/>
          </a:xfrm>
          <a:prstGeom prst="rect">
            <a:avLst/>
          </a:prstGeom>
          <a:noFill/>
          <a:ln/>
        </p:spPr>
        <p:txBody>
          <a:bodyPr wrap="none" lIns="0" tIns="0" rIns="0" bIns="0" rtlCol="0" anchor="ctr"/>
          <a:lstStyle/>
          <a:p>
            <a:pPr algn="l" indent="0" marL="0">
              <a:buNone/>
            </a:pPr>
            <a:r>
              <a:rPr lang="en-US" sz="1050" b="1" spc="189" kern="0" dirty="0">
                <a:solidFill>
                  <a:srgbClr val="1E5F9C"/>
                </a:solidFill>
                <a:latin typeface="Sora" pitchFamily="34" charset="0"/>
                <a:ea typeface="Sora" pitchFamily="34" charset="-122"/>
                <a:cs typeface="Sora" pitchFamily="34" charset="-120"/>
              </a:rPr>
              <a:t>Section 12 · 전기 특성</a:t>
            </a:r>
            <a:endParaRPr lang="en-US" sz="1050" dirty="0"/>
          </a:p>
        </p:txBody>
      </p:sp>
      <p:sp>
        <p:nvSpPr>
          <p:cNvPr id="9" name="Shape 3"/>
          <p:cNvSpPr/>
          <p:nvPr/>
        </p:nvSpPr>
        <p:spPr>
          <a:xfrm>
            <a:off x="16840505" y="566928"/>
            <a:ext cx="57607" cy="57607"/>
          </a:xfrm>
          <a:prstGeom prst="ellipse">
            <a:avLst/>
          </a:prstGeom>
          <a:solidFill>
            <a:srgbClr val="1E5F9C"/>
          </a:solidFill>
          <a:ln w="12700">
            <a:solidFill>
              <a:srgbClr val="FFFFFF">
                <a:alpha val="0"/>
              </a:srgbClr>
            </a:solidFill>
            <a:prstDash val="solid"/>
          </a:ln>
        </p:spPr>
      </p:sp>
      <p:sp>
        <p:nvSpPr>
          <p:cNvPr id="10" name="Text 4"/>
          <p:cNvSpPr txBox="1"/>
          <p:nvPr/>
        </p:nvSpPr>
        <p:spPr>
          <a:xfrm>
            <a:off x="16749979" y="514807"/>
            <a:ext cx="785470" cy="162763"/>
          </a:xfrm>
          <a:prstGeom prst="rect">
            <a:avLst/>
          </a:prstGeom>
          <a:noFill/>
          <a:ln/>
        </p:spPr>
        <p:txBody>
          <a:bodyPr wrap="none" lIns="0" tIns="0" rIns="0" bIns="0" rtlCol="0" anchor="ctr"/>
          <a:lstStyle/>
          <a:p>
            <a:pPr algn="r" indent="0" marL="0">
              <a:buNone/>
            </a:pPr>
            <a:r>
              <a:rPr lang="en-US" sz="975" b="1" spc="215" kern="0" dirty="0">
                <a:solidFill>
                  <a:srgbClr val="455670"/>
                </a:solidFill>
                <a:latin typeface="Sora" pitchFamily="34" charset="0"/>
                <a:ea typeface="Sora" pitchFamily="34" charset="-122"/>
                <a:cs typeface="Sora" pitchFamily="34" charset="-120"/>
              </a:rPr>
              <a:t>12 / 12</a:t>
            </a:r>
            <a:endParaRPr lang="en-US" sz="975" dirty="0"/>
          </a:p>
        </p:txBody>
      </p:sp>
      <p:sp>
        <p:nvSpPr>
          <p:cNvPr id="11" name="Text 5"/>
          <p:cNvSpPr txBox="1"/>
          <p:nvPr/>
        </p:nvSpPr>
        <p:spPr>
          <a:xfrm>
            <a:off x="838505" y="1143000"/>
            <a:ext cx="16193110" cy="600761"/>
          </a:xfrm>
          <a:prstGeom prst="rect">
            <a:avLst/>
          </a:prstGeom>
          <a:noFill/>
          <a:ln/>
        </p:spPr>
        <p:txBody>
          <a:bodyPr wrap="none" lIns="0" tIns="0" rIns="0" bIns="0" rtlCol="0" anchor="ctr"/>
          <a:lstStyle/>
          <a:p>
            <a:pPr algn="l" indent="0" marL="0">
              <a:buNone/>
            </a:pPr>
            <a:r>
              <a:rPr lang="en-US" sz="4500" b="1" spc="-45" kern="0" dirty="0">
                <a:solidFill>
                  <a:srgbClr val="14213D"/>
                </a:solidFill>
                <a:latin typeface="Noto Sans KR" pitchFamily="34" charset="0"/>
                <a:ea typeface="Noto Sans KR" pitchFamily="34" charset="-122"/>
                <a:cs typeface="Noto Sans KR" pitchFamily="34" charset="-120"/>
              </a:rPr>
              <a:t>전기 특성 · split별 numeric</a:t>
            </a:r>
            <a:endParaRPr lang="en-US" sz="4500" dirty="0"/>
          </a:p>
        </p:txBody>
      </p:sp>
      <p:sp>
        <p:nvSpPr>
          <p:cNvPr id="12" name="Text 6"/>
          <p:cNvSpPr txBox="1"/>
          <p:nvPr/>
        </p:nvSpPr>
        <p:spPr>
          <a:xfrm>
            <a:off x="838505" y="1876349"/>
            <a:ext cx="16193110" cy="314554"/>
          </a:xfrm>
          <a:prstGeom prst="rect">
            <a:avLst/>
          </a:prstGeom>
          <a:noFill/>
          <a:ln/>
        </p:spPr>
        <p:txBody>
          <a:bodyPr wrap="none" lIns="0" tIns="0" rIns="0" bIns="0" rtlCol="0" anchor="ctr"/>
          <a:lstStyle/>
          <a:p>
            <a:pPr algn="l" indent="0" marL="0">
              <a:buNone/>
            </a:pPr>
            <a:r>
              <a:rPr lang="en-US" sz="1650" dirty="0">
                <a:solidFill>
                  <a:srgbClr val="455670"/>
                </a:solidFill>
                <a:latin typeface="Noto Sans KR" pitchFamily="34" charset="0"/>
                <a:ea typeface="Noto Sans KR" pitchFamily="34" charset="-122"/>
                <a:cs typeface="Noto Sans KR" pitchFamily="34" charset="-120"/>
              </a:rPr>
              <a:t>Line Rs · Via Rc · line-line C · Leakage · TDDB β · TDDB T63 · EM TTF — 도식이 아닌 숫자 표로 직접 비교.</a:t>
            </a:r>
            <a:endParaRPr lang="en-US" sz="1650" dirty="0"/>
          </a:p>
        </p:txBody>
      </p:sp>
      <p:sp>
        <p:nvSpPr>
          <p:cNvPr id="13" name="Text 7"/>
          <p:cNvSpPr txBox="1"/>
          <p:nvPr/>
        </p:nvSpPr>
        <p:spPr>
          <a:xfrm>
            <a:off x="1143000" y="3124505"/>
            <a:ext cx="16193110"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ELECTRICAL · SPLIT</a:t>
            </a:r>
            <a:endParaRPr lang="en-US" sz="900" dirty="0"/>
          </a:p>
        </p:txBody>
      </p:sp>
      <p:sp>
        <p:nvSpPr>
          <p:cNvPr id="14" name="Text 8"/>
          <p:cNvSpPr txBox="1"/>
          <p:nvPr/>
        </p:nvSpPr>
        <p:spPr>
          <a:xfrm>
            <a:off x="1143000" y="3323844"/>
            <a:ext cx="16193110" cy="333756"/>
          </a:xfrm>
          <a:prstGeom prst="rect">
            <a:avLst/>
          </a:prstGeom>
          <a:noFill/>
          <a:ln/>
        </p:spPr>
        <p:txBody>
          <a:bodyPr wrap="none" lIns="0" tIns="0" rIns="0" bIns="0" rtlCol="0" anchor="ctr"/>
          <a:lstStyle/>
          <a:p>
            <a:pPr algn="l" indent="0" marL="0">
              <a:buNone/>
            </a:pPr>
            <a:r>
              <a:rPr lang="en-US" sz="1800" b="1" dirty="0">
                <a:solidFill>
                  <a:srgbClr val="14213D"/>
                </a:solidFill>
                <a:latin typeface="Noto Sans KR" pitchFamily="34" charset="0"/>
                <a:ea typeface="Noto Sans KR" pitchFamily="34" charset="-122"/>
                <a:cs typeface="Noto Sans KR" pitchFamily="34" charset="-120"/>
              </a:rPr>
              <a:t>3 split × 7 항목</a:t>
            </a:r>
            <a:endParaRPr lang="en-US" sz="1800" dirty="0"/>
          </a:p>
        </p:txBody>
      </p:sp>
      <p:sp>
        <p:nvSpPr>
          <p:cNvPr id="15" name="Shape 9"/>
          <p:cNvSpPr/>
          <p:nvPr/>
        </p:nvSpPr>
        <p:spPr>
          <a:xfrm>
            <a:off x="1143000" y="4324198"/>
            <a:ext cx="16002000" cy="19202"/>
          </a:xfrm>
          <a:prstGeom prst="rect">
            <a:avLst/>
          </a:prstGeom>
          <a:solidFill>
            <a:srgbClr val="14213D"/>
          </a:solidFill>
          <a:ln w="12700">
            <a:solidFill>
              <a:srgbClr val="14213D">
                <a:alpha val="0"/>
              </a:srgbClr>
            </a:solidFill>
            <a:prstDash val="solid"/>
          </a:ln>
        </p:spPr>
      </p:sp>
      <p:sp>
        <p:nvSpPr>
          <p:cNvPr id="16" name="Text 10"/>
          <p:cNvSpPr txBox="1"/>
          <p:nvPr/>
        </p:nvSpPr>
        <p:spPr>
          <a:xfrm>
            <a:off x="1143000" y="3847795"/>
            <a:ext cx="2667305" cy="305410"/>
          </a:xfrm>
          <a:prstGeom prst="rect">
            <a:avLst/>
          </a:prstGeom>
          <a:noFill/>
          <a:ln/>
        </p:spPr>
        <p:txBody>
          <a:bodyPr wrap="square" lIns="0" tIns="0" rIns="0" bIns="0" rtlCol="0" anchor="ctr"/>
          <a:lstStyle/>
          <a:p>
            <a:pPr algn="l" indent="0" marL="0">
              <a:buNone/>
            </a:pPr>
            <a:r>
              <a:rPr lang="en-US" sz="900" b="1" spc="144" kern="0" dirty="0">
                <a:solidFill>
                  <a:srgbClr val="94A3B8"/>
                </a:solidFill>
                <a:latin typeface="Sora" pitchFamily="34" charset="0"/>
                <a:ea typeface="Sora" pitchFamily="34" charset="-122"/>
                <a:cs typeface="Sora" pitchFamily="34" charset="-120"/>
              </a:rPr>
              <a:t>SPLIT</a:t>
            </a:r>
            <a:endParaRPr lang="en-US" sz="900" dirty="0"/>
          </a:p>
        </p:txBody>
      </p:sp>
      <p:sp>
        <p:nvSpPr>
          <p:cNvPr id="17" name="Text 11"/>
          <p:cNvSpPr txBox="1"/>
          <p:nvPr/>
        </p:nvSpPr>
        <p:spPr>
          <a:xfrm>
            <a:off x="3810305" y="3847795"/>
            <a:ext cx="1905610" cy="305410"/>
          </a:xfrm>
          <a:prstGeom prst="rect">
            <a:avLst/>
          </a:prstGeom>
          <a:noFill/>
          <a:ln/>
        </p:spPr>
        <p:txBody>
          <a:bodyPr wrap="square" lIns="0" tIns="0" rIns="0" bIns="0" rtlCol="0" anchor="t"/>
          <a:lstStyle/>
          <a:p>
            <a:pPr algn="r" indent="0" marL="0">
              <a:buNone/>
            </a:pPr>
            <a:r>
              <a:rPr lang="en-US" sz="900" b="1" spc="144" kern="0" dirty="0">
                <a:solidFill>
                  <a:srgbClr val="94A3B8"/>
                </a:solidFill>
                <a:latin typeface="Sora" pitchFamily="34" charset="0"/>
                <a:ea typeface="Sora" pitchFamily="34" charset="-122"/>
                <a:cs typeface="Sora" pitchFamily="34" charset="-120"/>
              </a:rPr>
              <a:t>Line Rs</a:t>
            </a:r>
            <a:pPr algn="r" indent="0" marL="0">
              <a:buNone/>
            </a:pPr>
            <a:endParaRPr lang="en-US" sz="900" dirty="0"/>
          </a:p>
          <a:p>
            <a:pPr algn="r" indent="0" marL="0">
              <a:buNone/>
            </a:pPr>
            <a:r>
              <a:rPr lang="en-US" sz="800" b="1" spc="144" kern="0" dirty="0">
                <a:solidFill>
                  <a:srgbClr val="94A3B8"/>
                </a:solidFill>
                <a:latin typeface="Sora" pitchFamily="34" charset="0"/>
                <a:ea typeface="Sora" pitchFamily="34" charset="-122"/>
                <a:cs typeface="Sora" pitchFamily="34" charset="-120"/>
              </a:rPr>
              <a:t>Ω / sq</a:t>
            </a:r>
            <a:endParaRPr lang="en-US" sz="900" dirty="0"/>
          </a:p>
        </p:txBody>
      </p:sp>
      <p:sp>
        <p:nvSpPr>
          <p:cNvPr id="18" name="Text 12"/>
          <p:cNvSpPr txBox="1"/>
          <p:nvPr/>
        </p:nvSpPr>
        <p:spPr>
          <a:xfrm>
            <a:off x="5715000" y="3847795"/>
            <a:ext cx="1905610" cy="305410"/>
          </a:xfrm>
          <a:prstGeom prst="rect">
            <a:avLst/>
          </a:prstGeom>
          <a:noFill/>
          <a:ln/>
        </p:spPr>
        <p:txBody>
          <a:bodyPr wrap="square" lIns="0" tIns="0" rIns="0" bIns="0" rtlCol="0" anchor="t"/>
          <a:lstStyle/>
          <a:p>
            <a:pPr algn="r" indent="0" marL="0">
              <a:buNone/>
            </a:pPr>
            <a:r>
              <a:rPr lang="en-US" sz="900" b="1" spc="144" kern="0" dirty="0">
                <a:solidFill>
                  <a:srgbClr val="94A3B8"/>
                </a:solidFill>
                <a:latin typeface="Sora" pitchFamily="34" charset="0"/>
                <a:ea typeface="Sora" pitchFamily="34" charset="-122"/>
                <a:cs typeface="Sora" pitchFamily="34" charset="-120"/>
              </a:rPr>
              <a:t>Via Rc</a:t>
            </a:r>
            <a:pPr algn="r" indent="0" marL="0">
              <a:buNone/>
            </a:pPr>
            <a:endParaRPr lang="en-US" sz="900" dirty="0"/>
          </a:p>
          <a:p>
            <a:pPr algn="r" indent="0" marL="0">
              <a:buNone/>
            </a:pPr>
            <a:r>
              <a:rPr lang="en-US" sz="800" b="1" spc="144" kern="0" dirty="0">
                <a:solidFill>
                  <a:srgbClr val="94A3B8"/>
                </a:solidFill>
                <a:latin typeface="Sora" pitchFamily="34" charset="0"/>
                <a:ea typeface="Sora" pitchFamily="34" charset="-122"/>
                <a:cs typeface="Sora" pitchFamily="34" charset="-120"/>
              </a:rPr>
              <a:t>Ω / via</a:t>
            </a:r>
            <a:endParaRPr lang="en-US" sz="900" dirty="0"/>
          </a:p>
        </p:txBody>
      </p:sp>
      <p:sp>
        <p:nvSpPr>
          <p:cNvPr id="19" name="Text 13"/>
          <p:cNvSpPr txBox="1"/>
          <p:nvPr/>
        </p:nvSpPr>
        <p:spPr>
          <a:xfrm>
            <a:off x="7619695" y="3847795"/>
            <a:ext cx="1905610" cy="305410"/>
          </a:xfrm>
          <a:prstGeom prst="rect">
            <a:avLst/>
          </a:prstGeom>
          <a:noFill/>
          <a:ln/>
        </p:spPr>
        <p:txBody>
          <a:bodyPr wrap="square" lIns="0" tIns="0" rIns="0" bIns="0" rtlCol="0" anchor="t"/>
          <a:lstStyle/>
          <a:p>
            <a:pPr algn="r" indent="0" marL="0">
              <a:buNone/>
            </a:pPr>
            <a:r>
              <a:rPr lang="en-US" sz="900" b="1" spc="144" kern="0" dirty="0">
                <a:solidFill>
                  <a:srgbClr val="94A3B8"/>
                </a:solidFill>
                <a:latin typeface="Sora" pitchFamily="34" charset="0"/>
                <a:ea typeface="Sora" pitchFamily="34" charset="-122"/>
                <a:cs typeface="Sora" pitchFamily="34" charset="-120"/>
              </a:rPr>
              <a:t>C ll</a:t>
            </a:r>
            <a:pPr algn="r" indent="0" marL="0">
              <a:buNone/>
            </a:pPr>
            <a:endParaRPr lang="en-US" sz="900" dirty="0"/>
          </a:p>
          <a:p>
            <a:pPr algn="r" indent="0" marL="0">
              <a:buNone/>
            </a:pPr>
            <a:r>
              <a:rPr lang="en-US" sz="800" b="1" spc="144" kern="0" dirty="0">
                <a:solidFill>
                  <a:srgbClr val="94A3B8"/>
                </a:solidFill>
                <a:latin typeface="Sora" pitchFamily="34" charset="0"/>
                <a:ea typeface="Sora" pitchFamily="34" charset="-122"/>
                <a:cs typeface="Sora" pitchFamily="34" charset="-120"/>
              </a:rPr>
              <a:t>aF/μm</a:t>
            </a:r>
            <a:endParaRPr lang="en-US" sz="900" dirty="0"/>
          </a:p>
        </p:txBody>
      </p:sp>
      <p:sp>
        <p:nvSpPr>
          <p:cNvPr id="20" name="Text 14"/>
          <p:cNvSpPr txBox="1"/>
          <p:nvPr/>
        </p:nvSpPr>
        <p:spPr>
          <a:xfrm>
            <a:off x="9525305" y="3847795"/>
            <a:ext cx="1905610" cy="305410"/>
          </a:xfrm>
          <a:prstGeom prst="rect">
            <a:avLst/>
          </a:prstGeom>
          <a:noFill/>
          <a:ln/>
        </p:spPr>
        <p:txBody>
          <a:bodyPr wrap="square" lIns="0" tIns="0" rIns="0" bIns="0" rtlCol="0" anchor="t"/>
          <a:lstStyle/>
          <a:p>
            <a:pPr algn="r" indent="0" marL="0">
              <a:buNone/>
            </a:pPr>
            <a:r>
              <a:rPr lang="en-US" sz="900" b="1" spc="144" kern="0" dirty="0">
                <a:solidFill>
                  <a:srgbClr val="94A3B8"/>
                </a:solidFill>
                <a:latin typeface="Sora" pitchFamily="34" charset="0"/>
                <a:ea typeface="Sora" pitchFamily="34" charset="-122"/>
                <a:cs typeface="Sora" pitchFamily="34" charset="-120"/>
              </a:rPr>
              <a:t>Leak</a:t>
            </a:r>
            <a:pPr algn="r" indent="0" marL="0">
              <a:buNone/>
            </a:pPr>
            <a:endParaRPr lang="en-US" sz="900" dirty="0"/>
          </a:p>
          <a:p>
            <a:pPr algn="r" indent="0" marL="0">
              <a:buNone/>
            </a:pPr>
            <a:r>
              <a:rPr lang="en-US" sz="800" b="1" spc="144" kern="0" dirty="0">
                <a:solidFill>
                  <a:srgbClr val="94A3B8"/>
                </a:solidFill>
                <a:latin typeface="Sora" pitchFamily="34" charset="0"/>
                <a:ea typeface="Sora" pitchFamily="34" charset="-122"/>
                <a:cs typeface="Sora" pitchFamily="34" charset="-120"/>
              </a:rPr>
              <a:t>A @ 1 V</a:t>
            </a:r>
            <a:endParaRPr lang="en-US" sz="900" dirty="0"/>
          </a:p>
        </p:txBody>
      </p:sp>
      <p:sp>
        <p:nvSpPr>
          <p:cNvPr id="21" name="Text 15"/>
          <p:cNvSpPr txBox="1"/>
          <p:nvPr/>
        </p:nvSpPr>
        <p:spPr>
          <a:xfrm>
            <a:off x="11430000" y="3847795"/>
            <a:ext cx="1905610" cy="305410"/>
          </a:xfrm>
          <a:prstGeom prst="rect">
            <a:avLst/>
          </a:prstGeom>
          <a:noFill/>
          <a:ln/>
        </p:spPr>
        <p:txBody>
          <a:bodyPr wrap="square" lIns="0" tIns="0" rIns="0" bIns="0" rtlCol="0" anchor="t"/>
          <a:lstStyle/>
          <a:p>
            <a:pPr algn="r" indent="0" marL="0">
              <a:buNone/>
            </a:pPr>
            <a:r>
              <a:rPr lang="en-US" sz="900" b="1" spc="144" kern="0" dirty="0">
                <a:solidFill>
                  <a:srgbClr val="94A3B8"/>
                </a:solidFill>
                <a:latin typeface="Sora" pitchFamily="34" charset="0"/>
                <a:ea typeface="Sora" pitchFamily="34" charset="-122"/>
                <a:cs typeface="Sora" pitchFamily="34" charset="-120"/>
              </a:rPr>
              <a:t>TDDB β</a:t>
            </a:r>
            <a:pPr algn="r" indent="0" marL="0">
              <a:buNone/>
            </a:pPr>
            <a:endParaRPr lang="en-US" sz="900" dirty="0"/>
          </a:p>
          <a:p>
            <a:pPr algn="r" indent="0" marL="0">
              <a:buNone/>
            </a:pPr>
            <a:r>
              <a:rPr lang="en-US" sz="800" b="1" spc="144" kern="0" dirty="0">
                <a:solidFill>
                  <a:srgbClr val="94A3B8"/>
                </a:solidFill>
                <a:latin typeface="Sora" pitchFamily="34" charset="0"/>
                <a:ea typeface="Sora" pitchFamily="34" charset="-122"/>
                <a:cs typeface="Sora" pitchFamily="34" charset="-120"/>
              </a:rPr>
              <a:t>—</a:t>
            </a:r>
            <a:endParaRPr lang="en-US" sz="900" dirty="0"/>
          </a:p>
        </p:txBody>
      </p:sp>
      <p:sp>
        <p:nvSpPr>
          <p:cNvPr id="22" name="Text 16"/>
          <p:cNvSpPr txBox="1"/>
          <p:nvPr/>
        </p:nvSpPr>
        <p:spPr>
          <a:xfrm>
            <a:off x="13334695" y="3847795"/>
            <a:ext cx="1905610" cy="305410"/>
          </a:xfrm>
          <a:prstGeom prst="rect">
            <a:avLst/>
          </a:prstGeom>
          <a:noFill/>
          <a:ln/>
        </p:spPr>
        <p:txBody>
          <a:bodyPr wrap="square" lIns="0" tIns="0" rIns="0" bIns="0" rtlCol="0" anchor="t"/>
          <a:lstStyle/>
          <a:p>
            <a:pPr algn="r" indent="0" marL="0">
              <a:buNone/>
            </a:pPr>
            <a:r>
              <a:rPr lang="en-US" sz="900" b="1" spc="144" kern="0" dirty="0">
                <a:solidFill>
                  <a:srgbClr val="94A3B8"/>
                </a:solidFill>
                <a:latin typeface="Sora" pitchFamily="34" charset="0"/>
                <a:ea typeface="Sora" pitchFamily="34" charset="-122"/>
                <a:cs typeface="Sora" pitchFamily="34" charset="-120"/>
              </a:rPr>
              <a:t>TDDB T63</a:t>
            </a:r>
            <a:pPr algn="r" indent="0" marL="0">
              <a:buNone/>
            </a:pPr>
            <a:endParaRPr lang="en-US" sz="900" dirty="0"/>
          </a:p>
          <a:p>
            <a:pPr algn="r" indent="0" marL="0">
              <a:buNone/>
            </a:pPr>
            <a:r>
              <a:rPr lang="en-US" sz="800" b="1" spc="144" kern="0" dirty="0">
                <a:solidFill>
                  <a:srgbClr val="94A3B8"/>
                </a:solidFill>
                <a:latin typeface="Sora" pitchFamily="34" charset="0"/>
                <a:ea typeface="Sora" pitchFamily="34" charset="-122"/>
                <a:cs typeface="Sora" pitchFamily="34" charset="-120"/>
              </a:rPr>
              <a:t>hr</a:t>
            </a:r>
            <a:endParaRPr lang="en-US" sz="900" dirty="0"/>
          </a:p>
        </p:txBody>
      </p:sp>
      <p:sp>
        <p:nvSpPr>
          <p:cNvPr id="23" name="Text 17"/>
          <p:cNvSpPr txBox="1"/>
          <p:nvPr/>
        </p:nvSpPr>
        <p:spPr>
          <a:xfrm>
            <a:off x="15240305" y="3847795"/>
            <a:ext cx="1905610" cy="305410"/>
          </a:xfrm>
          <a:prstGeom prst="rect">
            <a:avLst/>
          </a:prstGeom>
          <a:noFill/>
          <a:ln/>
        </p:spPr>
        <p:txBody>
          <a:bodyPr wrap="square" lIns="0" tIns="0" rIns="0" bIns="0" rtlCol="0" anchor="t"/>
          <a:lstStyle/>
          <a:p>
            <a:pPr algn="r" indent="0" marL="0">
              <a:buNone/>
            </a:pPr>
            <a:r>
              <a:rPr lang="en-US" sz="900" b="1" spc="144" kern="0" dirty="0">
                <a:solidFill>
                  <a:srgbClr val="94A3B8"/>
                </a:solidFill>
                <a:latin typeface="Sora" pitchFamily="34" charset="0"/>
                <a:ea typeface="Sora" pitchFamily="34" charset="-122"/>
                <a:cs typeface="Sora" pitchFamily="34" charset="-120"/>
              </a:rPr>
              <a:t>EM TTF</a:t>
            </a:r>
            <a:pPr algn="r" indent="0" marL="0">
              <a:buNone/>
            </a:pPr>
            <a:endParaRPr lang="en-US" sz="900" dirty="0"/>
          </a:p>
          <a:p>
            <a:pPr algn="r" indent="0" marL="0">
              <a:buNone/>
            </a:pPr>
            <a:r>
              <a:rPr lang="en-US" sz="800" b="1" spc="144" kern="0" dirty="0">
                <a:solidFill>
                  <a:srgbClr val="94A3B8"/>
                </a:solidFill>
                <a:latin typeface="Sora" pitchFamily="34" charset="0"/>
                <a:ea typeface="Sora" pitchFamily="34" charset="-122"/>
                <a:cs typeface="Sora" pitchFamily="34" charset="-120"/>
              </a:rPr>
              <a:t>hr</a:t>
            </a:r>
            <a:endParaRPr lang="en-US" sz="900" dirty="0"/>
          </a:p>
        </p:txBody>
      </p:sp>
      <p:sp>
        <p:nvSpPr>
          <p:cNvPr id="24" name="Shape 18"/>
          <p:cNvSpPr/>
          <p:nvPr/>
        </p:nvSpPr>
        <p:spPr>
          <a:xfrm>
            <a:off x="1143000" y="5324551"/>
            <a:ext cx="16002000" cy="9144"/>
          </a:xfrm>
          <a:prstGeom prst="rect">
            <a:avLst/>
          </a:prstGeom>
          <a:solidFill>
            <a:srgbClr val="DCE3EE"/>
          </a:solidFill>
          <a:ln w="12700">
            <a:solidFill>
              <a:srgbClr val="DCE3EE">
                <a:alpha val="0"/>
              </a:srgbClr>
            </a:solidFill>
            <a:prstDash val="solid"/>
          </a:ln>
        </p:spPr>
      </p:sp>
      <p:sp>
        <p:nvSpPr>
          <p:cNvPr id="25" name="Shape 19"/>
          <p:cNvSpPr/>
          <p:nvPr/>
        </p:nvSpPr>
        <p:spPr>
          <a:xfrm>
            <a:off x="1143000" y="4657954"/>
            <a:ext cx="133502" cy="133502"/>
          </a:xfrm>
          <a:prstGeom prst="rect">
            <a:avLst/>
          </a:prstGeom>
          <a:solidFill>
            <a:srgbClr val="1E5F9C"/>
          </a:solidFill>
          <a:ln w="12700">
            <a:solidFill>
              <a:srgbClr val="FFFFFF">
                <a:alpha val="0"/>
              </a:srgbClr>
            </a:solidFill>
            <a:prstDash val="solid"/>
          </a:ln>
        </p:spPr>
      </p:sp>
      <p:sp>
        <p:nvSpPr>
          <p:cNvPr id="26" name="Text 20"/>
          <p:cNvSpPr txBox="1"/>
          <p:nvPr/>
        </p:nvSpPr>
        <p:spPr>
          <a:xfrm>
            <a:off x="1410005" y="4572000"/>
            <a:ext cx="944575" cy="305410"/>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Group A</a:t>
            </a:r>
            <a:endParaRPr lang="en-US" sz="1650" dirty="0"/>
          </a:p>
        </p:txBody>
      </p:sp>
      <p:sp>
        <p:nvSpPr>
          <p:cNvPr id="27" name="Text 21"/>
          <p:cNvSpPr txBox="1"/>
          <p:nvPr/>
        </p:nvSpPr>
        <p:spPr>
          <a:xfrm>
            <a:off x="2395728" y="4610405"/>
            <a:ext cx="553212"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Ru 1nm</a:t>
            </a:r>
            <a:endParaRPr lang="en-US" sz="1200" dirty="0"/>
          </a:p>
        </p:txBody>
      </p:sp>
      <p:sp>
        <p:nvSpPr>
          <p:cNvPr id="28" name="Text 22"/>
          <p:cNvSpPr txBox="1"/>
          <p:nvPr/>
        </p:nvSpPr>
        <p:spPr>
          <a:xfrm>
            <a:off x="1143000" y="4934102"/>
            <a:ext cx="2667305" cy="162763"/>
          </a:xfrm>
          <a:prstGeom prst="rect">
            <a:avLst/>
          </a:prstGeom>
          <a:noFill/>
          <a:ln/>
        </p:spPr>
        <p:txBody>
          <a:bodyPr wrap="none" lIns="0" tIns="0" rIns="0" bIns="0" rtlCol="0" anchor="ctr"/>
          <a:lstStyle/>
          <a:p>
            <a:pPr algn="l" indent="0" marL="0">
              <a:buNone/>
            </a:pPr>
            <a:r>
              <a:rPr lang="en-US" sz="975" spc="156" kern="0" dirty="0">
                <a:solidFill>
                  <a:srgbClr val="94A3B8"/>
                </a:solidFill>
                <a:latin typeface="Sora" pitchFamily="34" charset="0"/>
                <a:ea typeface="Sora" pitchFamily="34" charset="-122"/>
                <a:cs typeface="Sora" pitchFamily="34" charset="-120"/>
              </a:rPr>
              <a:t>W01 · W04</a:t>
            </a:r>
            <a:endParaRPr lang="en-US" sz="975" dirty="0"/>
          </a:p>
        </p:txBody>
      </p:sp>
      <p:sp>
        <p:nvSpPr>
          <p:cNvPr id="29" name="Text 23"/>
          <p:cNvSpPr txBox="1"/>
          <p:nvPr/>
        </p:nvSpPr>
        <p:spPr>
          <a:xfrm>
            <a:off x="3810305" y="4705502"/>
            <a:ext cx="1905610"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0.92</a:t>
            </a:r>
            <a:endParaRPr lang="en-US" sz="1650" dirty="0"/>
          </a:p>
        </p:txBody>
      </p:sp>
      <p:sp>
        <p:nvSpPr>
          <p:cNvPr id="30" name="Text 24"/>
          <p:cNvSpPr txBox="1"/>
          <p:nvPr/>
        </p:nvSpPr>
        <p:spPr>
          <a:xfrm>
            <a:off x="5715000" y="4705502"/>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18.4</a:t>
            </a:r>
            <a:endParaRPr lang="en-US" sz="1650" dirty="0"/>
          </a:p>
        </p:txBody>
      </p:sp>
      <p:sp>
        <p:nvSpPr>
          <p:cNvPr id="31" name="Text 25"/>
          <p:cNvSpPr txBox="1"/>
          <p:nvPr/>
        </p:nvSpPr>
        <p:spPr>
          <a:xfrm>
            <a:off x="7619695" y="4705502"/>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184</a:t>
            </a:r>
            <a:endParaRPr lang="en-US" sz="1650" dirty="0"/>
          </a:p>
        </p:txBody>
      </p:sp>
      <p:sp>
        <p:nvSpPr>
          <p:cNvPr id="32" name="Text 26"/>
          <p:cNvSpPr txBox="1"/>
          <p:nvPr/>
        </p:nvSpPr>
        <p:spPr>
          <a:xfrm>
            <a:off x="9525305" y="4714646"/>
            <a:ext cx="1905610" cy="238658"/>
          </a:xfrm>
          <a:prstGeom prst="rect">
            <a:avLst/>
          </a:prstGeom>
          <a:noFill/>
          <a:ln/>
        </p:spPr>
        <p:txBody>
          <a:bodyPr wrap="none" lIns="0" tIns="0" rIns="0" bIns="0" rtlCol="0" anchor="ctr"/>
          <a:lstStyle/>
          <a:p>
            <a:pPr algn="r" indent="0" marL="0">
              <a:buNone/>
            </a:pPr>
            <a:r>
              <a:rPr lang="en-US" sz="1500" dirty="0">
                <a:solidFill>
                  <a:srgbClr val="455670"/>
                </a:solidFill>
                <a:latin typeface="Sora" pitchFamily="34" charset="0"/>
                <a:ea typeface="Sora" pitchFamily="34" charset="-122"/>
                <a:cs typeface="Sora" pitchFamily="34" charset="-120"/>
              </a:rPr>
              <a:t>2.1e-9</a:t>
            </a:r>
            <a:endParaRPr lang="en-US" sz="1500" dirty="0"/>
          </a:p>
        </p:txBody>
      </p:sp>
      <p:sp>
        <p:nvSpPr>
          <p:cNvPr id="33" name="Text 27"/>
          <p:cNvSpPr txBox="1"/>
          <p:nvPr/>
        </p:nvSpPr>
        <p:spPr>
          <a:xfrm>
            <a:off x="11430000" y="4705502"/>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1.7</a:t>
            </a:r>
            <a:endParaRPr lang="en-US" sz="1650" dirty="0"/>
          </a:p>
        </p:txBody>
      </p:sp>
      <p:sp>
        <p:nvSpPr>
          <p:cNvPr id="34" name="Text 28"/>
          <p:cNvSpPr txBox="1"/>
          <p:nvPr/>
        </p:nvSpPr>
        <p:spPr>
          <a:xfrm>
            <a:off x="13334695" y="4705502"/>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920</a:t>
            </a:r>
            <a:endParaRPr lang="en-US" sz="1650" dirty="0"/>
          </a:p>
        </p:txBody>
      </p:sp>
      <p:sp>
        <p:nvSpPr>
          <p:cNvPr id="35" name="Text 29"/>
          <p:cNvSpPr txBox="1"/>
          <p:nvPr/>
        </p:nvSpPr>
        <p:spPr>
          <a:xfrm>
            <a:off x="15240305" y="4705502"/>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1240</a:t>
            </a:r>
            <a:endParaRPr lang="en-US" sz="1650" dirty="0"/>
          </a:p>
        </p:txBody>
      </p:sp>
      <p:sp>
        <p:nvSpPr>
          <p:cNvPr id="36" name="Shape 30"/>
          <p:cNvSpPr/>
          <p:nvPr/>
        </p:nvSpPr>
        <p:spPr>
          <a:xfrm>
            <a:off x="1143000" y="6314846"/>
            <a:ext cx="16002000" cy="9144"/>
          </a:xfrm>
          <a:prstGeom prst="rect">
            <a:avLst/>
          </a:prstGeom>
          <a:solidFill>
            <a:srgbClr val="DCE3EE"/>
          </a:solidFill>
          <a:ln w="12700">
            <a:solidFill>
              <a:srgbClr val="DCE3EE">
                <a:alpha val="0"/>
              </a:srgbClr>
            </a:solidFill>
            <a:prstDash val="solid"/>
          </a:ln>
        </p:spPr>
      </p:sp>
      <p:sp>
        <p:nvSpPr>
          <p:cNvPr id="37" name="Shape 31"/>
          <p:cNvSpPr/>
          <p:nvPr/>
        </p:nvSpPr>
        <p:spPr>
          <a:xfrm>
            <a:off x="1143000" y="5648249"/>
            <a:ext cx="133502" cy="133502"/>
          </a:xfrm>
          <a:prstGeom prst="rect">
            <a:avLst/>
          </a:prstGeom>
          <a:solidFill>
            <a:srgbClr val="4F86C0"/>
          </a:solidFill>
          <a:ln w="12700">
            <a:solidFill>
              <a:srgbClr val="FFFFFF">
                <a:alpha val="0"/>
              </a:srgbClr>
            </a:solidFill>
            <a:prstDash val="solid"/>
          </a:ln>
        </p:spPr>
      </p:sp>
      <p:sp>
        <p:nvSpPr>
          <p:cNvPr id="38" name="Text 32"/>
          <p:cNvSpPr txBox="1"/>
          <p:nvPr/>
        </p:nvSpPr>
        <p:spPr>
          <a:xfrm>
            <a:off x="1410005" y="5562295"/>
            <a:ext cx="944575" cy="305410"/>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Group B</a:t>
            </a:r>
            <a:endParaRPr lang="en-US" sz="1650" dirty="0"/>
          </a:p>
        </p:txBody>
      </p:sp>
      <p:sp>
        <p:nvSpPr>
          <p:cNvPr id="39" name="Text 33"/>
          <p:cNvSpPr txBox="1"/>
          <p:nvPr/>
        </p:nvSpPr>
        <p:spPr>
          <a:xfrm>
            <a:off x="2403043" y="5600700"/>
            <a:ext cx="553212"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Ru 2nm</a:t>
            </a:r>
            <a:endParaRPr lang="en-US" sz="1200" dirty="0"/>
          </a:p>
        </p:txBody>
      </p:sp>
      <p:sp>
        <p:nvSpPr>
          <p:cNvPr id="40" name="Text 34"/>
          <p:cNvSpPr txBox="1"/>
          <p:nvPr/>
        </p:nvSpPr>
        <p:spPr>
          <a:xfrm>
            <a:off x="1143000" y="5924398"/>
            <a:ext cx="2667305" cy="162763"/>
          </a:xfrm>
          <a:prstGeom prst="rect">
            <a:avLst/>
          </a:prstGeom>
          <a:noFill/>
          <a:ln/>
        </p:spPr>
        <p:txBody>
          <a:bodyPr wrap="none" lIns="0" tIns="0" rIns="0" bIns="0" rtlCol="0" anchor="ctr"/>
          <a:lstStyle/>
          <a:p>
            <a:pPr algn="l" indent="0" marL="0">
              <a:buNone/>
            </a:pPr>
            <a:r>
              <a:rPr lang="en-US" sz="975" spc="156" kern="0" dirty="0">
                <a:solidFill>
                  <a:srgbClr val="94A3B8"/>
                </a:solidFill>
                <a:latin typeface="Sora" pitchFamily="34" charset="0"/>
                <a:ea typeface="Sora" pitchFamily="34" charset="-122"/>
                <a:cs typeface="Sora" pitchFamily="34" charset="-120"/>
              </a:rPr>
              <a:t>W02 · W05</a:t>
            </a:r>
            <a:endParaRPr lang="en-US" sz="975" dirty="0"/>
          </a:p>
        </p:txBody>
      </p:sp>
      <p:sp>
        <p:nvSpPr>
          <p:cNvPr id="41" name="Text 35"/>
          <p:cNvSpPr txBox="1"/>
          <p:nvPr/>
        </p:nvSpPr>
        <p:spPr>
          <a:xfrm>
            <a:off x="3810305" y="5695798"/>
            <a:ext cx="1905610" cy="257861"/>
          </a:xfrm>
          <a:prstGeom prst="rect">
            <a:avLst/>
          </a:prstGeom>
          <a:noFill/>
          <a:ln/>
        </p:spPr>
        <p:txBody>
          <a:bodyPr wrap="none" lIns="0" tIns="0" rIns="0" bIns="0" rtlCol="0" anchor="ctr"/>
          <a:lstStyle/>
          <a:p>
            <a:pPr algn="r" indent="0" marL="0">
              <a:buNone/>
            </a:pPr>
            <a:r>
              <a:rPr lang="en-US" sz="1650" b="1" dirty="0">
                <a:solidFill>
                  <a:srgbClr val="14213D"/>
                </a:solidFill>
                <a:latin typeface="Sora" pitchFamily="34" charset="0"/>
                <a:ea typeface="Sora" pitchFamily="34" charset="-122"/>
                <a:cs typeface="Sora" pitchFamily="34" charset="-120"/>
              </a:rPr>
              <a:t>0.88</a:t>
            </a:r>
            <a:endParaRPr lang="en-US" sz="1650" dirty="0"/>
          </a:p>
        </p:txBody>
      </p:sp>
      <p:sp>
        <p:nvSpPr>
          <p:cNvPr id="42" name="Text 36"/>
          <p:cNvSpPr txBox="1"/>
          <p:nvPr/>
        </p:nvSpPr>
        <p:spPr>
          <a:xfrm>
            <a:off x="5715000" y="5695798"/>
            <a:ext cx="1905610" cy="257861"/>
          </a:xfrm>
          <a:prstGeom prst="rect">
            <a:avLst/>
          </a:prstGeom>
          <a:noFill/>
          <a:ln/>
        </p:spPr>
        <p:txBody>
          <a:bodyPr wrap="none" lIns="0" tIns="0" rIns="0" bIns="0" rtlCol="0" anchor="ctr"/>
          <a:lstStyle/>
          <a:p>
            <a:pPr algn="r" indent="0" marL="0">
              <a:buNone/>
            </a:pPr>
            <a:r>
              <a:rPr lang="en-US" sz="1650" b="1" dirty="0">
                <a:solidFill>
                  <a:srgbClr val="4F86C0"/>
                </a:solidFill>
                <a:latin typeface="Sora" pitchFamily="34" charset="0"/>
                <a:ea typeface="Sora" pitchFamily="34" charset="-122"/>
                <a:cs typeface="Sora" pitchFamily="34" charset="-120"/>
              </a:rPr>
              <a:t>17.6</a:t>
            </a:r>
            <a:endParaRPr lang="en-US" sz="1650" dirty="0"/>
          </a:p>
        </p:txBody>
      </p:sp>
      <p:sp>
        <p:nvSpPr>
          <p:cNvPr id="43" name="Text 37"/>
          <p:cNvSpPr txBox="1"/>
          <p:nvPr/>
        </p:nvSpPr>
        <p:spPr>
          <a:xfrm>
            <a:off x="7619695" y="5695798"/>
            <a:ext cx="1905610" cy="257861"/>
          </a:xfrm>
          <a:prstGeom prst="rect">
            <a:avLst/>
          </a:prstGeom>
          <a:noFill/>
          <a:ln/>
        </p:spPr>
        <p:txBody>
          <a:bodyPr wrap="none" lIns="0" tIns="0" rIns="0" bIns="0" rtlCol="0" anchor="ctr"/>
          <a:lstStyle/>
          <a:p>
            <a:pPr algn="r" indent="0" marL="0">
              <a:buNone/>
            </a:pPr>
            <a:r>
              <a:rPr lang="en-US" sz="1650" b="1" dirty="0">
                <a:solidFill>
                  <a:srgbClr val="4F86C0"/>
                </a:solidFill>
                <a:latin typeface="Sora" pitchFamily="34" charset="0"/>
                <a:ea typeface="Sora" pitchFamily="34" charset="-122"/>
                <a:cs typeface="Sora" pitchFamily="34" charset="-120"/>
              </a:rPr>
              <a:t>178</a:t>
            </a:r>
            <a:endParaRPr lang="en-US" sz="1650" dirty="0"/>
          </a:p>
        </p:txBody>
      </p:sp>
      <p:sp>
        <p:nvSpPr>
          <p:cNvPr id="44" name="Text 38"/>
          <p:cNvSpPr txBox="1"/>
          <p:nvPr/>
        </p:nvSpPr>
        <p:spPr>
          <a:xfrm>
            <a:off x="9525305" y="5705856"/>
            <a:ext cx="1905610" cy="238658"/>
          </a:xfrm>
          <a:prstGeom prst="rect">
            <a:avLst/>
          </a:prstGeom>
          <a:noFill/>
          <a:ln/>
        </p:spPr>
        <p:txBody>
          <a:bodyPr wrap="none" lIns="0" tIns="0" rIns="0" bIns="0" rtlCol="0" anchor="ctr"/>
          <a:lstStyle/>
          <a:p>
            <a:pPr algn="r" indent="0" marL="0">
              <a:buNone/>
            </a:pPr>
            <a:r>
              <a:rPr lang="en-US" sz="1500" b="1" dirty="0">
                <a:solidFill>
                  <a:srgbClr val="4F86C0"/>
                </a:solidFill>
                <a:latin typeface="Sora" pitchFamily="34" charset="0"/>
                <a:ea typeface="Sora" pitchFamily="34" charset="-122"/>
                <a:cs typeface="Sora" pitchFamily="34" charset="-120"/>
              </a:rPr>
              <a:t>1.9e-9</a:t>
            </a:r>
            <a:endParaRPr lang="en-US" sz="1500" dirty="0"/>
          </a:p>
        </p:txBody>
      </p:sp>
      <p:sp>
        <p:nvSpPr>
          <p:cNvPr id="45" name="Text 39"/>
          <p:cNvSpPr txBox="1"/>
          <p:nvPr/>
        </p:nvSpPr>
        <p:spPr>
          <a:xfrm>
            <a:off x="11430000" y="5695798"/>
            <a:ext cx="1905610" cy="257861"/>
          </a:xfrm>
          <a:prstGeom prst="rect">
            <a:avLst/>
          </a:prstGeom>
          <a:noFill/>
          <a:ln/>
        </p:spPr>
        <p:txBody>
          <a:bodyPr wrap="none" lIns="0" tIns="0" rIns="0" bIns="0" rtlCol="0" anchor="ctr"/>
          <a:lstStyle/>
          <a:p>
            <a:pPr algn="r" indent="0" marL="0">
              <a:buNone/>
            </a:pPr>
            <a:r>
              <a:rPr lang="en-US" sz="1650" b="1" dirty="0">
                <a:solidFill>
                  <a:srgbClr val="4F86C0"/>
                </a:solidFill>
                <a:latin typeface="Sora" pitchFamily="34" charset="0"/>
                <a:ea typeface="Sora" pitchFamily="34" charset="-122"/>
                <a:cs typeface="Sora" pitchFamily="34" charset="-120"/>
              </a:rPr>
              <a:t>1.8</a:t>
            </a:r>
            <a:endParaRPr lang="en-US" sz="1650" dirty="0"/>
          </a:p>
        </p:txBody>
      </p:sp>
      <p:sp>
        <p:nvSpPr>
          <p:cNvPr id="46" name="Text 40"/>
          <p:cNvSpPr txBox="1"/>
          <p:nvPr/>
        </p:nvSpPr>
        <p:spPr>
          <a:xfrm>
            <a:off x="13334695" y="5695798"/>
            <a:ext cx="1905610" cy="257861"/>
          </a:xfrm>
          <a:prstGeom prst="rect">
            <a:avLst/>
          </a:prstGeom>
          <a:noFill/>
          <a:ln/>
        </p:spPr>
        <p:txBody>
          <a:bodyPr wrap="none" lIns="0" tIns="0" rIns="0" bIns="0" rtlCol="0" anchor="ctr"/>
          <a:lstStyle/>
          <a:p>
            <a:pPr algn="r" indent="0" marL="0">
              <a:buNone/>
            </a:pPr>
            <a:r>
              <a:rPr lang="en-US" sz="1650" b="1" dirty="0">
                <a:solidFill>
                  <a:srgbClr val="4F86C0"/>
                </a:solidFill>
                <a:latin typeface="Sora" pitchFamily="34" charset="0"/>
                <a:ea typeface="Sora" pitchFamily="34" charset="-122"/>
                <a:cs typeface="Sora" pitchFamily="34" charset="-120"/>
              </a:rPr>
              <a:t>985</a:t>
            </a:r>
            <a:endParaRPr lang="en-US" sz="1650" dirty="0"/>
          </a:p>
        </p:txBody>
      </p:sp>
      <p:sp>
        <p:nvSpPr>
          <p:cNvPr id="47" name="Text 41"/>
          <p:cNvSpPr txBox="1"/>
          <p:nvPr/>
        </p:nvSpPr>
        <p:spPr>
          <a:xfrm>
            <a:off x="15240305" y="5695798"/>
            <a:ext cx="1905610" cy="257861"/>
          </a:xfrm>
          <a:prstGeom prst="rect">
            <a:avLst/>
          </a:prstGeom>
          <a:noFill/>
          <a:ln/>
        </p:spPr>
        <p:txBody>
          <a:bodyPr wrap="none" lIns="0" tIns="0" rIns="0" bIns="0" rtlCol="0" anchor="ctr"/>
          <a:lstStyle/>
          <a:p>
            <a:pPr algn="r" indent="0" marL="0">
              <a:buNone/>
            </a:pPr>
            <a:r>
              <a:rPr lang="en-US" sz="1650" b="1" dirty="0">
                <a:solidFill>
                  <a:srgbClr val="4F86C0"/>
                </a:solidFill>
                <a:latin typeface="Sora" pitchFamily="34" charset="0"/>
                <a:ea typeface="Sora" pitchFamily="34" charset="-122"/>
                <a:cs typeface="Sora" pitchFamily="34" charset="-120"/>
              </a:rPr>
              <a:t>1380</a:t>
            </a:r>
            <a:endParaRPr lang="en-US" sz="1650" dirty="0"/>
          </a:p>
        </p:txBody>
      </p:sp>
      <p:sp>
        <p:nvSpPr>
          <p:cNvPr id="48" name="Shape 42"/>
          <p:cNvSpPr/>
          <p:nvPr/>
        </p:nvSpPr>
        <p:spPr>
          <a:xfrm>
            <a:off x="1143000" y="6638544"/>
            <a:ext cx="133502" cy="133502"/>
          </a:xfrm>
          <a:prstGeom prst="rect">
            <a:avLst/>
          </a:prstGeom>
          <a:solidFill>
            <a:srgbClr val="94A3B8"/>
          </a:solidFill>
          <a:ln w="12700">
            <a:solidFill>
              <a:srgbClr val="FFFFFF">
                <a:alpha val="0"/>
              </a:srgbClr>
            </a:solidFill>
            <a:prstDash val="solid"/>
          </a:ln>
        </p:spPr>
      </p:sp>
      <p:sp>
        <p:nvSpPr>
          <p:cNvPr id="49" name="Text 43"/>
          <p:cNvSpPr txBox="1"/>
          <p:nvPr/>
        </p:nvSpPr>
        <p:spPr>
          <a:xfrm>
            <a:off x="1410005" y="6553505"/>
            <a:ext cx="944575" cy="305410"/>
          </a:xfrm>
          <a:prstGeom prst="rect">
            <a:avLst/>
          </a:prstGeom>
          <a:noFill/>
          <a:ln/>
        </p:spPr>
        <p:txBody>
          <a:bodyPr wrap="none" lIns="0" tIns="0" rIns="0" bIns="0" rtlCol="0" anchor="ctr"/>
          <a:lstStyle/>
          <a:p>
            <a:pPr algn="l" indent="0" marL="0">
              <a:buNone/>
            </a:pPr>
            <a:r>
              <a:rPr lang="en-US" sz="1650" b="1" dirty="0">
                <a:solidFill>
                  <a:srgbClr val="14213D"/>
                </a:solidFill>
                <a:latin typeface="Noto Sans KR" pitchFamily="34" charset="0"/>
                <a:ea typeface="Noto Sans KR" pitchFamily="34" charset="-122"/>
                <a:cs typeface="Noto Sans KR" pitchFamily="34" charset="-120"/>
              </a:rPr>
              <a:t>Group C</a:t>
            </a:r>
            <a:endParaRPr lang="en-US" sz="1650" dirty="0"/>
          </a:p>
        </p:txBody>
      </p:sp>
      <p:sp>
        <p:nvSpPr>
          <p:cNvPr id="50" name="Text 44"/>
          <p:cNvSpPr txBox="1"/>
          <p:nvPr/>
        </p:nvSpPr>
        <p:spPr>
          <a:xfrm>
            <a:off x="2396642" y="6590995"/>
            <a:ext cx="669341" cy="228600"/>
          </a:xfrm>
          <a:prstGeom prst="rect">
            <a:avLst/>
          </a:prstGeom>
          <a:noFill/>
          <a:ln/>
        </p:spPr>
        <p:txBody>
          <a:bodyPr wrap="none" lIns="0" tIns="0" rIns="0" bIns="0" rtlCol="0" anchor="ctr"/>
          <a:lstStyle/>
          <a:p>
            <a:pPr algn="l" indent="0" marL="0">
              <a:buNone/>
            </a:pPr>
            <a:r>
              <a:rPr lang="en-US" sz="1200" dirty="0">
                <a:solidFill>
                  <a:srgbClr val="455670"/>
                </a:solidFill>
                <a:latin typeface="Noto Sans KR" pitchFamily="34" charset="0"/>
                <a:ea typeface="Noto Sans KR" pitchFamily="34" charset="-122"/>
                <a:cs typeface="Noto Sans KR" pitchFamily="34" charset="-120"/>
              </a:rPr>
              <a:t>Co liner</a:t>
            </a:r>
            <a:endParaRPr lang="en-US" sz="1200" dirty="0"/>
          </a:p>
        </p:txBody>
      </p:sp>
      <p:sp>
        <p:nvSpPr>
          <p:cNvPr id="51" name="Text 45"/>
          <p:cNvSpPr txBox="1"/>
          <p:nvPr/>
        </p:nvSpPr>
        <p:spPr>
          <a:xfrm>
            <a:off x="1143000" y="6915607"/>
            <a:ext cx="2667305" cy="162763"/>
          </a:xfrm>
          <a:prstGeom prst="rect">
            <a:avLst/>
          </a:prstGeom>
          <a:noFill/>
          <a:ln/>
        </p:spPr>
        <p:txBody>
          <a:bodyPr wrap="none" lIns="0" tIns="0" rIns="0" bIns="0" rtlCol="0" anchor="ctr"/>
          <a:lstStyle/>
          <a:p>
            <a:pPr algn="l" indent="0" marL="0">
              <a:buNone/>
            </a:pPr>
            <a:r>
              <a:rPr lang="en-US" sz="975" spc="156" kern="0" dirty="0">
                <a:solidFill>
                  <a:srgbClr val="94A3B8"/>
                </a:solidFill>
                <a:latin typeface="Sora" pitchFamily="34" charset="0"/>
                <a:ea typeface="Sora" pitchFamily="34" charset="-122"/>
                <a:cs typeface="Sora" pitchFamily="34" charset="-120"/>
              </a:rPr>
              <a:t>W03 · W06</a:t>
            </a:r>
            <a:endParaRPr lang="en-US" sz="975" dirty="0"/>
          </a:p>
        </p:txBody>
      </p:sp>
      <p:sp>
        <p:nvSpPr>
          <p:cNvPr id="52" name="Text 46"/>
          <p:cNvSpPr txBox="1"/>
          <p:nvPr/>
        </p:nvSpPr>
        <p:spPr>
          <a:xfrm>
            <a:off x="3810305" y="6687007"/>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0.99</a:t>
            </a:r>
            <a:endParaRPr lang="en-US" sz="1650" dirty="0"/>
          </a:p>
        </p:txBody>
      </p:sp>
      <p:sp>
        <p:nvSpPr>
          <p:cNvPr id="53" name="Text 47"/>
          <p:cNvSpPr txBox="1"/>
          <p:nvPr/>
        </p:nvSpPr>
        <p:spPr>
          <a:xfrm>
            <a:off x="5715000" y="6687007"/>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19.8</a:t>
            </a:r>
            <a:endParaRPr lang="en-US" sz="1650" dirty="0"/>
          </a:p>
        </p:txBody>
      </p:sp>
      <p:sp>
        <p:nvSpPr>
          <p:cNvPr id="54" name="Text 48"/>
          <p:cNvSpPr txBox="1"/>
          <p:nvPr/>
        </p:nvSpPr>
        <p:spPr>
          <a:xfrm>
            <a:off x="7619695" y="6687007"/>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192</a:t>
            </a:r>
            <a:endParaRPr lang="en-US" sz="1650" dirty="0"/>
          </a:p>
        </p:txBody>
      </p:sp>
      <p:sp>
        <p:nvSpPr>
          <p:cNvPr id="55" name="Text 49"/>
          <p:cNvSpPr txBox="1"/>
          <p:nvPr/>
        </p:nvSpPr>
        <p:spPr>
          <a:xfrm>
            <a:off x="9525305" y="6696151"/>
            <a:ext cx="1905610" cy="238658"/>
          </a:xfrm>
          <a:prstGeom prst="rect">
            <a:avLst/>
          </a:prstGeom>
          <a:noFill/>
          <a:ln/>
        </p:spPr>
        <p:txBody>
          <a:bodyPr wrap="none" lIns="0" tIns="0" rIns="0" bIns="0" rtlCol="0" anchor="ctr"/>
          <a:lstStyle/>
          <a:p>
            <a:pPr algn="r" indent="0" marL="0">
              <a:buNone/>
            </a:pPr>
            <a:r>
              <a:rPr lang="en-US" sz="1500" b="1" dirty="0">
                <a:solidFill>
                  <a:srgbClr val="6F7D94"/>
                </a:solidFill>
                <a:latin typeface="Sora" pitchFamily="34" charset="0"/>
                <a:ea typeface="Sora" pitchFamily="34" charset="-122"/>
                <a:cs typeface="Sora" pitchFamily="34" charset="-120"/>
              </a:rPr>
              <a:t>2.6e-9</a:t>
            </a:r>
            <a:endParaRPr lang="en-US" sz="1500" dirty="0"/>
          </a:p>
        </p:txBody>
      </p:sp>
      <p:sp>
        <p:nvSpPr>
          <p:cNvPr id="56" name="Text 50"/>
          <p:cNvSpPr txBox="1"/>
          <p:nvPr/>
        </p:nvSpPr>
        <p:spPr>
          <a:xfrm>
            <a:off x="11430000" y="6687007"/>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1.5</a:t>
            </a:r>
            <a:endParaRPr lang="en-US" sz="1650" dirty="0"/>
          </a:p>
        </p:txBody>
      </p:sp>
      <p:sp>
        <p:nvSpPr>
          <p:cNvPr id="57" name="Text 51"/>
          <p:cNvSpPr txBox="1"/>
          <p:nvPr/>
        </p:nvSpPr>
        <p:spPr>
          <a:xfrm>
            <a:off x="13334695" y="6687007"/>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765</a:t>
            </a:r>
            <a:endParaRPr lang="en-US" sz="1650" dirty="0"/>
          </a:p>
        </p:txBody>
      </p:sp>
      <p:sp>
        <p:nvSpPr>
          <p:cNvPr id="58" name="Text 52"/>
          <p:cNvSpPr txBox="1"/>
          <p:nvPr/>
        </p:nvSpPr>
        <p:spPr>
          <a:xfrm>
            <a:off x="15240305" y="6687007"/>
            <a:ext cx="1905610" cy="257861"/>
          </a:xfrm>
          <a:prstGeom prst="rect">
            <a:avLst/>
          </a:prstGeom>
          <a:noFill/>
          <a:ln/>
        </p:spPr>
        <p:txBody>
          <a:bodyPr wrap="none" lIns="0" tIns="0" rIns="0" bIns="0" rtlCol="0" anchor="ctr"/>
          <a:lstStyle/>
          <a:p>
            <a:pPr algn="r" indent="0" marL="0">
              <a:buNone/>
            </a:pPr>
            <a:r>
              <a:rPr lang="en-US" sz="1650" dirty="0">
                <a:solidFill>
                  <a:srgbClr val="455670"/>
                </a:solidFill>
                <a:latin typeface="Sora" pitchFamily="34" charset="0"/>
                <a:ea typeface="Sora" pitchFamily="34" charset="-122"/>
                <a:cs typeface="Sora" pitchFamily="34" charset="-120"/>
              </a:rPr>
              <a:t>980</a:t>
            </a:r>
            <a:endParaRPr lang="en-US" sz="1650" dirty="0"/>
          </a:p>
        </p:txBody>
      </p:sp>
      <p:sp>
        <p:nvSpPr>
          <p:cNvPr id="59" name="Text 53"/>
          <p:cNvSpPr txBox="1"/>
          <p:nvPr/>
        </p:nvSpPr>
        <p:spPr>
          <a:xfrm>
            <a:off x="1143000" y="7200900"/>
            <a:ext cx="7830007"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TEST CONDITION</a:t>
            </a:r>
            <a:endParaRPr lang="en-US" sz="825" dirty="0"/>
          </a:p>
        </p:txBody>
      </p:sp>
      <p:sp>
        <p:nvSpPr>
          <p:cNvPr id="60" name="Text 54"/>
          <p:cNvSpPr txBox="1"/>
          <p:nvPr/>
        </p:nvSpPr>
        <p:spPr>
          <a:xfrm>
            <a:off x="1143000" y="7410298"/>
            <a:ext cx="7830007" cy="428854"/>
          </a:xfrm>
          <a:prstGeom prst="rect">
            <a:avLst/>
          </a:prstGeom>
          <a:noFill/>
          <a:ln/>
        </p:spPr>
        <p:txBody>
          <a:bodyPr wrap="square" lIns="0" tIns="0" rIns="0" bIns="0" rtlCol="0" anchor="ctr"/>
          <a:lstStyle/>
          <a:p>
            <a:pPr algn="l" indent="0" marL="0">
              <a:lnSpc>
                <a:spcPts val="1688"/>
              </a:lnSpc>
              <a:buNone/>
            </a:pPr>
            <a:r>
              <a:rPr lang="en-US" sz="1125" dirty="0">
                <a:solidFill>
                  <a:srgbClr val="455670"/>
                </a:solidFill>
                <a:latin typeface="Noto Sans KR" pitchFamily="34" charset="0"/>
                <a:ea typeface="Noto Sans KR" pitchFamily="34" charset="-122"/>
                <a:cs typeface="Noto Sans KR" pitchFamily="34" charset="-120"/>
              </a:rPr>
              <a:t>Line Rs 길이 1 mm / Kelvin 구조 · Via Rc chain 100개 평균 · C 0.2 V @ 1 MHz · Leakage 25 °C · TDDB 0.2 MV/cm @ 125 °C · EM 300 °C 1 MA/cm²</a:t>
            </a:r>
            <a:endParaRPr lang="en-US" sz="1125" dirty="0"/>
          </a:p>
        </p:txBody>
      </p:sp>
      <p:sp>
        <p:nvSpPr>
          <p:cNvPr id="61" name="Text 55"/>
          <p:cNvSpPr txBox="1"/>
          <p:nvPr/>
        </p:nvSpPr>
        <p:spPr>
          <a:xfrm>
            <a:off x="9315907" y="7200900"/>
            <a:ext cx="7830007" cy="133502"/>
          </a:xfrm>
          <a:prstGeom prst="rect">
            <a:avLst/>
          </a:prstGeom>
          <a:noFill/>
          <a:ln/>
        </p:spPr>
        <p:txBody>
          <a:bodyPr wrap="none" lIns="0" tIns="0" rIns="0" bIns="0" rtlCol="0" anchor="ctr"/>
          <a:lstStyle/>
          <a:p>
            <a:pPr algn="l" indent="0" marL="0">
              <a:buNone/>
            </a:pPr>
            <a:r>
              <a:rPr lang="en-US" sz="825" b="1" spc="182" kern="0" dirty="0">
                <a:solidFill>
                  <a:srgbClr val="94A3B8"/>
                </a:solidFill>
                <a:latin typeface="Sora" pitchFamily="34" charset="0"/>
                <a:ea typeface="Sora" pitchFamily="34" charset="-122"/>
                <a:cs typeface="Sora" pitchFamily="34" charset="-120"/>
              </a:rPr>
              <a:t>SCORING</a:t>
            </a:r>
            <a:endParaRPr lang="en-US" sz="825" dirty="0"/>
          </a:p>
        </p:txBody>
      </p:sp>
      <p:sp>
        <p:nvSpPr>
          <p:cNvPr id="62" name="Text 56"/>
          <p:cNvSpPr txBox="1"/>
          <p:nvPr/>
        </p:nvSpPr>
        <p:spPr>
          <a:xfrm>
            <a:off x="9315907" y="7410298"/>
            <a:ext cx="7830007" cy="219456"/>
          </a:xfrm>
          <a:prstGeom prst="rect">
            <a:avLst/>
          </a:prstGeom>
          <a:noFill/>
          <a:ln/>
        </p:spPr>
        <p:txBody>
          <a:bodyPr wrap="none" lIns="0" tIns="0" rIns="0" bIns="0" rtlCol="0" anchor="ctr"/>
          <a:lstStyle/>
          <a:p>
            <a:pPr algn="l" indent="0" marL="0">
              <a:buNone/>
            </a:pPr>
            <a:r>
              <a:rPr lang="en-US" sz="1125" dirty="0">
                <a:solidFill>
                  <a:srgbClr val="455670"/>
                </a:solidFill>
                <a:latin typeface="Noto Sans KR" pitchFamily="34" charset="0"/>
                <a:ea typeface="Noto Sans KR" pitchFamily="34" charset="-122"/>
                <a:cs typeface="Noto Sans KR" pitchFamily="34" charset="-120"/>
              </a:rPr>
              <a:t>6 개 항목에서 B가 best, 1 항목(Line Rs)도 B가 best — B의 7개 종합 종합점 dotted (의도).</a:t>
            </a:r>
            <a:endParaRPr lang="en-US" sz="1125" dirty="0"/>
          </a:p>
        </p:txBody>
      </p:sp>
      <p:sp>
        <p:nvSpPr>
          <p:cNvPr id="63" name="Text 57"/>
          <p:cNvSpPr txBox="1"/>
          <p:nvPr/>
        </p:nvSpPr>
        <p:spPr>
          <a:xfrm>
            <a:off x="1123798" y="9029700"/>
            <a:ext cx="1305763" cy="143561"/>
          </a:xfrm>
          <a:prstGeom prst="rect">
            <a:avLst/>
          </a:prstGeom>
          <a:noFill/>
          <a:ln/>
        </p:spPr>
        <p:txBody>
          <a:bodyPr wrap="none" lIns="0" tIns="0" rIns="0" bIns="0" rtlCol="0" anchor="ctr"/>
          <a:lstStyle/>
          <a:p>
            <a:pPr algn="l" indent="0" marL="0">
              <a:buNone/>
            </a:pPr>
            <a:r>
              <a:rPr lang="en-US" sz="900" b="1" spc="252" kern="0" dirty="0">
                <a:solidFill>
                  <a:srgbClr val="94A3B8"/>
                </a:solidFill>
                <a:latin typeface="Sora" pitchFamily="34" charset="0"/>
                <a:ea typeface="Sora" pitchFamily="34" charset="-122"/>
                <a:cs typeface="Sora" pitchFamily="34" charset="-120"/>
              </a:rPr>
              <a:t>KEY TAKEAWAY</a:t>
            </a:r>
            <a:endParaRPr lang="en-US" sz="900" dirty="0"/>
          </a:p>
        </p:txBody>
      </p:sp>
      <p:pic>
        <p:nvPicPr>
          <p:cNvPr id="64" name="Image 3" descr="gen-dedup-a95c956e3bd879e41d2e7daca8566398.png">    </p:cNvPr>
          <p:cNvPicPr>
            <a:picLocks noChangeAspect="1"/>
          </p:cNvPicPr>
          <p:nvPr/>
        </p:nvPicPr>
        <p:blipFill>
          <a:blip r:embed="rId4"/>
          <a:srcRect l="-2083" r="-2083" t="0" b="0"/>
          <a:stretch/>
        </p:blipFill>
        <p:spPr>
          <a:xfrm>
            <a:off x="2656332" y="9096451"/>
            <a:ext cx="571500" cy="9144"/>
          </a:xfrm>
          <a:prstGeom prst="rect">
            <a:avLst/>
          </a:prstGeom>
        </p:spPr>
      </p:pic>
      <p:sp>
        <p:nvSpPr>
          <p:cNvPr id="65" name="Text 58"/>
          <p:cNvSpPr txBox="1"/>
          <p:nvPr/>
        </p:nvSpPr>
        <p:spPr>
          <a:xfrm>
            <a:off x="3456432" y="8934602"/>
            <a:ext cx="9572854" cy="333756"/>
          </a:xfrm>
          <a:prstGeom prst="rect">
            <a:avLst/>
          </a:prstGeom>
          <a:noFill/>
          <a:ln/>
        </p:spPr>
        <p:txBody>
          <a:bodyPr wrap="none" lIns="0" tIns="0" rIns="0" bIns="0" rtlCol="0" anchor="ctr"/>
          <a:lstStyle/>
          <a:p>
            <a:pPr algn="l" indent="0" marL="0">
              <a:buNone/>
            </a:pPr>
            <a:r>
              <a:rPr lang="en-US" sz="1800" dirty="0">
                <a:solidFill>
                  <a:srgbClr val="FFFFFF"/>
                </a:solidFill>
                <a:latin typeface="Noto Sans KR" pitchFamily="34" charset="0"/>
                <a:ea typeface="Noto Sans KR" pitchFamily="34" charset="-122"/>
                <a:cs typeface="Noto Sans KR" pitchFamily="34" charset="-120"/>
              </a:rPr>
              <a:t>B (Ru 2 nm)이 7개 항목 모두 best — Line Rs −4%, Via Rc −5%, EM TTF +29% (vs Co).</a:t>
            </a:r>
            <a:endParaRPr lang="en-US" sz="1800" dirty="0"/>
          </a:p>
        </p:txBody>
      </p:sp>
      <p:sp>
        <p:nvSpPr>
          <p:cNvPr id="66" name="Text 59"/>
          <p:cNvSpPr txBox="1"/>
          <p:nvPr/>
        </p:nvSpPr>
        <p:spPr>
          <a:xfrm>
            <a:off x="857707" y="9753905"/>
            <a:ext cx="11430000" cy="191110"/>
          </a:xfrm>
          <a:prstGeom prst="rect">
            <a:avLst/>
          </a:prstGeom>
          <a:noFill/>
          <a:ln/>
        </p:spPr>
        <p:txBody>
          <a:bodyPr wrap="none" lIns="0" tIns="0" rIns="0" bIns="0" rtlCol="0" anchor="ctr"/>
          <a:lstStyle/>
          <a:p>
            <a:pPr algn="l" indent="0" marL="0">
              <a:buNone/>
            </a:pPr>
            <a:r>
              <a:rPr lang="en-US" sz="1050" dirty="0">
                <a:solidFill>
                  <a:srgbClr val="6F7D94"/>
                </a:solidFill>
                <a:latin typeface="Noto Sans KR" pitchFamily="34" charset="0"/>
                <a:ea typeface="Noto Sans KR" pitchFamily="34" charset="-122"/>
                <a:cs typeface="Noto Sans KR" pitchFamily="34" charset="-120"/>
              </a:rPr>
              <a:t>※ 내부 테스트용 더미(가상) 데이터</a:t>
            </a:r>
            <a:endParaRPr lang="en-US" sz="1050" dirty="0"/>
          </a:p>
        </p:txBody>
      </p:sp>
      <p:sp>
        <p:nvSpPr>
          <p:cNvPr id="67" name="Text 60"/>
          <p:cNvSpPr txBox="1"/>
          <p:nvPr/>
        </p:nvSpPr>
        <p:spPr>
          <a:xfrm>
            <a:off x="16383305" y="9753905"/>
            <a:ext cx="1239012" cy="143561"/>
          </a:xfrm>
          <a:prstGeom prst="rect">
            <a:avLst/>
          </a:prstGeom>
          <a:noFill/>
          <a:ln/>
        </p:spPr>
        <p:txBody>
          <a:bodyPr wrap="none" lIns="0" tIns="0" rIns="0" bIns="0" rtlCol="0" anchor="ctr"/>
          <a:lstStyle/>
          <a:p>
            <a:pPr algn="r" indent="0" marL="0">
              <a:buNone/>
            </a:pPr>
            <a:r>
              <a:rPr lang="en-US" sz="900" b="1" spc="180" kern="0" dirty="0">
                <a:solidFill>
                  <a:srgbClr val="94A3B8"/>
                </a:solidFill>
                <a:latin typeface="Sora" pitchFamily="34" charset="0"/>
                <a:ea typeface="Sora" pitchFamily="34" charset="-122"/>
                <a:cs typeface="Sora" pitchFamily="34" charset="-120"/>
              </a:rPr>
              <a:t>FILE 10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2026-10-03T16:11:04Z</dcterms:created>
  <dcterms:modified xsi:type="dcterms:W3CDTF">2026-10-03T16:11:04Z</dcterms:modified>
</cp:coreProperties>
</file>