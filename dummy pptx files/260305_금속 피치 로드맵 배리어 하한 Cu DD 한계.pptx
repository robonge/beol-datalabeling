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로드맵" id="{460cfce2-c9dd-afc9-3e1f-1333a6aac0a2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최소 금속 피치 (nm)</c:v>
                </c:pt>
              </c:strCache>
            </c:strRef>
          </c:tx>
          <c:spPr>
            <a:solidFill>
              <a:srgbClr val="006B5E"/>
            </a:solidFill>
            <a:ln w="31750" cap="flat">
              <a:solidFill>
                <a:srgbClr val="006B5E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6B5E"/>
              </a:solidFill>
              <a:ln w="9525" cap="flat">
                <a:solidFill>
                  <a:srgbClr val="006B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 nm</c:v>
                  </c:pt>
                  <c:pt idx="1">
                    <c:v>14A</c:v>
                  </c:pt>
                  <c:pt idx="2">
                    <c:v>10A (CFET)</c:v>
                  </c:pt>
                  <c:pt idx="3">
                    <c:v>7A</c:v>
                  </c:pt>
                  <c:pt idx="4">
                    <c:v>5A</c:v>
                  </c:pt>
                  <c:pt idx="5">
                    <c:v>3A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20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nm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로드맵 · imec 최소 금속 피치 · 노드별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노드별 최소 금속 피치 — 2 nm 23 nm에서 3A 12 nm까지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13232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909560" y="1280160"/>
            <a:ext cx="3824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배리어 하한 2–3 nm가 선폭을 먹는다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664208"/>
            <a:ext cx="3824935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피치가 12 nm까지 내려가면 양측 배리어만으로 도전 단면적이 거의 소진.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배리어는 기능을 잃지 않고는 2–3 nm 미만으로 줄일 수 없음.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따라서 무배리어 금속(Ru, Mo, Al계 금속간화합물) 탐색이 로드맵의 전제.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5120640"/>
            <a:ext cx="3824935" cy="1005840"/>
          </a:xfrm>
          <a:prstGeom prst="roundRect">
            <a:avLst>
              <a:gd name="adj" fmla="val 14545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5212080"/>
            <a:ext cx="3550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Cu 듀얼 다마신은 14A 이하에서 구조적으로 FAIL — 10A(CFET) 18 nm 피치가 전환점.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로드맵 · 배리어 잔여 선폭 산술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85B6"/>
          </a:solidFill>
          <a:ln w="12700">
            <a:solidFill>
              <a:srgbClr val="0085B6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노드별 Cu 잔여 선폭 추정과 판정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944014"/>
                <a:gridCol w="2333549"/>
                <a:gridCol w="4666183"/>
                <a:gridCol w="2333549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노드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최소 금속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배리어 2.5 nm 가정 시 Cu 선폭 잔여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 (Cu DD)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23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~6.5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14A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20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~5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10A (CFET)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18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~4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7A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16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~3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14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~2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12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~1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07408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잔여 선폭은 선폭 = 피치/2, 양측 배리어 2.5 nm 가정의 산술값(설명용). 원문 결론: 12 nm 피치에서 배리어가 도전 단면적을 거의 다 잠식.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로드맵 · 선택 지표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ρ₀·λ — 작을수록 좁은 선에서 유리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006B5E"/>
                </a:solidFill>
              </a:rPr>
              <a:t>6.8×10⁻¹⁶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Cu, ρ₀·λ (Ω·m²), λ = 40.7 nm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300" b="1" dirty="0">
                <a:solidFill>
                  <a:srgbClr val="0085B6"/>
                </a:solidFill>
              </a:rPr>
              <a:t>0.6×10⁻¹⁶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β-Ti₄InN₃ — Cu의 1/11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</a:rPr>
              <a:t>69 / 170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MAX 안정상 중 Cu 대비 우위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0B8A9"/>
                </a:solidFill>
              </a:rPr>
              <a:t>24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Ru보다도 낮은 ρ₀·λ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Cu의 약점은 ρ₀ 1.68 µΩ·cm이 아니라 λ 40.7 nm — 선폭 &lt; λ에서 표면·입계 산란이 지배하고 저항률이 치수에 반비례해 치솟음.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비등방성 금속은 스칼라 ρ₀λ로 줄이면 순위가 틀림 → 300 K 수송 텐서 (입방정 1개 ~ 삼사정 9개 성분). Ru 전 방향, V₂AlC 면내, MoPt x·y 방향에서 Cu 능가 여지.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로드맵 · 집적 방식 전환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6B5E"/>
          </a:solidFill>
          <a:ln w="12700">
            <a:solidFill>
              <a:srgbClr val="006B5E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다마신을 버리고 금속을 직접 깎는다 — semi-damascene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방식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64208"/>
            <a:ext cx="5455768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도랑을 파고 금속을 채우는 대신 금속을 먼저 깔고 직접 에칭. 배리어 불필요, CMP가 제한하던 종횡비 상승 가능.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Cu 다마신 선 AR ≈ 1.6 → semi-damascene 1세대 AR 2 → 2세대 3 → 이후 4·5·6의 5세대 로드맵.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128016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실증 수치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664208"/>
            <a:ext cx="5455768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18 nm 피치 2소재 FSAV 모듈 (VLSI 2022): 선폭 9 nm, 비아저항 40–60 Ω, BD &gt; 9 MV/cm.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AR 6 Ru 선은 AR 3 대비 선저항 약 40% 저감 (IITC 2022). 16 nm 피치 Ru 선 평균 656 Ω/µm (IITC 2025).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E6F0EF"/>
          </a:solidFill>
          <a:ln w="12700">
            <a:solidFill>
              <a:srgbClr val="E6F0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로드맵은 '어떤 금속'이 아니라 '어떤 조건에서 어떤 금속'으로 바뀌었다 — Ru는 단면 268 nm² 미만에서만 Cu를 이긴다.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금속 피치 로드맵과 배리어 한계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