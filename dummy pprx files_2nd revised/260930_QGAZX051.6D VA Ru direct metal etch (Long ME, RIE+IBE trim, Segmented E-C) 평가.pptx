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 Rc cumulative distribution</a:t>
            </a:r>
            <a:endParaRPr lang="en-US" sz="2100" dirty="0"/>
          </a:p>
        </p:txBody>
      </p:sp>
      <p:pic>
        <p:nvPicPr>
          <p:cNvPr id="3" name="Image 0" descr="gen-dedup-85742f9b0cd542a2748095b52a62bc4c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571500" y="1067105"/>
            <a:ext cx="7239305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96098" y="1333195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52.0Ω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096098" y="1592885"/>
            <a:ext cx="4098341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Segmented E-C/Airgap median 47.1Ω (-9.4%)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096098" y="1851660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 ME median 53.5Ω (+2.9%)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096098" y="2110435"/>
            <a:ext cx="4000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RIE+IBE trim/Airgap median 51.2Ω (-1.5%)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096098" y="2370125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 ME/Airgap median 58.1Ω (+11.8%)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8096098" y="2628900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RIE+IBE trim median 49.1Ω (-5.5%)</a:t>
            </a:r>
            <a:endParaRPr lang="en-US" sz="1275" dirty="0"/>
          </a:p>
        </p:txBody>
      </p:sp>
      <p:sp>
        <p:nvSpPr>
          <p:cNvPr id="10" name="Text 7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제성민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21713d47d4feb43cbb53462cdda8fc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067105"/>
            <a:ext cx="3400654" cy="2247595"/>
          </a:xfrm>
          <a:prstGeom prst="rect">
            <a:avLst/>
          </a:prstGeom>
        </p:spPr>
      </p:pic>
      <p:pic>
        <p:nvPicPr>
          <p:cNvPr id="3" name="Image 1" descr="gen-dedup-3580a60167b32257b93aff3e73cb5485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049" y="1067105"/>
            <a:ext cx="3000146" cy="2247595"/>
          </a:xfrm>
          <a:prstGeom prst="rect">
            <a:avLst/>
          </a:prstGeom>
        </p:spPr>
      </p:pic>
      <p:pic>
        <p:nvPicPr>
          <p:cNvPr id="4" name="Image 2" descr="gen-dedup-63cbc4a066bf560a955e38314640ab63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5005" y="1067105"/>
            <a:ext cx="4486046" cy="2247595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Physical failure analysis (TEM / X-SEM)</a:t>
            </a:r>
            <a:endParaRPr lang="en-US" sz="2100" dirty="0"/>
          </a:p>
        </p:txBody>
      </p:sp>
      <p:sp>
        <p:nvSpPr>
          <p:cNvPr id="6" name="Text 1"/>
          <p:cNvSpPr txBox="1"/>
          <p:nvPr/>
        </p:nvSpPr>
        <p:spPr>
          <a:xfrm>
            <a:off x="571500" y="3353105"/>
            <a:ext cx="11049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 Ru line TEM, AR 3~6 (imec) / Ru HAR line TEM / 16nm pitch Ru line TEM (imec)</a:t>
            </a:r>
            <a:endParaRPr lang="en-US" sz="825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3733495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SiN HM 상단 산화 팽창 흔적</a:t>
            </a:r>
            <a:endParaRPr lang="en-US" sz="1275" dirty="0"/>
          </a:p>
        </p:txBody>
      </p:sp>
      <p:sp>
        <p:nvSpPr>
          <p:cNvPr id="8" name="Text 3"/>
          <p:cNvSpPr txBox="1"/>
          <p:nvPr/>
        </p:nvSpPr>
        <p:spPr>
          <a:xfrm>
            <a:off x="571500" y="3993185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인접 Ru line bottom bridge 관찰</a:t>
            </a:r>
            <a:endParaRPr lang="en-US" sz="1275" dirty="0"/>
          </a:p>
        </p:txBody>
      </p:sp>
      <p:sp>
        <p:nvSpPr>
          <p:cNvPr id="9" name="Text 4"/>
          <p:cNvSpPr txBox="1"/>
          <p:nvPr/>
        </p:nvSpPr>
        <p:spPr>
          <a:xfrm>
            <a:off x="571500" y="4251960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측벽 각도 ~88°, 하부 미분리 구간 존재</a:t>
            </a:r>
            <a:endParaRPr lang="en-US" sz="1275" dirty="0"/>
          </a:p>
        </p:txBody>
      </p:sp>
      <p:sp>
        <p:nvSpPr>
          <p:cNvPr id="10" name="Text 5"/>
          <p:cNvSpPr txBox="1"/>
          <p:nvPr/>
        </p:nvSpPr>
        <p:spPr>
          <a:xfrm>
            <a:off x="571500" y="4510735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대상: QGAZX_23 (Long ME)</a:t>
            </a:r>
            <a:endParaRPr lang="en-US" sz="1275" dirty="0"/>
          </a:p>
        </p:txBody>
      </p:sp>
      <p:sp>
        <p:nvSpPr>
          <p:cNvPr id="11" name="Text 6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제성민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VA ACI CD wafer map</a:t>
            </a:r>
            <a:endParaRPr lang="en-US" sz="2100" dirty="0"/>
          </a:p>
        </p:txBody>
      </p:sp>
      <p:pic>
        <p:nvPicPr>
          <p:cNvPr id="3" name="Image 0" descr="gen-dedup-59d4898dd946bc4a37ff0dc143264ba1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571500" y="1067105"/>
            <a:ext cx="2648102" cy="3305556"/>
          </a:xfrm>
          <a:prstGeom prst="rect">
            <a:avLst/>
          </a:prstGeom>
        </p:spPr>
      </p:pic>
      <p:pic>
        <p:nvPicPr>
          <p:cNvPr id="4" name="Image 1" descr="gen-dedup-3130902dddb7d8af9f50c492c1d45dc7.png">    </p:cNvPr>
          <p:cNvPicPr>
            <a:picLocks noChangeAspect="1"/>
          </p:cNvPicPr>
          <p:nvPr/>
        </p:nvPicPr>
        <p:blipFill>
          <a:blip r:embed="rId2"/>
          <a:srcRect l="0" r="0" t="-3" b="-3"/>
          <a:stretch/>
        </p:blipFill>
        <p:spPr>
          <a:xfrm>
            <a:off x="3372307" y="1067105"/>
            <a:ext cx="2648102" cy="3305556"/>
          </a:xfrm>
          <a:prstGeom prst="rect">
            <a:avLst/>
          </a:prstGeom>
        </p:spPr>
      </p:pic>
      <p:pic>
        <p:nvPicPr>
          <p:cNvPr id="5" name="Image 2" descr="gen-dedup-be7526f92bc9fb5b88306b4faba038a6.png">    </p:cNvPr>
          <p:cNvPicPr>
            <a:picLocks noChangeAspect="1"/>
          </p:cNvPicPr>
          <p:nvPr/>
        </p:nvPicPr>
        <p:blipFill>
          <a:blip r:embed="rId3"/>
          <a:srcRect l="0" r="0" t="-3" b="-3"/>
          <a:stretch/>
        </p:blipFill>
        <p:spPr>
          <a:xfrm>
            <a:off x="6172200" y="1067105"/>
            <a:ext cx="2648102" cy="3305556"/>
          </a:xfrm>
          <a:prstGeom prst="rect">
            <a:avLst/>
          </a:prstGeom>
        </p:spPr>
      </p:pic>
      <p:pic>
        <p:nvPicPr>
          <p:cNvPr id="6" name="Image 3" descr="gen-dedup-ba5887b4f571fca0b0322c90e603cf93.png">    </p:cNvPr>
          <p:cNvPicPr>
            <a:picLocks noChangeAspect="1"/>
          </p:cNvPicPr>
          <p:nvPr/>
        </p:nvPicPr>
        <p:blipFill>
          <a:blip r:embed="rId4"/>
          <a:srcRect l="0" r="0" t="-3" b="-3"/>
          <a:stretch/>
        </p:blipFill>
        <p:spPr>
          <a:xfrm>
            <a:off x="8973007" y="1067105"/>
            <a:ext cx="2648102" cy="3305556"/>
          </a:xfrm>
          <a:prstGeom prst="rect">
            <a:avLst/>
          </a:prstGeom>
        </p:spPr>
      </p:pic>
      <p:sp>
        <p:nvSpPr>
          <p:cNvPr id="7" name="Text 1"/>
          <p:cNvSpPr txBox="1"/>
          <p:nvPr/>
        </p:nvSpPr>
        <p:spPr>
          <a:xfrm>
            <a:off x="571500" y="4562856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Segmented E-C/Airgap: ACI 8.8/8.8 (POR 8.8/8.8), edge 편차 POR 수준</a:t>
            </a:r>
            <a:endParaRPr lang="en-US" sz="1275" dirty="0"/>
          </a:p>
        </p:txBody>
      </p:sp>
      <p:sp>
        <p:nvSpPr>
          <p:cNvPr id="8" name="Text 2"/>
          <p:cNvSpPr txBox="1"/>
          <p:nvPr/>
        </p:nvSpPr>
        <p:spPr>
          <a:xfrm>
            <a:off x="571500" y="4821631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 ME: ACI 9.7/9.7 (POR 8.8/8.8), edge 편차 확대</a:t>
            </a:r>
            <a:endParaRPr lang="en-US" sz="1275" dirty="0"/>
          </a:p>
        </p:txBody>
      </p:sp>
      <p:sp>
        <p:nvSpPr>
          <p:cNvPr id="9" name="Text 3"/>
          <p:cNvSpPr txBox="1"/>
          <p:nvPr/>
        </p:nvSpPr>
        <p:spPr>
          <a:xfrm>
            <a:off x="571500" y="5080406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 ME/Airgap: ACI 9.2/9.4 (POR 8.8/8.8), edge 편차 확대</a:t>
            </a:r>
            <a:endParaRPr lang="en-US" sz="1275" dirty="0"/>
          </a:p>
        </p:txBody>
      </p:sp>
      <p:sp>
        <p:nvSpPr>
          <p:cNvPr id="10" name="Text 4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제성민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279706b92b0a5c072e4b59527e9b838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305" y="952805"/>
            <a:ext cx="1362456" cy="895198"/>
          </a:xfrm>
          <a:prstGeom prst="rect">
            <a:avLst/>
          </a:prstGeom>
        </p:spPr>
      </p:pic>
      <p:pic>
        <p:nvPicPr>
          <p:cNvPr id="3" name="Image 1" descr="gen-dedup-d7b311976c2e3b7fbcfed932b8ac4043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0656" y="952805"/>
            <a:ext cx="1790395" cy="89519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SF0.7 KVKB QGAZX051.6D ET results</a:t>
            </a:r>
            <a:endParaRPr lang="en-US" sz="2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952805"/>
          <a:ext cx="7629754" cy="2429561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1047902"/>
                <a:gridCol w="1047902"/>
                <a:gridCol w="1047902"/>
                <a:gridCol w="1047902"/>
                <a:gridCol w="1047902"/>
                <a:gridCol w="1047902"/>
              </a:tblGrid>
              <a:tr h="242956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(QGAZX_24)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QGAZX_12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QGAZX_23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QGAZX_2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QGAZX_25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QGAZX_9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95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 etch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O2/Cl2 RIE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Segmented E-C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Long ME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RIE+IBE trim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Long ME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RIE+IBE trim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295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Airgap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Low-k fill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Airgap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Low-k fill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Airgap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Airgap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Low-k fill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295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23.50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23.66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24.30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23.22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24.39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23.21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295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ASEI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8.5/8.3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8.7/8.3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9.3/8.4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8.4/8.4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9.2/9.0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8.2/8.2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24295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8.8/8.8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8.8/8.8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9.7/9.7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8.6/8.6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9.2/9.4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8.5/8.4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4295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SiN ACI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9.7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8.8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242956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93%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242956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96%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84%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242956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VA Rc (Ω)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52.0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47.1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53.5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51.2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58.1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49.1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7781544" y="1886407"/>
            <a:ext cx="3838651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 Ru line TEM, AR 3~6 (imec) / 16nm pitch Ru line TEM (imec)</a:t>
            </a:r>
            <a:endParaRPr lang="en-US" sz="825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3486607"/>
            <a:ext cx="1335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975" dirty="0"/>
          </a:p>
        </p:txBody>
      </p:sp>
      <p:sp>
        <p:nvSpPr>
          <p:cNvPr id="8" name="Text 3"/>
          <p:cNvSpPr txBox="1"/>
          <p:nvPr/>
        </p:nvSpPr>
        <p:spPr>
          <a:xfrm>
            <a:off x="790956" y="3486607"/>
            <a:ext cx="5229454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VA Ru direct metal etch (Long ME, RIE+IBE trim, Segmented E-C) 평가</a:t>
            </a:r>
            <a:endParaRPr lang="en-US" sz="975" dirty="0"/>
          </a:p>
        </p:txBody>
      </p:sp>
      <p:sp>
        <p:nvSpPr>
          <p:cNvPr id="9" name="Text 4"/>
          <p:cNvSpPr txBox="1"/>
          <p:nvPr/>
        </p:nvSpPr>
        <p:spPr>
          <a:xfrm>
            <a:off x="571500" y="3654857"/>
            <a:ext cx="1335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975" dirty="0"/>
          </a:p>
        </p:txBody>
      </p:sp>
      <p:sp>
        <p:nvSpPr>
          <p:cNvPr id="10" name="Text 5"/>
          <p:cNvSpPr txBox="1"/>
          <p:nvPr/>
        </p:nvSpPr>
        <p:spPr>
          <a:xfrm>
            <a:off x="790956" y="3654857"/>
            <a:ext cx="6675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975" dirty="0"/>
          </a:p>
        </p:txBody>
      </p:sp>
      <p:sp>
        <p:nvSpPr>
          <p:cNvPr id="11" name="Text 6"/>
          <p:cNvSpPr txBox="1"/>
          <p:nvPr/>
        </p:nvSpPr>
        <p:spPr>
          <a:xfrm>
            <a:off x="571500" y="3851453"/>
            <a:ext cx="6667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(Ru etch / Airgap split, POR 대비)</a:t>
            </a:r>
            <a:endParaRPr lang="en-US" sz="975" dirty="0"/>
          </a:p>
        </p:txBody>
      </p:sp>
      <p:sp>
        <p:nvSpPr>
          <p:cNvPr id="12" name="Text 7"/>
          <p:cNvSpPr txBox="1"/>
          <p:nvPr/>
        </p:nvSpPr>
        <p:spPr>
          <a:xfrm>
            <a:off x="571500" y="4019702"/>
            <a:ext cx="7202729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Segmented E-C/Airgap (QGAZX_12):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Δ+0.16/+0.14, ACI 8.8/8.8 · SiN ACI 9.0로 POR과 근접</a:t>
            </a:r>
            <a:endParaRPr lang="en-US" sz="975" dirty="0"/>
          </a:p>
        </p:txBody>
      </p:sp>
      <p:sp>
        <p:nvSpPr>
          <p:cNvPr id="13" name="Text 8"/>
          <p:cNvSpPr txBox="1"/>
          <p:nvPr/>
        </p:nvSpPr>
        <p:spPr>
          <a:xfrm>
            <a:off x="571500" y="4188866"/>
            <a:ext cx="6667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 ME (QGAZX_23):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Δ+0.80/+0.72로 변동 최대, ACI 9.7/9.7 (POR 8.8/8.8) 소폭 상향</a:t>
            </a:r>
            <a:endParaRPr lang="en-US" sz="975" dirty="0"/>
          </a:p>
        </p:txBody>
      </p:sp>
      <p:sp>
        <p:nvSpPr>
          <p:cNvPr id="14" name="Text 9"/>
          <p:cNvSpPr txBox="1"/>
          <p:nvPr/>
        </p:nvSpPr>
        <p:spPr>
          <a:xfrm>
            <a:off x="571500" y="4357116"/>
            <a:ext cx="705368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RIE+IBE trim/Airgap (QGAZX_2):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Δ-0.28/-0.11, ACI 8.6/8.6 · SiN ACI 8.8로 POR과 근접</a:t>
            </a:r>
            <a:endParaRPr lang="en-US" sz="975" dirty="0"/>
          </a:p>
        </p:txBody>
      </p:sp>
      <p:sp>
        <p:nvSpPr>
          <p:cNvPr id="15" name="Text 10"/>
          <p:cNvSpPr txBox="1"/>
          <p:nvPr/>
        </p:nvSpPr>
        <p:spPr>
          <a:xfrm>
            <a:off x="571500" y="4525366"/>
            <a:ext cx="6667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 ME/Airgap (QGAZX_25):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Δ+0.89/+0.65, ACI 9.2/9.4 (POR 8.8/8.8) 소폭 상향</a:t>
            </a:r>
            <a:endParaRPr lang="en-US" sz="975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4693615"/>
            <a:ext cx="6667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RIE+IBE trim (QGAZX_9):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Δ-0.30/-0.32, ACI 8.5/8.4 · SiN ACI 8.8로 POR과 근접</a:t>
            </a:r>
            <a:endParaRPr lang="en-US" sz="975" dirty="0"/>
          </a:p>
        </p:txBody>
      </p:sp>
      <p:sp>
        <p:nvSpPr>
          <p:cNvPr id="17" name="Text 12"/>
          <p:cNvSpPr txBox="1"/>
          <p:nvPr/>
        </p:nvSpPr>
        <p:spPr>
          <a:xfrm>
            <a:off x="571500" y="4891126"/>
            <a:ext cx="6667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yield (Open·Short)</a:t>
            </a:r>
            <a:endParaRPr lang="en-US" sz="975" dirty="0"/>
          </a:p>
        </p:txBody>
      </p:sp>
      <p:sp>
        <p:nvSpPr>
          <p:cNvPr id="18" name="Text 13"/>
          <p:cNvSpPr txBox="1"/>
          <p:nvPr/>
        </p:nvSpPr>
        <p:spPr>
          <a:xfrm>
            <a:off x="571500" y="5059375"/>
            <a:ext cx="6667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Segmented E-C/Airgap: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VA Rc 47.1Ω(-9%),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Short 96%(-4%p)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유의차 없음</a:t>
            </a:r>
            <a:endParaRPr lang="en-US" sz="975" dirty="0"/>
          </a:p>
        </p:txBody>
      </p:sp>
      <p:sp>
        <p:nvSpPr>
          <p:cNvPr id="19" name="Text 14"/>
          <p:cNvSpPr txBox="1"/>
          <p:nvPr/>
        </p:nvSpPr>
        <p:spPr>
          <a:xfrm>
            <a:off x="571500" y="5227625"/>
            <a:ext cx="6667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 ME: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VA Rc 53.5Ω(+3%), VCHN 99/98%로 POR 동등 → 유의차 없음</a:t>
            </a:r>
            <a:endParaRPr lang="en-US" sz="975" dirty="0"/>
          </a:p>
        </p:txBody>
      </p:sp>
      <p:sp>
        <p:nvSpPr>
          <p:cNvPr id="20" name="Text 15"/>
          <p:cNvSpPr txBox="1"/>
          <p:nvPr/>
        </p:nvSpPr>
        <p:spPr>
          <a:xfrm>
            <a:off x="571500" y="5396789"/>
            <a:ext cx="66678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RIE+IBE trim/Airgap: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VA Rc 51.2Ω(-2%), VCHN Open 93%(-7%p),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Short 84%(-16%p)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airgap cap pinch-off 부족으로 line 간 leakage/short 의심</a:t>
            </a:r>
            <a:endParaRPr lang="en-US" sz="975" dirty="0"/>
          </a:p>
        </p:txBody>
      </p:sp>
      <p:sp>
        <p:nvSpPr>
          <p:cNvPr id="21" name="Text 16"/>
          <p:cNvSpPr txBox="1"/>
          <p:nvPr/>
        </p:nvSpPr>
        <p:spPr>
          <a:xfrm>
            <a:off x="571500" y="5733288"/>
            <a:ext cx="6667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 ME/Airgap: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VA Rc 58.1Ω(+12%),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96%(-4%p)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유의차 없음</a:t>
            </a:r>
            <a:endParaRPr lang="en-US" sz="975" dirty="0"/>
          </a:p>
        </p:txBody>
      </p:sp>
      <p:sp>
        <p:nvSpPr>
          <p:cNvPr id="22" name="Text 17"/>
          <p:cNvSpPr txBox="1"/>
          <p:nvPr/>
        </p:nvSpPr>
        <p:spPr>
          <a:xfrm>
            <a:off x="571500" y="5901538"/>
            <a:ext cx="6667805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RIE+IBE trim: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VA Rc 49.1Ω(-5%), VCHN 99/99%로 POR 동등 → 전 item POR 동등</a:t>
            </a:r>
            <a:endParaRPr lang="en-US" sz="975" dirty="0"/>
          </a:p>
        </p:txBody>
      </p:sp>
      <p:sp>
        <p:nvSpPr>
          <p:cNvPr id="23" name="Text 18"/>
          <p:cNvSpPr txBox="1"/>
          <p:nvPr/>
        </p:nvSpPr>
        <p:spPr>
          <a:xfrm>
            <a:off x="7524598" y="3514954"/>
            <a:ext cx="40965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75" dirty="0"/>
          </a:p>
        </p:txBody>
      </p:sp>
      <p:sp>
        <p:nvSpPr>
          <p:cNvPr id="24" name="Text 19"/>
          <p:cNvSpPr txBox="1"/>
          <p:nvPr/>
        </p:nvSpPr>
        <p:spPr>
          <a:xfrm>
            <a:off x="7524598" y="3683203"/>
            <a:ext cx="40965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Segmented E-C/Airgap·RIE+IBE trim 는 POR 대비 전 항목 동등 → 후보 조건, Long ME·RIE+IBE trim/Airgap·Long ME/Airgap 는 Short 열화</a:t>
            </a:r>
            <a:endParaRPr lang="en-US" sz="975" dirty="0"/>
          </a:p>
        </p:txBody>
      </p:sp>
      <p:sp>
        <p:nvSpPr>
          <p:cNvPr id="25" name="Text 20"/>
          <p:cNvSpPr txBox="1"/>
          <p:nvPr/>
        </p:nvSpPr>
        <p:spPr>
          <a:xfrm>
            <a:off x="7524598" y="4019702"/>
            <a:ext cx="40965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RIE+IBE trim/Airgap는 CMBSRP와 VCHN에서 같은 mode로 재현되어 split 기인으로 판단</a:t>
            </a:r>
            <a:endParaRPr lang="en-US" sz="975" dirty="0"/>
          </a:p>
        </p:txBody>
      </p:sp>
      <p:sp>
        <p:nvSpPr>
          <p:cNvPr id="26" name="Text 21"/>
          <p:cNvSpPr txBox="1"/>
          <p:nvPr/>
        </p:nvSpPr>
        <p:spPr>
          <a:xfrm>
            <a:off x="7524598" y="4357116"/>
            <a:ext cx="40965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Long ME CD targeting 후 short 재확인 필요 (VA DC 기준)</a:t>
            </a:r>
            <a:endParaRPr lang="en-US" sz="975" dirty="0"/>
          </a:p>
        </p:txBody>
      </p:sp>
      <p:sp>
        <p:nvSpPr>
          <p:cNvPr id="27" name="Text 22"/>
          <p:cNvSpPr txBox="1"/>
          <p:nvPr/>
        </p:nvSpPr>
        <p:spPr>
          <a:xfrm>
            <a:off x="7524598" y="4525366"/>
            <a:ext cx="40965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airgap cap pinch-off 여부 X-SEM 확인 예정</a:t>
            </a:r>
            <a:endParaRPr lang="en-US" sz="975" dirty="0"/>
          </a:p>
        </p:txBody>
      </p:sp>
      <p:sp>
        <p:nvSpPr>
          <p:cNvPr id="28" name="Text 23"/>
          <p:cNvSpPr txBox="1"/>
          <p:nvPr/>
        </p:nvSpPr>
        <p:spPr>
          <a:xfrm>
            <a:off x="7524598" y="4693615"/>
            <a:ext cx="40965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- 450°C anneal 후 Ru 확산 여부 EDS 확인</a:t>
            </a:r>
            <a:endParaRPr lang="en-US" sz="975" dirty="0"/>
          </a:p>
        </p:txBody>
      </p:sp>
      <p:sp>
        <p:nvSpPr>
          <p:cNvPr id="29" name="Text 24"/>
          <p:cNvSpPr txBox="1"/>
          <p:nvPr/>
        </p:nvSpPr>
        <p:spPr>
          <a:xfrm>
            <a:off x="8382305" y="6610198"/>
            <a:ext cx="3429000" cy="133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제성민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2026-10-05T12:18:08Z</dcterms:created>
  <dcterms:modified xsi:type="dcterms:W3CDTF">2026-10-05T12:18:08Z</dcterms:modified>
</cp:coreProperties>
</file>