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e781061579e8998a09af43f741b681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305" y="1276502"/>
            <a:ext cx="4762195" cy="3181198"/>
          </a:xfrm>
          <a:prstGeom prst="rect">
            <a:avLst/>
          </a:prstGeom>
        </p:spPr>
      </p:pic>
      <p:pic>
        <p:nvPicPr>
          <p:cNvPr id="3" name="Image 1" descr="gen-dedup-4b740ad4429d2e1df7999d61f3a0089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990295"/>
            <a:ext cx="1714500" cy="857707"/>
          </a:xfrm>
          <a:prstGeom prst="rect">
            <a:avLst/>
          </a:prstGeom>
        </p:spPr>
      </p:pic>
      <p:pic>
        <p:nvPicPr>
          <p:cNvPr id="4" name="Image 2" descr="gen-dedup-a55cf08bad4f9091e609728c8b49372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904695"/>
            <a:ext cx="1714500" cy="1619402"/>
          </a:xfrm>
          <a:prstGeom prst="rect">
            <a:avLst/>
          </a:prstGeom>
        </p:spPr>
      </p:pic>
      <p:pic>
        <p:nvPicPr>
          <p:cNvPr id="5" name="Image 3" descr="gen-dedup-5582726bbcd69a84e8c73707260aaa1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95" y="3581705"/>
            <a:ext cx="1714500" cy="1133856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QFYOL088.6C ET results</a:t>
            </a:r>
            <a:endParaRPr lang="en-US" sz="1950" dirty="0"/>
          </a:p>
        </p:txBody>
      </p:sp>
      <p:sp>
        <p:nvSpPr>
          <p:cNvPr id="7" name="Text 1"/>
          <p:cNvSpPr txBox="1"/>
          <p:nvPr/>
        </p:nvSpPr>
        <p:spPr>
          <a:xfrm>
            <a:off x="4953305" y="990295"/>
            <a:ext cx="914400" cy="257861"/>
          </a:xfrm>
          <a:prstGeom prst="rect">
            <a:avLst/>
          </a:prstGeom>
          <a:noFill/>
          <a:ln w="25400">
            <a:solidFill>
              <a:srgbClr val="C62828"/>
            </a:solidFill>
          </a:ln>
        </p:spPr>
        <p:txBody>
          <a:bodyPr wrap="square" lIns="101600" tIns="12700" rIns="101600" bIns="12700" rtlCol="0" anchor="ctr"/>
          <a:lstStyle/>
          <a:p>
            <a:pPr algn="l" indent="0" marL="0">
              <a:buNone/>
            </a:pPr>
            <a:r>
              <a:rPr lang="en-US" sz="1125" b="1" spc="75" kern="0" dirty="0">
                <a:solidFill>
                  <a:srgbClr val="C62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125" dirty="0"/>
          </a:p>
        </p:txBody>
      </p:sp>
      <p:sp>
        <p:nvSpPr>
          <p:cNvPr id="8" name="Text 2"/>
          <p:cNvSpPr txBox="1"/>
          <p:nvPr/>
        </p:nvSpPr>
        <p:spPr>
          <a:xfrm>
            <a:off x="9905695" y="4772254"/>
            <a:ext cx="17145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16nm pitch Ru line TEM (imec) / Ru line TEM (AR≈3)</a:t>
            </a:r>
            <a:endParaRPr lang="en-US" sz="800" dirty="0"/>
          </a:p>
        </p:txBody>
      </p:sp>
      <p:sp>
        <p:nvSpPr>
          <p:cNvPr id="9" name="Text 3"/>
          <p:cNvSpPr txBox="1"/>
          <p:nvPr/>
        </p:nvSpPr>
        <p:spPr>
          <a:xfrm>
            <a:off x="571500" y="990295"/>
            <a:ext cx="162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819302" y="990295"/>
            <a:ext cx="3943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증착 방식 (CVD Ru, PVD+SLA 20us) 저항 평가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1423721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819302" y="1423721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depo / Line AR split, POR 대비)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894637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 (QFYOL_15):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Δ+0.22, AMI 9.1/8.9 (POR 8.8/8.8) 소폭 상향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327148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Ru/AR 4.0 (QFYOL_24):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Δ+0.53로 변동 최대, AMI 9.4/9.3 (POR 8.8/8.8) 소폭 상향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798064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014777"/>
            <a:ext cx="41916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48.7Ω(-11%),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78%(-22%p)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고AR 식각 bottom 미분리 → bridge성 short 추정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664001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Ru/AR 4.0: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57.2Ω(+4%), CMBSRP 92/99%로 POR 동등 → 전 item POR 동등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4134002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350715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PVD+SLA 20us/AR 4.0 Short mode 지배적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783226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PVD+SLA 20us/AR 4.0는 CMBSRP와 VCHN에서 같은 mode로 재현되어 split 기인으로 판단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5216652"/>
            <a:ext cx="4191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CVD Ru/AR 4.0 CD targeting 후 short 재확인 필요 (VA DC 기준)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" y="5649163"/>
            <a:ext cx="4191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- 450°C anneal 후 Ru 확산 여부 EDS 확인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기보람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Rc cumulative distribution</a:t>
            </a:r>
            <a:endParaRPr lang="en-US" sz="22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54.8Ω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 median 48.7Ω (-11.1%)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Ru/AR 4.0 median 57.2Ω (+4.4%)</a:t>
            </a:r>
            <a:endParaRPr lang="en-US" sz="1275" dirty="0"/>
          </a:p>
        </p:txBody>
      </p:sp>
      <p:pic>
        <p:nvPicPr>
          <p:cNvPr id="6" name="Image 0" descr="gen-dedup-726cbb124a5f76d865429177f281a2b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기보람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Line Rs cumulative distribution</a:t>
            </a:r>
            <a:endParaRPr lang="en-US" sz="2100" dirty="0"/>
          </a:p>
        </p:txBody>
      </p:sp>
      <p:pic>
        <p:nvPicPr>
          <p:cNvPr id="3" name="Image 0" descr="gen-dedup-aa0888fba2f22634344cfad3fe3f378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57.49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 median 55.04 (-4.3%)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Ru/AR 4.0 median 52.86 (-8.1%)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기보람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die yield by split</a:t>
            </a:r>
            <a:endParaRPr lang="en-US" sz="2100" dirty="0"/>
          </a:p>
        </p:txBody>
      </p:sp>
      <p:pic>
        <p:nvPicPr>
          <p:cNvPr id="3" name="Image 0" descr="gen-dedup-bae29905efd96e8ef7e52f9899b008bf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 median 95%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 Ru/AR 4.0 median 92%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기보람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SiN ACI CD wafer map</a:t>
            </a:r>
            <a:endParaRPr lang="en-US" sz="2100" dirty="0"/>
          </a:p>
        </p:txBody>
      </p:sp>
      <p:pic>
        <p:nvPicPr>
          <p:cNvPr id="3" name="Image 0" descr="gen-dedup-f403c0e15f6d1733b8962e860769ff80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b18d962b6232acf2617cf88f85edbe95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PVD+SLA 20us/AR 4.0: SiN ACI 8.7/8.4 (POR 8.3/8.0),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기보람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2026-10-05T12:19:20Z</dcterms:created>
  <dcterms:modified xsi:type="dcterms:W3CDTF">2026-10-05T12:19:20Z</dcterms:modified>
</cp:coreProperties>
</file>