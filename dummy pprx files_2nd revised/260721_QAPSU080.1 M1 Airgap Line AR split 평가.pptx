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die count (ea / 49 die)</a:t>
            </a:r>
            <a:endParaRPr lang="en-US" sz="2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6486754" cy="135331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85646"/>
                <a:gridCol w="1285646"/>
                <a:gridCol w="1285646"/>
                <a:gridCol w="1285646"/>
              </a:tblGrid>
              <a:tr h="338328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(QKCCE049_22)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QAPSU_15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QAPSU_21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QAPSU_17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832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832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264810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split fail die POR 수준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양정훈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Ru ACI CD wafer map</a:t>
            </a:r>
            <a:endParaRPr lang="en-US" sz="2100" dirty="0"/>
          </a:p>
        </p:txBody>
      </p:sp>
      <p:pic>
        <p:nvPicPr>
          <p:cNvPr id="3" name="Image 0" descr="gen-dedup-35080a8f751186c24c045a5fccd00d8a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1067105"/>
            <a:ext cx="2648102" cy="3305556"/>
          </a:xfrm>
          <a:prstGeom prst="rect">
            <a:avLst/>
          </a:prstGeom>
        </p:spPr>
      </p:pic>
      <p:pic>
        <p:nvPicPr>
          <p:cNvPr id="4" name="Image 1" descr="gen-dedup-2466f309c5451d48c8c05f49f7fd4cbb.png">    </p:cNvPr>
          <p:cNvPicPr>
            <a:picLocks noChangeAspect="1"/>
          </p:cNvPicPr>
          <p:nvPr/>
        </p:nvPicPr>
        <p:blipFill>
          <a:blip r:embed="rId2"/>
          <a:srcRect l="0" r="0" t="-3" b="-3"/>
          <a:stretch/>
        </p:blipFill>
        <p:spPr>
          <a:xfrm>
            <a:off x="3372307" y="1067105"/>
            <a:ext cx="2648102" cy="3305556"/>
          </a:xfrm>
          <a:prstGeom prst="rect">
            <a:avLst/>
          </a:prstGeom>
        </p:spPr>
      </p:pic>
      <p:pic>
        <p:nvPicPr>
          <p:cNvPr id="5" name="Image 2" descr="gen-dedup-cc998c3bd2468a0639932349c582fdf8.png">    </p:cNvPr>
          <p:cNvPicPr>
            <a:picLocks noChangeAspect="1"/>
          </p:cNvPicPr>
          <p:nvPr/>
        </p:nvPicPr>
        <p:blipFill>
          <a:blip r:embed="rId3"/>
          <a:srcRect l="0" r="0" t="-3" b="-3"/>
          <a:stretch/>
        </p:blipFill>
        <p:spPr>
          <a:xfrm>
            <a:off x="6172200" y="1067105"/>
            <a:ext cx="2648102" cy="3305556"/>
          </a:xfrm>
          <a:prstGeom prst="rect">
            <a:avLst/>
          </a:prstGeom>
        </p:spPr>
      </p:pic>
      <p:pic>
        <p:nvPicPr>
          <p:cNvPr id="6" name="Image 3" descr="gen-dedup-84d40dc29ab15fa3e6a0cb09b5c31b9f.png">    </p:cNvPr>
          <p:cNvPicPr>
            <a:picLocks noChangeAspect="1"/>
          </p:cNvPicPr>
          <p:nvPr/>
        </p:nvPicPr>
        <p:blipFill>
          <a:blip r:embed="rId4"/>
          <a:srcRect l="0" r="0" t="-3" b="-3"/>
          <a:stretch/>
        </p:blipFill>
        <p:spPr>
          <a:xfrm>
            <a:off x="8973007" y="1067105"/>
            <a:ext cx="2648102" cy="3305556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71500" y="4562856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opt: Ru ACI 9.7 (POR 9.7), edge 편차 POR 수준</a:t>
            </a:r>
            <a:endParaRPr lang="en-US" sz="1275" dirty="0"/>
          </a:p>
        </p:txBody>
      </p:sp>
      <p:sp>
        <p:nvSpPr>
          <p:cNvPr id="8" name="Text 2"/>
          <p:cNvSpPr txBox="1"/>
          <p:nvPr/>
        </p:nvSpPr>
        <p:spPr>
          <a:xfrm>
            <a:off x="571500" y="4821631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opt/AR 3.0: Ru ACI 10.2 (POR 9.7), edge 편차 POR 수준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571500" y="5080406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3.0: Ru ACI 9.8 (POR 9.7), edge 편차 POR 수준</a:t>
            </a:r>
            <a:endParaRPr lang="en-US" sz="1275" dirty="0"/>
          </a:p>
        </p:txBody>
      </p:sp>
      <p:sp>
        <p:nvSpPr>
          <p:cNvPr id="10" name="Text 4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양정훈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6e4a18322fd6e1b877704dd498e57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305" y="1276502"/>
            <a:ext cx="4762195" cy="3181198"/>
          </a:xfrm>
          <a:prstGeom prst="rect">
            <a:avLst/>
          </a:prstGeom>
        </p:spPr>
      </p:pic>
      <p:pic>
        <p:nvPicPr>
          <p:cNvPr id="3" name="Image 1" descr="gen-dedup-5582726bbcd69a84e8c73707260aaa1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990295"/>
            <a:ext cx="1714500" cy="11338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KVKB QAPSU080.1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4953305" y="990295"/>
            <a:ext cx="914400" cy="257861"/>
          </a:xfrm>
          <a:prstGeom prst="rect">
            <a:avLst/>
          </a:prstGeom>
          <a:noFill/>
          <a:ln w="25400">
            <a:solidFill>
              <a:srgbClr val="C62828"/>
            </a:solidFill>
          </a:ln>
        </p:spPr>
        <p:txBody>
          <a:bodyPr wrap="square" lIns="101600" tIns="12700" rIns="101600" bIns="12700" rtlCol="0" anchor="ctr"/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test</a:t>
            </a:r>
            <a:endParaRPr lang="en-US" sz="1125" dirty="0"/>
          </a:p>
        </p:txBody>
      </p:sp>
      <p:sp>
        <p:nvSpPr>
          <p:cNvPr id="6" name="Text 2"/>
          <p:cNvSpPr txBox="1"/>
          <p:nvPr/>
        </p:nvSpPr>
        <p:spPr>
          <a:xfrm>
            <a:off x="9905695" y="2180844"/>
            <a:ext cx="1714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 Ru line TEM, AR 3~6 (imec)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19302" y="990295"/>
            <a:ext cx="327629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Airgap / Line AR split 평가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71500" y="1461211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(Airgap / Line AR split, POR 대비)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1677924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 (QAPSU_15):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Δ+0.02, AMI 8.0/8.0 · SiN ACI 8.3로 POR과 근접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2110435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opt/AR 3.0 (QAPSU_21):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Δ+0.40로 변동 최대, AMI 8.3/8.0 (POR 8.0/7.9) 소폭 상향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2543861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 (QAPSU_17):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Δ+0.12, AMI 8.1/8.2 · SiN ACI 8.5로 POR과 근접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71500" y="3014777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71500" y="3230575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40.0Ω(-4%),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96%(-4%p)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Short 96%(-4%p) → 전 item POR 동등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" y="3664001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opt/AR 3.0: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43.4Ω(+4%),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94%(-6%p)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4096512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40.4Ω(-3%), CMBSRP 99/99%로 POR 동등 → 전 item POR 동등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71500" y="4567428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71500" y="4783226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Airgap+cap opt·Airgap+cap opt/AR 3.0·AR 3.0 는 POR 대비 전 항목 동등 → 후보 조건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5216652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추가 1 lot 모니터링 후 전환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71500" y="5432450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TDDB / EM 결과 대기, 2 die hold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571500" y="5649163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airgap cap pinch-off 여부 X-SEM 확인 예정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양정훈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Rc cumulative distribution</a:t>
            </a:r>
            <a:endParaRPr lang="en-US" sz="2250" dirty="0"/>
          </a:p>
        </p:txBody>
      </p:sp>
      <p:pic>
        <p:nvPicPr>
          <p:cNvPr id="3" name="Image 0" descr="gen-dedup-228d9f8ec1b9ff460719fdf5689e48b8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6098" y="133319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41.5Ω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096098" y="159288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 median 40.0Ω (-3.7%)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096098" y="1851660"/>
            <a:ext cx="416783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opt/AR 3.0 median 43.4Ω (+4.5%)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096098" y="211043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 median 40.4Ω (-2.7%)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양정훈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2026-10-05T12:19:32Z</dcterms:created>
  <dcterms:modified xsi:type="dcterms:W3CDTF">2026-10-05T12:19:32Z</dcterms:modified>
</cp:coreProperties>
</file>