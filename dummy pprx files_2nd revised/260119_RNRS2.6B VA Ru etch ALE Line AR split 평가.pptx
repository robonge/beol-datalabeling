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ACI CD wafer map</a:t>
            </a:r>
            <a:endParaRPr lang="en-US" sz="2100" dirty="0"/>
          </a:p>
        </p:txBody>
      </p:sp>
      <p:pic>
        <p:nvPicPr>
          <p:cNvPr id="3" name="Image 0" descr="gen-dedup-33f7ddeb8eb1912c2ecbc2f108ee8b39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5447995" cy="4095598"/>
          </a:xfrm>
          <a:prstGeom prst="rect">
            <a:avLst/>
          </a:prstGeom>
        </p:spPr>
      </p:pic>
      <p:pic>
        <p:nvPicPr>
          <p:cNvPr id="4" name="Image 1" descr="gen-dedup-e4de19057f41387c31bfd4f8d9348324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6172200" y="1067105"/>
            <a:ext cx="5447995" cy="409559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71500" y="53528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ME/Thermal ALE/AR 4.0: ACI 9.8/8.3 (POR 8.8/8.3), edge 편차 POR 수준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마도윤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51bdaa3bd404643eb6ee88ebe0a3d0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90295"/>
            <a:ext cx="1438351" cy="952805"/>
          </a:xfrm>
          <a:prstGeom prst="rect">
            <a:avLst/>
          </a:prstGeom>
        </p:spPr>
      </p:pic>
      <p:pic>
        <p:nvPicPr>
          <p:cNvPr id="3" name="Image 1" descr="gen-dedup-0cf6296f02ffe08820f08c7c6938f32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746" y="990295"/>
            <a:ext cx="1266444" cy="952805"/>
          </a:xfrm>
          <a:prstGeom prst="rect">
            <a:avLst/>
          </a:prstGeom>
        </p:spPr>
      </p:pic>
      <p:pic>
        <p:nvPicPr>
          <p:cNvPr id="4" name="Image 2" descr="gen-dedup-bcdf24cb0c91cde777d78e8de404a05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990295"/>
            <a:ext cx="1895551" cy="9528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KVKB RNRS2.6B ET results</a:t>
            </a:r>
            <a:endParaRPr lang="en-US" sz="225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1981505"/>
            <a:ext cx="5429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 Ru line TEM, AR 3~6 (imec) / Ru HAR line TEM / 16nm pitch Ru line TEM (imec)</a:t>
            </a:r>
            <a:endParaRPr lang="en-US" sz="8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2266798"/>
          <a:ext cx="5438851" cy="4163263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819302"/>
                <a:gridCol w="819302"/>
                <a:gridCol w="819302"/>
                <a:gridCol w="819302"/>
                <a:gridCol w="819302"/>
              </a:tblGrid>
              <a:tr h="34693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(RDR1K_15)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RNRS2_5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RNRS2_10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RNRS2_25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RNRS2_24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93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etch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O2/Cl2 RIE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RIE+IBE trim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Long ME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Segmented E-C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Long ME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693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Thermal ALE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Thermal ALE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Thermal ALE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693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 AR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2.0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4.0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4.0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3.0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3.0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693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693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693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8.8/8.3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8.7/8.3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9.8/8.3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8.9/8.4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69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6939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46939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4693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34693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8" name="Text 2"/>
          <p:cNvSpPr txBox="1"/>
          <p:nvPr/>
        </p:nvSpPr>
        <p:spPr>
          <a:xfrm>
            <a:off x="6229807" y="990295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9" name="Text 3"/>
          <p:cNvSpPr txBox="1"/>
          <p:nvPr/>
        </p:nvSpPr>
        <p:spPr>
          <a:xfrm>
            <a:off x="6448349" y="990295"/>
            <a:ext cx="310621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VA Ru etch / ALE / Line AR split 평가</a:t>
            </a:r>
            <a:endParaRPr lang="en-US" sz="975" dirty="0"/>
          </a:p>
        </p:txBody>
      </p:sp>
      <p:sp>
        <p:nvSpPr>
          <p:cNvPr id="10" name="Text 4"/>
          <p:cNvSpPr txBox="1"/>
          <p:nvPr/>
        </p:nvSpPr>
        <p:spPr>
          <a:xfrm>
            <a:off x="6229807" y="1159459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11" name="Text 5"/>
          <p:cNvSpPr txBox="1"/>
          <p:nvPr/>
        </p:nvSpPr>
        <p:spPr>
          <a:xfrm>
            <a:off x="6448349" y="1159459"/>
            <a:ext cx="667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75" dirty="0"/>
          </a:p>
        </p:txBody>
      </p:sp>
      <p:sp>
        <p:nvSpPr>
          <p:cNvPr id="12" name="Text 6"/>
          <p:cNvSpPr txBox="1"/>
          <p:nvPr/>
        </p:nvSpPr>
        <p:spPr>
          <a:xfrm>
            <a:off x="6229807" y="1356055"/>
            <a:ext cx="53913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(Ru etch / ALE split, POR 대비)</a:t>
            </a:r>
            <a:endParaRPr lang="en-US" sz="975" dirty="0"/>
          </a:p>
        </p:txBody>
      </p:sp>
      <p:sp>
        <p:nvSpPr>
          <p:cNvPr id="13" name="Text 7"/>
          <p:cNvSpPr txBox="1"/>
          <p:nvPr/>
        </p:nvSpPr>
        <p:spPr>
          <a:xfrm>
            <a:off x="6229807" y="1524305"/>
            <a:ext cx="5391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trim/Thermal ALE/AR 4.0 (RNRS2_5):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Δ+0.24/+0.16, ACI 8.7/8.3로 POR과 근접</a:t>
            </a:r>
            <a:endParaRPr lang="en-US" sz="975" dirty="0"/>
          </a:p>
        </p:txBody>
      </p:sp>
      <p:sp>
        <p:nvSpPr>
          <p:cNvPr id="14" name="Text 8"/>
          <p:cNvSpPr txBox="1"/>
          <p:nvPr/>
        </p:nvSpPr>
        <p:spPr>
          <a:xfrm>
            <a:off x="6229807" y="1861718"/>
            <a:ext cx="5391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ME/Thermal ALE/AR 4.0 (RNRS2_10):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Δ+0.99/+1.08로 변동 최대, ACI A측만 9.8으로 POR 대비 +1.0 확대 (B측 8.3 동등)</a:t>
            </a:r>
            <a:endParaRPr lang="en-US" sz="975" dirty="0"/>
          </a:p>
        </p:txBody>
      </p:sp>
      <p:sp>
        <p:nvSpPr>
          <p:cNvPr id="15" name="Text 9"/>
          <p:cNvSpPr txBox="1"/>
          <p:nvPr/>
        </p:nvSpPr>
        <p:spPr>
          <a:xfrm>
            <a:off x="6229807" y="2198218"/>
            <a:ext cx="60771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E-C/AR 3.0 (RNRS2_25):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Δ+0.20/+0.12, ACI 8.9/8.4로 POR과 근접</a:t>
            </a:r>
            <a:endParaRPr lang="en-US" sz="975" dirty="0"/>
          </a:p>
        </p:txBody>
      </p:sp>
      <p:sp>
        <p:nvSpPr>
          <p:cNvPr id="16" name="Text 10"/>
          <p:cNvSpPr txBox="1"/>
          <p:nvPr/>
        </p:nvSpPr>
        <p:spPr>
          <a:xfrm>
            <a:off x="6229807" y="2367382"/>
            <a:ext cx="5391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ME/Thermal ALE/AR 3.0 (RNRS2_24):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Δ+1.20/+0.84, ACI 9.7/9.1로 전 구간 +0.9~0.9 확대</a:t>
            </a:r>
            <a:endParaRPr lang="en-US" sz="975" dirty="0"/>
          </a:p>
        </p:txBody>
      </p:sp>
      <p:sp>
        <p:nvSpPr>
          <p:cNvPr id="17" name="Text 11"/>
          <p:cNvSpPr txBox="1"/>
          <p:nvPr/>
        </p:nvSpPr>
        <p:spPr>
          <a:xfrm>
            <a:off x="6229807" y="2732227"/>
            <a:ext cx="53913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975" dirty="0"/>
          </a:p>
        </p:txBody>
      </p:sp>
      <p:sp>
        <p:nvSpPr>
          <p:cNvPr id="18" name="Text 12"/>
          <p:cNvSpPr txBox="1"/>
          <p:nvPr/>
        </p:nvSpPr>
        <p:spPr>
          <a:xfrm>
            <a:off x="6229807" y="2901391"/>
            <a:ext cx="5391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trim/Thermal ALE/AR 4.0: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64.8Ω(+1%), VA Rc 64.0Ω(+5%),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60%(-33%p)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Open 96%(-4%p) → 고AR 식각 bottom 미분리 → bridge성 short 추정</a:t>
            </a:r>
            <a:endParaRPr lang="en-US" sz="975" dirty="0"/>
          </a:p>
        </p:txBody>
      </p:sp>
      <p:sp>
        <p:nvSpPr>
          <p:cNvPr id="19" name="Text 13"/>
          <p:cNvSpPr txBox="1"/>
          <p:nvPr/>
        </p:nvSpPr>
        <p:spPr>
          <a:xfrm>
            <a:off x="6229807" y="3237890"/>
            <a:ext cx="5391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ME/Thermal ALE/AR 4.0: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68.1Ω(+6%), VA Rc 66.4Ω(+9%), CMBSRP 92%로 POR 동등,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96%(-4%p)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전 item POR 동등</a:t>
            </a:r>
            <a:endParaRPr lang="en-US" sz="975" dirty="0"/>
          </a:p>
        </p:txBody>
      </p:sp>
      <p:sp>
        <p:nvSpPr>
          <p:cNvPr id="20" name="Text 14"/>
          <p:cNvSpPr txBox="1"/>
          <p:nvPr/>
        </p:nvSpPr>
        <p:spPr>
          <a:xfrm>
            <a:off x="6229807" y="3575304"/>
            <a:ext cx="5391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E-C/AR 3.0: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66.1Ω(+3%), VA Rc 59.2Ω(-3%), CMBSRP 91%로 POR 동등,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96%(-4%p)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전 item POR 동등</a:t>
            </a:r>
            <a:endParaRPr lang="en-US" sz="975" dirty="0"/>
          </a:p>
        </p:txBody>
      </p:sp>
      <p:sp>
        <p:nvSpPr>
          <p:cNvPr id="21" name="Text 15"/>
          <p:cNvSpPr txBox="1"/>
          <p:nvPr/>
        </p:nvSpPr>
        <p:spPr>
          <a:xfrm>
            <a:off x="6229807" y="3911803"/>
            <a:ext cx="53913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ME/Thermal ALE/AR 3.0: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61.5Ω(-4%), VA Rc 57.0Ω(-6%),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12%(-81%p)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97/97%로 POR 동등 → 장시간 plasma 로 SiN HM 산화 팽창 → Ru line bottom bridge, short 지배적</a:t>
            </a:r>
            <a:endParaRPr lang="en-US" sz="975" dirty="0"/>
          </a:p>
        </p:txBody>
      </p:sp>
      <p:sp>
        <p:nvSpPr>
          <p:cNvPr id="22" name="Text 16"/>
          <p:cNvSpPr txBox="1"/>
          <p:nvPr/>
        </p:nvSpPr>
        <p:spPr>
          <a:xfrm>
            <a:off x="6229807" y="4445813"/>
            <a:ext cx="53913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75" dirty="0"/>
          </a:p>
        </p:txBody>
      </p:sp>
      <p:sp>
        <p:nvSpPr>
          <p:cNvPr id="23" name="Text 17"/>
          <p:cNvSpPr txBox="1"/>
          <p:nvPr/>
        </p:nvSpPr>
        <p:spPr>
          <a:xfrm>
            <a:off x="6229807" y="4614062"/>
            <a:ext cx="5391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Long ME/Thermal ALE/AR 4.0·Segmented E-C/AR 3.0 는 POR 대비 전 항목 동등 → 후보 조건, RIE+IBE trim/Thermal ALE/AR 4.0·Long ME/Thermal ALE/AR 3.0 는 Short 열화</a:t>
            </a:r>
            <a:endParaRPr lang="en-US" sz="975" dirty="0"/>
          </a:p>
        </p:txBody>
      </p:sp>
      <p:sp>
        <p:nvSpPr>
          <p:cNvPr id="24" name="Text 18"/>
          <p:cNvSpPr txBox="1"/>
          <p:nvPr/>
        </p:nvSpPr>
        <p:spPr>
          <a:xfrm>
            <a:off x="6229807" y="4951476"/>
            <a:ext cx="580552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Long ME/Thermal ALE/AR 3.0 CD targeting 후 short 재확인 필요 — EBAC 국소화 병행</a:t>
            </a:r>
            <a:endParaRPr lang="en-US" sz="975" dirty="0"/>
          </a:p>
        </p:txBody>
      </p:sp>
      <p:sp>
        <p:nvSpPr>
          <p:cNvPr id="25" name="Text 19"/>
          <p:cNvSpPr txBox="1"/>
          <p:nvPr/>
        </p:nvSpPr>
        <p:spPr>
          <a:xfrm>
            <a:off x="6229807" y="5119726"/>
            <a:ext cx="53913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Ru line bottom bridge 여부 TEM 확인 예정</a:t>
            </a:r>
            <a:endParaRPr lang="en-US" sz="975" dirty="0"/>
          </a:p>
        </p:txBody>
      </p:sp>
      <p:sp>
        <p:nvSpPr>
          <p:cNvPr id="26" name="Text 20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마도윤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Rc cumulative distribution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61.0Ω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trim/Thermal ALE/AR 4.0 median 64.0Ω (+5.0%)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2206447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ME/Thermal ALE/AR 4.0 median 66.4Ω (+8.9%)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723998"/>
            <a:ext cx="409834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E-C/AR 3.0 median 59.2Ω (-3.0%)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983687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ME/Thermal ALE/AR 3.0 median 57.0Ω (-6.5%)</a:t>
            </a:r>
            <a:endParaRPr lang="en-US" sz="1275" dirty="0"/>
          </a:p>
        </p:txBody>
      </p:sp>
      <p:pic>
        <p:nvPicPr>
          <p:cNvPr id="8" name="Image 0" descr="gen-dedup-fb874555a0cd16b72aa461e4989078a7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마도윤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ET fail die summary</a:t>
            </a:r>
            <a:endParaRPr lang="en-US" sz="2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7629754" cy="19623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57300"/>
                <a:gridCol w="1257300"/>
                <a:gridCol w="1257300"/>
                <a:gridCol w="1257300"/>
                <a:gridCol w="1257300"/>
              </a:tblGrid>
              <a:tr h="32705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(RDR1K_15)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RNRS2_5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RNRS2_10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RNRS2_25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RNRS2_24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325800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trim/Thermal ALE/AR 4.0: Short fail die 집중 (CMBSRP)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351678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ME/Thermal ALE/AR 3.0: Short fail die 집중 (CMBSRP)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마도윤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Line Rs cumulative distribution</a:t>
            </a:r>
            <a:endParaRPr lang="en-US" sz="1950" dirty="0"/>
          </a:p>
        </p:txBody>
      </p:sp>
      <p:pic>
        <p:nvPicPr>
          <p:cNvPr id="3" name="Image 0" descr="gen-dedup-04ee050e3aa5a95384e2c1ad19cf2df2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6098" y="133319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55.40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096098" y="1592885"/>
            <a:ext cx="352501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trim/Thermal ALE/AR 4.0 median 55.27 (-0.2%)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096098" y="2110435"/>
            <a:ext cx="352501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ME/Thermal ALE/AR 4.0 median 48.67 (-12.1%)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096098" y="2628900"/>
            <a:ext cx="409834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E-C/AR 3.0 median 54.54 (-1.5%)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096098" y="2888590"/>
            <a:ext cx="352501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ME/Thermal ALE/AR 3.0 median 49.86 (-10.0%)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마도윤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2026-10-05T12:18:33Z</dcterms:created>
  <dcterms:modified xsi:type="dcterms:W3CDTF">2026-10-05T12:18:33Z</dcterms:modified>
</cp:coreProperties>
</file>