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ACI CD wafer map</a:t>
            </a:r>
            <a:endParaRPr lang="en-US" sz="2100" dirty="0"/>
          </a:p>
        </p:txBody>
      </p:sp>
      <p:pic>
        <p:nvPicPr>
          <p:cNvPr id="3" name="Image 0" descr="gen-dedup-1aa430b613d2daa87af938fe6ccdd54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5447995" cy="4095598"/>
          </a:xfrm>
          <a:prstGeom prst="rect">
            <a:avLst/>
          </a:prstGeom>
        </p:spPr>
      </p:pic>
      <p:pic>
        <p:nvPicPr>
          <p:cNvPr id="4" name="Image 1" descr="gen-dedup-9c553fd1a1560fbc24b2c73a40681601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6172200" y="1067105"/>
            <a:ext cx="5447995" cy="40955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Al2O3 cap: ACI 9.7/9.3 (POR 9.6/9.2), edge 편차 POR 수준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권도윤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c9e43ab82ee36a899c183c9437ebc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4114800"/>
            <a:ext cx="2361895" cy="1543507"/>
          </a:xfrm>
          <a:prstGeom prst="rect">
            <a:avLst/>
          </a:prstGeom>
        </p:spPr>
      </p:pic>
      <p:pic>
        <p:nvPicPr>
          <p:cNvPr id="3" name="Image 1" descr="gen-dedup-389e498a7504d0c750b85e053ad6d6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149" y="4114800"/>
            <a:ext cx="3333902" cy="15435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KVFG RNRZ6.67 ET results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38444" y="990295"/>
          <a:ext cx="5800954" cy="30010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114654"/>
                <a:gridCol w="1114654"/>
                <a:gridCol w="1114654"/>
                <a:gridCol w="1114654"/>
              </a:tblGrid>
              <a:tr h="30010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(QWJKV_7)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RNRZ6_23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RNRZ6_3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RNRZ6_11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10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Al2O3 cap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TiN/SiN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TiN/SiN dual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010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010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0010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0010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8.8/9.2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8.6/9.0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0010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0010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0010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0010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838444" y="5695798"/>
            <a:ext cx="57817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 / Cu DD trench/via X-SEM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990295"/>
            <a:ext cx="1627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990295"/>
            <a:ext cx="4791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M1 trench etch MHM 박막화 (Al2O3 cap, TiN/SiN, TiN/SiN dual)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423721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1423721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677924"/>
            <a:ext cx="50392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(MHM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894637"/>
            <a:ext cx="5039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Al2O3 cap (RNRZ6_23):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Δ+0.09, AMI 9.8 · ACI 9.7/9.3로 POR과 근접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2327148"/>
            <a:ext cx="57250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 (RNRZ6_3):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Δ+0.14, AMI 9.8 · ACI 9.6/9.2로 POR과 근접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543861"/>
            <a:ext cx="5039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 dual (RNRZ6_11):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Δ+0.02로 변동 최대, AMI 9.7 · ACI 9.7/9.3로 POR과 근접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3014777"/>
            <a:ext cx="50392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3230575"/>
            <a:ext cx="5039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Al2O3 cap: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96/95%로 POR 동등, VCHN 98/92%로 POR 동등 → 유의차 없음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3664001"/>
            <a:ext cx="5039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93%(-6%p)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99/92%로 POR 동등 → 유의차 없음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4096512"/>
            <a:ext cx="50392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 dual: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98/97%로 POR 동등, VCHN 99/92%로 POR 동등 → 전 item POR 동등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4567428"/>
            <a:ext cx="50392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4783226"/>
            <a:ext cx="57250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Al2O3 cap·TiN/SiN·TiN/SiN dual 는 POR 대비 전 항목 동등 → 후보 조건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4999939"/>
            <a:ext cx="50392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 lot 재현성 확인 후 적용 검토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5216652"/>
            <a:ext cx="50392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HM faceting 여부 tilt SEM 확인 예정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권도윤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by split</a:t>
            </a:r>
            <a:endParaRPr lang="en-US" sz="2100" dirty="0"/>
          </a:p>
        </p:txBody>
      </p:sp>
      <p:pic>
        <p:nvPicPr>
          <p:cNvPr id="3" name="Image 0" descr="gen-dedup-7e07013ebdbe8105b58aba0ed9b07cd0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Al2O3 cap VCHN S 92%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08026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98%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Al2O3 cap 평균 95%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 평균 95%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TiN/SiN dual 평균 96%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TD 권도윤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2026-10-05T09:57:57Z</dcterms:created>
  <dcterms:modified xsi:type="dcterms:W3CDTF">2026-10-05T09:57:57Z</dcterms:modified>
</cp:coreProperties>
</file>