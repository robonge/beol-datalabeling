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M3 Via Rc cumulative distribution</a:t>
            </a:r>
            <a:endParaRPr lang="en-US" sz="1950" dirty="0"/>
          </a:p>
        </p:txBody>
      </p:sp>
      <p:sp>
        <p:nvSpPr>
          <p:cNvPr id="3" name="Text 1"/>
          <p:cNvSpPr txBox="1"/>
          <p:nvPr/>
        </p:nvSpPr>
        <p:spPr>
          <a:xfrm>
            <a:off x="571500" y="142920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45.7Ω</a:t>
            </a:r>
            <a:endParaRPr lang="en-US" sz="1275" dirty="0"/>
          </a:p>
        </p:txBody>
      </p:sp>
      <p:sp>
        <p:nvSpPr>
          <p:cNvPr id="4" name="Text 2"/>
          <p:cNvSpPr txBox="1"/>
          <p:nvPr/>
        </p:nvSpPr>
        <p:spPr>
          <a:xfrm>
            <a:off x="571500" y="1687982"/>
            <a:ext cx="380664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High-bias ME/PEM median 37.9Ω (-17.1%)</a:t>
            </a:r>
            <a:endParaRPr lang="en-US" sz="1275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1946758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ODT median 79.0Ω (+72.8%)</a:t>
            </a:r>
            <a:endParaRPr lang="en-US" sz="1275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2206447"/>
            <a:ext cx="36201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High-bias ME/PEM·ODT upper tail → via open성 fail 과 일치</a:t>
            </a:r>
            <a:endParaRPr lang="en-US" sz="1275" dirty="0"/>
          </a:p>
        </p:txBody>
      </p:sp>
      <p:pic>
        <p:nvPicPr>
          <p:cNvPr id="7" name="Image 0" descr="gen-dedup-4299268cf2d94728fd706713f614a0f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4381805" y="1067105"/>
            <a:ext cx="7239305" cy="49533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LogicTD 서소희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ff36e41c23871cf48717d961af1ef8f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305" y="952805"/>
            <a:ext cx="2009851" cy="1019556"/>
          </a:xfrm>
          <a:prstGeom prst="rect">
            <a:avLst/>
          </a:prstGeom>
        </p:spPr>
      </p:pic>
      <p:pic>
        <p:nvPicPr>
          <p:cNvPr id="3" name="Image 1" descr="gen-dedup-1bf0100bee0aaf64bfa0779342ce9097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8051" y="952805"/>
            <a:ext cx="1143000" cy="101955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SF2X KVIP RQUT4B.62 ET results</a:t>
            </a:r>
            <a:endParaRPr lang="en-US" sz="22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" y="952805"/>
          <a:ext cx="7629754" cy="2886761"/>
        </p:xfrm>
        <a:graphic>
          <a:graphicData uri="http://schemas.openxmlformats.org/drawingml/2006/table">
            <a:tbl>
              <a:tblPr/>
              <a:tblGrid>
                <a:gridCol w="666598"/>
                <a:gridCol w="666598"/>
                <a:gridCol w="2095805"/>
                <a:gridCol w="2095805"/>
                <a:gridCol w="2095805"/>
              </a:tblGrid>
              <a:tr h="240563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(QKHQW047_4)</a:t>
                      </a:r>
                      <a:endParaRPr lang="en-US" sz="1200" dirty="0"/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RQUT4B_5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RQUT4B_18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563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Inhibitor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None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PEM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ODT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40563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Trench etch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POR(-T3)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High-bias ME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POR(-T3)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40563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AASI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22.76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22.89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22.85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40563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AMI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8.3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40563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AEI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9.6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40563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76%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91%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40563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40563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54%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240563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89%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72%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240563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MinA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</a:tr>
              <a:tr h="240563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Via Rc (Ω)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45.7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37.9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79.0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8382305" y="2009851"/>
            <a:ext cx="3238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Cu/liner/barrier TEM-EDS / EDS mapping (Cu/Si/O/Ta)</a:t>
            </a:r>
            <a:endParaRPr lang="en-US" sz="825" dirty="0"/>
          </a:p>
        </p:txBody>
      </p:sp>
      <p:sp>
        <p:nvSpPr>
          <p:cNvPr id="7" name="Text 2"/>
          <p:cNvSpPr txBox="1"/>
          <p:nvPr/>
        </p:nvSpPr>
        <p:spPr>
          <a:xfrm>
            <a:off x="571500" y="3943807"/>
            <a:ext cx="1527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125" dirty="0"/>
          </a:p>
        </p:txBody>
      </p:sp>
      <p:sp>
        <p:nvSpPr>
          <p:cNvPr id="8" name="Text 3"/>
          <p:cNvSpPr txBox="1"/>
          <p:nvPr/>
        </p:nvSpPr>
        <p:spPr>
          <a:xfrm>
            <a:off x="810158" y="3943807"/>
            <a:ext cx="3762756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M3 ASD inhibitor (ODT, PEM) 적용 평가</a:t>
            </a:r>
            <a:endParaRPr lang="en-US" sz="1125" dirty="0"/>
          </a:p>
        </p:txBody>
      </p:sp>
      <p:sp>
        <p:nvSpPr>
          <p:cNvPr id="9" name="Text 4"/>
          <p:cNvSpPr txBox="1"/>
          <p:nvPr/>
        </p:nvSpPr>
        <p:spPr>
          <a:xfrm>
            <a:off x="571500" y="4145890"/>
            <a:ext cx="1527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125" dirty="0"/>
          </a:p>
        </p:txBody>
      </p:sp>
      <p:sp>
        <p:nvSpPr>
          <p:cNvPr id="10" name="Text 5"/>
          <p:cNvSpPr txBox="1"/>
          <p:nvPr/>
        </p:nvSpPr>
        <p:spPr>
          <a:xfrm>
            <a:off x="810158" y="4145890"/>
            <a:ext cx="76901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125" dirty="0"/>
          </a:p>
        </p:txBody>
      </p:sp>
      <p:sp>
        <p:nvSpPr>
          <p:cNvPr id="11" name="Text 6"/>
          <p:cNvSpPr txBox="1"/>
          <p:nvPr/>
        </p:nvSpPr>
        <p:spPr>
          <a:xfrm>
            <a:off x="571500" y="4387291"/>
            <a:ext cx="66678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 (Inhibitor / Trench etch split, POR 대비)</a:t>
            </a:r>
            <a:endParaRPr lang="en-US" sz="1125" dirty="0"/>
          </a:p>
        </p:txBody>
      </p:sp>
      <p:sp>
        <p:nvSpPr>
          <p:cNvPr id="12" name="Text 7"/>
          <p:cNvSpPr txBox="1"/>
          <p:nvPr/>
        </p:nvSpPr>
        <p:spPr>
          <a:xfrm>
            <a:off x="571500" y="4590288"/>
            <a:ext cx="7178954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12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High-bias ME/PEM (RQUT4B_5):</a:t>
            </a:r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Δ+0.13로 변동 최대, AMI 8.8 · AEI 9.8로 POR과 근접</a:t>
            </a:r>
            <a:endParaRPr lang="en-US" sz="1125" dirty="0"/>
          </a:p>
        </p:txBody>
      </p:sp>
      <p:sp>
        <p:nvSpPr>
          <p:cNvPr id="13" name="Text 8"/>
          <p:cNvSpPr txBox="1"/>
          <p:nvPr/>
        </p:nvSpPr>
        <p:spPr>
          <a:xfrm>
            <a:off x="571500" y="4793285"/>
            <a:ext cx="66678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12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ODT (RQUT4B_18):</a:t>
            </a:r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Δ+0.09, AMI 8.3 · AEI 9.6로 POR과 근접</a:t>
            </a:r>
            <a:endParaRPr lang="en-US" sz="1125" dirty="0"/>
          </a:p>
        </p:txBody>
      </p:sp>
      <p:sp>
        <p:nvSpPr>
          <p:cNvPr id="14" name="Text 9"/>
          <p:cNvSpPr txBox="1"/>
          <p:nvPr/>
        </p:nvSpPr>
        <p:spPr>
          <a:xfrm>
            <a:off x="571500" y="5033772"/>
            <a:ext cx="66678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Yield (CMBSRP / VCHN)</a:t>
            </a:r>
            <a:endParaRPr lang="en-US" sz="1125" dirty="0"/>
          </a:p>
        </p:txBody>
      </p:sp>
      <p:sp>
        <p:nvSpPr>
          <p:cNvPr id="15" name="Text 10"/>
          <p:cNvSpPr txBox="1"/>
          <p:nvPr/>
        </p:nvSpPr>
        <p:spPr>
          <a:xfrm>
            <a:off x="571500" y="5236769"/>
            <a:ext cx="666780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98"/>
              </a:lnSpc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598"/>
              </a:lnSpc>
              <a:buNone/>
            </a:pPr>
            <a:r>
              <a:rPr lang="en-US" sz="112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High-bias ME/PEM:</a:t>
            </a:r>
            <a:pPr algn="l" indent="0" marL="0">
              <a:lnSpc>
                <a:spcPts val="1598"/>
              </a:lnSpc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Via Rc 37.9Ω(-17%), CMBSRP Open 76%(-20%p), </a:t>
            </a:r>
            <a:pPr algn="l" indent="0" marL="0">
              <a:lnSpc>
                <a:spcPts val="1598"/>
              </a:lnSpc>
              <a:buNone/>
            </a:pPr>
            <a:r>
              <a:rPr lang="en-US" sz="112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Open 54%(-45%p)</a:t>
            </a:r>
            <a:pPr algn="l" indent="0" marL="0">
              <a:lnSpc>
                <a:spcPts val="1598"/>
              </a:lnSpc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VCHN Short 89%(-9%p) → trench bottom corner micro-trenching → via 연결부 open 추정</a:t>
            </a:r>
            <a:endParaRPr lang="en-US" sz="1125" dirty="0"/>
          </a:p>
        </p:txBody>
      </p:sp>
      <p:sp>
        <p:nvSpPr>
          <p:cNvPr id="16" name="Text 11"/>
          <p:cNvSpPr txBox="1"/>
          <p:nvPr/>
        </p:nvSpPr>
        <p:spPr>
          <a:xfrm>
            <a:off x="571500" y="5642762"/>
            <a:ext cx="666780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98"/>
              </a:lnSpc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598"/>
              </a:lnSpc>
              <a:buNone/>
            </a:pPr>
            <a:r>
              <a:rPr lang="en-US" sz="112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ODT:</a:t>
            </a:r>
            <a:pPr algn="l" indent="0" marL="0">
              <a:lnSpc>
                <a:spcPts val="1598"/>
              </a:lnSpc>
              <a:buNone/>
            </a:pPr>
            <a:r>
              <a:rPr lang="en-US" sz="112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Rc 79.0Ω(+73%)</a:t>
            </a:r>
            <a:pPr algn="l" indent="0" marL="0">
              <a:lnSpc>
                <a:spcPts val="1598"/>
              </a:lnSpc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CMBSRP Open 91%(-5%p), </a:t>
            </a:r>
            <a:pPr algn="l" indent="0" marL="0">
              <a:lnSpc>
                <a:spcPts val="1598"/>
              </a:lnSpc>
              <a:buNone/>
            </a:pPr>
            <a:r>
              <a:rPr lang="en-US" sz="112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Open 30%(-69%p)</a:t>
            </a:r>
            <a:pPr algn="l" indent="0" marL="0">
              <a:lnSpc>
                <a:spcPts val="1598"/>
              </a:lnSpc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VCHN Short 72%(-26%p) → line보다 via 연결부 열화</a:t>
            </a:r>
            <a:endParaRPr lang="en-US" sz="1125" dirty="0"/>
          </a:p>
        </p:txBody>
      </p:sp>
      <p:sp>
        <p:nvSpPr>
          <p:cNvPr id="17" name="Text 12"/>
          <p:cNvSpPr txBox="1"/>
          <p:nvPr/>
        </p:nvSpPr>
        <p:spPr>
          <a:xfrm>
            <a:off x="7524598" y="3981298"/>
            <a:ext cx="4096512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125" dirty="0"/>
          </a:p>
        </p:txBody>
      </p:sp>
      <p:sp>
        <p:nvSpPr>
          <p:cNvPr id="18" name="Text 13"/>
          <p:cNvSpPr txBox="1"/>
          <p:nvPr/>
        </p:nvSpPr>
        <p:spPr>
          <a:xfrm>
            <a:off x="7524598" y="4184294"/>
            <a:ext cx="409651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98"/>
              </a:lnSpc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POR 대비 전 항목 동등한 split 없음, High-bias ME/PEM Open mode 지배적</a:t>
            </a:r>
            <a:endParaRPr lang="en-US" sz="1125" dirty="0"/>
          </a:p>
        </p:txBody>
      </p:sp>
      <p:sp>
        <p:nvSpPr>
          <p:cNvPr id="19" name="Text 14"/>
          <p:cNvSpPr txBox="1"/>
          <p:nvPr/>
        </p:nvSpPr>
        <p:spPr>
          <a:xfrm>
            <a:off x="7524598" y="4590288"/>
            <a:ext cx="409651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98"/>
              </a:lnSpc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High-bias ME/PEM는 CMBSRP와 VCHN에서 같은 mode로 재현되어 split 기인으로 판단</a:t>
            </a:r>
            <a:endParaRPr lang="en-US" sz="1125" dirty="0"/>
          </a:p>
        </p:txBody>
      </p:sp>
      <p:sp>
        <p:nvSpPr>
          <p:cNvPr id="20" name="Text 15"/>
          <p:cNvSpPr txBox="1"/>
          <p:nvPr/>
        </p:nvSpPr>
        <p:spPr>
          <a:xfrm>
            <a:off x="7524598" y="4995367"/>
            <a:ext cx="4096512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ODT Open fail die 단면 분석 필요</a:t>
            </a:r>
            <a:endParaRPr lang="en-US" sz="1125" dirty="0"/>
          </a:p>
        </p:txBody>
      </p:sp>
      <p:sp>
        <p:nvSpPr>
          <p:cNvPr id="21" name="Text 16"/>
          <p:cNvSpPr txBox="1"/>
          <p:nvPr/>
        </p:nvSpPr>
        <p:spPr>
          <a:xfrm>
            <a:off x="7524598" y="5198364"/>
            <a:ext cx="4096512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bottom corner micro-trench 깊이 X-SEM 측정 예정</a:t>
            </a:r>
            <a:endParaRPr lang="en-US" sz="1125" dirty="0"/>
          </a:p>
        </p:txBody>
      </p:sp>
      <p:sp>
        <p:nvSpPr>
          <p:cNvPr id="22" name="Text 17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LogicTD 서소희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2026-10-05T10:09:58Z</dcterms:created>
  <dcterms:modified xsi:type="dcterms:W3CDTF">2026-10-05T10:09:58Z</dcterms:modified>
</cp:coreProperties>
</file>