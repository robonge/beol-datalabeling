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image" Target="../media/image-1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bcdf24cb0c91cde777d78e8de404a05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1154" y="990295"/>
            <a:ext cx="1895551" cy="952805"/>
          </a:xfrm>
          <a:prstGeom prst="rect">
            <a:avLst/>
          </a:prstGeom>
        </p:spPr>
      </p:pic>
      <p:pic>
        <p:nvPicPr>
          <p:cNvPr id="3" name="Image 1" descr="gen-dedup-051bdaa3bd404643eb6ee88ebe0a3d0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1744" y="990295"/>
            <a:ext cx="1438351" cy="952805"/>
          </a:xfrm>
          <a:prstGeom prst="rect">
            <a:avLst/>
          </a:prstGeom>
        </p:spPr>
      </p:pic>
      <p:pic>
        <p:nvPicPr>
          <p:cNvPr id="4" name="Image 2" descr="gen-dedup-4eb98821ad91f968a6fe8f300af4efb9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6905" y="990295"/>
            <a:ext cx="714146" cy="952805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838505" y="437998"/>
            <a:ext cx="104781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SF0.7 KVIP QOAWC088.64 ET results</a:t>
            </a:r>
            <a:endParaRPr lang="en-US" sz="2100" dirty="0"/>
          </a:p>
        </p:txBody>
      </p:sp>
      <p:sp>
        <p:nvSpPr>
          <p:cNvPr id="6" name="Text 1"/>
          <p:cNvSpPr txBox="1"/>
          <p:nvPr/>
        </p:nvSpPr>
        <p:spPr>
          <a:xfrm>
            <a:off x="6248095" y="1981505"/>
            <a:ext cx="53721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16nm pitch Ru line TEM (imec) / HAR Ru line TEM, AR 3~6 (imec) / Ru line TEM (AR≈3)</a:t>
            </a:r>
            <a:endParaRPr lang="en-US" sz="825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8095" y="2266798"/>
          <a:ext cx="5382158" cy="2876702"/>
        </p:xfrm>
        <a:graphic>
          <a:graphicData uri="http://schemas.openxmlformats.org/drawingml/2006/table">
            <a:tbl>
              <a:tblPr/>
              <a:tblGrid>
                <a:gridCol w="666598"/>
                <a:gridCol w="666598"/>
                <a:gridCol w="2018995"/>
                <a:gridCol w="2018995"/>
              </a:tblGrid>
              <a:tr h="319634">
                <a:tc gridSpan="2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WAFER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POR</a:t>
                      </a:r>
                      <a:pPr algn="r" indent="0" marL="0">
                        <a:buNone/>
                      </a:pPr>
                      <a:endParaRPr lang="en-US" sz="1200" dirty="0"/>
                    </a:p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(QOAWC088_6)</a:t>
                      </a:r>
                      <a:endParaRPr lang="en-US" sz="1200" dirty="0"/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QOAWC088_5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9634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SiN HM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SiN 30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SiN 22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19634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AMI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9.0/9.0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9.7/9.7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19634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ACI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19634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SiN ACI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19634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Ru ACI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19634">
                <a:tc row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VCHN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</a:tr>
              <a:tr h="319634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Short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</a:tr>
              <a:tr h="319634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V1 Rc (Ω)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35.8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37.2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</a:tr>
            </a:tbl>
          </a:graphicData>
        </a:graphic>
      </p:graphicFrame>
      <p:sp>
        <p:nvSpPr>
          <p:cNvPr id="8" name="Text 2"/>
          <p:cNvSpPr txBox="1"/>
          <p:nvPr/>
        </p:nvSpPr>
        <p:spPr>
          <a:xfrm>
            <a:off x="571500" y="990295"/>
            <a:ext cx="162763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00" dirty="0"/>
          </a:p>
        </p:txBody>
      </p:sp>
      <p:sp>
        <p:nvSpPr>
          <p:cNvPr id="9" name="Text 3"/>
          <p:cNvSpPr txBox="1"/>
          <p:nvPr/>
        </p:nvSpPr>
        <p:spPr>
          <a:xfrm>
            <a:off x="819302" y="990295"/>
            <a:ext cx="3904488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평가목적 ; M2 Ru etch SiN HM 조건 (SiN 22) 평가</a:t>
            </a:r>
            <a:endParaRPr lang="en-US" sz="1200" dirty="0"/>
          </a:p>
        </p:txBody>
      </p:sp>
      <p:sp>
        <p:nvSpPr>
          <p:cNvPr id="10" name="Text 4"/>
          <p:cNvSpPr txBox="1"/>
          <p:nvPr/>
        </p:nvSpPr>
        <p:spPr>
          <a:xfrm>
            <a:off x="571500" y="1207008"/>
            <a:ext cx="162763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00" dirty="0"/>
          </a:p>
        </p:txBody>
      </p:sp>
      <p:sp>
        <p:nvSpPr>
          <p:cNvPr id="11" name="Text 5"/>
          <p:cNvSpPr txBox="1"/>
          <p:nvPr/>
        </p:nvSpPr>
        <p:spPr>
          <a:xfrm>
            <a:off x="819302" y="1207008"/>
            <a:ext cx="820217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평가결과 ;</a:t>
            </a:r>
            <a:endParaRPr lang="en-US" sz="1200" dirty="0"/>
          </a:p>
        </p:txBody>
      </p:sp>
      <p:sp>
        <p:nvSpPr>
          <p:cNvPr id="12" name="Text 6"/>
          <p:cNvSpPr txBox="1"/>
          <p:nvPr/>
        </p:nvSpPr>
        <p:spPr>
          <a:xfrm>
            <a:off x="571500" y="1461211"/>
            <a:ext cx="54489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Profile (SiN HM split, POR 대비)</a:t>
            </a:r>
            <a:endParaRPr lang="en-US" sz="1200" dirty="0"/>
          </a:p>
        </p:txBody>
      </p:sp>
      <p:sp>
        <p:nvSpPr>
          <p:cNvPr id="13" name="Text 7"/>
          <p:cNvSpPr txBox="1"/>
          <p:nvPr/>
        </p:nvSpPr>
        <p:spPr>
          <a:xfrm>
            <a:off x="571500" y="1677924"/>
            <a:ext cx="54489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SiN 22 (QOAWC088_5):</a:t>
            </a:r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AMI/ACI Δ+0.69/+0.61, SiN ACI 9.6 (POR 9.1) 소폭 상향</a:t>
            </a:r>
            <a:endParaRPr lang="en-US" sz="1200" dirty="0"/>
          </a:p>
        </p:txBody>
      </p:sp>
      <p:sp>
        <p:nvSpPr>
          <p:cNvPr id="14" name="Text 8"/>
          <p:cNvSpPr txBox="1"/>
          <p:nvPr/>
        </p:nvSpPr>
        <p:spPr>
          <a:xfrm>
            <a:off x="571500" y="2148840"/>
            <a:ext cx="54489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yield (Open·Short)</a:t>
            </a:r>
            <a:endParaRPr lang="en-US" sz="1200" dirty="0"/>
          </a:p>
        </p:txBody>
      </p:sp>
      <p:sp>
        <p:nvSpPr>
          <p:cNvPr id="15" name="Text 9"/>
          <p:cNvSpPr txBox="1"/>
          <p:nvPr/>
        </p:nvSpPr>
        <p:spPr>
          <a:xfrm>
            <a:off x="571500" y="2365553"/>
            <a:ext cx="61347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SiN 22: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V1 Rc 37.2Ω(+4%), VCHN 98/97%로 POR 동등 → 전 item POR 동등</a:t>
            </a:r>
            <a:endParaRPr lang="en-US" sz="1200" dirty="0"/>
          </a:p>
        </p:txBody>
      </p:sp>
      <p:sp>
        <p:nvSpPr>
          <p:cNvPr id="16" name="Text 10"/>
          <p:cNvSpPr txBox="1"/>
          <p:nvPr/>
        </p:nvSpPr>
        <p:spPr>
          <a:xfrm>
            <a:off x="571500" y="2619756"/>
            <a:ext cx="54489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1200" dirty="0"/>
          </a:p>
        </p:txBody>
      </p:sp>
      <p:sp>
        <p:nvSpPr>
          <p:cNvPr id="17" name="Text 11"/>
          <p:cNvSpPr txBox="1"/>
          <p:nvPr/>
        </p:nvSpPr>
        <p:spPr>
          <a:xfrm>
            <a:off x="571500" y="2836469"/>
            <a:ext cx="54489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POR 대비 전 항목 동등한 split 없음, SiN 22 Short mode 지배적</a:t>
            </a:r>
            <a:endParaRPr lang="en-US" sz="1200" dirty="0"/>
          </a:p>
        </p:txBody>
      </p:sp>
      <p:sp>
        <p:nvSpPr>
          <p:cNvPr id="18" name="Text 12"/>
          <p:cNvSpPr txBox="1"/>
          <p:nvPr/>
        </p:nvSpPr>
        <p:spPr>
          <a:xfrm>
            <a:off x="571500" y="3052267"/>
            <a:ext cx="54489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SiN 22 CD targeting 후 short 재확인 필요 (M2 DC 기준)</a:t>
            </a:r>
            <a:endParaRPr lang="en-US" sz="1200" dirty="0"/>
          </a:p>
        </p:txBody>
      </p:sp>
      <p:sp>
        <p:nvSpPr>
          <p:cNvPr id="19" name="Text 13"/>
          <p:cNvSpPr txBox="1"/>
          <p:nvPr/>
        </p:nvSpPr>
        <p:spPr>
          <a:xfrm>
            <a:off x="571500" y="3268980"/>
            <a:ext cx="54489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airgap cap pinch-off 여부 X-SEM 확인 예정</a:t>
            </a:r>
            <a:endParaRPr lang="en-US" sz="1200" dirty="0"/>
          </a:p>
        </p:txBody>
      </p:sp>
      <p:sp>
        <p:nvSpPr>
          <p:cNvPr id="20" name="Text 14"/>
          <p:cNvSpPr txBox="1"/>
          <p:nvPr/>
        </p:nvSpPr>
        <p:spPr>
          <a:xfrm>
            <a:off x="571500" y="3485693"/>
            <a:ext cx="54489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- 450°C anneal 후 Ru 확산 여부 EDS 확인</a:t>
            </a:r>
            <a:endParaRPr lang="en-US" sz="1200" dirty="0"/>
          </a:p>
        </p:txBody>
      </p:sp>
      <p:sp>
        <p:nvSpPr>
          <p:cNvPr id="21" name="Text 15"/>
          <p:cNvSpPr txBox="1"/>
          <p:nvPr/>
        </p:nvSpPr>
        <p:spPr>
          <a:xfrm>
            <a:off x="8382305" y="6610198"/>
            <a:ext cx="34290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25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LogicTD 신미정</a:t>
            </a:r>
            <a:endParaRPr lang="en-US" sz="8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M2 Line Rs cumulative distribution</a:t>
            </a:r>
            <a:endParaRPr lang="en-US" sz="2250" dirty="0"/>
          </a:p>
        </p:txBody>
      </p:sp>
      <p:sp>
        <p:nvSpPr>
          <p:cNvPr id="3" name="Text 1"/>
          <p:cNvSpPr txBox="1"/>
          <p:nvPr/>
        </p:nvSpPr>
        <p:spPr>
          <a:xfrm>
            <a:off x="571500" y="1429207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median 44.11</a:t>
            </a:r>
            <a:endParaRPr lang="en-US" sz="1275" dirty="0"/>
          </a:p>
        </p:txBody>
      </p:sp>
      <p:sp>
        <p:nvSpPr>
          <p:cNvPr id="4" name="Text 2"/>
          <p:cNvSpPr txBox="1"/>
          <p:nvPr/>
        </p:nvSpPr>
        <p:spPr>
          <a:xfrm>
            <a:off x="571500" y="1687982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SiN 22 median 40.62 (-7.9%)</a:t>
            </a:r>
            <a:endParaRPr lang="en-US" sz="1275" dirty="0"/>
          </a:p>
        </p:txBody>
      </p:sp>
      <p:pic>
        <p:nvPicPr>
          <p:cNvPr id="5" name="Image 0" descr="gen-dedup-c0e05544295bdfc6d1643f284eb7219f.png">    </p:cNvPr>
          <p:cNvPicPr>
            <a:picLocks noChangeAspect="1"/>
          </p:cNvPicPr>
          <p:nvPr/>
        </p:nvPicPr>
        <p:blipFill>
          <a:blip r:embed="rId1"/>
          <a:srcRect l="0" r="0" t="-1" b="-1"/>
          <a:stretch/>
        </p:blipFill>
        <p:spPr>
          <a:xfrm>
            <a:off x="4381805" y="1067105"/>
            <a:ext cx="7239305" cy="495330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382305" y="6610198"/>
            <a:ext cx="34290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25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LogicTD 신미정</a:t>
            </a:r>
            <a:endParaRPr lang="en-US" sz="8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VCHN Open die yield by split</a:t>
            </a:r>
            <a:endParaRPr lang="en-US" sz="2100" dirty="0"/>
          </a:p>
        </p:txBody>
      </p:sp>
      <p:pic>
        <p:nvPicPr>
          <p:cNvPr id="3" name="Image 0" descr="gen-dedup-d66ecc620191b877d1da8534aee46c8e.png">    </p:cNvPr>
          <p:cNvPicPr>
            <a:picLocks noChangeAspect="1"/>
          </p:cNvPicPr>
          <p:nvPr/>
        </p:nvPicPr>
        <p:blipFill>
          <a:blip r:embed="rId1"/>
          <a:srcRect l="0" r="0" t="-3" b="-3"/>
          <a:stretch/>
        </p:blipFill>
        <p:spPr>
          <a:xfrm>
            <a:off x="571500" y="1067105"/>
            <a:ext cx="7429500" cy="495330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382305" y="1429207"/>
            <a:ext cx="3238805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median 100%</a:t>
            </a:r>
            <a:endParaRPr lang="en-US" sz="1275" dirty="0"/>
          </a:p>
        </p:txBody>
      </p:sp>
      <p:sp>
        <p:nvSpPr>
          <p:cNvPr id="5" name="Text 2"/>
          <p:cNvSpPr txBox="1"/>
          <p:nvPr/>
        </p:nvSpPr>
        <p:spPr>
          <a:xfrm>
            <a:off x="8382305" y="1687982"/>
            <a:ext cx="3238805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SiN 22 median 99%</a:t>
            </a:r>
            <a:endParaRPr lang="en-US" sz="1275" dirty="0"/>
          </a:p>
        </p:txBody>
      </p:sp>
      <p:sp>
        <p:nvSpPr>
          <p:cNvPr id="6" name="Text 3"/>
          <p:cNvSpPr txBox="1"/>
          <p:nvPr/>
        </p:nvSpPr>
        <p:spPr>
          <a:xfrm>
            <a:off x="8382305" y="6610198"/>
            <a:ext cx="34290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25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LogicTD 신미정</a:t>
            </a:r>
            <a:endParaRPr lang="en-US" sz="8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M2 Ru ACI CD wafer map</a:t>
            </a:r>
            <a:endParaRPr lang="en-US" sz="2100" dirty="0"/>
          </a:p>
        </p:txBody>
      </p:sp>
      <p:pic>
        <p:nvPicPr>
          <p:cNvPr id="3" name="Image 0" descr="gen-dedup-676d0b736eb0cc176f64fbd58ad0cfcb.png">    </p:cNvPr>
          <p:cNvPicPr>
            <a:picLocks noChangeAspect="1"/>
          </p:cNvPicPr>
          <p:nvPr/>
        </p:nvPicPr>
        <p:blipFill>
          <a:blip r:embed="rId1"/>
          <a:srcRect l="0" r="0" t="-1" b="-1"/>
          <a:stretch/>
        </p:blipFill>
        <p:spPr>
          <a:xfrm>
            <a:off x="571500" y="1067105"/>
            <a:ext cx="5447995" cy="4095598"/>
          </a:xfrm>
          <a:prstGeom prst="rect">
            <a:avLst/>
          </a:prstGeom>
        </p:spPr>
      </p:pic>
      <p:pic>
        <p:nvPicPr>
          <p:cNvPr id="4" name="Image 1" descr="gen-dedup-1a48aa5020e66a2444d728c8e0fb61fe.png">    </p:cNvPr>
          <p:cNvPicPr>
            <a:picLocks noChangeAspect="1"/>
          </p:cNvPicPr>
          <p:nvPr/>
        </p:nvPicPr>
        <p:blipFill>
          <a:blip r:embed="rId2"/>
          <a:srcRect l="0" r="0" t="-1" b="-1"/>
          <a:stretch/>
        </p:blipFill>
        <p:spPr>
          <a:xfrm>
            <a:off x="6172200" y="1067105"/>
            <a:ext cx="5447995" cy="4095598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71500" y="5352898"/>
            <a:ext cx="11049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SiN 22: Ru ACI 9.1 (POR 8.2), edge 편차 POR 수준</a:t>
            </a:r>
            <a:endParaRPr lang="en-US" sz="1275" dirty="0"/>
          </a:p>
        </p:txBody>
      </p:sp>
      <p:sp>
        <p:nvSpPr>
          <p:cNvPr id="6" name="Text 2"/>
          <p:cNvSpPr txBox="1"/>
          <p:nvPr/>
        </p:nvSpPr>
        <p:spPr>
          <a:xfrm>
            <a:off x="8382305" y="6610198"/>
            <a:ext cx="34290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25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LogicTD 신미정</a:t>
            </a:r>
            <a:endParaRPr lang="en-US" sz="8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2026-10-05T12:19:03Z</dcterms:created>
  <dcterms:modified xsi:type="dcterms:W3CDTF">2026-10-05T12:19:03Z</dcterms:modified>
</cp:coreProperties>
</file>