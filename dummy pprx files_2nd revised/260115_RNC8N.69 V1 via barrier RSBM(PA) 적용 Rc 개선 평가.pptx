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b6ab36a7c09383ed9af51fdbf6468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402" y="1276502"/>
            <a:ext cx="5429707" cy="3276295"/>
          </a:xfrm>
          <a:prstGeom prst="rect">
            <a:avLst/>
          </a:prstGeom>
        </p:spPr>
      </p:pic>
      <p:pic>
        <p:nvPicPr>
          <p:cNvPr id="3" name="Image 1" descr="gen-dedup-d9f454951141bc146ab3777cba4adf7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954" y="4686300"/>
            <a:ext cx="2924251" cy="1485900"/>
          </a:xfrm>
          <a:prstGeom prst="rect">
            <a:avLst/>
          </a:prstGeom>
        </p:spPr>
      </p:pic>
      <p:pic>
        <p:nvPicPr>
          <p:cNvPr id="4" name="Image 2" descr="gen-dedup-be5d7c3aea6e36bf0beb2f3391b232f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244" y="4686300"/>
            <a:ext cx="1657807" cy="14859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KVFG RNC8N.69 ET results</a:t>
            </a:r>
            <a:endParaRPr lang="en-US" sz="2100" dirty="0"/>
          </a:p>
        </p:txBody>
      </p:sp>
      <p:sp>
        <p:nvSpPr>
          <p:cNvPr id="6" name="Text 1"/>
          <p:cNvSpPr txBox="1"/>
          <p:nvPr/>
        </p:nvSpPr>
        <p:spPr>
          <a:xfrm>
            <a:off x="6191402" y="990295"/>
            <a:ext cx="914400" cy="257861"/>
          </a:xfrm>
          <a:prstGeom prst="rect">
            <a:avLst/>
          </a:prstGeom>
          <a:noFill/>
          <a:ln w="25400">
            <a:solidFill>
              <a:srgbClr val="C62828"/>
            </a:solidFill>
          </a:ln>
        </p:spPr>
        <p:txBody>
          <a:bodyPr wrap="square" lIns="101600" tIns="12700" rIns="101600" bIns="12700" rtlCol="0" anchor="ctr"/>
          <a:lstStyle/>
          <a:p>
            <a:pPr algn="l" indent="0" marL="0">
              <a:buNone/>
            </a:pPr>
            <a:r>
              <a:rPr lang="en-US" sz="1125" b="1" spc="75" kern="0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test</a:t>
            </a:r>
            <a:endParaRPr lang="en-US" sz="1125" dirty="0"/>
          </a:p>
        </p:txBody>
      </p:sp>
      <p:sp>
        <p:nvSpPr>
          <p:cNvPr id="7" name="Text 2"/>
          <p:cNvSpPr txBox="1"/>
          <p:nvPr/>
        </p:nvSpPr>
        <p:spPr>
          <a:xfrm>
            <a:off x="6191402" y="6210605"/>
            <a:ext cx="54297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Cu/liner/barrier TEM-EDS / Barrier/Cu 계면 HR-TEM</a:t>
            </a:r>
            <a:endParaRPr lang="en-US" sz="825" dirty="0"/>
          </a:p>
        </p:txBody>
      </p:sp>
      <p:sp>
        <p:nvSpPr>
          <p:cNvPr id="8" name="Text 3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819302" y="990295"/>
            <a:ext cx="421172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via barrier RSBM(PA) 적용 Rc 개선 평가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461211"/>
            <a:ext cx="53913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(BM scheme / Trench etch split, POR 대비)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1677924"/>
            <a:ext cx="53913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T4/pSiCOH/RSBM(PA) (RNC8N_11):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Δ+1.73, ACI 9.4 · ASI 11.5로 전 구간 +1.4~2.4 확대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2148840"/>
            <a:ext cx="53913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2365553"/>
            <a:ext cx="53913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T4/pSiCOH/RSBM(PA):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43.2Ω(-29%)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99%로 POR 동등,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50%(-50%p)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CD 확대로 space 감소, bridge성 short 지배적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2836469"/>
            <a:ext cx="53913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3052267"/>
            <a:ext cx="60771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POR 대비 전 항목 동등한 split 없음, T4/pSiCOH/RSBM(PA) Short mode 지배적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3268980"/>
            <a:ext cx="53913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T4/pSiCOH/RSBM(PA)는 CMBSRP와 VCHN에서 같은 mode로 재현되어 split 기인으로 판단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3701491"/>
            <a:ext cx="53913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T4/pSiCOH/RSBM(PA) CD targeting 후 short 재확인 필요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3918204"/>
            <a:ext cx="53913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HTOL/EM 진행 시 Cu recess 초기 대비 2~3배 증가 여부 monitor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4134002"/>
            <a:ext cx="53913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TiN/SiN dual HM 잔막 두께 inline 확인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4350715"/>
            <a:ext cx="53913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EM / TDDB 신뢰성 평가 진행 예정 (barrier-less 영향)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진성민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Via Rc cumulative distribution</a:t>
            </a:r>
            <a:endParaRPr lang="en-US" sz="2250" dirty="0"/>
          </a:p>
        </p:txBody>
      </p:sp>
      <p:pic>
        <p:nvPicPr>
          <p:cNvPr id="3" name="Image 0" descr="gen-dedup-fd5aaaac7c9929782389fa74a06ad8fc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96098" y="133319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61.3Ω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096098" y="1592885"/>
            <a:ext cx="4000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T4/pSiCOH/RSBM(PA) median 43.2Ω (-29.5%)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096098" y="1851660"/>
            <a:ext cx="352501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T4/pSiCOH/RSBM(PA): barrier-less bottom 으로 Rc 감소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진성민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2026-10-05T10:08:36Z</dcterms:created>
  <dcterms:modified xsi:type="dcterms:W3CDTF">2026-10-05T10:08:36Z</dcterms:modified>
</cp:coreProperties>
</file>