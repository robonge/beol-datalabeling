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by split</a:t>
            </a:r>
            <a:endParaRPr lang="en-US" sz="2100" dirty="0"/>
          </a:p>
        </p:txBody>
      </p:sp>
      <p:pic>
        <p:nvPicPr>
          <p:cNvPr id="3" name="Image 0" descr="gen-dedup-adca577ec575e36d9a4a82447167892a.png">    </p:cNvPr>
          <p:cNvPicPr>
            <a:picLocks noChangeAspect="1"/>
          </p:cNvPicPr>
          <p:nvPr/>
        </p:nvPicPr>
        <p:blipFill>
          <a:blip r:embed="rId1"/>
          <a:srcRect l="-5" r="-5" t="0" b="0"/>
          <a:stretch/>
        </p:blipFill>
        <p:spPr>
          <a:xfrm>
            <a:off x="571500" y="1067105"/>
            <a:ext cx="7810805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67598" y="14292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8973007" y="1429207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667598" y="1821485"/>
            <a:ext cx="2953512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최저: T12/120%/600V CMBSRP O 94%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667598" y="233903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평균 98%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667598" y="259872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T12/120%/600V 평균 96%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공진혁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I2 Via Rc cumulative distribution</a:t>
            </a:r>
            <a:endParaRPr lang="en-US" sz="1950" dirty="0"/>
          </a:p>
        </p:txBody>
      </p:sp>
      <p:pic>
        <p:nvPicPr>
          <p:cNvPr id="3" name="Image 0" descr="gen-dedup-5b212b646bdbb7e0eff2eb1437b89ba2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571500" y="1067105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96098" y="133319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10.40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096098" y="159288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T12/120%/600V median 10.03 (-3.6%)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공진혁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 die count (ea / 49 die)</a:t>
            </a:r>
            <a:endParaRPr lang="en-US" sz="2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1067105"/>
          <a:ext cx="4200754" cy="1962302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429207"/>
                <a:gridCol w="1429207"/>
              </a:tblGrid>
              <a:tr h="32705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(RNTZ5A_10)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RQK6O_15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Total die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1500" y="325800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split fail die POR 수준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공진혁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1e72e4d7170ad995414862a08f69b35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7044" y="990295"/>
            <a:ext cx="1410005" cy="923544"/>
          </a:xfrm>
          <a:prstGeom prst="rect">
            <a:avLst/>
          </a:prstGeom>
        </p:spPr>
      </p:pic>
      <p:pic>
        <p:nvPicPr>
          <p:cNvPr id="3" name="Image 1" descr="gen-dedup-7266466f4fe1f1433af622a1c6c4f23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944" y="990295"/>
            <a:ext cx="1990649" cy="923544"/>
          </a:xfrm>
          <a:prstGeom prst="rect">
            <a:avLst/>
          </a:prstGeom>
        </p:spPr>
      </p:pic>
      <p:pic>
        <p:nvPicPr>
          <p:cNvPr id="4" name="Image 2" descr="gen-dedup-32879e7a46db555c9c455318acbf39f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9546" y="990295"/>
            <a:ext cx="1981505" cy="923544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KVIP RQK6O.66 ET results</a:t>
            </a:r>
            <a:endParaRPr lang="en-US" sz="2250" dirty="0"/>
          </a:p>
        </p:txBody>
      </p:sp>
      <p:sp>
        <p:nvSpPr>
          <p:cNvPr id="6" name="Text 1"/>
          <p:cNvSpPr txBox="1"/>
          <p:nvPr/>
        </p:nvSpPr>
        <p:spPr>
          <a:xfrm>
            <a:off x="6067044" y="1952244"/>
            <a:ext cx="55531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TiN MHM trench etch X-SEM / Cu DD trench/via X-SEM / Cu DD via/trench X-SEM</a:t>
            </a:r>
            <a:endParaRPr lang="en-US" sz="82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67044" y="2238451"/>
          <a:ext cx="5572354" cy="4096512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2115007"/>
                <a:gridCol w="2115007"/>
              </a:tblGrid>
              <a:tr h="315116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(RNTZ5A_10)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RQK6O_15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51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Trench etch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POR(-T3)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51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Via OE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51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Etch bias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450V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600V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51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23.43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23.19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51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ASEI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8.8/8.6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8.5/8.4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51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9.9/10.1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9.7/10.0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51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AHI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9.9/10.1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9.6/10.0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511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5116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1511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15116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1511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8" name="Text 2"/>
          <p:cNvSpPr txBox="1"/>
          <p:nvPr/>
        </p:nvSpPr>
        <p:spPr>
          <a:xfrm>
            <a:off x="571500" y="990295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9" name="Text 3"/>
          <p:cNvSpPr txBox="1"/>
          <p:nvPr/>
        </p:nvSpPr>
        <p:spPr>
          <a:xfrm>
            <a:off x="819302" y="990295"/>
            <a:ext cx="380573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I2 trench etch recipe 변경 (T12) 평가</a:t>
            </a:r>
            <a:endParaRPr lang="en-US" sz="1200" dirty="0"/>
          </a:p>
        </p:txBody>
      </p:sp>
      <p:sp>
        <p:nvSpPr>
          <p:cNvPr id="10" name="Text 4"/>
          <p:cNvSpPr txBox="1"/>
          <p:nvPr/>
        </p:nvSpPr>
        <p:spPr>
          <a:xfrm>
            <a:off x="571500" y="1207008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819302" y="1207008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571500" y="1461211"/>
            <a:ext cx="5267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(Trench etch / Via OE split, POR 대비)</a:t>
            </a:r>
            <a:endParaRPr lang="en-US" sz="1200" dirty="0"/>
          </a:p>
        </p:txBody>
      </p:sp>
      <p:sp>
        <p:nvSpPr>
          <p:cNvPr id="13" name="Text 7"/>
          <p:cNvSpPr txBox="1"/>
          <p:nvPr/>
        </p:nvSpPr>
        <p:spPr>
          <a:xfrm>
            <a:off x="571500" y="1677924"/>
            <a:ext cx="52678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T12/120%/600V (RQK6O_15):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Δ-0.23/-0.24, AMI 9.7/10.0 · AHI 9.6/10.0로 POR과 근접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571500" y="2148840"/>
            <a:ext cx="5267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 Open·Short)</a:t>
            </a:r>
            <a:endParaRPr lang="en-US" sz="1200" dirty="0"/>
          </a:p>
        </p:txBody>
      </p:sp>
      <p:sp>
        <p:nvSpPr>
          <p:cNvPr id="15" name="Text 9"/>
          <p:cNvSpPr txBox="1"/>
          <p:nvPr/>
        </p:nvSpPr>
        <p:spPr>
          <a:xfrm>
            <a:off x="571500" y="2365553"/>
            <a:ext cx="52678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T12/120%/600V: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94/96%로 POR 동등, VCHN 98/97%로 POR 동등 → 전 item POR 동등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571500" y="2836469"/>
            <a:ext cx="5267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3052267"/>
            <a:ext cx="5267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T12/120%/600V 는 POR 대비 전 항목 동등 → 후보 조건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571500" y="3268980"/>
            <a:ext cx="5267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추가 1 lot 모니터링 후 전환</a:t>
            </a:r>
            <a:endParaRPr lang="en-US" sz="1200" dirty="0"/>
          </a:p>
        </p:txBody>
      </p:sp>
      <p:sp>
        <p:nvSpPr>
          <p:cNvPr id="19" name="Text 13"/>
          <p:cNvSpPr txBox="1"/>
          <p:nvPr/>
        </p:nvSpPr>
        <p:spPr>
          <a:xfrm>
            <a:off x="571500" y="3485693"/>
            <a:ext cx="52678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via chamfer 무너짐 / top pinch-off void 여부 TEM 확인 예정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공진혁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2026-10-05T09:55:51Z</dcterms:created>
  <dcterms:modified xsi:type="dcterms:W3CDTF">2026-10-05T09:55:51Z</dcterms:modified>
</cp:coreProperties>
</file>