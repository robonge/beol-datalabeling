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79706b92b0a5c072e4b59527e9b838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5" y="952805"/>
            <a:ext cx="1362456" cy="895198"/>
          </a:xfrm>
          <a:prstGeom prst="rect">
            <a:avLst/>
          </a:prstGeom>
        </p:spPr>
      </p:pic>
      <p:pic>
        <p:nvPicPr>
          <p:cNvPr id="3" name="Image 1" descr="gen-dedup-d7b311976c2e3b7fbcfed932b8ac404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656" y="952805"/>
            <a:ext cx="1790395" cy="89519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KVIP RNN9NC.6B ET results</a:t>
            </a:r>
            <a:endParaRPr lang="en-US" sz="2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952805"/>
          <a:ext cx="7629754" cy="28867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57300"/>
                <a:gridCol w="1257300"/>
                <a:gridCol w="1257300"/>
                <a:gridCol w="1257300"/>
                <a:gridCol w="1257300"/>
              </a:tblGrid>
              <a:tr h="240563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(RNN9NC_18)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RNN9NC_17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RNN9NC_8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RNN9NC_20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RNN9NC_6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depo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PVD Ru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PVD Ru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ALD Ru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CVD Ru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PVD Ru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etch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O2/Cl2 RIE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RIE+IBE trim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RIE+IBE trim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 ME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 ME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23.31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23.01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24.15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24.09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8.7/9.1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8.5/9.1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8.4/8.9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9.6/10.0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9.3/9.8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ACI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ACI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056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Rc (Ω)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59.1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63.4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 Rc (Ω)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113.8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81544" y="1886407"/>
            <a:ext cx="38386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 Ru line TEM, AR 3~6 (imec) / 16nm pitch Ru line TEM (imec)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943807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790956" y="3943807"/>
            <a:ext cx="281178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Ru depo / Ru etch split 평가</a:t>
            </a:r>
            <a:endParaRPr lang="en-US" sz="97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4112057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10" name="Text 5"/>
          <p:cNvSpPr txBox="1"/>
          <p:nvPr/>
        </p:nvSpPr>
        <p:spPr>
          <a:xfrm>
            <a:off x="790956" y="4112057"/>
            <a:ext cx="667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4308653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(Ru depo / Ru etch split, POR 대비)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4476902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 (RNN9NC_17):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Δ-0.30, AMI 7.8 · ACI 8.5/9.1로 POR과 근접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464606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Ru/RIE+IBE trim (RNN9NC_8):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Δ-0.41, AMI 7.7 · ACI 8.4/8.9로 POR과 근접</a:t>
            </a:r>
            <a:endParaRPr lang="en-US" sz="975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481431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 Ru/Long ME (RNN9NC_20):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Δ+0.84로 변동 최대, AMI 8.7 (POR 7.9) 소폭 상향</a:t>
            </a:r>
            <a:endParaRPr lang="en-US" sz="975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498256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 (RNN9NC_6):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Δ+0.78, AMI 8.6 (POR 7.9) 소폭 상향</a:t>
            </a:r>
            <a:endParaRPr lang="en-US" sz="975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518007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975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5348326"/>
            <a:ext cx="699424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60.5Ω(+2%), VA Rc 67.1Ω(-8%), CMBSRP 99/99%로 POR 동등 → 전 item POR 동등</a:t>
            </a:r>
            <a:endParaRPr lang="en-US" sz="975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5516575"/>
            <a:ext cx="6667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Ru/RIE+IBE trim: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Rc 76.7Ω(+30%)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Rc 113.8Ω(+57%)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98/98%로 POR 동등 → 전 item POR 동등</a:t>
            </a:r>
            <a:endParaRPr lang="en-US" sz="975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5853989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 Ru/Long ME: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56.7Ω(-4%), VA Rc 76.1Ω(+5%),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96%(-4%p)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유의차 없음</a:t>
            </a:r>
            <a:endParaRPr lang="en-US" sz="975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6022238"/>
            <a:ext cx="6667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63.4Ω(+7%), VA Rc 80.1Ω(+10%),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49%(-51%p)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장시간 plasma 로 SiN HM 산화 팽창 → Ru line bottom bridge, short 지배적</a:t>
            </a:r>
            <a:endParaRPr lang="en-US" sz="975" dirty="0"/>
          </a:p>
        </p:txBody>
      </p:sp>
      <p:sp>
        <p:nvSpPr>
          <p:cNvPr id="21" name="Text 16"/>
          <p:cNvSpPr txBox="1"/>
          <p:nvPr/>
        </p:nvSpPr>
        <p:spPr>
          <a:xfrm>
            <a:off x="7524598" y="3972154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75" dirty="0"/>
          </a:p>
        </p:txBody>
      </p:sp>
      <p:sp>
        <p:nvSpPr>
          <p:cNvPr id="22" name="Text 17"/>
          <p:cNvSpPr txBox="1"/>
          <p:nvPr/>
        </p:nvSpPr>
        <p:spPr>
          <a:xfrm>
            <a:off x="7524598" y="4140403"/>
            <a:ext cx="4096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RIE+IBE trim 는 POR 대비 전 항목 동등 → 후보 조건, ALD Ru/RIE+IBE trim·CVD Ru/Long ME·Long ME 는 Open/Short 열화</a:t>
            </a:r>
            <a:endParaRPr lang="en-US" sz="975" dirty="0"/>
          </a:p>
        </p:txBody>
      </p:sp>
      <p:sp>
        <p:nvSpPr>
          <p:cNvPr id="23" name="Text 18"/>
          <p:cNvSpPr txBox="1"/>
          <p:nvPr/>
        </p:nvSpPr>
        <p:spPr>
          <a:xfrm>
            <a:off x="7524598" y="4476902"/>
            <a:ext cx="439369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Long ME CD targeting 후 short 재확인 필요 — EBAC 국소화 병행</a:t>
            </a:r>
            <a:endParaRPr lang="en-US" sz="975" dirty="0"/>
          </a:p>
        </p:txBody>
      </p:sp>
      <p:sp>
        <p:nvSpPr>
          <p:cNvPr id="24" name="Text 19"/>
          <p:cNvSpPr txBox="1"/>
          <p:nvPr/>
        </p:nvSpPr>
        <p:spPr>
          <a:xfrm>
            <a:off x="7524598" y="4646066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SiN HM 산화(팽창) 여부 EELS 확인 필요</a:t>
            </a:r>
            <a:endParaRPr lang="en-US" sz="975" dirty="0"/>
          </a:p>
        </p:txBody>
      </p:sp>
      <p:sp>
        <p:nvSpPr>
          <p:cNvPr id="25" name="Text 20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변현우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2026-10-05T12:19:53Z</dcterms:created>
  <dcterms:modified xsi:type="dcterms:W3CDTF">2026-10-05T12:19:53Z</dcterms:modified>
</cp:coreProperties>
</file>