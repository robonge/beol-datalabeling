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345903f5781fc85ecf16543ef486221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1598" y="1067105"/>
            <a:ext cx="3981298" cy="1047902"/>
          </a:xfrm>
          <a:prstGeom prst="rect">
            <a:avLst/>
          </a:prstGeom>
        </p:spPr>
      </p:pic>
      <p:pic>
        <p:nvPicPr>
          <p:cNvPr id="3" name="Image 1" descr="gen-dedup-35298d51a60f049e42e7d74ad8c613d5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9705" y="1067105"/>
            <a:ext cx="1057046" cy="104790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38505" y="437998"/>
            <a:ext cx="104781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SF1.0 KVKB RDXWJ.64 ET results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685800" y="1123798"/>
            <a:ext cx="1627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75" dirty="0"/>
          </a:p>
        </p:txBody>
      </p:sp>
      <p:sp>
        <p:nvSpPr>
          <p:cNvPr id="6" name="Text 2"/>
          <p:cNvSpPr txBox="1"/>
          <p:nvPr/>
        </p:nvSpPr>
        <p:spPr>
          <a:xfrm>
            <a:off x="942746" y="1123798"/>
            <a:ext cx="379476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M1 RSBM NHC inhibitor 적용 평가</a:t>
            </a:r>
            <a:endParaRPr lang="en-US" sz="1275" dirty="0"/>
          </a:p>
        </p:txBody>
      </p:sp>
      <p:sp>
        <p:nvSpPr>
          <p:cNvPr id="7" name="Text 3"/>
          <p:cNvSpPr txBox="1"/>
          <p:nvPr/>
        </p:nvSpPr>
        <p:spPr>
          <a:xfrm>
            <a:off x="685800" y="1367028"/>
            <a:ext cx="1627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75" dirty="0"/>
          </a:p>
        </p:txBody>
      </p:sp>
      <p:sp>
        <p:nvSpPr>
          <p:cNvPr id="8" name="Text 4"/>
          <p:cNvSpPr txBox="1"/>
          <p:nvPr/>
        </p:nvSpPr>
        <p:spPr>
          <a:xfrm>
            <a:off x="942746" y="1367028"/>
            <a:ext cx="872338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1275" dirty="0"/>
          </a:p>
        </p:txBody>
      </p:sp>
      <p:sp>
        <p:nvSpPr>
          <p:cNvPr id="9" name="Text 5"/>
          <p:cNvSpPr txBox="1"/>
          <p:nvPr/>
        </p:nvSpPr>
        <p:spPr>
          <a:xfrm>
            <a:off x="685800" y="1609344"/>
            <a:ext cx="533461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대비 Split B(NHC + polystyrene) 진행 시 AASI CD 동등 수준 (Δ+0.01 nm)</a:t>
            </a:r>
            <a:endParaRPr lang="en-US" sz="1275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2095805"/>
            <a:ext cx="5334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Split A(NHC) AASI CD Δ-0.01 nm</a:t>
            </a:r>
            <a:endParaRPr lang="en-US" sz="1275" dirty="0"/>
          </a:p>
        </p:txBody>
      </p:sp>
      <p:sp>
        <p:nvSpPr>
          <p:cNvPr id="11" name="Text 7"/>
          <p:cNvSpPr txBox="1"/>
          <p:nvPr/>
        </p:nvSpPr>
        <p:spPr>
          <a:xfrm>
            <a:off x="685800" y="2338121"/>
            <a:ext cx="5334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Via Rc median POR 대비 +4.5% 상승</a:t>
            </a:r>
            <a:endParaRPr lang="en-US" sz="1275" dirty="0"/>
          </a:p>
        </p:txBody>
      </p:sp>
      <p:sp>
        <p:nvSpPr>
          <p:cNvPr id="12" name="Text 8"/>
          <p:cNvSpPr txBox="1"/>
          <p:nvPr/>
        </p:nvSpPr>
        <p:spPr>
          <a:xfrm>
            <a:off x="685800" y="2581351"/>
            <a:ext cx="533461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결과 CMBSRP/VCHN/MinA POR 대비 동등수준 / VMA 1.6%p 열화</a:t>
            </a:r>
            <a:endParaRPr lang="en-US" sz="1275" dirty="0"/>
          </a:p>
        </p:txBody>
      </p:sp>
      <p:sp>
        <p:nvSpPr>
          <p:cNvPr id="13" name="Text 9"/>
          <p:cNvSpPr txBox="1"/>
          <p:nvPr/>
        </p:nvSpPr>
        <p:spPr>
          <a:xfrm>
            <a:off x="685800" y="3066898"/>
            <a:ext cx="5334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inhibitor 잔류 carbon 에 의한 via bottom 계면 저항 증가 추정</a:t>
            </a:r>
            <a:endParaRPr lang="en-US" sz="1275" dirty="0"/>
          </a:p>
        </p:txBody>
      </p:sp>
      <p:sp>
        <p:nvSpPr>
          <p:cNvPr id="14" name="Text 10"/>
          <p:cNvSpPr txBox="1"/>
          <p:nvPr/>
        </p:nvSpPr>
        <p:spPr>
          <a:xfrm>
            <a:off x="685800" y="3310128"/>
            <a:ext cx="5334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 조건 TDDB 결과 확인 뒤 호환 가능 판단됨 (M1 DC 기준)</a:t>
            </a:r>
            <a:endParaRPr lang="en-US" sz="1275" dirty="0"/>
          </a:p>
        </p:txBody>
      </p:sp>
      <p:sp>
        <p:nvSpPr>
          <p:cNvPr id="15" name="Text 11"/>
          <p:cNvSpPr txBox="1"/>
          <p:nvPr/>
        </p:nvSpPr>
        <p:spPr>
          <a:xfrm>
            <a:off x="6381598" y="2152498"/>
            <a:ext cx="5125212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 fill TEM / Ru/dielectric 계면 TEM-EDS</a:t>
            </a:r>
            <a:endParaRPr lang="en-US" sz="825" dirty="0"/>
          </a:p>
        </p:txBody>
      </p:sp>
      <p:sp>
        <p:nvSpPr>
          <p:cNvPr id="16" name="Text 12"/>
          <p:cNvSpPr txBox="1"/>
          <p:nvPr/>
        </p:nvSpPr>
        <p:spPr>
          <a:xfrm>
            <a:off x="6381598" y="3471977"/>
            <a:ext cx="1335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6629400" y="3429000"/>
            <a:ext cx="1184148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M1 AASI CD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81598" y="3791102"/>
          <a:ext cx="5125212" cy="2839212"/>
        </p:xfrm>
        <a:graphic>
          <a:graphicData uri="http://schemas.openxmlformats.org/drawingml/2006/table">
            <a:tbl>
              <a:tblPr/>
              <a:tblGrid>
                <a:gridCol w="1024128"/>
                <a:gridCol w="1038758"/>
                <a:gridCol w="809244"/>
                <a:gridCol w="1114654"/>
                <a:gridCol w="1137514"/>
              </a:tblGrid>
              <a:tr h="35490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MEAN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3σ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RANGE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Δ vs TARGET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490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W07(POR)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16.95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2.97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-0.05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5490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16.97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1.04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3.31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-0.03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5490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16.93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3.16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-0.07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5490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16.95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3.15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-0.05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5490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17.02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1.27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4.12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+0.02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5490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16.91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1.16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3.41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-0.09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5490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POOLED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16.95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1.10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4.12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-0.05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M1 Line Rs / Via Rc cumulative distribution</a:t>
            </a:r>
            <a:endParaRPr lang="en-US" sz="2325" dirty="0"/>
          </a:p>
        </p:txBody>
      </p:sp>
      <p:pic>
        <p:nvPicPr>
          <p:cNvPr id="3" name="Image 0" descr="gen-dedup-2dd15b633a5762ae07542eab19805daf.png">    </p:cNvPr>
          <p:cNvPicPr>
            <a:picLocks noChangeAspect="1"/>
          </p:cNvPicPr>
          <p:nvPr/>
        </p:nvPicPr>
        <p:blipFill>
          <a:blip r:embed="rId1"/>
          <a:srcRect l="-1" r="-1" t="0" b="0"/>
          <a:stretch/>
        </p:blipFill>
        <p:spPr>
          <a:xfrm>
            <a:off x="685800" y="1123798"/>
            <a:ext cx="5333695" cy="4190695"/>
          </a:xfrm>
          <a:prstGeom prst="rect">
            <a:avLst/>
          </a:prstGeom>
        </p:spPr>
      </p:pic>
      <p:pic>
        <p:nvPicPr>
          <p:cNvPr id="4" name="Image 1" descr="gen-dedup-b7a14503e4a83febbd48636aed158638.png">    </p:cNvPr>
          <p:cNvPicPr>
            <a:picLocks noChangeAspect="1"/>
          </p:cNvPicPr>
          <p:nvPr/>
        </p:nvPicPr>
        <p:blipFill>
          <a:blip r:embed="rId2"/>
          <a:srcRect l="-1" r="-1" t="0" b="0"/>
          <a:stretch/>
        </p:blipFill>
        <p:spPr>
          <a:xfrm>
            <a:off x="6210605" y="1123798"/>
            <a:ext cx="5333695" cy="4190695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85800" y="5524805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A: Line Rs +0.2% / Via Rc -6.7% (median, POR 대비)</a:t>
            </a:r>
            <a:endParaRPr lang="en-US" sz="1275" dirty="0"/>
          </a:p>
        </p:txBody>
      </p:sp>
      <p:sp>
        <p:nvSpPr>
          <p:cNvPr id="6" name="Text 2"/>
          <p:cNvSpPr txBox="1"/>
          <p:nvPr/>
        </p:nvSpPr>
        <p:spPr>
          <a:xfrm>
            <a:off x="685800" y="5783580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B: Line Rs +0.3% / Via Rc +4.5% (median, POR 대비)</a:t>
            </a:r>
            <a:endParaRPr lang="en-US" sz="12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results — M1 yield by wafer (%)</a:t>
            </a:r>
            <a:endParaRPr lang="en-US" sz="2325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181405"/>
          <a:ext cx="10821010" cy="2563063"/>
        </p:xfrm>
        <a:graphic>
          <a:graphicData uri="http://schemas.openxmlformats.org/drawingml/2006/table">
            <a:tbl>
              <a:tblPr/>
              <a:tblGrid>
                <a:gridCol w="2571293"/>
                <a:gridCol w="2226564"/>
                <a:gridCol w="1666951"/>
                <a:gridCol w="1535278"/>
                <a:gridCol w="1402690"/>
                <a:gridCol w="1418234"/>
              </a:tblGrid>
              <a:tr h="3661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WF / ITEM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CMBSRP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VCHN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MinA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VMA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CMA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661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W07(POR)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98.0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661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61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61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61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661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98.7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85800" y="4134002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색상: 주황 = spec(92%) −5%p 이내 미달, 적색 = 그 이하</a:t>
            </a:r>
            <a:endParaRPr lang="en-US" sz="1275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4392778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A: CMBSRP/VCHN/MinA POR 대비 동등수준 / VMA 1.6%p 열화</a:t>
            </a:r>
            <a:endParaRPr lang="en-US" sz="1275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4652467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B: CMBSRP/VCHN/MinA POR 대비 동등수준 / VMA 1.6%p 열화</a:t>
            </a:r>
            <a:endParaRPr lang="en-US" sz="1275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4911242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VMA: POR 97.7% → A 96.1%</a:t>
            </a:r>
            <a:endParaRPr lang="en-US" sz="12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VMA die yield distribution by wafer</a:t>
            </a:r>
            <a:endParaRPr lang="en-US" sz="2325" dirty="0"/>
          </a:p>
        </p:txBody>
      </p:sp>
      <p:pic>
        <p:nvPicPr>
          <p:cNvPr id="3" name="Image 0" descr="gen-dedup-dd22528dad4e3957a3fad34a9d05cc05.png">    </p:cNvPr>
          <p:cNvPicPr>
            <a:picLocks noChangeAspect="1"/>
          </p:cNvPicPr>
          <p:nvPr/>
        </p:nvPicPr>
        <p:blipFill>
          <a:blip r:embed="rId1"/>
          <a:srcRect l="-3" r="-3" t="0" b="0"/>
          <a:stretch/>
        </p:blipFill>
        <p:spPr>
          <a:xfrm>
            <a:off x="685800" y="1181405"/>
            <a:ext cx="7429500" cy="476219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477402" y="1524305"/>
            <a:ext cx="3048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median 97.6%</a:t>
            </a:r>
            <a:endParaRPr lang="en-US" sz="1275" dirty="0"/>
          </a:p>
        </p:txBody>
      </p:sp>
      <p:sp>
        <p:nvSpPr>
          <p:cNvPr id="5" name="Text 2"/>
          <p:cNvSpPr txBox="1"/>
          <p:nvPr/>
        </p:nvSpPr>
        <p:spPr>
          <a:xfrm>
            <a:off x="8477402" y="1783080"/>
            <a:ext cx="3048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 median 96.0%</a:t>
            </a:r>
            <a:endParaRPr lang="en-US" sz="1275" dirty="0"/>
          </a:p>
        </p:txBody>
      </p:sp>
      <p:sp>
        <p:nvSpPr>
          <p:cNvPr id="6" name="Text 3"/>
          <p:cNvSpPr txBox="1"/>
          <p:nvPr/>
        </p:nvSpPr>
        <p:spPr>
          <a:xfrm>
            <a:off x="8477402" y="2041855"/>
            <a:ext cx="3048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B median 96.0%</a:t>
            </a:r>
            <a:endParaRPr lang="en-US" sz="1275" dirty="0"/>
          </a:p>
        </p:txBody>
      </p:sp>
      <p:sp>
        <p:nvSpPr>
          <p:cNvPr id="7" name="Text 4"/>
          <p:cNvSpPr txBox="1"/>
          <p:nvPr/>
        </p:nvSpPr>
        <p:spPr>
          <a:xfrm>
            <a:off x="8477402" y="2301545"/>
            <a:ext cx="3321101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wafer 간 편차 대비 split 간 차이 유의</a:t>
            </a:r>
            <a:endParaRPr lang="en-US" sz="12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2026-10-04T14:31:22Z</dcterms:created>
  <dcterms:modified xsi:type="dcterms:W3CDTF">2026-10-04T14:31:22Z</dcterms:modified>
</cp:coreProperties>
</file>