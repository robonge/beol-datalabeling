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84a981b5f838b9b0980b9ff5fab697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1649" y="1067105"/>
            <a:ext cx="1505102" cy="20007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 KVFG RQFQP.6B ET results</a:t>
            </a:r>
            <a:endParaRPr lang="en-US" sz="2325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942746" y="1123798"/>
            <a:ext cx="448513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RSBM pattern inversion 단계 생략 평가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93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B(HM 24 nm) 진행 시 ATOI CD 동등 수준 (Δ+0.04 nm)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A(HM20) ATOI CD Δ+0.02 nm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33812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CMBSRP/VCHN/MinA POR 대비 동등수준 / CMA 소폭 열화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581351"/>
            <a:ext cx="54772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HM selectivity 저하로 top CD 확장, line-to-line short 추정</a:t>
            </a:r>
            <a:endParaRPr lang="en-US" sz="1275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824582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동등, 양산 적용 진행 (M1 DC 기준)</a:t>
            </a:r>
            <a:endParaRPr lang="en-US" sz="1275" dirty="0"/>
          </a:p>
        </p:txBody>
      </p:sp>
      <p:sp>
        <p:nvSpPr>
          <p:cNvPr id="13" name="Text 10"/>
          <p:cNvSpPr txBox="1"/>
          <p:nvPr/>
        </p:nvSpPr>
        <p:spPr>
          <a:xfrm>
            <a:off x="6381598" y="3105302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line TEM (AR≈3)</a:t>
            </a:r>
            <a:endParaRPr lang="en-US" sz="825" dirty="0"/>
          </a:p>
        </p:txBody>
      </p:sp>
      <p:sp>
        <p:nvSpPr>
          <p:cNvPr id="14" name="Text 11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629400" y="3429000"/>
            <a:ext cx="118506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848356"/>
        </p:xfrm>
        <a:graphic>
          <a:graphicData uri="http://schemas.openxmlformats.org/drawingml/2006/table">
            <a:tbl>
              <a:tblPr/>
              <a:tblGrid>
                <a:gridCol w="1037844"/>
                <a:gridCol w="1035101"/>
                <a:gridCol w="815645"/>
                <a:gridCol w="1106424"/>
                <a:gridCol w="1129284"/>
              </a:tblGrid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W19(POR)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19.68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W24(POR)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19.62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19.68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19.60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19.72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19.69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19.64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19.73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19.70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19.67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ATOI CD wafer map</a:t>
            </a:r>
            <a:endParaRPr lang="en-US" sz="2325" dirty="0"/>
          </a:p>
        </p:txBody>
      </p:sp>
      <p:pic>
        <p:nvPicPr>
          <p:cNvPr id="3" name="Image 0" descr="gen-dedup-1d9c85763a1ba24eaddf0d4b0e1e4067.png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685800" y="1181405"/>
            <a:ext cx="3504895" cy="4200754"/>
          </a:xfrm>
          <a:prstGeom prst="rect">
            <a:avLst/>
          </a:prstGeom>
        </p:spPr>
      </p:pic>
      <p:pic>
        <p:nvPicPr>
          <p:cNvPr id="4" name="Image 1" descr="gen-dedup-4c9eb3cfe7398d64804d9bc77827b0c1.png">    </p:cNvPr>
          <p:cNvPicPr>
            <a:picLocks noChangeAspect="1"/>
          </p:cNvPicPr>
          <p:nvPr/>
        </p:nvPicPr>
        <p:blipFill>
          <a:blip r:embed="rId2"/>
          <a:srcRect l="0" r="0" t="-7" b="-7"/>
          <a:stretch/>
        </p:blipFill>
        <p:spPr>
          <a:xfrm>
            <a:off x="4343400" y="1181405"/>
            <a:ext cx="3504895" cy="4200754"/>
          </a:xfrm>
          <a:prstGeom prst="rect">
            <a:avLst/>
          </a:prstGeom>
        </p:spPr>
      </p:pic>
      <p:pic>
        <p:nvPicPr>
          <p:cNvPr id="5" name="Image 2" descr="gen-dedup-3ab7002388ce5259fdbad654e0e88045.png">    </p:cNvPr>
          <p:cNvPicPr>
            <a:picLocks noChangeAspect="1"/>
          </p:cNvPicPr>
          <p:nvPr/>
        </p:nvPicPr>
        <p:blipFill>
          <a:blip r:embed="rId3"/>
          <a:srcRect l="0" r="0" t="-7" b="-7"/>
          <a:stretch/>
        </p:blipFill>
        <p:spPr>
          <a:xfrm>
            <a:off x="8001000" y="1181405"/>
            <a:ext cx="3504895" cy="420075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560984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ATOI CD POR 대비 Δ+0.02 nm, edge 영역 편차 POR 동등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86953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ATOI CD POR 대비 Δ+0.04 nm, edge 영역 편차 POR 동등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Via Rc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20.04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19.93 (-0.6%, 동등)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19.82 (-1.1%, 동등)</a:t>
            </a:r>
            <a:endParaRPr lang="en-US" sz="1275" dirty="0"/>
          </a:p>
        </p:txBody>
      </p:sp>
      <p:pic>
        <p:nvPicPr>
          <p:cNvPr id="6" name="Image 0" descr="gen-dedup-4fcecf00c3130a5291b308854d5f9c77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</a:t>
            </a:r>
            <a:endParaRPr lang="en-US" sz="232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3553358"/>
        </p:xfrm>
        <a:graphic>
          <a:graphicData uri="http://schemas.openxmlformats.org/drawingml/2006/table">
            <a:tbl>
              <a:tblPr/>
              <a:tblGrid>
                <a:gridCol w="1322752"/>
                <a:gridCol w="1145410"/>
                <a:gridCol w="857458"/>
                <a:gridCol w="789812"/>
                <a:gridCol w="721252"/>
                <a:gridCol w="729479"/>
                <a:gridCol w="720338"/>
              </a:tblGrid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W24(POR)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5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6c18709af8a3498e9968a04d1e01e28f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02920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CMBSRP/VCHN/MinA POR 대비 동등수준 / HOL 소폭 열화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28797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CMBSRP/VCHN/MinA POR 대비 동등수준 / CMA 소폭 열화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554766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CMA: POR 98.4% → B 97.3%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Line Rs by wafer</a:t>
            </a:r>
            <a:endParaRPr lang="en-US" sz="2325" dirty="0"/>
          </a:p>
        </p:txBody>
      </p:sp>
      <p:pic>
        <p:nvPicPr>
          <p:cNvPr id="3" name="Image 0" descr="gen-dedup-82348a7c78ed5d271798657d35fc7741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831.3 (+0.0%)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829.0 (-0.3%)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829.2 (-0.3%)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미미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2026-10-04T13:20:39Z</dcterms:created>
  <dcterms:modified xsi:type="dcterms:W3CDTF">2026-10-04T13:20:39Z</dcterms:modified>
</cp:coreProperties>
</file>