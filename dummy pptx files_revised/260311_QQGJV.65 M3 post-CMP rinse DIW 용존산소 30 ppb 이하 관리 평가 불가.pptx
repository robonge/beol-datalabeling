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2f228e462aaf40983ff7479d09a24c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598" y="1067105"/>
            <a:ext cx="1123798" cy="1228954"/>
          </a:xfrm>
          <a:prstGeom prst="rect">
            <a:avLst/>
          </a:prstGeom>
        </p:spPr>
      </p:pic>
      <p:pic>
        <p:nvPicPr>
          <p:cNvPr id="3" name="Image 1" descr="gen-dedup-7b1c7d47521709db2f2fd07d611f2ef0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2205" y="1067105"/>
            <a:ext cx="3914546" cy="122895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SF1.0 KVFG QQGJV.65 ET results</a:t>
            </a:r>
            <a:endParaRPr lang="en-US" sz="1950" dirty="0"/>
          </a:p>
        </p:txBody>
      </p:sp>
      <p:sp>
        <p:nvSpPr>
          <p:cNvPr id="5" name="Text 1"/>
          <p:cNvSpPr txBox="1"/>
          <p:nvPr/>
        </p:nvSpPr>
        <p:spPr>
          <a:xfrm>
            <a:off x="685800" y="112379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942746" y="1123798"/>
            <a:ext cx="54205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M3 post-CMP rinse DIW 용존산소 30 ppb 이하 관리 평가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1367028"/>
            <a:ext cx="162763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75" dirty="0"/>
          </a:p>
        </p:txBody>
      </p:sp>
      <p:sp>
        <p:nvSpPr>
          <p:cNvPr id="8" name="Text 4"/>
          <p:cNvSpPr txBox="1"/>
          <p:nvPr/>
        </p:nvSpPr>
        <p:spPr>
          <a:xfrm>
            <a:off x="942746" y="1367028"/>
            <a:ext cx="872338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75" dirty="0"/>
          </a:p>
        </p:txBody>
      </p:sp>
      <p:sp>
        <p:nvSpPr>
          <p:cNvPr id="9" name="Text 5"/>
          <p:cNvSpPr txBox="1"/>
          <p:nvPr/>
        </p:nvSpPr>
        <p:spPr>
          <a:xfrm>
            <a:off x="685800" y="1609344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대비 Split B(DO &lt; 30 ppb) 진행 시 AMI CD 동등 수준 (Δ-0.04 nm)</a:t>
            </a:r>
            <a:endParaRPr lang="en-US" sz="1275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095805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A(Qt2x) AMI CD Δ+0.01 nm</a:t>
            </a:r>
            <a:endParaRPr lang="en-US" sz="1275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33812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Line Rs median POR 대비 +4.3% 상승</a:t>
            </a:r>
            <a:endParaRPr lang="en-US" sz="1275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81351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median POR 대비 +6.3% 상승</a:t>
            </a:r>
            <a:endParaRPr lang="en-US" sz="1275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824582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결과 CMBSRP/VCHN/CMA POR 대비 유사 수준 / MinA 28.2%p 열화, VMA 42.7%p 열화</a:t>
            </a:r>
            <a:endParaRPr lang="en-US" sz="1275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310128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Q-time 증가로 Cu oxide 성장, cap 계면 adhesion 저하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55244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zeta potential -50 mV</a:t>
            </a:r>
            <a:endParaRPr lang="en-US" sz="1275" dirty="0"/>
          </a:p>
        </p:txBody>
      </p:sp>
      <p:sp>
        <p:nvSpPr>
          <p:cNvPr id="16" name="Text 12"/>
          <p:cNvSpPr txBox="1"/>
          <p:nvPr/>
        </p:nvSpPr>
        <p:spPr>
          <a:xfrm>
            <a:off x="685800" y="3795674"/>
            <a:ext cx="5334610" cy="2478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defect count 697 ea/WF (KLA review)</a:t>
            </a:r>
            <a:endParaRPr lang="en-US" sz="1275" dirty="0"/>
          </a:p>
        </p:txBody>
      </p:sp>
      <p:sp>
        <p:nvSpPr>
          <p:cNvPr id="17" name="Text 13"/>
          <p:cNvSpPr txBox="1"/>
          <p:nvPr/>
        </p:nvSpPr>
        <p:spPr>
          <a:xfrm>
            <a:off x="685800" y="4038905"/>
            <a:ext cx="5334610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913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 조건 호환 불가 — rinse 후 BTA 보호 처리 split 재평가 예정 (M3 DC 기준)</a:t>
            </a:r>
            <a:endParaRPr lang="en-US" sz="1275" dirty="0"/>
          </a:p>
        </p:txBody>
      </p:sp>
      <p:sp>
        <p:nvSpPr>
          <p:cNvPr id="18" name="Text 14"/>
          <p:cNvSpPr txBox="1"/>
          <p:nvPr/>
        </p:nvSpPr>
        <p:spPr>
          <a:xfrm>
            <a:off x="6381598" y="2333549"/>
            <a:ext cx="512521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post-CMP defect review SEM / post CMP defect review SEM</a:t>
            </a:r>
            <a:endParaRPr lang="en-US" sz="825" dirty="0"/>
          </a:p>
        </p:txBody>
      </p:sp>
      <p:sp>
        <p:nvSpPr>
          <p:cNvPr id="19" name="Text 15"/>
          <p:cNvSpPr txBox="1"/>
          <p:nvPr/>
        </p:nvSpPr>
        <p:spPr>
          <a:xfrm>
            <a:off x="6381598" y="3471977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6629400" y="3429000"/>
            <a:ext cx="1067105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AMI CD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81598" y="3791102"/>
          <a:ext cx="5125212" cy="2848356"/>
        </p:xfrm>
        <a:graphic>
          <a:graphicData uri="http://schemas.openxmlformats.org/drawingml/2006/table">
            <a:tbl>
              <a:tblPr/>
              <a:tblGrid>
                <a:gridCol w="1030529"/>
                <a:gridCol w="1036930"/>
                <a:gridCol w="811987"/>
                <a:gridCol w="1110996"/>
                <a:gridCol w="1133856"/>
              </a:tblGrid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MEAN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3σ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RANGE (nm)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 vs TARGET</a:t>
                      </a:r>
                      <a:endParaRPr lang="en-US" sz="9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W19(POR)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26.72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4.49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W25(POR)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26.68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1.38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26.67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5.71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-0.03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26.74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5.46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+0.04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26.71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1.95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W09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26.68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6.42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-0.02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26.65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2.01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-0.05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64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POOLED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26.69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6.56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-0.01</a:t>
                      </a:r>
                      <a:endParaRPr lang="en-US" sz="1200" dirty="0"/>
                    </a:p>
                  </a:txBody>
                  <a:tcPr marL="114300" marR="114300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 AMI CD wafer map</a:t>
            </a:r>
            <a:endParaRPr lang="en-US" sz="2325" dirty="0"/>
          </a:p>
        </p:txBody>
      </p:sp>
      <p:pic>
        <p:nvPicPr>
          <p:cNvPr id="3" name="Image 0" descr="gen-dedup-869245f904eeb50a7a05afcf7349705c.png">    </p:cNvPr>
          <p:cNvPicPr>
            <a:picLocks noChangeAspect="1"/>
          </p:cNvPicPr>
          <p:nvPr/>
        </p:nvPicPr>
        <p:blipFill>
          <a:blip r:embed="rId1"/>
          <a:srcRect l="0" r="0" t="-7" b="-7"/>
          <a:stretch/>
        </p:blipFill>
        <p:spPr>
          <a:xfrm>
            <a:off x="685800" y="1181405"/>
            <a:ext cx="3504895" cy="4200754"/>
          </a:xfrm>
          <a:prstGeom prst="rect">
            <a:avLst/>
          </a:prstGeom>
        </p:spPr>
      </p:pic>
      <p:pic>
        <p:nvPicPr>
          <p:cNvPr id="4" name="Image 1" descr="gen-dedup-65cde2372381fd19cb9f0b489f312350.png">    </p:cNvPr>
          <p:cNvPicPr>
            <a:picLocks noChangeAspect="1"/>
          </p:cNvPicPr>
          <p:nvPr/>
        </p:nvPicPr>
        <p:blipFill>
          <a:blip r:embed="rId2"/>
          <a:srcRect l="0" r="0" t="-7" b="-7"/>
          <a:stretch/>
        </p:blipFill>
        <p:spPr>
          <a:xfrm>
            <a:off x="4343400" y="1181405"/>
            <a:ext cx="3504895" cy="4200754"/>
          </a:xfrm>
          <a:prstGeom prst="rect">
            <a:avLst/>
          </a:prstGeom>
        </p:spPr>
      </p:pic>
      <p:pic>
        <p:nvPicPr>
          <p:cNvPr id="5" name="Image 2" descr="gen-dedup-de7606dd2ee8ded298bbca1bdc9fd032.png">    </p:cNvPr>
          <p:cNvPicPr>
            <a:picLocks noChangeAspect="1"/>
          </p:cNvPicPr>
          <p:nvPr/>
        </p:nvPicPr>
        <p:blipFill>
          <a:blip r:embed="rId3"/>
          <a:srcRect l="0" r="0" t="-7" b="-7"/>
          <a:stretch/>
        </p:blipFill>
        <p:spPr>
          <a:xfrm>
            <a:off x="8001000" y="1181405"/>
            <a:ext cx="3504895" cy="4200754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560984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 AMI CD POR 대비 Δ+0.01 nm, edge 영역 편차 확대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5869534"/>
            <a:ext cx="108210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B: AMI CD POR 대비 Δ-0.04 nm, edge 영역 편차 확대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Dishing · Erosion 측정 결과</a:t>
            </a:r>
            <a:endParaRPr lang="en-US" sz="23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1405"/>
          <a:ext cx="10821010" cy="1400861"/>
        </p:xfrm>
        <a:graphic>
          <a:graphicData uri="http://schemas.openxmlformats.org/drawingml/2006/table">
            <a:tbl>
              <a:tblPr/>
              <a:tblGrid>
                <a:gridCol w="2240280"/>
                <a:gridCol w="1487729"/>
                <a:gridCol w="1368857"/>
                <a:gridCol w="1487729"/>
                <a:gridCol w="1411834"/>
                <a:gridCol w="1411834"/>
                <a:gridCol w="1411834"/>
              </a:tblGrid>
              <a:tr h="350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Split \ Pattern (nm)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Wide 10 µm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Pad 50 µm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Pad 100 µm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Dense 50%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Dense 70%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75" b="1" dirty="0">
                          <a:solidFill>
                            <a:srgbClr val="33333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Dense 90%</a:t>
                      </a:r>
                      <a:endParaRPr lang="en-US" sz="97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38405" marB="38405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350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50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A: Qt2x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5021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B: DO30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4.0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5098" marR="95098" marT="28346" marB="28346" anchor="ctr">
                    <a:lnL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8888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</a:tbl>
          </a:graphicData>
        </a:graphic>
      </p:graphicFrame>
      <p:pic>
        <p:nvPicPr>
          <p:cNvPr id="4" name="Image 0" descr="gen-dedup-e0c30437a20468d75ddd7124c340f024.png">    </p:cNvPr>
          <p:cNvPicPr>
            <a:picLocks noChangeAspect="1"/>
          </p:cNvPicPr>
          <p:nvPr/>
        </p:nvPicPr>
        <p:blipFill>
          <a:blip r:embed="rId1"/>
          <a:srcRect l="0" r="0" t="-5" b="-5"/>
          <a:stretch/>
        </p:blipFill>
        <p:spPr>
          <a:xfrm>
            <a:off x="685800" y="2838298"/>
            <a:ext cx="5715000" cy="387705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667805" y="3029407"/>
            <a:ext cx="48390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B 최대 recess 11.0 nm (POR 7.4 nm)</a:t>
            </a:r>
            <a:endParaRPr lang="en-US" sz="1275" dirty="0"/>
          </a:p>
        </p:txBody>
      </p:sp>
      <p:sp>
        <p:nvSpPr>
          <p:cNvPr id="6" name="Text 2"/>
          <p:cNvSpPr txBox="1"/>
          <p:nvPr/>
        </p:nvSpPr>
        <p:spPr>
          <a:xfrm>
            <a:off x="6667805" y="3288182"/>
            <a:ext cx="48390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wide line 중심부 dishing 이 recess 주도</a:t>
            </a:r>
            <a:endParaRPr lang="en-US" sz="1275" dirty="0"/>
          </a:p>
        </p:txBody>
      </p:sp>
      <p:sp>
        <p:nvSpPr>
          <p:cNvPr id="7" name="Text 3"/>
          <p:cNvSpPr txBox="1"/>
          <p:nvPr/>
        </p:nvSpPr>
        <p:spPr>
          <a:xfrm>
            <a:off x="6667805" y="3546958"/>
            <a:ext cx="48390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2nm 이하 노드 허용 dishing &lt; 2 nm 기준 초과</a:t>
            </a:r>
            <a:endParaRPr lang="en-US" sz="12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4005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325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— group average</a:t>
            </a:r>
            <a:endParaRPr lang="en-US" sz="2325" dirty="0"/>
          </a:p>
        </p:txBody>
      </p:sp>
      <p:pic>
        <p:nvPicPr>
          <p:cNvPr id="3" name="Image 0" descr="gen-dedup-40d6d9ee51ac43d4c018135d90617fcd.png">    </p:cNvPr>
          <p:cNvPicPr>
            <a:picLocks noChangeAspect="1"/>
          </p:cNvPicPr>
          <p:nvPr/>
        </p:nvPicPr>
        <p:blipFill>
          <a:blip r:embed="rId1"/>
          <a:srcRect l="-2" r="-2" t="0" b="0"/>
          <a:stretch/>
        </p:blipFill>
        <p:spPr>
          <a:xfrm>
            <a:off x="685800" y="1181405"/>
            <a:ext cx="7810805" cy="4572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762695" y="1524305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9068105" y="1524305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762695" y="1916582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A: MinA, VMA, CMA 열화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762695" y="2175358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B: MinA, VMA 열화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762695" y="2435047"/>
            <a:ext cx="285750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호환 불가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2026-10-04T17:38:09Z</dcterms:created>
  <dcterms:modified xsi:type="dcterms:W3CDTF">2026-10-04T17:38:09Z</dcterms:modified>
</cp:coreProperties>
</file>