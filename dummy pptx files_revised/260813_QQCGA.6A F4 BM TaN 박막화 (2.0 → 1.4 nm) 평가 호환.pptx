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bfd4229567a6020de77c6fdd85764ec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67444" y="1067105"/>
            <a:ext cx="2229307" cy="2000707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38505" y="437998"/>
            <a:ext cx="10478110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QQCGA.6A ET results</a:t>
            </a:r>
            <a:endParaRPr lang="en-US" sz="225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1067105"/>
            <a:ext cx="13350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975" dirty="0"/>
          </a:p>
        </p:txBody>
      </p:sp>
      <p:sp>
        <p:nvSpPr>
          <p:cNvPr id="5" name="Text 2"/>
          <p:cNvSpPr txBox="1"/>
          <p:nvPr/>
        </p:nvSpPr>
        <p:spPr>
          <a:xfrm>
            <a:off x="905256" y="1067105"/>
            <a:ext cx="320863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평가목적 ; F4 BM TaN 박막화 (2.0 → 1.4 nm) 평가</a:t>
            </a:r>
            <a:endParaRPr lang="en-US" sz="975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242670"/>
            <a:ext cx="13350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975" dirty="0"/>
          </a:p>
        </p:txBody>
      </p:sp>
      <p:sp>
        <p:nvSpPr>
          <p:cNvPr id="7" name="Text 4"/>
          <p:cNvSpPr txBox="1"/>
          <p:nvPr/>
        </p:nvSpPr>
        <p:spPr>
          <a:xfrm>
            <a:off x="905256" y="1242670"/>
            <a:ext cx="66751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평가결과 ;</a:t>
            </a:r>
            <a:endParaRPr lang="en-US" sz="975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1418234"/>
            <a:ext cx="619140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대비 Split C(TaN 1.4 nm) 진행 시 ATOI CD 동등 수준 (Δ+0.05 nm)</a:t>
            </a:r>
            <a:endParaRPr lang="en-US" sz="975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1593799"/>
            <a:ext cx="619140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Split A(Co liner) ATOI CD Δ+0.01 nm</a:t>
            </a:r>
            <a:endParaRPr lang="en-US" sz="975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1770278"/>
            <a:ext cx="619140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Split B(ReSput) ATOI CD Δ+0.04 nm</a:t>
            </a:r>
            <a:endParaRPr lang="en-US" sz="975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1945843"/>
            <a:ext cx="619140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Line Rs median POR 대비 -7.2% 감소</a:t>
            </a:r>
            <a:endParaRPr lang="en-US" sz="975" dirty="0"/>
          </a:p>
        </p:txBody>
      </p:sp>
      <p:sp>
        <p:nvSpPr>
          <p:cNvPr id="12" name="Text 9"/>
          <p:cNvSpPr txBox="1"/>
          <p:nvPr/>
        </p:nvSpPr>
        <p:spPr>
          <a:xfrm>
            <a:off x="685800" y="2121408"/>
            <a:ext cx="619140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Via Rc median POR 대비 -6.6% 감소</a:t>
            </a:r>
            <a:endParaRPr lang="en-US" sz="975" dirty="0"/>
          </a:p>
        </p:txBody>
      </p:sp>
      <p:sp>
        <p:nvSpPr>
          <p:cNvPr id="13" name="Text 10"/>
          <p:cNvSpPr txBox="1"/>
          <p:nvPr/>
        </p:nvSpPr>
        <p:spPr>
          <a:xfrm>
            <a:off x="685800" y="2296973"/>
            <a:ext cx="619140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 결과 CMBSRP 1.6%p 개선 / VCHN/MinA/CMA 소폭 열화 / VMA 2.1%p 열화</a:t>
            </a:r>
            <a:endParaRPr lang="en-US" sz="975" dirty="0"/>
          </a:p>
        </p:txBody>
      </p:sp>
      <p:sp>
        <p:nvSpPr>
          <p:cNvPr id="14" name="Text 11"/>
          <p:cNvSpPr txBox="1"/>
          <p:nvPr/>
        </p:nvSpPr>
        <p:spPr>
          <a:xfrm>
            <a:off x="685800" y="2472538"/>
            <a:ext cx="619140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barrier 박막화에 의한 via bottom Cu 확산 / 계면 void 추정</a:t>
            </a:r>
            <a:endParaRPr lang="en-US" sz="975" dirty="0"/>
          </a:p>
        </p:txBody>
      </p:sp>
      <p:sp>
        <p:nvSpPr>
          <p:cNvPr id="15" name="Text 12"/>
          <p:cNvSpPr txBox="1"/>
          <p:nvPr/>
        </p:nvSpPr>
        <p:spPr>
          <a:xfrm>
            <a:off x="685800" y="2649017"/>
            <a:ext cx="619140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450℃ anneal 후 Cu 확산 경로 일부 확인</a:t>
            </a:r>
            <a:endParaRPr lang="en-US" sz="975" dirty="0"/>
          </a:p>
        </p:txBody>
      </p:sp>
      <p:sp>
        <p:nvSpPr>
          <p:cNvPr id="16" name="Text 13"/>
          <p:cNvSpPr txBox="1"/>
          <p:nvPr/>
        </p:nvSpPr>
        <p:spPr>
          <a:xfrm>
            <a:off x="685800" y="2824582"/>
            <a:ext cx="619140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Split B(ReSput) 는 CMBSRP/VCHN/MinA POR 대비 동등수준</a:t>
            </a:r>
            <a:endParaRPr lang="en-US" sz="975" dirty="0"/>
          </a:p>
        </p:txBody>
      </p:sp>
      <p:sp>
        <p:nvSpPr>
          <p:cNvPr id="17" name="Text 14"/>
          <p:cNvSpPr txBox="1"/>
          <p:nvPr/>
        </p:nvSpPr>
        <p:spPr>
          <a:xfrm>
            <a:off x="685800" y="3000146"/>
            <a:ext cx="619140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호환 가능 판단됨 (F4 DC 기준)</a:t>
            </a:r>
            <a:endParaRPr lang="en-US" sz="975" dirty="0"/>
          </a:p>
        </p:txBody>
      </p:sp>
      <p:sp>
        <p:nvSpPr>
          <p:cNvPr id="18" name="Text 15"/>
          <p:cNvSpPr txBox="1"/>
          <p:nvPr/>
        </p:nvSpPr>
        <p:spPr>
          <a:xfrm>
            <a:off x="7429500" y="3105302"/>
            <a:ext cx="40773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EDS mapping (Cu/Si/O/Ta)</a:t>
            </a:r>
            <a:endParaRPr lang="en-US" sz="825" dirty="0"/>
          </a:p>
        </p:txBody>
      </p:sp>
      <p:sp>
        <p:nvSpPr>
          <p:cNvPr id="19" name="Text 16"/>
          <p:cNvSpPr txBox="1"/>
          <p:nvPr/>
        </p:nvSpPr>
        <p:spPr>
          <a:xfrm>
            <a:off x="685800" y="3662172"/>
            <a:ext cx="1335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933602" y="3619195"/>
            <a:ext cx="1167689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F4 ATOI CD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3981298"/>
          <a:ext cx="10821010" cy="2190902"/>
        </p:xfrm>
        <a:graphic>
          <a:graphicData uri="http://schemas.openxmlformats.org/drawingml/2006/table">
            <a:tbl>
              <a:tblPr/>
              <a:tblGrid>
                <a:gridCol w="2162556"/>
                <a:gridCol w="2194560"/>
                <a:gridCol w="1708099"/>
                <a:gridCol w="2352751"/>
                <a:gridCol w="2402129"/>
              </a:tblGrid>
              <a:tr h="3651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WAFER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MEAN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3σ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RANGE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Δ vs TARGET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1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W07(POR)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49.18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2.32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6.92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-0.12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651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49.18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2.48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7.41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-0.12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651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49.22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2.22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7.07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-0.08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651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49.23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2.40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7.11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-0.07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</a:tr>
              <a:tr h="3651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POOLED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49.20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2.44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7.41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-0.10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F4 BM split condition</a:t>
            </a:r>
            <a:endParaRPr lang="en-US" sz="2325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238098"/>
          <a:ext cx="10821010" cy="2220163"/>
        </p:xfrm>
        <a:graphic>
          <a:graphicData uri="http://schemas.openxmlformats.org/drawingml/2006/table">
            <a:tbl>
              <a:tblPr/>
              <a:tblGrid>
                <a:gridCol w="1573682"/>
                <a:gridCol w="1493215"/>
                <a:gridCol w="5052060"/>
                <a:gridCol w="2702052"/>
              </a:tblGrid>
              <a:tr h="44403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Split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WF#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조건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4403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POR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TaN 2.0 nm / Ta liner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Reference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44403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 liner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44403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re-sputter 강화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보완 조건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44403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TaN 1.4 nm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보완 조건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85800" y="3810305"/>
            <a:ext cx="21945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650" dirty="0"/>
          </a:p>
        </p:txBody>
      </p:sp>
      <p:sp>
        <p:nvSpPr>
          <p:cNvPr id="5" name="Text 2"/>
          <p:cNvSpPr txBox="1"/>
          <p:nvPr/>
        </p:nvSpPr>
        <p:spPr>
          <a:xfrm>
            <a:off x="990295" y="3810305"/>
            <a:ext cx="52212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Note</a:t>
            </a:r>
            <a:endParaRPr lang="en-US" sz="165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4202582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 lot 분할 진행, 동일 chamber 사용</a:t>
            </a:r>
            <a:endParaRPr lang="en-US" sz="1275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4461358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F4 이전·이후 공정은 전 WF POR 동일 진행</a:t>
            </a:r>
            <a:endParaRPr lang="en-US" sz="1275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4721047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ET: 49 die / WF, Kelvin chain 1k via 포함</a:t>
            </a:r>
            <a:endParaRPr lang="en-US" sz="1275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4979822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ATOI 측정: CD-SEM 49 pt / WF</a:t>
            </a:r>
            <a:endParaRPr lang="en-US" sz="12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F4 ATOI CD wafer map</a:t>
            </a:r>
            <a:endParaRPr lang="en-US" sz="2325" dirty="0"/>
          </a:p>
        </p:txBody>
      </p:sp>
      <p:pic>
        <p:nvPicPr>
          <p:cNvPr id="3" name="Image 0" descr="gen-dedup-c97df9d7c9738fd5476935b6bbda9a36.png">    </p:cNvPr>
          <p:cNvPicPr>
            <a:picLocks noChangeAspect="1"/>
          </p:cNvPicPr>
          <p:nvPr/>
        </p:nvPicPr>
        <p:blipFill>
          <a:blip r:embed="rId1"/>
          <a:srcRect l="0" r="0" t="-8" b="-8"/>
          <a:stretch/>
        </p:blipFill>
        <p:spPr>
          <a:xfrm>
            <a:off x="685800" y="1181405"/>
            <a:ext cx="2590495" cy="3105302"/>
          </a:xfrm>
          <a:prstGeom prst="rect">
            <a:avLst/>
          </a:prstGeom>
        </p:spPr>
      </p:pic>
      <p:pic>
        <p:nvPicPr>
          <p:cNvPr id="4" name="Image 1" descr="gen-dedup-76364c6b2e5b593d95b7938b7f69b8cb.png">    </p:cNvPr>
          <p:cNvPicPr>
            <a:picLocks noChangeAspect="1"/>
          </p:cNvPicPr>
          <p:nvPr/>
        </p:nvPicPr>
        <p:blipFill>
          <a:blip r:embed="rId2"/>
          <a:srcRect l="0" r="0" t="-8" b="-8"/>
          <a:stretch/>
        </p:blipFill>
        <p:spPr>
          <a:xfrm>
            <a:off x="3429000" y="1181405"/>
            <a:ext cx="2590495" cy="3105302"/>
          </a:xfrm>
          <a:prstGeom prst="rect">
            <a:avLst/>
          </a:prstGeom>
        </p:spPr>
      </p:pic>
      <p:pic>
        <p:nvPicPr>
          <p:cNvPr id="5" name="Image 2" descr="gen-dedup-dc6a3e98be108be1ce41edd7de6811d3.png">    </p:cNvPr>
          <p:cNvPicPr>
            <a:picLocks noChangeAspect="1"/>
          </p:cNvPicPr>
          <p:nvPr/>
        </p:nvPicPr>
        <p:blipFill>
          <a:blip r:embed="rId3"/>
          <a:srcRect l="0" r="0" t="-8" b="-8"/>
          <a:stretch/>
        </p:blipFill>
        <p:spPr>
          <a:xfrm>
            <a:off x="6172200" y="1181405"/>
            <a:ext cx="2590495" cy="3105302"/>
          </a:xfrm>
          <a:prstGeom prst="rect">
            <a:avLst/>
          </a:prstGeom>
        </p:spPr>
      </p:pic>
      <p:pic>
        <p:nvPicPr>
          <p:cNvPr id="6" name="Image 3" descr="gen-dedup-66ef0194f1953622ab94aab0b43dbfde.png">    </p:cNvPr>
          <p:cNvPicPr>
            <a:picLocks noChangeAspect="1"/>
          </p:cNvPicPr>
          <p:nvPr/>
        </p:nvPicPr>
        <p:blipFill>
          <a:blip r:embed="rId4"/>
          <a:srcRect l="0" r="0" t="-8" b="-8"/>
          <a:stretch/>
        </p:blipFill>
        <p:spPr>
          <a:xfrm>
            <a:off x="8915400" y="1181405"/>
            <a:ext cx="2590495" cy="3105302"/>
          </a:xfrm>
          <a:prstGeom prst="rect">
            <a:avLst/>
          </a:prstGeom>
        </p:spPr>
      </p:pic>
      <p:sp>
        <p:nvSpPr>
          <p:cNvPr id="7" name="Text 1"/>
          <p:cNvSpPr txBox="1"/>
          <p:nvPr/>
        </p:nvSpPr>
        <p:spPr>
          <a:xfrm>
            <a:off x="685800" y="4515307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A: ATOI CD POR 대비 Δ+0.01 nm, edge 영역 편차 POR 동등</a:t>
            </a:r>
            <a:endParaRPr lang="en-US" sz="1275" dirty="0"/>
          </a:p>
        </p:txBody>
      </p:sp>
      <p:sp>
        <p:nvSpPr>
          <p:cNvPr id="8" name="Text 2"/>
          <p:cNvSpPr txBox="1"/>
          <p:nvPr/>
        </p:nvSpPr>
        <p:spPr>
          <a:xfrm>
            <a:off x="685800" y="4774082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B: ATOI CD POR 대비 Δ+0.04 nm, edge 영역 편차 POR 동등</a:t>
            </a:r>
            <a:endParaRPr lang="en-US" sz="1275" dirty="0"/>
          </a:p>
        </p:txBody>
      </p:sp>
      <p:sp>
        <p:nvSpPr>
          <p:cNvPr id="9" name="Text 3"/>
          <p:cNvSpPr txBox="1"/>
          <p:nvPr/>
        </p:nvSpPr>
        <p:spPr>
          <a:xfrm>
            <a:off x="685800" y="5032858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C: ATOI CD POR 대비 Δ+0.05 nm, edge 영역 편차 POR 동등</a:t>
            </a:r>
            <a:endParaRPr lang="en-US" sz="12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F4 Via Rc cumulative distribution</a:t>
            </a:r>
            <a:endParaRPr lang="en-US" sz="2325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429207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median 6.20</a:t>
            </a:r>
            <a:endParaRPr lang="en-US" sz="1275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687982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median 5.73 (-7.6%)</a:t>
            </a:r>
            <a:endParaRPr lang="en-US" sz="1275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946758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 median 5.76 (-7.2%)</a:t>
            </a:r>
            <a:endParaRPr lang="en-US" sz="1275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206447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median 5.80 (-6.6%)</a:t>
            </a:r>
            <a:endParaRPr lang="en-US" sz="1275" dirty="0"/>
          </a:p>
        </p:txBody>
      </p:sp>
      <p:pic>
        <p:nvPicPr>
          <p:cNvPr id="7" name="Image 0" descr="gen-dedup-2c8e0782ab4d605aa195315fc27620aa.png">    </p:cNvPr>
          <p:cNvPicPr>
            <a:picLocks noChangeAspect="1"/>
          </p:cNvPicPr>
          <p:nvPr/>
        </p:nvPicPr>
        <p:blipFill>
          <a:blip r:embed="rId1"/>
          <a:srcRect l="0" r="0" t="-3" b="-3"/>
          <a:stretch/>
        </p:blipFill>
        <p:spPr>
          <a:xfrm>
            <a:off x="4647895" y="1123798"/>
            <a:ext cx="6858000" cy="495330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Electrical test results (F4 DC)</a:t>
            </a:r>
            <a:endParaRPr lang="en-US" sz="2325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181405"/>
          <a:ext cx="10821010" cy="1838858"/>
        </p:xfrm>
        <a:graphic>
          <a:graphicData uri="http://schemas.openxmlformats.org/drawingml/2006/table">
            <a:tbl>
              <a:tblPr/>
              <a:tblGrid>
                <a:gridCol w="2571293"/>
                <a:gridCol w="2226564"/>
                <a:gridCol w="1666951"/>
                <a:gridCol w="1535278"/>
                <a:gridCol w="1402690"/>
                <a:gridCol w="1418234"/>
              </a:tblGrid>
              <a:tr h="3677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WF / ITEM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CMBSRP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VCHN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MinA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VMA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CMA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677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W07(POR)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677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677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677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93.9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85800" y="3372307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색상: 주황 = spec(93%) −5%p 이내 미달, 적색 = 그 이하</a:t>
            </a:r>
            <a:endParaRPr lang="en-US" sz="1275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3631082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A: CMBSRP/VCHN/MinA POR 대비 동등수준 / VMA 소폭 열화</a:t>
            </a:r>
            <a:endParaRPr lang="en-US" sz="1275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3889858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B: CMBSRP/VCHN/MinA POR 대비 동등수준</a:t>
            </a:r>
            <a:endParaRPr lang="en-US" sz="1275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4149547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C: CMBSRP 1.6%p 개선 / VCHN/MinA/CMA 소폭 열화 / VMA 2.1%p 열화</a:t>
            </a:r>
            <a:endParaRPr lang="en-US" sz="1275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4408322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VMA: POR 96.0% → C 93.9%</a:t>
            </a:r>
            <a:endParaRPr lang="en-US" sz="12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VMA die yield distribution by wafer</a:t>
            </a:r>
            <a:endParaRPr lang="en-US" sz="2325" dirty="0"/>
          </a:p>
        </p:txBody>
      </p:sp>
      <p:pic>
        <p:nvPicPr>
          <p:cNvPr id="3" name="Image 0" descr="gen-dedup-173620a8377329e5af0473dccfb8f10d.png">    </p:cNvPr>
          <p:cNvPicPr>
            <a:picLocks noChangeAspect="1"/>
          </p:cNvPicPr>
          <p:nvPr/>
        </p:nvPicPr>
        <p:blipFill>
          <a:blip r:embed="rId1"/>
          <a:srcRect l="-3" r="-3" t="0" b="0"/>
          <a:stretch/>
        </p:blipFill>
        <p:spPr>
          <a:xfrm>
            <a:off x="685800" y="1181405"/>
            <a:ext cx="7429500" cy="476219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477402" y="1524305"/>
            <a:ext cx="3048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median 95.5%</a:t>
            </a:r>
            <a:endParaRPr lang="en-US" sz="1275" dirty="0"/>
          </a:p>
        </p:txBody>
      </p:sp>
      <p:sp>
        <p:nvSpPr>
          <p:cNvPr id="5" name="Text 2"/>
          <p:cNvSpPr txBox="1"/>
          <p:nvPr/>
        </p:nvSpPr>
        <p:spPr>
          <a:xfrm>
            <a:off x="8477402" y="1783080"/>
            <a:ext cx="3048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 median 95.1%</a:t>
            </a:r>
            <a:endParaRPr lang="en-US" sz="1275" dirty="0"/>
          </a:p>
        </p:txBody>
      </p:sp>
      <p:sp>
        <p:nvSpPr>
          <p:cNvPr id="6" name="Text 3"/>
          <p:cNvSpPr txBox="1"/>
          <p:nvPr/>
        </p:nvSpPr>
        <p:spPr>
          <a:xfrm>
            <a:off x="8477402" y="2041855"/>
            <a:ext cx="3048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B median 95.9%</a:t>
            </a:r>
            <a:endParaRPr lang="en-US" sz="1275" dirty="0"/>
          </a:p>
        </p:txBody>
      </p:sp>
      <p:sp>
        <p:nvSpPr>
          <p:cNvPr id="7" name="Text 4"/>
          <p:cNvSpPr txBox="1"/>
          <p:nvPr/>
        </p:nvSpPr>
        <p:spPr>
          <a:xfrm>
            <a:off x="8477402" y="2301545"/>
            <a:ext cx="3048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C median 94.1%</a:t>
            </a:r>
            <a:endParaRPr lang="en-US" sz="1275" dirty="0"/>
          </a:p>
        </p:txBody>
      </p:sp>
      <p:sp>
        <p:nvSpPr>
          <p:cNvPr id="8" name="Text 5"/>
          <p:cNvSpPr txBox="1"/>
          <p:nvPr/>
        </p:nvSpPr>
        <p:spPr>
          <a:xfrm>
            <a:off x="8477402" y="2560320"/>
            <a:ext cx="3321101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wafer 간 편차 대비 split 간 차이 미미</a:t>
            </a:r>
            <a:endParaRPr lang="en-US" sz="12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2026-10-04T13:17:44Z</dcterms:created>
  <dcterms:modified xsi:type="dcterms:W3CDTF">2026-10-04T13:17:44Z</dcterms:modified>
</cp:coreProperties>
</file>