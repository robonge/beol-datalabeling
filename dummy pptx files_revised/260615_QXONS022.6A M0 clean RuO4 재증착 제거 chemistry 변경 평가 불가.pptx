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345903f5781fc85ecf16543ef48622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829507"/>
            <a:ext cx="3905402" cy="1028700"/>
          </a:xfrm>
          <a:prstGeom prst="rect">
            <a:avLst/>
          </a:prstGeom>
        </p:spPr>
      </p:pic>
      <p:pic>
        <p:nvPicPr>
          <p:cNvPr id="3" name="Image 1" descr="gen-dedup-8b9c9a73980dc7d4fcc4515551915b28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098" y="3829507"/>
            <a:ext cx="771754" cy="10287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SF2 KVFG QXONS022.6A ET results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1067105"/>
            <a:ext cx="1527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125" dirty="0"/>
          </a:p>
        </p:txBody>
      </p:sp>
      <p:sp>
        <p:nvSpPr>
          <p:cNvPr id="6" name="Text 2"/>
          <p:cNvSpPr txBox="1"/>
          <p:nvPr/>
        </p:nvSpPr>
        <p:spPr>
          <a:xfrm>
            <a:off x="924458" y="1067105"/>
            <a:ext cx="435345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M0 clean RuO4 재증착 제거 chemistry 변경 평가</a:t>
            </a:r>
            <a:endParaRPr lang="en-US" sz="1125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1281074"/>
            <a:ext cx="1527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125" dirty="0"/>
          </a:p>
        </p:txBody>
      </p:sp>
      <p:sp>
        <p:nvSpPr>
          <p:cNvPr id="8" name="Text 4"/>
          <p:cNvSpPr txBox="1"/>
          <p:nvPr/>
        </p:nvSpPr>
        <p:spPr>
          <a:xfrm>
            <a:off x="924458" y="1281074"/>
            <a:ext cx="7690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125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1495044"/>
            <a:ext cx="108210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Split A(O2-free clean) 진행 시 ATOI CD 0.1 nm 하향</a:t>
            </a:r>
            <a:endParaRPr lang="en-US" sz="1125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1709928"/>
            <a:ext cx="108210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B(AddWet) ATOI CD Δ-0.10 nm</a:t>
            </a:r>
            <a:endParaRPr lang="en-US" sz="1125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1923898"/>
            <a:ext cx="108210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C(NewChem) ATOI CD Δ-0.07 nm</a:t>
            </a:r>
            <a:endParaRPr lang="en-US" sz="1125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2138782"/>
            <a:ext cx="108210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 Rs median POR 대비 +5.3% 상승</a:t>
            </a:r>
            <a:endParaRPr lang="en-US" sz="1125" dirty="0"/>
          </a:p>
        </p:txBody>
      </p:sp>
      <p:sp>
        <p:nvSpPr>
          <p:cNvPr id="13" name="Text 9"/>
          <p:cNvSpPr txBox="1"/>
          <p:nvPr/>
        </p:nvSpPr>
        <p:spPr>
          <a:xfrm>
            <a:off x="685800" y="2352751"/>
            <a:ext cx="108210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VCHN/CMA/HOL POR 대비 동등수준 / CMBSRP 3.1%p 열화, MinA 3.9%p 열화</a:t>
            </a:r>
            <a:endParaRPr lang="en-US" sz="1125" dirty="0"/>
          </a:p>
        </p:txBody>
      </p:sp>
      <p:sp>
        <p:nvSpPr>
          <p:cNvPr id="14" name="Text 10"/>
          <p:cNvSpPr txBox="1"/>
          <p:nvPr/>
        </p:nvSpPr>
        <p:spPr>
          <a:xfrm>
            <a:off x="685800" y="2566721"/>
            <a:ext cx="108210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 line top 산화 손실 및 airgap pinch-off 영향 추정</a:t>
            </a:r>
            <a:endParaRPr lang="en-US" sz="1125" dirty="0"/>
          </a:p>
        </p:txBody>
      </p:sp>
      <p:sp>
        <p:nvSpPr>
          <p:cNvPr id="15" name="Text 11"/>
          <p:cNvSpPr txBox="1"/>
          <p:nvPr/>
        </p:nvSpPr>
        <p:spPr>
          <a:xfrm>
            <a:off x="685800" y="2781605"/>
            <a:ext cx="108210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chamber wall 재증착 particle adder 증가</a:t>
            </a:r>
            <a:endParaRPr lang="en-US" sz="1125" dirty="0"/>
          </a:p>
        </p:txBody>
      </p:sp>
      <p:sp>
        <p:nvSpPr>
          <p:cNvPr id="16" name="Text 12"/>
          <p:cNvSpPr txBox="1"/>
          <p:nvPr/>
        </p:nvSpPr>
        <p:spPr>
          <a:xfrm>
            <a:off x="685800" y="2995574"/>
            <a:ext cx="108210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C(NewChem) 는 VCHN POR 대비 동등수준 / CMA/HOL 소폭 열화 / CMBSRP 2.3%p 열화, MinA 2.5%p 열화</a:t>
            </a:r>
            <a:endParaRPr lang="en-US" sz="1125" dirty="0"/>
          </a:p>
        </p:txBody>
      </p:sp>
      <p:sp>
        <p:nvSpPr>
          <p:cNvPr id="17" name="Text 13"/>
          <p:cNvSpPr txBox="1"/>
          <p:nvPr/>
        </p:nvSpPr>
        <p:spPr>
          <a:xfrm>
            <a:off x="685800" y="3209544"/>
            <a:ext cx="108210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 조건 호환 불가 — clean 시간 단축 split 재평가 예정 (M0 DC 기준)</a:t>
            </a:r>
            <a:endParaRPr lang="en-US" sz="1125" dirty="0"/>
          </a:p>
        </p:txBody>
      </p:sp>
      <p:sp>
        <p:nvSpPr>
          <p:cNvPr id="18" name="Text 14"/>
          <p:cNvSpPr txBox="1"/>
          <p:nvPr/>
        </p:nvSpPr>
        <p:spPr>
          <a:xfrm>
            <a:off x="685800" y="4895698"/>
            <a:ext cx="47631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 fill TEM / Ru line TEM (AR≈6)</a:t>
            </a:r>
            <a:endParaRPr lang="en-US" sz="825" dirty="0"/>
          </a:p>
        </p:txBody>
      </p:sp>
      <p:sp>
        <p:nvSpPr>
          <p:cNvPr id="19" name="Text 15"/>
          <p:cNvSpPr txBox="1"/>
          <p:nvPr/>
        </p:nvSpPr>
        <p:spPr>
          <a:xfrm>
            <a:off x="5810098" y="3776472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20" name="Text 16"/>
          <p:cNvSpPr txBox="1"/>
          <p:nvPr/>
        </p:nvSpPr>
        <p:spPr>
          <a:xfrm>
            <a:off x="6057900" y="3733495"/>
            <a:ext cx="118506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M0 ATOI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10098" y="4095598"/>
          <a:ext cx="5696712" cy="2190902"/>
        </p:xfrm>
        <a:graphic>
          <a:graphicData uri="http://schemas.openxmlformats.org/drawingml/2006/table">
            <a:tbl>
              <a:tblPr/>
              <a:tblGrid>
                <a:gridCol w="1138428"/>
                <a:gridCol w="1154887"/>
                <a:gridCol w="899770"/>
                <a:gridCol w="1238098"/>
                <a:gridCol w="1264615"/>
              </a:tblGrid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W02(POR)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9.07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0.42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1.25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8.94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1.78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-0.16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8.97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1.78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-0.13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9.00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1.59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-0.10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8.99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1.78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-0.11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M0 Via Rc cumulative distribution</a:t>
            </a:r>
            <a:endParaRPr lang="en-US" sz="2325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429207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30.96</a:t>
            </a:r>
            <a:endParaRPr lang="en-US" sz="1275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87982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median 30.81 (-0.5%, 동등)</a:t>
            </a:r>
            <a:endParaRPr lang="en-US" sz="1275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46758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median 31.12 (+0.5%, 동등)</a:t>
            </a:r>
            <a:endParaRPr lang="en-US" sz="1275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06447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median 30.72 (-0.8%, 동등)</a:t>
            </a:r>
            <a:endParaRPr lang="en-US" sz="1275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65222"/>
            <a:ext cx="4277563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 upper tail 다수 → via open 성 영향 추정</a:t>
            </a:r>
            <a:endParaRPr lang="en-US" sz="1275" dirty="0"/>
          </a:p>
        </p:txBody>
      </p:sp>
      <p:pic>
        <p:nvPicPr>
          <p:cNvPr id="8" name="Image 0" descr="gen-dedup-f69b13f0cc0d72c6283e15c8fec55b90.png">    </p:cNvPr>
          <p:cNvPicPr>
            <a:picLocks noChangeAspect="1"/>
          </p:cNvPicPr>
          <p:nvPr/>
        </p:nvPicPr>
        <p:blipFill>
          <a:blip r:embed="rId1"/>
          <a:srcRect l="0" r="0" t="-3" b="-3"/>
          <a:stretch/>
        </p:blipFill>
        <p:spPr>
          <a:xfrm>
            <a:off x="4647895" y="1123798"/>
            <a:ext cx="6858000" cy="49533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MinA die yield distribution by wafer</a:t>
            </a:r>
            <a:endParaRPr lang="en-US" sz="2325" dirty="0"/>
          </a:p>
        </p:txBody>
      </p:sp>
      <p:pic>
        <p:nvPicPr>
          <p:cNvPr id="3" name="Image 0" descr="gen-dedup-c36598229d8694eef576cc84e925af64.png">    </p:cNvPr>
          <p:cNvPicPr>
            <a:picLocks noChangeAspect="1"/>
          </p:cNvPicPr>
          <p:nvPr/>
        </p:nvPicPr>
        <p:blipFill>
          <a:blip r:embed="rId1"/>
          <a:srcRect l="-3" r="-3" t="0" b="0"/>
          <a:stretch/>
        </p:blipFill>
        <p:spPr>
          <a:xfrm>
            <a:off x="685800" y="1181405"/>
            <a:ext cx="7429500" cy="47621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477402" y="152430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98.2%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477402" y="1783080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 median 94.2%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477402" y="204185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 median 96.2%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477402" y="230154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C median 95.7%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8477402" y="2560320"/>
            <a:ext cx="3321101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wafer 간 편차 대비 split 간 차이 유의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2026-10-04T13:24:23Z</dcterms:created>
  <dcterms:modified xsi:type="dcterms:W3CDTF">2026-10-04T13:24:23Z</dcterms:modified>
</cp:coreProperties>
</file>