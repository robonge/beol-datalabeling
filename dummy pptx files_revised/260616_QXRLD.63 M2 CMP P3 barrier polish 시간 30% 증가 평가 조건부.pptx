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3ba68f37a1dbf42aace30b53f7c3c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2361895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KVIP QXRLD.63 ET results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5905195" y="1067105"/>
            <a:ext cx="133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5" name="Text 2"/>
          <p:cNvSpPr txBox="1"/>
          <p:nvPr/>
        </p:nvSpPr>
        <p:spPr>
          <a:xfrm>
            <a:off x="6124651" y="1067105"/>
            <a:ext cx="367497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CMP P3 barrier polish 시간 30% 증가 평가</a:t>
            </a:r>
            <a:endParaRPr lang="en-US" sz="975" dirty="0"/>
          </a:p>
        </p:txBody>
      </p:sp>
      <p:sp>
        <p:nvSpPr>
          <p:cNvPr id="6" name="Text 3"/>
          <p:cNvSpPr txBox="1"/>
          <p:nvPr/>
        </p:nvSpPr>
        <p:spPr>
          <a:xfrm>
            <a:off x="5905195" y="1242670"/>
            <a:ext cx="133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7" name="Text 4"/>
          <p:cNvSpPr txBox="1"/>
          <p:nvPr/>
        </p:nvSpPr>
        <p:spPr>
          <a:xfrm>
            <a:off x="6124651" y="1242670"/>
            <a:ext cx="667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8" name="Text 5"/>
          <p:cNvSpPr txBox="1"/>
          <p:nvPr/>
        </p:nvSpPr>
        <p:spPr>
          <a:xfrm>
            <a:off x="5905195" y="1418234"/>
            <a:ext cx="56007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P3 time 130% 진행 시 ACI CD 0.1 nm 증가</a:t>
            </a:r>
            <a:endParaRPr lang="en-US" sz="975" dirty="0"/>
          </a:p>
        </p:txBody>
      </p:sp>
      <p:sp>
        <p:nvSpPr>
          <p:cNvPr id="9" name="Text 6"/>
          <p:cNvSpPr txBox="1"/>
          <p:nvPr/>
        </p:nvSpPr>
        <p:spPr>
          <a:xfrm>
            <a:off x="5905195" y="1593799"/>
            <a:ext cx="56007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+6.5% 상승</a:t>
            </a:r>
            <a:endParaRPr lang="en-US" sz="975" dirty="0"/>
          </a:p>
        </p:txBody>
      </p:sp>
      <p:sp>
        <p:nvSpPr>
          <p:cNvPr id="10" name="Text 7"/>
          <p:cNvSpPr txBox="1"/>
          <p:nvPr/>
        </p:nvSpPr>
        <p:spPr>
          <a:xfrm>
            <a:off x="5905195" y="1770278"/>
            <a:ext cx="56007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CMBSRP/HOL POR 대비 동등수준 / VCHN 소폭 저하 / MinA 7.2%p 열화, VMA 3.7%p 열화, CMA 6.1%p 열화</a:t>
            </a:r>
            <a:endParaRPr lang="en-US" sz="975" dirty="0"/>
          </a:p>
        </p:txBody>
      </p:sp>
      <p:sp>
        <p:nvSpPr>
          <p:cNvPr id="11" name="Text 8"/>
          <p:cNvSpPr txBox="1"/>
          <p:nvPr/>
        </p:nvSpPr>
        <p:spPr>
          <a:xfrm>
            <a:off x="5905195" y="2121408"/>
            <a:ext cx="56007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Preston 식(MRR=kp·P·v) 에 따라 국부 RR 증가, dense 영역 erosion 및 metal height 손실</a:t>
            </a:r>
            <a:endParaRPr lang="en-US" sz="975" dirty="0"/>
          </a:p>
        </p:txBody>
      </p:sp>
      <p:sp>
        <p:nvSpPr>
          <p:cNvPr id="12" name="Text 9"/>
          <p:cNvSpPr txBox="1"/>
          <p:nvPr/>
        </p:nvSpPr>
        <p:spPr>
          <a:xfrm>
            <a:off x="5905195" y="2472538"/>
            <a:ext cx="56007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defect count 418 ea/WF (KLA review)</a:t>
            </a:r>
            <a:endParaRPr lang="en-US" sz="975" dirty="0"/>
          </a:p>
        </p:txBody>
      </p:sp>
      <p:sp>
        <p:nvSpPr>
          <p:cNvPr id="13" name="Text 10"/>
          <p:cNvSpPr txBox="1"/>
          <p:nvPr/>
        </p:nvSpPr>
        <p:spPr>
          <a:xfrm>
            <a:off x="5905195" y="2649017"/>
            <a:ext cx="56007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WIWNU 3.3% (POR 1.3%)</a:t>
            </a:r>
            <a:endParaRPr lang="en-US" sz="975" dirty="0"/>
          </a:p>
        </p:txBody>
      </p:sp>
      <p:sp>
        <p:nvSpPr>
          <p:cNvPr id="14" name="Text 11"/>
          <p:cNvSpPr txBox="1"/>
          <p:nvPr/>
        </p:nvSpPr>
        <p:spPr>
          <a:xfrm>
            <a:off x="5905195" y="2824582"/>
            <a:ext cx="56007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DC 기준 2 lot 결과, 3rd lot 진행 중</a:t>
            </a:r>
            <a:endParaRPr lang="en-US" sz="975" dirty="0"/>
          </a:p>
        </p:txBody>
      </p:sp>
      <p:sp>
        <p:nvSpPr>
          <p:cNvPr id="15" name="Text 12"/>
          <p:cNvSpPr txBox="1"/>
          <p:nvPr/>
        </p:nvSpPr>
        <p:spPr>
          <a:xfrm>
            <a:off x="5905195" y="3000146"/>
            <a:ext cx="56007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targeting 하고 VCHN 동등 수준 3타점 확인 뒤 호환 가능 판단됨 (M2 DC 기준)</a:t>
            </a:r>
            <a:endParaRPr lang="en-US" sz="975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105302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CMP tilt SEM</a:t>
            </a:r>
            <a:endParaRPr lang="en-US" sz="825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33602" y="3619195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677363"/>
        </p:xfrm>
        <a:graphic>
          <a:graphicData uri="http://schemas.openxmlformats.org/drawingml/2006/table">
            <a:tbl>
              <a:tblPr/>
              <a:tblGrid>
                <a:gridCol w="2176272"/>
                <a:gridCol w="2189988"/>
                <a:gridCol w="1715414"/>
                <a:gridCol w="2345436"/>
                <a:gridCol w="2392985"/>
              </a:tblGrid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19.76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19.91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19.97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CMP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343254"/>
        </p:xfrm>
        <a:graphic>
          <a:graphicData uri="http://schemas.openxmlformats.org/drawingml/2006/table">
            <a:tbl>
              <a:tblPr/>
              <a:tblGrid>
                <a:gridCol w="1015898"/>
                <a:gridCol w="4752137"/>
                <a:gridCol w="3308299"/>
                <a:gridCol w="1743761"/>
              </a:tblGrid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 1.0 psi / POR time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W14, W18, W19, W20, 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 time 130%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293339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293339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32658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8536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84413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cumulative distribution</a:t>
            </a:r>
            <a:endParaRPr lang="en-US" sz="2325" dirty="0"/>
          </a:p>
        </p:txBody>
      </p:sp>
      <p:pic>
        <p:nvPicPr>
          <p:cNvPr id="3" name="Image 0" descr="gen-dedup-38e14d61f3abf1bd9ecb01241cdfb845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c04c0e694adf47770016f29f4ec3d812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narrow median: POR 53.8 → A 57.3 (+6.5%)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line 은 narrow 대비 변화폭 큼 (+8.0% 수준)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Via Rc cumulative distribution</a:t>
            </a:r>
            <a:endParaRPr lang="en-US" sz="2325" dirty="0"/>
          </a:p>
        </p:txBody>
      </p:sp>
      <p:pic>
        <p:nvPicPr>
          <p:cNvPr id="3" name="Image 0" descr="gen-dedup-a763051410952fb22094c343cbf1d2be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8.93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9.02 (+1.0%, 동등)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2026-10-04T17:37:11Z</dcterms:created>
  <dcterms:modified xsi:type="dcterms:W3CDTF">2026-10-04T17:37:11Z</dcterms:modified>
</cp:coreProperties>
</file>