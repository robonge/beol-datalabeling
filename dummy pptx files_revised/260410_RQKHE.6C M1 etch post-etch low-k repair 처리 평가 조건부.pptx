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5407fae4870bba8a6131074a9fab615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67105"/>
            <a:ext cx="1657807" cy="2000707"/>
          </a:xfrm>
          <a:prstGeom prst="rect">
            <a:avLst/>
          </a:prstGeom>
        </p:spPr>
      </p:pic>
      <p:pic>
        <p:nvPicPr>
          <p:cNvPr id="3" name="Image 1" descr="gen-dedup-be5d7c3aea6e36bf0beb2f3391b232f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502" y="1067105"/>
            <a:ext cx="2238451" cy="200070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KVKA RQKHE.6C ET results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5905195" y="1067105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163056" y="1067105"/>
            <a:ext cx="440832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M1 etch post-etch low-k repair 처리 평가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5905195" y="1309421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6163056" y="1309421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5905195" y="1552651"/>
            <a:ext cx="56007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A(low-k repair 추가) 진행 시 AMI CD 동등 수준 (Δ+0.07 nm)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5905195" y="2038198"/>
            <a:ext cx="56007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B(IE70+Rep) AMI CD Δ+0.03 nm</a:t>
            </a:r>
            <a:endParaRPr lang="en-US" sz="1275" dirty="0"/>
          </a:p>
        </p:txBody>
      </p:sp>
      <p:sp>
        <p:nvSpPr>
          <p:cNvPr id="11" name="Text 7"/>
          <p:cNvSpPr txBox="1"/>
          <p:nvPr/>
        </p:nvSpPr>
        <p:spPr>
          <a:xfrm>
            <a:off x="5905195" y="2281428"/>
            <a:ext cx="56007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C(IE70) AMI CD Δ+0.01 nm</a:t>
            </a:r>
            <a:endParaRPr lang="en-US" sz="1275" dirty="0"/>
          </a:p>
        </p:txBody>
      </p:sp>
      <p:sp>
        <p:nvSpPr>
          <p:cNvPr id="12" name="Text 8"/>
          <p:cNvSpPr txBox="1"/>
          <p:nvPr/>
        </p:nvSpPr>
        <p:spPr>
          <a:xfrm>
            <a:off x="5905195" y="2523744"/>
            <a:ext cx="56007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CMBSRP/VCHN/MinA POR 대비 동등수준</a:t>
            </a:r>
            <a:endParaRPr lang="en-US" sz="1275" dirty="0"/>
          </a:p>
        </p:txBody>
      </p:sp>
      <p:sp>
        <p:nvSpPr>
          <p:cNvPr id="13" name="Text 9"/>
          <p:cNvSpPr txBox="1"/>
          <p:nvPr/>
        </p:nvSpPr>
        <p:spPr>
          <a:xfrm>
            <a:off x="5905195" y="2766974"/>
            <a:ext cx="56007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 조건 CD targeting 하고 VCHN 동등 수준 3타점 확인 뒤 호환 가능 판단됨 (M1 DC 기준)</a:t>
            </a:r>
            <a:endParaRPr lang="en-US" sz="1275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3105302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BEOL metal stack X-SEM (TechInsights) / Barrier/Cu 계면 HR-TEM</a:t>
            </a:r>
            <a:endParaRPr lang="en-US" sz="825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3662172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933602" y="3619195"/>
            <a:ext cx="10671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AMI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981298"/>
          <a:ext cx="10821010" cy="2638958"/>
        </p:xfrm>
        <a:graphic>
          <a:graphicData uri="http://schemas.openxmlformats.org/drawingml/2006/table">
            <a:tbl>
              <a:tblPr/>
              <a:tblGrid>
                <a:gridCol w="2210105"/>
                <a:gridCol w="2179930"/>
                <a:gridCol w="1730959"/>
                <a:gridCol w="2326234"/>
                <a:gridCol w="2371954"/>
              </a:tblGrid>
              <a:tr h="2399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9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W25(POR)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18.75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2.72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399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18.85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3.79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399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18.74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3.67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399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18.87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3.46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399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18.82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3.46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399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18.78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3.55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+0.08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399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18.74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3.92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399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18.73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3.30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2399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18.80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2399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18.79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3.92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+0.09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Line Rs cumulative distribution</a:t>
            </a:r>
            <a:endParaRPr lang="en-US" sz="2325" dirty="0"/>
          </a:p>
        </p:txBody>
      </p:sp>
      <p:pic>
        <p:nvPicPr>
          <p:cNvPr id="3" name="Image 0" descr="gen-dedup-40fc5e011f0cdae5f50ee1f3eb7c6010.png">    </p:cNvPr>
          <p:cNvPicPr>
            <a:picLocks noChangeAspect="1"/>
          </p:cNvPicPr>
          <p:nvPr/>
        </p:nvPicPr>
        <p:blipFill>
          <a:blip r:embed="rId1"/>
          <a:srcRect l="-1" r="-1" t="0" b="0"/>
          <a:stretch/>
        </p:blipFill>
        <p:spPr>
          <a:xfrm>
            <a:off x="685800" y="1123798"/>
            <a:ext cx="5333695" cy="4190695"/>
          </a:xfrm>
          <a:prstGeom prst="rect">
            <a:avLst/>
          </a:prstGeom>
        </p:spPr>
      </p:pic>
      <p:pic>
        <p:nvPicPr>
          <p:cNvPr id="4" name="Image 1" descr="gen-dedup-6895e5b9a99583bf93c64ec132e0604d.png">    </p:cNvPr>
          <p:cNvPicPr>
            <a:picLocks noChangeAspect="1"/>
          </p:cNvPicPr>
          <p:nvPr/>
        </p:nvPicPr>
        <p:blipFill>
          <a:blip r:embed="rId2"/>
          <a:srcRect l="-1" r="-1" t="0" b="0"/>
          <a:stretch/>
        </p:blipFill>
        <p:spPr>
          <a:xfrm>
            <a:off x="6210605" y="1123798"/>
            <a:ext cx="5333695" cy="419069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552480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narrow median: POR 56.7 → A 57.3 (+1.2%)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783580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wide line 은 narrow 대비 변화폭 작음 (+0.7% 수준)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Via Rc cumulative distribution</a:t>
            </a:r>
            <a:endParaRPr lang="en-US" sz="2325" dirty="0"/>
          </a:p>
        </p:txBody>
      </p:sp>
      <p:pic>
        <p:nvPicPr>
          <p:cNvPr id="3" name="Image 0" descr="gen-dedup-be1de06bac72a13f0d80e84bf7589e19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685800" y="1123798"/>
            <a:ext cx="7239305" cy="49533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91195" y="1429207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9.59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191195" y="1687982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median 9.58 (-0.2%, 동등)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191195" y="1946758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median 9.57 (-0.2%, 동등)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191195" y="2206447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median 9.59 (-0.1%, 동등)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yield — group average</a:t>
            </a:r>
            <a:endParaRPr lang="en-US" sz="2325" dirty="0"/>
          </a:p>
        </p:txBody>
      </p:sp>
      <p:pic>
        <p:nvPicPr>
          <p:cNvPr id="3" name="Image 0" descr="gen-dedup-b8595374d7f969e10cf121cdbe321743.png">    </p:cNvPr>
          <p:cNvPicPr>
            <a:picLocks noChangeAspect="1"/>
          </p:cNvPicPr>
          <p:nvPr/>
        </p:nvPicPr>
        <p:blipFill>
          <a:blip r:embed="rId1"/>
          <a:srcRect l="-2" r="-2" t="0" b="0"/>
          <a:stretch/>
        </p:blipFill>
        <p:spPr>
          <a:xfrm>
            <a:off x="685800" y="1181405"/>
            <a:ext cx="7810805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762695" y="1524305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9068105" y="1524305"/>
            <a:ext cx="9628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8762695" y="1916582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A: 전 item POR 동등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762695" y="2175358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B: MinA/HOL 소폭 열화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762695" y="2435047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C: HOL 열화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8762695" y="2693822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조건부 호환, 추가 확인 필요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2026-10-04T14:59:08Z</dcterms:created>
  <dcterms:modified xsi:type="dcterms:W3CDTF">2026-10-04T14:59:08Z</dcterms:modified>
</cp:coreProperties>
</file>