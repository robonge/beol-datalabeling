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fd4229567a6020de77c6fdd85764e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48456"/>
            <a:ext cx="2333549" cy="2085746"/>
          </a:xfrm>
          <a:prstGeom prst="rect">
            <a:avLst/>
          </a:prstGeom>
        </p:spPr>
      </p:pic>
      <p:pic>
        <p:nvPicPr>
          <p:cNvPr id="3" name="Image 1" descr="gen-dedup-be5d7c3aea6e36bf0beb2f3391b232f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244" y="3648456"/>
            <a:ext cx="2343607" cy="208574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RQOJW092.69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67105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067105"/>
            <a:ext cx="452445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V2 RSBM PEM inhibitor 기상 처리 적용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09421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09421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552651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A(PEM + ZnO 6 nm) 진행 시 ACI CD 0.1 nm 상향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795882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B(PEM-ZnO) ACI CD Δ+0.12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3819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-4.0% 감소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281428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-5.8% 감소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52374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VMA/CMA POR 대비 동등수준 / MinA 소폭 열화 / CMBSRP 2.5%p 열화, VCHN 3.6%p 열화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2766974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측벽 barrier pinhole 로 Cu 확산, VCHN leakage 열화 추정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010205"/>
            <a:ext cx="108210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PEM dose 1.5x 중간 split 재평가 예정 (V2 DC 기준)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5772607"/>
            <a:ext cx="4763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mapping (Cu/Si/O/Ta) / Barrier/Cu 계면 HR-TEM</a:t>
            </a:r>
            <a:endParaRPr lang="en-US" sz="825" dirty="0"/>
          </a:p>
        </p:txBody>
      </p:sp>
      <p:sp>
        <p:nvSpPr>
          <p:cNvPr id="17" name="Text 13"/>
          <p:cNvSpPr txBox="1"/>
          <p:nvPr/>
        </p:nvSpPr>
        <p:spPr>
          <a:xfrm>
            <a:off x="5810098" y="3595421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057900" y="3552444"/>
            <a:ext cx="10323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ACI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10098" y="3914546"/>
          <a:ext cx="5696712" cy="2190902"/>
        </p:xfrm>
        <a:graphic>
          <a:graphicData uri="http://schemas.openxmlformats.org/drawingml/2006/table">
            <a:tbl>
              <a:tblPr/>
              <a:tblGrid>
                <a:gridCol w="1138428"/>
                <a:gridCol w="1154887"/>
                <a:gridCol w="899770"/>
                <a:gridCol w="1238098"/>
                <a:gridCol w="1264615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19.96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19.96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RSBM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156716"/>
                <a:gridCol w="1960474"/>
                <a:gridCol w="5716829"/>
                <a:gridCol w="1986077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PVD TaN 2.0 nm (via bottom 포함)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W02, 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PEM + ZnO 6 nm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PEM + ALD ZnO 9 nm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7645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0233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ACI CD wafer map</a:t>
            </a:r>
            <a:endParaRPr lang="en-US" sz="2325" dirty="0"/>
          </a:p>
        </p:txBody>
      </p:sp>
      <p:pic>
        <p:nvPicPr>
          <p:cNvPr id="3" name="Image 0" descr="gen-dedup-c1aa2b2af9c6307d0f02637c8b02cef7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527bef21cde21fb794275ad14693d3ea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0e451dfde3b417d3b4f0b41fe90abc48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ACI CD POR 대비 Δ+0.10 nm, edge 영역 편차 확대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ACI CD POR 대비 Δ+0.12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V2 Via Rc cumulative distribution</a:t>
            </a:r>
            <a:endParaRPr lang="en-US" sz="2325" dirty="0"/>
          </a:p>
        </p:txBody>
      </p:sp>
      <p:pic>
        <p:nvPicPr>
          <p:cNvPr id="3" name="Image 0" descr="gen-dedup-52714b20b3794b4ee3a6f6f66eed7065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685800" y="1123798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91195" y="1429207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9.69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191195" y="1687982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9.13 (-5.8%)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191195" y="1946758"/>
            <a:ext cx="333390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9.08 (-6.3%)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191195" y="2206447"/>
            <a:ext cx="33339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5.8% 감소 → bottomless barrier direct contact 효과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&amp; group 평균 yield</a:t>
            </a:r>
            <a:endParaRPr lang="en-US" sz="232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1743761"/>
        </p:xfrm>
        <a:graphic>
          <a:graphicData uri="http://schemas.openxmlformats.org/drawingml/2006/table">
            <a:tbl>
              <a:tblPr/>
              <a:tblGrid>
                <a:gridCol w="1494130"/>
                <a:gridCol w="1293876"/>
                <a:gridCol w="968350"/>
                <a:gridCol w="891540"/>
                <a:gridCol w="814730"/>
                <a:gridCol w="823874"/>
              </a:tblGrid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W12(POR)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92.1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001ba79a168d3cf33666fc97a6239fe7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VMA/CMA POR 대비 동등수준 / MinA 소폭 열화 / CMBSRP 2.5%p 열화, VCHN 3.6%p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MinA/VMA POR 대비 동등수준 / CMA 소폭 열화 / CMBSRP 3.1%p 열화, VCHN 4.3%p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VCHN: POR 96.4% → B 92.1%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2026-10-04T14:34:18Z</dcterms:created>
  <dcterms:modified xsi:type="dcterms:W3CDTF">2026-10-04T14:34:18Z</dcterms:modified>
</cp:coreProperties>
</file>