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5903f5781fc85ecf16543ef48622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3981298" cy="1047902"/>
          </a:xfrm>
          <a:prstGeom prst="rect">
            <a:avLst/>
          </a:prstGeom>
        </p:spPr>
      </p:pic>
      <p:pic>
        <p:nvPicPr>
          <p:cNvPr id="3" name="Image 1" descr="gen-dedup-35298d51a60f049e42e7d74ad8c613d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705" y="1067105"/>
            <a:ext cx="1057046" cy="104790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KVIP QDHOO093.6B ET results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46012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BM TiN adhesion layer 0.5 nm 적용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A(Ru seed 1 nm) 진행 시 ACI CD 동등 수준 (Δ+0.05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B(BL-Ru) ACI CD Δ+0.04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3381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-11.4% 감소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58135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-11.8% 감소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824582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CMBSRP/VMA/CMA POR 대비 동등수준 / MinA 소폭 열화 / HOL 1.7%p 열화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31012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bottom 계면 adhesion 불량 및 void 추정, Ru 확산은 미관찰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55244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die FIB/TEM 2 site 계면 void 확인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379567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B(BL-Ru) 는 CMBSRP POR 대비 동등수준 / MinA/VMA/CMA 소폭 열화 / HOL 1.7%p 열화</a:t>
            </a:r>
            <a:endParaRPr lang="en-US" sz="1275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42812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동등, 양산 적용 진행 (V1 DC 기준)</a:t>
            </a:r>
            <a:endParaRPr lang="en-US" sz="1275" dirty="0"/>
          </a:p>
        </p:txBody>
      </p:sp>
      <p:sp>
        <p:nvSpPr>
          <p:cNvPr id="18" name="Text 14"/>
          <p:cNvSpPr txBox="1"/>
          <p:nvPr/>
        </p:nvSpPr>
        <p:spPr>
          <a:xfrm>
            <a:off x="6381598" y="2152498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fill TEM / Ru/dielectric 계면 TEM-EDS</a:t>
            </a:r>
            <a:endParaRPr lang="en-US" sz="825" dirty="0"/>
          </a:p>
        </p:txBody>
      </p:sp>
      <p:sp>
        <p:nvSpPr>
          <p:cNvPr id="19" name="Text 15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6629400" y="3429000"/>
            <a:ext cx="10323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553005"/>
        </p:xfrm>
        <a:graphic>
          <a:graphicData uri="http://schemas.openxmlformats.org/drawingml/2006/table">
            <a:tbl>
              <a:tblPr/>
              <a:tblGrid>
                <a:gridCol w="1024128"/>
                <a:gridCol w="1038758"/>
                <a:gridCol w="809244"/>
                <a:gridCol w="1114654"/>
                <a:gridCol w="1137514"/>
              </a:tblGrid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17.28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17.35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17.31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17.33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17.32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17.32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&amp; group 평균 yield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143354"/>
        </p:xfrm>
        <a:graphic>
          <a:graphicData uri="http://schemas.openxmlformats.org/drawingml/2006/table">
            <a:tbl>
              <a:tblPr/>
              <a:tblGrid>
                <a:gridCol w="1531397"/>
                <a:gridCol w="1326601"/>
                <a:gridCol w="914267"/>
                <a:gridCol w="835640"/>
                <a:gridCol w="844783"/>
                <a:gridCol w="833812"/>
              </a:tblGrid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93.7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94.0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5a730d332e53b017bd4a6a98b32dcc5a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CMBSRP/VMA/CMA POR 대비 동등수준 / MinA 소폭 열화 / HOL 1.7%p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CMBSRP POR 대비 동등수준 / MinA/VMA/CMA 소폭 열화 / HOL 1.7%p 열화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2806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HOL: POR 98.2% → A 96.5%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2026-10-04T13:26:07Z</dcterms:created>
  <dcterms:modified xsi:type="dcterms:W3CDTF">2026-10-04T13:26:07Z</dcterms:modified>
</cp:coreProperties>
</file>