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c22cef73455612e7a606749d74a577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952598"/>
            <a:ext cx="1047902" cy="1037844"/>
          </a:xfrm>
          <a:prstGeom prst="rect">
            <a:avLst/>
          </a:prstGeom>
        </p:spPr>
      </p:pic>
      <p:pic>
        <p:nvPicPr>
          <p:cNvPr id="3" name="Image 1" descr="gen-dedup-10e3caea2a544f96bb98e38ea31441d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98" y="2952598"/>
            <a:ext cx="3629254" cy="10378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KVKA RQSNI041.69 ET results</a:t>
            </a:r>
            <a:endParaRPr lang="en-US" sz="225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067105"/>
            <a:ext cx="4734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BM Ru two-step ALD (H2 → O2) 적용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552651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A(wet etch + O2 ALD) 진행 시 AMI CD 동등 수준 (Δ+0.07 nm)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795882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CMBSRP/VCHN/HOL POR 대비 동등수준 / VMA 2.6%p 열화, CMA 3.7%p 열화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03819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조건 3 lot 재현성 확인 뒤 호환 가능 판단됨 (M1 DC 기준)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4028846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Ru/dielectric 계면 TEM-EDS / ALD Ru / 하부 metal 계면 TEM</a:t>
            </a:r>
            <a:endParaRPr lang="en-US" sz="825" dirty="0"/>
          </a:p>
        </p:txBody>
      </p:sp>
      <p:sp>
        <p:nvSpPr>
          <p:cNvPr id="13" name="Text 9"/>
          <p:cNvSpPr txBox="1"/>
          <p:nvPr/>
        </p:nvSpPr>
        <p:spPr>
          <a:xfrm>
            <a:off x="5810098" y="29004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6057900" y="2857500"/>
            <a:ext cx="10671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AMI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098" y="3219602"/>
          <a:ext cx="5696712" cy="2915107"/>
        </p:xfrm>
        <a:graphic>
          <a:graphicData uri="http://schemas.openxmlformats.org/drawingml/2006/table">
            <a:tbl>
              <a:tblPr/>
              <a:tblGrid>
                <a:gridCol w="1138428"/>
                <a:gridCol w="1154887"/>
                <a:gridCol w="899770"/>
                <a:gridCol w="1238098"/>
                <a:gridCol w="1264615"/>
              </a:tblGrid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16.63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16.65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16.73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16.69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16.71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16.65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16.68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AMI CD wafer map</a:t>
            </a:r>
            <a:endParaRPr lang="en-US" sz="2325" dirty="0"/>
          </a:p>
        </p:txBody>
      </p:sp>
      <p:pic>
        <p:nvPicPr>
          <p:cNvPr id="3" name="Image 0" descr="gen-dedup-fae1574519641609856095d3471e7c3b.png">    </p:cNvPr>
          <p:cNvPicPr>
            <a:picLocks noChangeAspect="1"/>
          </p:cNvPicPr>
          <p:nvPr/>
        </p:nvPicPr>
        <p:blipFill>
          <a:blip r:embed="rId1"/>
          <a:srcRect l="0" r="0" t="-7" b="-7"/>
          <a:stretch/>
        </p:blipFill>
        <p:spPr>
          <a:xfrm>
            <a:off x="685800" y="1181405"/>
            <a:ext cx="3504895" cy="4200754"/>
          </a:xfrm>
          <a:prstGeom prst="rect">
            <a:avLst/>
          </a:prstGeom>
        </p:spPr>
      </p:pic>
      <p:pic>
        <p:nvPicPr>
          <p:cNvPr id="4" name="Image 1" descr="gen-dedup-694196cb7043229e494a3475ecee57dc.png">    </p:cNvPr>
          <p:cNvPicPr>
            <a:picLocks noChangeAspect="1"/>
          </p:cNvPicPr>
          <p:nvPr/>
        </p:nvPicPr>
        <p:blipFill>
          <a:blip r:embed="rId2"/>
          <a:srcRect l="0" r="0" t="-7" b="-7"/>
          <a:stretch/>
        </p:blipFill>
        <p:spPr>
          <a:xfrm>
            <a:off x="4343400" y="1181405"/>
            <a:ext cx="3504895" cy="4200754"/>
          </a:xfrm>
          <a:prstGeom prst="rect">
            <a:avLst/>
          </a:prstGeom>
        </p:spPr>
      </p:pic>
      <p:pic>
        <p:nvPicPr>
          <p:cNvPr id="5" name="Image 2" descr="gen-dedup-1b79581ecc1173428392ee74b310b1fe.png">    </p:cNvPr>
          <p:cNvPicPr>
            <a:picLocks noChangeAspect="1"/>
          </p:cNvPicPr>
          <p:nvPr/>
        </p:nvPicPr>
        <p:blipFill>
          <a:blip r:embed="rId3"/>
          <a:srcRect l="0" r="0" t="-7" b="-7"/>
          <a:stretch/>
        </p:blipFill>
        <p:spPr>
          <a:xfrm>
            <a:off x="8001000" y="1181405"/>
            <a:ext cx="3504895" cy="420075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560984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AMI CD POR 대비 Δ+0.07 nm, edge 영역 편차 확대</a:t>
            </a:r>
            <a:endParaRPr lang="en-US" sz="1275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586953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AMI CD POR 대비 Δ+0.04 nm, edge 영역 편차 POR 동등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 &amp; group 평균 yield</a:t>
            </a:r>
            <a:endParaRPr lang="en-US" sz="232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286500" cy="2496312"/>
        </p:xfrm>
        <a:graphic>
          <a:graphicData uri="http://schemas.openxmlformats.org/drawingml/2006/table">
            <a:tbl>
              <a:tblPr/>
              <a:tblGrid>
                <a:gridCol w="1512418"/>
                <a:gridCol w="1309421"/>
                <a:gridCol w="981151"/>
                <a:gridCol w="824789"/>
                <a:gridCol w="833933"/>
                <a:gridCol w="823874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HOL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4f5948c0885f2be0870352c8705260c9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334402" y="1143000"/>
            <a:ext cx="4190695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6219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CMBSRP/VCHN/HOL POR 대비 동등수준 / VMA 2.6%p 열화, CMA 3.7%p 열화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0218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CMBSRP/VCHN/HOL POR 대비 동등수준 / VMA 1.6%p 열화, CMA 2.6%p 열화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528066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CMA: POR 97.8% → A 94.1%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Line Rs by wafer</a:t>
            </a:r>
            <a:endParaRPr lang="en-US" sz="2325" dirty="0"/>
          </a:p>
        </p:txBody>
      </p:sp>
      <p:pic>
        <p:nvPicPr>
          <p:cNvPr id="3" name="Image 0" descr="gen-dedup-6742a386c2348882d3276f4fdfd83d91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517.5 (+0.0%)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508.0 (-1.8%)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502.3 (-2.9%)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유의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2026-10-04T14:32:23Z</dcterms:created>
  <dcterms:modified xsi:type="dcterms:W3CDTF">2026-10-04T14:32:23Z</dcterms:modified>
</cp:coreProperties>
</file>