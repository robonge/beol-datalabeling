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94c54a9ba465ce23f22fd7a9f83b0187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05902" y="3857854"/>
            <a:ext cx="3600907" cy="111465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38505" y="437998"/>
            <a:ext cx="10478110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KVKB RQEDL026.6D ET results</a:t>
            </a:r>
            <a:endParaRPr lang="en-US" sz="2100" dirty="0"/>
          </a:p>
        </p:txBody>
      </p:sp>
      <p:sp>
        <p:nvSpPr>
          <p:cNvPr id="4" name="Text 1"/>
          <p:cNvSpPr txBox="1"/>
          <p:nvPr/>
        </p:nvSpPr>
        <p:spPr>
          <a:xfrm>
            <a:off x="685800" y="1033272"/>
            <a:ext cx="133502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050" dirty="0"/>
          </a:p>
        </p:txBody>
      </p:sp>
      <p:sp>
        <p:nvSpPr>
          <p:cNvPr id="5" name="Text 2"/>
          <p:cNvSpPr txBox="1"/>
          <p:nvPr/>
        </p:nvSpPr>
        <p:spPr>
          <a:xfrm>
            <a:off x="933602" y="990295"/>
            <a:ext cx="1065276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M3 ACI CD</a:t>
            </a:r>
            <a:endParaRPr lang="en-US" sz="15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352398"/>
          <a:ext cx="10821010" cy="2248510"/>
        </p:xfrm>
        <a:graphic>
          <a:graphicData uri="http://schemas.openxmlformats.org/drawingml/2006/table">
            <a:tbl>
              <a:tblPr/>
              <a:tblGrid>
                <a:gridCol w="2191817"/>
                <a:gridCol w="2185416"/>
                <a:gridCol w="1722730"/>
                <a:gridCol w="2336292"/>
                <a:gridCol w="2383841"/>
              </a:tblGrid>
              <a:tr h="24983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WAFER</a:t>
                      </a:r>
                      <a:endParaRPr lang="en-US" sz="8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MEAN (nm)</a:t>
                      </a:r>
                      <a:endParaRPr lang="en-US" sz="8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3σ (nm)</a:t>
                      </a:r>
                      <a:endParaRPr lang="en-US" sz="8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RANGE (nm)</a:t>
                      </a:r>
                      <a:endParaRPr lang="en-US" sz="8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Δ vs TARGET</a:t>
                      </a:r>
                      <a:endParaRPr lang="en-US" sz="8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983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W17(POR)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31.30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1.50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4.43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-0.00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</a:tr>
              <a:tr h="24983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W18(POR)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31.35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1.53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4.52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+0.05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</a:tr>
              <a:tr h="24983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W05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31.29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1.98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6.48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-0.01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24983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W10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31.21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2.18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7.02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-0.09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24983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W20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31.25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1.99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5.95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-0.05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24983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W09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31.20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2.27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6.72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-0.10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</a:tr>
              <a:tr h="24983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W15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31.20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2.03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5.97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-0.10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</a:tr>
              <a:tr h="24983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5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POOLED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31.26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1.77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7.02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b="1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-0.04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685800" y="3857854"/>
            <a:ext cx="162763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275" dirty="0"/>
          </a:p>
        </p:txBody>
      </p:sp>
      <p:sp>
        <p:nvSpPr>
          <p:cNvPr id="8" name="Text 4"/>
          <p:cNvSpPr txBox="1"/>
          <p:nvPr/>
        </p:nvSpPr>
        <p:spPr>
          <a:xfrm>
            <a:off x="942746" y="3857854"/>
            <a:ext cx="3860597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평가목적 ; M3 CMP P2 저압 (0.8 psi) 전환 평가</a:t>
            </a:r>
            <a:endParaRPr lang="en-US" sz="1275" dirty="0"/>
          </a:p>
        </p:txBody>
      </p:sp>
      <p:sp>
        <p:nvSpPr>
          <p:cNvPr id="9" name="Text 5"/>
          <p:cNvSpPr txBox="1"/>
          <p:nvPr/>
        </p:nvSpPr>
        <p:spPr>
          <a:xfrm>
            <a:off x="685800" y="4100170"/>
            <a:ext cx="162763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275" dirty="0"/>
          </a:p>
        </p:txBody>
      </p:sp>
      <p:sp>
        <p:nvSpPr>
          <p:cNvPr id="10" name="Text 6"/>
          <p:cNvSpPr txBox="1"/>
          <p:nvPr/>
        </p:nvSpPr>
        <p:spPr>
          <a:xfrm>
            <a:off x="942746" y="4100170"/>
            <a:ext cx="872338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평가결과 ;</a:t>
            </a:r>
            <a:endParaRPr lang="en-US" sz="1275" dirty="0"/>
          </a:p>
        </p:txBody>
      </p:sp>
      <p:sp>
        <p:nvSpPr>
          <p:cNvPr id="11" name="Text 7"/>
          <p:cNvSpPr txBox="1"/>
          <p:nvPr/>
        </p:nvSpPr>
        <p:spPr>
          <a:xfrm>
            <a:off x="685800" y="4343400"/>
            <a:ext cx="685800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POR 대비 Split B(0.8 psi) 진행 시 ACI CD 0.1 nm 하향</a:t>
            </a:r>
            <a:endParaRPr lang="en-US" sz="1275" dirty="0"/>
          </a:p>
        </p:txBody>
      </p:sp>
      <p:sp>
        <p:nvSpPr>
          <p:cNvPr id="12" name="Text 8"/>
          <p:cNvSpPr txBox="1"/>
          <p:nvPr/>
        </p:nvSpPr>
        <p:spPr>
          <a:xfrm>
            <a:off x="685800" y="4586630"/>
            <a:ext cx="685800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Split A(0.4psi+t150) ACI CD Δ-0.07 nm</a:t>
            </a:r>
            <a:endParaRPr lang="en-US" sz="1275" dirty="0"/>
          </a:p>
        </p:txBody>
      </p:sp>
      <p:sp>
        <p:nvSpPr>
          <p:cNvPr id="13" name="Text 9"/>
          <p:cNvSpPr txBox="1"/>
          <p:nvPr/>
        </p:nvSpPr>
        <p:spPr>
          <a:xfrm>
            <a:off x="685800" y="4828946"/>
            <a:ext cx="685800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Line Rs median POR 대비 -5.6% 감소</a:t>
            </a:r>
            <a:endParaRPr lang="en-US" sz="1275" dirty="0"/>
          </a:p>
        </p:txBody>
      </p:sp>
      <p:sp>
        <p:nvSpPr>
          <p:cNvPr id="14" name="Text 10"/>
          <p:cNvSpPr txBox="1"/>
          <p:nvPr/>
        </p:nvSpPr>
        <p:spPr>
          <a:xfrm>
            <a:off x="685800" y="5072177"/>
            <a:ext cx="685800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ET 결과 VCHN/MinA/VMA POR 대비 동등수준 / CMBSRP 12.3%p 저하</a:t>
            </a:r>
            <a:endParaRPr lang="en-US" sz="1275" dirty="0"/>
          </a:p>
        </p:txBody>
      </p:sp>
      <p:sp>
        <p:nvSpPr>
          <p:cNvPr id="15" name="Text 11"/>
          <p:cNvSpPr txBox="1"/>
          <p:nvPr/>
        </p:nvSpPr>
        <p:spPr>
          <a:xfrm>
            <a:off x="685800" y="5315407"/>
            <a:ext cx="685800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throughput 저하 대비 dishing &lt; 2 nm 달성</a:t>
            </a:r>
            <a:endParaRPr lang="en-US" sz="1275" dirty="0"/>
          </a:p>
        </p:txBody>
      </p:sp>
      <p:sp>
        <p:nvSpPr>
          <p:cNvPr id="16" name="Text 12"/>
          <p:cNvSpPr txBox="1"/>
          <p:nvPr/>
        </p:nvSpPr>
        <p:spPr>
          <a:xfrm>
            <a:off x="685800" y="5557723"/>
            <a:ext cx="685800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RR POR 대비 45% 감소</a:t>
            </a:r>
            <a:endParaRPr lang="en-US" sz="1275" dirty="0"/>
          </a:p>
        </p:txBody>
      </p:sp>
      <p:sp>
        <p:nvSpPr>
          <p:cNvPr id="17" name="Text 13"/>
          <p:cNvSpPr txBox="1"/>
          <p:nvPr/>
        </p:nvSpPr>
        <p:spPr>
          <a:xfrm>
            <a:off x="685800" y="5800954"/>
            <a:ext cx="685800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Split A(0.4psi+t150) 는 CMBSRP/VCHN/MinA POR 대비 유사 수준</a:t>
            </a:r>
            <a:endParaRPr lang="en-US" sz="1275" dirty="0"/>
          </a:p>
        </p:txBody>
      </p:sp>
      <p:sp>
        <p:nvSpPr>
          <p:cNvPr id="18" name="Text 14"/>
          <p:cNvSpPr txBox="1"/>
          <p:nvPr/>
        </p:nvSpPr>
        <p:spPr>
          <a:xfrm>
            <a:off x="685800" y="6043270"/>
            <a:ext cx="685800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 조건 호환 불가 — 0.6 psi 중간 split 재평가 예정 (M3 DC 기준)</a:t>
            </a:r>
            <a:endParaRPr lang="en-US" sz="1275" dirty="0"/>
          </a:p>
        </p:txBody>
      </p:sp>
      <p:sp>
        <p:nvSpPr>
          <p:cNvPr id="19" name="Text 15"/>
          <p:cNvSpPr txBox="1"/>
          <p:nvPr/>
        </p:nvSpPr>
        <p:spPr>
          <a:xfrm>
            <a:off x="7905902" y="5009998"/>
            <a:ext cx="3600907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825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L/S 영역 defect review SEM</a:t>
            </a:r>
            <a:endParaRPr lang="en-US" sz="82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8505" y="437998"/>
            <a:ext cx="10478110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325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M3 ACI CD wafer map</a:t>
            </a:r>
            <a:endParaRPr lang="en-US" sz="2325" dirty="0"/>
          </a:p>
        </p:txBody>
      </p:sp>
      <p:pic>
        <p:nvPicPr>
          <p:cNvPr id="3" name="Image 0" descr="gen-dedup-19e02338365a0fc26db7bada4b551b60.png">    </p:cNvPr>
          <p:cNvPicPr>
            <a:picLocks noChangeAspect="1"/>
          </p:cNvPicPr>
          <p:nvPr/>
        </p:nvPicPr>
        <p:blipFill>
          <a:blip r:embed="rId1"/>
          <a:srcRect l="0" r="0" t="-7" b="-7"/>
          <a:stretch/>
        </p:blipFill>
        <p:spPr>
          <a:xfrm>
            <a:off x="685800" y="1181405"/>
            <a:ext cx="3504895" cy="4200754"/>
          </a:xfrm>
          <a:prstGeom prst="rect">
            <a:avLst/>
          </a:prstGeom>
        </p:spPr>
      </p:pic>
      <p:pic>
        <p:nvPicPr>
          <p:cNvPr id="4" name="Image 1" descr="gen-dedup-4833ffdc5fd8f14adffbfd51db2acf67.png">    </p:cNvPr>
          <p:cNvPicPr>
            <a:picLocks noChangeAspect="1"/>
          </p:cNvPicPr>
          <p:nvPr/>
        </p:nvPicPr>
        <p:blipFill>
          <a:blip r:embed="rId2"/>
          <a:srcRect l="0" r="0" t="-7" b="-7"/>
          <a:stretch/>
        </p:blipFill>
        <p:spPr>
          <a:xfrm>
            <a:off x="4343400" y="1181405"/>
            <a:ext cx="3504895" cy="4200754"/>
          </a:xfrm>
          <a:prstGeom prst="rect">
            <a:avLst/>
          </a:prstGeom>
        </p:spPr>
      </p:pic>
      <p:pic>
        <p:nvPicPr>
          <p:cNvPr id="5" name="Image 2" descr="gen-dedup-1a08d2a2b0d74573054df6a7211ea0e2.png">    </p:cNvPr>
          <p:cNvPicPr>
            <a:picLocks noChangeAspect="1"/>
          </p:cNvPicPr>
          <p:nvPr/>
        </p:nvPicPr>
        <p:blipFill>
          <a:blip r:embed="rId3"/>
          <a:srcRect l="0" r="0" t="-7" b="-7"/>
          <a:stretch/>
        </p:blipFill>
        <p:spPr>
          <a:xfrm>
            <a:off x="8001000" y="1181405"/>
            <a:ext cx="3504895" cy="4200754"/>
          </a:xfrm>
          <a:prstGeom prst="rect">
            <a:avLst/>
          </a:prstGeom>
        </p:spPr>
      </p:pic>
      <p:sp>
        <p:nvSpPr>
          <p:cNvPr id="6" name="Text 1"/>
          <p:cNvSpPr txBox="1"/>
          <p:nvPr/>
        </p:nvSpPr>
        <p:spPr>
          <a:xfrm>
            <a:off x="685800" y="5609844"/>
            <a:ext cx="108210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Split A: ACI CD POR 대비 Δ-0.07 nm, edge 영역 편차 확대</a:t>
            </a:r>
            <a:endParaRPr lang="en-US" sz="1275" dirty="0"/>
          </a:p>
        </p:txBody>
      </p:sp>
      <p:sp>
        <p:nvSpPr>
          <p:cNvPr id="7" name="Text 2"/>
          <p:cNvSpPr txBox="1"/>
          <p:nvPr/>
        </p:nvSpPr>
        <p:spPr>
          <a:xfrm>
            <a:off x="685800" y="5869534"/>
            <a:ext cx="108210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Split B: ACI CD POR 대비 Δ-0.12 nm, edge 영역 편차 확대</a:t>
            </a:r>
            <a:endParaRPr lang="en-US" sz="127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8505" y="437998"/>
            <a:ext cx="10478110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325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M3 Line Rs / Via Rc cumulative distribution</a:t>
            </a:r>
            <a:endParaRPr lang="en-US" sz="2325" dirty="0"/>
          </a:p>
        </p:txBody>
      </p:sp>
      <p:pic>
        <p:nvPicPr>
          <p:cNvPr id="3" name="Image 0" descr="gen-dedup-0f9e6468120ca57e3ff6d9787e52a73a.png">    </p:cNvPr>
          <p:cNvPicPr>
            <a:picLocks noChangeAspect="1"/>
          </p:cNvPicPr>
          <p:nvPr/>
        </p:nvPicPr>
        <p:blipFill>
          <a:blip r:embed="rId1"/>
          <a:srcRect l="-1" r="-1" t="0" b="0"/>
          <a:stretch/>
        </p:blipFill>
        <p:spPr>
          <a:xfrm>
            <a:off x="685800" y="1123798"/>
            <a:ext cx="5333695" cy="4190695"/>
          </a:xfrm>
          <a:prstGeom prst="rect">
            <a:avLst/>
          </a:prstGeom>
        </p:spPr>
      </p:pic>
      <p:pic>
        <p:nvPicPr>
          <p:cNvPr id="4" name="Image 1" descr="gen-dedup-bf894765d90bdab4781786230af46b2c.png">    </p:cNvPr>
          <p:cNvPicPr>
            <a:picLocks noChangeAspect="1"/>
          </p:cNvPicPr>
          <p:nvPr/>
        </p:nvPicPr>
        <p:blipFill>
          <a:blip r:embed="rId2"/>
          <a:srcRect l="-1" r="-1" t="0" b="0"/>
          <a:stretch/>
        </p:blipFill>
        <p:spPr>
          <a:xfrm>
            <a:off x="6210605" y="1123798"/>
            <a:ext cx="5333695" cy="4190695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685800" y="5524805"/>
            <a:ext cx="108210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Split A: Line Rs -5.7% / Via Rc -0.3% (median, POR 대비)</a:t>
            </a:r>
            <a:endParaRPr lang="en-US" sz="1275" dirty="0"/>
          </a:p>
        </p:txBody>
      </p:sp>
      <p:sp>
        <p:nvSpPr>
          <p:cNvPr id="6" name="Text 2"/>
          <p:cNvSpPr txBox="1"/>
          <p:nvPr/>
        </p:nvSpPr>
        <p:spPr>
          <a:xfrm>
            <a:off x="685800" y="5783580"/>
            <a:ext cx="108210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Split B: Line Rs -5.6% / Via Rc -0.3% (median, POR 대비)</a:t>
            </a:r>
            <a:endParaRPr lang="en-US" sz="127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8505" y="437998"/>
            <a:ext cx="10478110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325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ET results</a:t>
            </a:r>
            <a:endParaRPr lang="en-US" sz="2325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181405"/>
          <a:ext cx="6286500" cy="2848356"/>
        </p:xfrm>
        <a:graphic>
          <a:graphicData uri="http://schemas.openxmlformats.org/drawingml/2006/table">
            <a:tbl>
              <a:tblPr/>
              <a:tblGrid>
                <a:gridCol w="1678838"/>
                <a:gridCol w="1453896"/>
                <a:gridCol w="1089050"/>
                <a:gridCol w="1002182"/>
                <a:gridCol w="1062533"/>
              </a:tblGrid>
              <a:tr h="35604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WF / ITEM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CMBSRP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VCHN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MinA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VMA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5604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W17(POR)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85.1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84.0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81.5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83.3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</a:tr>
              <a:tr h="35604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W18(POR)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85.4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82.4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80.1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83.3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</a:tr>
              <a:tr h="35604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W05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80.2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85.8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88.2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100.0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35604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W10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85.4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84.3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81.7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83.5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35604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W20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78.3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86.6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86.1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84.8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35604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W09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76.1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86.3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83.1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85.1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</a:tr>
              <a:tr h="35604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W15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B26A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69.8</a:t>
                      </a:r>
                      <a:endParaRPr lang="en-US" sz="1200" dirty="0"/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92.0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80.4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82.6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</a:tr>
            </a:tbl>
          </a:graphicData>
        </a:graphic>
      </p:graphicFrame>
      <p:pic>
        <p:nvPicPr>
          <p:cNvPr id="4" name="Image 0" descr="gen-dedup-498d607ad62aa940cf2bbd3d652ee641.png">    </p:cNvPr>
          <p:cNvPicPr>
            <a:picLocks noChangeAspect="1"/>
          </p:cNvPicPr>
          <p:nvPr/>
        </p:nvPicPr>
        <p:blipFill>
          <a:blip r:embed="rId1"/>
          <a:srcRect l="0" r="0" t="-4" b="-4"/>
          <a:stretch/>
        </p:blipFill>
        <p:spPr>
          <a:xfrm>
            <a:off x="7334402" y="1143000"/>
            <a:ext cx="4190695" cy="342900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685800" y="4762195"/>
            <a:ext cx="108210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Split A: CMBSRP/VCHN/MinA POR 대비 동등수준</a:t>
            </a:r>
            <a:endParaRPr lang="en-US" sz="1275" dirty="0"/>
          </a:p>
        </p:txBody>
      </p:sp>
      <p:sp>
        <p:nvSpPr>
          <p:cNvPr id="6" name="Text 2"/>
          <p:cNvSpPr txBox="1"/>
          <p:nvPr/>
        </p:nvSpPr>
        <p:spPr>
          <a:xfrm>
            <a:off x="685800" y="5021885"/>
            <a:ext cx="108210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Split B: VCHN/MinA/VMA POR 대비 동등수준 / CMBSRP 12.3%p 열화</a:t>
            </a:r>
            <a:endParaRPr lang="en-US" sz="1275" dirty="0"/>
          </a:p>
        </p:txBody>
      </p:sp>
      <p:sp>
        <p:nvSpPr>
          <p:cNvPr id="7" name="Text 3"/>
          <p:cNvSpPr txBox="1"/>
          <p:nvPr/>
        </p:nvSpPr>
        <p:spPr>
          <a:xfrm>
            <a:off x="685800" y="5280660"/>
            <a:ext cx="108210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CMBSRP: POR 85.3% → B 72.9%</a:t>
            </a:r>
            <a:endParaRPr lang="en-US" sz="127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Visual Extract to PPTX Converter</cp:lastModifiedBy>
  <cp:revision>1</cp:revision>
  <dcterms:created xsi:type="dcterms:W3CDTF">2026-10-04T17:39:32Z</dcterms:created>
  <dcterms:modified xsi:type="dcterms:W3CDTF">2026-10-04T17:39:32Z</dcterms:modified>
</cp:coreProperties>
</file>