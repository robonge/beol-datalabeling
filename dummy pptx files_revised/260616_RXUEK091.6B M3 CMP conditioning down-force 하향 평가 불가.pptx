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d5a7a4197e6c7e098876d404a5301e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67105"/>
            <a:ext cx="933602" cy="1019556"/>
          </a:xfrm>
          <a:prstGeom prst="rect">
            <a:avLst/>
          </a:prstGeom>
        </p:spPr>
      </p:pic>
      <p:pic>
        <p:nvPicPr>
          <p:cNvPr id="3" name="Image 1" descr="gen-dedup-06e74e4180833667806e2976353c107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98" y="1067105"/>
            <a:ext cx="3172054" cy="101955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KVED RXUEK091.6B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2124151"/>
            <a:ext cx="4191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post-CMP defect review SEM / CMP defect review SEM</a:t>
            </a:r>
            <a:endParaRPr lang="en-US" sz="825" dirty="0"/>
          </a:p>
        </p:txBody>
      </p:sp>
      <p:sp>
        <p:nvSpPr>
          <p:cNvPr id="6" name="Text 2"/>
          <p:cNvSpPr txBox="1"/>
          <p:nvPr/>
        </p:nvSpPr>
        <p:spPr>
          <a:xfrm>
            <a:off x="5219395" y="1067105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5458054" y="1067105"/>
            <a:ext cx="411297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CMP conditioning down-force 하향 평가</a:t>
            </a:r>
            <a:endParaRPr lang="en-US" sz="1125" dirty="0"/>
          </a:p>
        </p:txBody>
      </p:sp>
      <p:sp>
        <p:nvSpPr>
          <p:cNvPr id="8" name="Text 4"/>
          <p:cNvSpPr txBox="1"/>
          <p:nvPr/>
        </p:nvSpPr>
        <p:spPr>
          <a:xfrm>
            <a:off x="5219395" y="1281074"/>
            <a:ext cx="1527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125" dirty="0"/>
          </a:p>
        </p:txBody>
      </p:sp>
      <p:sp>
        <p:nvSpPr>
          <p:cNvPr id="9" name="Text 5"/>
          <p:cNvSpPr txBox="1"/>
          <p:nvPr/>
        </p:nvSpPr>
        <p:spPr>
          <a:xfrm>
            <a:off x="5458054" y="1281074"/>
            <a:ext cx="76901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125" dirty="0"/>
          </a:p>
        </p:txBody>
      </p:sp>
      <p:sp>
        <p:nvSpPr>
          <p:cNvPr id="10" name="Text 6"/>
          <p:cNvSpPr txBox="1"/>
          <p:nvPr/>
        </p:nvSpPr>
        <p:spPr>
          <a:xfrm>
            <a:off x="5219395" y="1495044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A(cond. DF 70%) 진행 시 AMI CD 동등 수준 (Δ+0.05 nm)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5219395" y="1709928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B(Cond2x) AMI CD Δ-0.01 nm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5219395" y="1923898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-3.0% 감소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5219395" y="2138782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CMBSRP/MinA/VMA POR 대비 유사 수준 / VCHN 12.8%p 열화</a:t>
            </a:r>
            <a:endParaRPr lang="en-US" sz="1125" dirty="0"/>
          </a:p>
        </p:txBody>
      </p:sp>
      <p:sp>
        <p:nvSpPr>
          <p:cNvPr id="14" name="Text 10"/>
          <p:cNvSpPr txBox="1"/>
          <p:nvPr/>
        </p:nvSpPr>
        <p:spPr>
          <a:xfrm>
            <a:off x="5219395" y="2352751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pad 수명 후반 RR 저하로 die 주변부 미연마 추정</a:t>
            </a:r>
            <a:endParaRPr lang="en-US" sz="1125" dirty="0"/>
          </a:p>
        </p:txBody>
      </p:sp>
      <p:sp>
        <p:nvSpPr>
          <p:cNvPr id="15" name="Text 11"/>
          <p:cNvSpPr txBox="1"/>
          <p:nvPr/>
        </p:nvSpPr>
        <p:spPr>
          <a:xfrm>
            <a:off x="5219395" y="2566721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RR wafer 내 편차 3σ 4.2% (POR 1.6%)</a:t>
            </a:r>
            <a:endParaRPr lang="en-US" sz="1125" dirty="0"/>
          </a:p>
        </p:txBody>
      </p:sp>
      <p:sp>
        <p:nvSpPr>
          <p:cNvPr id="16" name="Text 12"/>
          <p:cNvSpPr txBox="1"/>
          <p:nvPr/>
        </p:nvSpPr>
        <p:spPr>
          <a:xfrm>
            <a:off x="5219395" y="2781605"/>
            <a:ext cx="62865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B(Cond2x) 는 CMBSRP/MinA/VMA POR 대비 동등수준 / CMA 15.1%p 개선 / VCHN 소폭 열화</a:t>
            </a:r>
            <a:endParaRPr lang="en-US" sz="1125" dirty="0"/>
          </a:p>
        </p:txBody>
      </p:sp>
      <p:sp>
        <p:nvSpPr>
          <p:cNvPr id="17" name="Text 13"/>
          <p:cNvSpPr txBox="1"/>
          <p:nvPr/>
        </p:nvSpPr>
        <p:spPr>
          <a:xfrm>
            <a:off x="5219395" y="3209544"/>
            <a:ext cx="62865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conditioner 주기 1.5x split 재평가 예정 (M3 DC 기준)</a:t>
            </a:r>
            <a:endParaRPr lang="en-US" sz="1125" dirty="0"/>
          </a:p>
        </p:txBody>
      </p:sp>
      <p:sp>
        <p:nvSpPr>
          <p:cNvPr id="18" name="Text 14"/>
          <p:cNvSpPr txBox="1"/>
          <p:nvPr/>
        </p:nvSpPr>
        <p:spPr>
          <a:xfrm>
            <a:off x="685800" y="3804818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33602" y="3762756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4123944"/>
          <a:ext cx="6667805" cy="2190902"/>
        </p:xfrm>
        <a:graphic>
          <a:graphicData uri="http://schemas.openxmlformats.org/drawingml/2006/table">
            <a:tbl>
              <a:tblPr/>
              <a:tblGrid>
                <a:gridCol w="1332281"/>
                <a:gridCol w="1352398"/>
                <a:gridCol w="1052474"/>
                <a:gridCol w="1449324"/>
                <a:gridCol w="1480414"/>
              </a:tblGrid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1.24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29.32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5.93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29.28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1" name="Image 2" descr="gen-dedup-7e3be5fdc2471ae5868c34544bc94014.png">    </p:cNvPr>
          <p:cNvPicPr>
            <a:picLocks noChangeAspect="1"/>
          </p:cNvPicPr>
          <p:nvPr/>
        </p:nvPicPr>
        <p:blipFill>
          <a:blip r:embed="rId3"/>
          <a:srcRect l="-5" r="-5" t="0" b="0"/>
          <a:stretch/>
        </p:blipFill>
        <p:spPr>
          <a:xfrm>
            <a:off x="7601407" y="3762756"/>
            <a:ext cx="3905402" cy="29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Line Rs cumulative distribution</a:t>
            </a:r>
            <a:endParaRPr lang="en-US" sz="2325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44.20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median 42.86 (-3.0%)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median 43.53 (-1.5%, 동등)</a:t>
            </a:r>
            <a:endParaRPr lang="en-US" sz="1275" dirty="0"/>
          </a:p>
        </p:txBody>
      </p:sp>
      <p:pic>
        <p:nvPicPr>
          <p:cNvPr id="6" name="Image 0" descr="gen-dedup-d66c9e79b7c2369379f866731abd1376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4647895" y="1123798"/>
            <a:ext cx="6858000" cy="49533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results &amp; group 평균 yield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6286500" cy="1743761"/>
        </p:xfrm>
        <a:graphic>
          <a:graphicData uri="http://schemas.openxmlformats.org/drawingml/2006/table">
            <a:tbl>
              <a:tblPr/>
              <a:tblGrid>
                <a:gridCol w="1494130"/>
                <a:gridCol w="1293876"/>
                <a:gridCol w="968350"/>
                <a:gridCol w="891540"/>
                <a:gridCol w="814730"/>
                <a:gridCol w="823874"/>
              </a:tblGrid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WF / ITEM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MinA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W04(POR)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14.8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19.1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17.7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48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</a:t>
                      </a:r>
                      <a:endParaRPr lang="en-US" sz="1200" dirty="0"/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16.2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2c1468c980cf28fd4a5e6b0e5ccabdb0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7334402" y="1143000"/>
            <a:ext cx="4190695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6219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CMBSRP/MinA/VMA POR 대비 동등수준 / VCHN 12.8%p 열화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021885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CMBSRP/MinA/VMA POR 대비 동등수준 / CMA 15.1%p 개선 / VCHN 소폭 열화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280660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VCHN: POR 14.8% → A 2.0%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2026-10-04T17:40:02Z</dcterms:created>
  <dcterms:modified xsi:type="dcterms:W3CDTF">2026-10-04T17:40:02Z</dcterms:modified>
</cp:coreProperties>
</file>