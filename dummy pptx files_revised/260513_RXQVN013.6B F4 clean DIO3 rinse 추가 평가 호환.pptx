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713f52c38b455f58e00de98b2cfb546f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1598" y="1067105"/>
            <a:ext cx="2714854" cy="866851"/>
          </a:xfrm>
          <a:prstGeom prst="rect">
            <a:avLst/>
          </a:prstGeom>
        </p:spPr>
      </p:pic>
      <p:pic>
        <p:nvPicPr>
          <p:cNvPr id="3" name="Image 1" descr="gen-dedup-4b79326cc030c72e6efa916a16c72eb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2346" y="1067105"/>
            <a:ext cx="2324405" cy="866851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SF2X KVFG RXQVN013.6B ET results</a:t>
            </a:r>
            <a:endParaRPr lang="en-US" sz="2325" dirty="0"/>
          </a:p>
        </p:txBody>
      </p:sp>
      <p:sp>
        <p:nvSpPr>
          <p:cNvPr id="5" name="Text 1"/>
          <p:cNvSpPr txBox="1"/>
          <p:nvPr/>
        </p:nvSpPr>
        <p:spPr>
          <a:xfrm>
            <a:off x="685800" y="1123798"/>
            <a:ext cx="1627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75" dirty="0"/>
          </a:p>
        </p:txBody>
      </p:sp>
      <p:sp>
        <p:nvSpPr>
          <p:cNvPr id="6" name="Text 2"/>
          <p:cNvSpPr txBox="1"/>
          <p:nvPr/>
        </p:nvSpPr>
        <p:spPr>
          <a:xfrm>
            <a:off x="942746" y="1123798"/>
            <a:ext cx="3433572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F4 clean DIO3 rinse 추가 평가</a:t>
            </a:r>
            <a:endParaRPr lang="en-US" sz="1275" dirty="0"/>
          </a:p>
        </p:txBody>
      </p:sp>
      <p:sp>
        <p:nvSpPr>
          <p:cNvPr id="7" name="Text 3"/>
          <p:cNvSpPr txBox="1"/>
          <p:nvPr/>
        </p:nvSpPr>
        <p:spPr>
          <a:xfrm>
            <a:off x="685800" y="1367028"/>
            <a:ext cx="1627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75" dirty="0"/>
          </a:p>
        </p:txBody>
      </p:sp>
      <p:sp>
        <p:nvSpPr>
          <p:cNvPr id="8" name="Text 4"/>
          <p:cNvSpPr txBox="1"/>
          <p:nvPr/>
        </p:nvSpPr>
        <p:spPr>
          <a:xfrm>
            <a:off x="942746" y="1367028"/>
            <a:ext cx="872338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1275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1609344"/>
            <a:ext cx="53346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대비 Split C(organic acid clean) 진행 시 AMI CD 동등 수준 (Δ+0.06 nm)</a:t>
            </a:r>
            <a:endParaRPr lang="en-US" sz="1275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2095805"/>
            <a:ext cx="5334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Split A(DIO3) AMI CD Δ+0.01 nm</a:t>
            </a:r>
            <a:endParaRPr lang="en-US" sz="1275" dirty="0"/>
          </a:p>
        </p:txBody>
      </p:sp>
      <p:sp>
        <p:nvSpPr>
          <p:cNvPr id="11" name="Text 7"/>
          <p:cNvSpPr txBox="1"/>
          <p:nvPr/>
        </p:nvSpPr>
        <p:spPr>
          <a:xfrm>
            <a:off x="685800" y="2338121"/>
            <a:ext cx="5334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Split B(Brush70) AMI CD Δ+0.07 nm</a:t>
            </a:r>
            <a:endParaRPr lang="en-US" sz="1275" dirty="0"/>
          </a:p>
        </p:txBody>
      </p:sp>
      <p:sp>
        <p:nvSpPr>
          <p:cNvPr id="12" name="Text 8"/>
          <p:cNvSpPr txBox="1"/>
          <p:nvPr/>
        </p:nvSpPr>
        <p:spPr>
          <a:xfrm>
            <a:off x="685800" y="2581351"/>
            <a:ext cx="53346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결과 CMBSRP/MinA/VMA POR 대비 동등수준 / VCHN 소폭 열화 / CMA 1.8%p 열화</a:t>
            </a:r>
            <a:endParaRPr lang="en-US" sz="1275" dirty="0"/>
          </a:p>
        </p:txBody>
      </p:sp>
      <p:sp>
        <p:nvSpPr>
          <p:cNvPr id="13" name="Text 9"/>
          <p:cNvSpPr txBox="1"/>
          <p:nvPr/>
        </p:nvSpPr>
        <p:spPr>
          <a:xfrm>
            <a:off x="685800" y="3066898"/>
            <a:ext cx="5334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 edge corrosion / BTA residue 에 의한 leakage 증가 추정</a:t>
            </a:r>
            <a:endParaRPr lang="en-US" sz="1275" dirty="0"/>
          </a:p>
        </p:txBody>
      </p:sp>
      <p:sp>
        <p:nvSpPr>
          <p:cNvPr id="14" name="Text 10"/>
          <p:cNvSpPr txBox="1"/>
          <p:nvPr/>
        </p:nvSpPr>
        <p:spPr>
          <a:xfrm>
            <a:off x="685800" y="3310128"/>
            <a:ext cx="5334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 edge corrosion bird's eye SEM 확인</a:t>
            </a:r>
            <a:endParaRPr lang="en-US" sz="1275" dirty="0"/>
          </a:p>
        </p:txBody>
      </p:sp>
      <p:sp>
        <p:nvSpPr>
          <p:cNvPr id="15" name="Text 11"/>
          <p:cNvSpPr txBox="1"/>
          <p:nvPr/>
        </p:nvSpPr>
        <p:spPr>
          <a:xfrm>
            <a:off x="685800" y="3552444"/>
            <a:ext cx="53346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Split B(Brush70) 는 CMBSRP/MinA/VMA POR 대비 동등수준 / VCHN 1.9%p 열화, CMA 1.8%p 열화</a:t>
            </a:r>
            <a:endParaRPr lang="en-US" sz="1275" dirty="0"/>
          </a:p>
        </p:txBody>
      </p:sp>
      <p:sp>
        <p:nvSpPr>
          <p:cNvPr id="16" name="Text 12"/>
          <p:cNvSpPr txBox="1"/>
          <p:nvPr/>
        </p:nvSpPr>
        <p:spPr>
          <a:xfrm>
            <a:off x="685800" y="4038905"/>
            <a:ext cx="5334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호환 가능 — 추가 1 lot 모니터링 후 전환 (F4 DC 기준)</a:t>
            </a:r>
            <a:endParaRPr lang="en-US" sz="1275" dirty="0"/>
          </a:p>
        </p:txBody>
      </p:sp>
      <p:sp>
        <p:nvSpPr>
          <p:cNvPr id="17" name="Text 13"/>
          <p:cNvSpPr txBox="1"/>
          <p:nvPr/>
        </p:nvSpPr>
        <p:spPr>
          <a:xfrm>
            <a:off x="6381598" y="1971446"/>
            <a:ext cx="5125212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CMP defect review SEM / Cu/SiO2 edge (bird's eye / X-section)</a:t>
            </a:r>
            <a:endParaRPr lang="en-US" sz="825" dirty="0"/>
          </a:p>
        </p:txBody>
      </p:sp>
      <p:sp>
        <p:nvSpPr>
          <p:cNvPr id="18" name="Text 14"/>
          <p:cNvSpPr txBox="1"/>
          <p:nvPr/>
        </p:nvSpPr>
        <p:spPr>
          <a:xfrm>
            <a:off x="6381598" y="3471977"/>
            <a:ext cx="1335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19" name="Text 15"/>
          <p:cNvSpPr txBox="1"/>
          <p:nvPr/>
        </p:nvSpPr>
        <p:spPr>
          <a:xfrm>
            <a:off x="6629400" y="3429000"/>
            <a:ext cx="106527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F4 AMI CD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81598" y="3791102"/>
          <a:ext cx="5125212" cy="2553005"/>
        </p:xfrm>
        <a:graphic>
          <a:graphicData uri="http://schemas.openxmlformats.org/drawingml/2006/table">
            <a:tbl>
              <a:tblPr/>
              <a:tblGrid>
                <a:gridCol w="1024128"/>
                <a:gridCol w="1038758"/>
                <a:gridCol w="809244"/>
                <a:gridCol w="1114654"/>
                <a:gridCol w="1137514"/>
              </a:tblGrid>
              <a:tr h="3647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MEAN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3σ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RANGE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Δ vs TARGET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47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W09(POR)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45.69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2.45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7.52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-0.01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647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45.69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2.55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8.10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-0.01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47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45.73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2.68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8.60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+0.03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647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45.76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2.59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8.37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+0.06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647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45.76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2.45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7.21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+0.06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  <a:tr h="3647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POOLED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45.73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2.54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8.60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+0.03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F4 AMI CD wafer map</a:t>
            </a:r>
            <a:endParaRPr lang="en-US" sz="2325" dirty="0"/>
          </a:p>
        </p:txBody>
      </p:sp>
      <p:pic>
        <p:nvPicPr>
          <p:cNvPr id="3" name="Image 0" descr="gen-dedup-440d6840312e7ee301dde62ee3a6188a.png">    </p:cNvPr>
          <p:cNvPicPr>
            <a:picLocks noChangeAspect="1"/>
          </p:cNvPicPr>
          <p:nvPr/>
        </p:nvPicPr>
        <p:blipFill>
          <a:blip r:embed="rId1"/>
          <a:srcRect l="0" r="0" t="-8" b="-8"/>
          <a:stretch/>
        </p:blipFill>
        <p:spPr>
          <a:xfrm>
            <a:off x="685800" y="1181405"/>
            <a:ext cx="2590495" cy="3105302"/>
          </a:xfrm>
          <a:prstGeom prst="rect">
            <a:avLst/>
          </a:prstGeom>
        </p:spPr>
      </p:pic>
      <p:pic>
        <p:nvPicPr>
          <p:cNvPr id="4" name="Image 1" descr="gen-dedup-729d50e28a1cdea7fe53c4553cc08e52.png">    </p:cNvPr>
          <p:cNvPicPr>
            <a:picLocks noChangeAspect="1"/>
          </p:cNvPicPr>
          <p:nvPr/>
        </p:nvPicPr>
        <p:blipFill>
          <a:blip r:embed="rId2"/>
          <a:srcRect l="0" r="0" t="-8" b="-8"/>
          <a:stretch/>
        </p:blipFill>
        <p:spPr>
          <a:xfrm>
            <a:off x="3429000" y="1181405"/>
            <a:ext cx="2590495" cy="3105302"/>
          </a:xfrm>
          <a:prstGeom prst="rect">
            <a:avLst/>
          </a:prstGeom>
        </p:spPr>
      </p:pic>
      <p:pic>
        <p:nvPicPr>
          <p:cNvPr id="5" name="Image 2" descr="gen-dedup-35ef6ed267f21b86be3df422672d76d9.png">    </p:cNvPr>
          <p:cNvPicPr>
            <a:picLocks noChangeAspect="1"/>
          </p:cNvPicPr>
          <p:nvPr/>
        </p:nvPicPr>
        <p:blipFill>
          <a:blip r:embed="rId3"/>
          <a:srcRect l="0" r="0" t="-8" b="-8"/>
          <a:stretch/>
        </p:blipFill>
        <p:spPr>
          <a:xfrm>
            <a:off x="6172200" y="1181405"/>
            <a:ext cx="2590495" cy="3105302"/>
          </a:xfrm>
          <a:prstGeom prst="rect">
            <a:avLst/>
          </a:prstGeom>
        </p:spPr>
      </p:pic>
      <p:pic>
        <p:nvPicPr>
          <p:cNvPr id="6" name="Image 3" descr="gen-dedup-0e607a6d747f04bd71fa7642a84e5b15.png">    </p:cNvPr>
          <p:cNvPicPr>
            <a:picLocks noChangeAspect="1"/>
          </p:cNvPicPr>
          <p:nvPr/>
        </p:nvPicPr>
        <p:blipFill>
          <a:blip r:embed="rId4"/>
          <a:srcRect l="0" r="0" t="-8" b="-8"/>
          <a:stretch/>
        </p:blipFill>
        <p:spPr>
          <a:xfrm>
            <a:off x="8915400" y="1181405"/>
            <a:ext cx="2590495" cy="3105302"/>
          </a:xfrm>
          <a:prstGeom prst="rect">
            <a:avLst/>
          </a:prstGeom>
        </p:spPr>
      </p:pic>
      <p:sp>
        <p:nvSpPr>
          <p:cNvPr id="7" name="Text 1"/>
          <p:cNvSpPr txBox="1"/>
          <p:nvPr/>
        </p:nvSpPr>
        <p:spPr>
          <a:xfrm>
            <a:off x="685800" y="4515307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A: AMI CD POR 대비 Δ+0.01 nm, edge 영역 편차 POR 동등</a:t>
            </a:r>
            <a:endParaRPr lang="en-US" sz="1275" dirty="0"/>
          </a:p>
        </p:txBody>
      </p:sp>
      <p:sp>
        <p:nvSpPr>
          <p:cNvPr id="8" name="Text 2"/>
          <p:cNvSpPr txBox="1"/>
          <p:nvPr/>
        </p:nvSpPr>
        <p:spPr>
          <a:xfrm>
            <a:off x="685800" y="4774082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B: AMI CD POR 대비 Δ+0.07 nm, edge 영역 편차 POR 동등</a:t>
            </a:r>
            <a:endParaRPr lang="en-US" sz="1275" dirty="0"/>
          </a:p>
        </p:txBody>
      </p:sp>
      <p:sp>
        <p:nvSpPr>
          <p:cNvPr id="9" name="Text 3"/>
          <p:cNvSpPr txBox="1"/>
          <p:nvPr/>
        </p:nvSpPr>
        <p:spPr>
          <a:xfrm>
            <a:off x="685800" y="5032858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C: AMI CD POR 대비 Δ+0.06 nm, edge 영역 편차 POR 동등</a:t>
            </a:r>
            <a:endParaRPr lang="en-US" sz="1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별 평균 yield 비교</a:t>
            </a:r>
            <a:endParaRPr lang="en-US" sz="2325" dirty="0"/>
          </a:p>
        </p:txBody>
      </p:sp>
      <p:pic>
        <p:nvPicPr>
          <p:cNvPr id="3" name="Image 0" descr="gen-dedup-dec4baf79c07bf55d0fef75de61592a4.png">    </p:cNvPr>
          <p:cNvPicPr>
            <a:picLocks noChangeAspect="1"/>
          </p:cNvPicPr>
          <p:nvPr/>
        </p:nvPicPr>
        <p:blipFill>
          <a:blip r:embed="rId1"/>
          <a:srcRect l="-2" r="-2" t="0" b="0"/>
          <a:stretch/>
        </p:blipFill>
        <p:spPr>
          <a:xfrm>
            <a:off x="685800" y="1181405"/>
            <a:ext cx="7810805" cy="4572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762695" y="1524305"/>
            <a:ext cx="21945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650" dirty="0"/>
          </a:p>
        </p:txBody>
      </p:sp>
      <p:sp>
        <p:nvSpPr>
          <p:cNvPr id="5" name="Text 2"/>
          <p:cNvSpPr txBox="1"/>
          <p:nvPr/>
        </p:nvSpPr>
        <p:spPr>
          <a:xfrm>
            <a:off x="9068105" y="1524305"/>
            <a:ext cx="96286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Summary</a:t>
            </a:r>
            <a:endParaRPr lang="en-US" sz="1650" dirty="0"/>
          </a:p>
        </p:txBody>
      </p:sp>
      <p:sp>
        <p:nvSpPr>
          <p:cNvPr id="6" name="Text 3"/>
          <p:cNvSpPr txBox="1"/>
          <p:nvPr/>
        </p:nvSpPr>
        <p:spPr>
          <a:xfrm>
            <a:off x="8762695" y="1916582"/>
            <a:ext cx="28575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A: VCHN 열화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8762695" y="2175358"/>
            <a:ext cx="28575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B: VCHN, CMA 열화</a:t>
            </a:r>
            <a:endParaRPr lang="en-US" sz="1275" dirty="0"/>
          </a:p>
        </p:txBody>
      </p:sp>
      <p:sp>
        <p:nvSpPr>
          <p:cNvPr id="8" name="Text 5"/>
          <p:cNvSpPr txBox="1"/>
          <p:nvPr/>
        </p:nvSpPr>
        <p:spPr>
          <a:xfrm>
            <a:off x="8762695" y="2435047"/>
            <a:ext cx="28575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C: CMA 열화</a:t>
            </a:r>
            <a:endParaRPr lang="en-US" sz="1275" dirty="0"/>
          </a:p>
        </p:txBody>
      </p:sp>
      <p:sp>
        <p:nvSpPr>
          <p:cNvPr id="9" name="Text 6"/>
          <p:cNvSpPr txBox="1"/>
          <p:nvPr/>
        </p:nvSpPr>
        <p:spPr>
          <a:xfrm>
            <a:off x="8762695" y="2693822"/>
            <a:ext cx="28575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호환 가능</a:t>
            </a:r>
            <a:endParaRPr lang="en-US" sz="12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2026-10-04T13:21:21Z</dcterms:created>
  <dcterms:modified xsi:type="dcterms:W3CDTF">2026-10-04T13:21:21Z</dcterms:modified>
</cp:coreProperties>
</file>