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0847ff72121501a052af212eeff27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1067105"/>
            <a:ext cx="2190902" cy="1019556"/>
          </a:xfrm>
          <a:prstGeom prst="rect">
            <a:avLst/>
          </a:prstGeom>
        </p:spPr>
      </p:pic>
      <p:pic>
        <p:nvPicPr>
          <p:cNvPr id="3" name="Image 1" descr="gen-dedup-3fc3cb43c7451be8518a2a6ce65fac7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395" y="1067105"/>
            <a:ext cx="2848356" cy="101955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KVKA QDWMD090.6D ET results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380573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F4 CMP P2 저압 (0.8 psi) 전환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B(0.4 psi) 진행 시 ATOI CD 동등 수준 (Δ-0.09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A(0.8psi) ATOI CD Δ-0.14 nm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33812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C(0.4psi+t150) ATOI CD Δ-0.07 nm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58135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-4.3% 감소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824582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CMBSRP/VMA/CMA POR 대비 동등수준 / MinA 11.8%p 개선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310128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dishing POR 7 nm → split 2 nm 수준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5524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A(0.8psi) 는 CMBSRP/VMA POR 대비 유사 수준 / MinA 11.7%p 개선 / CMA 11.2%p 열화</a:t>
            </a:r>
            <a:endParaRPr lang="en-US" sz="1275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40389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 die 분포 wafer edge 집중</a:t>
            </a:r>
            <a:endParaRPr lang="en-US" sz="1275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428122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defect count 749 ea/WF (KLA review)</a:t>
            </a:r>
            <a:endParaRPr lang="en-US" sz="1275" dirty="0"/>
          </a:p>
        </p:txBody>
      </p:sp>
      <p:sp>
        <p:nvSpPr>
          <p:cNvPr id="18" name="Text 14"/>
          <p:cNvSpPr txBox="1"/>
          <p:nvPr/>
        </p:nvSpPr>
        <p:spPr>
          <a:xfrm>
            <a:off x="685800" y="452445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AFM recess 3.1 nm (wide line 10 µm)</a:t>
            </a:r>
            <a:endParaRPr lang="en-US" sz="1275" dirty="0"/>
          </a:p>
        </p:txBody>
      </p:sp>
      <p:sp>
        <p:nvSpPr>
          <p:cNvPr id="19" name="Text 15"/>
          <p:cNvSpPr txBox="1"/>
          <p:nvPr/>
        </p:nvSpPr>
        <p:spPr>
          <a:xfrm>
            <a:off x="685800" y="4767682"/>
            <a:ext cx="557509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조건 3 lot 재현성 관찰 뒤 호환 가능 판단됨 (F4 DC 기준)</a:t>
            </a:r>
            <a:endParaRPr lang="en-US" sz="1275" dirty="0"/>
          </a:p>
        </p:txBody>
      </p:sp>
      <p:sp>
        <p:nvSpPr>
          <p:cNvPr id="20" name="Text 16"/>
          <p:cNvSpPr txBox="1"/>
          <p:nvPr/>
        </p:nvSpPr>
        <p:spPr>
          <a:xfrm>
            <a:off x="6381598" y="2124151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via/trench X-SEM / CMP defect type review</a:t>
            </a:r>
            <a:endParaRPr lang="en-US" sz="825" dirty="0"/>
          </a:p>
        </p:txBody>
      </p:sp>
      <p:sp>
        <p:nvSpPr>
          <p:cNvPr id="21" name="Text 17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6629400" y="3429000"/>
            <a:ext cx="1167689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848356"/>
        </p:xfrm>
        <a:graphic>
          <a:graphicData uri="http://schemas.openxmlformats.org/drawingml/2006/table">
            <a:tbl>
              <a:tblPr/>
              <a:tblGrid>
                <a:gridCol w="1037844"/>
                <a:gridCol w="1035101"/>
                <a:gridCol w="815645"/>
                <a:gridCol w="1106424"/>
                <a:gridCol w="1129284"/>
              </a:tblGrid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W18(POR)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48.84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7.38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W25(POR)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48.77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7.71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48.65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48.68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48.65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48.69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48.75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48.78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48.70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48.72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ATOI CD wafer map</a:t>
            </a:r>
            <a:endParaRPr lang="en-US" sz="2325" dirty="0"/>
          </a:p>
        </p:txBody>
      </p:sp>
      <p:pic>
        <p:nvPicPr>
          <p:cNvPr id="3" name="Image 0" descr="gen-dedup-d19275dacf816444a6f596be120cffd8.png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685800" y="1181405"/>
            <a:ext cx="2590495" cy="3105302"/>
          </a:xfrm>
          <a:prstGeom prst="rect">
            <a:avLst/>
          </a:prstGeom>
        </p:spPr>
      </p:pic>
      <p:pic>
        <p:nvPicPr>
          <p:cNvPr id="4" name="Image 1" descr="gen-dedup-a6c7d9b4c0c4bcf380405548b7bb6ecf.png">    </p:cNvPr>
          <p:cNvPicPr>
            <a:picLocks noChangeAspect="1"/>
          </p:cNvPicPr>
          <p:nvPr/>
        </p:nvPicPr>
        <p:blipFill>
          <a:blip r:embed="rId2"/>
          <a:srcRect l="0" r="0" t="-8" b="-8"/>
          <a:stretch/>
        </p:blipFill>
        <p:spPr>
          <a:xfrm>
            <a:off x="3429000" y="1181405"/>
            <a:ext cx="2590495" cy="3105302"/>
          </a:xfrm>
          <a:prstGeom prst="rect">
            <a:avLst/>
          </a:prstGeom>
        </p:spPr>
      </p:pic>
      <p:pic>
        <p:nvPicPr>
          <p:cNvPr id="5" name="Image 2" descr="gen-dedup-506694e42e7434cb2803491fb646d927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6172200" y="1181405"/>
            <a:ext cx="2590495" cy="3105302"/>
          </a:xfrm>
          <a:prstGeom prst="rect">
            <a:avLst/>
          </a:prstGeom>
        </p:spPr>
      </p:pic>
      <p:pic>
        <p:nvPicPr>
          <p:cNvPr id="6" name="Image 3" descr="gen-dedup-eb8da394b37185aab36d98c84f67a319.png">    </p:cNvPr>
          <p:cNvPicPr>
            <a:picLocks noChangeAspect="1"/>
          </p:cNvPicPr>
          <p:nvPr/>
        </p:nvPicPr>
        <p:blipFill>
          <a:blip r:embed="rId4"/>
          <a:srcRect l="0" r="0" t="-8" b="-8"/>
          <a:stretch/>
        </p:blipFill>
        <p:spPr>
          <a:xfrm>
            <a:off x="8915400" y="1181405"/>
            <a:ext cx="2590495" cy="3105302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685800" y="45153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ATOI CD POR 대비 Δ-0.14 nm, edge 영역 편차 POR 동등</a:t>
            </a:r>
            <a:endParaRPr lang="en-US" sz="1275" dirty="0"/>
          </a:p>
        </p:txBody>
      </p:sp>
      <p:sp>
        <p:nvSpPr>
          <p:cNvPr id="8" name="Text 2"/>
          <p:cNvSpPr txBox="1"/>
          <p:nvPr/>
        </p:nvSpPr>
        <p:spPr>
          <a:xfrm>
            <a:off x="685800" y="47740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ATOI CD POR 대비 Δ-0.09 nm, edge 영역 편차 확대</a:t>
            </a:r>
            <a:endParaRPr lang="en-US" sz="1275" dirty="0"/>
          </a:p>
        </p:txBody>
      </p:sp>
      <p:sp>
        <p:nvSpPr>
          <p:cNvPr id="9" name="Text 3"/>
          <p:cNvSpPr txBox="1"/>
          <p:nvPr/>
        </p:nvSpPr>
        <p:spPr>
          <a:xfrm>
            <a:off x="685800" y="50328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ATOI CD POR 대비 Δ-0.07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dishing / erosion (AFM)</a:t>
            </a:r>
            <a:endParaRPr lang="en-US" sz="2325" dirty="0"/>
          </a:p>
        </p:txBody>
      </p:sp>
      <p:pic>
        <p:nvPicPr>
          <p:cNvPr id="3" name="Image 0" descr="gen-dedup-afb2dbeb45672a7464c6a14aa1b4f597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685800" y="1181405"/>
            <a:ext cx="5905195" cy="447690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181405"/>
          <a:ext cx="4648810" cy="1828800"/>
        </p:xfrm>
        <a:graphic>
          <a:graphicData uri="http://schemas.openxmlformats.org/drawingml/2006/table">
            <a:tbl>
              <a:tblPr/>
              <a:tblGrid>
                <a:gridCol w="1316736"/>
                <a:gridCol w="797357"/>
                <a:gridCol w="864108"/>
                <a:gridCol w="834847"/>
                <a:gridCol w="834847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 \ Pattern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Pad 50 µm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Pad 100 µm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Dense 70%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Dense 90%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A: 0.8psi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B: 0.4psi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C: 0.4psi+t150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0" y="3181198"/>
            <a:ext cx="46488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최대 recess 4.0 nm (POR 10.0 nm)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0" y="3440887"/>
            <a:ext cx="46488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고밀도 array 영역 Peff≈P0/ρ 영향으로 erosion 편차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0" y="3699662"/>
            <a:ext cx="46488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2nm 이하 노드 허용 dishing &lt; 2 nm 기준 초과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4c54a9ba465ce23f22fd7a9f83b018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695" y="1181405"/>
            <a:ext cx="3886200" cy="12006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Defect review 결과 (ea/WF)</a:t>
            </a:r>
            <a:endParaRPr lang="en-US" sz="232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667805" cy="3648456"/>
        </p:xfrm>
        <a:graphic>
          <a:graphicData uri="http://schemas.openxmlformats.org/drawingml/2006/table">
            <a:tbl>
              <a:tblPr/>
              <a:tblGrid>
                <a:gridCol w="1332281"/>
                <a:gridCol w="1057961"/>
                <a:gridCol w="1103681"/>
                <a:gridCol w="1288390"/>
                <a:gridCol w="1080821"/>
                <a:gridCol w="804672"/>
              </a:tblGrid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TYPE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Scratch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Residue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Corrosion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Particle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Total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110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163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170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179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163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256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199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152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619695" y="2419502"/>
            <a:ext cx="38862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L/S 영역 defect review SEM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7619695" y="4000500"/>
            <a:ext cx="38862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평균 total 104 ea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7619695" y="4259275"/>
            <a:ext cx="38862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평균 total 171 ea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7619695" y="4518965"/>
            <a:ext cx="38862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평균 total 210 ea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7619695" y="4777740"/>
            <a:ext cx="38862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평균 total 176 ea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7619695" y="5036515"/>
            <a:ext cx="38862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Residue type 이 split 간 차이 주도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Line Rs / Via Rc cumulative distribution</a:t>
            </a:r>
            <a:endParaRPr lang="en-US" sz="2325" dirty="0"/>
          </a:p>
        </p:txBody>
      </p:sp>
      <p:pic>
        <p:nvPicPr>
          <p:cNvPr id="3" name="Image 0" descr="gen-dedup-2709a7d964f2ca47b813f45942046da5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b3ee8451068e06f9b749ca4a3d31a295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Line Rs -2.9% / Via Rc -0.0% (median, POR 대비)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Line Rs -4.3% / Via Rc +1.7% (median, POR 대비)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04235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Line Rs -4.5% / Via Rc -1.0% (median, POR 대비)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— group average</a:t>
            </a:r>
            <a:endParaRPr lang="en-US" sz="2325" dirty="0"/>
          </a:p>
        </p:txBody>
      </p:sp>
      <p:pic>
        <p:nvPicPr>
          <p:cNvPr id="3" name="Image 0" descr="gen-dedup-bf185969805a504f91f59cf7fcc50ecf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CMA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전 item POR 동등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 CMA 열화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762695" y="269382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조건부 호환, 추가 확인 필요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2026-10-04T17:39:51Z</dcterms:created>
  <dcterms:modified xsi:type="dcterms:W3CDTF">2026-10-04T17:39:51Z</dcterms:modified>
</cp:coreProperties>
</file>