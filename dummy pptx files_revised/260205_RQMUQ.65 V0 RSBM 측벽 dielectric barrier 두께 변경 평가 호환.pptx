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e5d7c3aea6e36bf0beb2f3391b232f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7105"/>
            <a:ext cx="1657807" cy="1485900"/>
          </a:xfrm>
          <a:prstGeom prst="rect">
            <a:avLst/>
          </a:prstGeom>
        </p:spPr>
      </p:pic>
      <p:pic>
        <p:nvPicPr>
          <p:cNvPr id="3" name="Image 1" descr="gen-dedup-2cd441366041f68f63095d39d6a5727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502" y="1067105"/>
            <a:ext cx="3209544" cy="14859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KVIP RQMUQ.65 ET results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5905195" y="1067105"/>
            <a:ext cx="152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6" name="Text 2"/>
          <p:cNvSpPr txBox="1"/>
          <p:nvPr/>
        </p:nvSpPr>
        <p:spPr>
          <a:xfrm>
            <a:off x="6143854" y="1067105"/>
            <a:ext cx="425561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V0 RSBM 측벽 dielectric barrier 두께 변경 평가</a:t>
            </a:r>
            <a:endParaRPr lang="en-US" sz="1125" dirty="0"/>
          </a:p>
        </p:txBody>
      </p:sp>
      <p:sp>
        <p:nvSpPr>
          <p:cNvPr id="7" name="Text 3"/>
          <p:cNvSpPr txBox="1"/>
          <p:nvPr/>
        </p:nvSpPr>
        <p:spPr>
          <a:xfrm>
            <a:off x="5905195" y="1281074"/>
            <a:ext cx="152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8" name="Text 4"/>
          <p:cNvSpPr txBox="1"/>
          <p:nvPr/>
        </p:nvSpPr>
        <p:spPr>
          <a:xfrm>
            <a:off x="6143854" y="1281074"/>
            <a:ext cx="769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125" dirty="0"/>
          </a:p>
        </p:txBody>
      </p:sp>
      <p:sp>
        <p:nvSpPr>
          <p:cNvPr id="9" name="Text 5"/>
          <p:cNvSpPr txBox="1"/>
          <p:nvPr/>
        </p:nvSpPr>
        <p:spPr>
          <a:xfrm>
            <a:off x="5905195" y="1495044"/>
            <a:ext cx="56007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A(Al-silicate + TaN 1 nm) 진행 시 AMI CD 동등 수준 (Δ-0.09 nm)</a:t>
            </a:r>
            <a:endParaRPr lang="en-US" sz="1125" dirty="0"/>
          </a:p>
        </p:txBody>
      </p:sp>
      <p:sp>
        <p:nvSpPr>
          <p:cNvPr id="10" name="Text 6"/>
          <p:cNvSpPr txBox="1"/>
          <p:nvPr/>
        </p:nvSpPr>
        <p:spPr>
          <a:xfrm>
            <a:off x="5905195" y="1923898"/>
            <a:ext cx="56007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B(Al-Sil) AMI CD Δ-0.05 nm</a:t>
            </a:r>
            <a:endParaRPr lang="en-US" sz="1125" dirty="0"/>
          </a:p>
        </p:txBody>
      </p:sp>
      <p:sp>
        <p:nvSpPr>
          <p:cNvPr id="11" name="Text 7"/>
          <p:cNvSpPr txBox="1"/>
          <p:nvPr/>
        </p:nvSpPr>
        <p:spPr>
          <a:xfrm>
            <a:off x="5905195" y="2138782"/>
            <a:ext cx="56007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-9.2% 감소</a:t>
            </a:r>
            <a:endParaRPr lang="en-US" sz="1125" dirty="0"/>
          </a:p>
        </p:txBody>
      </p:sp>
      <p:sp>
        <p:nvSpPr>
          <p:cNvPr id="12" name="Text 8"/>
          <p:cNvSpPr txBox="1"/>
          <p:nvPr/>
        </p:nvSpPr>
        <p:spPr>
          <a:xfrm>
            <a:off x="5905195" y="2352751"/>
            <a:ext cx="56007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-26.1% 감소</a:t>
            </a:r>
            <a:endParaRPr lang="en-US" sz="1125" dirty="0"/>
          </a:p>
        </p:txBody>
      </p:sp>
      <p:sp>
        <p:nvSpPr>
          <p:cNvPr id="13" name="Text 9"/>
          <p:cNvSpPr txBox="1"/>
          <p:nvPr/>
        </p:nvSpPr>
        <p:spPr>
          <a:xfrm>
            <a:off x="5905195" y="2566721"/>
            <a:ext cx="56007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VCHN/MinA/VMA POR 대비 동등수준 / CMBSRP 소폭 열화</a:t>
            </a:r>
            <a:endParaRPr lang="en-US" sz="1125" dirty="0"/>
          </a:p>
        </p:txBody>
      </p:sp>
      <p:sp>
        <p:nvSpPr>
          <p:cNvPr id="14" name="Text 10"/>
          <p:cNvSpPr txBox="1"/>
          <p:nvPr/>
        </p:nvSpPr>
        <p:spPr>
          <a:xfrm>
            <a:off x="5905195" y="2781605"/>
            <a:ext cx="56007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측벽 barrier 두께 편차로 edge 영역 line-to-line leakage 증가 추정</a:t>
            </a:r>
            <a:endParaRPr lang="en-US" sz="1125" dirty="0"/>
          </a:p>
        </p:txBody>
      </p:sp>
      <p:sp>
        <p:nvSpPr>
          <p:cNvPr id="15" name="Text 11"/>
          <p:cNvSpPr txBox="1"/>
          <p:nvPr/>
        </p:nvSpPr>
        <p:spPr>
          <a:xfrm>
            <a:off x="5905195" y="2995574"/>
            <a:ext cx="56007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동등, 양산 적용 진행 (V0 DC 기준)</a:t>
            </a:r>
            <a:endParaRPr lang="en-US" sz="112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2590495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 / Area-selective ALD TiN — EDS mapping</a:t>
            </a:r>
            <a:endParaRPr lang="en-US" sz="825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933602" y="3619195"/>
            <a:ext cx="10652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81298"/>
          <a:ext cx="10821010" cy="2190902"/>
        </p:xfrm>
        <a:graphic>
          <a:graphicData uri="http://schemas.openxmlformats.org/drawingml/2006/table">
            <a:tbl>
              <a:tblPr/>
              <a:tblGrid>
                <a:gridCol w="2162556"/>
                <a:gridCol w="2194560"/>
                <a:gridCol w="1708099"/>
                <a:gridCol w="2352751"/>
                <a:gridCol w="2402129"/>
              </a:tblGrid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13.41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13.33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13.31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13.36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13.35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Line Rs / Via Rc cumulative distribution</a:t>
            </a:r>
            <a:endParaRPr lang="en-US" sz="2325" dirty="0"/>
          </a:p>
        </p:txBody>
      </p:sp>
      <p:pic>
        <p:nvPicPr>
          <p:cNvPr id="3" name="Image 0" descr="gen-dedup-0930698b005d2efd38933ce763d829b1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016d2729e28b01b2274c55ae20c2f65d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Line Rs -9.2% / Via Rc -26.1% (median, POR 대비)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Line Rs -9.1% / Via Rc -24.6% (median, POR 대비)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2026-10-04T14:33:31Z</dcterms:created>
  <dcterms:modified xsi:type="dcterms:W3CDTF">2026-10-04T14:33:31Z</dcterms:modified>
</cp:coreProperties>
</file>