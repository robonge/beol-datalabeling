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3ba68f37a1dbf42aace30b53f7c3c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1457554" cy="1238098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249" y="1067105"/>
            <a:ext cx="2648102" cy="12380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QDCKW066.6E ET results</a:t>
            </a:r>
            <a:endParaRPr lang="en-US" sz="19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343607"/>
            <a:ext cx="4191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tilt SEM / Cu DD via/trench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219395" y="1067105"/>
            <a:ext cx="133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7" name="Text 3"/>
          <p:cNvSpPr txBox="1"/>
          <p:nvPr/>
        </p:nvSpPr>
        <p:spPr>
          <a:xfrm>
            <a:off x="5438851" y="1067105"/>
            <a:ext cx="309524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CMP eddy current EPD 적용 평가</a:t>
            </a:r>
            <a:endParaRPr lang="en-US" sz="975" dirty="0"/>
          </a:p>
        </p:txBody>
      </p:sp>
      <p:sp>
        <p:nvSpPr>
          <p:cNvPr id="8" name="Text 4"/>
          <p:cNvSpPr txBox="1"/>
          <p:nvPr/>
        </p:nvSpPr>
        <p:spPr>
          <a:xfrm>
            <a:off x="5219395" y="1242670"/>
            <a:ext cx="133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9" name="Text 5"/>
          <p:cNvSpPr txBox="1"/>
          <p:nvPr/>
        </p:nvSpPr>
        <p:spPr>
          <a:xfrm>
            <a:off x="5438851" y="1242670"/>
            <a:ext cx="667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0" name="Text 6"/>
          <p:cNvSpPr txBox="1"/>
          <p:nvPr/>
        </p:nvSpPr>
        <p:spPr>
          <a:xfrm>
            <a:off x="5219395" y="1418234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C(APC + EPD) 진행 시 AASI CD 동등 수준 (Δ+0.05 nm)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5219395" y="1593799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A(ECEPD) AASI CD Δ-0.00 nm</a:t>
            </a:r>
            <a:endParaRPr lang="en-US" sz="975" dirty="0"/>
          </a:p>
        </p:txBody>
      </p:sp>
      <p:sp>
        <p:nvSpPr>
          <p:cNvPr id="12" name="Text 8"/>
          <p:cNvSpPr txBox="1"/>
          <p:nvPr/>
        </p:nvSpPr>
        <p:spPr>
          <a:xfrm>
            <a:off x="5219395" y="1770278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B(MZ-APC) AASI CD Δ-0.02 nm</a:t>
            </a:r>
            <a:endParaRPr lang="en-US" sz="975" dirty="0"/>
          </a:p>
        </p:txBody>
      </p:sp>
      <p:sp>
        <p:nvSpPr>
          <p:cNvPr id="13" name="Text 9"/>
          <p:cNvSpPr txBox="1"/>
          <p:nvPr/>
        </p:nvSpPr>
        <p:spPr>
          <a:xfrm>
            <a:off x="5219395" y="1945843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-3.1% 감소</a:t>
            </a:r>
            <a:endParaRPr lang="en-US" sz="975" dirty="0"/>
          </a:p>
        </p:txBody>
      </p:sp>
      <p:sp>
        <p:nvSpPr>
          <p:cNvPr id="14" name="Text 10"/>
          <p:cNvSpPr txBox="1"/>
          <p:nvPr/>
        </p:nvSpPr>
        <p:spPr>
          <a:xfrm>
            <a:off x="5219395" y="2121408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-2.3% 감소</a:t>
            </a:r>
            <a:endParaRPr lang="en-US" sz="975" dirty="0"/>
          </a:p>
        </p:txBody>
      </p:sp>
      <p:sp>
        <p:nvSpPr>
          <p:cNvPr id="15" name="Text 11"/>
          <p:cNvSpPr txBox="1"/>
          <p:nvPr/>
        </p:nvSpPr>
        <p:spPr>
          <a:xfrm>
            <a:off x="5219395" y="2296973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VCHN/MinA/VMA POR 대비 유사 수준 / CMBSRP 18.5%p 개선</a:t>
            </a:r>
            <a:endParaRPr lang="en-US" sz="975" dirty="0"/>
          </a:p>
        </p:txBody>
      </p:sp>
      <p:sp>
        <p:nvSpPr>
          <p:cNvPr id="16" name="Text 12"/>
          <p:cNvSpPr txBox="1"/>
          <p:nvPr/>
        </p:nvSpPr>
        <p:spPr>
          <a:xfrm>
            <a:off x="5219395" y="2472538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WIWNU POR 2.3% → 0.8%</a:t>
            </a:r>
            <a:endParaRPr lang="en-US" sz="975" dirty="0"/>
          </a:p>
        </p:txBody>
      </p:sp>
      <p:sp>
        <p:nvSpPr>
          <p:cNvPr id="17" name="Text 13"/>
          <p:cNvSpPr txBox="1"/>
          <p:nvPr/>
        </p:nvSpPr>
        <p:spPr>
          <a:xfrm>
            <a:off x="5219395" y="2649017"/>
            <a:ext cx="654893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A(ECEPD) 는 VCHN/VMA/CMA POR 대비 유사 수준 / CMBSRP 19.9%p 개선 / MinA 14.8%p 열화</a:t>
            </a:r>
            <a:endParaRPr lang="en-US" sz="975" dirty="0"/>
          </a:p>
        </p:txBody>
      </p:sp>
      <p:sp>
        <p:nvSpPr>
          <p:cNvPr id="18" name="Text 14"/>
          <p:cNvSpPr txBox="1"/>
          <p:nvPr/>
        </p:nvSpPr>
        <p:spPr>
          <a:xfrm>
            <a:off x="5219395" y="2824582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defect count 222 ea/WF (KLA review)</a:t>
            </a:r>
            <a:endParaRPr lang="en-US" sz="975" dirty="0"/>
          </a:p>
        </p:txBody>
      </p:sp>
      <p:sp>
        <p:nvSpPr>
          <p:cNvPr id="19" name="Text 15"/>
          <p:cNvSpPr txBox="1"/>
          <p:nvPr/>
        </p:nvSpPr>
        <p:spPr>
          <a:xfrm>
            <a:off x="5219395" y="3000146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CD targeting 후 ET 재확인 뒤 호환 가능 판단됨 (M3 DC 기준)</a:t>
            </a:r>
            <a:endParaRPr lang="en-US" sz="975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380481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933602" y="3762756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123944"/>
          <a:ext cx="6667805" cy="2533802"/>
        </p:xfrm>
        <a:graphic>
          <a:graphicData uri="http://schemas.openxmlformats.org/drawingml/2006/table">
            <a:tbl>
              <a:tblPr/>
              <a:tblGrid>
                <a:gridCol w="1341425"/>
                <a:gridCol w="1349654"/>
                <a:gridCol w="1057046"/>
                <a:gridCol w="1444752"/>
                <a:gridCol w="1474927"/>
              </a:tblGrid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3" name="Image 2" descr="gen-dedup-7ad3f683e0163ffe142d850ab8fda90c.png">    </p:cNvPr>
          <p:cNvPicPr>
            <a:picLocks noChangeAspect="1"/>
          </p:cNvPicPr>
          <p:nvPr/>
        </p:nvPicPr>
        <p:blipFill>
          <a:blip r:embed="rId3"/>
          <a:srcRect l="-5" r="-5" t="0" b="0"/>
          <a:stretch/>
        </p:blipFill>
        <p:spPr>
          <a:xfrm>
            <a:off x="7601407" y="3762756"/>
            <a:ext cx="3905402" cy="29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dishing / erosion (AFM)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1743761"/>
        </p:xfrm>
        <a:graphic>
          <a:graphicData uri="http://schemas.openxmlformats.org/drawingml/2006/table">
            <a:tbl>
              <a:tblPr/>
              <a:tblGrid>
                <a:gridCol w="2564892"/>
                <a:gridCol w="1703527"/>
                <a:gridCol w="1703527"/>
                <a:gridCol w="1615745"/>
                <a:gridCol w="1615745"/>
                <a:gridCol w="1616659"/>
              </a:tblGrid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 \ Pattern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Wide 10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Pad 100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50%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70%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90%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A: ECEPD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B: MZ-APC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C: APC+EPD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0676f67108c6cf4f24fe2de92b99eb2c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3181198"/>
            <a:ext cx="5715000" cy="353415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667805" y="3372307"/>
            <a:ext cx="48390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최대 recess 4.5 nm (POR 8.4 nm)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667805" y="3631082"/>
            <a:ext cx="48390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고밀도 array 영역 Peff≈P0/ρ 영향으로 erosion 편차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667805" y="3889858"/>
            <a:ext cx="48390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2nm 이하 노드 허용 dishing &lt; 2 nm 기준 초과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563063"/>
        </p:xfrm>
        <a:graphic>
          <a:graphicData uri="http://schemas.openxmlformats.org/drawingml/2006/table">
            <a:tbl>
              <a:tblPr/>
              <a:tblGrid>
                <a:gridCol w="2472538"/>
                <a:gridCol w="2140610"/>
                <a:gridCol w="1602943"/>
                <a:gridCol w="1475842"/>
                <a:gridCol w="1564538"/>
                <a:gridCol w="1564538"/>
              </a:tblGrid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70.9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13400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spec(71%)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39277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VCHN/VMA/CMA POR 대비 동등수준 / CMBSRP 19.9%p 개선 / MinA 14.8%p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65246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VMA/CMA POR 대비 동등수준 / CMBSRP 23.1%p 개선 / VCHN/MinA 소폭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91124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VCHN/MinA/VMA POR 대비 동등수준 / CMBSRP 18.5%p 개선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17001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MinA: POR 96.5% → A 81.7%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2026-10-04T17:37:58Z</dcterms:created>
  <dcterms:modified xsi:type="dcterms:W3CDTF">2026-10-04T17:37:58Z</dcterms:modified>
</cp:coreProperties>
</file>