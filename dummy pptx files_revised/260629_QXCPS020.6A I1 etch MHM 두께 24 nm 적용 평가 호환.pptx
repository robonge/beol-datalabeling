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0847ff72121501a052af212eeff27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598" y="1067105"/>
            <a:ext cx="3314700" cy="1543507"/>
          </a:xfrm>
          <a:prstGeom prst="rect">
            <a:avLst/>
          </a:prstGeom>
        </p:spPr>
      </p:pic>
      <p:pic>
        <p:nvPicPr>
          <p:cNvPr id="3" name="Image 1" descr="gen-dedup-bfd4229567a6020de77c6fdd85764ec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3107" y="1067105"/>
            <a:ext cx="1723644" cy="154350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KVED QXCPS020.6A ET results</a:t>
            </a:r>
            <a:endParaRPr lang="en-US" sz="2325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123798"/>
            <a:ext cx="381670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I1 etch MHM 두께 24 nm 적용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60934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MHM 22 nm + passivation 강화 진행 시 ACI CD 0.1 nm 상향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095805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CMBSRP/VCHN/MinA POR 대비 동등수준 / CMA 2.2%p 개선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58135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호환 가능 — 추가 1 lot 모니터링 후 전환 (I1 DC 기준)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381598" y="2648102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DD via/trench X-SEM / EDS mapping (Cu/Si/O/Ta)</a:t>
            </a:r>
            <a:endParaRPr lang="en-US" sz="825" dirty="0"/>
          </a:p>
        </p:txBody>
      </p:sp>
      <p:sp>
        <p:nvSpPr>
          <p:cNvPr id="13" name="Text 9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6629400" y="3429000"/>
            <a:ext cx="97566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I1 ACI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553005"/>
        </p:xfrm>
        <a:graphic>
          <a:graphicData uri="http://schemas.openxmlformats.org/drawingml/2006/table">
            <a:tbl>
              <a:tblPr/>
              <a:tblGrid>
                <a:gridCol w="1024128"/>
                <a:gridCol w="1038758"/>
                <a:gridCol w="809244"/>
                <a:gridCol w="1114654"/>
                <a:gridCol w="1137514"/>
              </a:tblGrid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21.47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21.61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21.54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21.66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21.63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21.58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0847ff72121501a052af212eeff27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933395"/>
            <a:ext cx="4000500" cy="186720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I1 etch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1343254"/>
        </p:xfrm>
        <a:graphic>
          <a:graphicData uri="http://schemas.openxmlformats.org/drawingml/2006/table">
            <a:tbl>
              <a:tblPr/>
              <a:tblGrid>
                <a:gridCol w="1041502"/>
                <a:gridCol w="3317443"/>
                <a:gridCol w="4674413"/>
                <a:gridCol w="1787652"/>
              </a:tblGrid>
              <a:tr h="4477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77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TiN MHM 30 nm / POR etch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77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W09, W14, W18, W22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MHM 22 nm + passivation 강화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85800" y="4839005"/>
            <a:ext cx="4000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DD via/trench X-SEM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048402" y="293339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7" name="Text 3"/>
          <p:cNvSpPr txBox="1"/>
          <p:nvPr/>
        </p:nvSpPr>
        <p:spPr>
          <a:xfrm>
            <a:off x="5352898" y="2933395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5048402" y="3326587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048402" y="3585362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5048402" y="3844138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ACI 측정: CD-SEM 49 pt / WF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5048402" y="4103827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I1 이전·이후 공정은 전 WF POR 동일 진행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I1 ACI CD wafer map</a:t>
            </a:r>
            <a:endParaRPr lang="en-US" sz="2325" dirty="0"/>
          </a:p>
        </p:txBody>
      </p:sp>
      <p:pic>
        <p:nvPicPr>
          <p:cNvPr id="3" name="Image 0" descr="gen-dedup-0259c2a90e2e548dbc9e27927585434f.png">    </p:cNvPr>
          <p:cNvPicPr>
            <a:picLocks noChangeAspect="1"/>
          </p:cNvPicPr>
          <p:nvPr/>
        </p:nvPicPr>
        <p:blipFill>
          <a:blip r:embed="rId1"/>
          <a:srcRect l="0" r="0" t="-5" b="-5"/>
          <a:stretch/>
        </p:blipFill>
        <p:spPr>
          <a:xfrm>
            <a:off x="685800" y="1181405"/>
            <a:ext cx="5333695" cy="4476902"/>
          </a:xfrm>
          <a:prstGeom prst="rect">
            <a:avLst/>
          </a:prstGeom>
        </p:spPr>
      </p:pic>
      <p:pic>
        <p:nvPicPr>
          <p:cNvPr id="4" name="Image 1" descr="gen-dedup-c4634fbe060b2a3f42b8bb8c3086b1c7.png">    </p:cNvPr>
          <p:cNvPicPr>
            <a:picLocks noChangeAspect="1"/>
          </p:cNvPicPr>
          <p:nvPr/>
        </p:nvPicPr>
        <p:blipFill>
          <a:blip r:embed="rId2"/>
          <a:srcRect l="0" r="0" t="-5" b="-5"/>
          <a:stretch/>
        </p:blipFill>
        <p:spPr>
          <a:xfrm>
            <a:off x="6172200" y="1181405"/>
            <a:ext cx="5333695" cy="447690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8869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ACI CD POR 대비 Δ+0.14 nm, edge 영역 편차 POR 동등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I1 Via Rc cumulative distribution</a:t>
            </a:r>
            <a:endParaRPr lang="en-US" sz="2325" dirty="0"/>
          </a:p>
        </p:txBody>
      </p:sp>
      <p:pic>
        <p:nvPicPr>
          <p:cNvPr id="3" name="Image 0" descr="gen-dedup-792f6ba1edcdd560e03251eadf45bf64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685800" y="1123798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91195" y="142920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9.39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191195" y="1687982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9.40 (+0.1%, 동등)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 — I1 yield by wafer (%)</a:t>
            </a:r>
            <a:endParaRPr lang="en-US" sz="2325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10821010" cy="2200961"/>
        </p:xfrm>
        <a:graphic>
          <a:graphicData uri="http://schemas.openxmlformats.org/drawingml/2006/table">
            <a:tbl>
              <a:tblPr/>
              <a:tblGrid>
                <a:gridCol w="2954426"/>
                <a:gridCol w="2557577"/>
                <a:gridCol w="1915668"/>
                <a:gridCol w="1763878"/>
                <a:gridCol w="1629461"/>
              </a:tblGrid>
              <a:tr h="3668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68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68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68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68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68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375269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색상: 주황 = spec(93%) −5%p 이내 미달, 적색 = 그 이하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401238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CMBSRP/VCHN/MinA POR 대비 동등수준 / CMA 2.2%p 개선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27116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CMBSRP: POR 97.5% → A 97.2%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I1 Line Rs by wafer</a:t>
            </a:r>
            <a:endParaRPr lang="en-US" sz="2325" dirty="0"/>
          </a:p>
        </p:txBody>
      </p:sp>
      <p:pic>
        <p:nvPicPr>
          <p:cNvPr id="3" name="Image 0" descr="gen-dedup-039bcdf2b684bfbbc071059ae96d4472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58.6 (+0.0%)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58.2 (-0.6%)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미미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2026-10-04T13:22:50Z</dcterms:created>
  <dcterms:modified xsi:type="dcterms:W3CDTF">2026-10-04T13:22:50Z</dcterms:modified>
</cp:coreProperties>
</file>