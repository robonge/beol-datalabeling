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e5d7c3aea6e36bf0beb2f3391b232f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648456"/>
            <a:ext cx="1695298" cy="1514246"/>
          </a:xfrm>
          <a:prstGeom prst="rect">
            <a:avLst/>
          </a:prstGeom>
        </p:spPr>
      </p:pic>
      <p:pic>
        <p:nvPicPr>
          <p:cNvPr id="3" name="Image 1" descr="gen-dedup-295a98d4e7085df5533a889a5c529ce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907" y="3648456"/>
            <a:ext cx="2980944" cy="151424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KVED QQTBG043.61 ET results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1067105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942746" y="1067105"/>
            <a:ext cx="421172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M2 BM TaN 박막화 (2.0 → 1.4 nm) 평가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1309421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8" name="Text 4"/>
          <p:cNvSpPr txBox="1"/>
          <p:nvPr/>
        </p:nvSpPr>
        <p:spPr>
          <a:xfrm>
            <a:off x="942746" y="1309421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1552651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B(Co liner) 진행 시 AMI CD 동등 수준 (Δ+0.02 nm)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1795882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A(TaN1.4) AMI CD Δ-0.00 nm</a:t>
            </a:r>
            <a:endParaRPr lang="en-US" sz="1275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2038198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 Rs median POR 대비 -5.7% 감소</a:t>
            </a:r>
            <a:endParaRPr lang="en-US" sz="1275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2281428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Rc median POR 대비 -7.5% 감소</a:t>
            </a:r>
            <a:endParaRPr lang="en-US" sz="1275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2523744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VCHN/MinA/VMA POR 대비 동등수준 / CMBSRP/CMA 소폭 열화</a:t>
            </a:r>
            <a:endParaRPr lang="en-US" sz="1275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2766974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barrier 박막화에 의한 via bottom Cu 확산 / 계면 void 추정</a:t>
            </a:r>
            <a:endParaRPr lang="en-US" sz="1275" dirty="0"/>
          </a:p>
        </p:txBody>
      </p:sp>
      <p:sp>
        <p:nvSpPr>
          <p:cNvPr id="15" name="Text 11"/>
          <p:cNvSpPr txBox="1"/>
          <p:nvPr/>
        </p:nvSpPr>
        <p:spPr>
          <a:xfrm>
            <a:off x="685800" y="3010205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호환 가능 — 추가 1 lot 모니터링 후 전환 (M2 DC 기준)</a:t>
            </a:r>
            <a:endParaRPr lang="en-US" sz="1275" dirty="0"/>
          </a:p>
        </p:txBody>
      </p:sp>
      <p:sp>
        <p:nvSpPr>
          <p:cNvPr id="16" name="Text 12"/>
          <p:cNvSpPr txBox="1"/>
          <p:nvPr/>
        </p:nvSpPr>
        <p:spPr>
          <a:xfrm>
            <a:off x="685800" y="5201107"/>
            <a:ext cx="47631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Barrier/Cu 계면 HR-TEM / Cu/liner/barrier TEM-EDS</a:t>
            </a:r>
            <a:endParaRPr lang="en-US" sz="825" dirty="0"/>
          </a:p>
        </p:txBody>
      </p:sp>
      <p:sp>
        <p:nvSpPr>
          <p:cNvPr id="17" name="Text 13"/>
          <p:cNvSpPr txBox="1"/>
          <p:nvPr/>
        </p:nvSpPr>
        <p:spPr>
          <a:xfrm>
            <a:off x="5810098" y="3595421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6057900" y="3552444"/>
            <a:ext cx="10671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AMI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10098" y="3914546"/>
          <a:ext cx="5696712" cy="2762402"/>
        </p:xfrm>
        <a:graphic>
          <a:graphicData uri="http://schemas.openxmlformats.org/drawingml/2006/table">
            <a:tbl>
              <a:tblPr/>
              <a:tblGrid>
                <a:gridCol w="1138428"/>
                <a:gridCol w="1154887"/>
                <a:gridCol w="899770"/>
                <a:gridCol w="1238098"/>
                <a:gridCol w="1264615"/>
              </a:tblGrid>
              <a:tr h="3453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53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W04(POR)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19.42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2.47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453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W17(POR)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19.38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2.89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+0.08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453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19.41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2.54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453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19.38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2.64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+0.08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453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19.40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2.77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453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19.43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3.00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453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19.40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3.00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AMI CD wafer map</a:t>
            </a:r>
            <a:endParaRPr lang="en-US" sz="2325" dirty="0"/>
          </a:p>
        </p:txBody>
      </p:sp>
      <p:pic>
        <p:nvPicPr>
          <p:cNvPr id="3" name="Image 0" descr="gen-dedup-d398181b5d0e7ab8d545ff24d0f8132e.png">    </p:cNvPr>
          <p:cNvPicPr>
            <a:picLocks noChangeAspect="1"/>
          </p:cNvPicPr>
          <p:nvPr/>
        </p:nvPicPr>
        <p:blipFill>
          <a:blip r:embed="rId1"/>
          <a:srcRect l="0" r="0" t="-7" b="-7"/>
          <a:stretch/>
        </p:blipFill>
        <p:spPr>
          <a:xfrm>
            <a:off x="685800" y="1181405"/>
            <a:ext cx="3504895" cy="4200754"/>
          </a:xfrm>
          <a:prstGeom prst="rect">
            <a:avLst/>
          </a:prstGeom>
        </p:spPr>
      </p:pic>
      <p:pic>
        <p:nvPicPr>
          <p:cNvPr id="4" name="Image 1" descr="gen-dedup-88e5116cb8a4bf5b82b9346e1660336c.png">    </p:cNvPr>
          <p:cNvPicPr>
            <a:picLocks noChangeAspect="1"/>
          </p:cNvPicPr>
          <p:nvPr/>
        </p:nvPicPr>
        <p:blipFill>
          <a:blip r:embed="rId2"/>
          <a:srcRect l="0" r="0" t="-7" b="-7"/>
          <a:stretch/>
        </p:blipFill>
        <p:spPr>
          <a:xfrm>
            <a:off x="4343400" y="1181405"/>
            <a:ext cx="3504895" cy="4200754"/>
          </a:xfrm>
          <a:prstGeom prst="rect">
            <a:avLst/>
          </a:prstGeom>
        </p:spPr>
      </p:pic>
      <p:pic>
        <p:nvPicPr>
          <p:cNvPr id="5" name="Image 2" descr="gen-dedup-26be0e110ae7410414e37754a6207133.png">    </p:cNvPr>
          <p:cNvPicPr>
            <a:picLocks noChangeAspect="1"/>
          </p:cNvPicPr>
          <p:nvPr/>
        </p:nvPicPr>
        <p:blipFill>
          <a:blip r:embed="rId3"/>
          <a:srcRect l="0" r="0" t="-7" b="-7"/>
          <a:stretch/>
        </p:blipFill>
        <p:spPr>
          <a:xfrm>
            <a:off x="8001000" y="1181405"/>
            <a:ext cx="3504895" cy="4200754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85800" y="5609844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AMI CD POR 대비 Δ-0.00 nm, edge 영역 편차 POR 동등</a:t>
            </a:r>
            <a:endParaRPr lang="en-US" sz="1275" dirty="0"/>
          </a:p>
        </p:txBody>
      </p:sp>
      <p:sp>
        <p:nvSpPr>
          <p:cNvPr id="7" name="Text 2"/>
          <p:cNvSpPr txBox="1"/>
          <p:nvPr/>
        </p:nvSpPr>
        <p:spPr>
          <a:xfrm>
            <a:off x="685800" y="5869534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AMI CD POR 대비 Δ+0.02 nm, edge 영역 편차 POR 동등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Line Rs cumulative distribution</a:t>
            </a:r>
            <a:endParaRPr lang="en-US" sz="2325" dirty="0"/>
          </a:p>
        </p:txBody>
      </p:sp>
      <p:pic>
        <p:nvPicPr>
          <p:cNvPr id="3" name="Image 0" descr="gen-dedup-5b7e3b6a28fb62c1d7cb04a5b5f9678f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685800" y="1123798"/>
            <a:ext cx="7239305" cy="49533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191195" y="1429207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62.12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191195" y="1687982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median 58.59 (-5.7%)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191195" y="1946758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median 58.61 (-5.7%)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Via Rc cumulative distribution</a:t>
            </a:r>
            <a:endParaRPr lang="en-US" sz="2325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42920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13.99</a:t>
            </a:r>
            <a:endParaRPr lang="en-US" sz="1275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87982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median 12.78 (-8.7%)</a:t>
            </a:r>
            <a:endParaRPr lang="en-US" sz="1275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46758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median 12.95 (-7.5%)</a:t>
            </a:r>
            <a:endParaRPr lang="en-US" sz="1275" dirty="0"/>
          </a:p>
        </p:txBody>
      </p:sp>
      <p:pic>
        <p:nvPicPr>
          <p:cNvPr id="6" name="Image 0" descr="gen-dedup-c80d48eeffa04a8fd8b6b2584316d398.png">    </p:cNvPr>
          <p:cNvPicPr>
            <a:picLocks noChangeAspect="1"/>
          </p:cNvPicPr>
          <p:nvPr/>
        </p:nvPicPr>
        <p:blipFill>
          <a:blip r:embed="rId1"/>
          <a:srcRect l="0" r="0" t="-3" b="-3"/>
          <a:stretch/>
        </p:blipFill>
        <p:spPr>
          <a:xfrm>
            <a:off x="4647895" y="1123798"/>
            <a:ext cx="6858000" cy="49533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VMA die yield distribution by wafer</a:t>
            </a:r>
            <a:endParaRPr lang="en-US" sz="2325" dirty="0"/>
          </a:p>
        </p:txBody>
      </p:sp>
      <p:pic>
        <p:nvPicPr>
          <p:cNvPr id="3" name="Image 0" descr="gen-dedup-91666025ca61afbc90e4476463e6fa78.png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685800" y="1181405"/>
            <a:ext cx="7429500" cy="47621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477402" y="152430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96.9%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477402" y="1783080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median 95.5%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477402" y="204185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 median 96.6%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477402" y="2301545"/>
            <a:ext cx="3321101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wafer 간 편차 대비 split 간 차이 미미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2026-10-04T13:24:11Z</dcterms:created>
  <dcterms:modified xsi:type="dcterms:W3CDTF">2026-10-04T13:24:11Z</dcterms:modified>
</cp:coreProperties>
</file>